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3.png"/><Relationship Id="rId8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8F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295650" y="2484090"/>
            <a:ext cx="5600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智慧养老新模式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29000" y="3817590"/>
            <a:ext cx="5334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基于智能手环的自动化任务管理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2775585" y="2412652"/>
            <a:ext cx="664083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挑战：无法“分身”的护理</a:t>
            </a:r>
            <a:endParaRPr/>
          </a:p>
        </p:txBody>
      </p:sp>
      <p:sp>
        <p:nvSpPr>
          <p:cNvPr id="93" name="Google Shape;93;p14"/>
          <p:cNvSpPr/>
          <p:nvPr/>
        </p:nvSpPr>
        <p:spPr>
          <a:xfrm>
            <a:off x="5619750" y="3746152"/>
            <a:ext cx="952500" cy="476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953000" y="4079527"/>
            <a:ext cx="2286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养老院面临的普遍困境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571500" y="299085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1:10+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71500" y="4419600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Lato"/>
                <a:ea typeface="Lato"/>
                <a:cs typeface="Lato"/>
                <a:sym typeface="Lato"/>
              </a:rPr>
              <a:t>护理人员 vs. 老人比例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6334125" y="29908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资源紧张，效率低下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6334125" y="3581400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传统的护理模式依赖人工定时巡查，一名助理需要同时管理多位老人。这不仅导致响应延迟、容易遗漏关键体征，也让护理人员不堪重负，无法实现精细化、主动化的关怀。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护理现状：一对多的挑战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6"/>
          <p:cNvSpPr txBox="1"/>
          <p:nvPr/>
        </p:nvSpPr>
        <p:spPr>
          <a:xfrm>
            <a:off x="2795587" y="2412652"/>
            <a:ext cx="660082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破局：科技赋能精准护理</a:t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5619750" y="3746152"/>
            <a:ext cx="952500" cy="47625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4781550" y="4079527"/>
            <a:ext cx="26289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从“被动响应”到“主动管理”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276475"/>
            <a:ext cx="3429000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7"/>
          <p:cNvSpPr txBox="1"/>
          <p:nvPr/>
        </p:nvSpPr>
        <p:spPr>
          <a:xfrm>
            <a:off x="1600914" y="3305175"/>
            <a:ext cx="13701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1. 睡眠监测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866775" y="403860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手环实时追踪老人的睡眠周期，包括深度睡眠、浅度睡眠和清醒状态。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>
            <a:off x="5105876" y="3305175"/>
            <a:ext cx="198024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2. 智能唤醒检测</a:t>
            </a:r>
            <a:endParaRPr/>
          </a:p>
        </p:txBody>
      </p:sp>
      <p:sp>
        <p:nvSpPr>
          <p:cNvPr id="124" name="Google Shape;124;p17"/>
          <p:cNvSpPr txBox="1"/>
          <p:nvPr/>
        </p:nvSpPr>
        <p:spPr>
          <a:xfrm>
            <a:off x="4676775" y="4038600"/>
            <a:ext cx="2838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系统智能识别老人的“睡醒”状态，例如，持续清醒超过5分钟。</a:t>
            </a:r>
            <a:endParaRPr/>
          </a:p>
        </p:txBody>
      </p:sp>
      <p:sp>
        <p:nvSpPr>
          <p:cNvPr id="125" name="Google Shape;125;p17"/>
          <p:cNvSpPr txBox="1"/>
          <p:nvPr/>
        </p:nvSpPr>
        <p:spPr>
          <a:xfrm>
            <a:off x="8910875" y="3305175"/>
            <a:ext cx="199024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3. 任务自动生成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8486775" y="4038600"/>
            <a:ext cx="2838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一旦检测到睡醒，系统自动触发一个“晨间测量”任务（如血压、心率）。</a:t>
            </a:r>
            <a:endParaRPr/>
          </a:p>
        </p:txBody>
      </p:sp>
      <p:pic>
        <p:nvPicPr>
          <p:cNvPr descr="image.png" id="127" name="Google Shape;12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261937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95975" y="26193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77400" y="26193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智能手环：24/7的贴身“哨兵”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 txBox="1"/>
          <p:nvPr/>
        </p:nvSpPr>
        <p:spPr>
          <a:xfrm>
            <a:off x="571500" y="19526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告别盲目巡查</a:t>
            </a:r>
            <a:endParaRPr/>
          </a:p>
        </p:txBody>
      </p:sp>
      <p:sp>
        <p:nvSpPr>
          <p:cNvPr id="137" name="Google Shape;137;p18"/>
          <p:cNvSpPr txBox="1"/>
          <p:nvPr/>
        </p:nvSpPr>
        <p:spPr>
          <a:xfrm>
            <a:off x="571500" y="25431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护理助理的移动设备会收到一个清晰的任务列表，按优先级排序。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857250" y="33432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任务推送:</a:t>
            </a: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"10:00 AM: 302号房王爷爷，测量血压。"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857250" y="37909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数据闭环:</a:t>
            </a: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助理完成测量，数据自动同步到健康档案。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857250" y="42386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智能调度:</a:t>
            </a: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 系统优先派发给距离最近、任务最少的助理。</a:t>
            </a:r>
            <a:endParaRPr/>
          </a:p>
        </p:txBody>
      </p:sp>
      <p:pic>
        <p:nvPicPr>
          <p:cNvPr descr="image.png" id="141" name="Google Shape;14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助理的工作流革新</a:t>
            </a:r>
            <a:endParaRPr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9090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38575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86250"/>
            <a:ext cx="1524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28750"/>
            <a:ext cx="1104900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>
            <a:off x="2381250" y="4895850"/>
            <a:ext cx="742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智能系统大幅缩短了从老人睡醒到获得护理的等待时间，并显著降低了任务遗漏的风险。</a:t>
            </a: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效率提升：数据驱动的护理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19375"/>
            <a:ext cx="5286375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19375"/>
            <a:ext cx="5286375" cy="247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0"/>
          <p:cNvSpPr txBox="1"/>
          <p:nvPr/>
        </p:nvSpPr>
        <p:spPr>
          <a:xfrm>
            <a:off x="849391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对老人 (For Seniors)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962025" y="3600450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更及时、更主动的关怀。无需主动呼叫，需求已被预见，减少焦虑和等待，提升安全感和幸福感。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6612016" y="300990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对助理 (For Assistants)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6724650" y="360045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工作更清晰，压力更小。从“救火队”变为专业的健康管理者，任务自动排序，告别重复巡查，提升职业成就感。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多方共赢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我们的技术核心</a:t>
            </a:r>
            <a:endParaRPr/>
          </a:p>
        </p:txBody>
      </p:sp>
      <p:pic>
        <p:nvPicPr>
          <p:cNvPr descr="image.png" id="172" name="Google Shape;17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1"/>
          <p:cNvSpPr txBox="1"/>
          <p:nvPr/>
        </p:nvSpPr>
        <p:spPr>
          <a:xfrm>
            <a:off x="571500" y="14287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物联网 (IoT) + 云计算 (Cloud)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571500" y="21621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所有手环设备通过低功耗蓝牙连接到院内网关，数据实时上传至云端平台，确保信息安全与稳定。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571500" y="292417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AI算法 (AI Algorithm)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571500" y="365760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我们的核心算法能精准区分“翻身”与“睡醒”，并根据老人的健康档案智能判断任务优先级。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/>
          <p:nvPr/>
        </p:nvSpPr>
        <p:spPr>
          <a:xfrm>
            <a:off x="571500" y="3838575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507968" y="40957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阶段1: 体征监测</a:t>
            </a:r>
            <a:endParaRPr/>
          </a:p>
        </p:txBody>
      </p:sp>
      <p:sp>
        <p:nvSpPr>
          <p:cNvPr id="184" name="Google Shape;184;p22"/>
          <p:cNvSpPr txBox="1"/>
          <p:nvPr/>
        </p:nvSpPr>
        <p:spPr>
          <a:xfrm>
            <a:off x="571500" y="461962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实现睡醒检测和晨间任务自动化。</a:t>
            </a:r>
            <a:endParaRPr/>
          </a:p>
        </p:txBody>
      </p:sp>
      <p:sp>
        <p:nvSpPr>
          <p:cNvPr id="185" name="Google Shape;185;p22"/>
          <p:cNvSpPr txBox="1"/>
          <p:nvPr/>
        </p:nvSpPr>
        <p:spPr>
          <a:xfrm>
            <a:off x="3343888" y="22955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阶段2: 异常预警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3407419" y="2819400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增加跌倒检测、心率异常自动报警。</a:t>
            </a:r>
            <a:endParaRPr/>
          </a:p>
        </p:txBody>
      </p:sp>
      <p:sp>
        <p:nvSpPr>
          <p:cNvPr id="187" name="Google Shape;187;p22"/>
          <p:cNvSpPr txBox="1"/>
          <p:nvPr/>
        </p:nvSpPr>
        <p:spPr>
          <a:xfrm>
            <a:off x="6179808" y="4095750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阶段3: 行为预测</a:t>
            </a:r>
            <a:endParaRPr/>
          </a:p>
        </p:txBody>
      </p:sp>
      <p:sp>
        <p:nvSpPr>
          <p:cNvPr id="188" name="Google Shape;188;p22"/>
          <p:cNvSpPr txBox="1"/>
          <p:nvPr/>
        </p:nvSpPr>
        <p:spPr>
          <a:xfrm>
            <a:off x="6243339" y="4619625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通过AI分析，预测健康风险（如感染、情绪低落）。</a:t>
            </a:r>
            <a:endParaRPr/>
          </a:p>
        </p:txBody>
      </p:sp>
      <p:sp>
        <p:nvSpPr>
          <p:cNvPr id="189" name="Google Shape;189;p22"/>
          <p:cNvSpPr txBox="1"/>
          <p:nvPr/>
        </p:nvSpPr>
        <p:spPr>
          <a:xfrm>
            <a:off x="9015728" y="2295525"/>
            <a:ext cx="266830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阶段4: 开放平台</a:t>
            </a:r>
            <a:endParaRPr/>
          </a:p>
        </p:txBody>
      </p:sp>
      <p:sp>
        <p:nvSpPr>
          <p:cNvPr id="190" name="Google Shape;190;p22"/>
          <p:cNvSpPr txBox="1"/>
          <p:nvPr/>
        </p:nvSpPr>
        <p:spPr>
          <a:xfrm>
            <a:off x="9079259" y="2819400"/>
            <a:ext cx="2541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与医院EHR系统打通，实现医养结合。</a:t>
            </a:r>
            <a:endParaRPr/>
          </a:p>
        </p:txBody>
      </p:sp>
      <p:sp>
        <p:nvSpPr>
          <p:cNvPr id="191" name="Google Shape;191;p22"/>
          <p:cNvSpPr/>
          <p:nvPr/>
        </p:nvSpPr>
        <p:spPr>
          <a:xfrm>
            <a:off x="174687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582790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741870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10254629" y="3762375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005A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未来的蓝图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2057400" y="2931914"/>
            <a:ext cx="8077200" cy="1279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让科技充满温度，让每一位老人的晚年，都享有尊严与即时的关怀。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5313675" y="4497575"/>
            <a:ext cx="26925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— 我们的团队 G</a:t>
            </a:r>
            <a:r>
              <a:rPr lang="en-US" sz="16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olden 114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1581150" y="3217664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DEEF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10334625" y="4116585"/>
            <a:ext cx="27622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CDEEFA"/>
                </a:solidFill>
                <a:latin typeface="Poppins"/>
                <a:ea typeface="Poppins"/>
                <a:cs typeface="Poppins"/>
                <a:sym typeface="Poppins"/>
              </a:rPr>
              <a:t>"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我们的愿景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4"/>
          <p:cNvSpPr txBox="1"/>
          <p:nvPr/>
        </p:nvSpPr>
        <p:spPr>
          <a:xfrm>
            <a:off x="295275" y="2241202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A9C"/>
                </a:solidFill>
                <a:latin typeface="Poppins"/>
                <a:ea typeface="Poppins"/>
                <a:cs typeface="Poppins"/>
                <a:sym typeface="Poppins"/>
              </a:rPr>
              <a:t>感谢聆听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571500" y="361280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rPr>
              <a:t>Q&amp;A 问答环节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571500" y="4359473"/>
            <a:ext cx="11049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Golden 114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