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4" r:id="rId3"/>
    <p:sldId id="264" r:id="rId4"/>
    <p:sldId id="267" r:id="rId5"/>
    <p:sldId id="269" r:id="rId6"/>
    <p:sldId id="270" r:id="rId7"/>
    <p:sldId id="268" r:id="rId8"/>
    <p:sldId id="256" r:id="rId9"/>
    <p:sldId id="259" r:id="rId10"/>
    <p:sldId id="265" r:id="rId11"/>
    <p:sldId id="260" r:id="rId12"/>
    <p:sldId id="285" r:id="rId13"/>
    <p:sldId id="262" r:id="rId14"/>
    <p:sldId id="266" r:id="rId15"/>
    <p:sldId id="261" r:id="rId16"/>
    <p:sldId id="272" r:id="rId17"/>
    <p:sldId id="274" r:id="rId18"/>
    <p:sldId id="275" r:id="rId19"/>
    <p:sldId id="276" r:id="rId20"/>
    <p:sldId id="277" r:id="rId21"/>
    <p:sldId id="306" r:id="rId22"/>
    <p:sldId id="307" r:id="rId23"/>
    <p:sldId id="286" r:id="rId24"/>
    <p:sldId id="287" r:id="rId25"/>
    <p:sldId id="28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 t="-16630" b="-1663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平台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4400">
                <a:latin typeface="+mj-lt"/>
                <a:ea typeface="+mj-ea"/>
                <a:cs typeface="+mj-cs"/>
                <a:sym typeface="+mn-ea"/>
              </a:rPr>
              <a:t>运营发力点</a:t>
            </a:r>
            <a:endParaRPr lang="zh-CN" altLang="en-US" sz="4400">
              <a:latin typeface="+mj-lt"/>
              <a:ea typeface="+mj-ea"/>
              <a:cs typeface="+mj-cs"/>
              <a:sym typeface="+mn-ea"/>
            </a:endParaRPr>
          </a:p>
          <a:p>
            <a:r>
              <a:rPr lang="en-US" altLang="zh-CN" sz="4400">
                <a:latin typeface="+mj-lt"/>
                <a:ea typeface="+mj-ea"/>
                <a:cs typeface="+mj-cs"/>
                <a:sym typeface="+mn-ea"/>
              </a:rPr>
              <a:t>2C</a:t>
            </a:r>
            <a:r>
              <a:rPr lang="zh-CN" altLang="en-US" sz="4400">
                <a:latin typeface="+mj-lt"/>
                <a:ea typeface="+mj-ea"/>
                <a:cs typeface="+mj-cs"/>
                <a:sym typeface="+mn-ea"/>
              </a:rPr>
              <a:t>发力点</a:t>
            </a:r>
            <a:endParaRPr lang="zh-CN" altLang="en-US" sz="4400">
              <a:latin typeface="+mj-lt"/>
              <a:ea typeface="+mj-ea"/>
              <a:cs typeface="+mj-cs"/>
              <a:sym typeface="+mn-ea"/>
            </a:endParaRPr>
          </a:p>
          <a:p>
            <a:r>
              <a:rPr lang="zh-CN" altLang="en-US" sz="4400">
                <a:latin typeface="+mj-lt"/>
                <a:ea typeface="+mj-ea"/>
                <a:cs typeface="+mj-cs"/>
                <a:sym typeface="+mn-ea"/>
              </a:rPr>
              <a:t>渠道发力点</a:t>
            </a:r>
            <a:endParaRPr lang="zh-CN" altLang="en-US" sz="4400">
              <a:latin typeface="+mj-lt"/>
              <a:ea typeface="+mj-ea"/>
              <a:cs typeface="+mj-cs"/>
              <a:sym typeface="+mn-ea"/>
            </a:endParaRPr>
          </a:p>
          <a:p>
            <a:r>
              <a:rPr lang="en-US" altLang="zh-CN" sz="4400">
                <a:latin typeface="+mj-lt"/>
                <a:ea typeface="+mj-ea"/>
                <a:cs typeface="+mj-cs"/>
                <a:sym typeface="+mn-ea"/>
              </a:rPr>
              <a:t>B</a:t>
            </a:r>
            <a:r>
              <a:rPr lang="zh-CN" altLang="en-US" sz="4400">
                <a:latin typeface="+mj-lt"/>
                <a:ea typeface="+mj-ea"/>
                <a:cs typeface="+mj-cs"/>
                <a:sym typeface="+mn-ea"/>
              </a:rPr>
              <a:t>端发力点</a:t>
            </a:r>
            <a:endParaRPr lang="zh-CN" altLang="en-US" sz="4400">
              <a:latin typeface="+mj-lt"/>
              <a:ea typeface="+mj-ea"/>
              <a:cs typeface="+mj-cs"/>
              <a:sym typeface="+mn-ea"/>
            </a:endParaRPr>
          </a:p>
          <a:p>
            <a:r>
              <a:rPr lang="zh-CN" altLang="en-US" sz="4400">
                <a:latin typeface="+mj-lt"/>
                <a:ea typeface="+mj-ea"/>
                <a:cs typeface="+mj-cs"/>
                <a:sym typeface="+mn-ea"/>
              </a:rPr>
              <a:t>平台综合能力输出</a:t>
            </a:r>
            <a:endParaRPr lang="zh-CN" altLang="en-US" sz="4400">
              <a:latin typeface="+mj-lt"/>
              <a:ea typeface="+mj-ea"/>
              <a:cs typeface="+mj-cs"/>
              <a:sym typeface="+mn-ea"/>
            </a:endParaRPr>
          </a:p>
          <a:p>
            <a:endParaRPr lang="zh-CN" altLang="en-US" sz="4400"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5402"/>
          </a:xfrm>
          <a:noFill/>
        </p:spPr>
        <p:txBody>
          <a:bodyPr vert="horz" wrap="square" lIns="91440" tIns="45720" rIns="91440" bIns="45720" rtlCol="0" anchor="ctr">
            <a:normAutofit/>
          </a:bodyPr>
          <a:p>
            <a:pPr indent="0" algn="l" defTabSz="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运营发力点</a:t>
            </a:r>
            <a:endParaRPr lang="zh-CN" altLang="en-US" b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商业智能 - </a:t>
            </a:r>
            <a:r>
              <a:rPr lang="en-US" altLang="zh-CN">
                <a:sym typeface="+mn-ea"/>
              </a:rPr>
              <a:t>BI </a:t>
            </a:r>
            <a:r>
              <a:rPr lang="zh-CN" altLang="en-US">
                <a:sym typeface="+mn-ea"/>
              </a:rPr>
              <a:t>体系建设</a:t>
            </a:r>
            <a:endParaRPr lang="zh-CN" altLang="en-US"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839809" y="2505052"/>
            <a:ext cx="8255432" cy="3684588"/>
          </a:xfrm>
        </p:spPr>
        <p:txBody>
          <a:bodyPr/>
          <a:p>
            <a:pPr algn="l"/>
            <a:r>
              <a:rPr lang="en-US" altLang="zh-CN"/>
              <a:t>1.</a:t>
            </a:r>
            <a:r>
              <a:rPr lang="zh-CN" altLang="en-US"/>
              <a:t> 大屏指标体系建设</a:t>
            </a:r>
            <a:endParaRPr lang="zh-CN" altLang="en-US"/>
          </a:p>
          <a:p>
            <a:pPr lvl="1" algn="l"/>
            <a:r>
              <a:rPr lang="zh-CN" altLang="en-US"/>
              <a:t>一级指标  （战略提出）</a:t>
            </a:r>
            <a:endParaRPr lang="zh-CN" altLang="en-US"/>
          </a:p>
          <a:p>
            <a:pPr lvl="1" algn="l"/>
            <a:r>
              <a:rPr lang="zh-CN" altLang="en-US"/>
              <a:t>二级指标  （业务部门提出）</a:t>
            </a:r>
            <a:endParaRPr lang="zh-CN" altLang="en-US"/>
          </a:p>
          <a:p>
            <a:pPr lvl="1" algn="l"/>
            <a:r>
              <a:rPr lang="zh-CN" altLang="en-US"/>
              <a:t>三级指标  （技术部门提出）</a:t>
            </a:r>
            <a:endParaRPr lang="zh-CN" altLang="en-US"/>
          </a:p>
          <a:p>
            <a:pPr lvl="0" algn="l"/>
            <a:r>
              <a:rPr lang="en-US" altLang="zh-CN"/>
              <a:t>2. </a:t>
            </a:r>
            <a:r>
              <a:rPr lang="zh-CN" altLang="en-US"/>
              <a:t>智能</a:t>
            </a:r>
            <a:r>
              <a:rPr lang="en-US" altLang="zh-CN"/>
              <a:t>BI</a:t>
            </a:r>
            <a:r>
              <a:rPr lang="zh-CN" altLang="en-US"/>
              <a:t>系统</a:t>
            </a:r>
            <a:endParaRPr lang="zh-CN" altLang="en-US"/>
          </a:p>
          <a:p>
            <a:pPr lvl="1" algn="l"/>
            <a:r>
              <a:rPr lang="zh-CN" altLang="en-US"/>
              <a:t>利用</a:t>
            </a:r>
            <a:r>
              <a:rPr lang="en-US" altLang="zh-CN"/>
              <a:t>ChatGPT</a:t>
            </a:r>
            <a:r>
              <a:rPr lang="zh-CN" altLang="en-US"/>
              <a:t>类大模型，智能</a:t>
            </a:r>
            <a:r>
              <a:rPr lang="en-US" altLang="zh-CN"/>
              <a:t>SQL</a:t>
            </a:r>
            <a:r>
              <a:rPr lang="zh-CN" altLang="en-US"/>
              <a:t>统计数据</a:t>
            </a:r>
            <a:endParaRPr lang="zh-CN" altLang="en-US"/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5721060" y="250505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运营发力点</a:t>
            </a:r>
            <a:endParaRPr lang="zh-CN" altLang="en-US" b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5721060" y="250505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/>
          </a:p>
        </p:txBody>
      </p:sp>
      <p:pic>
        <p:nvPicPr>
          <p:cNvPr id="2" name="图片 1" descr="upload_post_object_v2_1952462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783" y="1183010"/>
            <a:ext cx="9828137" cy="5234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运营发力点</a:t>
            </a:r>
            <a:endParaRPr lang="zh-CN" altLang="en-US" b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5721060" y="250505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/>
          </a:p>
        </p:txBody>
      </p:sp>
      <p:pic>
        <p:nvPicPr>
          <p:cNvPr id="6" name="图片 5" descr="upload_post_object_v2_7379450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783" y="1110490"/>
            <a:ext cx="9777781" cy="5685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pPr indent="0" algn="l" defTabSz="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运营发力点</a:t>
            </a:r>
            <a:endParaRPr lang="zh-CN" altLang="en-US" b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5721060" y="250505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/>
          </a:p>
        </p:txBody>
      </p:sp>
      <p:pic>
        <p:nvPicPr>
          <p:cNvPr id="2" name="图片 1" descr="upload_post_object_v2_172899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783" y="1328298"/>
            <a:ext cx="9984674" cy="52090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zh-CN" altLang="en-US" b="1">
                <a:sym typeface="+mn-ea"/>
              </a:rPr>
              <a:t>运营发力点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用户画像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lvl="0" indent="0" algn="l">
              <a:buNone/>
            </a:pPr>
            <a:r>
              <a:rPr lang="en-US" altLang="zh-CN"/>
              <a:t>1. </a:t>
            </a:r>
            <a:r>
              <a:rPr lang="zh-CN" altLang="en-US"/>
              <a:t>打标签</a:t>
            </a:r>
            <a:endParaRPr lang="zh-CN" altLang="en-US"/>
          </a:p>
          <a:p>
            <a:pPr marL="0" lvl="0" indent="0" algn="l">
              <a:buNone/>
            </a:pPr>
            <a:r>
              <a:rPr lang="en-US" altLang="zh-CN"/>
              <a:t>2. </a:t>
            </a:r>
            <a:r>
              <a:rPr lang="zh-CN" altLang="en-US"/>
              <a:t>粘性</a:t>
            </a:r>
            <a:endParaRPr lang="zh-CN" altLang="en-US"/>
          </a:p>
          <a:p>
            <a:pPr marL="0" lvl="0" indent="0" algn="l">
              <a:buNone/>
            </a:pPr>
            <a:r>
              <a:rPr lang="en-US" altLang="zh-CN"/>
              <a:t>3. </a:t>
            </a:r>
            <a:r>
              <a:rPr lang="zh-CN" altLang="en-US"/>
              <a:t>习惯</a:t>
            </a:r>
            <a:endParaRPr lang="zh-CN" altLang="en-US"/>
          </a:p>
          <a:p>
            <a:pPr marL="0" lvl="0" indent="0" algn="l">
              <a:buNone/>
            </a:pPr>
            <a:r>
              <a:rPr lang="en-US" altLang="zh-CN"/>
              <a:t>4.</a:t>
            </a:r>
            <a:r>
              <a:rPr lang="zh-CN" altLang="en-US"/>
              <a:t> 关注度</a:t>
            </a:r>
            <a:endParaRPr lang="zh-CN" altLang="en-US"/>
          </a:p>
          <a:p>
            <a:pPr marL="0" lvl="0" indent="0" algn="l">
              <a:buNone/>
            </a:pPr>
            <a:r>
              <a:rPr lang="en-US" altLang="zh-CN"/>
              <a:t>5.</a:t>
            </a:r>
            <a:r>
              <a:rPr lang="zh-CN" altLang="en-US"/>
              <a:t> 热点地图</a:t>
            </a:r>
            <a:endParaRPr lang="zh-CN" altLang="en-US"/>
          </a:p>
          <a:p>
            <a:pPr lvl="1" algn="l"/>
            <a:endParaRPr lang="zh-CN" altLang="en-US"/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6197621" y="250503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 algn="l">
              <a:buNone/>
            </a:pPr>
            <a:endParaRPr lang="zh-CN" altLang="en-US"/>
          </a:p>
        </p:txBody>
      </p:sp>
      <p:pic>
        <p:nvPicPr>
          <p:cNvPr id="8" name="图片 7" descr="upload_post_object_v2_7980456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9020" y="1469050"/>
            <a:ext cx="8120237" cy="368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en-US" altLang="zh-CN" b="1">
                <a:solidFill>
                  <a:schemeClr val="tx1"/>
                </a:solidFill>
              </a:rPr>
              <a:t>2C</a:t>
            </a:r>
            <a:r>
              <a:rPr lang="zh-CN" altLang="en-US" b="1">
                <a:solidFill>
                  <a:schemeClr val="tx1"/>
                </a:solidFill>
              </a:rPr>
              <a:t>发力点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品牌宣传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 </a:t>
            </a:r>
            <a:r>
              <a:rPr lang="en-US" altLang="zh-CN" b="1">
                <a:solidFill>
                  <a:srgbClr val="FF0000"/>
                </a:solidFill>
              </a:rPr>
              <a:t>SEO </a:t>
            </a:r>
            <a:r>
              <a:rPr lang="zh-CN" altLang="en-US" b="1">
                <a:solidFill>
                  <a:srgbClr val="FF0000"/>
                </a:solidFill>
              </a:rPr>
              <a:t>网站建设</a:t>
            </a:r>
            <a:endParaRPr lang="en-US" altLang="zh-CN" b="1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心知了-官网、论坛、博客、知识库、文章</a:t>
            </a:r>
            <a:endParaRPr lang="zh-CN" altLang="en-US"/>
          </a:p>
          <a:p>
            <a:pPr lvl="1"/>
            <a:r>
              <a:rPr lang="zh-CN" altLang="en-US"/>
              <a:t>内联管理</a:t>
            </a:r>
            <a:endParaRPr lang="zh-CN" altLang="en-US"/>
          </a:p>
          <a:p>
            <a:pPr lvl="1"/>
            <a:r>
              <a:rPr lang="zh-CN" altLang="en-US"/>
              <a:t>长短关键词管理</a:t>
            </a:r>
            <a:endParaRPr lang="zh-CN" altLang="en-US"/>
          </a:p>
          <a:p>
            <a:pPr lvl="1"/>
            <a:r>
              <a:rPr lang="zh-CN" altLang="en-US"/>
              <a:t>网站建设</a:t>
            </a:r>
            <a:endParaRPr lang="zh-CN" altLang="en-US"/>
          </a:p>
          <a:p>
            <a:pPr lvl="1"/>
            <a:r>
              <a:rPr lang="zh-CN" altLang="en-US" b="1">
                <a:solidFill>
                  <a:srgbClr val="FF0000"/>
                </a:solidFill>
              </a:rPr>
              <a:t>全力打造内容管理平台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/>
              <a:t>新媒体广告推广</a:t>
            </a:r>
            <a:endParaRPr lang="zh-CN" altLang="en-US"/>
          </a:p>
          <a:p>
            <a:pPr lvl="1"/>
            <a:r>
              <a:rPr lang="zh-CN" altLang="en-US"/>
              <a:t>抖音</a:t>
            </a:r>
            <a:endParaRPr lang="zh-CN" altLang="en-US"/>
          </a:p>
          <a:p>
            <a:pPr lvl="1"/>
            <a:r>
              <a:rPr lang="zh-CN" altLang="en-US"/>
              <a:t>头条</a:t>
            </a:r>
            <a:endParaRPr lang="zh-CN" altLang="en-US"/>
          </a:p>
          <a:p>
            <a:pPr lvl="1"/>
            <a:r>
              <a:rPr lang="zh-CN" altLang="en-US"/>
              <a:t>小红书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altLang="en-US"/>
              <a:t>个人中心 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4"/>
          </p:nvPr>
        </p:nvSpPr>
        <p:spPr/>
        <p:txBody>
          <a:bodyPr/>
          <a:p>
            <a:r>
              <a:rPr lang="en-US" altLang="zh-CN"/>
              <a:t>PC</a:t>
            </a:r>
            <a:r>
              <a:rPr lang="zh-CN" altLang="en-US"/>
              <a:t>端  个人中心</a:t>
            </a:r>
            <a:endParaRPr lang="zh-CN" altLang="en-US"/>
          </a:p>
          <a:p>
            <a:pPr lvl="1"/>
            <a:r>
              <a:rPr lang="zh-CN" altLang="en-US"/>
              <a:t>优势	</a:t>
            </a:r>
            <a:endParaRPr lang="zh-CN" altLang="en-US"/>
          </a:p>
          <a:p>
            <a:pPr lvl="2"/>
            <a:r>
              <a:rPr lang="en-US" altLang="zh-CN"/>
              <a:t>1. </a:t>
            </a:r>
            <a:r>
              <a:rPr lang="zh-CN" altLang="en-US"/>
              <a:t>展示更多内容</a:t>
            </a:r>
            <a:endParaRPr lang="zh-CN" altLang="en-US"/>
          </a:p>
          <a:p>
            <a:pPr lvl="2"/>
            <a:r>
              <a:rPr lang="en-US" altLang="zh-CN"/>
              <a:t>2. </a:t>
            </a:r>
            <a:r>
              <a:rPr lang="zh-CN" altLang="en-US"/>
              <a:t>个人长期健康趋势管理</a:t>
            </a:r>
            <a:endParaRPr lang="zh-CN" altLang="en-US"/>
          </a:p>
          <a:p>
            <a:pPr lvl="0"/>
            <a:r>
              <a:rPr lang="zh-CN" altLang="en-US"/>
              <a:t>移动端  </a:t>
            </a:r>
            <a:r>
              <a:rPr lang="zh-CN" altLang="en-US">
                <a:sym typeface="+mn-ea"/>
              </a:rPr>
              <a:t>个人中心</a:t>
            </a:r>
            <a:r>
              <a:rPr lang="zh-CN" altLang="en-US"/>
              <a:t> </a:t>
            </a:r>
            <a:endParaRPr lang="zh-CN" altLang="en-US"/>
          </a:p>
          <a:p>
            <a:pPr lvl="1"/>
            <a:r>
              <a:rPr lang="zh-CN" altLang="en-US"/>
              <a:t>健康度指数趋势</a:t>
            </a:r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en-US" altLang="zh-CN" b="1">
                <a:solidFill>
                  <a:schemeClr val="tx1"/>
                </a:solidFill>
              </a:rPr>
              <a:t>2C</a:t>
            </a:r>
            <a:r>
              <a:rPr lang="zh-CN" altLang="en-US" b="1">
                <a:solidFill>
                  <a:schemeClr val="tx1"/>
                </a:solidFill>
              </a:rPr>
              <a:t>发力点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2800">
                <a:sym typeface="+mn-ea"/>
              </a:rPr>
              <a:t>平台-</a:t>
            </a:r>
            <a:r>
              <a:rPr lang="zh-CN" altLang="en-US">
                <a:sym typeface="+mn-ea"/>
              </a:rPr>
              <a:t>知识库</a:t>
            </a:r>
            <a:endParaRPr lang="zh-CN" altLang="en-US"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4461589"/>
          </a:xfrm>
        </p:spPr>
        <p:txBody>
          <a:bodyPr>
            <a:normAutofit fontScale="70000"/>
          </a:bodyPr>
          <a:p>
            <a:pPr algn="l"/>
            <a:r>
              <a:rPr lang="zh-CN" altLang="en-US">
                <a:sym typeface="+mn-ea"/>
              </a:rPr>
              <a:t> </a:t>
            </a:r>
            <a:r>
              <a:rPr lang="zh-CN" altLang="en-US" sz="2400">
                <a:sym typeface="+mn-ea"/>
              </a:rPr>
              <a:t>健康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知识库</a:t>
            </a:r>
            <a:endParaRPr lang="zh-CN" altLang="en-US">
              <a:solidFill>
                <a:srgbClr val="FF0000"/>
              </a:solidFill>
            </a:endParaRPr>
          </a:p>
          <a:p>
            <a:pPr lvl="1" algn="l"/>
            <a:r>
              <a:rPr lang="zh-CN" altLang="en-US" sz="2400">
                <a:sym typeface="+mn-ea"/>
              </a:rPr>
              <a:t>专家讲堂</a:t>
            </a:r>
            <a:endParaRPr lang="zh-CN" altLang="en-US" sz="2400">
              <a:sym typeface="+mn-ea"/>
            </a:endParaRPr>
          </a:p>
          <a:p>
            <a:pPr lvl="2" algn="l"/>
            <a:r>
              <a:rPr lang="zh-CN" altLang="en-US" sz="2400">
                <a:sym typeface="+mn-ea"/>
              </a:rPr>
              <a:t>付费课程</a:t>
            </a:r>
            <a:endParaRPr lang="zh-CN" altLang="en-US" sz="2400">
              <a:sym typeface="+mn-ea"/>
            </a:endParaRPr>
          </a:p>
          <a:p>
            <a:pPr lvl="2" algn="l"/>
            <a:r>
              <a:rPr lang="zh-CN" altLang="en-US" sz="2400">
                <a:sym typeface="+mn-ea"/>
              </a:rPr>
              <a:t>免费课程</a:t>
            </a:r>
            <a:endParaRPr lang="zh-CN" altLang="en-US" sz="2000">
              <a:sym typeface="+mn-ea"/>
            </a:endParaRPr>
          </a:p>
          <a:p>
            <a:pPr lvl="1" algn="l"/>
            <a:r>
              <a:rPr lang="en-US" altLang="zh-CN">
                <a:sym typeface="+mn-ea"/>
              </a:rPr>
              <a:t>Chat</a:t>
            </a:r>
            <a:r>
              <a:rPr lang="zh-CN" altLang="en-US">
                <a:sym typeface="+mn-ea"/>
              </a:rPr>
              <a:t>知识库</a:t>
            </a:r>
            <a:endParaRPr lang="zh-CN" altLang="en-US">
              <a:sym typeface="+mn-ea"/>
            </a:endParaRPr>
          </a:p>
          <a:p>
            <a:pPr lvl="2" algn="l"/>
            <a:r>
              <a:rPr lang="zh-CN" altLang="en-US">
                <a:sym typeface="+mn-ea"/>
              </a:rPr>
              <a:t>自动拓展知识</a:t>
            </a:r>
            <a:endParaRPr lang="zh-CN" altLang="en-US">
              <a:sym typeface="+mn-ea"/>
            </a:endParaRPr>
          </a:p>
          <a:p>
            <a:pPr lvl="2" algn="l"/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SEO</a:t>
            </a:r>
            <a:r>
              <a:rPr lang="zh-CN" altLang="en-US">
                <a:sym typeface="+mn-ea"/>
              </a:rPr>
              <a:t>做准备</a:t>
            </a:r>
            <a:endParaRPr lang="zh-CN" altLang="en-US">
              <a:sym typeface="+mn-ea"/>
            </a:endParaRPr>
          </a:p>
          <a:p>
            <a:pPr lvl="1" algn="l"/>
            <a:r>
              <a:rPr lang="zh-CN" altLang="en-US">
                <a:sym typeface="+mn-ea"/>
              </a:rPr>
              <a:t>个人知识库</a:t>
            </a:r>
            <a:endParaRPr lang="zh-CN" altLang="en-US">
              <a:sym typeface="+mn-ea"/>
            </a:endParaRPr>
          </a:p>
          <a:p>
            <a:pPr lvl="2" algn="l"/>
            <a:r>
              <a:rPr lang="zh-CN" altLang="en-US" sz="2000">
                <a:sym typeface="+mn-ea"/>
              </a:rPr>
              <a:t>个人发布健康知识库</a:t>
            </a:r>
            <a:endParaRPr lang="zh-CN" altLang="en-US" sz="2000">
              <a:sym typeface="+mn-ea"/>
            </a:endParaRPr>
          </a:p>
          <a:p>
            <a:pPr lvl="2" algn="l"/>
            <a:r>
              <a:rPr lang="zh-CN" altLang="en-US">
                <a:sym typeface="+mn-ea"/>
              </a:rPr>
              <a:t>个人收藏知识库</a:t>
            </a:r>
            <a:endParaRPr lang="zh-CN" altLang="en-US" sz="2000">
              <a:sym typeface="+mn-ea"/>
            </a:endParaRPr>
          </a:p>
          <a:p>
            <a:pPr lvl="0" algn="l"/>
            <a:r>
              <a:rPr lang="zh-CN" altLang="en-US"/>
              <a:t>运动达人</a:t>
            </a:r>
            <a:endParaRPr lang="zh-CN" altLang="en-US"/>
          </a:p>
          <a:p>
            <a:pPr lvl="0" algn="l"/>
            <a:r>
              <a:rPr lang="zh-CN" altLang="en-US"/>
              <a:t>医生</a:t>
            </a:r>
            <a:endParaRPr lang="zh-CN" altLang="en-US"/>
          </a:p>
          <a:p>
            <a:pPr lvl="0" algn="l"/>
            <a:r>
              <a:rPr lang="zh-CN" altLang="en-US"/>
              <a:t>中医</a:t>
            </a:r>
            <a:endParaRPr lang="zh-CN" altLang="en-US"/>
          </a:p>
          <a:p>
            <a:pPr lvl="1" algn="l"/>
            <a:r>
              <a:rPr lang="zh-CN" altLang="en-US"/>
              <a:t>调理</a:t>
            </a:r>
            <a:endParaRPr lang="zh-CN" altLang="en-US"/>
          </a:p>
          <a:p>
            <a:pPr lvl="1" algn="l"/>
            <a:endParaRPr lang="zh-CN" altLang="en-US"/>
          </a:p>
          <a:p>
            <a:pPr lvl="0" algn="l"/>
            <a:endParaRPr lang="zh-CN" altLang="en-US"/>
          </a:p>
          <a:p>
            <a:pPr lvl="1" algn="l"/>
            <a:endParaRPr lang="zh-CN" altLang="en-US"/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ym typeface="+mn-ea"/>
              </a:rPr>
              <a:t>个人-知识库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6197621" y="250503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>
                <a:sym typeface="+mn-ea"/>
              </a:rPr>
              <a:t>移动端   </a:t>
            </a:r>
            <a:endParaRPr lang="zh-CN" altLang="en-US"/>
          </a:p>
          <a:p>
            <a:pPr lvl="1" algn="l"/>
            <a:r>
              <a:rPr lang="zh-CN" altLang="en-US">
                <a:sym typeface="+mn-ea"/>
              </a:rPr>
              <a:t>收藏知识</a:t>
            </a:r>
            <a:endParaRPr lang="zh-CN" altLang="en-US">
              <a:sym typeface="+mn-ea"/>
            </a:endParaRPr>
          </a:p>
          <a:p>
            <a:pPr lvl="1" algn="l"/>
            <a:r>
              <a:rPr lang="zh-CN" altLang="en-US"/>
              <a:t>健康课程</a:t>
            </a:r>
            <a:endParaRPr lang="zh-CN" altLang="en-US"/>
          </a:p>
          <a:p>
            <a:pPr lvl="2" algn="l"/>
            <a:r>
              <a:rPr lang="zh-CN" altLang="en-US"/>
              <a:t>运动</a:t>
            </a:r>
            <a:endParaRPr lang="zh-CN" altLang="en-US"/>
          </a:p>
          <a:p>
            <a:pPr lvl="2" algn="l"/>
            <a:r>
              <a:rPr lang="zh-CN" altLang="en-US"/>
              <a:t>睡眠</a:t>
            </a:r>
            <a:endParaRPr lang="zh-CN" altLang="en-US"/>
          </a:p>
          <a:p>
            <a:pPr lvl="2" algn="l"/>
            <a:r>
              <a:rPr lang="zh-CN" altLang="en-US"/>
              <a:t>心肺增强</a:t>
            </a:r>
            <a:endParaRPr lang="zh-CN" altLang="en-US"/>
          </a:p>
          <a:p>
            <a:pPr lvl="2" algn="l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en-US" altLang="zh-CN" b="1">
                <a:solidFill>
                  <a:schemeClr val="tx1"/>
                </a:solidFill>
              </a:rPr>
              <a:t>2C</a:t>
            </a:r>
            <a:r>
              <a:rPr lang="zh-CN" altLang="en-US" b="1">
                <a:solidFill>
                  <a:schemeClr val="tx1"/>
                </a:solidFill>
              </a:rPr>
              <a:t>发力点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智能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Chat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799591" cy="3684588"/>
          </a:xfrm>
        </p:spPr>
        <p:txBody>
          <a:bodyPr/>
          <a:p>
            <a:pPr algn="l"/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ChatGPT</a:t>
            </a:r>
            <a:r>
              <a:rPr lang="zh-CN" altLang="en-US">
                <a:sym typeface="+mn-ea"/>
              </a:rPr>
              <a:t>类大模型融入业务场景</a:t>
            </a:r>
            <a:endParaRPr lang="zh-CN" altLang="en-US">
              <a:sym typeface="+mn-ea"/>
            </a:endParaRPr>
          </a:p>
          <a:p>
            <a:pPr lvl="1" algn="l"/>
            <a:r>
              <a:rPr lang="zh-CN" altLang="en-US"/>
              <a:t>智能客服</a:t>
            </a:r>
            <a:endParaRPr lang="zh-CN" altLang="en-US"/>
          </a:p>
          <a:p>
            <a:pPr lvl="1" algn="l"/>
            <a:r>
              <a:rPr lang="zh-CN" altLang="en-US"/>
              <a:t>指标智能诊断</a:t>
            </a:r>
            <a:endParaRPr lang="zh-CN" altLang="en-US"/>
          </a:p>
          <a:p>
            <a:pPr lvl="1" algn="l"/>
            <a:r>
              <a:rPr lang="zh-CN" altLang="en-US"/>
              <a:t>专业名词智能提示</a:t>
            </a:r>
            <a:endParaRPr lang="zh-CN" altLang="en-US"/>
          </a:p>
          <a:p>
            <a:pPr lvl="2" algn="l"/>
            <a:r>
              <a:rPr lang="zh-CN" altLang="en-US"/>
              <a:t>收集专业名词勋章</a:t>
            </a:r>
            <a:endParaRPr lang="zh-CN" altLang="en-US"/>
          </a:p>
          <a:p>
            <a:pPr lvl="1" algn="l"/>
            <a:r>
              <a:rPr lang="zh-CN" altLang="en-US"/>
              <a:t>规划运动方案</a:t>
            </a:r>
            <a:endParaRPr lang="zh-CN" altLang="en-US"/>
          </a:p>
          <a:p>
            <a:pPr lvl="1" algn="l"/>
            <a:r>
              <a:rPr lang="zh-CN" altLang="en-US"/>
              <a:t>生成康复方案</a:t>
            </a:r>
            <a:endParaRPr lang="zh-CN" altLang="en-US"/>
          </a:p>
          <a:p>
            <a:pPr lvl="0" algn="l"/>
            <a:endParaRPr lang="zh-CN" altLang="en-US"/>
          </a:p>
          <a:p>
            <a:pPr lvl="1" algn="l"/>
            <a:endParaRPr lang="zh-CN" altLang="en-US"/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6197621" y="250503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 algn="l">
              <a:buNone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渠道发力点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继续抢占大厂制高点</a:t>
            </a:r>
            <a:endParaRPr lang="zh-CN" altLang="en-US"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839783" y="2505052"/>
            <a:ext cx="8255432" cy="3684588"/>
          </a:xfrm>
        </p:spPr>
        <p:txBody>
          <a:bodyPr/>
          <a:p>
            <a:pPr marL="0" indent="0" algn="l"/>
            <a:r>
              <a:rPr lang="zh-CN" altLang="en-US">
                <a:solidFill>
                  <a:schemeClr val="tx1"/>
                </a:solidFill>
              </a:rPr>
              <a:t>加强合作宣传</a:t>
            </a:r>
            <a:endParaRPr lang="zh-CN" altLang="en-US">
              <a:solidFill>
                <a:schemeClr val="tx1"/>
              </a:solidFill>
            </a:endParaRPr>
          </a:p>
          <a:p>
            <a:pPr marL="0" indent="0" algn="l"/>
            <a:r>
              <a:rPr lang="zh-CN" altLang="en-US">
                <a:solidFill>
                  <a:schemeClr val="tx1"/>
                </a:solidFill>
              </a:rPr>
              <a:t>结合前面内容管理平台  </a:t>
            </a:r>
            <a:r>
              <a:rPr lang="en-US" altLang="zh-CN">
                <a:solidFill>
                  <a:schemeClr val="tx1"/>
                </a:solidFill>
              </a:rPr>
              <a:t>SEO </a:t>
            </a:r>
            <a:r>
              <a:rPr lang="zh-CN" altLang="en-US">
                <a:solidFill>
                  <a:schemeClr val="tx1"/>
                </a:solidFill>
              </a:rPr>
              <a:t>投喂搜索引擎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algn="l"/>
            <a:r>
              <a:rPr lang="zh-CN" altLang="en-US">
                <a:sym typeface="+mn-ea"/>
              </a:rPr>
              <a:t>合作发布会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algn="l"/>
            <a:r>
              <a:rPr lang="zh-CN" altLang="en-US">
                <a:sym typeface="+mn-ea"/>
              </a:rPr>
              <a:t>新品发布会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algn="l"/>
            <a:r>
              <a:rPr lang="zh-CN" altLang="en-US">
                <a:sym typeface="+mn-ea"/>
              </a:rPr>
              <a:t>技术研讨会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algn="l"/>
            <a:r>
              <a:rPr lang="zh-CN" altLang="en-US">
                <a:sym typeface="+mn-ea"/>
              </a:rPr>
              <a:t>论坛</a:t>
            </a:r>
            <a:endParaRPr lang="zh-CN" altLang="en-US">
              <a:sym typeface="+mn-ea"/>
            </a:endParaRPr>
          </a:p>
          <a:p>
            <a:pPr marL="457200" lvl="1" indent="0" algn="l"/>
            <a:r>
              <a:rPr lang="zh-CN" altLang="en-US">
                <a:solidFill>
                  <a:schemeClr val="tx1"/>
                </a:solidFill>
              </a:rPr>
              <a:t>投入到内容管理平台上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6197621" y="250503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渠道发力点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开放平台继续加强</a:t>
            </a:r>
            <a:endParaRPr lang="zh-CN" altLang="en-US"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839809" y="2505052"/>
            <a:ext cx="8255432" cy="3684588"/>
          </a:xfrm>
        </p:spPr>
        <p:txBody>
          <a:bodyPr/>
          <a:p>
            <a:pPr marL="0" indent="0" algn="l"/>
            <a:r>
              <a:rPr lang="zh-CN" altLang="en-US"/>
              <a:t>规范化开放接口</a:t>
            </a:r>
            <a:endParaRPr lang="zh-CN" altLang="en-US"/>
          </a:p>
          <a:p>
            <a:pPr marL="0" indent="0" algn="l"/>
            <a:r>
              <a:rPr lang="zh-CN" altLang="en-US"/>
              <a:t>加大推广开放平台（广告、渠道、等）</a:t>
            </a:r>
            <a:endParaRPr lang="zh-CN" altLang="en-US"/>
          </a:p>
          <a:p>
            <a:pPr marL="0" indent="0" algn="l"/>
            <a:r>
              <a:rPr lang="zh-CN" altLang="en-US"/>
              <a:t>涂鸦模式</a:t>
            </a:r>
            <a:endParaRPr lang="zh-CN" altLang="en-US"/>
          </a:p>
          <a:p>
            <a:pPr lvl="1" algn="l"/>
            <a:r>
              <a:rPr lang="zh-CN" altLang="en-US"/>
              <a:t>只做垂直领域（心电、血压、少数几个垂直领域）</a:t>
            </a:r>
            <a:endParaRPr lang="zh-CN" altLang="en-US"/>
          </a:p>
          <a:p>
            <a:pPr lvl="1" algn="l"/>
            <a:r>
              <a:rPr lang="zh-CN" altLang="en-US"/>
              <a:t>所有小的智能硬件厂商都是目标</a:t>
            </a:r>
            <a:endParaRPr lang="zh-CN" altLang="en-US"/>
          </a:p>
          <a:p>
            <a:pPr lvl="1" algn="l"/>
            <a:r>
              <a:rPr lang="zh-CN" altLang="en-US">
                <a:solidFill>
                  <a:schemeClr val="tx1"/>
                </a:solidFill>
              </a:rPr>
              <a:t>为厂商提供联网模块、云端、</a:t>
            </a:r>
            <a:r>
              <a:rPr lang="en-US" altLang="zh-CN">
                <a:solidFill>
                  <a:schemeClr val="tx1"/>
                </a:solidFill>
              </a:rPr>
              <a:t>APP </a:t>
            </a:r>
            <a:r>
              <a:rPr lang="zh-CN" altLang="en-US">
                <a:solidFill>
                  <a:schemeClr val="tx1"/>
                </a:solidFill>
              </a:rPr>
              <a:t>端一站式的智能化服务，厂商只需在现有产品中放入联网模块即可，智能化过程简单、灵活、高效、安全。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6197621" y="250503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渠道发力点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开放平台继续加强</a:t>
            </a:r>
            <a:endParaRPr lang="zh-CN" altLang="en-US"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839809" y="2505052"/>
            <a:ext cx="8255432" cy="3684588"/>
          </a:xfrm>
        </p:spPr>
        <p:txBody>
          <a:bodyPr/>
          <a:p>
            <a:pPr marL="0" indent="0" algn="l"/>
            <a:r>
              <a:rPr lang="zh-CN" altLang="en-US">
                <a:solidFill>
                  <a:schemeClr val="tx1"/>
                </a:solidFill>
              </a:rPr>
              <a:t>赋能厂商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algn="l"/>
            <a:r>
              <a:rPr lang="en-US" altLang="zh-CN">
                <a:solidFill>
                  <a:schemeClr val="tx1"/>
                </a:solidFill>
              </a:rPr>
              <a:t>1. </a:t>
            </a:r>
            <a:r>
              <a:rPr lang="zh-CN" altLang="en-US">
                <a:solidFill>
                  <a:schemeClr val="tx1"/>
                </a:solidFill>
              </a:rPr>
              <a:t>让厂商智能硬件更快集成心电模块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algn="l"/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 让厂商心电智能硬件更快实现</a:t>
            </a:r>
            <a:r>
              <a:rPr lang="en-US" altLang="zh-CN">
                <a:solidFill>
                  <a:schemeClr val="tx1"/>
                </a:solidFill>
              </a:rPr>
              <a:t>AI</a:t>
            </a:r>
            <a:r>
              <a:rPr lang="zh-CN" altLang="en-US">
                <a:solidFill>
                  <a:schemeClr val="tx1"/>
                </a:solidFill>
              </a:rPr>
              <a:t>解读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algn="l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6197621" y="250503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en-US" altLang="zh-CN" b="1">
                <a:solidFill>
                  <a:schemeClr val="tx1"/>
                </a:solidFill>
              </a:rPr>
              <a:t>B</a:t>
            </a:r>
            <a:r>
              <a:rPr lang="zh-CN" altLang="en-US" b="1">
                <a:solidFill>
                  <a:schemeClr val="tx1"/>
                </a:solidFill>
              </a:rPr>
              <a:t>端发力点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智能硬件网关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839809" y="2505052"/>
            <a:ext cx="8255432" cy="3684588"/>
          </a:xfrm>
        </p:spPr>
        <p:txBody>
          <a:bodyPr/>
          <a:p>
            <a:pPr algn="l"/>
            <a:r>
              <a:rPr lang="zh-CN" altLang="en-US"/>
              <a:t>所有设备连接到网关</a:t>
            </a:r>
            <a:endParaRPr lang="zh-CN" altLang="en-US"/>
          </a:p>
          <a:p>
            <a:pPr algn="l"/>
            <a:r>
              <a:rPr lang="zh-CN" altLang="en-US"/>
              <a:t>拓展外部设备连接到网关</a:t>
            </a:r>
            <a:endParaRPr lang="zh-CN" altLang="en-US"/>
          </a:p>
          <a:p>
            <a:pPr algn="l"/>
            <a:r>
              <a:rPr lang="zh-CN" altLang="en-US"/>
              <a:t>为落地方案提供技术支持</a:t>
            </a:r>
            <a:endParaRPr lang="zh-CN" altLang="en-US"/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5721060" y="250505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5402"/>
          </a:xfrm>
        </p:spPr>
        <p:txBody>
          <a:bodyPr/>
          <a:p>
            <a:r>
              <a:rPr lang="en-US" altLang="zh-CN" b="1">
                <a:solidFill>
                  <a:schemeClr val="tx1"/>
                </a:solidFill>
              </a:rPr>
              <a:t>B</a:t>
            </a:r>
            <a:r>
              <a:rPr lang="zh-CN" altLang="en-US" b="1">
                <a:solidFill>
                  <a:schemeClr val="tx1"/>
                </a:solidFill>
              </a:rPr>
              <a:t>端发力点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心电云-</a:t>
            </a:r>
            <a:r>
              <a:rPr lang="en-US" altLang="zh-CN">
                <a:sym typeface="+mn-ea"/>
              </a:rPr>
              <a:t>SAAS</a:t>
            </a:r>
            <a:r>
              <a:rPr lang="zh-CN" altLang="en-US">
                <a:sym typeface="+mn-ea"/>
              </a:rPr>
              <a:t>平台化</a:t>
            </a:r>
            <a:endParaRPr lang="zh-CN" altLang="en-US"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839809" y="2505052"/>
            <a:ext cx="8255432" cy="3684588"/>
          </a:xfrm>
        </p:spPr>
        <p:txBody>
          <a:bodyPr/>
          <a:p>
            <a:pPr algn="l"/>
            <a:r>
              <a:rPr lang="en-US" altLang="zh-CN"/>
              <a:t>1.</a:t>
            </a:r>
            <a:r>
              <a:rPr lang="zh-CN" altLang="en-US"/>
              <a:t> 增加对接外部硬件力度</a:t>
            </a:r>
            <a:endParaRPr lang="zh-CN" altLang="en-US"/>
          </a:p>
          <a:p>
            <a:pPr algn="l"/>
            <a:r>
              <a:rPr lang="en-US" altLang="zh-CN"/>
              <a:t>2.</a:t>
            </a:r>
            <a:r>
              <a:rPr lang="zh-CN" altLang="en-US"/>
              <a:t> 组合内部、外部硬件能力</a:t>
            </a:r>
            <a:endParaRPr lang="zh-CN" altLang="en-US"/>
          </a:p>
          <a:p>
            <a:pPr algn="l"/>
            <a:r>
              <a:rPr lang="en-US" altLang="zh-CN"/>
              <a:t>3. </a:t>
            </a:r>
            <a:r>
              <a:rPr lang="zh-CN" altLang="en-US"/>
              <a:t>组成一套套落地方案</a:t>
            </a:r>
            <a:endParaRPr lang="zh-CN" altLang="en-US"/>
          </a:p>
          <a:p>
            <a:pPr algn="l"/>
            <a:r>
              <a:rPr lang="en-US" altLang="zh-CN"/>
              <a:t>4.</a:t>
            </a:r>
            <a:r>
              <a:rPr lang="zh-CN" altLang="en-US"/>
              <a:t> 方案演示示范区、模型建设</a:t>
            </a:r>
            <a:endParaRPr lang="zh-CN" altLang="en-US"/>
          </a:p>
          <a:p>
            <a:pPr algn="l"/>
            <a:r>
              <a:rPr lang="en-US" altLang="zh-CN"/>
              <a:t>5.</a:t>
            </a:r>
            <a:r>
              <a:rPr lang="zh-CN" altLang="en-US"/>
              <a:t> 加大宣传</a:t>
            </a:r>
            <a:endParaRPr lang="zh-CN" altLang="en-US"/>
          </a:p>
        </p:txBody>
      </p:sp>
      <p:sp>
        <p:nvSpPr>
          <p:cNvPr id="3" name="文本占位符 5"/>
          <p:cNvSpPr>
            <a:spLocks noGrp="1"/>
          </p:cNvSpPr>
          <p:nvPr/>
        </p:nvSpPr>
        <p:spPr>
          <a:xfrm>
            <a:off x="6197621" y="168112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ym typeface="+mn-ea"/>
            </a:endParaRPr>
          </a:p>
        </p:txBody>
      </p:sp>
      <p:sp>
        <p:nvSpPr>
          <p:cNvPr id="4" name="内容占位符 6"/>
          <p:cNvSpPr>
            <a:spLocks noGrp="1"/>
          </p:cNvSpPr>
          <p:nvPr/>
        </p:nvSpPr>
        <p:spPr>
          <a:xfrm>
            <a:off x="5721060" y="2505052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平台-多轮驱动</a:t>
            </a:r>
            <a:endParaRPr lang="zh-CN" altLang="en-US" b="1"/>
          </a:p>
        </p:txBody>
      </p:sp>
      <p:pic>
        <p:nvPicPr>
          <p:cNvPr id="4" name="图片 3" descr="upload_post_object_v2_2832950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8916" y="0"/>
            <a:ext cx="7964241" cy="68847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平台-拓展点</a:t>
            </a:r>
            <a:endParaRPr lang="zh-CN" altLang="en-US" b="1"/>
          </a:p>
        </p:txBody>
      </p:sp>
      <p:pic>
        <p:nvPicPr>
          <p:cNvPr id="3" name="图片 2" descr="upload_post_object_v2_9732408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668" y="1471122"/>
            <a:ext cx="2601692" cy="4920677"/>
          </a:xfrm>
          <a:prstGeom prst="rect">
            <a:avLst/>
          </a:prstGeom>
        </p:spPr>
      </p:pic>
      <p:pic>
        <p:nvPicPr>
          <p:cNvPr id="5" name="图片 4" descr="upload_post_object_v2_2512474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97" y="238280"/>
            <a:ext cx="3481459" cy="6547199"/>
          </a:xfrm>
          <a:prstGeom prst="rect">
            <a:avLst/>
          </a:prstGeom>
        </p:spPr>
      </p:pic>
      <p:pic>
        <p:nvPicPr>
          <p:cNvPr id="6" name="图片 5" descr="upload_post_object_v2_7011950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045" y="238280"/>
            <a:ext cx="3778186" cy="6547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平台-品牌宣传</a:t>
            </a:r>
            <a:endParaRPr lang="zh-CN" altLang="en-US" b="1"/>
          </a:p>
        </p:txBody>
      </p:sp>
      <p:pic>
        <p:nvPicPr>
          <p:cNvPr id="4" name="图片 3" descr="upload_post_object_v2_5356002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1204" y="365087"/>
            <a:ext cx="5500065" cy="6288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平台-疲劳业务场景</a:t>
            </a:r>
            <a:endParaRPr lang="zh-CN" altLang="en-US" b="1"/>
          </a:p>
        </p:txBody>
      </p:sp>
      <p:pic>
        <p:nvPicPr>
          <p:cNvPr id="4" name="图片 3" descr="upload_post_object_v2_9044720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09" y="1392420"/>
            <a:ext cx="7934805" cy="53757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平台-知识付费业务场景</a:t>
            </a:r>
            <a:endParaRPr lang="zh-CN" altLang="en-US" b="1"/>
          </a:p>
        </p:txBody>
      </p:sp>
      <p:pic>
        <p:nvPicPr>
          <p:cNvPr id="3" name="图片 2" descr="upload_post_object_v2_845900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93" y="1424717"/>
            <a:ext cx="8526295" cy="53296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35756"/>
            <a:ext cx="10515600" cy="1325563"/>
          </a:xfrm>
        </p:spPr>
        <p:txBody>
          <a:bodyPr/>
          <a:p>
            <a:r>
              <a:rPr lang="zh-CN" altLang="en-US" b="1"/>
              <a:t>医疗+</a:t>
            </a:r>
            <a:r>
              <a:rPr lang="en-US" altLang="zh-CN" b="1"/>
              <a:t>ChatGPT 7</a:t>
            </a:r>
            <a:r>
              <a:rPr lang="zh-CN" altLang="en-US" b="1"/>
              <a:t>大业务场景</a:t>
            </a:r>
            <a:endParaRPr lang="zh-CN" altLang="en-US" b="1"/>
          </a:p>
        </p:txBody>
      </p:sp>
      <p:pic>
        <p:nvPicPr>
          <p:cNvPr id="3" name="图片 2" descr="upload_post_object_v2_0113270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9495"/>
            <a:ext cx="12192000" cy="54390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35756"/>
            <a:ext cx="10515600" cy="1325563"/>
          </a:xfrm>
        </p:spPr>
        <p:txBody>
          <a:bodyPr/>
          <a:p>
            <a:r>
              <a:rPr lang="zh-CN" altLang="en-US" b="1"/>
              <a:t>医疗+</a:t>
            </a:r>
            <a:r>
              <a:rPr lang="en-US" altLang="zh-CN" b="1"/>
              <a:t>ChatGPT 7</a:t>
            </a:r>
            <a:r>
              <a:rPr lang="zh-CN" altLang="en-US" b="1"/>
              <a:t>大业务场景</a:t>
            </a:r>
            <a:endParaRPr lang="zh-CN" altLang="en-US" b="1"/>
          </a:p>
        </p:txBody>
      </p:sp>
      <p:pic>
        <p:nvPicPr>
          <p:cNvPr id="4" name="图片 3" descr="upload_post_object_v2_2978486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2730"/>
            <a:ext cx="12192000" cy="6195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/>
        </p:nvSpPr>
        <p:spPr>
          <a:xfrm>
            <a:off x="589560" y="354765"/>
            <a:ext cx="10132279" cy="1056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6000" b="1">
                <a:sym typeface="+mn-ea"/>
              </a:rPr>
              <a:t>平台-做心脏健康领域的知乎</a:t>
            </a:r>
            <a:endParaRPr lang="zh-CN" altLang="en-US" sz="6000" b="1"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589589" y="1740159"/>
            <a:ext cx="8976916" cy="4191146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sz="2000"/>
              <a:t>   一直在想今日头条的模式，和我们的健康领域是否可以进行关联</a:t>
            </a:r>
            <a:endParaRPr sz="2000"/>
          </a:p>
          <a:p>
            <a:pPr algn="l"/>
            <a:r>
              <a:rPr lang="zh-CN" sz="2000" b="0">
                <a:solidFill>
                  <a:srgbClr val="1F2329"/>
                </a:solidFill>
                <a:ea typeface="Calibri" panose="020F0502020204030204"/>
              </a:rPr>
              <a:t>   头条：实时资讯流，视讯流，</a:t>
            </a:r>
            <a:r>
              <a:rPr lang="zh-CN" sz="2000" b="1">
                <a:solidFill>
                  <a:srgbClr val="1F2329"/>
                </a:solidFill>
                <a:ea typeface="Calibri" panose="020F0502020204030204"/>
              </a:rPr>
              <a:t>最终</a:t>
            </a:r>
            <a:r>
              <a:rPr lang="zh-CN" sz="2000" b="1">
                <a:solidFill>
                  <a:srgbClr val="FF4312"/>
                </a:solidFill>
                <a:ea typeface="Calibri" panose="020F0502020204030204"/>
              </a:rPr>
              <a:t>导流</a:t>
            </a:r>
            <a:r>
              <a:rPr lang="zh-CN" sz="2000" b="1">
                <a:solidFill>
                  <a:srgbClr val="1F2329"/>
                </a:solidFill>
                <a:ea typeface="Calibri" panose="020F0502020204030204"/>
              </a:rPr>
              <a:t>到</a:t>
            </a:r>
            <a:r>
              <a:rPr lang="zh-CN" sz="2000" b="0">
                <a:solidFill>
                  <a:srgbClr val="1F2329"/>
                </a:solidFill>
                <a:ea typeface="Calibri" panose="020F0502020204030204"/>
              </a:rPr>
              <a:t>，头条号，专栏，广告等平台</a:t>
            </a:r>
            <a:r>
              <a:rPr lang="zh-CN" sz="2000" b="1">
                <a:solidFill>
                  <a:srgbClr val="FF4312"/>
                </a:solidFill>
                <a:ea typeface="Calibri" panose="020F0502020204030204"/>
              </a:rPr>
              <a:t>自营类</a:t>
            </a:r>
            <a:r>
              <a:rPr lang="zh-CN" sz="2000" b="0">
                <a:solidFill>
                  <a:srgbClr val="1F2329"/>
                </a:solidFill>
                <a:ea typeface="Calibri" panose="020F0502020204030204"/>
              </a:rPr>
              <a:t>项目</a:t>
            </a:r>
            <a:endParaRPr lang="zh-CN" sz="2000" b="0">
              <a:solidFill>
                <a:srgbClr val="1F2329"/>
              </a:solidFill>
              <a:ea typeface="Calibri" panose="020F0502020204030204"/>
            </a:endParaRPr>
          </a:p>
          <a:p>
            <a:pPr algn="l"/>
            <a:r>
              <a:rPr lang="zh-CN" sz="2000" b="0">
                <a:solidFill>
                  <a:srgbClr val="1F2329"/>
                </a:solidFill>
                <a:ea typeface="Calibri" panose="020F0502020204030204"/>
              </a:rPr>
              <a:t>   头条号，专栏： 也是用户来完成，头条就只做平台，但是平台拿分层</a:t>
            </a:r>
            <a:endParaRPr lang="zh-CN" sz="2000" b="0">
              <a:solidFill>
                <a:srgbClr val="1F2329"/>
              </a:solidFill>
              <a:ea typeface="Calibri" panose="020F0502020204030204"/>
            </a:endParaRPr>
          </a:p>
          <a:p>
            <a:pPr algn="l"/>
            <a:r>
              <a:rPr lang="zh-CN" sz="2000" b="0">
                <a:solidFill>
                  <a:srgbClr val="1F2329"/>
                </a:solidFill>
                <a:ea typeface="Calibri" panose="020F0502020204030204"/>
              </a:rPr>
              <a:t>（1. 头条号产生内容，广告费分层 2. 头条专栏，知识付费，分层 等）</a:t>
            </a:r>
            <a:endParaRPr lang="zh-CN" sz="2000" b="0">
              <a:solidFill>
                <a:srgbClr val="1F2329"/>
              </a:solidFill>
              <a:ea typeface="Calibri" panose="020F0502020204030204"/>
            </a:endParaRPr>
          </a:p>
          <a:p>
            <a:pPr algn="l"/>
            <a:r>
              <a:rPr lang="en-US" sz="2000" b="0">
                <a:solidFill>
                  <a:srgbClr val="1F2329"/>
                </a:solidFill>
                <a:latin typeface="Calibri" panose="020F0502020204030204" charset="0"/>
              </a:rPr>
              <a:t>  </a:t>
            </a:r>
            <a:endParaRPr lang="en-US" sz="2000" b="0">
              <a:solidFill>
                <a:srgbClr val="1F2329"/>
              </a:solidFill>
              <a:latin typeface="Calibri" panose="020F0502020204030204" charset="0"/>
            </a:endParaRPr>
          </a:p>
          <a:p>
            <a:pPr algn="l"/>
            <a:endParaRPr lang="en-US" sz="2000" b="0">
              <a:solidFill>
                <a:srgbClr val="1F2329"/>
              </a:solidFill>
              <a:latin typeface="Calibri" panose="020F0502020204030204" charset="0"/>
            </a:endParaRPr>
          </a:p>
          <a:p>
            <a:pPr algn="l"/>
            <a:r>
              <a:rPr lang="en-US" sz="2000" b="0">
                <a:solidFill>
                  <a:srgbClr val="1F2329"/>
                </a:solidFill>
                <a:latin typeface="Calibri" panose="020F0502020204030204" charset="0"/>
              </a:rPr>
              <a:t>  </a:t>
            </a:r>
            <a:r>
              <a:rPr lang="zh-CN" sz="2000" b="1">
                <a:solidFill>
                  <a:srgbClr val="0045AA"/>
                </a:solidFill>
                <a:ea typeface="Calibri" panose="020F0502020204030204"/>
              </a:rPr>
              <a:t>平台独做内容很难，但是吸引普通用户，医生入驻一起做内容也许是个机会</a:t>
            </a:r>
            <a:endParaRPr lang="zh-CN" sz="2000" b="1">
              <a:solidFill>
                <a:srgbClr val="0045AA"/>
              </a:solidFill>
              <a:ea typeface="Calibri" panose="020F0502020204030204"/>
            </a:endParaRPr>
          </a:p>
          <a:p>
            <a:pPr algn="l"/>
            <a:r>
              <a:rPr lang="zh-CN" sz="2000" b="1">
                <a:solidFill>
                  <a:srgbClr val="0045AA"/>
                </a:solidFill>
                <a:ea typeface="Calibri" panose="020F0502020204030204"/>
              </a:rPr>
              <a:t>  专业内容是我们的优势，把不专业的转嫁给用户</a:t>
            </a:r>
            <a:endParaRPr lang="zh-CN" sz="2000" b="1">
              <a:solidFill>
                <a:srgbClr val="0045AA"/>
              </a:solidFill>
              <a:ea typeface="Calibri" panose="020F0502020204030204"/>
            </a:endParaRPr>
          </a:p>
          <a:p>
            <a:pPr algn="l"/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/>
        </p:nvSpPr>
        <p:spPr>
          <a:xfrm>
            <a:off x="589560" y="354765"/>
            <a:ext cx="10132279" cy="1056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6000" b="1">
                <a:sym typeface="+mn-ea"/>
              </a:rPr>
              <a:t>平台-做心脏健康领域的知乎</a:t>
            </a:r>
            <a:endParaRPr lang="zh-CN" altLang="en-US" sz="6000" b="1"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589589" y="1512239"/>
            <a:ext cx="10448038" cy="5009587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sz="2000" b="1">
                <a:solidFill>
                  <a:srgbClr val="1F2329"/>
                </a:solidFill>
                <a:ea typeface="宋体"/>
              </a:rPr>
              <a:t>一、一切围绕健康进行社交，产生内容，做健康领域的知乎，头条</a:t>
            </a:r>
            <a:endParaRPr lang="zh-CN" sz="2000" b="1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0">
                <a:solidFill>
                  <a:srgbClr val="1F2329"/>
                </a:solidFill>
                <a:ea typeface="宋体"/>
              </a:rPr>
              <a:t>用户健康，想用户的健康，占在用户角度想，为用户健康着急，一切围绕健康产生内容</a:t>
            </a:r>
            <a:endParaRPr lang="zh-CN" sz="2000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1">
                <a:solidFill>
                  <a:srgbClr val="1F2329"/>
                </a:solidFill>
                <a:ea typeface="宋体"/>
              </a:rPr>
              <a:t>二、运动健康，用药健康，健康曝光台，今日健康，健康排行榜</a:t>
            </a:r>
            <a:endParaRPr lang="zh-CN" sz="2000" b="1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0">
                <a:solidFill>
                  <a:srgbClr val="1F2329"/>
                </a:solidFill>
                <a:ea typeface="宋体"/>
              </a:rPr>
              <a:t>各种排行榜小心维护，管理好，半用户参与，半平台推荐</a:t>
            </a:r>
            <a:endParaRPr lang="zh-CN" sz="2000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0">
                <a:solidFill>
                  <a:srgbClr val="1F2329"/>
                </a:solidFill>
                <a:ea typeface="宋体"/>
              </a:rPr>
              <a:t>品牌广告</a:t>
            </a:r>
            <a:endParaRPr lang="zh-CN" sz="2000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0">
                <a:solidFill>
                  <a:srgbClr val="1F2329"/>
                </a:solidFill>
                <a:ea typeface="宋体"/>
              </a:rPr>
              <a:t>健康曝光台（这个更小心维护，权威性）</a:t>
            </a:r>
            <a:endParaRPr lang="zh-CN" sz="2000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0">
                <a:solidFill>
                  <a:srgbClr val="1F2329"/>
                </a:solidFill>
                <a:ea typeface="宋体"/>
              </a:rPr>
              <a:t>  排行榜：专业性，权威性</a:t>
            </a:r>
            <a:endParaRPr lang="zh-CN" sz="2000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1">
                <a:solidFill>
                  <a:srgbClr val="1F2329"/>
                </a:solidFill>
                <a:ea typeface="宋体"/>
              </a:rPr>
              <a:t>三、一切用户参与和传递的健康信息流</a:t>
            </a:r>
            <a:endParaRPr lang="zh-CN" sz="2000" b="1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0">
                <a:solidFill>
                  <a:srgbClr val="1F2329"/>
                </a:solidFill>
                <a:ea typeface="宋体"/>
              </a:rPr>
              <a:t>分享、排行、签到、打卡、测量、。。。。一切都是信息流，全部推送到feed流中</a:t>
            </a:r>
            <a:endParaRPr lang="zh-CN" sz="2000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1">
                <a:solidFill>
                  <a:srgbClr val="1F2329"/>
                </a:solidFill>
                <a:ea typeface="宋体"/>
              </a:rPr>
              <a:t>四、千人千面的资讯流，一人一面的推荐流</a:t>
            </a:r>
            <a:endParaRPr lang="zh-CN" sz="2000" b="1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sz="2000" b="0">
                <a:solidFill>
                  <a:srgbClr val="1F2329"/>
                </a:solidFill>
                <a:ea typeface="宋体"/>
              </a:rPr>
              <a:t>关注人信息流、关注领域（心电，慢病，窦性心律，。。。）信息流</a:t>
            </a:r>
            <a:endParaRPr lang="zh-CN" sz="2000" b="0">
              <a:solidFill>
                <a:srgbClr val="1F2329"/>
              </a:solidFill>
              <a:ea typeface="宋体"/>
            </a:endParaRPr>
          </a:p>
          <a:p>
            <a:pPr algn="l"/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/>
        </p:nvSpPr>
        <p:spPr>
          <a:xfrm>
            <a:off x="589560" y="354765"/>
            <a:ext cx="10132279" cy="1056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6000" b="1">
                <a:sym typeface="+mn-ea"/>
              </a:rPr>
              <a:t>平台-做心脏健康领域的知乎</a:t>
            </a:r>
            <a:endParaRPr lang="zh-CN" altLang="en-US" sz="6000" b="1"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589589" y="1512239"/>
            <a:ext cx="10012918" cy="5009587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b="1">
                <a:solidFill>
                  <a:srgbClr val="1F2329"/>
                </a:solidFill>
                <a:ea typeface="宋体"/>
              </a:rPr>
              <a:t>五、健康课程，</a:t>
            </a:r>
            <a:r>
              <a:rPr lang="zh-CN" b="1">
                <a:solidFill>
                  <a:srgbClr val="0000FF"/>
                </a:solidFill>
                <a:ea typeface="宋体"/>
              </a:rPr>
              <a:t>专业课程（需要硬件）</a:t>
            </a:r>
            <a:r>
              <a:rPr lang="zh-CN" b="1">
                <a:solidFill>
                  <a:srgbClr val="1F2329"/>
                </a:solidFill>
                <a:ea typeface="宋体"/>
              </a:rPr>
              <a:t>，全方位实时健康监控</a:t>
            </a:r>
            <a:endParaRPr lang="zh-CN" b="1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1">
                <a:solidFill>
                  <a:srgbClr val="FF4312"/>
                </a:solidFill>
                <a:ea typeface="宋体"/>
              </a:rPr>
              <a:t>权威性，品牌性</a:t>
            </a:r>
            <a:endParaRPr lang="zh-CN" b="1">
              <a:solidFill>
                <a:srgbClr val="FF4312"/>
              </a:solidFill>
              <a:ea typeface="宋体"/>
            </a:endParaRPr>
          </a:p>
          <a:p>
            <a:pPr algn="l"/>
            <a:r>
              <a:rPr lang="zh-CN" b="1">
                <a:solidFill>
                  <a:srgbClr val="1F2329"/>
                </a:solidFill>
                <a:ea typeface="宋体"/>
              </a:rPr>
              <a:t>六、健康专栏</a:t>
            </a:r>
            <a:endParaRPr lang="zh-CN" b="1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分享健康历程，创建个人健康专栏（免费专栏，收费专栏，转正，开通收益）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免费专栏-用户产生内容的主要来源，审核门槛设置高点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收费专栏-吸引用户开通免费专栏，不断产生内容，不断晒出收入（可以自营号，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或到头条开通官方专栏号，充分利用我们的专业知识普及，同时</a:t>
            </a:r>
            <a:r>
              <a:rPr lang="zh-CN" b="1">
                <a:solidFill>
                  <a:srgbClr val="FF0000"/>
                </a:solidFill>
                <a:ea typeface="宋体"/>
              </a:rPr>
              <a:t>获客、曝光心知了</a:t>
            </a:r>
            <a:r>
              <a:rPr lang="zh-CN" b="0">
                <a:solidFill>
                  <a:srgbClr val="1F2329"/>
                </a:solidFill>
                <a:ea typeface="宋体"/>
              </a:rPr>
              <a:t>）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转正-设置门槛高，一步一步转正，避免过早把门槛放出，吓走普通用户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开通收益（健康咨询服务-面向医生，知识广告收益</a:t>
            </a:r>
            <a:r>
              <a:rPr lang="en-US" b="0">
                <a:solidFill>
                  <a:srgbClr val="1F2329"/>
                </a:solidFill>
                <a:latin typeface="Calibri" panose="020F0502020204030204" charset="0"/>
              </a:rPr>
              <a:t>-</a:t>
            </a:r>
            <a:r>
              <a:rPr lang="zh-CN" b="0">
                <a:solidFill>
                  <a:srgbClr val="1F2329"/>
                </a:solidFill>
                <a:ea typeface="宋体"/>
              </a:rPr>
              <a:t>面向普通用户）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1">
                <a:solidFill>
                  <a:srgbClr val="1F2329"/>
                </a:solidFill>
                <a:ea typeface="宋体"/>
              </a:rPr>
              <a:t>七、健康问答</a:t>
            </a:r>
            <a:endParaRPr lang="zh-CN" b="1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精心做健康领域知识问答，做成精品，让用户推广自己，让品牌推广品牌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普通用户  - 知识达人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品牌-品牌达人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1">
                <a:solidFill>
                  <a:srgbClr val="FF0000"/>
                </a:solidFill>
                <a:ea typeface="宋体"/>
              </a:rPr>
              <a:t>八、平台终极目标</a:t>
            </a:r>
            <a:endParaRPr lang="zh-CN" b="1">
              <a:solidFill>
                <a:srgbClr val="FF0000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想尽一切办法导流到，专业课程，专业服务，图文咨询服务，心电报告。。。一切平台</a:t>
            </a:r>
            <a:r>
              <a:rPr lang="zh-CN" b="1">
                <a:solidFill>
                  <a:srgbClr val="FF4312"/>
                </a:solidFill>
                <a:ea typeface="宋体"/>
              </a:rPr>
              <a:t>自营的</a:t>
            </a:r>
            <a:r>
              <a:rPr lang="zh-CN" b="0">
                <a:solidFill>
                  <a:srgbClr val="1F2329"/>
                </a:solidFill>
                <a:ea typeface="宋体"/>
              </a:rPr>
              <a:t>服务</a:t>
            </a:r>
            <a:endParaRPr lang="zh-CN" b="0">
              <a:solidFill>
                <a:srgbClr val="1F2329"/>
              </a:solidFill>
              <a:ea typeface="宋体"/>
            </a:endParaRPr>
          </a:p>
          <a:p>
            <a:pPr algn="l"/>
            <a:r>
              <a:rPr lang="zh-CN" b="0">
                <a:solidFill>
                  <a:srgbClr val="1F2329"/>
                </a:solidFill>
                <a:ea typeface="宋体"/>
              </a:rPr>
              <a:t>上面的七条，全部为第八条进行导流，服务。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1811</Words>
  <Application>WPS Office WWO_feishu_20230531100529-62b4f7f279</Application>
  <PresentationFormat>宽屏</PresentationFormat>
  <Paragraphs>219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Calibri</vt:lpstr>
      <vt:lpstr>宋体</vt:lpstr>
      <vt:lpstr>汉仪书宋二KW</vt:lpstr>
      <vt:lpstr>等线 Light</vt:lpstr>
      <vt:lpstr>宋体</vt:lpstr>
      <vt:lpstr>Office 主题​​</vt:lpstr>
      <vt:lpstr>平台</vt:lpstr>
      <vt:lpstr>运营发力点</vt:lpstr>
      <vt:lpstr>运营发力点</vt:lpstr>
      <vt:lpstr>运营发力点</vt:lpstr>
      <vt:lpstr>运营发力点</vt:lpstr>
      <vt:lpstr>运营发力点</vt:lpstr>
      <vt:lpstr>2C发力点</vt:lpstr>
      <vt:lpstr>2C发力点</vt:lpstr>
      <vt:lpstr>2C发力点</vt:lpstr>
      <vt:lpstr>渠道发力点</vt:lpstr>
      <vt:lpstr>渠道发力点</vt:lpstr>
      <vt:lpstr>渠道发力点</vt:lpstr>
      <vt:lpstr>B端发力点</vt:lpstr>
      <vt:lpstr>B端发力点</vt:lpstr>
      <vt:lpstr>平台-多轮驱动</vt:lpstr>
      <vt:lpstr>平台-拓展点</vt:lpstr>
      <vt:lpstr>平台-品牌宣传</vt:lpstr>
      <vt:lpstr>平台-疲劳业务场景</vt:lpstr>
      <vt:lpstr>平台-知识付费业务场景</vt:lpstr>
      <vt:lpstr>PowerPoint 演示文稿</vt:lpstr>
      <vt:lpstr>医疗+ChatGPT 7大业务场景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平台</dc:title>
  <dc:creator>严峻</dc:creator>
  <cp:lastModifiedBy>严峻</cp:lastModifiedBy>
  <dcterms:created xsi:type="dcterms:W3CDTF">2023-11-24T09:53:04Z</dcterms:created>
  <dcterms:modified xsi:type="dcterms:W3CDTF">2023-11-24T09:53:04Z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