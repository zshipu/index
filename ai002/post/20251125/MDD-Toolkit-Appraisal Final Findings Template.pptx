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xlsx" ContentType="application/vnd.openxmlformats-officedocument.spreadsheetml.shee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
  </p:notesMasterIdLst>
  <p:handoutMasterIdLst>
    <p:handoutMasterId r:id="rId43"/>
  </p:handoutMasterIdLst>
  <p:sldIdLst>
    <p:sldId id="256" r:id="rId3"/>
    <p:sldId id="911" r:id="rId4"/>
    <p:sldId id="270" r:id="rId6"/>
    <p:sldId id="913" r:id="rId7"/>
    <p:sldId id="273" r:id="rId8"/>
    <p:sldId id="310" r:id="rId9"/>
    <p:sldId id="916" r:id="rId10"/>
    <p:sldId id="274" r:id="rId11"/>
    <p:sldId id="914" r:id="rId12"/>
    <p:sldId id="915" r:id="rId13"/>
    <p:sldId id="926" r:id="rId14"/>
    <p:sldId id="927" r:id="rId15"/>
    <p:sldId id="912" r:id="rId16"/>
    <p:sldId id="909" r:id="rId17"/>
    <p:sldId id="887" r:id="rId18"/>
    <p:sldId id="888" r:id="rId19"/>
    <p:sldId id="889" r:id="rId20"/>
    <p:sldId id="890" r:id="rId21"/>
    <p:sldId id="891" r:id="rId22"/>
    <p:sldId id="892" r:id="rId23"/>
    <p:sldId id="894" r:id="rId24"/>
    <p:sldId id="895" r:id="rId25"/>
    <p:sldId id="896" r:id="rId26"/>
    <p:sldId id="897" r:id="rId27"/>
    <p:sldId id="898" r:id="rId28"/>
    <p:sldId id="899" r:id="rId29"/>
    <p:sldId id="900" r:id="rId30"/>
    <p:sldId id="901" r:id="rId31"/>
    <p:sldId id="902" r:id="rId32"/>
    <p:sldId id="903" r:id="rId33"/>
    <p:sldId id="904" r:id="rId34"/>
    <p:sldId id="906" r:id="rId35"/>
    <p:sldId id="907" r:id="rId36"/>
    <p:sldId id="964" r:id="rId37"/>
    <p:sldId id="965" r:id="rId38"/>
    <p:sldId id="910" r:id="rId39"/>
    <p:sldId id="919" r:id="rId40"/>
    <p:sldId id="360" r:id="rId41"/>
    <p:sldId id="298"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ileen Harrison" initials="KH" lastIdx="5"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2C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88" autoAdjust="0"/>
    <p:restoredTop sz="76968" autoAdjust="0"/>
  </p:normalViewPr>
  <p:slideViewPr>
    <p:cSldViewPr snapToGrid="0">
      <p:cViewPr varScale="1">
        <p:scale>
          <a:sx n="88" d="100"/>
          <a:sy n="88" d="100"/>
        </p:scale>
        <p:origin x="1560" y="78"/>
      </p:cViewPr>
      <p:guideLst/>
    </p:cSldViewPr>
  </p:slideViewPr>
  <p:notesTextViewPr>
    <p:cViewPr>
      <p:scale>
        <a:sx n="1" d="1"/>
        <a:sy n="1" d="1"/>
      </p:scale>
      <p:origin x="0" y="0"/>
    </p:cViewPr>
  </p:notesTextViewPr>
  <p:sorterViewPr>
    <p:cViewPr varScale="1">
      <p:scale>
        <a:sx n="1" d="1"/>
        <a:sy n="1" d="1"/>
      </p:scale>
      <p:origin x="0" y="-699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7" Type="http://schemas.openxmlformats.org/officeDocument/2006/relationships/commentAuthors" Target="commentAuthors.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handoutMaster" Target="handoutMasters/handoutMaster1.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19E496-E8FF-4856-B08F-DBE14D18B236}" type="datetimeFigureOut">
              <a:rPr lang="en-US" smtClean="0"/>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1940B20-082D-4EEF-8BA5-D9F0CCFBDE79}" type="slidenum">
              <a:rPr lang="en-US" smtClean="0"/>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72F63B-EF0F-9942-98B2-F67CC88AF236}" type="datetimeFigureOut">
              <a:rPr lang="en-US" smtClean="0"/>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C13DA5-2DE0-6D49-B0F1-8E4B6A1CBA23}" type="slidenum">
              <a:rPr lang="en-US" smtClean="0"/>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Information in this section should come from the appraisal plan. The idea here is not to duplicate the contents of the plan, but to provide a summary for the Appraisal Sponsor, and the personnel from the OU who will see these findings.</a:t>
            </a:r>
            <a:endParaRPr lang="en-US" dirty="0"/>
          </a:p>
          <a:p>
            <a:endParaRPr lang="en-US" dirty="0"/>
          </a:p>
          <a:p>
            <a:r>
              <a:rPr lang="en-US" dirty="0"/>
              <a:t>The ATL may add additional information to the final findings presentation, but this minimum content as reflected within this template must be present.</a:t>
            </a:r>
            <a:endParaRPr lang="en-US" dirty="0"/>
          </a:p>
        </p:txBody>
      </p:sp>
      <p:sp>
        <p:nvSpPr>
          <p:cNvPr id="4" name="Slide Number Placeholder 3"/>
          <p:cNvSpPr>
            <a:spLocks noGrp="1"/>
          </p:cNvSpPr>
          <p:nvPr>
            <p:ph type="sldNum" sz="quarter" idx="10"/>
          </p:nvPr>
        </p:nvSpPr>
        <p:spPr/>
        <p:txBody>
          <a:bodyPr/>
          <a:lstStyle/>
          <a:p>
            <a:fld id="{3FC13DA5-2DE0-6D49-B0F1-8E4B6A1CBA23}" type="slidenum">
              <a:rPr lang="en-US" smtClean="0"/>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noTextEdit="1"/>
          </p:cNvSpPr>
          <p:nvPr>
            <p:ph type="sldImg"/>
          </p:nvPr>
        </p:nvSpPr>
        <p:spPr/>
      </p:sp>
      <p:sp>
        <p:nvSpPr>
          <p:cNvPr id="14338"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ea typeface="MS PGothic" panose="020B0600070205080204" charset="-128"/>
              </a:rPr>
              <a:t>This is information that must be recorded in the appraisal plan.</a:t>
            </a:r>
            <a:endParaRPr lang="en-US" altLang="en-US" dirty="0">
              <a:ea typeface="MS PGothic" panose="020B0600070205080204" charset="-128"/>
            </a:endParaRPr>
          </a:p>
        </p:txBody>
      </p:sp>
      <p:sp>
        <p:nvSpPr>
          <p:cNvPr id="14339"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180">
              <a:defRPr sz="1100" b="1">
                <a:solidFill>
                  <a:srgbClr val="000000"/>
                </a:solidFill>
                <a:latin typeface="Arial" panose="020B0604020202020204" pitchFamily="34" charset="0"/>
                <a:ea typeface="MS PGothic" panose="020B0600070205080204" charset="-128"/>
              </a:defRPr>
            </a:lvl1pPr>
            <a:lvl2pPr marL="742950" indent="-285750" defTabSz="932180">
              <a:defRPr sz="1100" b="1">
                <a:solidFill>
                  <a:srgbClr val="000000"/>
                </a:solidFill>
                <a:latin typeface="Arial" panose="020B0604020202020204" pitchFamily="34" charset="0"/>
                <a:ea typeface="MS PGothic" panose="020B0600070205080204" charset="-128"/>
              </a:defRPr>
            </a:lvl2pPr>
            <a:lvl3pPr marL="1143000" indent="-228600" defTabSz="932180">
              <a:defRPr sz="1100" b="1">
                <a:solidFill>
                  <a:srgbClr val="000000"/>
                </a:solidFill>
                <a:latin typeface="Arial" panose="020B0604020202020204" pitchFamily="34" charset="0"/>
                <a:ea typeface="MS PGothic" panose="020B0600070205080204" charset="-128"/>
              </a:defRPr>
            </a:lvl3pPr>
            <a:lvl4pPr marL="1600200" indent="-228600" defTabSz="932180">
              <a:defRPr sz="1100" b="1">
                <a:solidFill>
                  <a:srgbClr val="000000"/>
                </a:solidFill>
                <a:latin typeface="Arial" panose="020B0604020202020204" pitchFamily="34" charset="0"/>
                <a:ea typeface="MS PGothic" panose="020B0600070205080204" charset="-128"/>
              </a:defRPr>
            </a:lvl4pPr>
            <a:lvl5pPr marL="2057400" indent="-228600" defTabSz="932180">
              <a:defRPr sz="1100" b="1">
                <a:solidFill>
                  <a:srgbClr val="000000"/>
                </a:solidFill>
                <a:latin typeface="Arial" panose="020B0604020202020204" pitchFamily="34" charset="0"/>
                <a:ea typeface="MS PGothic" panose="020B0600070205080204" charset="-128"/>
              </a:defRPr>
            </a:lvl5pPr>
            <a:lvl6pPr marL="2514600" indent="-228600" algn="ctr" defTabSz="932180" eaLnBrk="0" fontAlgn="base" hangingPunct="0">
              <a:spcBef>
                <a:spcPct val="0"/>
              </a:spcBef>
              <a:spcAft>
                <a:spcPct val="0"/>
              </a:spcAft>
              <a:defRPr sz="1100" b="1">
                <a:solidFill>
                  <a:srgbClr val="000000"/>
                </a:solidFill>
                <a:latin typeface="Arial" panose="020B0604020202020204" pitchFamily="34" charset="0"/>
                <a:ea typeface="MS PGothic" panose="020B0600070205080204" charset="-128"/>
              </a:defRPr>
            </a:lvl6pPr>
            <a:lvl7pPr marL="2971800" indent="-228600" algn="ctr" defTabSz="932180" eaLnBrk="0" fontAlgn="base" hangingPunct="0">
              <a:spcBef>
                <a:spcPct val="0"/>
              </a:spcBef>
              <a:spcAft>
                <a:spcPct val="0"/>
              </a:spcAft>
              <a:defRPr sz="1100" b="1">
                <a:solidFill>
                  <a:srgbClr val="000000"/>
                </a:solidFill>
                <a:latin typeface="Arial" panose="020B0604020202020204" pitchFamily="34" charset="0"/>
                <a:ea typeface="MS PGothic" panose="020B0600070205080204" charset="-128"/>
              </a:defRPr>
            </a:lvl7pPr>
            <a:lvl8pPr marL="3429000" indent="-228600" algn="ctr" defTabSz="932180" eaLnBrk="0" fontAlgn="base" hangingPunct="0">
              <a:spcBef>
                <a:spcPct val="0"/>
              </a:spcBef>
              <a:spcAft>
                <a:spcPct val="0"/>
              </a:spcAft>
              <a:defRPr sz="1100" b="1">
                <a:solidFill>
                  <a:srgbClr val="000000"/>
                </a:solidFill>
                <a:latin typeface="Arial" panose="020B0604020202020204" pitchFamily="34" charset="0"/>
                <a:ea typeface="MS PGothic" panose="020B0600070205080204" charset="-128"/>
              </a:defRPr>
            </a:lvl8pPr>
            <a:lvl9pPr marL="3886200" indent="-228600" algn="ctr" defTabSz="932180" eaLnBrk="0" fontAlgn="base" hangingPunct="0">
              <a:spcBef>
                <a:spcPct val="0"/>
              </a:spcBef>
              <a:spcAft>
                <a:spcPct val="0"/>
              </a:spcAft>
              <a:defRPr sz="1100" b="1">
                <a:solidFill>
                  <a:srgbClr val="000000"/>
                </a:solidFill>
                <a:latin typeface="Arial" panose="020B0604020202020204" pitchFamily="34" charset="0"/>
                <a:ea typeface="MS PGothic" panose="020B0600070205080204" charset="-128"/>
              </a:defRPr>
            </a:lvl9pPr>
          </a:lstStyle>
          <a:p>
            <a:fld id="{190328F4-35F9-3242-B9C3-9FCDBB1E7F95}" type="slidenum">
              <a:rPr lang="en-US" altLang="en-US" sz="1200" b="0">
                <a:solidFill>
                  <a:schemeClr val="tx1"/>
                </a:solidFill>
              </a:rPr>
            </a:fld>
            <a:endParaRPr lang="en-US" altLang="en-US" sz="1200" b="0" dirty="0">
              <a:solidFill>
                <a:schemeClr val="tx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noTextEdit="1"/>
          </p:cNvSpPr>
          <p:nvPr>
            <p:ph type="sldImg"/>
          </p:nvPr>
        </p:nvSpPr>
        <p:spPr/>
      </p:sp>
      <p:sp>
        <p:nvSpPr>
          <p:cNvPr id="20482"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ea typeface="MS PGothic" panose="020B0600070205080204" charset="-128"/>
            </a:endParaRPr>
          </a:p>
        </p:txBody>
      </p:sp>
      <p:sp>
        <p:nvSpPr>
          <p:cNvPr id="20483"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180">
              <a:defRPr sz="1100" b="1">
                <a:solidFill>
                  <a:srgbClr val="000000"/>
                </a:solidFill>
                <a:latin typeface="Arial" panose="020B0604020202020204" pitchFamily="34" charset="0"/>
                <a:ea typeface="MS PGothic" panose="020B0600070205080204" charset="-128"/>
              </a:defRPr>
            </a:lvl1pPr>
            <a:lvl2pPr marL="742950" indent="-285750" defTabSz="932180">
              <a:defRPr sz="1100" b="1">
                <a:solidFill>
                  <a:srgbClr val="000000"/>
                </a:solidFill>
                <a:latin typeface="Arial" panose="020B0604020202020204" pitchFamily="34" charset="0"/>
                <a:ea typeface="MS PGothic" panose="020B0600070205080204" charset="-128"/>
              </a:defRPr>
            </a:lvl2pPr>
            <a:lvl3pPr marL="1143000" indent="-228600" defTabSz="932180">
              <a:defRPr sz="1100" b="1">
                <a:solidFill>
                  <a:srgbClr val="000000"/>
                </a:solidFill>
                <a:latin typeface="Arial" panose="020B0604020202020204" pitchFamily="34" charset="0"/>
                <a:ea typeface="MS PGothic" panose="020B0600070205080204" charset="-128"/>
              </a:defRPr>
            </a:lvl3pPr>
            <a:lvl4pPr marL="1600200" indent="-228600" defTabSz="932180">
              <a:defRPr sz="1100" b="1">
                <a:solidFill>
                  <a:srgbClr val="000000"/>
                </a:solidFill>
                <a:latin typeface="Arial" panose="020B0604020202020204" pitchFamily="34" charset="0"/>
                <a:ea typeface="MS PGothic" panose="020B0600070205080204" charset="-128"/>
              </a:defRPr>
            </a:lvl4pPr>
            <a:lvl5pPr marL="2057400" indent="-228600" defTabSz="932180">
              <a:defRPr sz="1100" b="1">
                <a:solidFill>
                  <a:srgbClr val="000000"/>
                </a:solidFill>
                <a:latin typeface="Arial" panose="020B0604020202020204" pitchFamily="34" charset="0"/>
                <a:ea typeface="MS PGothic" panose="020B0600070205080204" charset="-128"/>
              </a:defRPr>
            </a:lvl5pPr>
            <a:lvl6pPr marL="2514600" indent="-228600" algn="ctr" defTabSz="932180" eaLnBrk="0" fontAlgn="base" hangingPunct="0">
              <a:spcBef>
                <a:spcPct val="0"/>
              </a:spcBef>
              <a:spcAft>
                <a:spcPct val="0"/>
              </a:spcAft>
              <a:defRPr sz="1100" b="1">
                <a:solidFill>
                  <a:srgbClr val="000000"/>
                </a:solidFill>
                <a:latin typeface="Arial" panose="020B0604020202020204" pitchFamily="34" charset="0"/>
                <a:ea typeface="MS PGothic" panose="020B0600070205080204" charset="-128"/>
              </a:defRPr>
            </a:lvl6pPr>
            <a:lvl7pPr marL="2971800" indent="-228600" algn="ctr" defTabSz="932180" eaLnBrk="0" fontAlgn="base" hangingPunct="0">
              <a:spcBef>
                <a:spcPct val="0"/>
              </a:spcBef>
              <a:spcAft>
                <a:spcPct val="0"/>
              </a:spcAft>
              <a:defRPr sz="1100" b="1">
                <a:solidFill>
                  <a:srgbClr val="000000"/>
                </a:solidFill>
                <a:latin typeface="Arial" panose="020B0604020202020204" pitchFamily="34" charset="0"/>
                <a:ea typeface="MS PGothic" panose="020B0600070205080204" charset="-128"/>
              </a:defRPr>
            </a:lvl7pPr>
            <a:lvl8pPr marL="3429000" indent="-228600" algn="ctr" defTabSz="932180" eaLnBrk="0" fontAlgn="base" hangingPunct="0">
              <a:spcBef>
                <a:spcPct val="0"/>
              </a:spcBef>
              <a:spcAft>
                <a:spcPct val="0"/>
              </a:spcAft>
              <a:defRPr sz="1100" b="1">
                <a:solidFill>
                  <a:srgbClr val="000000"/>
                </a:solidFill>
                <a:latin typeface="Arial" panose="020B0604020202020204" pitchFamily="34" charset="0"/>
                <a:ea typeface="MS PGothic" panose="020B0600070205080204" charset="-128"/>
              </a:defRPr>
            </a:lvl8pPr>
            <a:lvl9pPr marL="3886200" indent="-228600" algn="ctr" defTabSz="932180" eaLnBrk="0" fontAlgn="base" hangingPunct="0">
              <a:spcBef>
                <a:spcPct val="0"/>
              </a:spcBef>
              <a:spcAft>
                <a:spcPct val="0"/>
              </a:spcAft>
              <a:defRPr sz="1100" b="1">
                <a:solidFill>
                  <a:srgbClr val="000000"/>
                </a:solidFill>
                <a:latin typeface="Arial" panose="020B0604020202020204" pitchFamily="34" charset="0"/>
                <a:ea typeface="MS PGothic" panose="020B0600070205080204" charset="-128"/>
              </a:defRPr>
            </a:lvl9pPr>
          </a:lstStyle>
          <a:p>
            <a:fld id="{4B35EA84-EF00-9842-8E6A-A2B5DD6BA8D8}" type="slidenum">
              <a:rPr lang="en-US" altLang="en-US" sz="1200" b="0">
                <a:solidFill>
                  <a:schemeClr val="tx1"/>
                </a:solidFill>
              </a:rPr>
            </a:fld>
            <a:endParaRPr lang="en-US" altLang="en-US" sz="1200" b="0" dirty="0">
              <a:solidFill>
                <a:schemeClr val="tx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noTextEdit="1"/>
          </p:cNvSpPr>
          <p:nvPr>
            <p:ph type="sldImg"/>
          </p:nvPr>
        </p:nvSpPr>
        <p:spPr/>
      </p:sp>
      <p:sp>
        <p:nvSpPr>
          <p:cNvPr id="20482"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ea typeface="MS PGothic" panose="020B0600070205080204" charset="-128"/>
            </a:endParaRPr>
          </a:p>
        </p:txBody>
      </p:sp>
      <p:sp>
        <p:nvSpPr>
          <p:cNvPr id="20483"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180">
              <a:defRPr sz="1100" b="1">
                <a:solidFill>
                  <a:srgbClr val="000000"/>
                </a:solidFill>
                <a:latin typeface="Arial" panose="020B0604020202020204" pitchFamily="34" charset="0"/>
                <a:ea typeface="MS PGothic" panose="020B0600070205080204" charset="-128"/>
              </a:defRPr>
            </a:lvl1pPr>
            <a:lvl2pPr marL="742950" indent="-285750" defTabSz="932180">
              <a:defRPr sz="1100" b="1">
                <a:solidFill>
                  <a:srgbClr val="000000"/>
                </a:solidFill>
                <a:latin typeface="Arial" panose="020B0604020202020204" pitchFamily="34" charset="0"/>
                <a:ea typeface="MS PGothic" panose="020B0600070205080204" charset="-128"/>
              </a:defRPr>
            </a:lvl2pPr>
            <a:lvl3pPr marL="1143000" indent="-228600" defTabSz="932180">
              <a:defRPr sz="1100" b="1">
                <a:solidFill>
                  <a:srgbClr val="000000"/>
                </a:solidFill>
                <a:latin typeface="Arial" panose="020B0604020202020204" pitchFamily="34" charset="0"/>
                <a:ea typeface="MS PGothic" panose="020B0600070205080204" charset="-128"/>
              </a:defRPr>
            </a:lvl3pPr>
            <a:lvl4pPr marL="1600200" indent="-228600" defTabSz="932180">
              <a:defRPr sz="1100" b="1">
                <a:solidFill>
                  <a:srgbClr val="000000"/>
                </a:solidFill>
                <a:latin typeface="Arial" panose="020B0604020202020204" pitchFamily="34" charset="0"/>
                <a:ea typeface="MS PGothic" panose="020B0600070205080204" charset="-128"/>
              </a:defRPr>
            </a:lvl4pPr>
            <a:lvl5pPr marL="2057400" indent="-228600" defTabSz="932180">
              <a:defRPr sz="1100" b="1">
                <a:solidFill>
                  <a:srgbClr val="000000"/>
                </a:solidFill>
                <a:latin typeface="Arial" panose="020B0604020202020204" pitchFamily="34" charset="0"/>
                <a:ea typeface="MS PGothic" panose="020B0600070205080204" charset="-128"/>
              </a:defRPr>
            </a:lvl5pPr>
            <a:lvl6pPr marL="2514600" indent="-228600" algn="ctr" defTabSz="932180" eaLnBrk="0" fontAlgn="base" hangingPunct="0">
              <a:spcBef>
                <a:spcPct val="0"/>
              </a:spcBef>
              <a:spcAft>
                <a:spcPct val="0"/>
              </a:spcAft>
              <a:defRPr sz="1100" b="1">
                <a:solidFill>
                  <a:srgbClr val="000000"/>
                </a:solidFill>
                <a:latin typeface="Arial" panose="020B0604020202020204" pitchFamily="34" charset="0"/>
                <a:ea typeface="MS PGothic" panose="020B0600070205080204" charset="-128"/>
              </a:defRPr>
            </a:lvl6pPr>
            <a:lvl7pPr marL="2971800" indent="-228600" algn="ctr" defTabSz="932180" eaLnBrk="0" fontAlgn="base" hangingPunct="0">
              <a:spcBef>
                <a:spcPct val="0"/>
              </a:spcBef>
              <a:spcAft>
                <a:spcPct val="0"/>
              </a:spcAft>
              <a:defRPr sz="1100" b="1">
                <a:solidFill>
                  <a:srgbClr val="000000"/>
                </a:solidFill>
                <a:latin typeface="Arial" panose="020B0604020202020204" pitchFamily="34" charset="0"/>
                <a:ea typeface="MS PGothic" panose="020B0600070205080204" charset="-128"/>
              </a:defRPr>
            </a:lvl7pPr>
            <a:lvl8pPr marL="3429000" indent="-228600" algn="ctr" defTabSz="932180" eaLnBrk="0" fontAlgn="base" hangingPunct="0">
              <a:spcBef>
                <a:spcPct val="0"/>
              </a:spcBef>
              <a:spcAft>
                <a:spcPct val="0"/>
              </a:spcAft>
              <a:defRPr sz="1100" b="1">
                <a:solidFill>
                  <a:srgbClr val="000000"/>
                </a:solidFill>
                <a:latin typeface="Arial" panose="020B0604020202020204" pitchFamily="34" charset="0"/>
                <a:ea typeface="MS PGothic" panose="020B0600070205080204" charset="-128"/>
              </a:defRPr>
            </a:lvl8pPr>
            <a:lvl9pPr marL="3886200" indent="-228600" algn="ctr" defTabSz="932180" eaLnBrk="0" fontAlgn="base" hangingPunct="0">
              <a:spcBef>
                <a:spcPct val="0"/>
              </a:spcBef>
              <a:spcAft>
                <a:spcPct val="0"/>
              </a:spcAft>
              <a:defRPr sz="1100" b="1">
                <a:solidFill>
                  <a:srgbClr val="000000"/>
                </a:solidFill>
                <a:latin typeface="Arial" panose="020B0604020202020204" pitchFamily="34" charset="0"/>
                <a:ea typeface="MS PGothic" panose="020B0600070205080204" charset="-128"/>
              </a:defRPr>
            </a:lvl9pPr>
          </a:lstStyle>
          <a:p>
            <a:fld id="{4B35EA84-EF00-9842-8E6A-A2B5DD6BA8D8}" type="slidenum">
              <a:rPr lang="en-US" altLang="en-US" sz="1200" b="0">
                <a:solidFill>
                  <a:schemeClr val="tx1"/>
                </a:solidFill>
              </a:rPr>
            </a:fld>
            <a:endParaRPr lang="en-US" altLang="en-US" sz="1200" b="0" dirty="0">
              <a:solidFill>
                <a:schemeClr val="tx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100" b="1">
                <a:solidFill>
                  <a:srgbClr val="000000"/>
                </a:solidFill>
                <a:latin typeface="Arial" panose="020B0604020202020204" pitchFamily="34" charset="0"/>
                <a:ea typeface="MS PGothic" panose="020B0600070205080204" charset="-128"/>
              </a:defRPr>
            </a:lvl1pPr>
            <a:lvl2pPr marL="742950" indent="-285750" defTabSz="930275">
              <a:defRPr sz="1100" b="1">
                <a:solidFill>
                  <a:srgbClr val="000000"/>
                </a:solidFill>
                <a:latin typeface="Arial" panose="020B0604020202020204" pitchFamily="34" charset="0"/>
                <a:ea typeface="MS PGothic" panose="020B0600070205080204" charset="-128"/>
              </a:defRPr>
            </a:lvl2pPr>
            <a:lvl3pPr marL="1143000" indent="-228600" defTabSz="930275">
              <a:defRPr sz="1100" b="1">
                <a:solidFill>
                  <a:srgbClr val="000000"/>
                </a:solidFill>
                <a:latin typeface="Arial" panose="020B0604020202020204" pitchFamily="34" charset="0"/>
                <a:ea typeface="MS PGothic" panose="020B0600070205080204" charset="-128"/>
              </a:defRPr>
            </a:lvl3pPr>
            <a:lvl4pPr marL="1600200" indent="-228600" defTabSz="930275">
              <a:defRPr sz="1100" b="1">
                <a:solidFill>
                  <a:srgbClr val="000000"/>
                </a:solidFill>
                <a:latin typeface="Arial" panose="020B0604020202020204" pitchFamily="34" charset="0"/>
                <a:ea typeface="MS PGothic" panose="020B0600070205080204" charset="-128"/>
              </a:defRPr>
            </a:lvl4pPr>
            <a:lvl5pPr marL="2057400" indent="-228600" defTabSz="930275">
              <a:defRPr sz="1100" b="1">
                <a:solidFill>
                  <a:srgbClr val="000000"/>
                </a:solidFill>
                <a:latin typeface="Arial" panose="020B0604020202020204" pitchFamily="34" charset="0"/>
                <a:ea typeface="MS PGothic" panose="020B0600070205080204" charset="-128"/>
              </a:defRPr>
            </a:lvl5pPr>
            <a:lvl6pPr marL="2514600" indent="-228600" algn="ctr" defTabSz="930275" eaLnBrk="0" fontAlgn="base" hangingPunct="0">
              <a:spcBef>
                <a:spcPct val="0"/>
              </a:spcBef>
              <a:spcAft>
                <a:spcPct val="0"/>
              </a:spcAft>
              <a:defRPr sz="1100" b="1">
                <a:solidFill>
                  <a:srgbClr val="000000"/>
                </a:solidFill>
                <a:latin typeface="Arial" panose="020B0604020202020204" pitchFamily="34" charset="0"/>
                <a:ea typeface="MS PGothic" panose="020B0600070205080204" charset="-128"/>
              </a:defRPr>
            </a:lvl6pPr>
            <a:lvl7pPr marL="2971800" indent="-228600" algn="ctr" defTabSz="930275" eaLnBrk="0" fontAlgn="base" hangingPunct="0">
              <a:spcBef>
                <a:spcPct val="0"/>
              </a:spcBef>
              <a:spcAft>
                <a:spcPct val="0"/>
              </a:spcAft>
              <a:defRPr sz="1100" b="1">
                <a:solidFill>
                  <a:srgbClr val="000000"/>
                </a:solidFill>
                <a:latin typeface="Arial" panose="020B0604020202020204" pitchFamily="34" charset="0"/>
                <a:ea typeface="MS PGothic" panose="020B0600070205080204" charset="-128"/>
              </a:defRPr>
            </a:lvl7pPr>
            <a:lvl8pPr marL="3429000" indent="-228600" algn="ctr" defTabSz="930275" eaLnBrk="0" fontAlgn="base" hangingPunct="0">
              <a:spcBef>
                <a:spcPct val="0"/>
              </a:spcBef>
              <a:spcAft>
                <a:spcPct val="0"/>
              </a:spcAft>
              <a:defRPr sz="1100" b="1">
                <a:solidFill>
                  <a:srgbClr val="000000"/>
                </a:solidFill>
                <a:latin typeface="Arial" panose="020B0604020202020204" pitchFamily="34" charset="0"/>
                <a:ea typeface="MS PGothic" panose="020B0600070205080204" charset="-128"/>
              </a:defRPr>
            </a:lvl8pPr>
            <a:lvl9pPr marL="3886200" indent="-228600" algn="ctr" defTabSz="930275" eaLnBrk="0" fontAlgn="base" hangingPunct="0">
              <a:spcBef>
                <a:spcPct val="0"/>
              </a:spcBef>
              <a:spcAft>
                <a:spcPct val="0"/>
              </a:spcAft>
              <a:defRPr sz="1100" b="1">
                <a:solidFill>
                  <a:srgbClr val="000000"/>
                </a:solidFill>
                <a:latin typeface="Arial" panose="020B0604020202020204" pitchFamily="34" charset="0"/>
                <a:ea typeface="MS PGothic" panose="020B0600070205080204" charset="-128"/>
              </a:defRPr>
            </a:lvl9pPr>
          </a:lstStyle>
          <a:p>
            <a:fld id="{8BEF3818-E2D8-F947-8FE2-5E7634526F96}" type="slidenum">
              <a:rPr lang="en-US" altLang="en-US" sz="1200" b="0">
                <a:solidFill>
                  <a:schemeClr val="tx1"/>
                </a:solidFill>
              </a:rPr>
            </a:fld>
            <a:endParaRPr lang="en-US" altLang="en-US" sz="1200" b="0" dirty="0">
              <a:solidFill>
                <a:schemeClr val="tx1"/>
              </a:solidFill>
            </a:endParaRPr>
          </a:p>
        </p:txBody>
      </p:sp>
      <p:sp>
        <p:nvSpPr>
          <p:cNvPr id="36866" name="Rectangle 2"/>
          <p:cNvSpPr>
            <a:spLocks noGrp="1" noRot="1" noChangeAspect="1" noChangeArrowheads="1" noTextEdit="1"/>
          </p:cNvSpPr>
          <p:nvPr>
            <p:ph type="sldImg"/>
          </p:nvPr>
        </p:nvSpPr>
        <p:spPr>
          <a:xfrm>
            <a:off x="236538" y="614363"/>
            <a:ext cx="6534150" cy="3676650"/>
          </a:xfrm>
        </p:spPr>
      </p:sp>
      <p:sp>
        <p:nvSpPr>
          <p:cNvPr id="36867" name="Rectangle 3"/>
          <p:cNvSpPr>
            <a:spLocks noGrp="1" noChangeArrowheads="1"/>
          </p:cNvSpPr>
          <p:nvPr>
            <p:ph type="body" idx="1"/>
          </p:nvPr>
        </p:nvSpPr>
        <p:spPr>
          <a:xfrm>
            <a:off x="933450" y="4416425"/>
            <a:ext cx="5141913" cy="4181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ea typeface="MS PGothic" panose="020B0600070205080204" charset="-128"/>
              </a:rPr>
              <a:t>Take basic information from the appraisal plan.</a:t>
            </a:r>
            <a:endParaRPr lang="en-US" altLang="en-US" dirty="0">
              <a:ea typeface="MS PGothic" panose="020B060007020508020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100" b="1">
                <a:solidFill>
                  <a:srgbClr val="000000"/>
                </a:solidFill>
                <a:latin typeface="Arial" panose="020B0604020202020204" pitchFamily="34" charset="0"/>
                <a:ea typeface="MS PGothic" panose="020B0600070205080204" charset="-128"/>
              </a:defRPr>
            </a:lvl1pPr>
            <a:lvl2pPr marL="742950" indent="-285750" defTabSz="930275">
              <a:defRPr sz="1100" b="1">
                <a:solidFill>
                  <a:srgbClr val="000000"/>
                </a:solidFill>
                <a:latin typeface="Arial" panose="020B0604020202020204" pitchFamily="34" charset="0"/>
                <a:ea typeface="MS PGothic" panose="020B0600070205080204" charset="-128"/>
              </a:defRPr>
            </a:lvl2pPr>
            <a:lvl3pPr marL="1143000" indent="-228600" defTabSz="930275">
              <a:defRPr sz="1100" b="1">
                <a:solidFill>
                  <a:srgbClr val="000000"/>
                </a:solidFill>
                <a:latin typeface="Arial" panose="020B0604020202020204" pitchFamily="34" charset="0"/>
                <a:ea typeface="MS PGothic" panose="020B0600070205080204" charset="-128"/>
              </a:defRPr>
            </a:lvl3pPr>
            <a:lvl4pPr marL="1600200" indent="-228600" defTabSz="930275">
              <a:defRPr sz="1100" b="1">
                <a:solidFill>
                  <a:srgbClr val="000000"/>
                </a:solidFill>
                <a:latin typeface="Arial" panose="020B0604020202020204" pitchFamily="34" charset="0"/>
                <a:ea typeface="MS PGothic" panose="020B0600070205080204" charset="-128"/>
              </a:defRPr>
            </a:lvl4pPr>
            <a:lvl5pPr marL="2057400" indent="-228600" defTabSz="930275">
              <a:defRPr sz="1100" b="1">
                <a:solidFill>
                  <a:srgbClr val="000000"/>
                </a:solidFill>
                <a:latin typeface="Arial" panose="020B0604020202020204" pitchFamily="34" charset="0"/>
                <a:ea typeface="MS PGothic" panose="020B0600070205080204" charset="-128"/>
              </a:defRPr>
            </a:lvl5pPr>
            <a:lvl6pPr marL="2514600" indent="-228600" algn="ctr" defTabSz="930275" eaLnBrk="0" fontAlgn="base" hangingPunct="0">
              <a:spcBef>
                <a:spcPct val="0"/>
              </a:spcBef>
              <a:spcAft>
                <a:spcPct val="0"/>
              </a:spcAft>
              <a:defRPr sz="1100" b="1">
                <a:solidFill>
                  <a:srgbClr val="000000"/>
                </a:solidFill>
                <a:latin typeface="Arial" panose="020B0604020202020204" pitchFamily="34" charset="0"/>
                <a:ea typeface="MS PGothic" panose="020B0600070205080204" charset="-128"/>
              </a:defRPr>
            </a:lvl6pPr>
            <a:lvl7pPr marL="2971800" indent="-228600" algn="ctr" defTabSz="930275" eaLnBrk="0" fontAlgn="base" hangingPunct="0">
              <a:spcBef>
                <a:spcPct val="0"/>
              </a:spcBef>
              <a:spcAft>
                <a:spcPct val="0"/>
              </a:spcAft>
              <a:defRPr sz="1100" b="1">
                <a:solidFill>
                  <a:srgbClr val="000000"/>
                </a:solidFill>
                <a:latin typeface="Arial" panose="020B0604020202020204" pitchFamily="34" charset="0"/>
                <a:ea typeface="MS PGothic" panose="020B0600070205080204" charset="-128"/>
              </a:defRPr>
            </a:lvl7pPr>
            <a:lvl8pPr marL="3429000" indent="-228600" algn="ctr" defTabSz="930275" eaLnBrk="0" fontAlgn="base" hangingPunct="0">
              <a:spcBef>
                <a:spcPct val="0"/>
              </a:spcBef>
              <a:spcAft>
                <a:spcPct val="0"/>
              </a:spcAft>
              <a:defRPr sz="1100" b="1">
                <a:solidFill>
                  <a:srgbClr val="000000"/>
                </a:solidFill>
                <a:latin typeface="Arial" panose="020B0604020202020204" pitchFamily="34" charset="0"/>
                <a:ea typeface="MS PGothic" panose="020B0600070205080204" charset="-128"/>
              </a:defRPr>
            </a:lvl8pPr>
            <a:lvl9pPr marL="3886200" indent="-228600" algn="ctr" defTabSz="930275" eaLnBrk="0" fontAlgn="base" hangingPunct="0">
              <a:spcBef>
                <a:spcPct val="0"/>
              </a:spcBef>
              <a:spcAft>
                <a:spcPct val="0"/>
              </a:spcAft>
              <a:defRPr sz="1100" b="1">
                <a:solidFill>
                  <a:srgbClr val="000000"/>
                </a:solidFill>
                <a:latin typeface="Arial" panose="020B0604020202020204" pitchFamily="34" charset="0"/>
                <a:ea typeface="MS PGothic" panose="020B0600070205080204" charset="-128"/>
              </a:defRPr>
            </a:lvl9pPr>
          </a:lstStyle>
          <a:p>
            <a:fld id="{8BEF3818-E2D8-F947-8FE2-5E7634526F96}" type="slidenum">
              <a:rPr lang="en-US" altLang="en-US" sz="1200" b="0">
                <a:solidFill>
                  <a:schemeClr val="tx1"/>
                </a:solidFill>
              </a:rPr>
            </a:fld>
            <a:endParaRPr lang="en-US" altLang="en-US" sz="1200" b="0" dirty="0">
              <a:solidFill>
                <a:schemeClr val="tx1"/>
              </a:solidFill>
            </a:endParaRPr>
          </a:p>
        </p:txBody>
      </p:sp>
      <p:sp>
        <p:nvSpPr>
          <p:cNvPr id="36866" name="Rectangle 2"/>
          <p:cNvSpPr>
            <a:spLocks noGrp="1" noRot="1" noChangeAspect="1" noChangeArrowheads="1" noTextEdit="1"/>
          </p:cNvSpPr>
          <p:nvPr>
            <p:ph type="sldImg"/>
          </p:nvPr>
        </p:nvSpPr>
        <p:spPr>
          <a:xfrm>
            <a:off x="236538" y="614363"/>
            <a:ext cx="6534150" cy="3676650"/>
          </a:xfrm>
        </p:spPr>
      </p:sp>
      <p:sp>
        <p:nvSpPr>
          <p:cNvPr id="36867" name="Rectangle 3"/>
          <p:cNvSpPr>
            <a:spLocks noGrp="1" noChangeArrowheads="1"/>
          </p:cNvSpPr>
          <p:nvPr>
            <p:ph type="body" idx="1"/>
          </p:nvPr>
        </p:nvSpPr>
        <p:spPr>
          <a:xfrm>
            <a:off x="933450" y="4416425"/>
            <a:ext cx="5141913" cy="4181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ea typeface="MS PGothic" panose="020B060007020508020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dirty="0"/>
              <a:t>Make sure the version of the model is correct when this slide is built. Replace the bold, italicized </a:t>
            </a:r>
            <a:r>
              <a:rPr lang="en-US" b="1" i="1" dirty="0"/>
              <a:t>x</a:t>
            </a:r>
            <a:r>
              <a:rPr lang="en-US" b="0" i="0" dirty="0"/>
              <a:t> with the correct version number.</a:t>
            </a:r>
            <a:endParaRPr lang="en-US" dirty="0"/>
          </a:p>
          <a:p>
            <a:endParaRPr lang="en-US" dirty="0"/>
          </a:p>
        </p:txBody>
      </p:sp>
      <p:sp>
        <p:nvSpPr>
          <p:cNvPr id="4" name="Slide Number Placeholder 3"/>
          <p:cNvSpPr>
            <a:spLocks noGrp="1"/>
          </p:cNvSpPr>
          <p:nvPr>
            <p:ph type="sldNum" sz="quarter" idx="5"/>
          </p:nvPr>
        </p:nvSpPr>
        <p:spPr/>
        <p:txBody>
          <a:bodyPr/>
          <a:lstStyle/>
          <a:p>
            <a:fld id="{3FC13DA5-2DE0-6D49-B0F1-8E4B6A1CBA23}" type="slidenum">
              <a:rPr lang="en-US" smtClean="0"/>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C13DA5-2DE0-6D49-B0F1-8E4B6A1CBA23}" type="slidenum">
              <a:rPr lang="en-US" smtClean="0"/>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ATL can show the chart from the generated random sample, but there must be a description of the sampled projects and their selected CA/PA grouping.</a:t>
            </a:r>
            <a:endParaRPr lang="en-US" dirty="0"/>
          </a:p>
        </p:txBody>
      </p:sp>
      <p:sp>
        <p:nvSpPr>
          <p:cNvPr id="4" name="Slide Number Placeholder 3"/>
          <p:cNvSpPr>
            <a:spLocks noGrp="1"/>
          </p:cNvSpPr>
          <p:nvPr>
            <p:ph type="sldNum" sz="quarter" idx="10"/>
          </p:nvPr>
        </p:nvSpPr>
        <p:spPr/>
        <p:txBody>
          <a:bodyPr/>
          <a:lstStyle/>
          <a:p>
            <a:fld id="{3FC13DA5-2DE0-6D49-B0F1-8E4B6A1CBA23}" type="slidenum">
              <a:rPr lang="en-US" smtClean="0"/>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C13DA5-2DE0-6D49-B0F1-8E4B6A1CBA23}" type="slidenum">
              <a:rPr lang="en-US" smtClean="0"/>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practice, enter the OU-Level characterization (FM, LM, PM, DM, NY). The chart will set a color.</a:t>
            </a:r>
            <a:endParaRPr lang="en-US" dirty="0"/>
          </a:p>
          <a:p>
            <a:endParaRPr lang="en-US" dirty="0"/>
          </a:p>
          <a:p>
            <a:r>
              <a:rPr lang="en-US" dirty="0"/>
              <a:t>Based on the characterizations of all practices in each practice level, set the Practice Level rating to “S” (Satisfied) or “U” (Unsatisfied).</a:t>
            </a:r>
            <a:endParaRPr lang="en-US" dirty="0"/>
          </a:p>
          <a:p>
            <a:endParaRPr lang="en-US" dirty="0"/>
          </a:p>
          <a:p>
            <a:r>
              <a:rPr lang="en-US" dirty="0"/>
              <a:t>The PA Rating is the Highest Practice Level at which all practices for it, and all lower Practice Levels, are Satisfied.</a:t>
            </a:r>
            <a:endParaRPr lang="en-US" dirty="0"/>
          </a:p>
          <a:p>
            <a:endParaRPr lang="en-US" dirty="0"/>
          </a:p>
          <a:p>
            <a:pPr marL="0" marR="0" indent="0" algn="l" defTabSz="914400" rtl="0" eaLnBrk="1" fontAlgn="auto" latinLnBrk="0" hangingPunct="1">
              <a:lnSpc>
                <a:spcPct val="100000"/>
              </a:lnSpc>
              <a:spcBef>
                <a:spcPts val="0"/>
              </a:spcBef>
              <a:spcAft>
                <a:spcPts val="0"/>
              </a:spcAft>
              <a:buClrTx/>
              <a:buSzTx/>
              <a:buFontTx/>
              <a:buNone/>
              <a:defRPr/>
            </a:pPr>
            <a:r>
              <a:rPr lang="en-US" dirty="0"/>
              <a:t>For details, see the MDD, Activity 2.3.2 Determine Practice Group Ratings, and Activity </a:t>
            </a:r>
            <a:r>
              <a:rPr lang="en-US" b="0" dirty="0"/>
              <a:t>2.3.3 </a:t>
            </a:r>
            <a:r>
              <a:rPr lang="en-US" sz="1200" b="0" kern="1200" dirty="0">
                <a:solidFill>
                  <a:schemeClr val="tx1"/>
                </a:solidFill>
                <a:effectLst/>
                <a:latin typeface="+mn-lt"/>
                <a:ea typeface="+mn-ea"/>
                <a:cs typeface="+mn-cs"/>
              </a:rPr>
              <a:t>Determine Practice Area and Maturity Level or Capability Level Profile Rating.</a:t>
            </a:r>
            <a:endParaRPr lang="en-US" b="0" dirty="0"/>
          </a:p>
        </p:txBody>
      </p:sp>
      <p:sp>
        <p:nvSpPr>
          <p:cNvPr id="4" name="Slide Number Placeholder 3"/>
          <p:cNvSpPr>
            <a:spLocks noGrp="1"/>
          </p:cNvSpPr>
          <p:nvPr>
            <p:ph type="sldNum" sz="quarter" idx="10"/>
          </p:nvPr>
        </p:nvSpPr>
        <p:spPr/>
        <p:txBody>
          <a:bodyPr/>
          <a:lstStyle/>
          <a:p>
            <a:fld id="{3FC13DA5-2DE0-6D49-B0F1-8E4B6A1CBA23}" type="slidenum">
              <a:rPr lang="en-US" smtClean="0"/>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noTextEdit="1"/>
          </p:cNvSpPr>
          <p:nvPr>
            <p:ph type="sldImg"/>
          </p:nvPr>
        </p:nvSpPr>
        <p:spPr>
          <a:xfrm>
            <a:off x="398463" y="695325"/>
            <a:ext cx="6061075" cy="3409950"/>
          </a:xfrm>
        </p:spPr>
      </p:sp>
      <p:sp>
        <p:nvSpPr>
          <p:cNvPr id="93187" name="Notes Placeholder 2"/>
          <p:cNvSpPr>
            <a:spLocks noGrp="1"/>
          </p:cNvSpPr>
          <p:nvPr>
            <p:ph type="body" idx="1"/>
          </p:nvPr>
        </p:nvSpPr>
        <p:spPr bwMode="auto">
          <a:xfrm>
            <a:off x="685800" y="4343400"/>
            <a:ext cx="54864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180">
              <a:defRPr sz="1100" b="1">
                <a:solidFill>
                  <a:srgbClr val="000000"/>
                </a:solidFill>
                <a:latin typeface="Arial" panose="020B0604020202020204" pitchFamily="34" charset="0"/>
                <a:ea typeface="MS PGothic" panose="020B0600070205080204" charset="-128"/>
              </a:defRPr>
            </a:lvl1pPr>
            <a:lvl2pPr marL="742950" indent="-285750" defTabSz="932180">
              <a:defRPr sz="1100" b="1">
                <a:solidFill>
                  <a:srgbClr val="000000"/>
                </a:solidFill>
                <a:latin typeface="Arial" panose="020B0604020202020204" pitchFamily="34" charset="0"/>
                <a:ea typeface="MS PGothic" panose="020B0600070205080204" charset="-128"/>
              </a:defRPr>
            </a:lvl2pPr>
            <a:lvl3pPr marL="1143000" indent="-228600" defTabSz="932180">
              <a:defRPr sz="1100" b="1">
                <a:solidFill>
                  <a:srgbClr val="000000"/>
                </a:solidFill>
                <a:latin typeface="Arial" panose="020B0604020202020204" pitchFamily="34" charset="0"/>
                <a:ea typeface="MS PGothic" panose="020B0600070205080204" charset="-128"/>
              </a:defRPr>
            </a:lvl3pPr>
            <a:lvl4pPr marL="1600200" indent="-228600" defTabSz="932180">
              <a:defRPr sz="1100" b="1">
                <a:solidFill>
                  <a:srgbClr val="000000"/>
                </a:solidFill>
                <a:latin typeface="Arial" panose="020B0604020202020204" pitchFamily="34" charset="0"/>
                <a:ea typeface="MS PGothic" panose="020B0600070205080204" charset="-128"/>
              </a:defRPr>
            </a:lvl4pPr>
            <a:lvl5pPr marL="2057400" indent="-228600" defTabSz="932180">
              <a:defRPr sz="1100" b="1">
                <a:solidFill>
                  <a:srgbClr val="000000"/>
                </a:solidFill>
                <a:latin typeface="Arial" panose="020B0604020202020204" pitchFamily="34" charset="0"/>
                <a:ea typeface="MS PGothic" panose="020B0600070205080204" charset="-128"/>
              </a:defRPr>
            </a:lvl5pPr>
            <a:lvl6pPr marL="2514600" indent="-228600" algn="ctr" defTabSz="932180" eaLnBrk="0" fontAlgn="base" hangingPunct="0">
              <a:spcBef>
                <a:spcPct val="0"/>
              </a:spcBef>
              <a:spcAft>
                <a:spcPct val="0"/>
              </a:spcAft>
              <a:defRPr sz="1100" b="1">
                <a:solidFill>
                  <a:srgbClr val="000000"/>
                </a:solidFill>
                <a:latin typeface="Arial" panose="020B0604020202020204" pitchFamily="34" charset="0"/>
                <a:ea typeface="MS PGothic" panose="020B0600070205080204" charset="-128"/>
              </a:defRPr>
            </a:lvl6pPr>
            <a:lvl7pPr marL="2971800" indent="-228600" algn="ctr" defTabSz="932180" eaLnBrk="0" fontAlgn="base" hangingPunct="0">
              <a:spcBef>
                <a:spcPct val="0"/>
              </a:spcBef>
              <a:spcAft>
                <a:spcPct val="0"/>
              </a:spcAft>
              <a:defRPr sz="1100" b="1">
                <a:solidFill>
                  <a:srgbClr val="000000"/>
                </a:solidFill>
                <a:latin typeface="Arial" panose="020B0604020202020204" pitchFamily="34" charset="0"/>
                <a:ea typeface="MS PGothic" panose="020B0600070205080204" charset="-128"/>
              </a:defRPr>
            </a:lvl7pPr>
            <a:lvl8pPr marL="3429000" indent="-228600" algn="ctr" defTabSz="932180" eaLnBrk="0" fontAlgn="base" hangingPunct="0">
              <a:spcBef>
                <a:spcPct val="0"/>
              </a:spcBef>
              <a:spcAft>
                <a:spcPct val="0"/>
              </a:spcAft>
              <a:defRPr sz="1100" b="1">
                <a:solidFill>
                  <a:srgbClr val="000000"/>
                </a:solidFill>
                <a:latin typeface="Arial" panose="020B0604020202020204" pitchFamily="34" charset="0"/>
                <a:ea typeface="MS PGothic" panose="020B0600070205080204" charset="-128"/>
              </a:defRPr>
            </a:lvl8pPr>
            <a:lvl9pPr marL="3886200" indent="-228600" algn="ctr" defTabSz="932180" eaLnBrk="0" fontAlgn="base" hangingPunct="0">
              <a:spcBef>
                <a:spcPct val="0"/>
              </a:spcBef>
              <a:spcAft>
                <a:spcPct val="0"/>
              </a:spcAft>
              <a:defRPr sz="1100" b="1">
                <a:solidFill>
                  <a:srgbClr val="000000"/>
                </a:solidFill>
                <a:latin typeface="Arial" panose="020B0604020202020204" pitchFamily="34" charset="0"/>
                <a:ea typeface="MS PGothic" panose="020B0600070205080204" charset="-128"/>
              </a:defRPr>
            </a:lvl9pPr>
          </a:lstStyle>
          <a:p>
            <a:fld id="{CE611DA0-981B-B047-981C-E490A72360DD}" type="slidenum">
              <a:rPr lang="en-US" altLang="en-US" sz="1200" b="0">
                <a:solidFill>
                  <a:schemeClr val="tx1"/>
                </a:solidFill>
              </a:rPr>
            </a:fld>
            <a:endParaRPr lang="en-US" altLang="en-US" sz="1200" b="0" dirty="0">
              <a:solidFill>
                <a:schemeClr val="tx1"/>
              </a:solidFill>
            </a:endParaRPr>
          </a:p>
        </p:txBody>
      </p:sp>
      <p:sp>
        <p:nvSpPr>
          <p:cNvPr id="66562" name="Rectangle 2"/>
          <p:cNvSpPr>
            <a:spLocks noGrp="1" noRot="1" noChangeAspect="1" noChangeArrowheads="1" noTextEdit="1"/>
          </p:cNvSpPr>
          <p:nvPr>
            <p:ph type="sldImg"/>
          </p:nvPr>
        </p:nvSpPr>
        <p:spPr>
          <a:xfrm>
            <a:off x="1025525" y="231775"/>
            <a:ext cx="4959350" cy="2790825"/>
          </a:xfrm>
        </p:spPr>
      </p:sp>
      <p:sp>
        <p:nvSpPr>
          <p:cNvPr id="66563" name="Rectangle 3"/>
          <p:cNvSpPr>
            <a:spLocks noGrp="1" noChangeArrowheads="1"/>
          </p:cNvSpPr>
          <p:nvPr>
            <p:ph type="body" idx="1"/>
          </p:nvPr>
        </p:nvSpPr>
        <p:spPr>
          <a:xfrm>
            <a:off x="546100" y="3098800"/>
            <a:ext cx="6075363" cy="5576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ea typeface="MS PGothic" panose="020B060007020508020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b="1">
                <a:latin typeface="+mn-lt"/>
              </a:defRPr>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2284"/>
          </a:xfrm>
        </p:spPr>
        <p:txBody>
          <a:bodyPr>
            <a:normAutofit/>
          </a:bodyPr>
          <a:lstStyle>
            <a:lvl1pPr>
              <a:defRPr sz="3200" b="1">
                <a:latin typeface="+mn-lt"/>
              </a:defRPr>
            </a:lvl1pPr>
          </a:lstStyle>
          <a:p>
            <a:r>
              <a:rPr lang="en-US" dirty="0"/>
              <a:t>Click to edit Master title style</a:t>
            </a:r>
            <a:endParaRPr lang="en-US" dirty="0"/>
          </a:p>
        </p:txBody>
      </p:sp>
      <p:sp>
        <p:nvSpPr>
          <p:cNvPr id="3" name="Content Placeholder 2"/>
          <p:cNvSpPr>
            <a:spLocks noGrp="1"/>
          </p:cNvSpPr>
          <p:nvPr>
            <p:ph idx="1"/>
          </p:nvPr>
        </p:nvSpPr>
        <p:spPr>
          <a:xfrm>
            <a:off x="838200" y="1219200"/>
            <a:ext cx="10515600" cy="4957763"/>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b="1">
                <a:latin typeface="+mn-lt"/>
              </a:defRPr>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77850"/>
          </a:xfrm>
        </p:spPr>
        <p:txBody>
          <a:bodyPr vert="horz" lIns="91440" tIns="45720" rIns="91440" bIns="45720" rtlCol="0" anchor="ctr">
            <a:normAutofit/>
          </a:bodyPr>
          <a:lstStyle>
            <a:lvl1pPr>
              <a:defRPr lang="en-US" sz="3200" b="1">
                <a:latin typeface="+mn-lt"/>
              </a:defRPr>
            </a:lvl1pPr>
          </a:lstStyle>
          <a:p>
            <a:pPr lvl="0"/>
            <a:r>
              <a:rPr lang="en-US" dirty="0"/>
              <a:t>Click to edit Master title style</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A 1st Slide">
    <p:spTree>
      <p:nvGrpSpPr>
        <p:cNvPr id="1" name=""/>
        <p:cNvGrpSpPr/>
        <p:nvPr/>
      </p:nvGrpSpPr>
      <p:grpSpPr>
        <a:xfrm>
          <a:off x="0" y="0"/>
          <a:ext cx="0" cy="0"/>
          <a:chOff x="0" y="0"/>
          <a:chExt cx="0" cy="0"/>
        </a:xfrm>
      </p:grpSpPr>
      <p:sp>
        <p:nvSpPr>
          <p:cNvPr id="2" name="Title 1"/>
          <p:cNvSpPr>
            <a:spLocks noGrp="1"/>
          </p:cNvSpPr>
          <p:nvPr>
            <p:ph type="title"/>
          </p:nvPr>
        </p:nvSpPr>
        <p:spPr>
          <a:xfrm>
            <a:off x="1618488" y="566928"/>
            <a:ext cx="10021824" cy="539496"/>
          </a:xfrm>
        </p:spPr>
        <p:txBody>
          <a:bodyPr>
            <a:normAutofit/>
          </a:bodyPr>
          <a:lstStyle>
            <a:lvl1pPr>
              <a:defRPr sz="3200" b="1">
                <a:latin typeface="+mn-lt"/>
              </a:defRPr>
            </a:lvl1pPr>
          </a:lstStyle>
          <a:p>
            <a:r>
              <a:rPr lang="en-US"/>
              <a:t>Click to edit Master title style</a:t>
            </a:r>
            <a:endParaRPr lang="en-US"/>
          </a:p>
        </p:txBody>
      </p:sp>
      <p:sp>
        <p:nvSpPr>
          <p:cNvPr id="10" name="Content Placeholder 2"/>
          <p:cNvSpPr>
            <a:spLocks noGrp="1"/>
          </p:cNvSpPr>
          <p:nvPr>
            <p:ph idx="1"/>
          </p:nvPr>
        </p:nvSpPr>
        <p:spPr>
          <a:xfrm>
            <a:off x="466344" y="1463040"/>
            <a:ext cx="11265408" cy="1572768"/>
          </a:xfrm>
        </p:spPr>
        <p:txBody>
          <a:bodyPr/>
          <a:lstStyle>
            <a:lvl3pPr marL="914400" indent="0">
              <a:buNone/>
              <a:defRPr/>
            </a:lvl3pPr>
          </a:lstStyle>
          <a:p>
            <a:pPr lvl="0"/>
            <a:r>
              <a:rPr lang="en-US"/>
              <a:t>Edit Master text styles</a:t>
            </a:r>
            <a:endParaRPr lang="en-US"/>
          </a:p>
          <a:p>
            <a:pPr lvl="1"/>
            <a:r>
              <a:rPr lang="en-US"/>
              <a:t>Second level</a:t>
            </a:r>
            <a:endParaRPr lang="en-US"/>
          </a:p>
        </p:txBody>
      </p:sp>
      <p:sp>
        <p:nvSpPr>
          <p:cNvPr id="11" name="Content Placeholder 2"/>
          <p:cNvSpPr>
            <a:spLocks noGrp="1"/>
          </p:cNvSpPr>
          <p:nvPr>
            <p:ph idx="13" hasCustomPrompt="1"/>
          </p:nvPr>
        </p:nvSpPr>
        <p:spPr>
          <a:xfrm>
            <a:off x="466344" y="2990088"/>
            <a:ext cx="11265408" cy="3097485"/>
          </a:xfrm>
        </p:spPr>
        <p:txBody>
          <a:bodyPr>
            <a:normAutofit/>
          </a:bodyPr>
          <a:lstStyle>
            <a:lvl1pPr marL="0" indent="0">
              <a:buNone/>
              <a:defRPr sz="2400" b="1"/>
            </a:lvl1pPr>
          </a:lstStyle>
          <a:p>
            <a:pPr lvl="0"/>
            <a:r>
              <a:rPr lang="en-US" sz="2400" b="1"/>
              <a:t>Strengths:</a:t>
            </a:r>
            <a:endParaRPr lang="en-US" sz="2400" b="1"/>
          </a:p>
          <a:p>
            <a:pPr lvl="0"/>
            <a:endParaRPr lang="en-US" sz="2400" b="1"/>
          </a:p>
          <a:p>
            <a:pPr lvl="0"/>
            <a:endParaRPr lang="en-US" sz="2400" b="1"/>
          </a:p>
          <a:p>
            <a:pPr lvl="0"/>
            <a:r>
              <a:rPr lang="en-US" sz="2400" b="1"/>
              <a:t>Weaknesses:</a:t>
            </a:r>
            <a:endParaRPr lang="en-US" sz="2400" b="1"/>
          </a:p>
          <a:p>
            <a:pPr lvl="0"/>
            <a:endParaRPr lang="en-US" sz="2400" b="1"/>
          </a:p>
          <a:p>
            <a:pPr lvl="0"/>
            <a:endParaRPr lang="en-US" sz="2400" b="1"/>
          </a:p>
          <a:p>
            <a:pPr lvl="0"/>
            <a:r>
              <a:rPr lang="en-US" sz="2400" b="1"/>
              <a:t>Notes:</a:t>
            </a: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A_Additional Info">
    <p:spTree>
      <p:nvGrpSpPr>
        <p:cNvPr id="1" name=""/>
        <p:cNvGrpSpPr/>
        <p:nvPr/>
      </p:nvGrpSpPr>
      <p:grpSpPr>
        <a:xfrm>
          <a:off x="0" y="0"/>
          <a:ext cx="0" cy="0"/>
          <a:chOff x="0" y="0"/>
          <a:chExt cx="0" cy="0"/>
        </a:xfrm>
      </p:grpSpPr>
      <p:sp>
        <p:nvSpPr>
          <p:cNvPr id="2" name="Title 1"/>
          <p:cNvSpPr>
            <a:spLocks noGrp="1"/>
          </p:cNvSpPr>
          <p:nvPr>
            <p:ph type="title"/>
          </p:nvPr>
        </p:nvSpPr>
        <p:spPr>
          <a:xfrm>
            <a:off x="1618488" y="566928"/>
            <a:ext cx="10021824" cy="539496"/>
          </a:xfrm>
        </p:spPr>
        <p:txBody>
          <a:bodyPr>
            <a:normAutofit/>
          </a:bodyPr>
          <a:lstStyle>
            <a:lvl1pPr>
              <a:defRPr sz="3200" b="1">
                <a:latin typeface="+mn-lt"/>
              </a:defRPr>
            </a:lvl1pPr>
          </a:lstStyle>
          <a:p>
            <a:r>
              <a:rPr lang="en-US"/>
              <a:t>Click to edit Master title style</a:t>
            </a:r>
            <a:endParaRPr lang="en-US"/>
          </a:p>
        </p:txBody>
      </p:sp>
      <p:sp>
        <p:nvSpPr>
          <p:cNvPr id="11" name="Content Placeholder 2"/>
          <p:cNvSpPr>
            <a:spLocks noGrp="1"/>
          </p:cNvSpPr>
          <p:nvPr>
            <p:ph idx="13" hasCustomPrompt="1"/>
          </p:nvPr>
        </p:nvSpPr>
        <p:spPr>
          <a:xfrm>
            <a:off x="466344" y="1463040"/>
            <a:ext cx="11265408" cy="4417807"/>
          </a:xfrm>
        </p:spPr>
        <p:txBody>
          <a:bodyPr>
            <a:normAutofit/>
          </a:bodyPr>
          <a:lstStyle>
            <a:lvl1pPr marL="0" indent="0">
              <a:buNone/>
              <a:defRPr sz="2400" b="1"/>
            </a:lvl1pPr>
          </a:lstStyle>
          <a:p>
            <a:pPr lvl="0"/>
            <a:r>
              <a:rPr lang="en-US" sz="2400" b="1"/>
              <a:t>&lt;Additional Findings&gt;</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609600"/>
          </a:xfrm>
        </p:spPr>
        <p:txBody>
          <a:bodyPr/>
          <a:lstStyle/>
          <a:p>
            <a:r>
              <a:rPr lang="en-US"/>
              <a:t>Click to edit Master title style</a:t>
            </a:r>
            <a:endParaRPr lang="en-US"/>
          </a:p>
        </p:txBody>
      </p:sp>
      <p:sp>
        <p:nvSpPr>
          <p:cNvPr id="3" name="Text Placeholder 2"/>
          <p:cNvSpPr>
            <a:spLocks noGrp="1"/>
          </p:cNvSpPr>
          <p:nvPr>
            <p:ph type="body" sz="half" idx="1"/>
          </p:nvPr>
        </p:nvSpPr>
        <p:spPr>
          <a:xfrm>
            <a:off x="914400" y="1676400"/>
            <a:ext cx="5080000" cy="41148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97600" y="1676400"/>
            <a:ext cx="5080000" cy="41148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1.jpe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8" name="Date Placeholder 3"/>
          <p:cNvSpPr>
            <a:spLocks noGrp="1"/>
          </p:cNvSpPr>
          <p:nvPr>
            <p:ph type="dt" sz="half" idx="2"/>
          </p:nvPr>
        </p:nvSpPr>
        <p:spPr>
          <a:xfrm>
            <a:off x="1714501" y="6403975"/>
            <a:ext cx="8763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9AB143-E9B2-4463-ACCE-E9D4B85F0D0F}" type="datetime1">
              <a:rPr lang="en-US" smtClean="0"/>
            </a:fld>
            <a:endParaRPr lang="en-US" dirty="0"/>
          </a:p>
        </p:txBody>
      </p:sp>
      <p:sp>
        <p:nvSpPr>
          <p:cNvPr id="9" name="Footer Placeholder 4"/>
          <p:cNvSpPr>
            <a:spLocks noGrp="1"/>
          </p:cNvSpPr>
          <p:nvPr>
            <p:ph type="ftr" sz="quarter" idx="3"/>
          </p:nvPr>
        </p:nvSpPr>
        <p:spPr>
          <a:xfrm>
            <a:off x="2732182" y="6407150"/>
            <a:ext cx="1249267"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10" name="Slide Number Placeholder 5"/>
          <p:cNvSpPr txBox="1"/>
          <p:nvPr userDrawn="1"/>
        </p:nvSpPr>
        <p:spPr>
          <a:xfrm>
            <a:off x="8229600" y="6403975"/>
            <a:ext cx="373591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defRPr/>
            </a:pPr>
            <a:r>
              <a:rPr lang="en-US" sz="1200" b="0" i="0" u="none" strike="noStrike" kern="1200" dirty="0">
                <a:solidFill>
                  <a:schemeClr val="tx1">
                    <a:tint val="75000"/>
                  </a:schemeClr>
                </a:solidFill>
                <a:effectLst/>
                <a:latin typeface="+mn-lt"/>
                <a:ea typeface="+mn-ea"/>
                <a:cs typeface="+mn-cs"/>
              </a:rPr>
              <a:t>© ISACA 2022. All Rights Reserved.​</a:t>
            </a:r>
            <a:r>
              <a:rPr lang="en-US" dirty="0"/>
              <a:t>  |  </a:t>
            </a:r>
            <a:fld id="{85F78CEA-3B00-9E49-94E0-DC9AF1E86765}" type="slidenum">
              <a:rPr lang="en-US" smtClean="0"/>
            </a:fld>
            <a:endParaRPr lang="en-US" dirty="0"/>
          </a:p>
        </p:txBody>
      </p:sp>
      <p:pic>
        <p:nvPicPr>
          <p:cNvPr id="11" name="Picture 10"/>
          <p:cNvPicPr>
            <a:picLocks noChangeAspect="1"/>
          </p:cNvPicPr>
          <p:nvPr userDrawn="1"/>
        </p:nvPicPr>
        <p:blipFill rotWithShape="1">
          <a:blip r:embed="rId15" cstate="email"/>
          <a:srcRect l="11295" t="26266" r="8573" b="24948"/>
          <a:stretch>
            <a:fillRect/>
          </a:stretch>
        </p:blipFill>
        <p:spPr>
          <a:xfrm>
            <a:off x="182469" y="6358332"/>
            <a:ext cx="1371600" cy="363143"/>
          </a:xfrm>
          <a:prstGeom prst="rect">
            <a:avLst/>
          </a:prstGeom>
        </p:spPr>
      </p:pic>
      <p:sp>
        <p:nvSpPr>
          <p:cNvPr id="12" name="Footer Placeholder 4"/>
          <p:cNvSpPr txBox="1"/>
          <p:nvPr userDrawn="1"/>
        </p:nvSpPr>
        <p:spPr>
          <a:xfrm>
            <a:off x="4122832" y="6403975"/>
            <a:ext cx="2268444"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sz="1200" b="0" i="0" u="none" strike="noStrike" kern="1200" dirty="0">
                <a:solidFill>
                  <a:schemeClr val="tx1">
                    <a:tint val="75000"/>
                  </a:schemeClr>
                </a:solidFill>
                <a:effectLst/>
                <a:latin typeface="+mn-lt"/>
                <a:ea typeface="+mn-ea"/>
                <a:cs typeface="+mn-cs"/>
              </a:rPr>
              <a:t>[Insert Logo Here]</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rgbClr val="1E2C5B"/>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Calibri" panose="020F050202020403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SzPct val="90000"/>
        <a:buFont typeface="Wingdings" panose="05000000000000000000" pitchFamily="2" charset="2"/>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8.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9.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0.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1.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2.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3.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4.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5.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6.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7.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8.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9.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0.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vmlDrawing" Target="../drawings/vmlDrawing1.vml"/><Relationship Id="rId3" Type="http://schemas.openxmlformats.org/officeDocument/2006/relationships/slideLayout" Target="../slideLayouts/slideLayout6.xml"/><Relationship Id="rId2" Type="http://schemas.openxmlformats.org/officeDocument/2006/relationships/image" Target="../media/image22.emf"/><Relationship Id="rId1" Type="http://schemas.openxmlformats.org/officeDocument/2006/relationships/package" Target="../embeddings/Workbook1.xlsx"/></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7.xml"/><Relationship Id="rId2" Type="http://schemas.openxmlformats.org/officeDocument/2006/relationships/image" Target="../media/image1.svg"/><Relationship Id="rId1"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Final Findings Template</a:t>
            </a:r>
            <a:endParaRPr lang="en-US" dirty="0"/>
          </a:p>
        </p:txBody>
      </p:sp>
      <p:sp>
        <p:nvSpPr>
          <p:cNvPr id="3" name="Subtitle 2"/>
          <p:cNvSpPr>
            <a:spLocks noGrp="1"/>
          </p:cNvSpPr>
          <p:nvPr>
            <p:ph type="subTitle" idx="1"/>
          </p:nvPr>
        </p:nvSpPr>
        <p:spPr/>
        <p:txBody>
          <a:bodyPr>
            <a:normAutofit/>
          </a:bodyPr>
          <a:lstStyle/>
          <a:p>
            <a:r>
              <a:rPr lang="en-US" dirty="0"/>
              <a:t>CMMI® Appraisal Method</a:t>
            </a:r>
            <a:endParaRPr lang="en-US" dirty="0"/>
          </a:p>
          <a:p>
            <a:r>
              <a:rPr lang="en-US" dirty="0"/>
              <a:t>&lt;This template identifies the MINIMUM REQUIREMENTS for a Final Findings brief for a CMMI Benchmark Appraisal or Sustainment Appraisal&gt;</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Appraisal Overview</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3"/>
          <p:cNvSpPr>
            <a:spLocks noGrp="1" noChangeArrowheads="1"/>
          </p:cNvSpPr>
          <p:nvPr>
            <p:ph type="title"/>
          </p:nvPr>
        </p:nvSpPr>
        <p:spPr/>
        <p:txBody>
          <a:bodyPr/>
          <a:lstStyle/>
          <a:p>
            <a:pPr eaLnBrk="1" hangingPunct="1"/>
            <a:r>
              <a:rPr lang="en-US" altLang="en-US" dirty="0">
                <a:ea typeface="MS PGothic" panose="020B0600070205080204" charset="-128"/>
              </a:rPr>
              <a:t>Appraisal Overview</a:t>
            </a:r>
            <a:endParaRPr lang="en-US" altLang="en-US" dirty="0">
              <a:ea typeface="MS PGothic" panose="020B0600070205080204" charset="-128"/>
            </a:endParaRPr>
          </a:p>
        </p:txBody>
      </p:sp>
      <p:sp>
        <p:nvSpPr>
          <p:cNvPr id="13314" name="Rectangle 2"/>
          <p:cNvSpPr>
            <a:spLocks noGrp="1" noChangeArrowheads="1"/>
          </p:cNvSpPr>
          <p:nvPr>
            <p:ph idx="4294967295"/>
          </p:nvPr>
        </p:nvSpPr>
        <p:spPr>
          <a:xfrm>
            <a:off x="838200" y="1219200"/>
            <a:ext cx="10515600" cy="4957763"/>
          </a:xfrm>
        </p:spPr>
        <p:txBody>
          <a:bodyPr>
            <a:normAutofit fontScale="92500" lnSpcReduction="20000"/>
          </a:bodyPr>
          <a:lstStyle/>
          <a:p>
            <a:r>
              <a:rPr lang="en-US" altLang="en-US" dirty="0">
                <a:ea typeface="MS PGothic" panose="020B0600070205080204" charset="-128"/>
              </a:rPr>
              <a:t>Organization: Name</a:t>
            </a:r>
            <a:endParaRPr lang="en-US" altLang="en-US" dirty="0">
              <a:ea typeface="MS PGothic" panose="020B0600070205080204" charset="-128"/>
            </a:endParaRPr>
          </a:p>
          <a:p>
            <a:pPr lvl="1" eaLnBrk="1" hangingPunct="1"/>
            <a:r>
              <a:rPr lang="en-GB" altLang="en-US" dirty="0">
                <a:ea typeface="MS PGothic" panose="020B0600070205080204" charset="-128"/>
              </a:rPr>
              <a:t>Location</a:t>
            </a:r>
            <a:endParaRPr lang="en-GB" altLang="en-US" dirty="0">
              <a:ea typeface="MS PGothic" panose="020B0600070205080204" charset="-128"/>
            </a:endParaRPr>
          </a:p>
          <a:p>
            <a:r>
              <a:rPr lang="en-GB" altLang="en-US" dirty="0">
                <a:ea typeface="MS PGothic" panose="020B0600070205080204" charset="-128"/>
              </a:rPr>
              <a:t>Organizational Unit (OU): Name</a:t>
            </a:r>
            <a:endParaRPr lang="en-GB" altLang="en-US" dirty="0">
              <a:ea typeface="MS PGothic" panose="020B0600070205080204" charset="-128"/>
            </a:endParaRPr>
          </a:p>
          <a:p>
            <a:pPr lvl="1"/>
            <a:r>
              <a:rPr lang="en-GB" altLang="en-US" dirty="0">
                <a:ea typeface="MS PGothic" panose="020B0600070205080204" charset="-128"/>
              </a:rPr>
              <a:t>Description</a:t>
            </a:r>
            <a:endParaRPr lang="en-GB" altLang="en-US" dirty="0">
              <a:ea typeface="MS PGothic" panose="020B0600070205080204" charset="-128"/>
            </a:endParaRPr>
          </a:p>
          <a:p>
            <a:pPr lvl="1"/>
            <a:r>
              <a:rPr lang="en-GB" altLang="en-US" dirty="0">
                <a:ea typeface="MS PGothic" panose="020B0600070205080204" charset="-128"/>
              </a:rPr>
              <a:t>Location(s)</a:t>
            </a:r>
            <a:endParaRPr lang="en-GB" altLang="en-US" sz="1800" dirty="0">
              <a:ea typeface="MS PGothic" panose="020B0600070205080204" charset="-128"/>
            </a:endParaRPr>
          </a:p>
          <a:p>
            <a:r>
              <a:rPr lang="en-GB" altLang="en-US" dirty="0"/>
              <a:t>Appraisal Sponsor</a:t>
            </a:r>
            <a:endParaRPr lang="en-GB" altLang="en-US" dirty="0"/>
          </a:p>
          <a:p>
            <a:pPr lvl="1" eaLnBrk="1" hangingPunct="1"/>
            <a:r>
              <a:rPr lang="en-GB" altLang="en-US" dirty="0">
                <a:ea typeface="MS PGothic" panose="020B0600070205080204" charset="-128"/>
              </a:rPr>
              <a:t>Name</a:t>
            </a:r>
            <a:endParaRPr lang="en-GB" altLang="en-US" dirty="0">
              <a:ea typeface="MS PGothic" panose="020B0600070205080204" charset="-128"/>
            </a:endParaRPr>
          </a:p>
          <a:p>
            <a:pPr lvl="2" eaLnBrk="1" hangingPunct="1"/>
            <a:r>
              <a:rPr lang="en-GB" altLang="en-US" sz="2400" dirty="0">
                <a:ea typeface="MS PGothic" panose="020B0600070205080204" charset="-128"/>
              </a:rPr>
              <a:t>Title</a:t>
            </a:r>
            <a:endParaRPr lang="en-GB" altLang="en-US" sz="2400" dirty="0">
              <a:ea typeface="MS PGothic" panose="020B0600070205080204" charset="-128"/>
            </a:endParaRPr>
          </a:p>
          <a:p>
            <a:pPr lvl="2" eaLnBrk="1" hangingPunct="1"/>
            <a:r>
              <a:rPr lang="en-GB" altLang="en-US" sz="2400" dirty="0">
                <a:ea typeface="MS PGothic" panose="020B0600070205080204" charset="-128"/>
              </a:rPr>
              <a:t>Relationship to OU</a:t>
            </a:r>
            <a:endParaRPr lang="en-GB" altLang="en-US" sz="2400" dirty="0">
              <a:ea typeface="MS PGothic" panose="020B0600070205080204" charset="-128"/>
            </a:endParaRPr>
          </a:p>
          <a:p>
            <a:r>
              <a:rPr lang="en-US" dirty="0"/>
              <a:t>Appraisal Team Leader (ATL) Name</a:t>
            </a:r>
            <a:endParaRPr lang="en-US" dirty="0"/>
          </a:p>
          <a:p>
            <a:pPr lvl="1"/>
            <a:r>
              <a:rPr lang="en-US" dirty="0"/>
              <a:t>Lead Appraiser ID#</a:t>
            </a:r>
            <a:endParaRPr lang="en-US" dirty="0"/>
          </a:p>
          <a:p>
            <a:pPr lvl="1"/>
            <a:r>
              <a:rPr lang="en-US" dirty="0"/>
              <a:t>ATL Organization</a:t>
            </a:r>
            <a:endParaRPr lang="en-US" dirty="0"/>
          </a:p>
          <a:p>
            <a:pPr lvl="1"/>
            <a:r>
              <a:rPr lang="en-US" dirty="0"/>
              <a:t>Sponsoring ISACA CMMI Business Partner Organization</a:t>
            </a:r>
            <a:endParaRPr lang="en-US" dirty="0"/>
          </a:p>
          <a:p>
            <a:pPr lvl="1"/>
            <a:r>
              <a:rPr lang="en-US" dirty="0"/>
              <a:t>ATL Email Address</a:t>
            </a:r>
            <a:endParaRPr lang="en-US" dirty="0"/>
          </a:p>
          <a:p>
            <a:pPr lvl="2" eaLnBrk="1" hangingPunct="1"/>
            <a:endParaRPr lang="en-GB" altLang="en-US" sz="2400" dirty="0">
              <a:ea typeface="MS PGothic" panose="020B0600070205080204" charset="-128"/>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4"/>
          <p:cNvSpPr>
            <a:spLocks noGrp="1" noChangeArrowheads="1"/>
          </p:cNvSpPr>
          <p:nvPr>
            <p:ph type="title"/>
          </p:nvPr>
        </p:nvSpPr>
        <p:spPr/>
        <p:txBody>
          <a:bodyPr/>
          <a:lstStyle/>
          <a:p>
            <a:r>
              <a:rPr lang="en-US" altLang="en-US" dirty="0"/>
              <a:t>Business Objectives</a:t>
            </a:r>
            <a:endParaRPr lang="en-US" altLang="en-US" dirty="0"/>
          </a:p>
        </p:txBody>
      </p:sp>
      <p:sp>
        <p:nvSpPr>
          <p:cNvPr id="19458" name="Rectangle 5"/>
          <p:cNvSpPr>
            <a:spLocks noGrp="1" noChangeArrowheads="1"/>
          </p:cNvSpPr>
          <p:nvPr>
            <p:ph idx="1"/>
          </p:nvPr>
        </p:nvSpPr>
        <p:spPr/>
        <p:txBody>
          <a:bodyPr/>
          <a:lstStyle/>
          <a:p>
            <a:r>
              <a:rPr lang="en-US" dirty="0"/>
              <a:t>List the business objectives from the appraisal plan</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4"/>
          <p:cNvSpPr>
            <a:spLocks noGrp="1" noChangeArrowheads="1"/>
          </p:cNvSpPr>
          <p:nvPr>
            <p:ph type="title"/>
          </p:nvPr>
        </p:nvSpPr>
        <p:spPr/>
        <p:txBody>
          <a:bodyPr/>
          <a:lstStyle/>
          <a:p>
            <a:r>
              <a:rPr lang="en-US" altLang="en-US" dirty="0"/>
              <a:t>Appraisal Objectives</a:t>
            </a:r>
            <a:endParaRPr lang="en-US" altLang="en-US" dirty="0"/>
          </a:p>
        </p:txBody>
      </p:sp>
      <p:sp>
        <p:nvSpPr>
          <p:cNvPr id="19458" name="Rectangle 5"/>
          <p:cNvSpPr>
            <a:spLocks noGrp="1" noChangeArrowheads="1"/>
          </p:cNvSpPr>
          <p:nvPr>
            <p:ph idx="1"/>
          </p:nvPr>
        </p:nvSpPr>
        <p:spPr/>
        <p:txBody>
          <a:bodyPr/>
          <a:lstStyle/>
          <a:p>
            <a:r>
              <a:rPr lang="en-US" dirty="0"/>
              <a:t>List the appraisal objectives from the appraisal plan</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3"/>
          <p:cNvSpPr>
            <a:spLocks noGrp="1" noChangeArrowheads="1"/>
          </p:cNvSpPr>
          <p:nvPr>
            <p:ph type="title"/>
          </p:nvPr>
        </p:nvSpPr>
        <p:spPr/>
        <p:txBody>
          <a:bodyPr/>
          <a:lstStyle/>
          <a:p>
            <a:pPr eaLnBrk="1" hangingPunct="1"/>
            <a:r>
              <a:rPr lang="en-US" altLang="en-US" dirty="0">
                <a:ea typeface="MS PGothic" panose="020B0600070205080204" charset="-128"/>
              </a:rPr>
              <a:t>Appraisal Team</a:t>
            </a:r>
            <a:endParaRPr lang="en-US" altLang="en-US" dirty="0">
              <a:ea typeface="MS PGothic" panose="020B0600070205080204" charset="-128"/>
            </a:endParaRPr>
          </a:p>
        </p:txBody>
      </p:sp>
      <p:sp>
        <p:nvSpPr>
          <p:cNvPr id="15362" name="Rectangle 2"/>
          <p:cNvSpPr>
            <a:spLocks noGrp="1" noChangeArrowheads="1"/>
          </p:cNvSpPr>
          <p:nvPr>
            <p:ph idx="4294967295"/>
          </p:nvPr>
        </p:nvSpPr>
        <p:spPr>
          <a:xfrm>
            <a:off x="838200" y="1219200"/>
            <a:ext cx="10515600" cy="4957763"/>
          </a:xfrm>
        </p:spPr>
        <p:txBody>
          <a:bodyPr/>
          <a:lstStyle/>
          <a:p>
            <a:r>
              <a:rPr lang="en-US" altLang="en-US" dirty="0">
                <a:ea typeface="MS PGothic" panose="020B0600070205080204" charset="-128"/>
              </a:rPr>
              <a:t>ATL Name: </a:t>
            </a:r>
            <a:r>
              <a:rPr lang="en-US" altLang="en-US" i="1" dirty="0">
                <a:ea typeface="MS PGothic" panose="020B0600070205080204" charset="-128"/>
              </a:rPr>
              <a:t>A</a:t>
            </a:r>
            <a:r>
              <a:rPr lang="en-US" altLang="en-US" i="1" dirty="0">
                <a:solidFill>
                  <a:srgbClr val="181818"/>
                </a:solidFill>
                <a:ea typeface="MS PGothic" panose="020B0600070205080204" charset="-128"/>
              </a:rPr>
              <a:t>ppraisal Team Leader, &lt;Organizational Affiliation&gt;</a:t>
            </a:r>
            <a:endParaRPr lang="en-US" altLang="en-US" i="1" dirty="0">
              <a:solidFill>
                <a:srgbClr val="181818"/>
              </a:solidFill>
              <a:ea typeface="MS PGothic" panose="020B0600070205080204" charset="-128"/>
            </a:endParaRPr>
          </a:p>
          <a:p>
            <a:r>
              <a:rPr lang="en-US" altLang="en-US" dirty="0">
                <a:ea typeface="MS PGothic" panose="020B0600070205080204" charset="-128"/>
              </a:rPr>
              <a:t>ATM Name: </a:t>
            </a:r>
            <a:r>
              <a:rPr lang="en-US" altLang="en-US" i="1" dirty="0">
                <a:ea typeface="MS PGothic" panose="020B0600070205080204" charset="-128"/>
              </a:rPr>
              <a:t>Appraisal Team Member, </a:t>
            </a:r>
            <a:r>
              <a:rPr lang="en-US" altLang="en-US" i="1" dirty="0">
                <a:solidFill>
                  <a:srgbClr val="181818"/>
                </a:solidFill>
                <a:ea typeface="MS PGothic" panose="020B0600070205080204" charset="-128"/>
              </a:rPr>
              <a:t>&lt;Organizational Affiliation&gt;</a:t>
            </a:r>
            <a:endParaRPr lang="en-US" altLang="en-US" dirty="0">
              <a:ea typeface="MS PGothic" panose="020B0600070205080204" charset="-128"/>
            </a:endParaRPr>
          </a:p>
          <a:p>
            <a:pPr marL="0" indent="0"/>
            <a:endParaRPr lang="en-US" altLang="en-US" dirty="0">
              <a:ea typeface="MS PGothic" panose="020B0600070205080204" charset="-128"/>
            </a:endParaRPr>
          </a:p>
          <a:p>
            <a:pPr marL="0" indent="0"/>
            <a:endParaRPr lang="en-US" altLang="en-US" dirty="0">
              <a:ea typeface="MS PGothic" panose="020B0600070205080204" charset="-128"/>
            </a:endParaRPr>
          </a:p>
          <a:p>
            <a:pPr marL="0" indent="0"/>
            <a:endParaRPr lang="en-US" altLang="en-US" dirty="0">
              <a:ea typeface="MS PGothic" panose="020B0600070205080204" charset="-128"/>
            </a:endParaRPr>
          </a:p>
          <a:p>
            <a:pPr marL="0" indent="0"/>
            <a:endParaRPr lang="en-US" altLang="en-US" dirty="0">
              <a:ea typeface="MS PGothic" panose="020B0600070205080204" charset="-128"/>
            </a:endParaRPr>
          </a:p>
          <a:p>
            <a:r>
              <a:rPr lang="en-US" altLang="en-US" dirty="0">
                <a:ea typeface="MS PGothic" panose="020B0600070205080204" charset="-128"/>
              </a:rPr>
              <a:t>OUC Name: </a:t>
            </a:r>
            <a:r>
              <a:rPr lang="en-US" altLang="en-US" i="1" dirty="0">
                <a:ea typeface="MS PGothic" panose="020B0600070205080204" charset="-128"/>
              </a:rPr>
              <a:t>OU Coordinator, </a:t>
            </a:r>
            <a:r>
              <a:rPr lang="en-US" altLang="en-US" i="1" dirty="0">
                <a:solidFill>
                  <a:srgbClr val="181818"/>
                </a:solidFill>
                <a:ea typeface="MS PGothic" panose="020B0600070205080204" charset="-128"/>
              </a:rPr>
              <a:t>&lt;Organizational Affiliation&gt;</a:t>
            </a:r>
            <a:endParaRPr lang="en-US" altLang="en-US" dirty="0">
              <a:solidFill>
                <a:srgbClr val="181818"/>
              </a:solidFill>
              <a:ea typeface="MS PGothic" panose="020B0600070205080204" charset="-128"/>
            </a:endParaRPr>
          </a:p>
          <a:p>
            <a:endParaRPr lang="en-US" altLang="en-US" dirty="0">
              <a:solidFill>
                <a:srgbClr val="181818"/>
              </a:solidFill>
              <a:ea typeface="MS PGothic" panose="020B0600070205080204" charset="-128"/>
            </a:endParaRPr>
          </a:p>
          <a:p>
            <a:pPr eaLnBrk="1" hangingPunct="1"/>
            <a:endParaRPr lang="en-US" altLang="en-US" dirty="0">
              <a:ea typeface="MS PGothic" panose="020B0600070205080204" charset="-12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3"/>
          <p:cNvSpPr>
            <a:spLocks noGrp="1" noChangeArrowheads="1"/>
          </p:cNvSpPr>
          <p:nvPr>
            <p:ph type="title"/>
          </p:nvPr>
        </p:nvSpPr>
        <p:spPr/>
        <p:txBody>
          <a:bodyPr/>
          <a:lstStyle/>
          <a:p>
            <a:pPr eaLnBrk="1" hangingPunct="1"/>
            <a:r>
              <a:rPr lang="en-US" altLang="en-US" dirty="0">
                <a:ea typeface="MS PGothic" panose="020B0600070205080204" charset="-128"/>
              </a:rPr>
              <a:t>Appraisal Support Personnel</a:t>
            </a:r>
            <a:endParaRPr lang="en-US" altLang="en-US" dirty="0">
              <a:ea typeface="MS PGothic" panose="020B0600070205080204" charset="-128"/>
            </a:endParaRPr>
          </a:p>
        </p:txBody>
      </p:sp>
      <p:sp>
        <p:nvSpPr>
          <p:cNvPr id="15362" name="Rectangle 2"/>
          <p:cNvSpPr>
            <a:spLocks noGrp="1" noChangeArrowheads="1"/>
          </p:cNvSpPr>
          <p:nvPr>
            <p:ph idx="4294967295"/>
          </p:nvPr>
        </p:nvSpPr>
        <p:spPr>
          <a:xfrm>
            <a:off x="838200" y="1219200"/>
            <a:ext cx="10515600" cy="4957763"/>
          </a:xfrm>
        </p:spPr>
        <p:txBody>
          <a:bodyPr/>
          <a:lstStyle/>
          <a:p>
            <a:r>
              <a:rPr lang="en-US" altLang="en-US" dirty="0">
                <a:ea typeface="MS PGothic" panose="020B0600070205080204" charset="-128"/>
              </a:rPr>
              <a:t>List any designees for the Plan and Prepare for Appraisal Phase, and their organizational affiliation</a:t>
            </a:r>
            <a:endParaRPr lang="en-US" altLang="en-US" dirty="0">
              <a:ea typeface="MS PGothic" panose="020B0600070205080204" charset="-128"/>
            </a:endParaRPr>
          </a:p>
          <a:p>
            <a:pPr marL="0" indent="0">
              <a:buNone/>
            </a:pPr>
            <a:endParaRPr lang="en-US" altLang="en-US" dirty="0">
              <a:ea typeface="MS PGothic" panose="020B0600070205080204" charset="-128"/>
            </a:endParaRPr>
          </a:p>
          <a:p>
            <a:r>
              <a:rPr lang="en-US" altLang="en-US" dirty="0">
                <a:ea typeface="MS PGothic" panose="020B0600070205080204" charset="-128"/>
              </a:rPr>
              <a:t>Observer Name: </a:t>
            </a:r>
            <a:r>
              <a:rPr lang="en-US" altLang="en-US" i="1" dirty="0">
                <a:ea typeface="MS PGothic" panose="020B0600070205080204" charset="-128"/>
              </a:rPr>
              <a:t>Observer, </a:t>
            </a:r>
            <a:r>
              <a:rPr lang="en-US" altLang="en-US" i="1" dirty="0">
                <a:solidFill>
                  <a:srgbClr val="181818"/>
                </a:solidFill>
                <a:ea typeface="MS PGothic" panose="020B0600070205080204" charset="-128"/>
              </a:rPr>
              <a:t>&lt;Organizational Affiliation&gt;</a:t>
            </a:r>
            <a:endParaRPr lang="en-US" altLang="en-US" i="1" dirty="0">
              <a:solidFill>
                <a:srgbClr val="181818"/>
              </a:solidFill>
              <a:ea typeface="MS PGothic" panose="020B0600070205080204" charset="-128"/>
            </a:endParaRPr>
          </a:p>
          <a:p>
            <a:r>
              <a:rPr lang="en-US" altLang="en-US" dirty="0">
                <a:ea typeface="MS PGothic" panose="020B0600070205080204" charset="-128"/>
              </a:rPr>
              <a:t>Registered Interpreter’s Name – Registered Interpreter, </a:t>
            </a:r>
            <a:r>
              <a:rPr lang="en-US" altLang="en-US" i="1" dirty="0">
                <a:ea typeface="MS PGothic" panose="020B0600070205080204" charset="-128"/>
              </a:rPr>
              <a:t>&lt;Organizational Affiliation&gt;</a:t>
            </a:r>
            <a:endParaRPr lang="en-US" altLang="en-US" i="1" dirty="0">
              <a:ea typeface="MS PGothic" panose="020B0600070205080204" charset="-128"/>
            </a:endParaRPr>
          </a:p>
          <a:p>
            <a:endParaRPr lang="en-US" altLang="en-US" dirty="0">
              <a:solidFill>
                <a:srgbClr val="181818"/>
              </a:solidFill>
              <a:ea typeface="MS PGothic" panose="020B0600070205080204" charset="-128"/>
            </a:endParaRPr>
          </a:p>
          <a:p>
            <a:endParaRPr lang="en-US" altLang="en-US" dirty="0">
              <a:solidFill>
                <a:srgbClr val="181818"/>
              </a:solidFill>
              <a:ea typeface="MS PGothic" panose="020B0600070205080204" charset="-128"/>
            </a:endParaRPr>
          </a:p>
          <a:p>
            <a:endParaRPr lang="en-US" altLang="en-US" dirty="0">
              <a:ea typeface="MS PGothic" panose="020B0600070205080204" charset="-128"/>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3"/>
          <p:cNvSpPr>
            <a:spLocks noGrp="1"/>
          </p:cNvSpPr>
          <p:nvPr>
            <p:ph type="title"/>
          </p:nvPr>
        </p:nvSpPr>
        <p:spPr/>
        <p:txBody>
          <a:bodyPr>
            <a:normAutofit/>
          </a:bodyPr>
          <a:lstStyle/>
          <a:p>
            <a:r>
              <a:rPr lang="en-US" altLang="en-US" dirty="0">
                <a:ea typeface="MS PGothic" panose="020B0600070205080204" charset="-128"/>
              </a:rPr>
              <a:t>Appraisal Scope: Benchmark Model View</a:t>
            </a:r>
            <a:endParaRPr lang="en-US" altLang="en-US" dirty="0">
              <a:ea typeface="MS PGothic" panose="020B0600070205080204" charset="-128"/>
            </a:endParaRPr>
          </a:p>
        </p:txBody>
      </p:sp>
      <p:sp>
        <p:nvSpPr>
          <p:cNvPr id="5" name="Content Placeholder 4"/>
          <p:cNvSpPr>
            <a:spLocks noGrp="1"/>
          </p:cNvSpPr>
          <p:nvPr>
            <p:ph idx="4294967295"/>
          </p:nvPr>
        </p:nvSpPr>
        <p:spPr>
          <a:xfrm>
            <a:off x="838200" y="1219200"/>
            <a:ext cx="10515600" cy="4957763"/>
          </a:xfrm>
        </p:spPr>
        <p:txBody>
          <a:bodyPr>
            <a:normAutofit/>
          </a:bodyPr>
          <a:lstStyle/>
          <a:p>
            <a:pPr>
              <a:defRPr/>
            </a:pPr>
            <a:r>
              <a:rPr lang="en-US" dirty="0"/>
              <a:t>Describe the Benchmark Model View selected for this appraisal:</a:t>
            </a:r>
            <a:endParaRPr lang="en-US" dirty="0"/>
          </a:p>
          <a:p>
            <a:pPr lvl="1">
              <a:defRPr/>
            </a:pPr>
            <a:r>
              <a:rPr lang="en-US" dirty="0"/>
              <a:t>Examples: </a:t>
            </a:r>
            <a:endParaRPr lang="en-US" dirty="0"/>
          </a:p>
          <a:p>
            <a:pPr lvl="2">
              <a:defRPr/>
            </a:pPr>
            <a:r>
              <a:rPr lang="en-US" dirty="0"/>
              <a:t>CMMI Development Vx.x, Maturity Level 3 </a:t>
            </a:r>
            <a:endParaRPr lang="en-US" dirty="0"/>
          </a:p>
          <a:p>
            <a:pPr lvl="2">
              <a:defRPr/>
            </a:pPr>
            <a:r>
              <a:rPr lang="en-US" dirty="0"/>
              <a:t>CMMI Services Vx.x, Maturity Level 3</a:t>
            </a:r>
            <a:endParaRPr lang="en-US" dirty="0"/>
          </a:p>
          <a:p>
            <a:pPr lvl="2">
              <a:defRPr/>
            </a:pPr>
            <a:r>
              <a:rPr lang="en-US" dirty="0"/>
              <a:t>Custom Model View</a:t>
            </a:r>
            <a:endParaRPr lang="en-US" dirty="0"/>
          </a:p>
          <a:p>
            <a:pPr>
              <a:defRPr/>
            </a:pPr>
            <a:r>
              <a:rPr lang="en-US" dirty="0"/>
              <a:t>Practice Areas (PAs) in scope (use a graphic or list the PAs and their target levels)</a:t>
            </a:r>
            <a:endParaRPr lang="en-US" dirty="0"/>
          </a:p>
          <a:p>
            <a:pPr marL="0" indent="0">
              <a:buNone/>
              <a:defRPr/>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3"/>
          <p:cNvSpPr>
            <a:spLocks noGrp="1"/>
          </p:cNvSpPr>
          <p:nvPr>
            <p:ph type="title"/>
          </p:nvPr>
        </p:nvSpPr>
        <p:spPr/>
        <p:txBody>
          <a:bodyPr/>
          <a:lstStyle/>
          <a:p>
            <a:r>
              <a:rPr lang="en-US" altLang="en-US" dirty="0"/>
              <a:t>Appraisal Scope: Organizational Scope</a:t>
            </a:r>
            <a:endParaRPr lang="en-US" altLang="en-US" dirty="0"/>
          </a:p>
        </p:txBody>
      </p:sp>
      <p:sp>
        <p:nvSpPr>
          <p:cNvPr id="5" name="Content Placeholder 4"/>
          <p:cNvSpPr>
            <a:spLocks noGrp="1"/>
          </p:cNvSpPr>
          <p:nvPr>
            <p:ph idx="1"/>
          </p:nvPr>
        </p:nvSpPr>
        <p:spPr/>
        <p:txBody>
          <a:bodyPr/>
          <a:lstStyle/>
          <a:p>
            <a:r>
              <a:rPr lang="en-US" dirty="0"/>
              <a:t>Describe the OU and sampling factors; include the “Random Sample Table” from the CMMI Appraisal System (CAS)</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3"/>
          <p:cNvSpPr>
            <a:spLocks noGrp="1"/>
          </p:cNvSpPr>
          <p:nvPr>
            <p:ph type="title"/>
          </p:nvPr>
        </p:nvSpPr>
        <p:spPr/>
        <p:txBody>
          <a:bodyPr>
            <a:normAutofit/>
          </a:bodyPr>
          <a:lstStyle/>
          <a:p>
            <a:r>
              <a:rPr lang="en-US" altLang="en-US" dirty="0">
                <a:ea typeface="MS PGothic" panose="020B0600070205080204" charset="-128"/>
              </a:rPr>
              <a:t>Appraisal Scope: Organizational Sample</a:t>
            </a:r>
            <a:endParaRPr lang="en-US" altLang="en-US" dirty="0">
              <a:ea typeface="MS PGothic" panose="020B0600070205080204" charset="-128"/>
            </a:endParaRPr>
          </a:p>
        </p:txBody>
      </p:sp>
      <p:sp>
        <p:nvSpPr>
          <p:cNvPr id="5" name="Content Placeholder 4"/>
          <p:cNvSpPr>
            <a:spLocks noGrp="1"/>
          </p:cNvSpPr>
          <p:nvPr>
            <p:ph idx="4294967295"/>
          </p:nvPr>
        </p:nvSpPr>
        <p:spPr>
          <a:xfrm>
            <a:off x="838200" y="1219200"/>
            <a:ext cx="10515600" cy="4957763"/>
          </a:xfrm>
        </p:spPr>
        <p:txBody>
          <a:bodyPr>
            <a:normAutofit/>
          </a:bodyPr>
          <a:lstStyle/>
          <a:p>
            <a:pPr>
              <a:defRPr/>
            </a:pPr>
            <a:r>
              <a:rPr lang="en-US" dirty="0"/>
              <a:t>List and briefly describe the projects in the random sample, plus any other projects included by the agreement of the ATL and the Appraisal Sponsor</a:t>
            </a:r>
            <a:endParaRPr lang="en-US" dirty="0"/>
          </a:p>
          <a:p>
            <a:pPr>
              <a:defRPr/>
            </a:pPr>
            <a:r>
              <a:rPr lang="en-US" dirty="0"/>
              <a:t>Include:</a:t>
            </a:r>
            <a:endParaRPr lang="en-US" dirty="0"/>
          </a:p>
          <a:p>
            <a:pPr lvl="1"/>
            <a:r>
              <a:rPr lang="en-US" altLang="en-US" dirty="0">
                <a:ea typeface="MS PGothic" panose="020B0600070205080204" charset="-128"/>
              </a:rPr>
              <a:t>Project Name (or identifier)</a:t>
            </a:r>
            <a:endParaRPr lang="en-US" altLang="en-US" dirty="0">
              <a:ea typeface="MS PGothic" panose="020B0600070205080204" charset="-128"/>
            </a:endParaRPr>
          </a:p>
          <a:p>
            <a:pPr lvl="1"/>
            <a:r>
              <a:rPr lang="en-US" altLang="en-US" dirty="0">
                <a:ea typeface="MS PGothic" panose="020B0600070205080204" charset="-128"/>
              </a:rPr>
              <a:t>Subgroup </a:t>
            </a:r>
            <a:endParaRPr lang="en-US" altLang="en-US" dirty="0">
              <a:ea typeface="MS PGothic" panose="020B0600070205080204" charset="-128"/>
            </a:endParaRPr>
          </a:p>
          <a:p>
            <a:pPr lvl="1"/>
            <a:r>
              <a:rPr lang="en-US" altLang="en-US" dirty="0">
                <a:ea typeface="MS PGothic" panose="020B0600070205080204" charset="-128"/>
              </a:rPr>
              <a:t>Function (brief</a:t>
            </a:r>
            <a:r>
              <a:rPr lang="en-US" altLang="en-US" dirty="0">
                <a:solidFill>
                  <a:srgbClr val="FF0000"/>
                </a:solidFill>
                <a:ea typeface="MS PGothic" panose="020B0600070205080204" charset="-128"/>
              </a:rPr>
              <a:t> </a:t>
            </a:r>
            <a:r>
              <a:rPr lang="en-US" altLang="en-US" dirty="0">
                <a:ea typeface="MS PGothic" panose="020B0600070205080204" charset="-128"/>
              </a:rPr>
              <a:t>description) </a:t>
            </a:r>
            <a:endParaRPr lang="en-US" altLang="en-US" dirty="0">
              <a:ea typeface="MS PGothic" panose="020B0600070205080204" charset="-128"/>
            </a:endParaRPr>
          </a:p>
          <a:p>
            <a:pPr lvl="1"/>
            <a:r>
              <a:rPr lang="en-US" altLang="en-US" dirty="0">
                <a:ea typeface="MS PGothic" panose="020B0600070205080204" charset="-128"/>
              </a:rPr>
              <a:t>Location </a:t>
            </a:r>
            <a:endParaRPr lang="en-US" altLang="en-US" dirty="0">
              <a:ea typeface="MS PGothic" panose="020B0600070205080204" charset="-128"/>
            </a:endParaRPr>
          </a:p>
          <a:p>
            <a:pPr lvl="1"/>
            <a:r>
              <a:rPr lang="en-US" altLang="en-US" dirty="0">
                <a:ea typeface="MS PGothic" panose="020B0600070205080204" charset="-128"/>
              </a:rPr>
              <a:t>Practice Areas selected</a:t>
            </a:r>
            <a:endParaRPr lang="en-US" dirty="0"/>
          </a:p>
          <a:p>
            <a:pPr>
              <a:defRPr/>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Findings Definitions: Required Categories</a:t>
            </a:r>
            <a:endParaRPr lang="en-US" dirty="0"/>
          </a:p>
        </p:txBody>
      </p:sp>
      <p:sp>
        <p:nvSpPr>
          <p:cNvPr id="3" name="Content Placeholder 2"/>
          <p:cNvSpPr>
            <a:spLocks noGrp="1"/>
          </p:cNvSpPr>
          <p:nvPr>
            <p:ph idx="1"/>
          </p:nvPr>
        </p:nvSpPr>
        <p:spPr/>
        <p:txBody>
          <a:bodyPr>
            <a:normAutofit fontScale="92500" lnSpcReduction="10000"/>
          </a:bodyPr>
          <a:lstStyle/>
          <a:p>
            <a:pPr lvl="0"/>
            <a:r>
              <a:rPr lang="en-US" dirty="0"/>
              <a:t>Required Findings Categories:</a:t>
            </a:r>
            <a:endParaRPr lang="en-US" dirty="0"/>
          </a:p>
          <a:p>
            <a:pPr lvl="1"/>
            <a:r>
              <a:rPr lang="en-US" u="sng" dirty="0"/>
              <a:t>Weaknesses</a:t>
            </a:r>
            <a:r>
              <a:rPr lang="en-US" dirty="0"/>
              <a:t>: A type of preliminary or final finding, which is an ineffective, or lack of, implementation of one or more processes that meet the intent and value of a practice based on verified objective evidence, and applicable across the project(s) and organizational support functions or Organizational Unit as a whole. This is realized either by a) the process itself does not address a CMMI practice requirement, or b) the project(s) or organizational support functions are not following their process that meets the intent and value of the applicable CMMI practice.</a:t>
            </a:r>
            <a:endParaRPr lang="en-US" b="1" dirty="0"/>
          </a:p>
          <a:p>
            <a:pPr lvl="1"/>
            <a:endParaRPr lang="en-US" dirty="0"/>
          </a:p>
          <a:p>
            <a:pPr lvl="1"/>
            <a:r>
              <a:rPr lang="en-US" u="sng" dirty="0"/>
              <a:t>Strengths</a:t>
            </a:r>
            <a:r>
              <a:rPr lang="en-US" dirty="0"/>
              <a:t>: A type of preliminary or final finding, which is an exemplary or noteworthy implementation of a process that meets the intent and value of a CMMI model practice.</a:t>
            </a:r>
            <a:endParaRPr lang="en-US"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Findings Definitions: Optional Findings Categories</a:t>
            </a:r>
            <a:endParaRPr lang="en-US" dirty="0"/>
          </a:p>
        </p:txBody>
      </p:sp>
      <p:sp>
        <p:nvSpPr>
          <p:cNvPr id="3" name="Content Placeholder 2"/>
          <p:cNvSpPr>
            <a:spLocks noGrp="1"/>
          </p:cNvSpPr>
          <p:nvPr>
            <p:ph idx="1"/>
          </p:nvPr>
        </p:nvSpPr>
        <p:spPr>
          <a:xfrm>
            <a:off x="838200" y="1219200"/>
            <a:ext cx="10515600" cy="5257800"/>
          </a:xfrm>
        </p:spPr>
        <p:txBody>
          <a:bodyPr>
            <a:normAutofit fontScale="77500" lnSpcReduction="20000"/>
          </a:bodyPr>
          <a:lstStyle/>
          <a:p>
            <a:pPr>
              <a:lnSpc>
                <a:spcPct val="95000"/>
              </a:lnSpc>
            </a:pPr>
            <a:r>
              <a:rPr lang="en-US" u="sng" dirty="0"/>
              <a:t>Notes</a:t>
            </a:r>
            <a:r>
              <a:rPr lang="en-US" dirty="0"/>
              <a:t>: Additional explanatory information regarding weaknesses or strengths, e.g., examples, supporting indicators, and consequences resulting from weaknesses.  </a:t>
            </a:r>
            <a:r>
              <a:rPr lang="en-US" b="1" i="1" dirty="0"/>
              <a:t>Notes must NOT be used as a category in lieu of weaknesses.</a:t>
            </a:r>
            <a:endParaRPr lang="en-US" b="1" i="1" dirty="0"/>
          </a:p>
          <a:p>
            <a:pPr>
              <a:lnSpc>
                <a:spcPct val="95000"/>
              </a:lnSpc>
            </a:pPr>
            <a:r>
              <a:rPr lang="en-US" u="sng" dirty="0"/>
              <a:t>Improvement Opportunities</a:t>
            </a:r>
            <a:r>
              <a:rPr lang="en-US" dirty="0"/>
              <a:t>: A type of preliminary or final finding about a particular Practice Area or practice which typically meets the intent and value of a model practice but represents an opportunity where the process could be improved.</a:t>
            </a:r>
            <a:endParaRPr lang="en-US" dirty="0"/>
          </a:p>
          <a:p>
            <a:pPr>
              <a:lnSpc>
                <a:spcPct val="95000"/>
              </a:lnSpc>
            </a:pPr>
            <a:r>
              <a:rPr lang="en-US" u="sng" dirty="0"/>
              <a:t>Improvements in Progress</a:t>
            </a:r>
            <a:r>
              <a:rPr lang="en-US" dirty="0"/>
              <a:t>: A type of preliminary or final finding statement that is a reflection of the current state of a Practice Area or practice which is newly implemented for the project(s) or Organizational Unit and shows promise of helping to achieve further improvement. Due to the recent nature of that process implementation, artifacts may be limited.  </a:t>
            </a:r>
            <a:endParaRPr lang="en-US" b="1" dirty="0"/>
          </a:p>
          <a:p>
            <a:pPr>
              <a:lnSpc>
                <a:spcPct val="95000"/>
              </a:lnSpc>
            </a:pPr>
            <a:r>
              <a:rPr lang="en-US" u="sng" dirty="0"/>
              <a:t>Recommendations/Next Steps</a:t>
            </a:r>
            <a:r>
              <a:rPr lang="en-US" dirty="0"/>
              <a:t>: Recommendations by the appraisal team for ways to address findings.  These must not be conveyed as mandatory or guarantees of future characterizations or ratings. Recommendations must be either a separate report or separate section from the main appraisal findings, including the ratings and a disclaimer that “These recommendations are not mandatory nor guarantee of addressing findings or future characterizations or ratings.” </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1"/>
          <a:srcRect/>
          <a:stretch>
            <a:fillRect/>
          </a:stretch>
        </p:blipFill>
        <p:spPr bwMode="auto">
          <a:xfrm>
            <a:off x="1335133" y="401444"/>
            <a:ext cx="9521733" cy="55530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Practice Area Findings</a:t>
            </a:r>
            <a:endParaRPr lang="en-US" dirty="0"/>
          </a:p>
        </p:txBody>
      </p:sp>
      <p:sp>
        <p:nvSpPr>
          <p:cNvPr id="5" name="Text Placeholder 4"/>
          <p:cNvSpPr>
            <a:spLocks noGrp="1"/>
          </p:cNvSpPr>
          <p:nvPr>
            <p:ph type="body" idx="1"/>
          </p:nvPr>
        </p:nvSpPr>
        <p:spPr/>
        <p:txBody>
          <a:bodyPr/>
          <a:lstStyle/>
          <a:p>
            <a:r>
              <a:rPr lang="en-US" dirty="0"/>
              <a:t>&lt;Remove PA slides from this section, as needed.&gt;</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Causal Analysis and Resolution (CAR)</a:t>
            </a:r>
            <a:endParaRPr lang="en-US" dirty="0"/>
          </a:p>
        </p:txBody>
      </p:sp>
      <p:sp>
        <p:nvSpPr>
          <p:cNvPr id="3" name="Content Placeholder 2"/>
          <p:cNvSpPr>
            <a:spLocks noGrp="1"/>
          </p:cNvSpPr>
          <p:nvPr>
            <p:ph idx="4294967295"/>
          </p:nvPr>
        </p:nvSpPr>
        <p:spPr>
          <a:xfrm>
            <a:off x="466344" y="1463040"/>
            <a:ext cx="11265408" cy="1572768"/>
          </a:xfrm>
        </p:spPr>
        <p:txBody>
          <a:bodyPr>
            <a:normAutofit/>
          </a:bodyPr>
          <a:lstStyle/>
          <a:p>
            <a:r>
              <a:rPr lang="en-US" sz="2200" b="1" dirty="0"/>
              <a:t>Intent: </a:t>
            </a:r>
            <a:r>
              <a:rPr lang="en-US" sz="2200" dirty="0"/>
              <a:t>Identifies causes of selected outcomes and takes action to either prevent recurrence of undesirable outcomes or ensure recurrence of positive outcomes.</a:t>
            </a:r>
            <a:endParaRPr lang="en-US" sz="2200" dirty="0"/>
          </a:p>
          <a:p>
            <a:r>
              <a:rPr lang="en-US" sz="2200" b="1" dirty="0"/>
              <a:t>Value:</a:t>
            </a:r>
            <a:r>
              <a:rPr lang="en-US" sz="2200" dirty="0"/>
              <a:t> Addresses root cause issues, eliminating rework and directly improving quality and productivity.</a:t>
            </a:r>
            <a:endParaRPr lang="en-US" sz="2200" dirty="0"/>
          </a:p>
        </p:txBody>
      </p:sp>
      <p:sp>
        <p:nvSpPr>
          <p:cNvPr id="4" name="Content Placeholder 3"/>
          <p:cNvSpPr>
            <a:spLocks noGrp="1"/>
          </p:cNvSpPr>
          <p:nvPr>
            <p:ph idx="13"/>
          </p:nvPr>
        </p:nvSpPr>
        <p:spPr/>
        <p:txBody>
          <a:bodyPr>
            <a:noAutofit/>
          </a:bodyPr>
          <a:lstStyle/>
          <a:p>
            <a:pPr marL="0" indent="0">
              <a:buNone/>
            </a:pPr>
            <a:r>
              <a:rPr lang="en-US" sz="2400" b="1" dirty="0"/>
              <a:t>Strengths:</a:t>
            </a:r>
            <a:endParaRPr lang="en-US" sz="2400" dirty="0"/>
          </a:p>
          <a:p>
            <a:pPr marL="0" indent="0">
              <a:buNone/>
            </a:pPr>
            <a:r>
              <a:rPr lang="en-US" sz="2400" b="1" dirty="0"/>
              <a:t>Weaknesses:</a:t>
            </a:r>
            <a:endParaRPr lang="en-US" sz="2400" b="1" dirty="0"/>
          </a:p>
          <a:p>
            <a:pPr marL="0" indent="0">
              <a:buNone/>
            </a:pPr>
            <a:r>
              <a:rPr lang="en-US" altLang="zh-CN" dirty="0">
                <a:solidFill>
                  <a:schemeClr val="tx1"/>
                </a:solidFill>
              </a:rPr>
              <a:t>Some projects lack CAR analysis on their positive results</a:t>
            </a:r>
            <a:endParaRPr lang="en-US" sz="2400" b="1" dirty="0"/>
          </a:p>
          <a:p>
            <a:pPr marL="0" indent="0">
              <a:buNone/>
            </a:pPr>
            <a:r>
              <a:rPr lang="zh-CN" altLang="en-US" sz="1400" b="0" u="none">
                <a:solidFill>
                  <a:srgbClr val="4472C4"/>
                </a:solidFill>
                <a:latin typeface="微软雅黑" charset="0"/>
                <a:ea typeface="微软雅黑" charset="0"/>
                <a:cs typeface="+mn-cs" charset="0"/>
              </a:rPr>
              <a:t>部分项目缺少</a:t>
            </a:r>
            <a:r>
              <a:rPr lang="zh-CN" sz="1400" b="0" u="none">
                <a:solidFill>
                  <a:srgbClr val="4472C4"/>
                </a:solidFill>
                <a:latin typeface="微软雅黑" charset="0"/>
                <a:ea typeface="微软雅黑" charset="0"/>
                <a:cs typeface="+mn-cs" charset="0"/>
              </a:rPr>
              <a:t>对</a:t>
            </a:r>
            <a:r>
              <a:rPr lang="zh-CN" altLang="en-US" sz="1400" b="0" u="none">
                <a:solidFill>
                  <a:srgbClr val="4472C4"/>
                </a:solidFill>
                <a:latin typeface="微软雅黑" charset="0"/>
                <a:ea typeface="微软雅黑" charset="0"/>
                <a:cs typeface="+mn-cs" charset="0"/>
              </a:rPr>
              <a:t>其</a:t>
            </a:r>
            <a:r>
              <a:rPr lang="zh-CN" sz="1400" b="0" u="none">
                <a:solidFill>
                  <a:srgbClr val="4472C4"/>
                </a:solidFill>
                <a:latin typeface="微软雅黑" charset="0"/>
                <a:ea typeface="微软雅黑" charset="0"/>
                <a:cs typeface="+mn-cs" charset="0"/>
              </a:rPr>
              <a:t>好的结果方面进行CAR</a:t>
            </a:r>
            <a:r>
              <a:rPr lang="zh-CN" altLang="en-US" sz="1400" b="0" u="none">
                <a:solidFill>
                  <a:srgbClr val="4472C4"/>
                </a:solidFill>
                <a:latin typeface="微软雅黑" charset="0"/>
                <a:ea typeface="微软雅黑" charset="0"/>
                <a:cs typeface="+mn-cs" charset="0"/>
              </a:rPr>
              <a:t>分析</a:t>
            </a:r>
            <a:endParaRPr lang="en-US" sz="2400" dirty="0"/>
          </a:p>
          <a:p>
            <a:pPr marL="0" indent="0">
              <a:buNone/>
            </a:pPr>
            <a:r>
              <a:rPr lang="en-US" altLang="zh-CN" sz="2400" dirty="0"/>
              <a:t>Notes</a:t>
            </a:r>
            <a:r>
              <a:rPr lang="zh-CN" altLang="en-US" sz="2400" dirty="0"/>
              <a:t>：</a:t>
            </a:r>
            <a:endParaRPr lang="zh-CN" altLang="en-US" sz="2400" dirty="0"/>
          </a:p>
          <a:p>
            <a:pPr marL="0" indent="0">
              <a:buNone/>
            </a:pPr>
            <a:r>
              <a:rPr lang="en-US" altLang="zh-CN" dirty="0">
                <a:solidFill>
                  <a:schemeClr val="tx1"/>
                </a:solidFill>
              </a:rPr>
              <a:t>Suggest strengthening the tracking and implementation of 8D reports</a:t>
            </a:r>
            <a:endParaRPr lang="en-US" sz="1400" dirty="0"/>
          </a:p>
          <a:p>
            <a:pPr marL="0" indent="0">
              <a:buNone/>
            </a:pPr>
            <a:r>
              <a:rPr lang="zh-CN" altLang="en-US" sz="1400" b="0" u="none">
                <a:latin typeface="等线" charset="0"/>
                <a:ea typeface="等线" charset="0"/>
                <a:cs typeface="等线" charset="0"/>
              </a:rPr>
              <a:t>建议加强</a:t>
            </a:r>
            <a:r>
              <a:rPr sz="1400" b="0" u="none">
                <a:latin typeface="等线" charset="0"/>
                <a:ea typeface="等线" charset="0"/>
                <a:cs typeface="等线" charset="0"/>
              </a:rPr>
              <a:t>8D报告</a:t>
            </a:r>
            <a:r>
              <a:rPr lang="zh-CN" altLang="en-US" sz="1400" b="0" u="none">
                <a:latin typeface="等线" charset="0"/>
                <a:ea typeface="等线" charset="0"/>
                <a:cs typeface="等线" charset="0"/>
              </a:rPr>
              <a:t>的跟踪落地</a:t>
            </a:r>
            <a:endParaRPr sz="1400" b="0" u="none">
              <a:latin typeface="等线" charset="0"/>
              <a:ea typeface="等线" charset="0"/>
              <a:cs typeface="等线" charset="0"/>
            </a:endParaRPr>
          </a:p>
          <a:p>
            <a:pPr marL="0" indent="0">
              <a:buNone/>
            </a:pPr>
            <a:endParaRPr lang="en-US" sz="1400" dirty="0"/>
          </a:p>
          <a:p>
            <a:pPr marL="0" indent="0">
              <a:buNone/>
            </a:pPr>
            <a:endParaRPr lang="en-US" sz="2400" b="0" u="none" dirty="0"/>
          </a:p>
        </p:txBody>
      </p:sp>
      <p:pic>
        <p:nvPicPr>
          <p:cNvPr id="5" name="Picture 4"/>
          <p:cNvPicPr>
            <a:picLocks noChangeAspect="1"/>
          </p:cNvPicPr>
          <p:nvPr/>
        </p:nvPicPr>
        <p:blipFill>
          <a:blip r:embed="rId1"/>
          <a:stretch>
            <a:fillRect/>
          </a:stretch>
        </p:blipFill>
        <p:spPr>
          <a:xfrm>
            <a:off x="470149" y="331667"/>
            <a:ext cx="828675" cy="10096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t>Configuration Management (CM)</a:t>
            </a:r>
            <a:endParaRPr lang="en-US" dirty="0"/>
          </a:p>
        </p:txBody>
      </p:sp>
      <p:sp>
        <p:nvSpPr>
          <p:cNvPr id="5" name="Content Placeholder 4"/>
          <p:cNvSpPr>
            <a:spLocks noGrp="1"/>
          </p:cNvSpPr>
          <p:nvPr>
            <p:ph idx="4294967295"/>
          </p:nvPr>
        </p:nvSpPr>
        <p:spPr>
          <a:xfrm>
            <a:off x="466344" y="1463040"/>
            <a:ext cx="11265408" cy="1572768"/>
          </a:xfrm>
        </p:spPr>
        <p:txBody>
          <a:bodyPr>
            <a:normAutofit/>
          </a:bodyPr>
          <a:lstStyle/>
          <a:p>
            <a:r>
              <a:rPr lang="en-US" sz="2200" b="1" dirty="0"/>
              <a:t>Intent: </a:t>
            </a:r>
            <a:r>
              <a:rPr lang="en-US" sz="2200" dirty="0"/>
              <a:t>Manages the integrity of work products using configuration identification, version control, change control, and audits.</a:t>
            </a:r>
            <a:endParaRPr lang="en-US" sz="2200" dirty="0"/>
          </a:p>
          <a:p>
            <a:r>
              <a:rPr lang="en-US" sz="2200" b="1" dirty="0"/>
              <a:t>Value:</a:t>
            </a:r>
            <a:r>
              <a:rPr lang="en-US" sz="2200" dirty="0"/>
              <a:t> Reduces loss of work and increases the ability to deliver the correct version of the solution to the customer.</a:t>
            </a:r>
            <a:endParaRPr lang="en-US" sz="2200" dirty="0"/>
          </a:p>
          <a:p>
            <a:endParaRPr lang="en-US" sz="2400" dirty="0"/>
          </a:p>
        </p:txBody>
      </p:sp>
      <p:sp>
        <p:nvSpPr>
          <p:cNvPr id="6" name="Content Placeholder 5"/>
          <p:cNvSpPr>
            <a:spLocks noGrp="1"/>
          </p:cNvSpPr>
          <p:nvPr>
            <p:ph idx="13"/>
          </p:nvPr>
        </p:nvSpPr>
        <p:spPr/>
        <p:txBody>
          <a:bodyPr>
            <a:noAutofit/>
          </a:bodyPr>
          <a:lstStyle/>
          <a:p>
            <a:pPr marL="0" indent="0">
              <a:buNone/>
            </a:pPr>
            <a:r>
              <a:rPr lang="en-US" sz="2400" b="1" dirty="0"/>
              <a:t>Strengths:</a:t>
            </a:r>
            <a:endParaRPr lang="en-US" sz="2400" dirty="0"/>
          </a:p>
          <a:p>
            <a:pPr marL="0" indent="0">
              <a:buNone/>
            </a:pPr>
            <a:r>
              <a:rPr lang="en-US" sz="2400" b="1" dirty="0"/>
              <a:t>Weaknesses:</a:t>
            </a:r>
            <a:endParaRPr lang="en-US" sz="2400" dirty="0"/>
          </a:p>
          <a:p>
            <a:pPr marL="0" indent="0">
              <a:buNone/>
            </a:pPr>
            <a:r>
              <a:rPr lang="en-US" altLang="zh-CN" dirty="0">
                <a:sym typeface="+mn-ea"/>
              </a:rPr>
              <a:t>Notes</a:t>
            </a:r>
            <a:r>
              <a:rPr lang="zh-CN" altLang="en-US" dirty="0">
                <a:sym typeface="+mn-ea"/>
              </a:rPr>
              <a:t>：</a:t>
            </a:r>
            <a:endParaRPr lang="zh-CN" altLang="en-US" dirty="0">
              <a:sym typeface="+mn-ea"/>
            </a:endParaRPr>
          </a:p>
          <a:p>
            <a:pPr marL="0" indent="0">
              <a:buNone/>
            </a:pPr>
            <a:r>
              <a:rPr lang="en-US" altLang="zh-CN" sz="1600" dirty="0">
                <a:solidFill>
                  <a:schemeClr val="tx1"/>
                </a:solidFill>
                <a:sym typeface="+mn-ea"/>
              </a:rPr>
              <a:t>With the expansion of project scale and the increase of system complexity, the end</a:t>
            </a:r>
            <a:r>
              <a:rPr lang="zh-CN" altLang="en-US" sz="1600" dirty="0">
                <a:solidFill>
                  <a:schemeClr val="tx1"/>
                </a:solidFill>
                <a:sym typeface="+mn-ea"/>
              </a:rPr>
              <a:t>-</a:t>
            </a:r>
            <a:r>
              <a:rPr lang="en-US" altLang="zh-CN" sz="1600" dirty="0">
                <a:solidFill>
                  <a:schemeClr val="tx1"/>
                </a:solidFill>
                <a:sym typeface="+mn-ea"/>
              </a:rPr>
              <a:t>to</a:t>
            </a:r>
            <a:r>
              <a:rPr lang="zh-CN" altLang="en-US" sz="1600" dirty="0">
                <a:solidFill>
                  <a:schemeClr val="tx1"/>
                </a:solidFill>
                <a:sym typeface="+mn-ea"/>
              </a:rPr>
              <a:t>-</a:t>
            </a:r>
            <a:r>
              <a:rPr lang="en-US" altLang="zh-CN" sz="1600" dirty="0">
                <a:solidFill>
                  <a:schemeClr val="tx1"/>
                </a:solidFill>
                <a:sym typeface="+mn-ea"/>
              </a:rPr>
              <a:t>end system of products has been further extended, and configuration management needs to make corresponding adjustments to adapt to this change when identifying and organizing.</a:t>
            </a:r>
            <a:endParaRPr lang="zh-CN" altLang="en-US" sz="1600" dirty="0">
              <a:sym typeface="+mn-ea"/>
            </a:endParaRPr>
          </a:p>
          <a:p>
            <a:pPr marL="0" indent="0">
              <a:buNone/>
            </a:pPr>
            <a:r>
              <a:rPr sz="1600" b="0" u="none"/>
              <a:t>随着项目规模的扩大和系统复杂度的提高,产品端到端的体系被进一步延伸,配置管理在识别和梳理时</a:t>
            </a:r>
            <a:r>
              <a:rPr lang="zh-CN" altLang="en-US" sz="1600" b="0" u="none"/>
              <a:t>需要进一步</a:t>
            </a:r>
            <a:r>
              <a:rPr sz="1600" b="0" u="none"/>
              <a:t>做出对应的调整来适应这一变化。</a:t>
            </a:r>
            <a:endParaRPr lang="en-US" sz="1600" b="0" u="none" dirty="0">
              <a:sym typeface="+mn-ea"/>
            </a:endParaRPr>
          </a:p>
        </p:txBody>
      </p:sp>
      <p:pic>
        <p:nvPicPr>
          <p:cNvPr id="7" name="Picture 6"/>
          <p:cNvPicPr>
            <a:picLocks noChangeAspect="1"/>
          </p:cNvPicPr>
          <p:nvPr/>
        </p:nvPicPr>
        <p:blipFill>
          <a:blip r:embed="rId1"/>
          <a:stretch>
            <a:fillRect/>
          </a:stretch>
        </p:blipFill>
        <p:spPr>
          <a:xfrm>
            <a:off x="466344" y="329184"/>
            <a:ext cx="828675" cy="10096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t>Decision Analysis and Resolution (DAR)</a:t>
            </a:r>
            <a:endParaRPr lang="en-US" dirty="0"/>
          </a:p>
        </p:txBody>
      </p:sp>
      <p:sp>
        <p:nvSpPr>
          <p:cNvPr id="5" name="Content Placeholder 4"/>
          <p:cNvSpPr>
            <a:spLocks noGrp="1"/>
          </p:cNvSpPr>
          <p:nvPr>
            <p:ph idx="4294967295"/>
          </p:nvPr>
        </p:nvSpPr>
        <p:spPr>
          <a:xfrm>
            <a:off x="466344" y="1463040"/>
            <a:ext cx="11265408" cy="1572768"/>
          </a:xfrm>
        </p:spPr>
        <p:txBody>
          <a:bodyPr>
            <a:normAutofit/>
          </a:bodyPr>
          <a:lstStyle/>
          <a:p>
            <a:r>
              <a:rPr lang="en-US" sz="2200" b="1" dirty="0"/>
              <a:t>Intent: </a:t>
            </a:r>
            <a:r>
              <a:rPr lang="en-US" sz="2200" dirty="0"/>
              <a:t>Makes and records decisions using a recorded process that analyzes alternatives.</a:t>
            </a:r>
            <a:endParaRPr lang="en-US" sz="2200" dirty="0"/>
          </a:p>
          <a:p>
            <a:r>
              <a:rPr lang="en-US" sz="2200" b="1" dirty="0"/>
              <a:t>Value:</a:t>
            </a:r>
            <a:r>
              <a:rPr lang="en-US" sz="2200" dirty="0"/>
              <a:t> Increases the objectivity of decision making and the probability of selecting the optimal solution.</a:t>
            </a:r>
            <a:endParaRPr lang="en-US" sz="2200" dirty="0"/>
          </a:p>
          <a:p>
            <a:endParaRPr lang="en-US" dirty="0"/>
          </a:p>
        </p:txBody>
      </p:sp>
      <p:sp>
        <p:nvSpPr>
          <p:cNvPr id="6" name="Content Placeholder 5"/>
          <p:cNvSpPr>
            <a:spLocks noGrp="1"/>
          </p:cNvSpPr>
          <p:nvPr>
            <p:ph idx="13"/>
          </p:nvPr>
        </p:nvSpPr>
        <p:spPr/>
        <p:txBody>
          <a:bodyPr>
            <a:noAutofit/>
          </a:bodyPr>
          <a:lstStyle/>
          <a:p>
            <a:pPr marL="0" indent="0">
              <a:buNone/>
            </a:pPr>
            <a:r>
              <a:rPr lang="en-US" sz="2400" b="1" dirty="0"/>
              <a:t>Strengths:</a:t>
            </a:r>
            <a:endParaRPr lang="en-US" sz="2400" dirty="0"/>
          </a:p>
          <a:p>
            <a:pPr marL="0" indent="0">
              <a:buNone/>
            </a:pPr>
            <a:endParaRPr lang="en-US" sz="2400" dirty="0"/>
          </a:p>
          <a:p>
            <a:pPr marL="0" indent="0">
              <a:buNone/>
            </a:pPr>
            <a:endParaRPr lang="en-US" sz="2400" dirty="0"/>
          </a:p>
          <a:p>
            <a:pPr marL="0" indent="0">
              <a:buNone/>
            </a:pPr>
            <a:r>
              <a:rPr lang="en-US" sz="2400" b="1" dirty="0"/>
              <a:t>Weaknesses:</a:t>
            </a:r>
            <a:endParaRPr lang="en-US" sz="2400" dirty="0"/>
          </a:p>
          <a:p>
            <a:pPr marL="0" indent="0">
              <a:buNone/>
            </a:pPr>
            <a:endParaRPr lang="en-US" sz="2400" dirty="0"/>
          </a:p>
        </p:txBody>
      </p:sp>
      <p:pic>
        <p:nvPicPr>
          <p:cNvPr id="7" name="Picture 6"/>
          <p:cNvPicPr>
            <a:picLocks noChangeAspect="1"/>
          </p:cNvPicPr>
          <p:nvPr/>
        </p:nvPicPr>
        <p:blipFill>
          <a:blip r:embed="rId1"/>
          <a:stretch>
            <a:fillRect/>
          </a:stretch>
        </p:blipFill>
        <p:spPr>
          <a:xfrm>
            <a:off x="466344" y="329184"/>
            <a:ext cx="828675" cy="10096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t>Estimating (EST)</a:t>
            </a:r>
            <a:endParaRPr lang="en-US" dirty="0"/>
          </a:p>
        </p:txBody>
      </p:sp>
      <p:sp>
        <p:nvSpPr>
          <p:cNvPr id="5" name="Content Placeholder 4"/>
          <p:cNvSpPr>
            <a:spLocks noGrp="1"/>
          </p:cNvSpPr>
          <p:nvPr>
            <p:ph idx="4294967295"/>
          </p:nvPr>
        </p:nvSpPr>
        <p:spPr>
          <a:xfrm>
            <a:off x="466344" y="1463040"/>
            <a:ext cx="11265408" cy="1572768"/>
          </a:xfrm>
        </p:spPr>
        <p:txBody>
          <a:bodyPr>
            <a:normAutofit fontScale="92500"/>
          </a:bodyPr>
          <a:lstStyle/>
          <a:p>
            <a:r>
              <a:rPr lang="en-US" sz="2400" b="1" dirty="0"/>
              <a:t>Intent: </a:t>
            </a:r>
            <a:r>
              <a:rPr lang="en-US" sz="2400" dirty="0"/>
              <a:t>Estimates the size, effort, duration, and cost of the work and resources needed to develop, acquire, or deliver the solution.</a:t>
            </a:r>
            <a:endParaRPr lang="en-US" sz="2400" dirty="0"/>
          </a:p>
          <a:p>
            <a:r>
              <a:rPr lang="en-US" sz="2400" b="1" dirty="0"/>
              <a:t>Value:</a:t>
            </a:r>
            <a:r>
              <a:rPr lang="en-US" sz="2400" dirty="0"/>
              <a:t> Provides a basis for making commitments, planning, and reducing uncertainty, which allows for early corrective actions and increases the likelihood of meeting objectives.</a:t>
            </a:r>
            <a:endParaRPr lang="en-US" sz="2400" dirty="0"/>
          </a:p>
          <a:p>
            <a:endParaRPr lang="en-US" sz="2200" dirty="0"/>
          </a:p>
        </p:txBody>
      </p:sp>
      <p:sp>
        <p:nvSpPr>
          <p:cNvPr id="6" name="Content Placeholder 5"/>
          <p:cNvSpPr>
            <a:spLocks noGrp="1"/>
          </p:cNvSpPr>
          <p:nvPr>
            <p:ph idx="13"/>
          </p:nvPr>
        </p:nvSpPr>
        <p:spPr/>
        <p:txBody>
          <a:bodyPr>
            <a:noAutofit/>
          </a:bodyPr>
          <a:lstStyle/>
          <a:p>
            <a:pPr marL="0" indent="0">
              <a:buNone/>
            </a:pPr>
            <a:r>
              <a:rPr lang="en-US" sz="2400" b="1" dirty="0"/>
              <a:t>Strengths:</a:t>
            </a:r>
            <a:endParaRPr lang="en-US" sz="2400" dirty="0"/>
          </a:p>
          <a:p>
            <a:pPr marL="0" indent="0">
              <a:buNone/>
            </a:pPr>
            <a:endParaRPr lang="en-US" sz="2400" dirty="0"/>
          </a:p>
          <a:p>
            <a:pPr marL="0" indent="0">
              <a:buNone/>
            </a:pPr>
            <a:endParaRPr lang="en-US" sz="2400" dirty="0"/>
          </a:p>
          <a:p>
            <a:pPr marL="0" indent="0">
              <a:buNone/>
            </a:pPr>
            <a:r>
              <a:rPr lang="en-US" sz="2400" b="1" dirty="0"/>
              <a:t>Weaknesses:</a:t>
            </a:r>
            <a:endParaRPr lang="en-US" sz="2400" dirty="0"/>
          </a:p>
          <a:p>
            <a:pPr marL="0" indent="0">
              <a:buNone/>
            </a:pPr>
            <a:endParaRPr lang="en-US" sz="2400" dirty="0"/>
          </a:p>
          <a:p>
            <a:pPr marL="0" indent="0">
              <a:buNone/>
            </a:pPr>
            <a:endParaRPr lang="en-US" sz="2400" dirty="0"/>
          </a:p>
        </p:txBody>
      </p:sp>
      <p:pic>
        <p:nvPicPr>
          <p:cNvPr id="7" name="Picture 6"/>
          <p:cNvPicPr>
            <a:picLocks noChangeAspect="1"/>
          </p:cNvPicPr>
          <p:nvPr/>
        </p:nvPicPr>
        <p:blipFill>
          <a:blip r:embed="rId1"/>
          <a:stretch>
            <a:fillRect/>
          </a:stretch>
        </p:blipFill>
        <p:spPr>
          <a:xfrm>
            <a:off x="310704" y="329184"/>
            <a:ext cx="1381125" cy="10287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t>Governance (GOV)</a:t>
            </a:r>
            <a:endParaRPr lang="en-US" dirty="0"/>
          </a:p>
        </p:txBody>
      </p:sp>
      <p:sp>
        <p:nvSpPr>
          <p:cNvPr id="5" name="Content Placeholder 4"/>
          <p:cNvSpPr>
            <a:spLocks noGrp="1"/>
          </p:cNvSpPr>
          <p:nvPr>
            <p:ph idx="4294967295"/>
          </p:nvPr>
        </p:nvSpPr>
        <p:spPr>
          <a:xfrm>
            <a:off x="466344" y="1463040"/>
            <a:ext cx="11265408" cy="1572768"/>
          </a:xfrm>
        </p:spPr>
        <p:txBody>
          <a:bodyPr>
            <a:noAutofit/>
          </a:bodyPr>
          <a:lstStyle/>
          <a:p>
            <a:r>
              <a:rPr lang="en-US" sz="2200" b="1" dirty="0"/>
              <a:t>Intent: </a:t>
            </a:r>
            <a:r>
              <a:rPr lang="en-US" sz="2200" dirty="0"/>
              <a:t>Provides guidance to senior management on their role in the sponsorship and governance of performance, processes, and related activities.</a:t>
            </a:r>
            <a:endParaRPr lang="en-US" sz="2200" dirty="0"/>
          </a:p>
          <a:p>
            <a:r>
              <a:rPr lang="en-US" sz="2200" b="1" dirty="0"/>
              <a:t>Value:</a:t>
            </a:r>
            <a:r>
              <a:rPr lang="en-US" sz="2200" dirty="0"/>
              <a:t> Minimizes the cost of process implementation, increases the likelihood of meeting objectives, and ensures that the implemented processes support and contribute to the success of the business.</a:t>
            </a:r>
            <a:endParaRPr lang="en-US" sz="2200" dirty="0"/>
          </a:p>
          <a:p>
            <a:endParaRPr lang="en-US" sz="2200" dirty="0"/>
          </a:p>
        </p:txBody>
      </p:sp>
      <p:sp>
        <p:nvSpPr>
          <p:cNvPr id="6" name="Content Placeholder 5"/>
          <p:cNvSpPr>
            <a:spLocks noGrp="1"/>
          </p:cNvSpPr>
          <p:nvPr>
            <p:ph idx="13"/>
          </p:nvPr>
        </p:nvSpPr>
        <p:spPr>
          <a:xfrm>
            <a:off x="466344" y="3133520"/>
            <a:ext cx="11265408" cy="3097485"/>
          </a:xfrm>
        </p:spPr>
        <p:txBody>
          <a:bodyPr>
            <a:normAutofit fontScale="50000"/>
          </a:bodyPr>
          <a:lstStyle/>
          <a:p>
            <a:pPr marL="0" indent="0"/>
            <a:r>
              <a:rPr lang="en-US" sz="2300" dirty="0"/>
              <a:t>Strengths:</a:t>
            </a:r>
            <a:endParaRPr lang="en-US" sz="2300" dirty="0"/>
          </a:p>
          <a:p>
            <a:pPr marL="0" indent="0"/>
            <a:r>
              <a:rPr lang="en-US" altLang="zh-CN" sz="2300" dirty="0">
                <a:solidFill>
                  <a:schemeClr val="tx1"/>
                </a:solidFill>
              </a:rPr>
              <a:t>High matching between strategic goals and market demand, detailed business decoding</a:t>
            </a:r>
            <a:endParaRPr lang="en-US" sz="2300" dirty="0"/>
          </a:p>
          <a:p>
            <a:pPr marL="0" indent="0"/>
            <a:r>
              <a:rPr lang="zh-CN" sz="2300" b="0" u="none">
                <a:latin typeface="等线" charset="0"/>
                <a:ea typeface="等线" charset="0"/>
                <a:cs typeface="等线" charset="0"/>
              </a:rPr>
              <a:t>战略目标与市场需求匹配度高，业务解码细致</a:t>
            </a:r>
            <a:endParaRPr lang="zh-CN" sz="2300" b="0" u="none">
              <a:latin typeface="等线" charset="0"/>
              <a:ea typeface="等线" charset="0"/>
              <a:cs typeface="等线" charset="0"/>
            </a:endParaRPr>
          </a:p>
          <a:p>
            <a:pPr marL="0" indent="0"/>
            <a:endParaRPr lang="zh-CN" sz="2300" b="0" u="none">
              <a:latin typeface="等线" charset="0"/>
              <a:ea typeface="等线" charset="0"/>
              <a:cs typeface="等线" charset="0"/>
            </a:endParaRPr>
          </a:p>
          <a:p>
            <a:pPr marL="0" indent="0"/>
            <a:r>
              <a:rPr lang="en-US" altLang="zh-CN" sz="2300" b="0" u="none">
                <a:latin typeface="Calibri" panose="020F0502020204030204" pitchFamily="34" charset="0"/>
                <a:ea typeface="Calibri" panose="020F0502020204030204" pitchFamily="34" charset="0"/>
                <a:cs typeface="Calibri" panose="020F0502020204030204" pitchFamily="34" charset="0"/>
              </a:rPr>
              <a:t>The strategic goals are highly matched with market demand, and the business decoding is meticulous. Empowered by the group, the company's senior management introduces new management concepts, and in combination with the company's current situation, leads the company's continuous improvement and transformation</a:t>
            </a:r>
            <a:endParaRPr lang="zh-CN" sz="2300" b="0" u="none">
              <a:latin typeface="Calibri" panose="020F0502020204030204" pitchFamily="34" charset="0"/>
              <a:ea typeface="Calibri" panose="020F0502020204030204" pitchFamily="34" charset="0"/>
              <a:cs typeface="Calibri" panose="020F0502020204030204" pitchFamily="34" charset="0"/>
            </a:endParaRPr>
          </a:p>
          <a:p>
            <a:pPr marL="0" indent="0"/>
            <a:r>
              <a:rPr lang="zh-CN" sz="2300" b="0" u="none">
                <a:latin typeface="等线" charset="0"/>
                <a:ea typeface="等线" charset="0"/>
                <a:cs typeface="等线" charset="0"/>
              </a:rPr>
              <a:t>通过集团赋能，</a:t>
            </a:r>
            <a:r>
              <a:rPr lang="zh-CN" altLang="en-US" sz="2300" b="0" u="none">
                <a:latin typeface="等线" charset="0"/>
                <a:ea typeface="等线" charset="0"/>
                <a:cs typeface="等线" charset="0"/>
              </a:rPr>
              <a:t>公司高层</a:t>
            </a:r>
            <a:r>
              <a:rPr lang="zh-CN" sz="2300" b="0" u="none">
                <a:latin typeface="等线" charset="0"/>
                <a:ea typeface="等线" charset="0"/>
                <a:cs typeface="等线" charset="0"/>
              </a:rPr>
              <a:t>引入新的管理理念，结合公司的现状，引领公司的持续改进和变革</a:t>
            </a:r>
            <a:endParaRPr lang="zh-CN" sz="2300" b="0" u="none">
              <a:latin typeface="等线" charset="0"/>
              <a:ea typeface="等线" charset="0"/>
              <a:cs typeface="等线" charset="0"/>
            </a:endParaRPr>
          </a:p>
          <a:p>
            <a:pPr marL="0" indent="0"/>
            <a:endParaRPr lang="en-US" sz="2300" dirty="0">
              <a:latin typeface="等线" charset="0"/>
              <a:ea typeface="等线" charset="0"/>
              <a:cs typeface="等线" charset="0"/>
            </a:endParaRPr>
          </a:p>
          <a:p>
            <a:pPr marL="0" indent="0"/>
            <a:endParaRPr lang="en-US" dirty="0"/>
          </a:p>
          <a:p>
            <a:pPr marL="0" indent="0"/>
            <a:r>
              <a:rPr lang="en-US" dirty="0"/>
              <a:t>Weaknesses:</a:t>
            </a:r>
            <a:endParaRPr lang="en-US" dirty="0"/>
          </a:p>
          <a:p>
            <a:pPr marL="0" indent="0"/>
            <a:endParaRPr lang="en-US" dirty="0"/>
          </a:p>
        </p:txBody>
      </p:sp>
      <p:pic>
        <p:nvPicPr>
          <p:cNvPr id="7" name="Content Placeholder 3"/>
          <p:cNvPicPr>
            <a:picLocks noChangeAspect="1"/>
          </p:cNvPicPr>
          <p:nvPr/>
        </p:nvPicPr>
        <p:blipFill>
          <a:blip r:embed="rId1" cstate="email"/>
          <a:stretch>
            <a:fillRect/>
          </a:stretch>
        </p:blipFill>
        <p:spPr>
          <a:xfrm>
            <a:off x="466344" y="228600"/>
            <a:ext cx="1207008" cy="120700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Implementation Infrastructure (II)</a:t>
            </a:r>
            <a:endParaRPr lang="en-US" dirty="0"/>
          </a:p>
        </p:txBody>
      </p:sp>
      <p:sp>
        <p:nvSpPr>
          <p:cNvPr id="6" name="Content Placeholder 5"/>
          <p:cNvSpPr>
            <a:spLocks noGrp="1"/>
          </p:cNvSpPr>
          <p:nvPr>
            <p:ph idx="4294967295"/>
          </p:nvPr>
        </p:nvSpPr>
        <p:spPr>
          <a:xfrm>
            <a:off x="466344" y="1463040"/>
            <a:ext cx="11265408" cy="1572768"/>
          </a:xfrm>
        </p:spPr>
        <p:txBody>
          <a:bodyPr>
            <a:normAutofit/>
          </a:bodyPr>
          <a:lstStyle/>
          <a:p>
            <a:r>
              <a:rPr lang="en-US" sz="2200" b="1" dirty="0"/>
              <a:t>Intent: </a:t>
            </a:r>
            <a:r>
              <a:rPr lang="en-US" sz="2200" dirty="0"/>
              <a:t>Ensures that the processes and assets important to an organization’s performance are persistently and habitually followed, used, and improved.</a:t>
            </a:r>
            <a:endParaRPr lang="en-US" sz="2200" dirty="0"/>
          </a:p>
          <a:p>
            <a:r>
              <a:rPr lang="en-US" sz="2200" b="1" dirty="0"/>
              <a:t>Value:</a:t>
            </a:r>
            <a:r>
              <a:rPr lang="en-US" sz="2200" dirty="0"/>
              <a:t> Sustains the ability to consistently achieve goals and objectives efficiently and effectively.</a:t>
            </a:r>
            <a:endParaRPr lang="en-US" sz="2200" dirty="0"/>
          </a:p>
          <a:p>
            <a:endParaRPr lang="en-US" dirty="0"/>
          </a:p>
        </p:txBody>
      </p:sp>
      <p:sp>
        <p:nvSpPr>
          <p:cNvPr id="7" name="Content Placeholder 6"/>
          <p:cNvSpPr>
            <a:spLocks noGrp="1"/>
          </p:cNvSpPr>
          <p:nvPr>
            <p:ph idx="13"/>
          </p:nvPr>
        </p:nvSpPr>
        <p:spPr/>
        <p:txBody>
          <a:bodyPr>
            <a:normAutofit/>
          </a:bodyPr>
          <a:lstStyle/>
          <a:p>
            <a:r>
              <a:rPr lang="en-US" dirty="0"/>
              <a:t>Strengths:</a:t>
            </a:r>
            <a:endParaRPr lang="en-US" dirty="0"/>
          </a:p>
          <a:p>
            <a:endParaRPr lang="en-US" dirty="0"/>
          </a:p>
          <a:p>
            <a:endParaRPr lang="en-US" dirty="0"/>
          </a:p>
          <a:p>
            <a:r>
              <a:rPr lang="en-US" dirty="0"/>
              <a:t>Weaknesses:</a:t>
            </a:r>
            <a:endParaRPr lang="en-US" dirty="0"/>
          </a:p>
          <a:p>
            <a:endParaRPr lang="en-US" dirty="0"/>
          </a:p>
        </p:txBody>
      </p:sp>
      <p:pic>
        <p:nvPicPr>
          <p:cNvPr id="8" name="Picture 7"/>
          <p:cNvPicPr>
            <a:picLocks noChangeAspect="1"/>
          </p:cNvPicPr>
          <p:nvPr/>
        </p:nvPicPr>
        <p:blipFill>
          <a:blip r:embed="rId1" cstate="email"/>
          <a:stretch>
            <a:fillRect/>
          </a:stretch>
        </p:blipFill>
        <p:spPr>
          <a:xfrm>
            <a:off x="466344" y="228600"/>
            <a:ext cx="1215390" cy="120700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a:t>Managing Performance and Measurement (MPM)</a:t>
            </a:r>
            <a:endParaRPr lang="en-US" dirty="0"/>
          </a:p>
        </p:txBody>
      </p:sp>
      <p:sp>
        <p:nvSpPr>
          <p:cNvPr id="8" name="Content Placeholder 7"/>
          <p:cNvSpPr>
            <a:spLocks noGrp="1"/>
          </p:cNvSpPr>
          <p:nvPr>
            <p:ph idx="4294967295"/>
          </p:nvPr>
        </p:nvSpPr>
        <p:spPr>
          <a:xfrm>
            <a:off x="466344" y="1463040"/>
            <a:ext cx="11265408" cy="1572768"/>
          </a:xfrm>
        </p:spPr>
        <p:txBody>
          <a:bodyPr>
            <a:normAutofit/>
          </a:bodyPr>
          <a:lstStyle/>
          <a:p>
            <a:r>
              <a:rPr lang="en-US" sz="2200" b="1" dirty="0"/>
              <a:t>Intent: </a:t>
            </a:r>
            <a:r>
              <a:rPr lang="en-US" sz="2200" dirty="0"/>
              <a:t>Manages performance using measurement and analysis to achieve business objectives.</a:t>
            </a:r>
            <a:endParaRPr lang="en-US" sz="2200" dirty="0"/>
          </a:p>
          <a:p>
            <a:r>
              <a:rPr lang="en-US" sz="2200" b="1" dirty="0"/>
              <a:t>Value:</a:t>
            </a:r>
            <a:r>
              <a:rPr lang="en-US" sz="2200" dirty="0"/>
              <a:t> Maximizes business return on investment by focusing management and improvement efforts on cost, schedule, and quality performance.</a:t>
            </a:r>
            <a:endParaRPr lang="en-US" sz="2200" dirty="0"/>
          </a:p>
          <a:p>
            <a:endParaRPr lang="en-US" dirty="0"/>
          </a:p>
        </p:txBody>
      </p:sp>
      <p:sp>
        <p:nvSpPr>
          <p:cNvPr id="9" name="Content Placeholder 8"/>
          <p:cNvSpPr>
            <a:spLocks noGrp="1"/>
          </p:cNvSpPr>
          <p:nvPr>
            <p:ph idx="13"/>
          </p:nvPr>
        </p:nvSpPr>
        <p:spPr/>
        <p:txBody>
          <a:bodyPr>
            <a:normAutofit fontScale="90000"/>
          </a:bodyPr>
          <a:lstStyle/>
          <a:p>
            <a:pPr marL="0" indent="0"/>
            <a:r>
              <a:rPr lang="en-US" dirty="0"/>
              <a:t>Strengths:</a:t>
            </a:r>
            <a:endParaRPr lang="en-US" dirty="0"/>
          </a:p>
          <a:p>
            <a:pPr marL="0" indent="0"/>
            <a:r>
              <a:rPr lang="en-US" dirty="0"/>
              <a:t>Weaknesses:</a:t>
            </a:r>
            <a:endParaRPr lang="en-US" dirty="0"/>
          </a:p>
          <a:p>
            <a:pPr marL="0" indent="0"/>
            <a:r>
              <a:rPr lang="en-US" altLang="zh-CN" dirty="0"/>
              <a:t>Notes</a:t>
            </a:r>
            <a:r>
              <a:rPr lang="zh-CN" altLang="en-US" dirty="0"/>
              <a:t>：</a:t>
            </a:r>
            <a:endParaRPr lang="zh-CN" altLang="en-US" dirty="0"/>
          </a:p>
          <a:p>
            <a:pPr marL="0" indent="0"/>
            <a:r>
              <a:rPr lang="en-US" altLang="zh-CN" dirty="0">
                <a:solidFill>
                  <a:schemeClr val="tx1"/>
                </a:solidFill>
              </a:rPr>
              <a:t>Suggest adding measurement items related to the humanistic scene library, accumulating and enriching value indicators and data (such as user activity rate and trend chart of heart health improvement)</a:t>
            </a:r>
            <a:endParaRPr lang="zh-CN" altLang="en-US" dirty="0"/>
          </a:p>
          <a:p>
            <a:pPr marL="0" indent="0"/>
            <a:r>
              <a:rPr b="0" u="none"/>
              <a:t>建议增加</a:t>
            </a:r>
            <a:r>
              <a:rPr lang="zh-CN" altLang="en-US" b="0" u="none"/>
              <a:t>人文场景库相关</a:t>
            </a:r>
            <a:r>
              <a:rPr b="0" u="none"/>
              <a:t>的度量</a:t>
            </a:r>
            <a:r>
              <a:rPr lang="zh-CN" altLang="en-US" b="0" u="none"/>
              <a:t>项</a:t>
            </a:r>
            <a:r>
              <a:rPr b="0" u="none"/>
              <a:t>，</a:t>
            </a:r>
            <a:r>
              <a:rPr lang="zh-CN" altLang="en-US" b="0" u="none"/>
              <a:t>积累和丰富价值指标和数据（如用户活跃率、心脏健康度提升趋势图）</a:t>
            </a:r>
            <a:endParaRPr lang="en-US" dirty="0"/>
          </a:p>
          <a:p>
            <a:pPr marL="0" indent="0"/>
            <a:endParaRPr lang="en-US" dirty="0"/>
          </a:p>
          <a:p>
            <a:pPr marL="0" indent="0"/>
            <a:endParaRPr lang="en-US" b="0" u="none" dirty="0"/>
          </a:p>
        </p:txBody>
      </p:sp>
      <p:pic>
        <p:nvPicPr>
          <p:cNvPr id="10" name="Picture 9"/>
          <p:cNvPicPr>
            <a:picLocks noChangeAspect="1"/>
          </p:cNvPicPr>
          <p:nvPr/>
        </p:nvPicPr>
        <p:blipFill>
          <a:blip r:embed="rId1"/>
          <a:stretch>
            <a:fillRect/>
          </a:stretch>
        </p:blipFill>
        <p:spPr>
          <a:xfrm>
            <a:off x="310704" y="310896"/>
            <a:ext cx="1352550" cy="10287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t>Monitor and Control (MC)</a:t>
            </a:r>
            <a:endParaRPr lang="en-US" dirty="0"/>
          </a:p>
        </p:txBody>
      </p:sp>
      <p:sp>
        <p:nvSpPr>
          <p:cNvPr id="5" name="Content Placeholder 4"/>
          <p:cNvSpPr>
            <a:spLocks noGrp="1"/>
          </p:cNvSpPr>
          <p:nvPr>
            <p:ph idx="4294967295"/>
          </p:nvPr>
        </p:nvSpPr>
        <p:spPr>
          <a:xfrm>
            <a:off x="466344" y="1463040"/>
            <a:ext cx="11265408" cy="1572768"/>
          </a:xfrm>
        </p:spPr>
        <p:txBody>
          <a:bodyPr>
            <a:normAutofit/>
          </a:bodyPr>
          <a:lstStyle/>
          <a:p>
            <a:r>
              <a:rPr lang="en-US" sz="2200" b="1" dirty="0"/>
              <a:t>Intent: </a:t>
            </a:r>
            <a:r>
              <a:rPr lang="en-US" sz="2200" dirty="0"/>
              <a:t>Provides an understanding of the project progress so appropriate corrective actions can be taken when performance deviates significantly from plans.</a:t>
            </a:r>
            <a:endParaRPr lang="en-US" sz="2200" dirty="0"/>
          </a:p>
          <a:p>
            <a:r>
              <a:rPr lang="en-US" sz="2200" b="1" dirty="0"/>
              <a:t>Value:</a:t>
            </a:r>
            <a:r>
              <a:rPr lang="en-US" sz="2200" dirty="0"/>
              <a:t> Increases the probability of meeting objectives by taking early actions to adjust for significant performance deviations.</a:t>
            </a:r>
            <a:endParaRPr lang="en-US" sz="2200" dirty="0"/>
          </a:p>
        </p:txBody>
      </p:sp>
      <p:sp>
        <p:nvSpPr>
          <p:cNvPr id="6" name="Content Placeholder 5"/>
          <p:cNvSpPr>
            <a:spLocks noGrp="1"/>
          </p:cNvSpPr>
          <p:nvPr>
            <p:ph idx="13"/>
          </p:nvPr>
        </p:nvSpPr>
        <p:spPr/>
        <p:txBody>
          <a:bodyPr>
            <a:normAutofit fontScale="60000"/>
          </a:bodyPr>
          <a:lstStyle/>
          <a:p>
            <a:pPr marL="0" indent="0"/>
            <a:r>
              <a:rPr lang="en-US" dirty="0"/>
              <a:t>Strengths:</a:t>
            </a:r>
            <a:endParaRPr lang="en-US" dirty="0"/>
          </a:p>
          <a:p>
            <a:pPr marL="0" indent="0"/>
            <a:r>
              <a:rPr lang="en-US" altLang="zh-CN" dirty="0">
                <a:solidFill>
                  <a:schemeClr val="tx1"/>
                </a:solidFill>
              </a:rPr>
              <a:t>Senior management monitors and guides key milestones of key projects through weekly meetings.</a:t>
            </a:r>
            <a:endParaRPr lang="en-US" dirty="0"/>
          </a:p>
          <a:p>
            <a:pPr marL="0" indent="0"/>
            <a:r>
              <a:rPr lang="zh-CN" sz="2200" b="0" u="none">
                <a:solidFill>
                  <a:srgbClr val="000000"/>
                </a:solidFill>
                <a:ea typeface="LarkHackSafariFont" charset="0"/>
              </a:rPr>
              <a:t>高层通过周例会对重点项目的关键节点进行监控和指导。</a:t>
            </a:r>
            <a:endParaRPr lang="zh-CN" sz="2200" b="0" u="none">
              <a:solidFill>
                <a:srgbClr val="000000"/>
              </a:solidFill>
              <a:ea typeface="LarkHackSafariFont" charset="0"/>
            </a:endParaRPr>
          </a:p>
          <a:p>
            <a:pPr marL="0" indent="0"/>
            <a:r>
              <a:rPr lang="en-US" altLang="zh-CN" sz="2200" b="0">
                <a:solidFill>
                  <a:srgbClr val="000000"/>
                </a:solidFill>
                <a:ea typeface="LarkHackSafariFont" charset="0"/>
              </a:rPr>
              <a:t>Through project management tools, project progress can be directly monitored. If there are delays, timely reminders can be provided, and data statistics tools can reflect project progress.</a:t>
            </a:r>
            <a:endParaRPr lang="zh-CN" sz="2200" b="0" u="none">
              <a:solidFill>
                <a:srgbClr val="000000"/>
              </a:solidFill>
              <a:ea typeface="LarkHackSafariFont" charset="0"/>
            </a:endParaRPr>
          </a:p>
          <a:p>
            <a:pPr marL="0" indent="0"/>
            <a:r>
              <a:rPr lang="zh-CN" sz="2200" b="0" u="none">
                <a:solidFill>
                  <a:srgbClr val="000000"/>
                </a:solidFill>
                <a:ea typeface="LarkHackSafariFont" charset="0"/>
              </a:rPr>
              <a:t>通过项目管理工具，可以直接对项目进度进行监控，如果出现延期，可以及时提醒</a:t>
            </a:r>
            <a:r>
              <a:rPr lang="zh-CN" altLang="en-US" sz="2200" b="0" u="none">
                <a:solidFill>
                  <a:srgbClr val="000000"/>
                </a:solidFill>
                <a:ea typeface="LarkHackSafariFont" charset="0"/>
              </a:rPr>
              <a:t>，</a:t>
            </a:r>
            <a:r>
              <a:rPr lang="zh-CN" sz="2200" b="0" u="none">
                <a:solidFill>
                  <a:srgbClr val="000000"/>
                </a:solidFill>
                <a:ea typeface="LarkHackSafariFont" charset="0"/>
              </a:rPr>
              <a:t>用数据统计工具可以反应项目进展。</a:t>
            </a:r>
            <a:endParaRPr lang="zh-CN" sz="2200" b="0" u="none">
              <a:solidFill>
                <a:srgbClr val="000000"/>
              </a:solidFill>
              <a:ea typeface="LarkHackSafariFont" charset="0"/>
            </a:endParaRPr>
          </a:p>
          <a:p>
            <a:pPr marL="0" indent="0"/>
            <a:r>
              <a:rPr lang="zh-CN" altLang="en-US" sz="2200" b="0">
                <a:solidFill>
                  <a:srgbClr val="000000"/>
                </a:solidFill>
                <a:ea typeface="LarkHackSafariFont" charset="0"/>
              </a:rPr>
              <a:t>通过 成立</a:t>
            </a:r>
            <a:r>
              <a:rPr lang="en-US" altLang="zh-CN" sz="2200" b="0">
                <a:solidFill>
                  <a:srgbClr val="000000"/>
                </a:solidFill>
                <a:ea typeface="LarkHackSafariFont" charset="0"/>
              </a:rPr>
              <a:t>PMO</a:t>
            </a:r>
            <a:r>
              <a:rPr lang="zh-CN" altLang="en-US" sz="2200" b="0">
                <a:solidFill>
                  <a:srgbClr val="000000"/>
                </a:solidFill>
                <a:ea typeface="LarkHackSafariFont" charset="0"/>
              </a:rPr>
              <a:t>，重构项目管理体系，提升了项目效率，降低延期率</a:t>
            </a:r>
            <a:endParaRPr lang="zh-CN" sz="2200" b="0" u="none">
              <a:solidFill>
                <a:srgbClr val="000000"/>
              </a:solidFill>
              <a:ea typeface="LarkHackSafariFont" charset="0"/>
            </a:endParaRPr>
          </a:p>
          <a:p>
            <a:pPr marL="0" indent="0"/>
            <a:endParaRPr lang="en-US" dirty="0"/>
          </a:p>
          <a:p>
            <a:pPr marL="0" indent="0"/>
            <a:endParaRPr lang="en-US" dirty="0"/>
          </a:p>
          <a:p>
            <a:pPr marL="0" indent="0"/>
            <a:r>
              <a:rPr lang="en-US" dirty="0"/>
              <a:t>Weaknesses:</a:t>
            </a:r>
            <a:endParaRPr lang="en-US" dirty="0"/>
          </a:p>
          <a:p>
            <a:pPr marL="0" indent="0"/>
            <a:endParaRPr lang="en-US" dirty="0"/>
          </a:p>
        </p:txBody>
      </p:sp>
      <p:pic>
        <p:nvPicPr>
          <p:cNvPr id="7" name="Picture 6"/>
          <p:cNvPicPr>
            <a:picLocks noChangeAspect="1"/>
          </p:cNvPicPr>
          <p:nvPr/>
        </p:nvPicPr>
        <p:blipFill>
          <a:blip r:embed="rId1"/>
          <a:stretch>
            <a:fillRect/>
          </a:stretch>
        </p:blipFill>
        <p:spPr>
          <a:xfrm>
            <a:off x="310896" y="329184"/>
            <a:ext cx="1381125" cy="10287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t>Organizational Training (OT)</a:t>
            </a:r>
            <a:endParaRPr lang="en-US" dirty="0"/>
          </a:p>
        </p:txBody>
      </p:sp>
      <p:sp>
        <p:nvSpPr>
          <p:cNvPr id="5" name="Content Placeholder 4"/>
          <p:cNvSpPr>
            <a:spLocks noGrp="1"/>
          </p:cNvSpPr>
          <p:nvPr>
            <p:ph idx="4294967295"/>
          </p:nvPr>
        </p:nvSpPr>
        <p:spPr>
          <a:xfrm>
            <a:off x="466344" y="1463040"/>
            <a:ext cx="11265408" cy="1572768"/>
          </a:xfrm>
        </p:spPr>
        <p:txBody>
          <a:bodyPr>
            <a:normAutofit/>
          </a:bodyPr>
          <a:lstStyle/>
          <a:p>
            <a:r>
              <a:rPr lang="en-US" sz="2200" b="1" dirty="0"/>
              <a:t>Intent: </a:t>
            </a:r>
            <a:r>
              <a:rPr lang="en-US" sz="2200" dirty="0"/>
              <a:t>Develops the skills and knowledge of personnel so they perform their roles efficiently and effectively.</a:t>
            </a:r>
            <a:endParaRPr lang="en-US" sz="2200" dirty="0"/>
          </a:p>
          <a:p>
            <a:r>
              <a:rPr lang="en-US" sz="2200" b="1" dirty="0"/>
              <a:t>Value:</a:t>
            </a:r>
            <a:r>
              <a:rPr lang="en-US" sz="2200" dirty="0"/>
              <a:t> Enhances individuals’ skills and knowledge to improve organizational work performance.</a:t>
            </a:r>
            <a:endParaRPr lang="en-US" sz="2200" dirty="0"/>
          </a:p>
        </p:txBody>
      </p:sp>
      <p:sp>
        <p:nvSpPr>
          <p:cNvPr id="6" name="Content Placeholder 5"/>
          <p:cNvSpPr>
            <a:spLocks noGrp="1"/>
          </p:cNvSpPr>
          <p:nvPr>
            <p:ph idx="13"/>
          </p:nvPr>
        </p:nvSpPr>
        <p:spPr/>
        <p:txBody>
          <a:bodyPr>
            <a:normAutofit fontScale="55000"/>
          </a:bodyPr>
          <a:lstStyle/>
          <a:p>
            <a:pPr marL="0" indent="0"/>
            <a:r>
              <a:rPr lang="en-US" dirty="0"/>
              <a:t>Strengths:</a:t>
            </a:r>
            <a:endParaRPr lang="en-US" dirty="0"/>
          </a:p>
          <a:p>
            <a:pPr marL="0" indent="0"/>
            <a:r>
              <a:rPr lang="en-US" altLang="zh-CN" sz="2200" b="0">
                <a:solidFill>
                  <a:srgbClr val="000000"/>
                </a:solidFill>
                <a:ea typeface="LarkHackSafariFont" charset="0"/>
              </a:rPr>
              <a:t>According to the company's strategic planning and job responsibilities, provide corresponding training, sharing, and learning channels.</a:t>
            </a:r>
            <a:endParaRPr lang="zh-CN" sz="2200" b="0" u="none">
              <a:solidFill>
                <a:srgbClr val="000000"/>
              </a:solidFill>
              <a:ea typeface="LarkHackSafariFont" charset="0"/>
            </a:endParaRPr>
          </a:p>
          <a:p>
            <a:pPr marL="0" indent="0"/>
            <a:r>
              <a:rPr lang="zh-CN" sz="2200" b="0" u="none">
                <a:solidFill>
                  <a:srgbClr val="000000"/>
                </a:solidFill>
                <a:ea typeface="LarkHackSafariFont" charset="0"/>
              </a:rPr>
              <a:t>根据公司战略规划/各岗位职责，提供相对应的培训、分享</a:t>
            </a:r>
            <a:r>
              <a:rPr lang="zh-CN" altLang="en-US" sz="2200" b="0" u="none">
                <a:solidFill>
                  <a:srgbClr val="000000"/>
                </a:solidFill>
                <a:ea typeface="LarkHackSafariFont" charset="0"/>
              </a:rPr>
              <a:t>和</a:t>
            </a:r>
            <a:r>
              <a:rPr lang="zh-CN" sz="2200" b="0" u="none">
                <a:solidFill>
                  <a:srgbClr val="000000"/>
                </a:solidFill>
                <a:ea typeface="LarkHackSafariFont" charset="0"/>
              </a:rPr>
              <a:t>学习渠道</a:t>
            </a:r>
            <a:r>
              <a:rPr lang="zh-CN" altLang="en-US" sz="2200" b="0" u="none">
                <a:solidFill>
                  <a:srgbClr val="000000"/>
                </a:solidFill>
                <a:ea typeface="LarkHackSafariFont" charset="0"/>
              </a:rPr>
              <a:t>。</a:t>
            </a:r>
            <a:endParaRPr lang="zh-CN" altLang="en-US" sz="2200" b="0" u="none">
              <a:solidFill>
                <a:srgbClr val="000000"/>
              </a:solidFill>
              <a:ea typeface="LarkHackSafariFont" charset="0"/>
            </a:endParaRPr>
          </a:p>
          <a:p>
            <a:pPr marL="0" indent="0"/>
            <a:r>
              <a:rPr lang="en-US" altLang="zh-CN" sz="2200" b="0">
                <a:solidFill>
                  <a:srgbClr val="000000"/>
                </a:solidFill>
                <a:ea typeface="LarkHackSafariFont" charset="0"/>
                <a:sym typeface="+mn-ea"/>
              </a:rPr>
              <a:t>Continuously update the company's knowledge base in all aspects and create a self</a:t>
            </a:r>
            <a:r>
              <a:rPr lang="zh-CN" altLang="en-US" sz="2200" b="0">
                <a:solidFill>
                  <a:srgbClr val="000000"/>
                </a:solidFill>
                <a:ea typeface="LarkHackSafariFont" charset="0"/>
                <a:sym typeface="+mn-ea"/>
              </a:rPr>
              <a:t>-</a:t>
            </a:r>
            <a:r>
              <a:rPr lang="en-US" altLang="zh-CN" sz="2200" b="0">
                <a:solidFill>
                  <a:srgbClr val="000000"/>
                </a:solidFill>
                <a:ea typeface="LarkHackSafariFont" charset="0"/>
                <a:sym typeface="+mn-ea"/>
              </a:rPr>
              <a:t>learning platform to enhance operational capabilities and efficiency.</a:t>
            </a:r>
            <a:endParaRPr lang="zh-CN" altLang="en-US" sz="2200" b="0" u="none">
              <a:solidFill>
                <a:srgbClr val="000000"/>
              </a:solidFill>
              <a:ea typeface="LarkHackSafariFont" charset="0"/>
            </a:endParaRPr>
          </a:p>
          <a:p>
            <a:pPr marL="0" indent="0"/>
            <a:r>
              <a:rPr lang="zh-CN" altLang="en-US" sz="2200" b="0" u="none">
                <a:solidFill>
                  <a:srgbClr val="000000"/>
                </a:solidFill>
                <a:ea typeface="LarkHackSafariFont" charset="0"/>
              </a:rPr>
              <a:t>持续更新公司各方面</a:t>
            </a:r>
            <a:r>
              <a:rPr lang="zh-CN" sz="2200" b="0" u="none">
                <a:solidFill>
                  <a:srgbClr val="000000"/>
                </a:solidFill>
                <a:ea typeface="LarkHackSafariFont" charset="0"/>
              </a:rPr>
              <a:t>的知识库</a:t>
            </a:r>
            <a:r>
              <a:rPr lang="zh-CN" altLang="en-US" sz="2200" b="0" u="none">
                <a:solidFill>
                  <a:srgbClr val="000000"/>
                </a:solidFill>
                <a:ea typeface="LarkHackSafariFont" charset="0"/>
              </a:rPr>
              <a:t>，打造自主学习平台，提升运营能力和效率。</a:t>
            </a:r>
            <a:endParaRPr lang="en-US" dirty="0"/>
          </a:p>
          <a:p>
            <a:pPr marL="0" indent="0"/>
            <a:r>
              <a:rPr lang="en-US" dirty="0"/>
              <a:t>Weaknesses:</a:t>
            </a:r>
            <a:endParaRPr lang="en-US" dirty="0"/>
          </a:p>
          <a:p>
            <a:pPr marL="0" indent="0"/>
            <a:r>
              <a:rPr lang="en-US" altLang="zh-CN" dirty="0">
                <a:solidFill>
                  <a:schemeClr val="tx1"/>
                </a:solidFill>
              </a:rPr>
              <a:t>Notes</a:t>
            </a:r>
            <a:r>
              <a:rPr lang="zh-CN" altLang="en-US" dirty="0">
                <a:solidFill>
                  <a:schemeClr val="tx1"/>
                </a:solidFill>
              </a:rPr>
              <a:t>：</a:t>
            </a:r>
            <a:endParaRPr lang="zh-CN" altLang="en-US" dirty="0">
              <a:solidFill>
                <a:schemeClr val="tx1"/>
              </a:solidFill>
            </a:endParaRPr>
          </a:p>
          <a:p>
            <a:pPr marL="0" indent="0"/>
            <a:r>
              <a:rPr lang="en-US" altLang="zh-CN" dirty="0">
                <a:solidFill>
                  <a:schemeClr val="tx1"/>
                </a:solidFill>
              </a:rPr>
              <a:t>Suggest establishing a product certification examination system for all employees to improve their product awareness</a:t>
            </a:r>
            <a:endParaRPr lang="zh-CN" altLang="en-US" dirty="0">
              <a:solidFill>
                <a:schemeClr val="tx1"/>
              </a:solidFill>
            </a:endParaRPr>
          </a:p>
          <a:p>
            <a:pPr marL="0" indent="0"/>
            <a:r>
              <a:rPr lang="zh-CN" sz="4900" b="0" u="none">
                <a:solidFill>
                  <a:srgbClr val="000000"/>
                </a:solidFill>
                <a:ea typeface="LarkHackSafariFont" charset="0"/>
              </a:rPr>
              <a:t>建议建立全员产品认证考试制度</a:t>
            </a:r>
            <a:r>
              <a:rPr lang="zh-CN" altLang="en-US" sz="4900" b="0" u="none">
                <a:solidFill>
                  <a:srgbClr val="000000"/>
                </a:solidFill>
                <a:ea typeface="LarkHackSafariFont" charset="0"/>
              </a:rPr>
              <a:t>，提高全员产品认知度</a:t>
            </a:r>
            <a:endParaRPr lang="zh-CN" sz="4900" b="0" u="none" dirty="0">
              <a:solidFill>
                <a:srgbClr val="000000"/>
              </a:solidFill>
              <a:ea typeface="LarkHackSafariFont" charset="0"/>
            </a:endParaRPr>
          </a:p>
        </p:txBody>
      </p:sp>
      <p:pic>
        <p:nvPicPr>
          <p:cNvPr id="7" name="Picture 6"/>
          <p:cNvPicPr>
            <a:picLocks noChangeAspect="1"/>
          </p:cNvPicPr>
          <p:nvPr/>
        </p:nvPicPr>
        <p:blipFill>
          <a:blip r:embed="rId1"/>
          <a:srcRect/>
          <a:stretch>
            <a:fillRect/>
          </a:stretch>
        </p:blipFill>
        <p:spPr>
          <a:xfrm>
            <a:off x="452415" y="237744"/>
            <a:ext cx="1131996" cy="107632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t>Peer Reviews (PR)</a:t>
            </a:r>
            <a:endParaRPr lang="en-US" dirty="0"/>
          </a:p>
        </p:txBody>
      </p:sp>
      <p:sp>
        <p:nvSpPr>
          <p:cNvPr id="6" name="Content Placeholder 5"/>
          <p:cNvSpPr>
            <a:spLocks noGrp="1"/>
          </p:cNvSpPr>
          <p:nvPr>
            <p:ph idx="13"/>
          </p:nvPr>
        </p:nvSpPr>
        <p:spPr/>
        <p:txBody>
          <a:bodyPr>
            <a:normAutofit/>
          </a:bodyPr>
          <a:lstStyle/>
          <a:p>
            <a:r>
              <a:rPr lang="en-US" dirty="0"/>
              <a:t>Strengths:</a:t>
            </a:r>
            <a:endParaRPr lang="en-US" dirty="0"/>
          </a:p>
          <a:p>
            <a:endParaRPr lang="en-US" dirty="0"/>
          </a:p>
          <a:p>
            <a:endParaRPr lang="en-US" dirty="0"/>
          </a:p>
          <a:p>
            <a:r>
              <a:rPr lang="en-US" dirty="0"/>
              <a:t>Weaknesses:</a:t>
            </a:r>
            <a:endParaRPr lang="en-US" dirty="0"/>
          </a:p>
          <a:p>
            <a:endParaRPr lang="en-US" dirty="0"/>
          </a:p>
        </p:txBody>
      </p:sp>
      <p:pic>
        <p:nvPicPr>
          <p:cNvPr id="7" name="Picture 6"/>
          <p:cNvPicPr>
            <a:picLocks noChangeAspect="1"/>
          </p:cNvPicPr>
          <p:nvPr/>
        </p:nvPicPr>
        <p:blipFill>
          <a:blip r:embed="rId1"/>
          <a:stretch>
            <a:fillRect/>
          </a:stretch>
        </p:blipFill>
        <p:spPr>
          <a:xfrm>
            <a:off x="466344" y="320040"/>
            <a:ext cx="1181100" cy="1019175"/>
          </a:xfrm>
          <a:prstGeom prst="rect">
            <a:avLst/>
          </a:prstGeom>
        </p:spPr>
      </p:pic>
      <p:sp>
        <p:nvSpPr>
          <p:cNvPr id="8" name="TextBox 7"/>
          <p:cNvSpPr txBox="1"/>
          <p:nvPr/>
        </p:nvSpPr>
        <p:spPr>
          <a:xfrm>
            <a:off x="466344" y="1444752"/>
            <a:ext cx="11267175" cy="1107996"/>
          </a:xfrm>
          <a:prstGeom prst="rect">
            <a:avLst/>
          </a:prstGeom>
          <a:noFill/>
        </p:spPr>
        <p:txBody>
          <a:bodyPr wrap="square" rtlCol="0">
            <a:spAutoFit/>
          </a:bodyPr>
          <a:lstStyle/>
          <a:p>
            <a:pPr marL="342900" indent="-342900">
              <a:buFont typeface="Arial" panose="020B0604020202020204" pitchFamily="34" charset="0"/>
              <a:buChar char="•"/>
            </a:pPr>
            <a:r>
              <a:rPr lang="en-US" sz="2200" b="1" dirty="0"/>
              <a:t>Intent: </a:t>
            </a:r>
            <a:r>
              <a:rPr lang="en-US" sz="2200" dirty="0"/>
              <a:t>Identifies and addresses work product issues through reviews by the producer’s peers or Subject Matter Experts (SMEs).</a:t>
            </a:r>
            <a:endParaRPr lang="en-US" sz="2200" dirty="0"/>
          </a:p>
          <a:p>
            <a:pPr marL="342900" indent="-342900">
              <a:buFont typeface="Arial" panose="020B0604020202020204" pitchFamily="34" charset="0"/>
              <a:buChar char="•"/>
            </a:pPr>
            <a:r>
              <a:rPr lang="en-US" sz="2200" b="1" dirty="0"/>
              <a:t>Value:</a:t>
            </a:r>
            <a:r>
              <a:rPr lang="en-US" sz="2200" dirty="0"/>
              <a:t> Reduces cost and rework by uncovering issues or defects early.</a:t>
            </a:r>
            <a:endParaRPr lang="en-US" sz="2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a:stretch>
            <a:fillRect/>
          </a:stretch>
        </p:blipFill>
        <p:spPr>
          <a:xfrm>
            <a:off x="310896" y="329184"/>
            <a:ext cx="1381125" cy="1028700"/>
          </a:xfrm>
          <a:prstGeom prst="rect">
            <a:avLst/>
          </a:prstGeom>
        </p:spPr>
      </p:pic>
      <p:sp>
        <p:nvSpPr>
          <p:cNvPr id="8" name="Content Placeholder 7"/>
          <p:cNvSpPr txBox="1">
            <a:spLocks noGrp="1"/>
          </p:cNvSpPr>
          <p:nvPr>
            <p:ph idx="13"/>
          </p:nvPr>
        </p:nvSpPr>
        <p:spPr>
          <a:xfrm>
            <a:off x="590840" y="3006155"/>
            <a:ext cx="11265408" cy="2935605"/>
          </a:xfrm>
          <a:prstGeom prst="rect">
            <a:avLst/>
          </a:prstGeom>
          <a:noFill/>
        </p:spPr>
        <p:txBody>
          <a:bodyPr wrap="square" rtlCol="0">
            <a:spAutoFit/>
          </a:bodyPr>
          <a:lstStyle/>
          <a:p>
            <a:pPr marL="0" indent="0"/>
            <a:r>
              <a:rPr lang="en-US" sz="1400" b="1" dirty="0"/>
              <a:t>Strengths:</a:t>
            </a:r>
            <a:endParaRPr lang="zh-CN" altLang="en-US" sz="1400" dirty="0"/>
          </a:p>
          <a:p>
            <a:pPr marL="0" indent="0"/>
            <a:r>
              <a:rPr lang="en-US" altLang="zh-CN" sz="1400" dirty="0">
                <a:latin typeface="Calibri" panose="020F0502020204030204" pitchFamily="34" charset="0"/>
                <a:ea typeface="Calibri" panose="020F0502020204030204" pitchFamily="34" charset="0"/>
                <a:cs typeface="Calibri" panose="020F0502020204030204" pitchFamily="34" charset="0"/>
              </a:rPr>
              <a:t>Through project management tools for full lifecycle management, multi</a:t>
            </a:r>
            <a:r>
              <a:rPr lang="zh-CN" altLang="en-US" sz="1400" dirty="0">
                <a:latin typeface="Calibri" panose="020F0502020204030204" pitchFamily="34" charset="0"/>
                <a:ea typeface="Calibri" panose="020F0502020204030204" pitchFamily="34" charset="0"/>
                <a:cs typeface="Calibri" panose="020F0502020204030204" pitchFamily="34" charset="0"/>
              </a:rPr>
              <a:t>-</a:t>
            </a:r>
            <a:r>
              <a:rPr lang="en-US" altLang="zh-CN" sz="1400" dirty="0">
                <a:latin typeface="Calibri" panose="020F0502020204030204" pitchFamily="34" charset="0"/>
                <a:ea typeface="Calibri" panose="020F0502020204030204" pitchFamily="34" charset="0"/>
                <a:cs typeface="Calibri" panose="020F0502020204030204" pitchFamily="34" charset="0"/>
              </a:rPr>
              <a:t>dimensional reviews are organized during the project plan development process, involving relevant stakeholders to gather ideas and improve the quality and participation of the project plan</a:t>
            </a:r>
            <a:endParaRPr lang="en-US" sz="1400" dirty="0">
              <a:latin typeface="Calibri" panose="020F0502020204030204" pitchFamily="34" charset="0"/>
              <a:ea typeface="Calibri" panose="020F0502020204030204" pitchFamily="34" charset="0"/>
              <a:cs typeface="Calibri" panose="020F0502020204030204" pitchFamily="34" charset="0"/>
            </a:endParaRPr>
          </a:p>
          <a:p>
            <a:pPr marL="0" indent="0"/>
            <a:r>
              <a:rPr lang="zh-CN" sz="1400" b="0" u="none">
                <a:solidFill>
                  <a:srgbClr val="1C1917"/>
                </a:solidFill>
                <a:ea typeface="-apple-system" charset="0"/>
              </a:rPr>
              <a:t>通过项目管理工具进行全生命周期管理,项目计划制定过程中,会组织进行多方位评审,让相关干系人广泛参与,集思广益,提高项目计划的质量与参与度。</a:t>
            </a:r>
            <a:endParaRPr lang="zh-CN" sz="1400" b="0" u="none">
              <a:solidFill>
                <a:srgbClr val="1C1917"/>
              </a:solidFill>
              <a:ea typeface="-apple-system" charset="0"/>
            </a:endParaRPr>
          </a:p>
          <a:p>
            <a:pPr marL="0" indent="0"/>
            <a:r>
              <a:rPr lang="en-US" altLang="zh-CN" sz="1400" dirty="0"/>
              <a:t>During the project planning phase, tool applications were used to facilitate and streamline the project process, improving the efficiency of product development</a:t>
            </a:r>
            <a:endParaRPr lang="en-US" sz="1400" dirty="0"/>
          </a:p>
          <a:p>
            <a:pPr algn="l"/>
            <a:r>
              <a:rPr lang="zh-CN" altLang="en-US" sz="1400" b="0" u="none">
                <a:latin typeface="Calibri" panose="020F0502020204030204" pitchFamily="34" charset="0"/>
                <a:ea typeface="宋体" charset="0"/>
              </a:rPr>
              <a:t>项目计划阶段，</a:t>
            </a:r>
            <a:r>
              <a:rPr lang="zh-CN" sz="1400" b="0" u="none">
                <a:latin typeface="Calibri" panose="020F0502020204030204" pitchFamily="34" charset="0"/>
                <a:ea typeface="宋体" charset="0"/>
              </a:rPr>
              <a:t>通过工具应用，使项目流程裁剪方便流畅，提升了产品研发的效率</a:t>
            </a:r>
            <a:endParaRPr lang="en-US" sz="1400" dirty="0"/>
          </a:p>
          <a:p>
            <a:pPr marL="0" indent="0"/>
            <a:r>
              <a:rPr lang="en-US" sz="1400" b="1" dirty="0"/>
              <a:t>Weaknesses:</a:t>
            </a:r>
            <a:r>
              <a:rPr lang="en-US" altLang="zh-CN" sz="1400" b="1" dirty="0"/>
              <a:t>None</a:t>
            </a:r>
            <a:endParaRPr lang="en-US" sz="1400" dirty="0"/>
          </a:p>
          <a:p>
            <a:pPr marL="0" indent="0"/>
            <a:endParaRPr lang="en-US" sz="2400" b="0" u="none" dirty="0"/>
          </a:p>
        </p:txBody>
      </p:sp>
      <p:sp>
        <p:nvSpPr>
          <p:cNvPr id="9" name="Content Placeholder 8"/>
          <p:cNvSpPr txBox="1">
            <a:spLocks noGrp="1"/>
          </p:cNvSpPr>
          <p:nvPr>
            <p:ph idx="4294967295"/>
          </p:nvPr>
        </p:nvSpPr>
        <p:spPr>
          <a:xfrm>
            <a:off x="466344" y="1463040"/>
            <a:ext cx="11265408" cy="1439368"/>
          </a:xfrm>
          <a:prstGeom prst="rect">
            <a:avLst/>
          </a:prstGeom>
          <a:noFill/>
        </p:spPr>
        <p:txBody>
          <a:bodyPr wrap="square" rtlCol="0">
            <a:spAutoFit/>
          </a:bodyPr>
          <a:lstStyle/>
          <a:p>
            <a:r>
              <a:rPr lang="en-US" sz="2200" b="1" dirty="0"/>
              <a:t>Intent: </a:t>
            </a:r>
            <a:r>
              <a:rPr lang="en-US" sz="2200" dirty="0"/>
              <a:t>Develops plans to describe what is needed to accomplish the work within the standards and constraints of the organization.</a:t>
            </a:r>
            <a:r>
              <a:rPr lang="en-US" sz="2200" dirty="0">
                <a:effectLst/>
              </a:rPr>
              <a:t> </a:t>
            </a:r>
            <a:endParaRPr lang="en-US" sz="2200" dirty="0"/>
          </a:p>
          <a:p>
            <a:r>
              <a:rPr lang="en-US" sz="2200" b="1" dirty="0"/>
              <a:t>Value:</a:t>
            </a:r>
            <a:r>
              <a:rPr lang="en-US" sz="2200" dirty="0"/>
              <a:t> Optimizes cost, functionality, and quality to increase the likelihood of meeting objectives.</a:t>
            </a:r>
            <a:endParaRPr lang="en-US" sz="2200" dirty="0"/>
          </a:p>
        </p:txBody>
      </p:sp>
      <p:sp>
        <p:nvSpPr>
          <p:cNvPr id="10" name="Title 7"/>
          <p:cNvSpPr txBox="1">
            <a:spLocks noGrp="1"/>
          </p:cNvSpPr>
          <p:nvPr>
            <p:ph type="title"/>
          </p:nvPr>
        </p:nvSpPr>
        <p:spPr>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r>
              <a:rPr lang="en-US" sz="3200" dirty="0">
                <a:solidFill>
                  <a:srgbClr val="1E2C5B"/>
                </a:solidFill>
              </a:rPr>
              <a:t>Planning (PLAN)</a:t>
            </a:r>
            <a:endParaRPr lang="en-US" sz="3200" dirty="0">
              <a:solidFill>
                <a:srgbClr val="1E2C5B"/>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a:stretch>
            <a:fillRect/>
          </a:stretch>
        </p:blipFill>
        <p:spPr>
          <a:xfrm>
            <a:off x="310896" y="310896"/>
            <a:ext cx="1352550" cy="1028700"/>
          </a:xfrm>
          <a:prstGeom prst="rect">
            <a:avLst/>
          </a:prstGeom>
        </p:spPr>
      </p:pic>
      <p:sp>
        <p:nvSpPr>
          <p:cNvPr id="8" name="Content Placeholder 7"/>
          <p:cNvSpPr txBox="1">
            <a:spLocks noGrp="1"/>
          </p:cNvSpPr>
          <p:nvPr>
            <p:ph idx="13"/>
          </p:nvPr>
        </p:nvSpPr>
        <p:spPr>
          <a:xfrm>
            <a:off x="466344" y="2990088"/>
            <a:ext cx="11265408" cy="3053715"/>
          </a:xfrm>
          <a:prstGeom prst="rect">
            <a:avLst/>
          </a:prstGeom>
          <a:noFill/>
        </p:spPr>
        <p:txBody>
          <a:bodyPr wrap="square" rtlCol="0">
            <a:spAutoFit/>
          </a:bodyPr>
          <a:lstStyle/>
          <a:p>
            <a:pPr marL="0" indent="0"/>
            <a:r>
              <a:rPr lang="en-US" sz="1400" b="1" dirty="0"/>
              <a:t>Strengths:</a:t>
            </a:r>
            <a:endParaRPr lang="en-US" sz="1400" b="1" dirty="0"/>
          </a:p>
          <a:p>
            <a:pPr marL="0" indent="0"/>
            <a:r>
              <a:rPr lang="en-US" altLang="zh-CN" sz="1400" dirty="0">
                <a:solidFill>
                  <a:schemeClr val="tx1"/>
                </a:solidFill>
              </a:rPr>
              <a:t>The process system construction integrates multiple models such as CMMI, iSO13485 system, and agile model</a:t>
            </a:r>
            <a:endParaRPr lang="en-US" altLang="zh-CN" sz="1400" dirty="0">
              <a:solidFill>
                <a:schemeClr val="tx1"/>
              </a:solidFill>
            </a:endParaRPr>
          </a:p>
          <a:p>
            <a:pPr algn="l"/>
            <a:r>
              <a:rPr lang="en-US" altLang="zh-CN" sz="1400" b="0" dirty="0">
                <a:solidFill>
                  <a:srgbClr val="202124"/>
                </a:solidFill>
                <a:latin typeface="inherit" charset="0"/>
              </a:rPr>
              <a:t>The company promotes the intellectual property assessment and compliance assessment in the early stage of the project, pre</a:t>
            </a:r>
            <a:r>
              <a:rPr lang="zh-CN" altLang="en-US" sz="1400" b="0" dirty="0">
                <a:solidFill>
                  <a:srgbClr val="202124"/>
                </a:solidFill>
                <a:latin typeface="inherit" charset="0"/>
              </a:rPr>
              <a:t>-</a:t>
            </a:r>
            <a:r>
              <a:rPr lang="en-US" altLang="zh-CN" sz="1400" b="0" dirty="0">
                <a:solidFill>
                  <a:srgbClr val="202124"/>
                </a:solidFill>
                <a:latin typeface="inherit" charset="0"/>
              </a:rPr>
              <a:t>risks, enhances product competitiveness, protects core technologies, and reduces compliance risks</a:t>
            </a:r>
            <a:endParaRPr lang="en-US" sz="1400" dirty="0"/>
          </a:p>
          <a:p>
            <a:pPr marL="0" indent="0"/>
            <a:r>
              <a:rPr lang="zh-CN" sz="1400" b="0" u="none">
                <a:solidFill>
                  <a:srgbClr val="000000"/>
                </a:solidFill>
                <a:ea typeface="LarkHackSafariFont" charset="0"/>
              </a:rPr>
              <a:t>过程体系建设融合了</a:t>
            </a:r>
            <a:r>
              <a:rPr lang="en-US" altLang="zh-CN" sz="1400" b="0" u="none">
                <a:solidFill>
                  <a:srgbClr val="000000"/>
                </a:solidFill>
                <a:ea typeface="LarkHackSafariFont" charset="0"/>
              </a:rPr>
              <a:t>CMMI</a:t>
            </a:r>
            <a:r>
              <a:rPr lang="zh-CN" sz="1400" b="0" u="none">
                <a:solidFill>
                  <a:srgbClr val="000000"/>
                </a:solidFill>
                <a:ea typeface="LarkHackSafariFont" charset="0"/>
              </a:rPr>
              <a:t>、</a:t>
            </a:r>
            <a:r>
              <a:rPr lang="en-US" altLang="zh-CN" sz="1400" b="0" u="none">
                <a:solidFill>
                  <a:srgbClr val="000000"/>
                </a:solidFill>
                <a:ea typeface="LarkHackSafariFont" charset="0"/>
              </a:rPr>
              <a:t>iSO</a:t>
            </a:r>
            <a:r>
              <a:rPr lang="zh-CN" sz="1400" b="0" u="none">
                <a:solidFill>
                  <a:srgbClr val="000000"/>
                </a:solidFill>
                <a:ea typeface="LarkHackSafariFont" charset="0"/>
              </a:rPr>
              <a:t>13485 体系、敏捷模型等多个模型</a:t>
            </a:r>
            <a:endParaRPr lang="zh-CN" sz="1400" b="0" u="none">
              <a:solidFill>
                <a:srgbClr val="000000"/>
              </a:solidFill>
              <a:ea typeface="LarkHackSafariFont" charset="0"/>
            </a:endParaRPr>
          </a:p>
          <a:p>
            <a:pPr marL="0" indent="0"/>
            <a:r>
              <a:rPr lang="zh-CN" altLang="en-US" sz="1400" b="0" dirty="0">
                <a:solidFill>
                  <a:srgbClr val="000000"/>
                </a:solidFill>
              </a:rPr>
              <a:t>公司推动项目在项目前期进行知识产权评估、合规性评估，风险前置，提升产品竞争力，保护核心技术，降低合规风险</a:t>
            </a:r>
            <a:endParaRPr lang="en-US" sz="1400" dirty="0"/>
          </a:p>
          <a:p>
            <a:pPr marL="0" indent="0"/>
            <a:r>
              <a:rPr lang="en-US" sz="1400" b="1" dirty="0"/>
              <a:t>Weaknesses:</a:t>
            </a:r>
            <a:r>
              <a:rPr lang="en-US" altLang="zh-CN" sz="1400" b="1" dirty="0"/>
              <a:t>None</a:t>
            </a:r>
            <a:endParaRPr lang="en-US" sz="1400" dirty="0"/>
          </a:p>
          <a:p>
            <a:pPr marL="0" indent="0"/>
            <a:r>
              <a:rPr lang="en-US" altLang="zh-CN" sz="1400" dirty="0">
                <a:solidFill>
                  <a:schemeClr val="tx1"/>
                </a:solidFill>
              </a:rPr>
              <a:t>Notes</a:t>
            </a:r>
            <a:r>
              <a:rPr lang="zh-CN" altLang="en-US" sz="1400" dirty="0">
                <a:solidFill>
                  <a:schemeClr val="tx1"/>
                </a:solidFill>
              </a:rPr>
              <a:t>：</a:t>
            </a:r>
            <a:endParaRPr lang="zh-CN" altLang="en-US" sz="1400" dirty="0">
              <a:solidFill>
                <a:schemeClr val="tx1"/>
              </a:solidFill>
            </a:endParaRPr>
          </a:p>
          <a:p>
            <a:pPr marL="0" indent="0"/>
            <a:r>
              <a:rPr lang="en-US" altLang="zh-CN" sz="1400" dirty="0">
                <a:solidFill>
                  <a:schemeClr val="tx1"/>
                </a:solidFill>
              </a:rPr>
              <a:t>Need to strengthen the sharing and operation of best practices</a:t>
            </a:r>
            <a:endParaRPr lang="zh-CN" altLang="en-US" sz="1400" dirty="0">
              <a:solidFill>
                <a:schemeClr val="tx1"/>
              </a:solidFill>
            </a:endParaRPr>
          </a:p>
          <a:p>
            <a:pPr marL="0" indent="0"/>
            <a:r>
              <a:rPr lang="zh-CN" sz="1400" b="0" u="none">
                <a:solidFill>
                  <a:srgbClr val="000000"/>
                </a:solidFill>
                <a:ea typeface="LarkHackSafariFont" charset="0"/>
              </a:rPr>
              <a:t>需要加强最佳实践的分享和运营</a:t>
            </a:r>
            <a:endParaRPr lang="zh-CN" sz="1400" b="0" u="none" dirty="0">
              <a:solidFill>
                <a:srgbClr val="000000"/>
              </a:solidFill>
              <a:ea typeface="LarkHackSafariFont" charset="0"/>
            </a:endParaRPr>
          </a:p>
        </p:txBody>
      </p:sp>
      <p:sp>
        <p:nvSpPr>
          <p:cNvPr id="9" name="Title 7"/>
          <p:cNvSpPr txBox="1">
            <a:spLocks noGrp="1"/>
          </p:cNvSpPr>
          <p:nvPr>
            <p:ph type="title"/>
          </p:nvPr>
        </p:nvSpPr>
        <p:spPr>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r>
              <a:rPr lang="en-US" sz="3200" dirty="0">
                <a:solidFill>
                  <a:srgbClr val="1E2C5B"/>
                </a:solidFill>
              </a:rPr>
              <a:t>Process Asset Development (PAD)</a:t>
            </a:r>
            <a:endParaRPr lang="en-US" sz="3200" dirty="0">
              <a:solidFill>
                <a:srgbClr val="1E2C5B"/>
              </a:solidFill>
            </a:endParaRPr>
          </a:p>
        </p:txBody>
      </p:sp>
      <p:sp>
        <p:nvSpPr>
          <p:cNvPr id="10" name="Content Placeholder 9"/>
          <p:cNvSpPr txBox="1">
            <a:spLocks noGrp="1"/>
          </p:cNvSpPr>
          <p:nvPr>
            <p:ph idx="4294967295"/>
          </p:nvPr>
        </p:nvSpPr>
        <p:spPr>
          <a:xfrm>
            <a:off x="466344" y="1463040"/>
            <a:ext cx="11265408" cy="829971"/>
          </a:xfrm>
          <a:prstGeom prst="rect">
            <a:avLst/>
          </a:prstGeom>
          <a:noFill/>
        </p:spPr>
        <p:txBody>
          <a:bodyPr wrap="square" rtlCol="0">
            <a:spAutoFit/>
          </a:bodyPr>
          <a:lstStyle/>
          <a:p>
            <a:r>
              <a:rPr lang="en-US" sz="2200" b="1" dirty="0"/>
              <a:t>Intent: </a:t>
            </a:r>
            <a:r>
              <a:rPr lang="en-US" sz="2200" dirty="0"/>
              <a:t>Develops the process assets necessary to perform the work and keeps them updated.</a:t>
            </a:r>
            <a:endParaRPr lang="en-US" sz="2200" dirty="0"/>
          </a:p>
          <a:p>
            <a:r>
              <a:rPr lang="en-US" sz="2200" b="1" dirty="0"/>
              <a:t>Value:</a:t>
            </a:r>
            <a:r>
              <a:rPr lang="en-US" sz="2200" dirty="0"/>
              <a:t> Provides a capability to understand and repeat successful performance.</a:t>
            </a:r>
            <a:endParaRPr lang="en-US" sz="2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a:stretch>
            <a:fillRect/>
          </a:stretch>
        </p:blipFill>
        <p:spPr>
          <a:xfrm>
            <a:off x="310896" y="310896"/>
            <a:ext cx="1381125" cy="1050433"/>
          </a:xfrm>
          <a:prstGeom prst="rect">
            <a:avLst/>
          </a:prstGeom>
        </p:spPr>
      </p:pic>
      <p:sp>
        <p:nvSpPr>
          <p:cNvPr id="8" name="Content Placeholder 7"/>
          <p:cNvSpPr txBox="1">
            <a:spLocks noGrp="1"/>
          </p:cNvSpPr>
          <p:nvPr>
            <p:ph idx="13"/>
          </p:nvPr>
        </p:nvSpPr>
        <p:spPr>
          <a:xfrm>
            <a:off x="466344" y="2990088"/>
            <a:ext cx="11265408" cy="3385820"/>
          </a:xfrm>
          <a:prstGeom prst="rect">
            <a:avLst/>
          </a:prstGeom>
          <a:noFill/>
        </p:spPr>
        <p:txBody>
          <a:bodyPr wrap="square" rtlCol="0">
            <a:spAutoFit/>
          </a:bodyPr>
          <a:lstStyle/>
          <a:p>
            <a:pPr marL="0" indent="0"/>
            <a:r>
              <a:rPr lang="en-US" sz="2400" b="1" dirty="0"/>
              <a:t>Strengths:</a:t>
            </a:r>
            <a:endParaRPr lang="en-US" sz="2400" b="1" dirty="0"/>
          </a:p>
          <a:p>
            <a:pPr marL="0" indent="0"/>
            <a:r>
              <a:rPr lang="en-US" altLang="zh-CN" sz="1400" dirty="0">
                <a:solidFill>
                  <a:schemeClr val="tx1"/>
                </a:solidFill>
              </a:rPr>
              <a:t>The continuous improvement of the internal</a:t>
            </a:r>
            <a:r>
              <a:rPr lang="zh-CN" altLang="en-US" sz="1400" dirty="0">
                <a:solidFill>
                  <a:schemeClr val="tx1"/>
                </a:solidFill>
              </a:rPr>
              <a:t>-</a:t>
            </a:r>
            <a:r>
              <a:rPr lang="en-US" altLang="zh-CN" sz="1400" dirty="0">
                <a:solidFill>
                  <a:schemeClr val="tx1"/>
                </a:solidFill>
              </a:rPr>
              <a:t>oriented product development system has been transformed into a collaborative, customer</a:t>
            </a:r>
            <a:r>
              <a:rPr lang="zh-CN" altLang="en-US" sz="1400" dirty="0">
                <a:solidFill>
                  <a:schemeClr val="tx1"/>
                </a:solidFill>
              </a:rPr>
              <a:t>-</a:t>
            </a:r>
            <a:r>
              <a:rPr lang="en-US" altLang="zh-CN" sz="1400" dirty="0">
                <a:solidFill>
                  <a:schemeClr val="tx1"/>
                </a:solidFill>
              </a:rPr>
              <a:t>centric, and customer</a:t>
            </a:r>
            <a:r>
              <a:rPr lang="zh-CN" altLang="en-US" sz="1400" dirty="0">
                <a:solidFill>
                  <a:schemeClr val="tx1"/>
                </a:solidFill>
              </a:rPr>
              <a:t>-</a:t>
            </a:r>
            <a:r>
              <a:rPr lang="en-US" altLang="zh-CN" sz="1400" dirty="0">
                <a:solidFill>
                  <a:schemeClr val="tx1"/>
                </a:solidFill>
              </a:rPr>
              <a:t>oriented product delivery and operation system across the front</a:t>
            </a:r>
            <a:r>
              <a:rPr lang="zh-CN" altLang="en-US" sz="1400" dirty="0">
                <a:solidFill>
                  <a:schemeClr val="tx1"/>
                </a:solidFill>
              </a:rPr>
              <a:t>-</a:t>
            </a:r>
            <a:r>
              <a:rPr lang="en-US" altLang="zh-CN" sz="1400" dirty="0">
                <a:solidFill>
                  <a:schemeClr val="tx1"/>
                </a:solidFill>
              </a:rPr>
              <a:t>end, middle, and back</a:t>
            </a:r>
            <a:r>
              <a:rPr lang="zh-CN" altLang="en-US" sz="1400" dirty="0">
                <a:solidFill>
                  <a:schemeClr val="tx1"/>
                </a:solidFill>
              </a:rPr>
              <a:t>-</a:t>
            </a:r>
            <a:r>
              <a:rPr lang="en-US" altLang="zh-CN" sz="1400" dirty="0">
                <a:solidFill>
                  <a:schemeClr val="tx1"/>
                </a:solidFill>
              </a:rPr>
              <a:t>end.</a:t>
            </a:r>
            <a:endParaRPr lang="en-US" sz="1400" dirty="0"/>
          </a:p>
          <a:p>
            <a:pPr marL="0" indent="0"/>
            <a:r>
              <a:rPr lang="zh-CN" sz="1400" b="0" u="none">
                <a:solidFill>
                  <a:srgbClr val="000000"/>
                </a:solidFill>
                <a:ea typeface="LarkHackSafariFont" charset="0"/>
              </a:rPr>
              <a:t>从内向性的研发产品体系</a:t>
            </a:r>
            <a:r>
              <a:rPr lang="zh-CN" altLang="en-US" sz="1400" b="0" u="none">
                <a:solidFill>
                  <a:srgbClr val="000000"/>
                </a:solidFill>
                <a:ea typeface="LarkHackSafariFont" charset="0"/>
              </a:rPr>
              <a:t>持续改进</a:t>
            </a:r>
            <a:r>
              <a:rPr lang="zh-CN" sz="1400" b="0" u="none">
                <a:solidFill>
                  <a:srgbClr val="000000"/>
                </a:solidFill>
                <a:ea typeface="LarkHackSafariFont" charset="0"/>
              </a:rPr>
              <a:t>为前中后端</a:t>
            </a:r>
            <a:r>
              <a:rPr lang="zh-CN" altLang="en-US" sz="1400" b="0" u="none">
                <a:solidFill>
                  <a:srgbClr val="000000"/>
                </a:solidFill>
                <a:ea typeface="LarkHackSafariFont" charset="0"/>
              </a:rPr>
              <a:t>互相</a:t>
            </a:r>
            <a:r>
              <a:rPr lang="zh-CN" sz="1400" b="0" u="none">
                <a:solidFill>
                  <a:srgbClr val="000000"/>
                </a:solidFill>
                <a:ea typeface="LarkHackSafariFont" charset="0"/>
              </a:rPr>
              <a:t>协作</a:t>
            </a:r>
            <a:r>
              <a:rPr lang="zh-CN" altLang="en-US" sz="1400" b="0" u="none">
                <a:solidFill>
                  <a:srgbClr val="000000"/>
                </a:solidFill>
                <a:ea typeface="LarkHackSafariFont" charset="0"/>
              </a:rPr>
              <a:t>、</a:t>
            </a:r>
            <a:r>
              <a:rPr lang="zh-CN" sz="1400" b="0" u="none">
                <a:solidFill>
                  <a:srgbClr val="000000"/>
                </a:solidFill>
                <a:ea typeface="LarkHackSafariFont" charset="0"/>
              </a:rPr>
              <a:t>贴近客户、成就客户的产品交付和运营体系</a:t>
            </a:r>
            <a:endParaRPr lang="zh-CN" sz="1400" b="0" u="none">
              <a:solidFill>
                <a:srgbClr val="000000"/>
              </a:solidFill>
              <a:ea typeface="LarkHackSafariFont" charset="0"/>
            </a:endParaRPr>
          </a:p>
          <a:p>
            <a:pPr algn="l"/>
            <a:r>
              <a:rPr lang="en-US" sz="1400" b="0" u="none">
                <a:solidFill>
                  <a:srgbClr val="202124"/>
                </a:solidFill>
                <a:latin typeface="inherit" charset="0"/>
              </a:rPr>
              <a:t>By establishing a PMO and restructuring the project management system, project efficiency was improved. The on-schedule completion rate increased from 50% to 90%, and the defect density was reduced from 2.82 to 1.03.</a:t>
            </a:r>
            <a:endParaRPr lang="zh-CN" sz="1400" b="0" u="none">
              <a:solidFill>
                <a:srgbClr val="000000"/>
              </a:solidFill>
              <a:ea typeface="LarkHackSafariFont" charset="0"/>
            </a:endParaRPr>
          </a:p>
          <a:p>
            <a:pPr marL="0" indent="0"/>
            <a:r>
              <a:rPr lang="zh-CN" altLang="en-US" sz="1400" b="0">
                <a:solidFill>
                  <a:srgbClr val="000000"/>
                </a:solidFill>
                <a:ea typeface="LarkHackSafariFont" charset="0"/>
                <a:sym typeface="+mn-ea"/>
              </a:rPr>
              <a:t>通过 成立</a:t>
            </a:r>
            <a:r>
              <a:rPr lang="en-US" altLang="zh-CN" sz="1400" b="0">
                <a:solidFill>
                  <a:srgbClr val="000000"/>
                </a:solidFill>
                <a:ea typeface="LarkHackSafariFont" charset="0"/>
                <a:sym typeface="+mn-ea"/>
              </a:rPr>
              <a:t>PMO</a:t>
            </a:r>
            <a:r>
              <a:rPr lang="zh-CN" altLang="en-US" sz="1400" b="0">
                <a:solidFill>
                  <a:srgbClr val="000000"/>
                </a:solidFill>
                <a:ea typeface="LarkHackSafariFont" charset="0"/>
                <a:sym typeface="+mn-ea"/>
              </a:rPr>
              <a:t>，重构项目管理体系，提升了项目效率，按期完成率从 </a:t>
            </a:r>
            <a:r>
              <a:rPr lang="en-US" altLang="zh-CN" sz="1400" b="0">
                <a:solidFill>
                  <a:srgbClr val="000000"/>
                </a:solidFill>
                <a:ea typeface="LarkHackSafariFont" charset="0"/>
                <a:sym typeface="+mn-ea"/>
              </a:rPr>
              <a:t>50% </a:t>
            </a:r>
            <a:r>
              <a:rPr lang="zh-CN" altLang="en-US" sz="1400" b="0">
                <a:solidFill>
                  <a:srgbClr val="000000"/>
                </a:solidFill>
                <a:ea typeface="LarkHackSafariFont" charset="0"/>
                <a:sym typeface="+mn-ea"/>
              </a:rPr>
              <a:t>提高到 </a:t>
            </a:r>
            <a:r>
              <a:rPr lang="en-US" altLang="zh-CN" sz="1400" b="0">
                <a:solidFill>
                  <a:srgbClr val="000000"/>
                </a:solidFill>
                <a:ea typeface="LarkHackSafariFont" charset="0"/>
                <a:sym typeface="+mn-ea"/>
              </a:rPr>
              <a:t>90%</a:t>
            </a:r>
            <a:r>
              <a:rPr lang="zh-CN" altLang="en-US" sz="1400" b="0">
                <a:solidFill>
                  <a:srgbClr val="000000"/>
                </a:solidFill>
                <a:ea typeface="LarkHackSafariFont" charset="0"/>
                <a:sym typeface="+mn-ea"/>
              </a:rPr>
              <a:t>，缺陷密度从 </a:t>
            </a:r>
            <a:r>
              <a:rPr lang="en-US" altLang="zh-CN" sz="1400" b="0">
                <a:solidFill>
                  <a:srgbClr val="000000"/>
                </a:solidFill>
                <a:ea typeface="LarkHackSafariFont" charset="0"/>
                <a:sym typeface="+mn-ea"/>
              </a:rPr>
              <a:t>2.82 </a:t>
            </a:r>
            <a:r>
              <a:rPr lang="zh-CN" altLang="en-US" sz="1400" b="0">
                <a:solidFill>
                  <a:srgbClr val="000000"/>
                </a:solidFill>
                <a:ea typeface="LarkHackSafariFont" charset="0"/>
                <a:sym typeface="+mn-ea"/>
              </a:rPr>
              <a:t>降低到 </a:t>
            </a:r>
            <a:r>
              <a:rPr lang="en-US" altLang="zh-CN" sz="1400" b="0">
                <a:solidFill>
                  <a:srgbClr val="000000"/>
                </a:solidFill>
                <a:ea typeface="LarkHackSafariFont" charset="0"/>
                <a:sym typeface="+mn-ea"/>
              </a:rPr>
              <a:t>1.03</a:t>
            </a:r>
            <a:endParaRPr lang="en-US" sz="1400" dirty="0"/>
          </a:p>
          <a:p>
            <a:pPr marL="0" indent="0"/>
            <a:r>
              <a:rPr lang="en-US" sz="1400" b="1" dirty="0"/>
              <a:t>Weaknesses:</a:t>
            </a:r>
            <a:endParaRPr lang="en-US" sz="1400" dirty="0"/>
          </a:p>
          <a:p>
            <a:pPr marL="0" indent="0"/>
            <a:r>
              <a:rPr lang="en-US" altLang="zh-CN" sz="1400" dirty="0">
                <a:solidFill>
                  <a:schemeClr val="tx1"/>
                </a:solidFill>
              </a:rPr>
              <a:t>Notes</a:t>
            </a:r>
            <a:r>
              <a:rPr lang="zh-CN" altLang="en-US" sz="1400" dirty="0">
                <a:solidFill>
                  <a:schemeClr val="tx1"/>
                </a:solidFill>
              </a:rPr>
              <a:t>：</a:t>
            </a:r>
            <a:endParaRPr lang="zh-CN" altLang="en-US" sz="1400" dirty="0">
              <a:solidFill>
                <a:schemeClr val="tx1"/>
              </a:solidFill>
            </a:endParaRPr>
          </a:p>
          <a:p>
            <a:pPr marL="0" indent="0"/>
            <a:r>
              <a:rPr lang="en-US" altLang="zh-CN" sz="1400" dirty="0">
                <a:solidFill>
                  <a:schemeClr val="tx1"/>
                </a:solidFill>
              </a:rPr>
              <a:t>Suggestion: It is recommended to further strengthen the customer</a:t>
            </a:r>
            <a:r>
              <a:rPr lang="zh-CN" altLang="en-US" sz="1400" dirty="0">
                <a:solidFill>
                  <a:schemeClr val="tx1"/>
                </a:solidFill>
              </a:rPr>
              <a:t>-</a:t>
            </a:r>
            <a:r>
              <a:rPr lang="en-US" altLang="zh-CN" sz="1400" dirty="0">
                <a:solidFill>
                  <a:schemeClr val="tx1"/>
                </a:solidFill>
              </a:rPr>
              <a:t>centric continuous improvement mechanism.</a:t>
            </a:r>
            <a:endParaRPr lang="zh-CN" altLang="en-US" sz="1400" dirty="0">
              <a:solidFill>
                <a:schemeClr val="tx1"/>
              </a:solidFill>
            </a:endParaRPr>
          </a:p>
          <a:p>
            <a:pPr marL="0" indent="0"/>
            <a:r>
              <a:rPr lang="zh-CN" sz="1400" b="0" u="none">
                <a:solidFill>
                  <a:srgbClr val="000000"/>
                </a:solidFill>
                <a:ea typeface="LarkHackSafariFont" charset="0"/>
              </a:rPr>
              <a:t>建议进一步加强以客户为中心的持续改进的机制</a:t>
            </a:r>
            <a:endParaRPr lang="zh-CN" sz="1400" b="0" u="none" dirty="0">
              <a:solidFill>
                <a:srgbClr val="000000"/>
              </a:solidFill>
              <a:ea typeface="LarkHackSafariFont" charset="0"/>
            </a:endParaRPr>
          </a:p>
        </p:txBody>
      </p:sp>
      <p:sp>
        <p:nvSpPr>
          <p:cNvPr id="9" name="Title 7"/>
          <p:cNvSpPr txBox="1">
            <a:spLocks noGrp="1"/>
          </p:cNvSpPr>
          <p:nvPr>
            <p:ph type="title"/>
          </p:nvPr>
        </p:nvSpPr>
        <p:spPr>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r>
              <a:rPr lang="en-US" sz="3200" dirty="0">
                <a:solidFill>
                  <a:srgbClr val="1E2C5B"/>
                </a:solidFill>
              </a:rPr>
              <a:t>Process Management (PCM)</a:t>
            </a:r>
            <a:endParaRPr lang="en-US" sz="3200" dirty="0">
              <a:solidFill>
                <a:srgbClr val="1E2C5B"/>
              </a:solidFill>
            </a:endParaRPr>
          </a:p>
        </p:txBody>
      </p:sp>
      <p:sp>
        <p:nvSpPr>
          <p:cNvPr id="10" name="Content Placeholder 9"/>
          <p:cNvSpPr txBox="1">
            <a:spLocks noGrp="1"/>
          </p:cNvSpPr>
          <p:nvPr>
            <p:ph idx="4294967295"/>
          </p:nvPr>
        </p:nvSpPr>
        <p:spPr>
          <a:xfrm>
            <a:off x="466344" y="1463040"/>
            <a:ext cx="11265408" cy="1605568"/>
          </a:xfrm>
          <a:prstGeom prst="rect">
            <a:avLst/>
          </a:prstGeom>
          <a:noFill/>
        </p:spPr>
        <p:txBody>
          <a:bodyPr wrap="square" rtlCol="0">
            <a:spAutoFit/>
          </a:bodyPr>
          <a:lstStyle/>
          <a:p>
            <a:r>
              <a:rPr lang="en-US" sz="2000" b="1" dirty="0"/>
              <a:t>Intent: </a:t>
            </a:r>
            <a:r>
              <a:rPr lang="en-US" sz="2000" dirty="0"/>
              <a:t>Manages and implements the continuous performance improvement of processes and infrastructure to meet business objectives by identifying and implementing the most beneficial process improvements and making performance results visible, accessible, and sustainable.</a:t>
            </a:r>
            <a:endParaRPr lang="en-US" sz="2000" dirty="0"/>
          </a:p>
          <a:p>
            <a:r>
              <a:rPr lang="en-US" sz="2000" b="1" dirty="0"/>
              <a:t>Value:</a:t>
            </a:r>
            <a:r>
              <a:rPr lang="en-US" sz="2000" dirty="0"/>
              <a:t> Ensures that processes, infrastructure, and their improvement contribute to successfully meeting business objectives.</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a:stretch>
            <a:fillRect/>
          </a:stretch>
        </p:blipFill>
        <p:spPr>
          <a:xfrm>
            <a:off x="466344" y="320040"/>
            <a:ext cx="1190625" cy="1019175"/>
          </a:xfrm>
          <a:prstGeom prst="rect">
            <a:avLst/>
          </a:prstGeom>
        </p:spPr>
      </p:pic>
      <p:sp>
        <p:nvSpPr>
          <p:cNvPr id="8" name="Title 7"/>
          <p:cNvSpPr txBox="1">
            <a:spLocks noGrp="1"/>
          </p:cNvSpPr>
          <p:nvPr>
            <p:ph type="title"/>
          </p:nvPr>
        </p:nvSpPr>
        <p:spPr>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r>
              <a:rPr lang="en-US" sz="3200" dirty="0">
                <a:solidFill>
                  <a:srgbClr val="1E2C5B"/>
                </a:solidFill>
              </a:rPr>
              <a:t>Process Quality Assurance (PQA)</a:t>
            </a:r>
            <a:endParaRPr lang="en-US" sz="3200" dirty="0">
              <a:solidFill>
                <a:srgbClr val="1E2C5B"/>
              </a:solidFill>
            </a:endParaRPr>
          </a:p>
        </p:txBody>
      </p:sp>
      <p:sp>
        <p:nvSpPr>
          <p:cNvPr id="9" name="Content Placeholder 8"/>
          <p:cNvSpPr txBox="1">
            <a:spLocks noGrp="1"/>
          </p:cNvSpPr>
          <p:nvPr>
            <p:ph idx="4294967295"/>
          </p:nvPr>
        </p:nvSpPr>
        <p:spPr>
          <a:xfrm>
            <a:off x="466344" y="1463040"/>
            <a:ext cx="11265408" cy="1439368"/>
          </a:xfrm>
          <a:prstGeom prst="rect">
            <a:avLst/>
          </a:prstGeom>
          <a:noFill/>
        </p:spPr>
        <p:txBody>
          <a:bodyPr wrap="square" rtlCol="0">
            <a:spAutoFit/>
          </a:bodyPr>
          <a:lstStyle/>
          <a:p>
            <a:r>
              <a:rPr lang="en-US" sz="2200" b="1" dirty="0"/>
              <a:t>Intent: </a:t>
            </a:r>
            <a:r>
              <a:rPr lang="en-US" sz="2200" dirty="0"/>
              <a:t>Verifies and enables improvement of the quality of the processes performed and resulting work products.</a:t>
            </a:r>
            <a:endParaRPr lang="en-US" sz="2200" dirty="0"/>
          </a:p>
          <a:p>
            <a:r>
              <a:rPr lang="en-US" sz="2200" b="1" dirty="0"/>
              <a:t>Value:</a:t>
            </a:r>
            <a:r>
              <a:rPr lang="en-US" sz="2200" dirty="0"/>
              <a:t> Increases the consistent use and improvement of the processes to maximize business benefit and customer satisfaction.</a:t>
            </a:r>
            <a:endParaRPr lang="en-US" sz="2200" dirty="0"/>
          </a:p>
        </p:txBody>
      </p:sp>
      <p:sp>
        <p:nvSpPr>
          <p:cNvPr id="11" name="Content Placeholder 10"/>
          <p:cNvSpPr txBox="1">
            <a:spLocks noGrp="1"/>
          </p:cNvSpPr>
          <p:nvPr>
            <p:ph idx="13"/>
          </p:nvPr>
        </p:nvSpPr>
        <p:spPr>
          <a:xfrm>
            <a:off x="466317" y="2902404"/>
            <a:ext cx="11265435" cy="3395465"/>
          </a:xfrm>
          <a:prstGeom prst="rect">
            <a:avLst/>
          </a:prstGeom>
          <a:noFill/>
        </p:spPr>
        <p:txBody>
          <a:bodyPr wrap="square" rtlCol="0">
            <a:noAutofit/>
          </a:bodyPr>
          <a:lstStyle/>
          <a:p>
            <a:pPr marL="0" indent="0"/>
            <a:r>
              <a:rPr lang="en-US" sz="2400" b="1" dirty="0"/>
              <a:t>Strengths:</a:t>
            </a:r>
            <a:endParaRPr lang="en-US" sz="2400" dirty="0"/>
          </a:p>
          <a:p>
            <a:pPr marL="0" indent="0"/>
            <a:r>
              <a:rPr lang="en-US" sz="2400" b="1" dirty="0"/>
              <a:t>Weaknesses:</a:t>
            </a:r>
            <a:endParaRPr lang="en-US" sz="2400" dirty="0"/>
          </a:p>
          <a:p>
            <a:pPr marL="0" indent="0"/>
            <a:r>
              <a:rPr lang="en-US" altLang="zh-CN" sz="2400" dirty="0"/>
              <a:t>Notes</a:t>
            </a:r>
            <a:r>
              <a:rPr lang="zh-CN" altLang="en-US" sz="2400" dirty="0"/>
              <a:t>：</a:t>
            </a:r>
            <a:endParaRPr lang="zh-CN" altLang="en-US" sz="2400" dirty="0"/>
          </a:p>
          <a:p>
            <a:pPr marL="0" indent="0"/>
            <a:r>
              <a:rPr lang="en-US" altLang="zh-CN" sz="1600" dirty="0">
                <a:solidFill>
                  <a:schemeClr val="tx1"/>
                </a:solidFill>
              </a:rPr>
              <a:t>At present, the quality management of organizations still mainly relies on traditional process inspection and quality assessment, but this passive quality assurance method is no longer suitable for the needs of agile development. It is recommended that the organization gradually realize the transformation, from focusing on process quality inspection to focusing on team efficiency improvement, and through team training, authorization and daily coaching, help the team to independently control quality and continuously improve, and realize the transition from process assessment to performance coaching.</a:t>
            </a:r>
            <a:endParaRPr lang="zh-CN" altLang="en-US" sz="1600" dirty="0"/>
          </a:p>
          <a:p>
            <a:pPr marL="0" indent="0"/>
            <a:r>
              <a:rPr lang="zh-CN" altLang="en-US" sz="1600" dirty="0">
                <a:solidFill>
                  <a:schemeClr val="tx1"/>
                </a:solidFill>
              </a:rPr>
              <a:t>目前组织的质量管理还主要依赖传统的流程检查和质量考核</a:t>
            </a:r>
            <a:r>
              <a:rPr lang="en-US" altLang="zh-CN" sz="1600" dirty="0">
                <a:solidFill>
                  <a:schemeClr val="tx1"/>
                </a:solidFill>
              </a:rPr>
              <a:t>,</a:t>
            </a:r>
            <a:r>
              <a:rPr lang="zh-CN" altLang="en-US" sz="1600" dirty="0">
                <a:solidFill>
                  <a:schemeClr val="tx1"/>
                </a:solidFill>
              </a:rPr>
              <a:t>但这种被动的质量保障手段已难以适应敏捷开发的需要。建议组织逐步实现转型</a:t>
            </a:r>
            <a:r>
              <a:rPr lang="en-US" altLang="zh-CN" sz="1600" dirty="0">
                <a:solidFill>
                  <a:schemeClr val="tx1"/>
                </a:solidFill>
              </a:rPr>
              <a:t>,</a:t>
            </a:r>
            <a:r>
              <a:rPr lang="zh-CN" altLang="en-US" sz="1600" dirty="0">
                <a:solidFill>
                  <a:schemeClr val="tx1"/>
                </a:solidFill>
              </a:rPr>
              <a:t>从注重流程质检向关注团队效能提升转变</a:t>
            </a:r>
            <a:r>
              <a:rPr lang="en-US" altLang="zh-CN" sz="1600" dirty="0">
                <a:solidFill>
                  <a:schemeClr val="tx1"/>
                </a:solidFill>
              </a:rPr>
              <a:t>,</a:t>
            </a:r>
            <a:r>
              <a:rPr lang="zh-CN" altLang="en-US" sz="1600" dirty="0">
                <a:solidFill>
                  <a:schemeClr val="tx1"/>
                </a:solidFill>
              </a:rPr>
              <a:t>通过对团队培训、授权和日常辅导等方式</a:t>
            </a:r>
            <a:r>
              <a:rPr lang="en-US" altLang="zh-CN" sz="1600" dirty="0">
                <a:solidFill>
                  <a:schemeClr val="tx1"/>
                </a:solidFill>
              </a:rPr>
              <a:t>,</a:t>
            </a:r>
            <a:r>
              <a:rPr lang="zh-CN" altLang="en-US" sz="1600" dirty="0">
                <a:solidFill>
                  <a:schemeClr val="tx1"/>
                </a:solidFill>
              </a:rPr>
              <a:t>帮助团队自主控制质量并持续改进</a:t>
            </a:r>
            <a:r>
              <a:rPr lang="en-US" altLang="zh-CN" sz="1600" dirty="0">
                <a:solidFill>
                  <a:schemeClr val="tx1"/>
                </a:solidFill>
              </a:rPr>
              <a:t>,</a:t>
            </a:r>
            <a:r>
              <a:rPr lang="zh-CN" altLang="en-US" sz="1600" dirty="0">
                <a:solidFill>
                  <a:schemeClr val="tx1"/>
                </a:solidFill>
              </a:rPr>
              <a:t>实现从过程考核到效能辅导的转变。</a:t>
            </a:r>
            <a:endParaRPr lang="zh-CN" sz="1050" b="0" u="none">
              <a:latin typeface="Calibri" panose="020F0502020204030204" pitchFamily="34" charset="0"/>
              <a:ea typeface="宋体" charset="0"/>
              <a:cs typeface="Times New Roman" panose="02020603050405020304" pitchFamily="18" charset="0"/>
            </a:endParaRPr>
          </a:p>
          <a:p>
            <a:pPr marL="0" indent="0"/>
            <a:endParaRPr lang="en-US" sz="2400" dirty="0"/>
          </a:p>
          <a:p>
            <a:pPr marL="0" indent="0"/>
            <a:endParaRPr lang="en-US" sz="2400" b="1"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a:stretch>
            <a:fillRect/>
          </a:stretch>
        </p:blipFill>
        <p:spPr>
          <a:xfrm>
            <a:off x="484632" y="301752"/>
            <a:ext cx="1133475" cy="1028700"/>
          </a:xfrm>
          <a:prstGeom prst="rect">
            <a:avLst/>
          </a:prstGeom>
        </p:spPr>
      </p:pic>
      <p:sp>
        <p:nvSpPr>
          <p:cNvPr id="8" name="Title 7"/>
          <p:cNvSpPr txBox="1">
            <a:spLocks noGrp="1"/>
          </p:cNvSpPr>
          <p:nvPr>
            <p:ph type="title"/>
          </p:nvPr>
        </p:nvSpPr>
        <p:spPr>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r>
              <a:rPr lang="en-US" sz="3200" dirty="0">
                <a:solidFill>
                  <a:srgbClr val="1E2C5B"/>
                </a:solidFill>
              </a:rPr>
              <a:t>Product Integration (PI)</a:t>
            </a:r>
            <a:endParaRPr lang="en-US" sz="3200" dirty="0">
              <a:solidFill>
                <a:srgbClr val="1E2C5B"/>
              </a:solidFill>
            </a:endParaRPr>
          </a:p>
        </p:txBody>
      </p:sp>
      <p:sp>
        <p:nvSpPr>
          <p:cNvPr id="9" name="Content Placeholder 8"/>
          <p:cNvSpPr txBox="1">
            <a:spLocks noGrp="1"/>
          </p:cNvSpPr>
          <p:nvPr>
            <p:ph idx="4294967295"/>
          </p:nvPr>
        </p:nvSpPr>
        <p:spPr>
          <a:xfrm>
            <a:off x="466344" y="1463040"/>
            <a:ext cx="11265408" cy="1439368"/>
          </a:xfrm>
          <a:prstGeom prst="rect">
            <a:avLst/>
          </a:prstGeom>
          <a:noFill/>
        </p:spPr>
        <p:txBody>
          <a:bodyPr wrap="square" rtlCol="0">
            <a:spAutoFit/>
          </a:bodyPr>
          <a:lstStyle/>
          <a:p>
            <a:r>
              <a:rPr lang="en-US" sz="2200" b="1" dirty="0"/>
              <a:t>Intent: </a:t>
            </a:r>
            <a:r>
              <a:rPr lang="en-US" sz="2200" dirty="0"/>
              <a:t>Integrates and delivers the solution that addresses functionality, performance, and quality requirements.</a:t>
            </a:r>
            <a:endParaRPr lang="en-US" sz="2200" dirty="0"/>
          </a:p>
          <a:p>
            <a:r>
              <a:rPr lang="en-US" sz="2200" b="1" dirty="0"/>
              <a:t>Value:</a:t>
            </a:r>
            <a:r>
              <a:rPr lang="en-US" sz="2200" dirty="0"/>
              <a:t> Increases customers’ satisfaction by giving them a solution that meets or exceeds their functionality and quality requirements.</a:t>
            </a:r>
            <a:endParaRPr lang="en-US" sz="2200" dirty="0"/>
          </a:p>
        </p:txBody>
      </p:sp>
      <p:sp>
        <p:nvSpPr>
          <p:cNvPr id="10" name="Content Placeholder 9"/>
          <p:cNvSpPr txBox="1">
            <a:spLocks noGrp="1"/>
          </p:cNvSpPr>
          <p:nvPr>
            <p:ph idx="13"/>
          </p:nvPr>
        </p:nvSpPr>
        <p:spPr>
          <a:xfrm>
            <a:off x="466344" y="2990088"/>
            <a:ext cx="11265408" cy="2448560"/>
          </a:xfrm>
          <a:prstGeom prst="rect">
            <a:avLst/>
          </a:prstGeom>
          <a:noFill/>
        </p:spPr>
        <p:txBody>
          <a:bodyPr wrap="square" rtlCol="0">
            <a:spAutoFit/>
          </a:bodyPr>
          <a:lstStyle/>
          <a:p>
            <a:pPr marL="0" indent="0"/>
            <a:r>
              <a:rPr lang="en-US" sz="2400" b="1" dirty="0"/>
              <a:t>Strengths:</a:t>
            </a:r>
            <a:endParaRPr lang="en-US" sz="2400" b="1" dirty="0"/>
          </a:p>
          <a:p>
            <a:pPr marL="0" indent="0"/>
            <a:r>
              <a:rPr lang="en-US" sz="1200" b="0" u="none">
                <a:solidFill>
                  <a:srgbClr val="333333"/>
                </a:solidFill>
                <a:latin typeface="Arial" panose="020B0604020202020204" pitchFamily="34" charset="0"/>
              </a:rPr>
              <a:t>By implementing best practices such as continuous integration and DevOps, aim to achieve rapid delivery while continuously improving product quality.</a:t>
            </a:r>
            <a:endParaRPr lang="en-US" sz="2400" dirty="0"/>
          </a:p>
          <a:p>
            <a:pPr marL="0" indent="0"/>
            <a:r>
              <a:rPr lang="zh-CN" altLang="en-US" sz="1600" b="0">
                <a:solidFill>
                  <a:srgbClr val="1C1917"/>
                </a:solidFill>
                <a:ea typeface="-apple-system" charset="0"/>
              </a:rPr>
              <a:t>通过实行</a:t>
            </a:r>
            <a:r>
              <a:rPr lang="zh-CN" sz="1600" b="0" u="none">
                <a:solidFill>
                  <a:srgbClr val="1C1917"/>
                </a:solidFill>
                <a:ea typeface="-apple-system" charset="0"/>
              </a:rPr>
              <a:t>持续集成、DevOps</a:t>
            </a:r>
            <a:r>
              <a:rPr lang="zh-CN" altLang="en-US" sz="1600" b="0" u="none">
                <a:solidFill>
                  <a:srgbClr val="1C1917"/>
                </a:solidFill>
                <a:ea typeface="-apple-system" charset="0"/>
              </a:rPr>
              <a:t>等</a:t>
            </a:r>
            <a:r>
              <a:rPr lang="zh-CN" sz="1600" b="0" u="none">
                <a:solidFill>
                  <a:srgbClr val="1C1917"/>
                </a:solidFill>
                <a:ea typeface="-apple-system" charset="0"/>
              </a:rPr>
              <a:t>的</a:t>
            </a:r>
            <a:r>
              <a:rPr lang="zh-CN" altLang="en-US" sz="1600" b="0" u="none">
                <a:solidFill>
                  <a:srgbClr val="1C1917"/>
                </a:solidFill>
                <a:ea typeface="-apple-system" charset="0"/>
              </a:rPr>
              <a:t>最佳实践，实现快速</a:t>
            </a:r>
            <a:r>
              <a:rPr lang="zh-CN" sz="1600" b="0" u="none">
                <a:solidFill>
                  <a:srgbClr val="1C1917"/>
                </a:solidFill>
                <a:ea typeface="-apple-system" charset="0"/>
              </a:rPr>
              <a:t>交付的同时不断提高产品质</a:t>
            </a:r>
            <a:r>
              <a:rPr lang="zh-CN" sz="1600" b="0" u="none">
                <a:solidFill>
                  <a:srgbClr val="1C1917"/>
                </a:solidFill>
                <a:ea typeface="-apple-system" charset="0"/>
              </a:rPr>
              <a:t>量。</a:t>
            </a:r>
            <a:endParaRPr lang="en-US" sz="1600" dirty="0"/>
          </a:p>
          <a:p>
            <a:pPr marL="0" indent="0"/>
            <a:endParaRPr lang="en-US" sz="2400" dirty="0"/>
          </a:p>
          <a:p>
            <a:pPr marL="0" indent="0"/>
            <a:r>
              <a:rPr lang="en-US" sz="2400" b="1" dirty="0"/>
              <a:t>Weaknesses:</a:t>
            </a:r>
            <a:endParaRPr lang="en-US" sz="2400" dirty="0"/>
          </a:p>
          <a:p>
            <a:pPr marL="0" indent="0"/>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a:stretch>
            <a:fillRect/>
          </a:stretch>
        </p:blipFill>
        <p:spPr>
          <a:xfrm>
            <a:off x="466344" y="320040"/>
            <a:ext cx="1190625" cy="1028700"/>
          </a:xfrm>
          <a:prstGeom prst="rect">
            <a:avLst/>
          </a:prstGeom>
        </p:spPr>
      </p:pic>
      <p:sp>
        <p:nvSpPr>
          <p:cNvPr id="8" name="Title 7"/>
          <p:cNvSpPr txBox="1">
            <a:spLocks noGrp="1"/>
          </p:cNvSpPr>
          <p:nvPr>
            <p:ph type="title"/>
          </p:nvPr>
        </p:nvSpPr>
        <p:spPr>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r>
              <a:rPr lang="en-US" sz="3200" dirty="0">
                <a:solidFill>
                  <a:srgbClr val="1E2C5B"/>
                </a:solidFill>
              </a:rPr>
              <a:t>Requirements Development and Management (RDM)</a:t>
            </a:r>
            <a:endParaRPr lang="en-US" sz="3200" dirty="0">
              <a:solidFill>
                <a:srgbClr val="1E2C5B"/>
              </a:solidFill>
            </a:endParaRPr>
          </a:p>
        </p:txBody>
      </p:sp>
      <p:sp>
        <p:nvSpPr>
          <p:cNvPr id="9" name="Content Placeholder 8"/>
          <p:cNvSpPr txBox="1">
            <a:spLocks noGrp="1"/>
          </p:cNvSpPr>
          <p:nvPr>
            <p:ph idx="4294967295"/>
          </p:nvPr>
        </p:nvSpPr>
        <p:spPr>
          <a:xfrm>
            <a:off x="466344" y="1463040"/>
            <a:ext cx="11265408" cy="1134670"/>
          </a:xfrm>
          <a:prstGeom prst="rect">
            <a:avLst/>
          </a:prstGeom>
          <a:noFill/>
        </p:spPr>
        <p:txBody>
          <a:bodyPr wrap="square" rtlCol="0">
            <a:spAutoFit/>
          </a:bodyPr>
          <a:lstStyle/>
          <a:p>
            <a:r>
              <a:rPr lang="en-US" sz="2200" b="1" dirty="0"/>
              <a:t>Intent: </a:t>
            </a:r>
            <a:r>
              <a:rPr lang="en-US" sz="2200" dirty="0"/>
              <a:t>Elicits requirements, ensures common understanding by stakeholders, and aligns requirements, plans, and work products.</a:t>
            </a:r>
            <a:endParaRPr lang="en-US" sz="2200" dirty="0"/>
          </a:p>
          <a:p>
            <a:r>
              <a:rPr lang="en-US" sz="2200" b="1" dirty="0"/>
              <a:t>Value:</a:t>
            </a:r>
            <a:r>
              <a:rPr lang="en-US" sz="2200" dirty="0"/>
              <a:t> Ensures that customers’ needs and expectations are satisfied.</a:t>
            </a:r>
            <a:endParaRPr lang="en-US" sz="2200" dirty="0"/>
          </a:p>
        </p:txBody>
      </p:sp>
      <p:sp>
        <p:nvSpPr>
          <p:cNvPr id="10" name="Content Placeholder 9"/>
          <p:cNvSpPr txBox="1">
            <a:spLocks noGrp="1"/>
          </p:cNvSpPr>
          <p:nvPr>
            <p:ph idx="13"/>
          </p:nvPr>
        </p:nvSpPr>
        <p:spPr>
          <a:xfrm>
            <a:off x="466340" y="2715448"/>
            <a:ext cx="11265408" cy="4534535"/>
          </a:xfrm>
          <a:prstGeom prst="rect">
            <a:avLst/>
          </a:prstGeom>
          <a:noFill/>
        </p:spPr>
        <p:txBody>
          <a:bodyPr wrap="square" rtlCol="0">
            <a:spAutoFit/>
          </a:bodyPr>
          <a:lstStyle/>
          <a:p>
            <a:pPr marL="0" indent="0"/>
            <a:r>
              <a:rPr lang="en-US" sz="1400" b="1" dirty="0"/>
              <a:t>Strengths:</a:t>
            </a:r>
            <a:endParaRPr lang="en-US" sz="1400" b="1" dirty="0"/>
          </a:p>
          <a:p>
            <a:pPr marL="0" indent="0"/>
            <a:r>
              <a:rPr lang="en-US" altLang="zh-CN" sz="1400" dirty="0">
                <a:solidFill>
                  <a:schemeClr val="tx1"/>
                </a:solidFill>
              </a:rPr>
              <a:t>After the project goes live, there will be a comprehensive data analysis to guide subsequent product iterations. </a:t>
            </a:r>
            <a:endParaRPr lang="en-US" sz="1400" dirty="0"/>
          </a:p>
          <a:p>
            <a:pPr marL="0" indent="0"/>
            <a:r>
              <a:rPr lang="zh-CN" sz="1400" b="0" u="none">
                <a:solidFill>
                  <a:srgbClr val="000000"/>
                </a:solidFill>
                <a:ea typeface="LarkHackSafariFont" charset="0"/>
              </a:rPr>
              <a:t>项目上线后有完善的数据统计分析来指导后续的产品迭代</a:t>
            </a:r>
            <a:endParaRPr lang="zh-CN" sz="1400" b="0" u="none">
              <a:solidFill>
                <a:srgbClr val="000000"/>
              </a:solidFill>
              <a:ea typeface="LarkHackSafariFont" charset="0"/>
            </a:endParaRPr>
          </a:p>
          <a:p>
            <a:pPr marL="0" indent="0"/>
            <a:r>
              <a:rPr lang="en-US" altLang="zh-CN" sz="1400" b="0" dirty="0">
                <a:solidFill>
                  <a:srgbClr val="000000"/>
                </a:solidFill>
                <a:ea typeface="LarkHackSafariFont" charset="0"/>
              </a:rPr>
              <a:t>Through organizational structure adjustment, a medical service product department was established to work with high</a:t>
            </a:r>
            <a:r>
              <a:rPr lang="zh-CN" altLang="en-US" sz="1400" b="0" dirty="0">
                <a:solidFill>
                  <a:srgbClr val="000000"/>
                </a:solidFill>
                <a:ea typeface="LarkHackSafariFont" charset="0"/>
              </a:rPr>
              <a:t>-</a:t>
            </a:r>
            <a:r>
              <a:rPr lang="en-US" altLang="zh-CN" sz="1400" b="0" dirty="0">
                <a:solidFill>
                  <a:srgbClr val="000000"/>
                </a:solidFill>
                <a:ea typeface="LarkHackSafariFont" charset="0"/>
              </a:rPr>
              <a:t>end customers to polish user scenarios and gain insights into users</a:t>
            </a:r>
            <a:r>
              <a:rPr lang="zh-CN" altLang="en-US" sz="1400" b="0" dirty="0">
                <a:solidFill>
                  <a:srgbClr val="000000"/>
                </a:solidFill>
                <a:ea typeface="LarkHackSafariFont" charset="0"/>
              </a:rPr>
              <a:t>’ </a:t>
            </a:r>
            <a:r>
              <a:rPr lang="en-US" altLang="zh-CN" sz="1400" b="0" dirty="0">
                <a:solidFill>
                  <a:srgbClr val="000000"/>
                </a:solidFill>
                <a:ea typeface="LarkHackSafariFont" charset="0"/>
              </a:rPr>
              <a:t>real needs.</a:t>
            </a:r>
            <a:endParaRPr lang="zh-CN" sz="1400" b="0" u="none">
              <a:solidFill>
                <a:srgbClr val="000000"/>
              </a:solidFill>
              <a:ea typeface="LarkHackSafariFont" charset="0"/>
            </a:endParaRPr>
          </a:p>
          <a:p>
            <a:pPr marL="0" indent="0"/>
            <a:r>
              <a:rPr lang="zh-CN" sz="1400" b="0" u="none">
                <a:solidFill>
                  <a:srgbClr val="000000"/>
                </a:solidFill>
                <a:ea typeface="LarkHackSafariFont" charset="0"/>
              </a:rPr>
              <a:t>通过组织结构调整，</a:t>
            </a:r>
            <a:r>
              <a:rPr lang="zh-CN" altLang="en-US" sz="1400" b="0" u="none">
                <a:solidFill>
                  <a:srgbClr val="000000"/>
                </a:solidFill>
                <a:ea typeface="LarkHackSafariFont" charset="0"/>
              </a:rPr>
              <a:t>成立医学服务产品部，</a:t>
            </a:r>
            <a:r>
              <a:rPr lang="zh-CN" sz="1400" b="0" u="none">
                <a:solidFill>
                  <a:srgbClr val="000000"/>
                </a:solidFill>
                <a:ea typeface="LarkHackSafariFont" charset="0"/>
              </a:rPr>
              <a:t>与高端客户一起合作，打磨用户场景，洞察用户的真实需求</a:t>
            </a:r>
            <a:endParaRPr lang="zh-CN" sz="1400" b="0" u="none">
              <a:solidFill>
                <a:srgbClr val="000000"/>
              </a:solidFill>
              <a:ea typeface="LarkHackSafariFont" charset="0"/>
            </a:endParaRPr>
          </a:p>
          <a:p>
            <a:pPr algn="l"/>
            <a:r>
              <a:rPr lang="en-US" sz="1400" b="0" u="none">
                <a:solidFill>
                  <a:srgbClr val="202124"/>
                </a:solidFill>
                <a:latin typeface="Arial" panose="020B0604020202020204" pitchFamily="34" charset="0"/>
              </a:rPr>
              <a:t>Through node control of project management tools, requirements omissions are reduced and requirements quality is improved</a:t>
            </a:r>
            <a:endParaRPr lang="zh-CN" sz="1400" b="0" u="none">
              <a:solidFill>
                <a:srgbClr val="000000"/>
              </a:solidFill>
              <a:ea typeface="LarkHackSafariFont" charset="0"/>
            </a:endParaRPr>
          </a:p>
          <a:p>
            <a:pPr marL="0" indent="0"/>
            <a:r>
              <a:rPr lang="zh-CN" altLang="en-US" sz="1400" b="0" dirty="0">
                <a:solidFill>
                  <a:srgbClr val="000000"/>
                </a:solidFill>
                <a:ea typeface="LarkHackSafariFont" charset="0"/>
              </a:rPr>
              <a:t>通过项目管理工具节点控制，减少了需求遗漏，提高了需求质量</a:t>
            </a:r>
            <a:endParaRPr lang="zh-CN" altLang="en-US" sz="1400" b="0" dirty="0">
              <a:solidFill>
                <a:srgbClr val="000000"/>
              </a:solidFill>
              <a:ea typeface="LarkHackSafariFont" charset="0"/>
            </a:endParaRPr>
          </a:p>
          <a:p>
            <a:pPr marL="0" algn="l"/>
            <a:r>
              <a:rPr lang="en-US" altLang="zh-CN" sz="1400">
                <a:sym typeface="+mn-ea"/>
              </a:rPr>
              <a:t>The company's products have transformed from a single tool</a:t>
            </a:r>
            <a:r>
              <a:rPr lang="zh-CN" altLang="en-US" sz="1400">
                <a:sym typeface="+mn-ea"/>
              </a:rPr>
              <a:t>-</a:t>
            </a:r>
            <a:r>
              <a:rPr lang="en-US" altLang="zh-CN" sz="1400">
                <a:sym typeface="+mn-ea"/>
              </a:rPr>
              <a:t>based product to a service</a:t>
            </a:r>
            <a:r>
              <a:rPr lang="zh-CN" altLang="en-US" sz="1400">
                <a:sym typeface="+mn-ea"/>
              </a:rPr>
              <a:t>-</a:t>
            </a:r>
            <a:r>
              <a:rPr lang="en-US" altLang="zh-CN" sz="1400">
                <a:sym typeface="+mn-ea"/>
              </a:rPr>
              <a:t>based product ecological operation and value subscription model.</a:t>
            </a:r>
            <a:endParaRPr lang="zh-CN" altLang="en-US" sz="1400"/>
          </a:p>
          <a:p>
            <a:pPr marL="0" algn="l"/>
            <a:r>
              <a:rPr lang="zh-CN" altLang="en-US" sz="1400">
                <a:sym typeface="+mn-ea"/>
              </a:rPr>
              <a:t>公司产品从单一的工具型产品转换为服务型的产品生态运营和价值订阅模式。</a:t>
            </a:r>
            <a:endParaRPr lang="en-US" sz="1400" dirty="0"/>
          </a:p>
          <a:p>
            <a:pPr marL="0" indent="0"/>
            <a:r>
              <a:rPr lang="en-US" sz="1400" b="1" dirty="0"/>
              <a:t>Weaknesses:</a:t>
            </a:r>
            <a:r>
              <a:rPr lang="en-US" altLang="zh-CN" sz="1400" b="1" dirty="0"/>
              <a:t>None</a:t>
            </a:r>
            <a:endParaRPr lang="en-US" sz="1400" dirty="0"/>
          </a:p>
          <a:p>
            <a:pPr marL="0" indent="0"/>
            <a:r>
              <a:rPr lang="en-US" altLang="zh-CN" sz="1400" dirty="0"/>
              <a:t>Notes</a:t>
            </a:r>
            <a:r>
              <a:rPr lang="zh-CN" altLang="en-US" sz="1400" dirty="0"/>
              <a:t>：</a:t>
            </a:r>
            <a:endParaRPr lang="zh-CN" altLang="en-US" sz="1400" dirty="0"/>
          </a:p>
          <a:p>
            <a:pPr marL="0" indent="0"/>
            <a:r>
              <a:rPr lang="en-US" altLang="zh-CN" sz="1400" dirty="0">
                <a:solidFill>
                  <a:schemeClr val="tx1"/>
                </a:solidFill>
              </a:rPr>
              <a:t>Suggest increasing the output of product scenarios and establishing a scenario library</a:t>
            </a:r>
            <a:endParaRPr lang="zh-CN" altLang="en-US" sz="1400" dirty="0"/>
          </a:p>
          <a:p>
            <a:pPr marL="0" indent="0"/>
            <a:r>
              <a:rPr lang="zh-CN" altLang="en-US" sz="1400" b="0" u="none">
                <a:solidFill>
                  <a:srgbClr val="000000"/>
                </a:solidFill>
                <a:ea typeface="LarkHackSafariFont" charset="0"/>
              </a:rPr>
              <a:t>建议</a:t>
            </a:r>
            <a:r>
              <a:rPr lang="zh-CN" sz="1400" b="0" u="none">
                <a:solidFill>
                  <a:srgbClr val="000000"/>
                </a:solidFill>
                <a:ea typeface="LarkHackSafariFont" charset="0"/>
              </a:rPr>
              <a:t>增加产品的场景输出，建立场景库</a:t>
            </a:r>
            <a:endParaRPr lang="zh-CN" sz="1400" b="0" u="none" dirty="0">
              <a:solidFill>
                <a:srgbClr val="000000"/>
              </a:solidFill>
              <a:ea typeface="LarkHackSafariFont"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a:stretch>
            <a:fillRect/>
          </a:stretch>
        </p:blipFill>
        <p:spPr>
          <a:xfrm>
            <a:off x="347472" y="347472"/>
            <a:ext cx="1381125" cy="990600"/>
          </a:xfrm>
          <a:prstGeom prst="rect">
            <a:avLst/>
          </a:prstGeom>
        </p:spPr>
      </p:pic>
      <p:sp>
        <p:nvSpPr>
          <p:cNvPr id="8" name="Title 7"/>
          <p:cNvSpPr txBox="1">
            <a:spLocks noGrp="1"/>
          </p:cNvSpPr>
          <p:nvPr>
            <p:ph type="title"/>
          </p:nvPr>
        </p:nvSpPr>
        <p:spPr>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r>
              <a:rPr lang="en-US" sz="3200" dirty="0">
                <a:solidFill>
                  <a:srgbClr val="1E2C5B"/>
                </a:solidFill>
              </a:rPr>
              <a:t>Risk and Opportunity Management (RSK)</a:t>
            </a:r>
            <a:endParaRPr lang="en-US" sz="3200" dirty="0">
              <a:solidFill>
                <a:srgbClr val="1E2C5B"/>
              </a:solidFill>
            </a:endParaRPr>
          </a:p>
        </p:txBody>
      </p:sp>
      <p:sp>
        <p:nvSpPr>
          <p:cNvPr id="9" name="Content Placeholder 8"/>
          <p:cNvSpPr txBox="1">
            <a:spLocks noGrp="1"/>
          </p:cNvSpPr>
          <p:nvPr>
            <p:ph idx="4294967295"/>
          </p:nvPr>
        </p:nvSpPr>
        <p:spPr>
          <a:xfrm>
            <a:off x="466344" y="1463040"/>
            <a:ext cx="11265408" cy="1134670"/>
          </a:xfrm>
          <a:prstGeom prst="rect">
            <a:avLst/>
          </a:prstGeom>
          <a:noFill/>
        </p:spPr>
        <p:txBody>
          <a:bodyPr wrap="square" rtlCol="0">
            <a:spAutoFit/>
          </a:bodyPr>
          <a:lstStyle/>
          <a:p>
            <a:r>
              <a:rPr lang="en-US" sz="2200" b="1" dirty="0"/>
              <a:t>Intent: </a:t>
            </a:r>
            <a:r>
              <a:rPr lang="en-US" sz="2200" dirty="0"/>
              <a:t>Identifies, records, analyzes, and manages potential risks or opportunities.</a:t>
            </a:r>
            <a:endParaRPr lang="en-US" sz="2200" dirty="0">
              <a:effectLst/>
            </a:endParaRPr>
          </a:p>
          <a:p>
            <a:r>
              <a:rPr lang="en-US" sz="2200" b="1" dirty="0"/>
              <a:t>Value:</a:t>
            </a:r>
            <a:r>
              <a:rPr lang="en-US" sz="2200" dirty="0"/>
              <a:t> Mitigates adverse impacts or capitalizes on positive impacts to increase the likelihood of meeting objectives.</a:t>
            </a:r>
            <a:endParaRPr lang="en-US" sz="2200" dirty="0"/>
          </a:p>
        </p:txBody>
      </p:sp>
      <p:sp>
        <p:nvSpPr>
          <p:cNvPr id="10" name="Content Placeholder 9"/>
          <p:cNvSpPr txBox="1">
            <a:spLocks noGrp="1"/>
          </p:cNvSpPr>
          <p:nvPr>
            <p:ph idx="13"/>
          </p:nvPr>
        </p:nvSpPr>
        <p:spPr>
          <a:xfrm>
            <a:off x="466344" y="2990088"/>
            <a:ext cx="11265408" cy="3423920"/>
          </a:xfrm>
          <a:prstGeom prst="rect">
            <a:avLst/>
          </a:prstGeom>
          <a:noFill/>
        </p:spPr>
        <p:txBody>
          <a:bodyPr wrap="square" rtlCol="0">
            <a:spAutoFit/>
          </a:bodyPr>
          <a:lstStyle/>
          <a:p>
            <a:pPr marL="0" indent="0"/>
            <a:r>
              <a:rPr lang="en-US" sz="2400" b="1" dirty="0"/>
              <a:t>Strengths:</a:t>
            </a:r>
            <a:endParaRPr lang="en-US" sz="2400" dirty="0"/>
          </a:p>
          <a:p>
            <a:pPr marL="0" indent="0"/>
            <a:endParaRPr lang="en-US" sz="2400" dirty="0"/>
          </a:p>
          <a:p>
            <a:pPr marL="0" indent="0"/>
            <a:endParaRPr lang="en-US" sz="2400" dirty="0"/>
          </a:p>
          <a:p>
            <a:pPr marL="0" indent="0"/>
            <a:r>
              <a:rPr lang="en-US" sz="2400" b="1" dirty="0"/>
              <a:t>Weaknesses:</a:t>
            </a:r>
            <a:endParaRPr lang="en-US" sz="2400" dirty="0"/>
          </a:p>
          <a:p>
            <a:pPr marL="0" indent="0"/>
            <a:endParaRPr lang="en-US" sz="1600" dirty="0"/>
          </a:p>
          <a:p>
            <a:pPr marL="0" indent="0"/>
            <a:r>
              <a:rPr lang="en-US" altLang="zh-CN" dirty="0">
                <a:solidFill>
                  <a:schemeClr val="tx1"/>
                </a:solidFill>
              </a:rPr>
              <a:t>Notes</a:t>
            </a:r>
            <a:r>
              <a:rPr lang="zh-CN" altLang="en-US" dirty="0">
                <a:solidFill>
                  <a:schemeClr val="tx1"/>
                </a:solidFill>
              </a:rPr>
              <a:t>：</a:t>
            </a:r>
            <a:endParaRPr lang="zh-CN" altLang="en-US" dirty="0">
              <a:solidFill>
                <a:schemeClr val="tx1"/>
              </a:solidFill>
            </a:endParaRPr>
          </a:p>
          <a:p>
            <a:pPr marL="0" indent="0"/>
            <a:r>
              <a:rPr lang="en-US" altLang="zh-CN" dirty="0">
                <a:solidFill>
                  <a:schemeClr val="tx1"/>
                </a:solidFill>
              </a:rPr>
              <a:t>Suggestion: Further enrich the dimensions to identify risks and opportunities.</a:t>
            </a:r>
            <a:endParaRPr lang="zh-CN" altLang="en-US" dirty="0">
              <a:solidFill>
                <a:schemeClr val="tx1"/>
              </a:solidFill>
            </a:endParaRPr>
          </a:p>
          <a:p>
            <a:pPr marL="0" indent="0"/>
            <a:r>
              <a:rPr lang="zh-CN" sz="1600" b="0">
                <a:solidFill>
                  <a:srgbClr val="000000"/>
                </a:solidFill>
                <a:ea typeface="LarkHackSafariFont" charset="0"/>
                <a:sym typeface="+mn-ea"/>
              </a:rPr>
              <a:t>建议</a:t>
            </a:r>
            <a:r>
              <a:rPr lang="zh-CN" altLang="en-US" sz="1600" b="0">
                <a:solidFill>
                  <a:srgbClr val="000000"/>
                </a:solidFill>
                <a:ea typeface="LarkHackSafariFont" charset="0"/>
                <a:sym typeface="+mn-ea"/>
              </a:rPr>
              <a:t>进一步丰富</a:t>
            </a:r>
            <a:r>
              <a:rPr lang="zh-CN" sz="1600" b="0">
                <a:solidFill>
                  <a:srgbClr val="000000"/>
                </a:solidFill>
                <a:ea typeface="LarkHackSafariFont" charset="0"/>
                <a:sym typeface="+mn-ea"/>
              </a:rPr>
              <a:t>维度去识别风险与机会</a:t>
            </a:r>
            <a:endParaRPr lang="zh-CN" sz="1600" b="0" u="none" dirty="0">
              <a:solidFill>
                <a:srgbClr val="000000"/>
              </a:solidFill>
              <a:ea typeface="LarkHackSafariFont" charset="0"/>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3"/>
          </p:nvPr>
        </p:nvSpPr>
        <p:spPr/>
        <p:txBody>
          <a:bodyPr>
            <a:normAutofit fontScale="50000"/>
          </a:bodyPr>
          <a:lstStyle/>
          <a:p>
            <a:pPr marL="0" indent="0"/>
            <a:r>
              <a:rPr lang="en-US" dirty="0"/>
              <a:t>Strengths:</a:t>
            </a:r>
            <a:endParaRPr lang="en-US" dirty="0"/>
          </a:p>
          <a:p>
            <a:pPr marL="0" indent="0"/>
            <a:r>
              <a:rPr lang="en-US" altLang="zh-CN" dirty="0">
                <a:solidFill>
                  <a:schemeClr val="tx1"/>
                </a:solidFill>
              </a:rPr>
              <a:t>By continuously improving the open technology platform, a perfect third</a:t>
            </a:r>
            <a:r>
              <a:rPr lang="zh-CN" altLang="en-US" dirty="0">
                <a:solidFill>
                  <a:schemeClr val="tx1"/>
                </a:solidFill>
              </a:rPr>
              <a:t>-</a:t>
            </a:r>
            <a:r>
              <a:rPr lang="en-US" altLang="zh-CN" dirty="0">
                <a:solidFill>
                  <a:schemeClr val="tx1"/>
                </a:solidFill>
              </a:rPr>
              <a:t>party cooperation system has been formed to create a standard ecological environment.</a:t>
            </a:r>
            <a:endParaRPr lang="en-US" dirty="0"/>
          </a:p>
          <a:p>
            <a:pPr marL="0" indent="0"/>
            <a:r>
              <a:rPr lang="zh-CN" sz="1800" b="0" u="none">
                <a:ea typeface="LarkHackSafariFont" charset="0"/>
              </a:rPr>
              <a:t>通过不断完善</a:t>
            </a:r>
            <a:r>
              <a:rPr lang="zh-CN" altLang="en-US" sz="1800" b="0" u="none">
                <a:ea typeface="LarkHackSafariFont" charset="0"/>
              </a:rPr>
              <a:t>开放技术平台</a:t>
            </a:r>
            <a:r>
              <a:rPr lang="zh-CN" sz="1800" b="0" u="none">
                <a:ea typeface="LarkHackSafariFont" charset="0"/>
              </a:rPr>
              <a:t>，形成了完善第三方合作体系，打造标准的生态环境。</a:t>
            </a:r>
            <a:endParaRPr lang="zh-CN" sz="1800" b="0" u="none">
              <a:ea typeface="LarkHackSafariFont" charset="0"/>
            </a:endParaRPr>
          </a:p>
          <a:p>
            <a:pPr marL="0" indent="0"/>
            <a:r>
              <a:rPr lang="en-US" altLang="zh-CN" dirty="0">
                <a:sym typeface="+mn-ea"/>
              </a:rPr>
              <a:t>Through the componentization of key businesses, rapid business reuse is achieved, R</a:t>
            </a:r>
            <a:r>
              <a:rPr lang="zh-CN" altLang="en-US" dirty="0">
                <a:sym typeface="+mn-ea"/>
              </a:rPr>
              <a:t>&amp;</a:t>
            </a:r>
            <a:r>
              <a:rPr lang="en-US" altLang="zh-CN" dirty="0">
                <a:sym typeface="+mn-ea"/>
              </a:rPr>
              <a:t>D efficiency is improved, and R</a:t>
            </a:r>
            <a:r>
              <a:rPr lang="zh-CN" altLang="en-US" dirty="0">
                <a:sym typeface="+mn-ea"/>
              </a:rPr>
              <a:t>&amp;</a:t>
            </a:r>
            <a:r>
              <a:rPr lang="en-US" altLang="zh-CN" dirty="0">
                <a:sym typeface="+mn-ea"/>
              </a:rPr>
              <a:t>D costs are reduced.</a:t>
            </a:r>
            <a:endParaRPr lang="zh-CN" sz="1800" b="0" u="none">
              <a:ea typeface="LarkHackSafariFont" charset="0"/>
            </a:endParaRPr>
          </a:p>
          <a:p>
            <a:pPr marL="0" indent="0"/>
            <a:r>
              <a:rPr lang="zh-CN" altLang="en-US" sz="1800" b="0">
                <a:solidFill>
                  <a:schemeClr val="tx1"/>
                </a:solidFill>
              </a:rPr>
              <a:t>通过关键业务的组件化，实现业务的快速复用，提升研发效率，降低研发成本。</a:t>
            </a:r>
            <a:endParaRPr lang="zh-CN" altLang="en-US" sz="1800" b="0">
              <a:solidFill>
                <a:schemeClr val="tx1"/>
              </a:solidFill>
            </a:endParaRPr>
          </a:p>
          <a:p>
            <a:pPr marL="0" indent="0"/>
            <a:r>
              <a:rPr lang="en-US" altLang="zh-CN" sz="1800" b="0">
                <a:solidFill>
                  <a:schemeClr val="tx1"/>
                </a:solidFill>
              </a:rPr>
              <a:t>The introduction of Flutter technology in App development allows Android and iOS platforms to share a set of code logic. This reduces the cost of repeated development, optimizes the R</a:t>
            </a:r>
            <a:r>
              <a:rPr lang="zh-CN" altLang="en-US" sz="1800" b="0">
                <a:solidFill>
                  <a:schemeClr val="tx1"/>
                </a:solidFill>
              </a:rPr>
              <a:t>&amp;</a:t>
            </a:r>
            <a:r>
              <a:rPr lang="en-US" altLang="zh-CN" sz="1800" b="0">
                <a:solidFill>
                  <a:schemeClr val="tx1"/>
                </a:solidFill>
              </a:rPr>
              <a:t>D process, and improves the efficiency of cross</a:t>
            </a:r>
            <a:r>
              <a:rPr lang="zh-CN" altLang="en-US" sz="1800" b="0">
                <a:solidFill>
                  <a:schemeClr val="tx1"/>
                </a:solidFill>
              </a:rPr>
              <a:t>-</a:t>
            </a:r>
            <a:r>
              <a:rPr lang="en-US" altLang="zh-CN" sz="1800" b="0">
                <a:solidFill>
                  <a:schemeClr val="tx1"/>
                </a:solidFill>
              </a:rPr>
              <a:t>platform development.</a:t>
            </a:r>
            <a:endParaRPr lang="zh-CN" altLang="en-US" sz="1800" b="0">
              <a:solidFill>
                <a:schemeClr val="tx1"/>
              </a:solidFill>
            </a:endParaRPr>
          </a:p>
          <a:p>
            <a:pPr marL="0" indent="0"/>
            <a:r>
              <a:rPr lang="zh-CN" b="0" u="none">
                <a:solidFill>
                  <a:srgbClr val="1C1917"/>
                </a:solidFill>
                <a:ea typeface="-apple-system" charset="0"/>
              </a:rPr>
              <a:t>App开发中引入Flutter技术,可以使Android和iOS两个平台共用一套代码逻辑。这降低了重复开发的成本,优化了研发流程,提高了跨平台开发的效率。</a:t>
            </a:r>
            <a:endParaRPr lang="zh-CN" b="0" u="none">
              <a:solidFill>
                <a:srgbClr val="1C1917"/>
              </a:solidFill>
              <a:ea typeface="-apple-system" charset="0"/>
            </a:endParaRPr>
          </a:p>
          <a:p>
            <a:pPr marL="0" indent="0"/>
            <a:endParaRPr lang="en-US" dirty="0"/>
          </a:p>
          <a:p>
            <a:pPr marL="0" indent="0"/>
            <a:r>
              <a:rPr lang="en-US" dirty="0"/>
              <a:t>Weaknesses:</a:t>
            </a:r>
            <a:endParaRPr lang="en-US" dirty="0"/>
          </a:p>
        </p:txBody>
      </p:sp>
      <p:pic>
        <p:nvPicPr>
          <p:cNvPr id="7" name="Picture 6"/>
          <p:cNvPicPr>
            <a:picLocks noChangeAspect="1"/>
          </p:cNvPicPr>
          <p:nvPr/>
        </p:nvPicPr>
        <p:blipFill>
          <a:blip r:embed="rId1"/>
          <a:stretch>
            <a:fillRect/>
          </a:stretch>
        </p:blipFill>
        <p:spPr>
          <a:xfrm>
            <a:off x="484632" y="301752"/>
            <a:ext cx="1133475" cy="1028700"/>
          </a:xfrm>
          <a:prstGeom prst="rect">
            <a:avLst/>
          </a:prstGeom>
        </p:spPr>
      </p:pic>
      <p:sp>
        <p:nvSpPr>
          <p:cNvPr id="8" name="Title 7"/>
          <p:cNvSpPr txBox="1">
            <a:spLocks noGrp="1"/>
          </p:cNvSpPr>
          <p:nvPr>
            <p:ph type="title"/>
          </p:nvPr>
        </p:nvSpPr>
        <p:spPr>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r>
              <a:rPr lang="en-US" sz="3200" dirty="0">
                <a:solidFill>
                  <a:srgbClr val="1E2C5B"/>
                </a:solidFill>
              </a:rPr>
              <a:t>Technical Solution (TS)</a:t>
            </a:r>
            <a:endParaRPr lang="en-US" sz="3200" dirty="0">
              <a:solidFill>
                <a:srgbClr val="1E2C5B"/>
              </a:solidFill>
            </a:endParaRPr>
          </a:p>
        </p:txBody>
      </p:sp>
      <p:sp>
        <p:nvSpPr>
          <p:cNvPr id="9" name="Content Placeholder 8"/>
          <p:cNvSpPr txBox="1">
            <a:spLocks noGrp="1"/>
          </p:cNvSpPr>
          <p:nvPr>
            <p:ph idx="4294967295"/>
          </p:nvPr>
        </p:nvSpPr>
        <p:spPr>
          <a:xfrm>
            <a:off x="466344" y="1463040"/>
            <a:ext cx="11265408" cy="1134670"/>
          </a:xfrm>
          <a:prstGeom prst="rect">
            <a:avLst/>
          </a:prstGeom>
          <a:noFill/>
        </p:spPr>
        <p:txBody>
          <a:bodyPr wrap="square" rtlCol="0">
            <a:spAutoFit/>
          </a:bodyPr>
          <a:lstStyle/>
          <a:p>
            <a:r>
              <a:rPr lang="en-US" sz="2200" b="1" dirty="0"/>
              <a:t>Intent: </a:t>
            </a:r>
            <a:r>
              <a:rPr lang="en-US" sz="2200" dirty="0"/>
              <a:t>Designs and builds solutions that meet requirements.</a:t>
            </a:r>
            <a:endParaRPr lang="en-US" sz="2200" dirty="0">
              <a:effectLst/>
            </a:endParaRPr>
          </a:p>
          <a:p>
            <a:r>
              <a:rPr lang="en-US" sz="2200" b="1" dirty="0"/>
              <a:t>Value:</a:t>
            </a:r>
            <a:r>
              <a:rPr lang="en-US" sz="2200" dirty="0"/>
              <a:t> Provides a cost-effective design and solution that meets customer requirements and reduces rework.</a:t>
            </a:r>
            <a:endParaRPr lang="en-US" sz="2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3"/>
          </p:nvPr>
        </p:nvSpPr>
        <p:spPr/>
        <p:txBody>
          <a:bodyPr>
            <a:normAutofit fontScale="50000"/>
          </a:bodyPr>
          <a:lstStyle/>
          <a:p>
            <a:pPr marL="0" indent="0"/>
            <a:r>
              <a:rPr lang="en-US" dirty="0"/>
              <a:t>Strengths:</a:t>
            </a:r>
            <a:endParaRPr lang="en-US" dirty="0"/>
          </a:p>
          <a:p>
            <a:pPr marL="0" indent="0"/>
            <a:r>
              <a:rPr lang="en-US" altLang="zh-CN" dirty="0">
                <a:solidFill>
                  <a:schemeClr val="tx1"/>
                </a:solidFill>
              </a:rPr>
              <a:t>After the completion of requirement development, three validations will be conducted: testing validation, product manager validation, and business representative validation. This is to ensure the consistency between the requirements and the implementation, and the validation conclusions will be recorded through project management tools.</a:t>
            </a:r>
            <a:endParaRPr lang="en-US" dirty="0"/>
          </a:p>
          <a:p>
            <a:pPr marL="0" indent="0"/>
            <a:r>
              <a:rPr lang="zh-CN" sz="2000" b="0" u="none">
                <a:solidFill>
                  <a:srgbClr val="000000"/>
                </a:solidFill>
                <a:ea typeface="LarkHackSafariFont" charset="0"/>
              </a:rPr>
              <a:t>需求开发完成后，会做三次验证：测试验证、产品经理验证、业务代表验证，确保需求与实现的一致性，并且通过项目管理工具记录验证结论</a:t>
            </a:r>
            <a:endParaRPr lang="zh-CN" sz="2000" b="0" u="none">
              <a:solidFill>
                <a:srgbClr val="000000"/>
              </a:solidFill>
              <a:ea typeface="LarkHackSafariFont" charset="0"/>
            </a:endParaRPr>
          </a:p>
          <a:p>
            <a:pPr marL="0" indent="0"/>
            <a:r>
              <a:rPr lang="en-US" altLang="zh-CN" dirty="0">
                <a:sym typeface="+mn-ea"/>
              </a:rPr>
              <a:t>For the online environment, automated testing tools will be used to test the product, ensuring its stability and reducing testing and operational costs.</a:t>
            </a:r>
            <a:endParaRPr lang="zh-CN" sz="2000" b="0" u="none">
              <a:solidFill>
                <a:srgbClr val="000000"/>
              </a:solidFill>
              <a:ea typeface="LarkHackSafariFont" charset="0"/>
            </a:endParaRPr>
          </a:p>
          <a:p>
            <a:pPr marL="0" indent="0"/>
            <a:r>
              <a:rPr lang="zh-CN" sz="2000" b="0" u="none">
                <a:solidFill>
                  <a:srgbClr val="000000"/>
                </a:solidFill>
                <a:ea typeface="LarkHackSafariFont" charset="0"/>
              </a:rPr>
              <a:t>线上环境用自动化测试工具进行测试，保证线上产品稳定，降低测试和运维成本</a:t>
            </a:r>
            <a:endParaRPr lang="en-US" sz="2000" dirty="0"/>
          </a:p>
          <a:p>
            <a:pPr marL="0" indent="0"/>
            <a:endParaRPr lang="en-US" sz="2200" dirty="0"/>
          </a:p>
          <a:p>
            <a:pPr marL="0" indent="0"/>
            <a:r>
              <a:rPr lang="en-US" dirty="0"/>
              <a:t>Weaknesses:</a:t>
            </a:r>
            <a:endParaRPr lang="en-US" dirty="0"/>
          </a:p>
          <a:p>
            <a:pPr marL="0" indent="0"/>
            <a:r>
              <a:rPr lang="en-US" altLang="zh-CN" dirty="0">
                <a:solidFill>
                  <a:schemeClr val="tx1"/>
                </a:solidFill>
              </a:rPr>
              <a:t>There is room for improvement in testing some non</a:t>
            </a:r>
            <a:r>
              <a:rPr lang="zh-CN" altLang="en-US" dirty="0">
                <a:solidFill>
                  <a:schemeClr val="tx1"/>
                </a:solidFill>
              </a:rPr>
              <a:t>-</a:t>
            </a:r>
            <a:r>
              <a:rPr lang="en-US" altLang="zh-CN" dirty="0">
                <a:solidFill>
                  <a:schemeClr val="tx1"/>
                </a:solidFill>
              </a:rPr>
              <a:t>functional requirements and exceptional flow test cases.</a:t>
            </a:r>
            <a:endParaRPr lang="en-US" dirty="0"/>
          </a:p>
          <a:p>
            <a:pPr marL="0" indent="0"/>
            <a:r>
              <a:rPr lang="zh-CN" altLang="en-US" sz="2000" dirty="0">
                <a:solidFill>
                  <a:schemeClr val="tx1"/>
                </a:solidFill>
              </a:rPr>
              <a:t>对于部分非功能需求、部分异常流程的测试用例不足，有待完善。</a:t>
            </a:r>
            <a:endParaRPr lang="en-US" sz="2000" dirty="0"/>
          </a:p>
          <a:p>
            <a:pPr marL="0" indent="0"/>
            <a:r>
              <a:rPr lang="en-US" altLang="zh-CN" dirty="0">
                <a:solidFill>
                  <a:schemeClr val="tx1"/>
                </a:solidFill>
              </a:rPr>
              <a:t>Notes</a:t>
            </a:r>
            <a:r>
              <a:rPr lang="zh-CN" altLang="en-US" dirty="0">
                <a:solidFill>
                  <a:schemeClr val="tx1"/>
                </a:solidFill>
              </a:rPr>
              <a:t>：</a:t>
            </a:r>
            <a:endParaRPr lang="zh-CN" altLang="en-US" dirty="0">
              <a:solidFill>
                <a:schemeClr val="tx1"/>
              </a:solidFill>
            </a:endParaRPr>
          </a:p>
          <a:p>
            <a:pPr marL="0" indent="0"/>
            <a:endParaRPr lang="en-US" dirty="0"/>
          </a:p>
          <a:p>
            <a:pPr marL="0" indent="0"/>
            <a:endParaRPr lang="en-US" dirty="0"/>
          </a:p>
        </p:txBody>
      </p:sp>
      <p:pic>
        <p:nvPicPr>
          <p:cNvPr id="7" name="Picture 6"/>
          <p:cNvPicPr>
            <a:picLocks noChangeAspect="1"/>
          </p:cNvPicPr>
          <p:nvPr/>
        </p:nvPicPr>
        <p:blipFill>
          <a:blip r:embed="rId1"/>
          <a:stretch>
            <a:fillRect/>
          </a:stretch>
        </p:blipFill>
        <p:spPr>
          <a:xfrm>
            <a:off x="466344" y="320040"/>
            <a:ext cx="1181100" cy="1019175"/>
          </a:xfrm>
          <a:prstGeom prst="rect">
            <a:avLst/>
          </a:prstGeom>
        </p:spPr>
      </p:pic>
      <p:sp>
        <p:nvSpPr>
          <p:cNvPr id="8" name="Title 7"/>
          <p:cNvSpPr txBox="1">
            <a:spLocks noGrp="1"/>
          </p:cNvSpPr>
          <p:nvPr>
            <p:ph type="title"/>
          </p:nvPr>
        </p:nvSpPr>
        <p:spPr>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r>
              <a:rPr lang="en-US" sz="3200" dirty="0">
                <a:solidFill>
                  <a:srgbClr val="1E2C5B"/>
                </a:solidFill>
              </a:rPr>
              <a:t>Verification and Validation (VV)</a:t>
            </a:r>
            <a:endParaRPr lang="en-US" sz="3200" dirty="0">
              <a:solidFill>
                <a:srgbClr val="1E2C5B"/>
              </a:solidFill>
            </a:endParaRPr>
          </a:p>
        </p:txBody>
      </p:sp>
      <p:sp>
        <p:nvSpPr>
          <p:cNvPr id="9" name="Content Placeholder 8"/>
          <p:cNvSpPr txBox="1">
            <a:spLocks noGrp="1"/>
          </p:cNvSpPr>
          <p:nvPr>
            <p:ph idx="4294967295"/>
          </p:nvPr>
        </p:nvSpPr>
        <p:spPr>
          <a:xfrm>
            <a:off x="466344" y="1463040"/>
            <a:ext cx="11265408" cy="1439368"/>
          </a:xfrm>
          <a:prstGeom prst="rect">
            <a:avLst/>
          </a:prstGeom>
          <a:noFill/>
        </p:spPr>
        <p:txBody>
          <a:bodyPr wrap="square" rtlCol="0">
            <a:spAutoFit/>
          </a:bodyPr>
          <a:lstStyle/>
          <a:p>
            <a:r>
              <a:rPr lang="en-US" sz="2200" b="1" dirty="0"/>
              <a:t>Intent: </a:t>
            </a:r>
            <a:r>
              <a:rPr lang="en-US" sz="2200" dirty="0">
                <a:effectLst/>
                <a:ea typeface="MS Mincho" panose="02020609040205080304" pitchFamily="49" charset="-128"/>
                <a:cs typeface="Times New Roman" panose="02020603050405020304" pitchFamily="18" charset="0"/>
              </a:rPr>
              <a:t>Confirms selected solutions and components meet their requirements, and demonstrates selected solutions and components fulfill their intended use in their target environment. </a:t>
            </a:r>
            <a:endParaRPr lang="en-US" sz="2200" dirty="0"/>
          </a:p>
          <a:p>
            <a:r>
              <a:rPr lang="en-US" sz="2200" b="1" dirty="0"/>
              <a:t>Value:</a:t>
            </a:r>
            <a:r>
              <a:rPr lang="en-US" sz="2200" dirty="0"/>
              <a:t> Increases the likelihood that the solution will satisfy the customer.</a:t>
            </a:r>
            <a:endParaRPr lang="en-US" sz="2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marL="0" indent="0" algn="ctr"/>
            <a:r>
              <a:rPr lang="en-US" sz="3200" b="1" u="sng">
                <a:solidFill>
                  <a:srgbClr val="1E2C5B"/>
                </a:solidFill>
                <a:uFill>
                  <a:solidFill>
                    <a:srgbClr val="000000"/>
                  </a:solidFill>
                </a:uFill>
                <a:latin typeface="Arial" panose="020B0604020202020204" pitchFamily="34" charset="0"/>
                <a:ea typeface="宋体" charset="0"/>
                <a:cs typeface="+mj-cs" charset="0"/>
              </a:rPr>
              <a:t>Non-CMMI findings</a:t>
            </a:r>
            <a:endParaRPr lang="en-US" altLang="en-US" sz="3200" b="1" u="sng">
              <a:solidFill>
                <a:srgbClr val="1E2C5B"/>
              </a:solidFill>
              <a:uFill>
                <a:solidFill>
                  <a:srgbClr val="000000"/>
                </a:solidFill>
              </a:uFill>
              <a:latin typeface="Arial" panose="020B0604020202020204" pitchFamily="34" charset="0"/>
              <a:ea typeface="宋体" charset="0"/>
              <a:cs typeface="+mj-cs" charset="0"/>
            </a:endParaRPr>
          </a:p>
        </p:txBody>
      </p:sp>
      <p:sp>
        <p:nvSpPr>
          <p:cNvPr id="7" name="文本框 6"/>
          <p:cNvSpPr txBox="1"/>
          <p:nvPr userDrawn="1"/>
        </p:nvSpPr>
        <p:spPr>
          <a:xfrm>
            <a:off x="484390" y="1371015"/>
            <a:ext cx="11227813" cy="4672094"/>
          </a:xfrm>
          <a:prstGeom prst="rect">
            <a:avLst/>
          </a:prstGeom>
        </p:spPr>
        <p:txBody>
          <a:bodyPr wrap="square" rtlCol="0">
            <a:noAutofit/>
          </a:bodyPr>
          <a:p>
            <a:r>
              <a:rPr lang="en-US" sz="2400" b="1" u="none">
                <a:solidFill>
                  <a:srgbClr val="000000"/>
                </a:solidFill>
                <a:latin typeface="Arial" panose="020B0604020202020204" pitchFamily="34" charset="0"/>
                <a:ea typeface="宋体" charset="0"/>
                <a:cs typeface="+mn-cs" charset="0"/>
              </a:rPr>
              <a:t>Strengths:</a:t>
            </a:r>
            <a:endParaRPr lang="en-US" sz="2400" b="1" u="none">
              <a:solidFill>
                <a:srgbClr val="000000"/>
              </a:solidFill>
              <a:latin typeface="Arial" panose="020B0604020202020204" pitchFamily="34" charset="0"/>
              <a:ea typeface="宋体" charset="0"/>
              <a:cs typeface="+mn-cs" charset="0"/>
            </a:endParaRPr>
          </a:p>
          <a:p>
            <a:r>
              <a:rPr lang="zh-CN" sz="1600" b="0" u="none">
                <a:latin typeface="等线" charset="0"/>
                <a:ea typeface="等线" charset="0"/>
                <a:cs typeface="等线" charset="0"/>
              </a:rPr>
              <a:t>新的文化价值观引进，以工作任务驱动，关注进步，引导解决问题，替代原本的追责，逐步渗透下沉至员工</a:t>
            </a:r>
            <a:endParaRPr lang="zh-CN" sz="1600" b="0" u="none">
              <a:latin typeface="等线" charset="0"/>
              <a:ea typeface="等线" charset="0"/>
              <a:cs typeface="等线" charset="0"/>
            </a:endParaRPr>
          </a:p>
          <a:p>
            <a:r>
              <a:rPr lang="zh-CN" sz="1600" b="0" u="none">
                <a:latin typeface="等线" charset="0"/>
                <a:ea typeface="等线" charset="0"/>
                <a:cs typeface="等线" charset="0"/>
              </a:rPr>
              <a:t>阳光正向，包容文化，导入新希望价值观，结合好络维特点，形成好络维的价值观，推动变革。</a:t>
            </a:r>
            <a:endParaRPr lang="zh-CN" sz="1600" b="0" u="none">
              <a:latin typeface="等线" charset="0"/>
              <a:ea typeface="等线" charset="0"/>
              <a:cs typeface="等线" charset="0"/>
            </a:endParaRPr>
          </a:p>
          <a:p>
            <a:r>
              <a:rPr lang="zh-CN" sz="1600" b="0" u="none">
                <a:latin typeface="等线" charset="0"/>
                <a:ea typeface="等线" charset="0"/>
                <a:cs typeface="等线" charset="0"/>
              </a:rPr>
              <a:t>结合集团文化和企业文化，开展季度之星、名师讲台、企业文化月等活动</a:t>
            </a:r>
            <a:endParaRPr lang="zh-CN" sz="1600" b="0" u="none">
              <a:latin typeface="等线" charset="0"/>
              <a:ea typeface="等线" charset="0"/>
              <a:cs typeface="等线" charset="0"/>
            </a:endParaRPr>
          </a:p>
          <a:p>
            <a:endParaRPr lang="zh-CN" sz="1600" b="0" u="none">
              <a:latin typeface="等线" charset="0"/>
              <a:ea typeface="等线" charset="0"/>
              <a:cs typeface="等线" charset="0"/>
            </a:endParaRPr>
          </a:p>
          <a:p>
            <a:endParaRPr lang="en-US" sz="1600" b="1" u="none">
              <a:solidFill>
                <a:srgbClr val="000000"/>
              </a:solidFill>
              <a:latin typeface="等线" charset="0"/>
              <a:ea typeface="等线" charset="0"/>
              <a:cs typeface="等线" charset="0"/>
            </a:endParaRPr>
          </a:p>
          <a:p>
            <a:endParaRPr lang="zh-CN" sz="1400" b="0" u="none">
              <a:solidFill>
                <a:srgbClr val="4472C4"/>
              </a:solidFill>
              <a:latin typeface="微软雅黑" charset="0"/>
              <a:ea typeface="微软雅黑" charset="0"/>
              <a:cs typeface="+mn-cs" charset="0"/>
            </a:endParaRPr>
          </a:p>
          <a:p>
            <a:r>
              <a:rPr lang="en-US" sz="2400" b="1" u="none">
                <a:solidFill>
                  <a:srgbClr val="000000"/>
                </a:solidFill>
                <a:latin typeface="Arial" panose="020B0604020202020204" pitchFamily="34" charset="0"/>
                <a:ea typeface="宋体" charset="0"/>
                <a:cs typeface="+mn-cs" charset="0"/>
              </a:rPr>
              <a:t>Weaknesses:</a:t>
            </a:r>
            <a:endParaRPr lang="en-US" sz="2400" b="1" u="none">
              <a:solidFill>
                <a:srgbClr val="000000"/>
              </a:solidFill>
              <a:latin typeface="Arial" panose="020B0604020202020204" pitchFamily="34" charset="0"/>
              <a:ea typeface="宋体" charset="0"/>
              <a:cs typeface="+mn-cs" charset="0"/>
            </a:endParaRPr>
          </a:p>
          <a:p>
            <a:r>
              <a:rPr lang="en-US" altLang="zh-CN" sz="2400" b="1">
                <a:solidFill>
                  <a:srgbClr val="000000"/>
                </a:solidFill>
                <a:latin typeface="Arial" panose="020B0604020202020204" pitchFamily="34" charset="0"/>
                <a:ea typeface="宋体" charset="0"/>
              </a:rPr>
              <a:t>Notes</a:t>
            </a:r>
            <a:r>
              <a:rPr lang="zh-CN" altLang="en-US" sz="2400" b="1">
                <a:solidFill>
                  <a:srgbClr val="000000"/>
                </a:solidFill>
                <a:latin typeface="Arial" panose="020B0604020202020204" pitchFamily="34" charset="0"/>
                <a:ea typeface="宋体" charset="0"/>
              </a:rPr>
              <a:t>：</a:t>
            </a:r>
            <a:endParaRPr lang="zh-CN" altLang="en-US" sz="2400" b="1">
              <a:solidFill>
                <a:srgbClr val="000000"/>
              </a:solidFill>
              <a:latin typeface="Arial" panose="020B0604020202020204" pitchFamily="34" charset="0"/>
              <a:ea typeface="宋体" charset="0"/>
            </a:endParaRPr>
          </a:p>
          <a:p>
            <a:endParaRPr lang="zh-CN" altLang="en-US" sz="1600" u="none">
              <a:latin typeface="等线" charset="0"/>
              <a:ea typeface="等线" charset="0"/>
              <a:cs typeface="等线" charset="0"/>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marL="0" indent="0"/>
            <a:r>
              <a:rPr lang="en-US" sz="3200" b="1" u="none">
                <a:solidFill>
                  <a:srgbClr val="1E2C5B"/>
                </a:solidFill>
                <a:latin typeface="Arial" panose="020B0604020202020204" pitchFamily="34" charset="0"/>
                <a:ea typeface="宋体" charset="0"/>
                <a:cs typeface="+mj-cs" charset="0"/>
              </a:rPr>
              <a:t>Global Strengths</a:t>
            </a:r>
            <a:endParaRPr lang="en-US" altLang="en-US" sz="3200" b="1" u="none">
              <a:solidFill>
                <a:srgbClr val="1E2C5B"/>
              </a:solidFill>
              <a:latin typeface="Arial" panose="020B0604020202020204" pitchFamily="34" charset="0"/>
              <a:ea typeface="宋体" charset="0"/>
              <a:cs typeface="+mj-cs" charset="0"/>
            </a:endParaRPr>
          </a:p>
        </p:txBody>
      </p:sp>
      <p:sp>
        <p:nvSpPr>
          <p:cNvPr id="3" name="文本框 2"/>
          <p:cNvSpPr txBox="1"/>
          <p:nvPr/>
        </p:nvSpPr>
        <p:spPr>
          <a:xfrm>
            <a:off x="838196" y="1116797"/>
            <a:ext cx="10681916" cy="4485013"/>
          </a:xfrm>
          <a:prstGeom prst="rect">
            <a:avLst/>
          </a:prstGeom>
          <a:noFill/>
        </p:spPr>
        <p:txBody>
          <a:bodyPr wrap="square" rtlCol="0" anchor="t">
            <a:noAutofit/>
          </a:bodyPr>
          <a:p>
            <a:pPr algn="l">
              <a:lnSpc>
                <a:spcPct val="90000"/>
              </a:lnSpc>
              <a:spcBef>
                <a:spcPts val="1000"/>
              </a:spcBef>
              <a:buFont typeface="Arial" panose="020B0604020202020204" pitchFamily="34" charset="0"/>
            </a:pPr>
            <a:r>
              <a:rPr lang="en-US" altLang="zh-CN" sz="1400">
                <a:latin typeface="Calibri" panose="020F0502020204030204" pitchFamily="34" charset="0"/>
                <a:ea typeface="Calibri" panose="020F0502020204030204" pitchFamily="34" charset="0"/>
                <a:cs typeface="Calibri" panose="020F0502020204030204" pitchFamily="34" charset="0"/>
                <a:sym typeface="+mn-ea"/>
              </a:rPr>
              <a:t>The strategic goals are highly matched with market demand, and the business decoding is meticulous. Empowered by the group, the company's senior management introduces new management concepts, and in combination with the company's current situation, leads the company's continuous improvement and transformation</a:t>
            </a:r>
            <a:endParaRPr lang="zh-CN" sz="1400" b="0" u="none">
              <a:latin typeface="Calibri" panose="020F0502020204030204" pitchFamily="34" charset="0"/>
              <a:ea typeface="Calibri" panose="020F0502020204030204" pitchFamily="34" charset="0"/>
              <a:cs typeface="Calibri" panose="020F0502020204030204" pitchFamily="34" charset="0"/>
            </a:endParaRPr>
          </a:p>
          <a:p>
            <a:pPr algn="l">
              <a:lnSpc>
                <a:spcPct val="90000"/>
              </a:lnSpc>
              <a:spcBef>
                <a:spcPts val="1000"/>
              </a:spcBef>
              <a:buFont typeface="Arial" panose="020B0604020202020204" pitchFamily="34" charset="0"/>
            </a:pPr>
            <a:r>
              <a:rPr lang="zh-CN" sz="1400">
                <a:latin typeface="等线" charset="0"/>
                <a:ea typeface="等线" charset="0"/>
                <a:cs typeface="等线" charset="0"/>
                <a:sym typeface="+mn-ea"/>
              </a:rPr>
              <a:t>通过集团赋能，</a:t>
            </a:r>
            <a:r>
              <a:rPr lang="zh-CN" altLang="en-US" sz="1400">
                <a:latin typeface="等线" charset="0"/>
                <a:ea typeface="等线" charset="0"/>
                <a:cs typeface="等线" charset="0"/>
                <a:sym typeface="+mn-ea"/>
              </a:rPr>
              <a:t>公司高层</a:t>
            </a:r>
            <a:r>
              <a:rPr lang="zh-CN" sz="1400">
                <a:latin typeface="等线" charset="0"/>
                <a:ea typeface="等线" charset="0"/>
                <a:cs typeface="等线" charset="0"/>
                <a:sym typeface="+mn-ea"/>
              </a:rPr>
              <a:t>引入新的管理理念，结合公司的现状，引领公司的持续改进和变革</a:t>
            </a:r>
            <a:endParaRPr lang="en-US" sz="1400">
              <a:solidFill>
                <a:srgbClr val="202124"/>
              </a:solidFill>
              <a:latin typeface="inherit" charset="0"/>
              <a:sym typeface="+mn-ea"/>
            </a:endParaRPr>
          </a:p>
          <a:p>
            <a:pPr algn="l">
              <a:lnSpc>
                <a:spcPct val="90000"/>
              </a:lnSpc>
              <a:spcBef>
                <a:spcPts val="1000"/>
              </a:spcBef>
              <a:buFont typeface="Arial" panose="020B0604020202020204" pitchFamily="34" charset="0"/>
            </a:pPr>
            <a:r>
              <a:rPr lang="en-US" sz="1400">
                <a:solidFill>
                  <a:srgbClr val="202124"/>
                </a:solidFill>
                <a:latin typeface="inherit" charset="0"/>
                <a:sym typeface="+mn-ea"/>
              </a:rPr>
              <a:t>By establishing a PMO and restructuring the project management system, project efficiency was improved. The on-schedule completion rate increased from 50% to 90%, and the defect density was reduced from 2.82 to 1.03.</a:t>
            </a:r>
            <a:endParaRPr lang="zh-CN" sz="1400" b="0" u="none">
              <a:solidFill>
                <a:srgbClr val="000000"/>
              </a:solidFill>
              <a:ea typeface="LarkHackSafariFont" charset="0"/>
            </a:endParaRPr>
          </a:p>
          <a:p>
            <a:pPr algn="l">
              <a:lnSpc>
                <a:spcPct val="90000"/>
              </a:lnSpc>
              <a:spcBef>
                <a:spcPts val="1000"/>
              </a:spcBef>
              <a:buFont typeface="Arial" panose="020B0604020202020204" pitchFamily="34" charset="0"/>
            </a:pPr>
            <a:r>
              <a:rPr lang="zh-CN" altLang="en-US" sz="1400">
                <a:solidFill>
                  <a:srgbClr val="000000"/>
                </a:solidFill>
                <a:ea typeface="LarkHackSafariFont" charset="0"/>
                <a:sym typeface="+mn-ea"/>
              </a:rPr>
              <a:t>通过 成立</a:t>
            </a:r>
            <a:r>
              <a:rPr lang="en-US" altLang="zh-CN" sz="1400">
                <a:solidFill>
                  <a:srgbClr val="000000"/>
                </a:solidFill>
                <a:ea typeface="LarkHackSafariFont" charset="0"/>
                <a:sym typeface="+mn-ea"/>
              </a:rPr>
              <a:t>PMO</a:t>
            </a:r>
            <a:r>
              <a:rPr lang="zh-CN" altLang="en-US" sz="1400">
                <a:solidFill>
                  <a:srgbClr val="000000"/>
                </a:solidFill>
                <a:ea typeface="LarkHackSafariFont" charset="0"/>
                <a:sym typeface="+mn-ea"/>
              </a:rPr>
              <a:t>，重构项目管理体系，提升了项目效率，按期完成率从 </a:t>
            </a:r>
            <a:r>
              <a:rPr lang="en-US" altLang="zh-CN" sz="1400">
                <a:solidFill>
                  <a:srgbClr val="000000"/>
                </a:solidFill>
                <a:ea typeface="LarkHackSafariFont" charset="0"/>
                <a:sym typeface="+mn-ea"/>
              </a:rPr>
              <a:t>50% </a:t>
            </a:r>
            <a:r>
              <a:rPr lang="zh-CN" altLang="en-US" sz="1400">
                <a:solidFill>
                  <a:srgbClr val="000000"/>
                </a:solidFill>
                <a:ea typeface="LarkHackSafariFont" charset="0"/>
                <a:sym typeface="+mn-ea"/>
              </a:rPr>
              <a:t>提高到 </a:t>
            </a:r>
            <a:r>
              <a:rPr lang="en-US" altLang="zh-CN" sz="1400">
                <a:solidFill>
                  <a:srgbClr val="000000"/>
                </a:solidFill>
                <a:ea typeface="LarkHackSafariFont" charset="0"/>
                <a:sym typeface="+mn-ea"/>
              </a:rPr>
              <a:t>90%</a:t>
            </a:r>
            <a:r>
              <a:rPr lang="zh-CN" altLang="en-US" sz="1400">
                <a:solidFill>
                  <a:srgbClr val="000000"/>
                </a:solidFill>
                <a:ea typeface="LarkHackSafariFont" charset="0"/>
                <a:sym typeface="+mn-ea"/>
              </a:rPr>
              <a:t>，缺陷密度从 </a:t>
            </a:r>
            <a:r>
              <a:rPr lang="en-US" altLang="zh-CN" sz="1400">
                <a:solidFill>
                  <a:srgbClr val="000000"/>
                </a:solidFill>
                <a:ea typeface="LarkHackSafariFont" charset="0"/>
                <a:sym typeface="+mn-ea"/>
              </a:rPr>
              <a:t>2.82 </a:t>
            </a:r>
            <a:r>
              <a:rPr lang="zh-CN" altLang="en-US" sz="1400">
                <a:solidFill>
                  <a:srgbClr val="000000"/>
                </a:solidFill>
                <a:ea typeface="LarkHackSafariFont" charset="0"/>
                <a:sym typeface="+mn-ea"/>
              </a:rPr>
              <a:t>降低到 </a:t>
            </a:r>
            <a:r>
              <a:rPr lang="en-US" altLang="zh-CN" sz="1400">
                <a:solidFill>
                  <a:srgbClr val="000000"/>
                </a:solidFill>
                <a:ea typeface="LarkHackSafariFont" charset="0"/>
                <a:sym typeface="+mn-ea"/>
              </a:rPr>
              <a:t>1.03</a:t>
            </a:r>
            <a:endParaRPr lang="zh-CN" sz="1400">
              <a:latin typeface="等线" charset="0"/>
              <a:ea typeface="等线" charset="0"/>
              <a:cs typeface="等线" charset="0"/>
              <a:sym typeface="+mn-ea"/>
            </a:endParaRPr>
          </a:p>
          <a:p>
            <a:pPr algn="l">
              <a:lnSpc>
                <a:spcPct val="90000"/>
              </a:lnSpc>
              <a:spcBef>
                <a:spcPts val="1000"/>
              </a:spcBef>
              <a:buFont typeface="Arial" panose="020B0604020202020204" pitchFamily="34" charset="0"/>
            </a:pPr>
            <a:r>
              <a:rPr lang="en-US" altLang="zh-CN" sz="1400">
                <a:sym typeface="+mn-ea"/>
              </a:rPr>
              <a:t>The company's products have transformed from a single tool</a:t>
            </a:r>
            <a:r>
              <a:rPr lang="zh-CN" altLang="en-US" sz="1400">
                <a:sym typeface="+mn-ea"/>
              </a:rPr>
              <a:t>-</a:t>
            </a:r>
            <a:r>
              <a:rPr lang="en-US" altLang="zh-CN" sz="1400">
                <a:sym typeface="+mn-ea"/>
              </a:rPr>
              <a:t>based product to a service</a:t>
            </a:r>
            <a:r>
              <a:rPr lang="zh-CN" altLang="en-US" sz="1400">
                <a:sym typeface="+mn-ea"/>
              </a:rPr>
              <a:t>-</a:t>
            </a:r>
            <a:r>
              <a:rPr lang="en-US" altLang="zh-CN" sz="1400">
                <a:sym typeface="+mn-ea"/>
              </a:rPr>
              <a:t>based product ecological operation and value subscription model.</a:t>
            </a:r>
            <a:endParaRPr lang="zh-CN" altLang="en-US" sz="1400"/>
          </a:p>
          <a:p>
            <a:pPr algn="l">
              <a:lnSpc>
                <a:spcPct val="90000"/>
              </a:lnSpc>
              <a:spcBef>
                <a:spcPts val="1000"/>
              </a:spcBef>
              <a:buFont typeface="Arial" panose="020B0604020202020204" pitchFamily="34" charset="0"/>
            </a:pPr>
            <a:r>
              <a:rPr lang="zh-CN" altLang="en-US" sz="1400">
                <a:sym typeface="+mn-ea"/>
              </a:rPr>
              <a:t>公司产品从单一的工具型产品转换为服务型的产品生态运营和价值订阅模式。</a:t>
            </a:r>
            <a:endParaRPr lang="zh-CN" sz="1400" b="0" u="none">
              <a:solidFill>
                <a:srgbClr val="4472C4"/>
              </a:solidFill>
              <a:latin typeface="微软雅黑" charset="0"/>
              <a:ea typeface="微软雅黑" charset="0"/>
              <a:cs typeface="+mn-cs"/>
            </a:endParaRPr>
          </a:p>
          <a:p>
            <a:pPr algn="l">
              <a:lnSpc>
                <a:spcPct val="90000"/>
              </a:lnSpc>
              <a:spcBef>
                <a:spcPts val="1000"/>
              </a:spcBef>
              <a:buFont typeface="Arial" panose="020B0604020202020204" pitchFamily="34" charset="0"/>
            </a:pPr>
            <a:endParaRPr lang="en-US" altLang="zh-CN" sz="1400">
              <a:latin typeface="Calibri" panose="020F0502020204030204" pitchFamily="34" charset="0"/>
              <a:ea typeface="Calibri" panose="020F0502020204030204" pitchFamily="34" charset="0"/>
              <a:cs typeface="Calibri" panose="020F0502020204030204" pitchFamily="34" charset="0"/>
              <a:sym typeface="+mn-ea"/>
            </a:endParaRPr>
          </a:p>
          <a:p>
            <a:pPr algn="l">
              <a:lnSpc>
                <a:spcPct val="90000"/>
              </a:lnSpc>
              <a:spcBef>
                <a:spcPts val="1000"/>
              </a:spcBef>
              <a:buFont typeface="Arial" panose="020B0604020202020204" pitchFamily="34" charset="0"/>
            </a:pPr>
            <a:endParaRPr lang="zh-CN" altLang="en-US" sz="14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Ratings</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Ratings for &lt;OU Name&gt;</a:t>
            </a:r>
            <a:endParaRPr lang="en-US" dirty="0"/>
          </a:p>
        </p:txBody>
      </p:sp>
      <p:graphicFrame>
        <p:nvGraphicFramePr>
          <p:cNvPr id="4" name="Object 3"/>
          <p:cNvGraphicFramePr>
            <a:graphicFrameLocks noChangeAspect="1"/>
          </p:cNvGraphicFramePr>
          <p:nvPr/>
        </p:nvGraphicFramePr>
        <p:xfrm>
          <a:off x="1981199" y="942975"/>
          <a:ext cx="8078209" cy="5398108"/>
        </p:xfrm>
        <a:graphic>
          <a:graphicData uri="http://schemas.openxmlformats.org/presentationml/2006/ole">
            <mc:AlternateContent xmlns:mc="http://schemas.openxmlformats.org/markup-compatibility/2006">
              <mc:Choice xmlns:v="urn:schemas-microsoft-com:vml" Requires="v">
                <p:oleObj spid="_x0000_s5" name="Worksheet" r:id="rId1" imgW="9556115" imgH="6384925" progId="Excel.Sheet.12">
                  <p:embed/>
                </p:oleObj>
              </mc:Choice>
              <mc:Fallback>
                <p:oleObj name="Worksheet" r:id="rId1" imgW="9556115" imgH="6384925" progId="Excel.Sheet.12">
                  <p:embed/>
                  <p:pic>
                    <p:nvPicPr>
                      <p:cNvPr id="0" name="Object 3"/>
                      <p:cNvPicPr/>
                      <p:nvPr/>
                    </p:nvPicPr>
                    <p:blipFill>
                      <a:blip r:embed="rId2"/>
                      <a:stretch>
                        <a:fillRect/>
                      </a:stretch>
                    </p:blipFill>
                    <p:spPr>
                      <a:xfrm>
                        <a:off x="1981199" y="942975"/>
                        <a:ext cx="8078209" cy="5398108"/>
                      </a:xfrm>
                      <a:prstGeom prst="rect">
                        <a:avLst/>
                      </a:prstGeom>
                    </p:spPr>
                  </p:pic>
                </p:oleObj>
              </mc:Fallback>
            </mc:AlternateContent>
          </a:graphicData>
        </a:graphic>
      </p:graphicFrame>
      <p:sp>
        <p:nvSpPr>
          <p:cNvPr id="3" name="Rectangle 2"/>
          <p:cNvSpPr/>
          <p:nvPr/>
        </p:nvSpPr>
        <p:spPr>
          <a:xfrm>
            <a:off x="4038250" y="4688113"/>
            <a:ext cx="2930610"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chemeClr val="accent2">
                    <a:lumMod val="40000"/>
                    <a:lumOff val="60000"/>
                  </a:schemeClr>
                </a:solidFill>
                <a:effectLst/>
              </a:rPr>
              <a:t>EXAMPLE</a:t>
            </a:r>
            <a:endParaRPr lang="en-US" sz="5400" b="1" cap="none" spc="0" dirty="0">
              <a:ln w="22225">
                <a:solidFill>
                  <a:schemeClr val="accent2"/>
                </a:solidFill>
                <a:prstDash val="solid"/>
              </a:ln>
              <a:solidFill>
                <a:schemeClr val="accent2">
                  <a:lumMod val="40000"/>
                  <a:lumOff val="60000"/>
                </a:schemeClr>
              </a:solidFill>
              <a:effectLs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a:xfrm>
            <a:off x="561975" y="365126"/>
            <a:ext cx="10515600" cy="602284"/>
          </a:xfrm>
        </p:spPr>
        <p:txBody>
          <a:bodyPr/>
          <a:lstStyle/>
          <a:p>
            <a:r>
              <a:rPr lang="en-US" altLang="en-US" dirty="0"/>
              <a:t>Appraisal Team Affirmations: Signature Page</a:t>
            </a:r>
            <a:endParaRPr lang="en-US" altLang="en-US" dirty="0"/>
          </a:p>
        </p:txBody>
      </p:sp>
      <p:graphicFrame>
        <p:nvGraphicFramePr>
          <p:cNvPr id="234500" name="Group 4"/>
          <p:cNvGraphicFramePr>
            <a:graphicFrameLocks noGrp="1"/>
          </p:cNvGraphicFramePr>
          <p:nvPr>
            <p:ph idx="1"/>
          </p:nvPr>
        </p:nvGraphicFramePr>
        <p:xfrm>
          <a:off x="704850" y="2009775"/>
          <a:ext cx="10515600" cy="4064004"/>
        </p:xfrm>
        <a:graphic>
          <a:graphicData uri="http://schemas.openxmlformats.org/drawingml/2006/table">
            <a:tbl>
              <a:tblPr/>
              <a:tblGrid>
                <a:gridCol w="1922537"/>
                <a:gridCol w="3277935"/>
                <a:gridCol w="3732465"/>
                <a:gridCol w="1582663"/>
              </a:tblGrid>
              <a:tr h="33813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sz="1400" b="1" i="0" u="none" strike="noStrike" cap="none" normalizeH="0" baseline="0" dirty="0">
                          <a:ln>
                            <a:noFill/>
                          </a:ln>
                          <a:solidFill>
                            <a:schemeClr val="tx1"/>
                          </a:solidFill>
                          <a:effectLst/>
                          <a:latin typeface="Century Gothic" panose="020B0502020202020204" pitchFamily="34" charset="0"/>
                        </a:rPr>
                        <a:t>Team Role</a:t>
                      </a:r>
                      <a:endParaRPr kumimoji="0" lang="en-US" sz="1400" b="1"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sz="1400" b="1" i="0" u="none" strike="noStrike" cap="none" normalizeH="0" baseline="0" dirty="0">
                          <a:ln>
                            <a:noFill/>
                          </a:ln>
                          <a:solidFill>
                            <a:schemeClr val="tx1"/>
                          </a:solidFill>
                          <a:effectLst/>
                          <a:latin typeface="Century Gothic" panose="020B0502020202020204" pitchFamily="34" charset="0"/>
                        </a:rPr>
                        <a:t>Name (printed/typed)</a:t>
                      </a:r>
                      <a:endParaRPr kumimoji="0" lang="en-US" sz="1400" b="1"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sz="1400" b="1" i="0" u="none" strike="noStrike" cap="none" normalizeH="0" baseline="0" dirty="0">
                          <a:ln>
                            <a:noFill/>
                          </a:ln>
                          <a:solidFill>
                            <a:schemeClr val="tx1"/>
                          </a:solidFill>
                          <a:effectLst/>
                          <a:latin typeface="Century Gothic" panose="020B0502020202020204" pitchFamily="34" charset="0"/>
                        </a:rPr>
                        <a:t>Signature</a:t>
                      </a:r>
                      <a:endParaRPr kumimoji="0" lang="en-US" sz="1400" b="1"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sz="1400" b="1" i="0" u="none" strike="noStrike" cap="none" normalizeH="0" baseline="0" dirty="0">
                          <a:ln>
                            <a:noFill/>
                          </a:ln>
                          <a:solidFill>
                            <a:schemeClr val="tx1"/>
                          </a:solidFill>
                          <a:effectLst/>
                          <a:latin typeface="Century Gothic" panose="020B0502020202020204" pitchFamily="34" charset="0"/>
                        </a:rPr>
                        <a:t>Date</a:t>
                      </a:r>
                      <a:endParaRPr kumimoji="0" lang="en-US" sz="1400" b="1"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DDDDDD"/>
                    </a:solidFill>
                  </a:tcPr>
                </a:tc>
              </a:tr>
              <a:tr h="3397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3397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3397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33972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1400" b="0" i="0" u="none" strike="noStrike" cap="none" normalizeH="0" baseline="0" dirty="0">
                        <a:ln>
                          <a:noFill/>
                        </a:ln>
                        <a:solidFill>
                          <a:schemeClr val="tx1"/>
                        </a:solidFill>
                        <a:effectLst/>
                        <a:latin typeface="Century Gothic" panose="020B0502020202020204" pitchFamily="34" charset="0"/>
                      </a:endParaRPr>
                    </a:p>
                  </a:txBody>
                  <a:tcPr marL="117932" marR="11793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p:sp>
        <p:nvSpPr>
          <p:cNvPr id="47108" name="Rectangle 3"/>
          <p:cNvSpPr>
            <a:spLocks noGrp="1" noChangeArrowheads="1"/>
          </p:cNvSpPr>
          <p:nvPr>
            <p:ph type="body" sz="half" idx="4294967295"/>
          </p:nvPr>
        </p:nvSpPr>
        <p:spPr>
          <a:xfrm>
            <a:off x="561975" y="1096963"/>
            <a:ext cx="11353800" cy="568325"/>
          </a:xfrm>
        </p:spPr>
        <p:txBody>
          <a:bodyPr>
            <a:noAutofit/>
          </a:bodyPr>
          <a:lstStyle/>
          <a:p>
            <a:pPr marL="0" indent="0">
              <a:buNone/>
            </a:pPr>
            <a:r>
              <a:rPr lang="en-US" altLang="en-US" sz="2400" dirty="0"/>
              <a:t>I support the findings in this presentation and affirm that to the best of my knowledge it represents an accurate portrayal of the state of the process in the appraised organization.</a:t>
            </a:r>
            <a:endParaRPr lang="en-US" altLang="en-US" sz="2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Picture 5"/>
          <p:cNvPicPr>
            <a:picLocks noChangeAspect="1" noChangeArrowheads="1"/>
          </p:cNvPicPr>
          <p:nvPr/>
        </p:nvPicPr>
        <p:blipFill>
          <a:blip r:embed="rId1">
            <a:extLst>
              <a:ext uri="{96DAC541-7B7A-43D3-8B79-37D633B846F1}">
                <asvg:svgBlip xmlns:asvg="http://schemas.microsoft.com/office/drawing/2016/SVG/main" r:embed="rId2"/>
              </a:ext>
            </a:extLst>
          </a:blip>
          <a:srcRect/>
          <a:stretch>
            <a:fillRect/>
          </a:stretch>
        </p:blipFill>
        <p:spPr bwMode="auto">
          <a:xfrm>
            <a:off x="3259417" y="647701"/>
            <a:ext cx="5154613" cy="51546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17941</Words>
  <Application>WPS Office WWO_feishu_20230110121033-3971878c96</Application>
  <PresentationFormat>Widescreen</PresentationFormat>
  <Paragraphs>411</Paragraphs>
  <Slides>39</Slides>
  <Notes>14</Notes>
  <HiddenSlides>0</HiddenSlides>
  <MMClips>0</MMClips>
  <ScaleCrop>false</ScaleCrop>
  <HeadingPairs>
    <vt:vector size="8" baseType="variant">
      <vt:variant>
        <vt:lpstr>已用的字体</vt:lpstr>
      </vt:variant>
      <vt:variant>
        <vt:i4>20</vt:i4>
      </vt:variant>
      <vt:variant>
        <vt:lpstr>主题</vt:lpstr>
      </vt:variant>
      <vt:variant>
        <vt:i4>1</vt:i4>
      </vt:variant>
      <vt:variant>
        <vt:lpstr>嵌入 OLE 服务器</vt:lpstr>
      </vt:variant>
      <vt:variant>
        <vt:i4>1</vt:i4>
      </vt:variant>
      <vt:variant>
        <vt:lpstr>幻灯片标题</vt:lpstr>
      </vt:variant>
      <vt:variant>
        <vt:i4>39</vt:i4>
      </vt:variant>
    </vt:vector>
  </HeadingPairs>
  <TitlesOfParts>
    <vt:vector size="61" baseType="lpstr">
      <vt:lpstr>Arial</vt:lpstr>
      <vt:lpstr>宋体</vt:lpstr>
      <vt:lpstr>Wingdings</vt:lpstr>
      <vt:lpstr>Calibri</vt:lpstr>
      <vt:lpstr>MS PGothic</vt:lpstr>
      <vt:lpstr>汉仪书宋二KW</vt:lpstr>
      <vt:lpstr>Tahoma</vt:lpstr>
      <vt:lpstr>Times New Roman</vt:lpstr>
      <vt:lpstr>MS Mincho</vt:lpstr>
      <vt:lpstr>Century Gothic</vt:lpstr>
      <vt:lpstr>LarkHackSafariFont</vt:lpstr>
      <vt:lpstr>宋体</vt:lpstr>
      <vt:lpstr>等线</vt:lpstr>
      <vt:lpstr>汉仪中等线KW</vt:lpstr>
      <vt:lpstr>-apple-system</vt:lpstr>
      <vt:lpstr>微软雅黑</vt:lpstr>
      <vt:lpstr>+mn-cs</vt:lpstr>
      <vt:lpstr>汉仪旗黑KW 55S</vt:lpstr>
      <vt:lpstr>+mj-cs</vt:lpstr>
      <vt:lpstr>inherit</vt:lpstr>
      <vt:lpstr>Office Theme</vt:lpstr>
      <vt:lpstr>Excel.Sheet.12</vt:lpstr>
      <vt:lpstr>Final Findings Template</vt:lpstr>
      <vt:lpstr>Appraisal Overview</vt:lpstr>
      <vt:lpstr>Appraisal Overview</vt:lpstr>
      <vt:lpstr>Business Objectives</vt:lpstr>
      <vt:lpstr>Appraisal Objectives</vt:lpstr>
      <vt:lpstr>Appraisal Team</vt:lpstr>
      <vt:lpstr>Appraisal Support Personnel</vt:lpstr>
      <vt:lpstr>Appraisal Scope: Benchmark Model View</vt:lpstr>
      <vt:lpstr>Appraisal Scope: Organizational Scope</vt:lpstr>
      <vt:lpstr>Appraisal Scope: Organizational Sample</vt:lpstr>
      <vt:lpstr>Findings Definitions: Required Categories</vt:lpstr>
      <vt:lpstr>Findings Definitions: Optional Findings Categories</vt:lpstr>
      <vt:lpstr>PowerPoint 演示文稿</vt:lpstr>
      <vt:lpstr>Practice Area Findings</vt:lpstr>
      <vt:lpstr>Causal Analysis and Resolution (CAR)</vt:lpstr>
      <vt:lpstr>Configuration Management (CM)</vt:lpstr>
      <vt:lpstr>Decision Analysis and Resolution (DAR)</vt:lpstr>
      <vt:lpstr>Estimating (EST)</vt:lpstr>
      <vt:lpstr>Governance (GOV)</vt:lpstr>
      <vt:lpstr>Implementation Infrastructure (II)</vt:lpstr>
      <vt:lpstr>Managing Performance and Measurement (MPM)</vt:lpstr>
      <vt:lpstr>Monitor and Control (MC)</vt:lpstr>
      <vt:lpstr>Organizational Training (OT)</vt:lpstr>
      <vt:lpstr>Peer Reviews (PR)</vt:lpstr>
      <vt:lpstr>Planning (PLAN)</vt:lpstr>
      <vt:lpstr>Process Asset Development (PAD)</vt:lpstr>
      <vt:lpstr>Process Management (PCM)</vt:lpstr>
      <vt:lpstr>Process Quality Assurance (PQA)</vt:lpstr>
      <vt:lpstr>Product Integration (PI)</vt:lpstr>
      <vt:lpstr>Requirements Development and Management (RDM)</vt:lpstr>
      <vt:lpstr>Risk and Opportunity Management (RSK)</vt:lpstr>
      <vt:lpstr>Technical Solution (TS)</vt:lpstr>
      <vt:lpstr>Verification and Validation (VV)</vt:lpstr>
      <vt:lpstr>PowerPoint 演示文稿</vt:lpstr>
      <vt:lpstr>PowerPoint 演示文稿</vt:lpstr>
      <vt:lpstr>Ratings</vt:lpstr>
      <vt:lpstr>Ratings for &lt;OU Name&gt;</vt:lpstr>
      <vt:lpstr>Appraisal Team Affirmations: Signature Page</vt:lpstr>
      <vt:lpstr>PowerPoint 演示文稿</vt:lpstr>
    </vt:vector>
  </TitlesOfParts>
  <Company>ISACA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Findings Template</dc:title>
  <dc:creator>ISACA</dc:creator>
  <cp:lastModifiedBy>Kileen Harrison</cp:lastModifiedBy>
  <dcterms:created xsi:type="dcterms:W3CDTF">2023-08-31T05:39:49Z</dcterms:created>
  <dcterms:modified xsi:type="dcterms:W3CDTF">2023-08-31T05:39:49Z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0x010109003B1636D4CD35C942A85CF6E42D91005E00A43A97C2FAF0E446A4BFC8F8F0F7C7A4</vt:lpwstr>
  </property>
  <property fmtid="{D5CDD505-2E9C-101B-9397-08002B2CF9AE}" pid="3" name="xd_Signature">
    <vt:bool>false</vt:bool>
  </property>
  <property fmtid="{D5CDD505-2E9C-101B-9397-08002B2CF9AE}" pid="4" name="xd_ProgID">
    <vt:lpwstr/>
  </property>
  <property fmtid="{D5CDD505-2E9C-101B-9397-08002B2CF9AE}" pid="5" name="TemplateUrl">
    <vt:lpwstr/>
  </property>
  <property fmtid="{D5CDD505-2E9C-101B-9397-08002B2CF9AE}" pid="6" name="ComplianceAssetId">
    <vt:lpwstr/>
  </property>
  <property fmtid="{D5CDD505-2E9C-101B-9397-08002B2CF9AE}" pid="7" name="AuthorIds_UIVersion_3601">
    <vt:lpwstr>40</vt:lpwstr>
  </property>
  <property fmtid="{D5CDD505-2E9C-101B-9397-08002B2CF9AE}" pid="8" name="_ShortcutWebId">
    <vt:lpwstr/>
  </property>
  <property fmtid="{D5CDD505-2E9C-101B-9397-08002B2CF9AE}" pid="9" name="_ShortcutUniqueId">
    <vt:lpwstr/>
  </property>
  <property fmtid="{D5CDD505-2E9C-101B-9397-08002B2CF9AE}" pid="10" name="_ShortcutSiteId">
    <vt:lpwstr/>
  </property>
  <property fmtid="{D5CDD505-2E9C-101B-9397-08002B2CF9AE}" pid="11" name="Class">
    <vt:lpwstr/>
  </property>
  <property fmtid="{D5CDD505-2E9C-101B-9397-08002B2CF9AE}" pid="12" name="Model Component">
    <vt:lpwstr>;#Toolkit;#MDD-APC;#</vt:lpwstr>
  </property>
  <property fmtid="{D5CDD505-2E9C-101B-9397-08002B2CF9AE}" pid="13" name="_ShortcutUrl">
    <vt:lpwstr/>
  </property>
  <property fmtid="{D5CDD505-2E9C-101B-9397-08002B2CF9AE}" pid="14" name="Class Component">
    <vt:lpwstr/>
  </property>
  <property fmtid="{D5CDD505-2E9C-101B-9397-08002B2CF9AE}" pid="15" name="_ip_UnifiedCompliancePolicyProperties">
    <vt:lpwstr/>
  </property>
  <property fmtid="{D5CDD505-2E9C-101B-9397-08002B2CF9AE}" pid="16" name="_ip_UnifiedCompliancePolicyUIAction">
    <vt:lpwstr/>
  </property>
  <property fmtid="{D5CDD505-2E9C-101B-9397-08002B2CF9AE}" pid="17" name="Class Level">
    <vt:lpwstr>Building</vt:lpwstr>
  </property>
  <property fmtid="{D5CDD505-2E9C-101B-9397-08002B2CF9AE}" pid="18" name="ICV">
    <vt:lpwstr/>
  </property>
  <property fmtid="{D5CDD505-2E9C-101B-9397-08002B2CF9AE}" pid="19" name="KSOProductBuildVer">
    <vt:lpwstr>2052-0.0.0.0</vt:lpwstr>
  </property>
</Properties>
</file>