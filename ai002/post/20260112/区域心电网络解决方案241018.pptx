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tags/tag8.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38.xml" ContentType="application/vnd.openxmlformats-officedocument.presentationml.tags+xml"/>
  <Override PartName="/ppt/tags/tag56.xml" ContentType="application/vnd.openxmlformats-officedocument.presentationml.tags+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tags/tag34.xml" ContentType="application/vnd.openxmlformats-officedocument.presentationml.tags+xml"/>
  <Override PartName="/ppt/tags/tag52.xml" ContentType="application/vnd.openxmlformats-officedocument.presentationml.tags+xml"/>
  <Override PartName="/ppt/diagrams/layout1.xml" ContentType="application/vnd.openxmlformats-officedocument.drawingml.diagramLayout+xml"/>
  <Override PartName="/ppt/notesSlides/notesSlide7.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41.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emf" ContentType="image/x-emf"/>
  <Override PartName="/ppt/tags/tag39.xml" ContentType="application/vnd.openxmlformats-officedocument.presentationml.tags+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tags/tag1.xml" ContentType="application/vnd.openxmlformats-officedocument.presentationml.tags+xml"/>
  <Override PartName="/ppt/slideLayouts/slideLayout14.xml" ContentType="application/vnd.openxmlformats-officedocument.presentationml.slideLayout+xml"/>
  <Override PartName="/ppt/tags/tag28.xml" ContentType="application/vnd.openxmlformats-officedocument.presentationml.tags+xml"/>
  <Override PartName="/ppt/tags/tag57.xml" ContentType="application/vnd.openxmlformats-officedocument.presentationml.tags+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tags/tag5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Default Extension="wdp" ContentType="image/vnd.ms-photo"/>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notesSlides/notesSlide8.xml" ContentType="application/vnd.openxmlformats-officedocument.presentationml.notesSlide+xml"/>
  <Override PartName="/ppt/tags/tag24.xml" ContentType="application/vnd.openxmlformats-officedocument.presentationml.tags+xml"/>
  <Override PartName="/ppt/notesSlides/notesSlide11.xml" ContentType="application/vnd.openxmlformats-officedocument.presentationml.notesSlide+xml"/>
  <Override PartName="/ppt/tags/tag33.xml" ContentType="application/vnd.openxmlformats-officedocument.presentationml.tags+xml"/>
  <Override PartName="/ppt/tags/tag44.xml" ContentType="application/vnd.openxmlformats-officedocument.presentationml.tags+xml"/>
  <Override PartName="/ppt/tags/tag53.xml" ContentType="application/vnd.openxmlformats-officedocument.presentationml.tags+xml"/>
  <Override PartName="/ppt/notesSlides/notesSlide20.xml" ContentType="application/vnd.openxmlformats-officedocument.presentationml.notesSlide+xml"/>
  <Override PartName="/ppt/notesSlides/notesSlide6.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slides/slide8.xml" ContentType="application/vnd.openxmlformats-officedocument.presentationml.slide+xml"/>
  <Override PartName="/ppt/diagrams/data1.xml" ContentType="application/vnd.openxmlformats-officedocument.drawingml.diagramData+xml"/>
  <Override PartName="/ppt/notesSlides/notesSlide4.xml" ContentType="application/vnd.openxmlformats-officedocument.presentationml.notesSlide+xml"/>
  <Override PartName="/ppt/tags/tag11.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diagrams/colors1.xml" ContentType="application/vnd.openxmlformats-officedocument.drawingml.diagramColors+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tags/tag47.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notesSlides/notesSlide14.xml" ContentType="application/vnd.openxmlformats-officedocument.presentationml.notesSlide+xml"/>
  <Override PartName="/ppt/commentAuthors.xml" ContentType="application/vnd.openxmlformats-officedocument.presentationml.commentAuthors+xml"/>
  <Override PartName="/ppt/tags/tag1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43.xml" ContentType="application/vnd.openxmlformats-officedocument.presentationml.tags+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tags/tag32.xml" ContentType="application/vnd.openxmlformats-officedocument.presentationml.tags+xml"/>
  <Override PartName="/ppt/tags/tag50.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tags/tag10.xml" ContentType="application/vnd.openxmlformats-officedocument.presentationml.tags+xml"/>
  <Override PartName="/ppt/tags/tag21.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notesSlides/notesSlide1.xml" ContentType="application/vnd.openxmlformats-officedocument.presentationml.notesSlide+xml"/>
  <Override PartName="/ppt/tags/tag7.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Layouts/slideLayout16.xml" ContentType="application/vnd.openxmlformats-officedocument.presentationml.slideLayout+xml"/>
  <Override PartName="/ppt/diagrams/quickStyle1.xml" ContentType="application/vnd.openxmlformats-officedocument.drawingml.diagramStyle+xml"/>
  <Override PartName="/ppt/tags/tag3.xml" ContentType="application/vnd.openxmlformats-officedocument.presentationml.tags+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notesSlides/notesSlide15.xml" ContentType="application/vnd.openxmlformats-officedocument.presentationml.notes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617" r:id="rId2"/>
    <p:sldId id="2742" r:id="rId3"/>
    <p:sldId id="2743" r:id="rId4"/>
    <p:sldId id="16668171" r:id="rId5"/>
    <p:sldId id="16668185" r:id="rId6"/>
    <p:sldId id="16668117" r:id="rId7"/>
    <p:sldId id="16668213" r:id="rId8"/>
    <p:sldId id="16668215" r:id="rId9"/>
    <p:sldId id="16668241" r:id="rId10"/>
    <p:sldId id="16668249" r:id="rId11"/>
    <p:sldId id="16668250" r:id="rId12"/>
    <p:sldId id="16668251" r:id="rId13"/>
    <p:sldId id="16668243" r:id="rId14"/>
    <p:sldId id="16668244" r:id="rId15"/>
    <p:sldId id="16668245" r:id="rId16"/>
    <p:sldId id="16668246" r:id="rId17"/>
    <p:sldId id="16668247" r:id="rId18"/>
    <p:sldId id="16668248" r:id="rId19"/>
    <p:sldId id="16668220" r:id="rId20"/>
    <p:sldId id="16668221" r:id="rId21"/>
    <p:sldId id="16668222" r:id="rId22"/>
    <p:sldId id="16668223" r:id="rId23"/>
    <p:sldId id="16668226" r:id="rId24"/>
    <p:sldId id="16668233" r:id="rId25"/>
    <p:sldId id="16668236" r:id="rId26"/>
    <p:sldId id="16668225" r:id="rId27"/>
    <p:sldId id="16668237" r:id="rId28"/>
    <p:sldId id="16668200" r:id="rId29"/>
    <p:sldId id="16668166" r:id="rId30"/>
    <p:sldId id="16668199" r:id="rId31"/>
    <p:sldId id="16668124" r:id="rId32"/>
    <p:sldId id="16668176" r:id="rId33"/>
    <p:sldId id="16668202" r:id="rId34"/>
    <p:sldId id="16668204" r:id="rId35"/>
    <p:sldId id="16668205" r:id="rId36"/>
    <p:sldId id="16668206" r:id="rId37"/>
    <p:sldId id="16668207" r:id="rId38"/>
    <p:sldId id="16668203" r:id="rId39"/>
    <p:sldId id="2740" r:id="rId40"/>
  </p:sldIdLst>
  <p:sldSz cx="9144000" cy="5143500" type="screen16x9"/>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774" userDrawn="1">
          <p15:clr>
            <a:srgbClr val="A4A3A4"/>
          </p15:clr>
        </p15:guide>
        <p15:guide id="2" pos="2880" userDrawn="1">
          <p15:clr>
            <a:srgbClr val="A4A3A4"/>
          </p15:clr>
        </p15:guide>
        <p15:guide id="3" orient="horz" pos="2334" userDrawn="1">
          <p15:clr>
            <a:srgbClr val="A4A3A4"/>
          </p15:clr>
        </p15:guide>
        <p15:guide id="4" pos="3786" userDrawn="1">
          <p15:clr>
            <a:srgbClr val="A4A3A4"/>
          </p15:clr>
        </p15:guide>
        <p15:guide id="5" orient="horz" pos="799" userDrawn="1">
          <p15:clr>
            <a:srgbClr val="A4A3A4"/>
          </p15:clr>
        </p15:guide>
        <p15:guide id="6" orient="horz" pos="2979" userDrawn="1">
          <p15:clr>
            <a:srgbClr val="A4A3A4"/>
          </p15:clr>
        </p15:guide>
        <p15:guide id="7" pos="249" userDrawn="1">
          <p15:clr>
            <a:srgbClr val="A4A3A4"/>
          </p15:clr>
        </p15:guide>
        <p15:guide id="8" pos="5556" userDrawn="1">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袁祖峰" initials="Y" lastIdx="4"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179B1"/>
    <a:srgbClr val="73A2BF"/>
    <a:srgbClr val="166191"/>
    <a:srgbClr val="196494"/>
    <a:srgbClr val="FFFFFF"/>
    <a:srgbClr val="E8F0F9"/>
    <a:srgbClr val="B9CDE5"/>
    <a:srgbClr val="2B78CA"/>
    <a:srgbClr val="4D94C1"/>
    <a:srgbClr val="95B3D7"/>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87008" autoAdjust="0"/>
  </p:normalViewPr>
  <p:slideViewPr>
    <p:cSldViewPr showGuides="1">
      <p:cViewPr>
        <p:scale>
          <a:sx n="75" d="100"/>
          <a:sy n="75" d="100"/>
        </p:scale>
        <p:origin x="102" y="-174"/>
      </p:cViewPr>
      <p:guideLst>
        <p:guide orient="horz" pos="1774"/>
        <p:guide orient="horz" pos="2334"/>
        <p:guide orient="horz" pos="799"/>
        <p:guide orient="horz" pos="2979"/>
        <p:guide pos="2880"/>
        <p:guide pos="3786"/>
        <p:guide pos="249"/>
        <p:guide pos="5556"/>
      </p:guideLst>
    </p:cSldViewPr>
  </p:slideViewPr>
  <p:notesTextViewPr>
    <p:cViewPr>
      <p:scale>
        <a:sx n="125" d="100"/>
        <a:sy n="125" d="100"/>
      </p:scale>
      <p:origin x="0" y="0"/>
    </p:cViewPr>
  </p:notesTextViewPr>
  <p:sorterViewPr>
    <p:cViewPr varScale="1">
      <p:scale>
        <a:sx n="1" d="1"/>
        <a:sy n="1" d="1"/>
      </p:scale>
      <p:origin x="0" y="-6720"/>
    </p:cViewPr>
  </p:sorterViewPr>
  <p:notesViewPr>
    <p:cSldViewPr>
      <p:cViewPr varScale="1">
        <p:scale>
          <a:sx n="52" d="100"/>
          <a:sy n="52" d="100"/>
        </p:scale>
        <p:origin x="2680" y="56"/>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5DD76F-B35C-4751-A212-66F82C77365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32EB7006-38AE-42D1-92BE-BDC71A5A31F5}">
      <dgm:prSet phldrT="[文本]"/>
      <dgm:spPr/>
      <dgm:t>
        <a:bodyPr/>
        <a:lstStyle/>
        <a:p>
          <a:r>
            <a:rPr lang="zh-CN" altLang="en-US" b="1" dirty="0" smtClean="0">
              <a:latin typeface="微软雅黑" panose="020B0503020204020204" pitchFamily="34" charset="-122"/>
              <a:ea typeface="微软雅黑" panose="020B0503020204020204" pitchFamily="34" charset="-122"/>
            </a:rPr>
            <a:t>在基层心电便捷采集问题</a:t>
          </a:r>
          <a:endParaRPr lang="zh-CN" altLang="en-US" b="1" dirty="0">
            <a:latin typeface="微软雅黑" panose="020B0503020204020204" pitchFamily="34" charset="-122"/>
            <a:ea typeface="微软雅黑" panose="020B0503020204020204" pitchFamily="34" charset="-122"/>
          </a:endParaRPr>
        </a:p>
      </dgm:t>
    </dgm:pt>
    <dgm:pt modelId="{049ECD9A-151C-458C-ADB5-832C1CD2D0AC}" type="parTrans" cxnId="{E78E4F10-1F99-4353-9B91-D682B46CF68F}">
      <dgm:prSet/>
      <dgm:spPr/>
      <dgm:t>
        <a:bodyPr/>
        <a:lstStyle/>
        <a:p>
          <a:endParaRPr lang="zh-CN" altLang="en-US">
            <a:latin typeface="微软雅黑" panose="020B0503020204020204" pitchFamily="34" charset="-122"/>
            <a:ea typeface="微软雅黑" panose="020B0503020204020204" pitchFamily="34" charset="-122"/>
          </a:endParaRPr>
        </a:p>
      </dgm:t>
    </dgm:pt>
    <dgm:pt modelId="{BE113541-C2BE-4331-9132-1FE453D8E3A8}" type="sibTrans" cxnId="{E78E4F10-1F99-4353-9B91-D682B46CF68F}">
      <dgm:prSet/>
      <dgm:spPr/>
      <dgm:t>
        <a:bodyPr/>
        <a:lstStyle/>
        <a:p>
          <a:endParaRPr lang="zh-CN" altLang="en-US">
            <a:latin typeface="微软雅黑" panose="020B0503020204020204" pitchFamily="34" charset="-122"/>
            <a:ea typeface="微软雅黑" panose="020B0503020204020204" pitchFamily="34" charset="-122"/>
          </a:endParaRPr>
        </a:p>
      </dgm:t>
    </dgm:pt>
    <dgm:pt modelId="{8FB3A12E-D092-4E59-981E-CF8E74EC7A9E}">
      <dgm:prSet phldrT="[文本]"/>
      <dgm:spPr/>
      <dgm:t>
        <a:bodyPr/>
        <a:lstStyle/>
        <a:p>
          <a:r>
            <a:rPr lang="zh-CN" altLang="en-US" b="1" dirty="0" smtClean="0">
              <a:latin typeface="微软雅黑" panose="020B0503020204020204" pitchFamily="34" charset="-122"/>
              <a:ea typeface="微软雅黑" panose="020B0503020204020204" pitchFamily="34" charset="-122"/>
            </a:rPr>
            <a:t>区域心电的集中诊断问题</a:t>
          </a:r>
          <a:endParaRPr lang="zh-CN" altLang="en-US" b="1" dirty="0">
            <a:latin typeface="微软雅黑" panose="020B0503020204020204" pitchFamily="34" charset="-122"/>
            <a:ea typeface="微软雅黑" panose="020B0503020204020204" pitchFamily="34" charset="-122"/>
          </a:endParaRPr>
        </a:p>
      </dgm:t>
    </dgm:pt>
    <dgm:pt modelId="{6695509C-9F99-42FB-959E-99A02DB3E8D6}" type="parTrans" cxnId="{22977700-486B-4E9B-B233-C63291671220}">
      <dgm:prSet/>
      <dgm:spPr/>
      <dgm:t>
        <a:bodyPr/>
        <a:lstStyle/>
        <a:p>
          <a:endParaRPr lang="zh-CN" altLang="en-US">
            <a:latin typeface="微软雅黑" panose="020B0503020204020204" pitchFamily="34" charset="-122"/>
            <a:ea typeface="微软雅黑" panose="020B0503020204020204" pitchFamily="34" charset="-122"/>
          </a:endParaRPr>
        </a:p>
      </dgm:t>
    </dgm:pt>
    <dgm:pt modelId="{F753A2A9-EA77-4746-916B-E1BF734122D2}" type="sibTrans" cxnId="{22977700-486B-4E9B-B233-C63291671220}">
      <dgm:prSet/>
      <dgm:spPr/>
      <dgm:t>
        <a:bodyPr/>
        <a:lstStyle/>
        <a:p>
          <a:endParaRPr lang="zh-CN" altLang="en-US">
            <a:latin typeface="微软雅黑" panose="020B0503020204020204" pitchFamily="34" charset="-122"/>
            <a:ea typeface="微软雅黑" panose="020B0503020204020204" pitchFamily="34" charset="-122"/>
          </a:endParaRPr>
        </a:p>
      </dgm:t>
    </dgm:pt>
    <dgm:pt modelId="{32D19AD6-7796-4266-A8B9-CD6C6A7A1ABB}">
      <dgm:prSet phldrT="[文本]"/>
      <dgm:spPr/>
      <dgm:t>
        <a:bodyPr/>
        <a:lstStyle/>
        <a:p>
          <a:r>
            <a:rPr lang="zh-CN" altLang="en-US" b="1" dirty="0" smtClean="0">
              <a:latin typeface="微软雅黑" panose="020B0503020204020204" pitchFamily="34" charset="-122"/>
              <a:ea typeface="微软雅黑" panose="020B0503020204020204" pitchFamily="34" charset="-122"/>
            </a:rPr>
            <a:t>提升家医随访能力的问题</a:t>
          </a:r>
          <a:endParaRPr lang="zh-CN" altLang="en-US" b="1" dirty="0">
            <a:latin typeface="微软雅黑" panose="020B0503020204020204" pitchFamily="34" charset="-122"/>
            <a:ea typeface="微软雅黑" panose="020B0503020204020204" pitchFamily="34" charset="-122"/>
          </a:endParaRPr>
        </a:p>
      </dgm:t>
    </dgm:pt>
    <dgm:pt modelId="{DF90E299-952F-4346-9871-176D0E6045A8}" type="parTrans" cxnId="{2CA0EA04-D2A3-4BEE-A5F0-9E00F1D647C5}">
      <dgm:prSet/>
      <dgm:spPr/>
      <dgm:t>
        <a:bodyPr/>
        <a:lstStyle/>
        <a:p>
          <a:endParaRPr lang="zh-CN" altLang="en-US">
            <a:latin typeface="微软雅黑" panose="020B0503020204020204" pitchFamily="34" charset="-122"/>
            <a:ea typeface="微软雅黑" panose="020B0503020204020204" pitchFamily="34" charset="-122"/>
          </a:endParaRPr>
        </a:p>
      </dgm:t>
    </dgm:pt>
    <dgm:pt modelId="{A9AE1145-5F18-4A0E-9137-AA6668191E22}" type="sibTrans" cxnId="{2CA0EA04-D2A3-4BEE-A5F0-9E00F1D647C5}">
      <dgm:prSet/>
      <dgm:spPr/>
      <dgm:t>
        <a:bodyPr/>
        <a:lstStyle/>
        <a:p>
          <a:endParaRPr lang="zh-CN" altLang="en-US">
            <a:latin typeface="微软雅黑" panose="020B0503020204020204" pitchFamily="34" charset="-122"/>
            <a:ea typeface="微软雅黑" panose="020B0503020204020204" pitchFamily="34" charset="-122"/>
          </a:endParaRPr>
        </a:p>
      </dgm:t>
    </dgm:pt>
    <dgm:pt modelId="{4D2CCF09-E95A-4F8C-80CF-B8A6A3E247B2}">
      <dgm:prSet/>
      <dgm:spPr/>
      <dgm:t>
        <a:bodyPr/>
        <a:lstStyle/>
        <a:p>
          <a:r>
            <a:rPr lang="zh-CN" altLang="en-US" dirty="0" smtClean="0">
              <a:latin typeface="微软雅黑" panose="020B0503020204020204" pitchFamily="34" charset="-122"/>
              <a:ea typeface="微软雅黑" panose="020B0503020204020204" pitchFamily="34" charset="-122"/>
            </a:rPr>
            <a:t>设备的小型化、应用的便捷化、数据的网络化，更适合基层站点的环境下使用。</a:t>
          </a:r>
          <a:endParaRPr lang="zh-CN" altLang="en-US" dirty="0">
            <a:latin typeface="微软雅黑" panose="020B0503020204020204" pitchFamily="34" charset="-122"/>
            <a:ea typeface="微软雅黑" panose="020B0503020204020204" pitchFamily="34" charset="-122"/>
          </a:endParaRPr>
        </a:p>
      </dgm:t>
    </dgm:pt>
    <dgm:pt modelId="{767DFC86-ABE2-4E20-A5E7-AFF5210F6472}" type="parTrans" cxnId="{2F1D361C-9121-41CD-965F-D2808D41CA8D}">
      <dgm:prSet/>
      <dgm:spPr/>
      <dgm:t>
        <a:bodyPr/>
        <a:lstStyle/>
        <a:p>
          <a:endParaRPr lang="zh-CN" altLang="en-US">
            <a:latin typeface="微软雅黑" panose="020B0503020204020204" pitchFamily="34" charset="-122"/>
            <a:ea typeface="微软雅黑" panose="020B0503020204020204" pitchFamily="34" charset="-122"/>
          </a:endParaRPr>
        </a:p>
      </dgm:t>
    </dgm:pt>
    <dgm:pt modelId="{B66B26A7-2A7F-41BF-BF81-DD9C992F9340}" type="sibTrans" cxnId="{2F1D361C-9121-41CD-965F-D2808D41CA8D}">
      <dgm:prSet/>
      <dgm:spPr/>
      <dgm:t>
        <a:bodyPr/>
        <a:lstStyle/>
        <a:p>
          <a:endParaRPr lang="zh-CN" altLang="en-US">
            <a:latin typeface="微软雅黑" panose="020B0503020204020204" pitchFamily="34" charset="-122"/>
            <a:ea typeface="微软雅黑" panose="020B0503020204020204" pitchFamily="34" charset="-122"/>
          </a:endParaRPr>
        </a:p>
      </dgm:t>
    </dgm:pt>
    <dgm:pt modelId="{3F285428-B62E-41C8-8822-520FBDC3880E}">
      <dgm:prSet/>
      <dgm:spPr/>
      <dgm:t>
        <a:bodyPr/>
        <a:lstStyle/>
        <a:p>
          <a:r>
            <a:rPr lang="zh-CN" altLang="en-US" dirty="0" smtClean="0">
              <a:latin typeface="微软雅黑" panose="020B0503020204020204" pitchFamily="34" charset="-122"/>
              <a:ea typeface="微软雅黑" panose="020B0503020204020204" pitchFamily="34" charset="-122"/>
            </a:rPr>
            <a:t>县域心电图统一集中由综合医院诊断，解决了基层医生技术薄弱的难点问题。</a:t>
          </a:r>
          <a:endParaRPr lang="zh-CN" altLang="en-US" dirty="0">
            <a:latin typeface="微软雅黑" panose="020B0503020204020204" pitchFamily="34" charset="-122"/>
            <a:ea typeface="微软雅黑" panose="020B0503020204020204" pitchFamily="34" charset="-122"/>
          </a:endParaRPr>
        </a:p>
      </dgm:t>
    </dgm:pt>
    <dgm:pt modelId="{2EDBA914-EA81-4DEF-990C-FC79DA61A051}" type="parTrans" cxnId="{77382E25-D39F-4005-A6A0-81FC5A0B805B}">
      <dgm:prSet/>
      <dgm:spPr/>
      <dgm:t>
        <a:bodyPr/>
        <a:lstStyle/>
        <a:p>
          <a:endParaRPr lang="zh-CN" altLang="en-US">
            <a:latin typeface="微软雅黑" panose="020B0503020204020204" pitchFamily="34" charset="-122"/>
            <a:ea typeface="微软雅黑" panose="020B0503020204020204" pitchFamily="34" charset="-122"/>
          </a:endParaRPr>
        </a:p>
      </dgm:t>
    </dgm:pt>
    <dgm:pt modelId="{DC4F626E-80FF-4B8B-8069-75875AB7D49D}" type="sibTrans" cxnId="{77382E25-D39F-4005-A6A0-81FC5A0B805B}">
      <dgm:prSet/>
      <dgm:spPr/>
      <dgm:t>
        <a:bodyPr/>
        <a:lstStyle/>
        <a:p>
          <a:endParaRPr lang="zh-CN" altLang="en-US">
            <a:latin typeface="微软雅黑" panose="020B0503020204020204" pitchFamily="34" charset="-122"/>
            <a:ea typeface="微软雅黑" panose="020B0503020204020204" pitchFamily="34" charset="-122"/>
          </a:endParaRPr>
        </a:p>
      </dgm:t>
    </dgm:pt>
    <dgm:pt modelId="{11E9E68B-85E4-4CE2-8DC3-AA9F49D63A25}">
      <dgm:prSet/>
      <dgm:spPr/>
      <dgm:t>
        <a:bodyPr/>
        <a:lstStyle/>
        <a:p>
          <a:r>
            <a:rPr lang="zh-CN" altLang="en-US" dirty="0" smtClean="0">
              <a:latin typeface="微软雅黑" panose="020B0503020204020204" pitchFamily="34" charset="-122"/>
              <a:ea typeface="微软雅黑" panose="020B0503020204020204" pitchFamily="34" charset="-122"/>
            </a:rPr>
            <a:t>便携网络化设备更适合县级医疗团队下乡、家庭医生随访，丰富了医生的管理手段。</a:t>
          </a:r>
          <a:endParaRPr lang="zh-CN" altLang="en-US" dirty="0">
            <a:latin typeface="微软雅黑" panose="020B0503020204020204" pitchFamily="34" charset="-122"/>
            <a:ea typeface="微软雅黑" panose="020B0503020204020204" pitchFamily="34" charset="-122"/>
          </a:endParaRPr>
        </a:p>
      </dgm:t>
    </dgm:pt>
    <dgm:pt modelId="{74280077-5DB6-4215-9781-AADF36FE3AC0}" type="parTrans" cxnId="{2D7D9250-BFCB-45C3-B577-3094C581261B}">
      <dgm:prSet/>
      <dgm:spPr/>
      <dgm:t>
        <a:bodyPr/>
        <a:lstStyle/>
        <a:p>
          <a:endParaRPr lang="zh-CN" altLang="en-US">
            <a:latin typeface="微软雅黑" panose="020B0503020204020204" pitchFamily="34" charset="-122"/>
            <a:ea typeface="微软雅黑" panose="020B0503020204020204" pitchFamily="34" charset="-122"/>
          </a:endParaRPr>
        </a:p>
      </dgm:t>
    </dgm:pt>
    <dgm:pt modelId="{FA6FA53D-2AB9-4A74-9E1A-7B027AEE5456}" type="sibTrans" cxnId="{2D7D9250-BFCB-45C3-B577-3094C581261B}">
      <dgm:prSet/>
      <dgm:spPr/>
      <dgm:t>
        <a:bodyPr/>
        <a:lstStyle/>
        <a:p>
          <a:endParaRPr lang="zh-CN" altLang="en-US">
            <a:latin typeface="微软雅黑" panose="020B0503020204020204" pitchFamily="34" charset="-122"/>
            <a:ea typeface="微软雅黑" panose="020B0503020204020204" pitchFamily="34" charset="-122"/>
          </a:endParaRPr>
        </a:p>
      </dgm:t>
    </dgm:pt>
    <dgm:pt modelId="{78AFDA91-CA4E-4856-86B2-59934ACFEB27}">
      <dgm:prSet phldrT="[文本]"/>
      <dgm:spPr/>
      <dgm:t>
        <a:bodyPr/>
        <a:lstStyle/>
        <a:p>
          <a:r>
            <a:rPr lang="zh-CN" altLang="en-US" b="1" dirty="0" smtClean="0">
              <a:latin typeface="微软雅黑" panose="020B0503020204020204" pitchFamily="34" charset="-122"/>
              <a:ea typeface="微软雅黑" panose="020B0503020204020204" pitchFamily="34" charset="-122"/>
            </a:rPr>
            <a:t>患者居家康复管理的问题</a:t>
          </a:r>
          <a:endParaRPr lang="zh-CN" altLang="en-US" b="1" dirty="0">
            <a:latin typeface="微软雅黑" panose="020B0503020204020204" pitchFamily="34" charset="-122"/>
            <a:ea typeface="微软雅黑" panose="020B0503020204020204" pitchFamily="34" charset="-122"/>
          </a:endParaRPr>
        </a:p>
      </dgm:t>
    </dgm:pt>
    <dgm:pt modelId="{86813530-3BBA-485D-B77A-224BD636E3EA}" type="parTrans" cxnId="{EB349ED6-0E80-46A3-B25D-71D8955E0730}">
      <dgm:prSet/>
      <dgm:spPr/>
      <dgm:t>
        <a:bodyPr/>
        <a:lstStyle/>
        <a:p>
          <a:endParaRPr lang="zh-CN" altLang="en-US">
            <a:latin typeface="微软雅黑" panose="020B0503020204020204" pitchFamily="34" charset="-122"/>
            <a:ea typeface="微软雅黑" panose="020B0503020204020204" pitchFamily="34" charset="-122"/>
          </a:endParaRPr>
        </a:p>
      </dgm:t>
    </dgm:pt>
    <dgm:pt modelId="{91493B1D-F94C-4DBD-959B-A2ACF89137BD}" type="sibTrans" cxnId="{EB349ED6-0E80-46A3-B25D-71D8955E0730}">
      <dgm:prSet/>
      <dgm:spPr/>
      <dgm:t>
        <a:bodyPr/>
        <a:lstStyle/>
        <a:p>
          <a:endParaRPr lang="zh-CN" altLang="en-US">
            <a:latin typeface="微软雅黑" panose="020B0503020204020204" pitchFamily="34" charset="-122"/>
            <a:ea typeface="微软雅黑" panose="020B0503020204020204" pitchFamily="34" charset="-122"/>
          </a:endParaRPr>
        </a:p>
      </dgm:t>
    </dgm:pt>
    <dgm:pt modelId="{0BB6F9B9-067B-422A-BFDF-D266583FD3EA}">
      <dgm:prSet/>
      <dgm:spPr/>
      <dgm:t>
        <a:bodyPr/>
        <a:lstStyle/>
        <a:p>
          <a:r>
            <a:rPr lang="zh-CN" altLang="en-US" smtClean="0">
              <a:latin typeface="微软雅黑" panose="020B0503020204020204" pitchFamily="34" charset="-122"/>
              <a:ea typeface="微软雅黑" panose="020B0503020204020204" pitchFamily="34" charset="-122"/>
            </a:rPr>
            <a:t>采用可穿戴设备开展患者居家监测与远程管理，能让心脏的居家康复管理落到实处。</a:t>
          </a:r>
          <a:endParaRPr lang="zh-CN" altLang="en-US">
            <a:latin typeface="微软雅黑" panose="020B0503020204020204" pitchFamily="34" charset="-122"/>
            <a:ea typeface="微软雅黑" panose="020B0503020204020204" pitchFamily="34" charset="-122"/>
          </a:endParaRPr>
        </a:p>
      </dgm:t>
    </dgm:pt>
    <dgm:pt modelId="{1CAD8657-DC27-4ADF-A046-123CDBB7FDF6}" type="parTrans" cxnId="{2E1ACF98-3A11-4EAE-9A5C-D3E365B46A16}">
      <dgm:prSet/>
      <dgm:spPr/>
      <dgm:t>
        <a:bodyPr/>
        <a:lstStyle/>
        <a:p>
          <a:endParaRPr lang="zh-CN" altLang="en-US">
            <a:latin typeface="微软雅黑" panose="020B0503020204020204" pitchFamily="34" charset="-122"/>
            <a:ea typeface="微软雅黑" panose="020B0503020204020204" pitchFamily="34" charset="-122"/>
          </a:endParaRPr>
        </a:p>
      </dgm:t>
    </dgm:pt>
    <dgm:pt modelId="{3A63CE01-3D23-418F-934C-29114C1B720A}" type="sibTrans" cxnId="{2E1ACF98-3A11-4EAE-9A5C-D3E365B46A16}">
      <dgm:prSet/>
      <dgm:spPr/>
      <dgm:t>
        <a:bodyPr/>
        <a:lstStyle/>
        <a:p>
          <a:endParaRPr lang="zh-CN" altLang="en-US">
            <a:latin typeface="微软雅黑" panose="020B0503020204020204" pitchFamily="34" charset="-122"/>
            <a:ea typeface="微软雅黑" panose="020B0503020204020204" pitchFamily="34" charset="-122"/>
          </a:endParaRPr>
        </a:p>
      </dgm:t>
    </dgm:pt>
    <dgm:pt modelId="{22DBBE49-4E51-4232-9946-C691985329F5}" type="pres">
      <dgm:prSet presAssocID="{C25DD76F-B35C-4751-A212-66F82C773650}" presName="linear" presStyleCnt="0">
        <dgm:presLayoutVars>
          <dgm:dir/>
          <dgm:animLvl val="lvl"/>
          <dgm:resizeHandles val="exact"/>
        </dgm:presLayoutVars>
      </dgm:prSet>
      <dgm:spPr/>
      <dgm:t>
        <a:bodyPr/>
        <a:lstStyle/>
        <a:p>
          <a:endParaRPr lang="zh-CN" altLang="en-US"/>
        </a:p>
      </dgm:t>
    </dgm:pt>
    <dgm:pt modelId="{09995766-4209-4197-BC89-813C2C5DA831}" type="pres">
      <dgm:prSet presAssocID="{32EB7006-38AE-42D1-92BE-BDC71A5A31F5}" presName="parentLin" presStyleCnt="0"/>
      <dgm:spPr/>
    </dgm:pt>
    <dgm:pt modelId="{45E42947-ACC8-4657-9FC7-D826DDB65137}" type="pres">
      <dgm:prSet presAssocID="{32EB7006-38AE-42D1-92BE-BDC71A5A31F5}" presName="parentLeftMargin" presStyleLbl="node1" presStyleIdx="0" presStyleCnt="4"/>
      <dgm:spPr/>
      <dgm:t>
        <a:bodyPr/>
        <a:lstStyle/>
        <a:p>
          <a:endParaRPr lang="zh-CN" altLang="en-US"/>
        </a:p>
      </dgm:t>
    </dgm:pt>
    <dgm:pt modelId="{C7A9EAFA-DBCC-4AA1-B668-3BC099C74A0C}" type="pres">
      <dgm:prSet presAssocID="{32EB7006-38AE-42D1-92BE-BDC71A5A31F5}" presName="parentText" presStyleLbl="node1" presStyleIdx="0" presStyleCnt="4">
        <dgm:presLayoutVars>
          <dgm:chMax val="0"/>
          <dgm:bulletEnabled val="1"/>
        </dgm:presLayoutVars>
      </dgm:prSet>
      <dgm:spPr/>
      <dgm:t>
        <a:bodyPr/>
        <a:lstStyle/>
        <a:p>
          <a:endParaRPr lang="zh-CN" altLang="en-US"/>
        </a:p>
      </dgm:t>
    </dgm:pt>
    <dgm:pt modelId="{8A9532BC-AAA8-429D-B0C2-E94426A95087}" type="pres">
      <dgm:prSet presAssocID="{32EB7006-38AE-42D1-92BE-BDC71A5A31F5}" presName="negativeSpace" presStyleCnt="0"/>
      <dgm:spPr/>
    </dgm:pt>
    <dgm:pt modelId="{B05430C3-1B5E-4598-8C11-D0A7288A3839}" type="pres">
      <dgm:prSet presAssocID="{32EB7006-38AE-42D1-92BE-BDC71A5A31F5}" presName="childText" presStyleLbl="conFgAcc1" presStyleIdx="0" presStyleCnt="4">
        <dgm:presLayoutVars>
          <dgm:bulletEnabled val="1"/>
        </dgm:presLayoutVars>
      </dgm:prSet>
      <dgm:spPr/>
      <dgm:t>
        <a:bodyPr/>
        <a:lstStyle/>
        <a:p>
          <a:endParaRPr lang="zh-CN" altLang="en-US"/>
        </a:p>
      </dgm:t>
    </dgm:pt>
    <dgm:pt modelId="{617703A9-CA11-4893-A3F5-6B9297B6F313}" type="pres">
      <dgm:prSet presAssocID="{BE113541-C2BE-4331-9132-1FE453D8E3A8}" presName="spaceBetweenRectangles" presStyleCnt="0"/>
      <dgm:spPr/>
    </dgm:pt>
    <dgm:pt modelId="{A58C0083-0F65-4916-814D-C3558292B9F0}" type="pres">
      <dgm:prSet presAssocID="{8FB3A12E-D092-4E59-981E-CF8E74EC7A9E}" presName="parentLin" presStyleCnt="0"/>
      <dgm:spPr/>
    </dgm:pt>
    <dgm:pt modelId="{C5181E9D-7960-4CF4-88B8-509108344E86}" type="pres">
      <dgm:prSet presAssocID="{8FB3A12E-D092-4E59-981E-CF8E74EC7A9E}" presName="parentLeftMargin" presStyleLbl="node1" presStyleIdx="0" presStyleCnt="4"/>
      <dgm:spPr/>
      <dgm:t>
        <a:bodyPr/>
        <a:lstStyle/>
        <a:p>
          <a:endParaRPr lang="zh-CN" altLang="en-US"/>
        </a:p>
      </dgm:t>
    </dgm:pt>
    <dgm:pt modelId="{D534BC44-C2E0-45D5-95A8-00098EECFC5F}" type="pres">
      <dgm:prSet presAssocID="{8FB3A12E-D092-4E59-981E-CF8E74EC7A9E}" presName="parentText" presStyleLbl="node1" presStyleIdx="1" presStyleCnt="4">
        <dgm:presLayoutVars>
          <dgm:chMax val="0"/>
          <dgm:bulletEnabled val="1"/>
        </dgm:presLayoutVars>
      </dgm:prSet>
      <dgm:spPr/>
      <dgm:t>
        <a:bodyPr/>
        <a:lstStyle/>
        <a:p>
          <a:endParaRPr lang="zh-CN" altLang="en-US"/>
        </a:p>
      </dgm:t>
    </dgm:pt>
    <dgm:pt modelId="{23F94627-DB01-4972-B2E9-7BAE7E13EB71}" type="pres">
      <dgm:prSet presAssocID="{8FB3A12E-D092-4E59-981E-CF8E74EC7A9E}" presName="negativeSpace" presStyleCnt="0"/>
      <dgm:spPr/>
    </dgm:pt>
    <dgm:pt modelId="{1C9A5394-C947-4E42-B29D-3A68FDA5789D}" type="pres">
      <dgm:prSet presAssocID="{8FB3A12E-D092-4E59-981E-CF8E74EC7A9E}" presName="childText" presStyleLbl="conFgAcc1" presStyleIdx="1" presStyleCnt="4">
        <dgm:presLayoutVars>
          <dgm:bulletEnabled val="1"/>
        </dgm:presLayoutVars>
      </dgm:prSet>
      <dgm:spPr/>
      <dgm:t>
        <a:bodyPr/>
        <a:lstStyle/>
        <a:p>
          <a:endParaRPr lang="zh-CN" altLang="en-US"/>
        </a:p>
      </dgm:t>
    </dgm:pt>
    <dgm:pt modelId="{6BE51381-A70D-47FA-B992-726581F2E8AE}" type="pres">
      <dgm:prSet presAssocID="{F753A2A9-EA77-4746-916B-E1BF734122D2}" presName="spaceBetweenRectangles" presStyleCnt="0"/>
      <dgm:spPr/>
    </dgm:pt>
    <dgm:pt modelId="{07970566-3FB2-4D99-953E-1A5741DAD918}" type="pres">
      <dgm:prSet presAssocID="{32D19AD6-7796-4266-A8B9-CD6C6A7A1ABB}" presName="parentLin" presStyleCnt="0"/>
      <dgm:spPr/>
    </dgm:pt>
    <dgm:pt modelId="{9A70FF30-3D3E-4F5C-9836-A18D72AC3C38}" type="pres">
      <dgm:prSet presAssocID="{32D19AD6-7796-4266-A8B9-CD6C6A7A1ABB}" presName="parentLeftMargin" presStyleLbl="node1" presStyleIdx="1" presStyleCnt="4"/>
      <dgm:spPr/>
      <dgm:t>
        <a:bodyPr/>
        <a:lstStyle/>
        <a:p>
          <a:endParaRPr lang="zh-CN" altLang="en-US"/>
        </a:p>
      </dgm:t>
    </dgm:pt>
    <dgm:pt modelId="{4689D030-5B2E-44D1-B27A-8FA513013EFD}" type="pres">
      <dgm:prSet presAssocID="{32D19AD6-7796-4266-A8B9-CD6C6A7A1ABB}" presName="parentText" presStyleLbl="node1" presStyleIdx="2" presStyleCnt="4">
        <dgm:presLayoutVars>
          <dgm:chMax val="0"/>
          <dgm:bulletEnabled val="1"/>
        </dgm:presLayoutVars>
      </dgm:prSet>
      <dgm:spPr/>
      <dgm:t>
        <a:bodyPr/>
        <a:lstStyle/>
        <a:p>
          <a:endParaRPr lang="zh-CN" altLang="en-US"/>
        </a:p>
      </dgm:t>
    </dgm:pt>
    <dgm:pt modelId="{F83EB188-4718-428E-A70D-FFA27C585040}" type="pres">
      <dgm:prSet presAssocID="{32D19AD6-7796-4266-A8B9-CD6C6A7A1ABB}" presName="negativeSpace" presStyleCnt="0"/>
      <dgm:spPr/>
    </dgm:pt>
    <dgm:pt modelId="{98EE37EB-7B21-4B9C-BEB3-9E7BF10D3A0D}" type="pres">
      <dgm:prSet presAssocID="{32D19AD6-7796-4266-A8B9-CD6C6A7A1ABB}" presName="childText" presStyleLbl="conFgAcc1" presStyleIdx="2" presStyleCnt="4" custLinFactNeighborX="-793" custLinFactNeighborY="-8178">
        <dgm:presLayoutVars>
          <dgm:bulletEnabled val="1"/>
        </dgm:presLayoutVars>
      </dgm:prSet>
      <dgm:spPr/>
      <dgm:t>
        <a:bodyPr/>
        <a:lstStyle/>
        <a:p>
          <a:endParaRPr lang="zh-CN" altLang="en-US"/>
        </a:p>
      </dgm:t>
    </dgm:pt>
    <dgm:pt modelId="{F9DB101E-82B8-40DD-803A-6562D61F5006}" type="pres">
      <dgm:prSet presAssocID="{A9AE1145-5F18-4A0E-9137-AA6668191E22}" presName="spaceBetweenRectangles" presStyleCnt="0"/>
      <dgm:spPr/>
    </dgm:pt>
    <dgm:pt modelId="{32882E96-581D-40F0-A2AC-5E7523DB2B53}" type="pres">
      <dgm:prSet presAssocID="{78AFDA91-CA4E-4856-86B2-59934ACFEB27}" presName="parentLin" presStyleCnt="0"/>
      <dgm:spPr/>
    </dgm:pt>
    <dgm:pt modelId="{BE2811DF-8FB7-47A5-B1F4-543BE4E361FC}" type="pres">
      <dgm:prSet presAssocID="{78AFDA91-CA4E-4856-86B2-59934ACFEB27}" presName="parentLeftMargin" presStyleLbl="node1" presStyleIdx="2" presStyleCnt="4"/>
      <dgm:spPr/>
      <dgm:t>
        <a:bodyPr/>
        <a:lstStyle/>
        <a:p>
          <a:endParaRPr lang="zh-CN" altLang="en-US"/>
        </a:p>
      </dgm:t>
    </dgm:pt>
    <dgm:pt modelId="{3F15E97E-C304-43C4-8102-C4F6C85B70A4}" type="pres">
      <dgm:prSet presAssocID="{78AFDA91-CA4E-4856-86B2-59934ACFEB27}" presName="parentText" presStyleLbl="node1" presStyleIdx="3" presStyleCnt="4">
        <dgm:presLayoutVars>
          <dgm:chMax val="0"/>
          <dgm:bulletEnabled val="1"/>
        </dgm:presLayoutVars>
      </dgm:prSet>
      <dgm:spPr/>
      <dgm:t>
        <a:bodyPr/>
        <a:lstStyle/>
        <a:p>
          <a:endParaRPr lang="zh-CN" altLang="en-US"/>
        </a:p>
      </dgm:t>
    </dgm:pt>
    <dgm:pt modelId="{BE3D8C54-2536-415D-87F4-4499AA9457C3}" type="pres">
      <dgm:prSet presAssocID="{78AFDA91-CA4E-4856-86B2-59934ACFEB27}" presName="negativeSpace" presStyleCnt="0"/>
      <dgm:spPr/>
    </dgm:pt>
    <dgm:pt modelId="{8D8B7C72-A719-468C-8B4C-0860691817E9}" type="pres">
      <dgm:prSet presAssocID="{78AFDA91-CA4E-4856-86B2-59934ACFEB27}" presName="childText" presStyleLbl="conFgAcc1" presStyleIdx="3" presStyleCnt="4">
        <dgm:presLayoutVars>
          <dgm:bulletEnabled val="1"/>
        </dgm:presLayoutVars>
      </dgm:prSet>
      <dgm:spPr/>
      <dgm:t>
        <a:bodyPr/>
        <a:lstStyle/>
        <a:p>
          <a:endParaRPr lang="zh-CN" altLang="en-US"/>
        </a:p>
      </dgm:t>
    </dgm:pt>
  </dgm:ptLst>
  <dgm:cxnLst>
    <dgm:cxn modelId="{2D7D9250-BFCB-45C3-B577-3094C581261B}" srcId="{32D19AD6-7796-4266-A8B9-CD6C6A7A1ABB}" destId="{11E9E68B-85E4-4CE2-8DC3-AA9F49D63A25}" srcOrd="0" destOrd="0" parTransId="{74280077-5DB6-4215-9781-AADF36FE3AC0}" sibTransId="{FA6FA53D-2AB9-4A74-9E1A-7B027AEE5456}"/>
    <dgm:cxn modelId="{E6101D4B-D396-4893-9188-CAE49CE7C708}" type="presOf" srcId="{32D19AD6-7796-4266-A8B9-CD6C6A7A1ABB}" destId="{9A70FF30-3D3E-4F5C-9836-A18D72AC3C38}" srcOrd="0" destOrd="0" presId="urn:microsoft.com/office/officeart/2005/8/layout/list1"/>
    <dgm:cxn modelId="{77451171-A9E8-44BB-987B-172FF35C1E6E}" type="presOf" srcId="{4D2CCF09-E95A-4F8C-80CF-B8A6A3E247B2}" destId="{B05430C3-1B5E-4598-8C11-D0A7288A3839}" srcOrd="0" destOrd="0" presId="urn:microsoft.com/office/officeart/2005/8/layout/list1"/>
    <dgm:cxn modelId="{EB349ED6-0E80-46A3-B25D-71D8955E0730}" srcId="{C25DD76F-B35C-4751-A212-66F82C773650}" destId="{78AFDA91-CA4E-4856-86B2-59934ACFEB27}" srcOrd="3" destOrd="0" parTransId="{86813530-3BBA-485D-B77A-224BD636E3EA}" sibTransId="{91493B1D-F94C-4DBD-959B-A2ACF89137BD}"/>
    <dgm:cxn modelId="{3341E599-C385-42B4-B21E-0A37E738DFFF}" type="presOf" srcId="{3F285428-B62E-41C8-8822-520FBDC3880E}" destId="{1C9A5394-C947-4E42-B29D-3A68FDA5789D}" srcOrd="0" destOrd="0" presId="urn:microsoft.com/office/officeart/2005/8/layout/list1"/>
    <dgm:cxn modelId="{0E048915-0B33-4C10-8C65-C5CBAA8BAE74}" type="presOf" srcId="{32D19AD6-7796-4266-A8B9-CD6C6A7A1ABB}" destId="{4689D030-5B2E-44D1-B27A-8FA513013EFD}" srcOrd="1" destOrd="0" presId="urn:microsoft.com/office/officeart/2005/8/layout/list1"/>
    <dgm:cxn modelId="{22977700-486B-4E9B-B233-C63291671220}" srcId="{C25DD76F-B35C-4751-A212-66F82C773650}" destId="{8FB3A12E-D092-4E59-981E-CF8E74EC7A9E}" srcOrd="1" destOrd="0" parTransId="{6695509C-9F99-42FB-959E-99A02DB3E8D6}" sibTransId="{F753A2A9-EA77-4746-916B-E1BF734122D2}"/>
    <dgm:cxn modelId="{2CA0EA04-D2A3-4BEE-A5F0-9E00F1D647C5}" srcId="{C25DD76F-B35C-4751-A212-66F82C773650}" destId="{32D19AD6-7796-4266-A8B9-CD6C6A7A1ABB}" srcOrd="2" destOrd="0" parTransId="{DF90E299-952F-4346-9871-176D0E6045A8}" sibTransId="{A9AE1145-5F18-4A0E-9137-AA6668191E22}"/>
    <dgm:cxn modelId="{444863BE-A076-4BF8-8EFE-9C927375F434}" type="presOf" srcId="{11E9E68B-85E4-4CE2-8DC3-AA9F49D63A25}" destId="{98EE37EB-7B21-4B9C-BEB3-9E7BF10D3A0D}" srcOrd="0" destOrd="0" presId="urn:microsoft.com/office/officeart/2005/8/layout/list1"/>
    <dgm:cxn modelId="{2F1D361C-9121-41CD-965F-D2808D41CA8D}" srcId="{32EB7006-38AE-42D1-92BE-BDC71A5A31F5}" destId="{4D2CCF09-E95A-4F8C-80CF-B8A6A3E247B2}" srcOrd="0" destOrd="0" parTransId="{767DFC86-ABE2-4E20-A5E7-AFF5210F6472}" sibTransId="{B66B26A7-2A7F-41BF-BF81-DD9C992F9340}"/>
    <dgm:cxn modelId="{2E1ACF98-3A11-4EAE-9A5C-D3E365B46A16}" srcId="{78AFDA91-CA4E-4856-86B2-59934ACFEB27}" destId="{0BB6F9B9-067B-422A-BFDF-D266583FD3EA}" srcOrd="0" destOrd="0" parTransId="{1CAD8657-DC27-4ADF-A046-123CDBB7FDF6}" sibTransId="{3A63CE01-3D23-418F-934C-29114C1B720A}"/>
    <dgm:cxn modelId="{FEC133B1-EC40-406A-9BA9-49A68D73B149}" type="presOf" srcId="{0BB6F9B9-067B-422A-BFDF-D266583FD3EA}" destId="{8D8B7C72-A719-468C-8B4C-0860691817E9}" srcOrd="0" destOrd="0" presId="urn:microsoft.com/office/officeart/2005/8/layout/list1"/>
    <dgm:cxn modelId="{77382E25-D39F-4005-A6A0-81FC5A0B805B}" srcId="{8FB3A12E-D092-4E59-981E-CF8E74EC7A9E}" destId="{3F285428-B62E-41C8-8822-520FBDC3880E}" srcOrd="0" destOrd="0" parTransId="{2EDBA914-EA81-4DEF-990C-FC79DA61A051}" sibTransId="{DC4F626E-80FF-4B8B-8069-75875AB7D49D}"/>
    <dgm:cxn modelId="{E51754C0-5A24-4318-A6D6-7F97745BED7D}" type="presOf" srcId="{8FB3A12E-D092-4E59-981E-CF8E74EC7A9E}" destId="{C5181E9D-7960-4CF4-88B8-509108344E86}" srcOrd="0" destOrd="0" presId="urn:microsoft.com/office/officeart/2005/8/layout/list1"/>
    <dgm:cxn modelId="{8E07A870-ED0C-4880-AAD7-AD076CA6DFB3}" type="presOf" srcId="{32EB7006-38AE-42D1-92BE-BDC71A5A31F5}" destId="{C7A9EAFA-DBCC-4AA1-B668-3BC099C74A0C}" srcOrd="1" destOrd="0" presId="urn:microsoft.com/office/officeart/2005/8/layout/list1"/>
    <dgm:cxn modelId="{58CB4402-535E-4699-8AE9-20E718895BA1}" type="presOf" srcId="{C25DD76F-B35C-4751-A212-66F82C773650}" destId="{22DBBE49-4E51-4232-9946-C691985329F5}" srcOrd="0" destOrd="0" presId="urn:microsoft.com/office/officeart/2005/8/layout/list1"/>
    <dgm:cxn modelId="{94411458-CCDC-4B74-9A99-928BDFD4DF76}" type="presOf" srcId="{8FB3A12E-D092-4E59-981E-CF8E74EC7A9E}" destId="{D534BC44-C2E0-45D5-95A8-00098EECFC5F}" srcOrd="1" destOrd="0" presId="urn:microsoft.com/office/officeart/2005/8/layout/list1"/>
    <dgm:cxn modelId="{E78E4F10-1F99-4353-9B91-D682B46CF68F}" srcId="{C25DD76F-B35C-4751-A212-66F82C773650}" destId="{32EB7006-38AE-42D1-92BE-BDC71A5A31F5}" srcOrd="0" destOrd="0" parTransId="{049ECD9A-151C-458C-ADB5-832C1CD2D0AC}" sibTransId="{BE113541-C2BE-4331-9132-1FE453D8E3A8}"/>
    <dgm:cxn modelId="{35414C37-E644-4219-A29B-3CE7357AA70E}" type="presOf" srcId="{32EB7006-38AE-42D1-92BE-BDC71A5A31F5}" destId="{45E42947-ACC8-4657-9FC7-D826DDB65137}" srcOrd="0" destOrd="0" presId="urn:microsoft.com/office/officeart/2005/8/layout/list1"/>
    <dgm:cxn modelId="{B89376B7-D0ED-4095-9F23-96C9057B6B21}" type="presOf" srcId="{78AFDA91-CA4E-4856-86B2-59934ACFEB27}" destId="{3F15E97E-C304-43C4-8102-C4F6C85B70A4}" srcOrd="1" destOrd="0" presId="urn:microsoft.com/office/officeart/2005/8/layout/list1"/>
    <dgm:cxn modelId="{A9A5E0B8-074F-4159-B20F-3066CC5B7F72}" type="presOf" srcId="{78AFDA91-CA4E-4856-86B2-59934ACFEB27}" destId="{BE2811DF-8FB7-47A5-B1F4-543BE4E361FC}" srcOrd="0" destOrd="0" presId="urn:microsoft.com/office/officeart/2005/8/layout/list1"/>
    <dgm:cxn modelId="{A9510EBA-96E5-4CC0-ADC9-247D1A201B11}" type="presParOf" srcId="{22DBBE49-4E51-4232-9946-C691985329F5}" destId="{09995766-4209-4197-BC89-813C2C5DA831}" srcOrd="0" destOrd="0" presId="urn:microsoft.com/office/officeart/2005/8/layout/list1"/>
    <dgm:cxn modelId="{3CB0DAE4-3701-4665-9816-B74EE62F5952}" type="presParOf" srcId="{09995766-4209-4197-BC89-813C2C5DA831}" destId="{45E42947-ACC8-4657-9FC7-D826DDB65137}" srcOrd="0" destOrd="0" presId="urn:microsoft.com/office/officeart/2005/8/layout/list1"/>
    <dgm:cxn modelId="{350DFCE3-9D17-4B3B-92E7-E4E97C4A486D}" type="presParOf" srcId="{09995766-4209-4197-BC89-813C2C5DA831}" destId="{C7A9EAFA-DBCC-4AA1-B668-3BC099C74A0C}" srcOrd="1" destOrd="0" presId="urn:microsoft.com/office/officeart/2005/8/layout/list1"/>
    <dgm:cxn modelId="{F0E3005A-A55C-41D3-908D-51849C74D887}" type="presParOf" srcId="{22DBBE49-4E51-4232-9946-C691985329F5}" destId="{8A9532BC-AAA8-429D-B0C2-E94426A95087}" srcOrd="1" destOrd="0" presId="urn:microsoft.com/office/officeart/2005/8/layout/list1"/>
    <dgm:cxn modelId="{C49EDC21-CBB8-43A6-AB39-3C56A497BF62}" type="presParOf" srcId="{22DBBE49-4E51-4232-9946-C691985329F5}" destId="{B05430C3-1B5E-4598-8C11-D0A7288A3839}" srcOrd="2" destOrd="0" presId="urn:microsoft.com/office/officeart/2005/8/layout/list1"/>
    <dgm:cxn modelId="{F73AFAA4-9AED-45E6-A9C0-9E10C87AD9A1}" type="presParOf" srcId="{22DBBE49-4E51-4232-9946-C691985329F5}" destId="{617703A9-CA11-4893-A3F5-6B9297B6F313}" srcOrd="3" destOrd="0" presId="urn:microsoft.com/office/officeart/2005/8/layout/list1"/>
    <dgm:cxn modelId="{427EA6F2-8C66-4339-AE94-235EE5346752}" type="presParOf" srcId="{22DBBE49-4E51-4232-9946-C691985329F5}" destId="{A58C0083-0F65-4916-814D-C3558292B9F0}" srcOrd="4" destOrd="0" presId="urn:microsoft.com/office/officeart/2005/8/layout/list1"/>
    <dgm:cxn modelId="{C5AEE0C4-1AE4-4F0C-B780-DE7DDBB7F599}" type="presParOf" srcId="{A58C0083-0F65-4916-814D-C3558292B9F0}" destId="{C5181E9D-7960-4CF4-88B8-509108344E86}" srcOrd="0" destOrd="0" presId="urn:microsoft.com/office/officeart/2005/8/layout/list1"/>
    <dgm:cxn modelId="{251FAC5E-6B1B-4DF1-A6D0-BB2EB5F6208F}" type="presParOf" srcId="{A58C0083-0F65-4916-814D-C3558292B9F0}" destId="{D534BC44-C2E0-45D5-95A8-00098EECFC5F}" srcOrd="1" destOrd="0" presId="urn:microsoft.com/office/officeart/2005/8/layout/list1"/>
    <dgm:cxn modelId="{0EFCEBB1-EA28-43AC-A5B6-D29AA4F4AE50}" type="presParOf" srcId="{22DBBE49-4E51-4232-9946-C691985329F5}" destId="{23F94627-DB01-4972-B2E9-7BAE7E13EB71}" srcOrd="5" destOrd="0" presId="urn:microsoft.com/office/officeart/2005/8/layout/list1"/>
    <dgm:cxn modelId="{88DA4F96-7CB7-418A-8A43-CB2184340AD8}" type="presParOf" srcId="{22DBBE49-4E51-4232-9946-C691985329F5}" destId="{1C9A5394-C947-4E42-B29D-3A68FDA5789D}" srcOrd="6" destOrd="0" presId="urn:microsoft.com/office/officeart/2005/8/layout/list1"/>
    <dgm:cxn modelId="{5391D761-20F6-4748-8CEC-30ACB8B8AEDE}" type="presParOf" srcId="{22DBBE49-4E51-4232-9946-C691985329F5}" destId="{6BE51381-A70D-47FA-B992-726581F2E8AE}" srcOrd="7" destOrd="0" presId="urn:microsoft.com/office/officeart/2005/8/layout/list1"/>
    <dgm:cxn modelId="{7A8373C7-8D93-4C9F-AB15-975F78C8BA01}" type="presParOf" srcId="{22DBBE49-4E51-4232-9946-C691985329F5}" destId="{07970566-3FB2-4D99-953E-1A5741DAD918}" srcOrd="8" destOrd="0" presId="urn:microsoft.com/office/officeart/2005/8/layout/list1"/>
    <dgm:cxn modelId="{AEF926FE-C134-47B4-A640-BF733CB85187}" type="presParOf" srcId="{07970566-3FB2-4D99-953E-1A5741DAD918}" destId="{9A70FF30-3D3E-4F5C-9836-A18D72AC3C38}" srcOrd="0" destOrd="0" presId="urn:microsoft.com/office/officeart/2005/8/layout/list1"/>
    <dgm:cxn modelId="{EE5C0E80-BC80-44A7-82FB-58A0460467C6}" type="presParOf" srcId="{07970566-3FB2-4D99-953E-1A5741DAD918}" destId="{4689D030-5B2E-44D1-B27A-8FA513013EFD}" srcOrd="1" destOrd="0" presId="urn:microsoft.com/office/officeart/2005/8/layout/list1"/>
    <dgm:cxn modelId="{CCA1CA0C-0C8D-4987-95AB-DF0B36016A84}" type="presParOf" srcId="{22DBBE49-4E51-4232-9946-C691985329F5}" destId="{F83EB188-4718-428E-A70D-FFA27C585040}" srcOrd="9" destOrd="0" presId="urn:microsoft.com/office/officeart/2005/8/layout/list1"/>
    <dgm:cxn modelId="{FC53E0CF-A205-4997-9C41-818FDDAC79D1}" type="presParOf" srcId="{22DBBE49-4E51-4232-9946-C691985329F5}" destId="{98EE37EB-7B21-4B9C-BEB3-9E7BF10D3A0D}" srcOrd="10" destOrd="0" presId="urn:microsoft.com/office/officeart/2005/8/layout/list1"/>
    <dgm:cxn modelId="{60AD85DA-73C2-4498-9650-B826D63B69B6}" type="presParOf" srcId="{22DBBE49-4E51-4232-9946-C691985329F5}" destId="{F9DB101E-82B8-40DD-803A-6562D61F5006}" srcOrd="11" destOrd="0" presId="urn:microsoft.com/office/officeart/2005/8/layout/list1"/>
    <dgm:cxn modelId="{0EBCF795-258E-4BD0-A900-515F68A34501}" type="presParOf" srcId="{22DBBE49-4E51-4232-9946-C691985329F5}" destId="{32882E96-581D-40F0-A2AC-5E7523DB2B53}" srcOrd="12" destOrd="0" presId="urn:microsoft.com/office/officeart/2005/8/layout/list1"/>
    <dgm:cxn modelId="{41104977-9505-4D4E-915D-E83F9594DDAC}" type="presParOf" srcId="{32882E96-581D-40F0-A2AC-5E7523DB2B53}" destId="{BE2811DF-8FB7-47A5-B1F4-543BE4E361FC}" srcOrd="0" destOrd="0" presId="urn:microsoft.com/office/officeart/2005/8/layout/list1"/>
    <dgm:cxn modelId="{DDDCBCBA-EB1E-4711-9201-A7546BF3E26D}" type="presParOf" srcId="{32882E96-581D-40F0-A2AC-5E7523DB2B53}" destId="{3F15E97E-C304-43C4-8102-C4F6C85B70A4}" srcOrd="1" destOrd="0" presId="urn:microsoft.com/office/officeart/2005/8/layout/list1"/>
    <dgm:cxn modelId="{5ACAAE47-9543-4432-90DD-F53C84C31CA3}" type="presParOf" srcId="{22DBBE49-4E51-4232-9946-C691985329F5}" destId="{BE3D8C54-2536-415D-87F4-4499AA9457C3}" srcOrd="13" destOrd="0" presId="urn:microsoft.com/office/officeart/2005/8/layout/list1"/>
    <dgm:cxn modelId="{F91339E4-7A63-4CD1-9B60-7B337ACD51FD}" type="presParOf" srcId="{22DBBE49-4E51-4232-9946-C691985329F5}" destId="{8D8B7C72-A719-468C-8B4C-0860691817E9}" srcOrd="14" destOrd="0" presId="urn:microsoft.com/office/officeart/2005/8/layout/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05430C3-1B5E-4598-8C11-D0A7288A3839}">
      <dsp:nvSpPr>
        <dsp:cNvPr id="0" name=""/>
        <dsp:cNvSpPr/>
      </dsp:nvSpPr>
      <dsp:spPr>
        <a:xfrm>
          <a:off x="0" y="222694"/>
          <a:ext cx="6096000" cy="48037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smtClean="0">
              <a:latin typeface="微软雅黑" panose="020B0503020204020204" pitchFamily="34" charset="-122"/>
              <a:ea typeface="微软雅黑" panose="020B0503020204020204" pitchFamily="34" charset="-122"/>
            </a:rPr>
            <a:t>设备的小型化、应用的便捷化、数据的网络化，更适合基层站点的环境下使用。</a:t>
          </a:r>
          <a:endParaRPr lang="zh-CN" altLang="en-US" sz="1000" kern="1200" dirty="0">
            <a:latin typeface="微软雅黑" panose="020B0503020204020204" pitchFamily="34" charset="-122"/>
            <a:ea typeface="微软雅黑" panose="020B0503020204020204" pitchFamily="34" charset="-122"/>
          </a:endParaRPr>
        </a:p>
      </dsp:txBody>
      <dsp:txXfrm>
        <a:off x="0" y="222694"/>
        <a:ext cx="6096000" cy="480375"/>
      </dsp:txXfrm>
    </dsp:sp>
    <dsp:sp modelId="{C7A9EAFA-DBCC-4AA1-B668-3BC099C74A0C}">
      <dsp:nvSpPr>
        <dsp:cNvPr id="0" name=""/>
        <dsp:cNvSpPr/>
      </dsp:nvSpPr>
      <dsp:spPr>
        <a:xfrm>
          <a:off x="304800" y="75093"/>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444500">
            <a:lnSpc>
              <a:spcPct val="90000"/>
            </a:lnSpc>
            <a:spcBef>
              <a:spcPct val="0"/>
            </a:spcBef>
            <a:spcAft>
              <a:spcPct val="35000"/>
            </a:spcAft>
          </a:pPr>
          <a:r>
            <a:rPr lang="zh-CN" altLang="en-US" sz="1000" b="1" kern="1200" dirty="0" smtClean="0">
              <a:latin typeface="微软雅黑" panose="020B0503020204020204" pitchFamily="34" charset="-122"/>
              <a:ea typeface="微软雅黑" panose="020B0503020204020204" pitchFamily="34" charset="-122"/>
            </a:rPr>
            <a:t>在基层心电便捷采集问题</a:t>
          </a:r>
          <a:endParaRPr lang="zh-CN" altLang="en-US" sz="1000" b="1" kern="1200" dirty="0">
            <a:latin typeface="微软雅黑" panose="020B0503020204020204" pitchFamily="34" charset="-122"/>
            <a:ea typeface="微软雅黑" panose="020B0503020204020204" pitchFamily="34" charset="-122"/>
          </a:endParaRPr>
        </a:p>
      </dsp:txBody>
      <dsp:txXfrm>
        <a:off x="304800" y="75093"/>
        <a:ext cx="4267200" cy="295200"/>
      </dsp:txXfrm>
    </dsp:sp>
    <dsp:sp modelId="{1C9A5394-C947-4E42-B29D-3A68FDA5789D}">
      <dsp:nvSpPr>
        <dsp:cNvPr id="0" name=""/>
        <dsp:cNvSpPr/>
      </dsp:nvSpPr>
      <dsp:spPr>
        <a:xfrm>
          <a:off x="0" y="904669"/>
          <a:ext cx="6096000" cy="48037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smtClean="0">
              <a:latin typeface="微软雅黑" panose="020B0503020204020204" pitchFamily="34" charset="-122"/>
              <a:ea typeface="微软雅黑" panose="020B0503020204020204" pitchFamily="34" charset="-122"/>
            </a:rPr>
            <a:t>县域心电图统一集中由综合医院诊断，解决了基层医生技术薄弱的难点问题。</a:t>
          </a:r>
          <a:endParaRPr lang="zh-CN" altLang="en-US" sz="1000" kern="1200" dirty="0">
            <a:latin typeface="微软雅黑" panose="020B0503020204020204" pitchFamily="34" charset="-122"/>
            <a:ea typeface="微软雅黑" panose="020B0503020204020204" pitchFamily="34" charset="-122"/>
          </a:endParaRPr>
        </a:p>
      </dsp:txBody>
      <dsp:txXfrm>
        <a:off x="0" y="904669"/>
        <a:ext cx="6096000" cy="480375"/>
      </dsp:txXfrm>
    </dsp:sp>
    <dsp:sp modelId="{D534BC44-C2E0-45D5-95A8-00098EECFC5F}">
      <dsp:nvSpPr>
        <dsp:cNvPr id="0" name=""/>
        <dsp:cNvSpPr/>
      </dsp:nvSpPr>
      <dsp:spPr>
        <a:xfrm>
          <a:off x="304800" y="75706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444500">
            <a:lnSpc>
              <a:spcPct val="90000"/>
            </a:lnSpc>
            <a:spcBef>
              <a:spcPct val="0"/>
            </a:spcBef>
            <a:spcAft>
              <a:spcPct val="35000"/>
            </a:spcAft>
          </a:pPr>
          <a:r>
            <a:rPr lang="zh-CN" altLang="en-US" sz="1000" b="1" kern="1200" dirty="0" smtClean="0">
              <a:latin typeface="微软雅黑" panose="020B0503020204020204" pitchFamily="34" charset="-122"/>
              <a:ea typeface="微软雅黑" panose="020B0503020204020204" pitchFamily="34" charset="-122"/>
            </a:rPr>
            <a:t>区域心电的集中诊断问题</a:t>
          </a:r>
          <a:endParaRPr lang="zh-CN" altLang="en-US" sz="1000" b="1" kern="1200" dirty="0">
            <a:latin typeface="微软雅黑" panose="020B0503020204020204" pitchFamily="34" charset="-122"/>
            <a:ea typeface="微软雅黑" panose="020B0503020204020204" pitchFamily="34" charset="-122"/>
          </a:endParaRPr>
        </a:p>
      </dsp:txBody>
      <dsp:txXfrm>
        <a:off x="304800" y="757069"/>
        <a:ext cx="4267200" cy="295200"/>
      </dsp:txXfrm>
    </dsp:sp>
    <dsp:sp modelId="{98EE37EB-7B21-4B9C-BEB3-9E7BF10D3A0D}">
      <dsp:nvSpPr>
        <dsp:cNvPr id="0" name=""/>
        <dsp:cNvSpPr/>
      </dsp:nvSpPr>
      <dsp:spPr>
        <a:xfrm>
          <a:off x="0" y="1582227"/>
          <a:ext cx="6096000" cy="48037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dirty="0" smtClean="0">
              <a:latin typeface="微软雅黑" panose="020B0503020204020204" pitchFamily="34" charset="-122"/>
              <a:ea typeface="微软雅黑" panose="020B0503020204020204" pitchFamily="34" charset="-122"/>
            </a:rPr>
            <a:t>便携网络化设备更适合县级医疗团队下乡、家庭医生随访，丰富了医生的管理手段。</a:t>
          </a:r>
          <a:endParaRPr lang="zh-CN" altLang="en-US" sz="1000" kern="1200" dirty="0">
            <a:latin typeface="微软雅黑" panose="020B0503020204020204" pitchFamily="34" charset="-122"/>
            <a:ea typeface="微软雅黑" panose="020B0503020204020204" pitchFamily="34" charset="-122"/>
          </a:endParaRPr>
        </a:p>
      </dsp:txBody>
      <dsp:txXfrm>
        <a:off x="0" y="1582227"/>
        <a:ext cx="6096000" cy="480375"/>
      </dsp:txXfrm>
    </dsp:sp>
    <dsp:sp modelId="{4689D030-5B2E-44D1-B27A-8FA513013EFD}">
      <dsp:nvSpPr>
        <dsp:cNvPr id="0" name=""/>
        <dsp:cNvSpPr/>
      </dsp:nvSpPr>
      <dsp:spPr>
        <a:xfrm>
          <a:off x="304800" y="1439044"/>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444500">
            <a:lnSpc>
              <a:spcPct val="90000"/>
            </a:lnSpc>
            <a:spcBef>
              <a:spcPct val="0"/>
            </a:spcBef>
            <a:spcAft>
              <a:spcPct val="35000"/>
            </a:spcAft>
          </a:pPr>
          <a:r>
            <a:rPr lang="zh-CN" altLang="en-US" sz="1000" b="1" kern="1200" dirty="0" smtClean="0">
              <a:latin typeface="微软雅黑" panose="020B0503020204020204" pitchFamily="34" charset="-122"/>
              <a:ea typeface="微软雅黑" panose="020B0503020204020204" pitchFamily="34" charset="-122"/>
            </a:rPr>
            <a:t>提升家医随访能力的问题</a:t>
          </a:r>
          <a:endParaRPr lang="zh-CN" altLang="en-US" sz="1000" b="1" kern="1200" dirty="0">
            <a:latin typeface="微软雅黑" panose="020B0503020204020204" pitchFamily="34" charset="-122"/>
            <a:ea typeface="微软雅黑" panose="020B0503020204020204" pitchFamily="34" charset="-122"/>
          </a:endParaRPr>
        </a:p>
      </dsp:txBody>
      <dsp:txXfrm>
        <a:off x="304800" y="1439044"/>
        <a:ext cx="4267200" cy="295200"/>
      </dsp:txXfrm>
    </dsp:sp>
    <dsp:sp modelId="{8D8B7C72-A719-468C-8B4C-0860691817E9}">
      <dsp:nvSpPr>
        <dsp:cNvPr id="0" name=""/>
        <dsp:cNvSpPr/>
      </dsp:nvSpPr>
      <dsp:spPr>
        <a:xfrm>
          <a:off x="0" y="2268619"/>
          <a:ext cx="6096000" cy="48037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3117" tIns="208280" rIns="473117" bIns="71120" numCol="1" spcCol="1270" anchor="t" anchorCtr="0">
          <a:noAutofit/>
        </a:bodyPr>
        <a:lstStyle/>
        <a:p>
          <a:pPr marL="57150" lvl="1" indent="-57150" algn="l" defTabSz="444500">
            <a:lnSpc>
              <a:spcPct val="90000"/>
            </a:lnSpc>
            <a:spcBef>
              <a:spcPct val="0"/>
            </a:spcBef>
            <a:spcAft>
              <a:spcPct val="15000"/>
            </a:spcAft>
            <a:buChar char="••"/>
          </a:pPr>
          <a:r>
            <a:rPr lang="zh-CN" altLang="en-US" sz="1000" kern="1200" smtClean="0">
              <a:latin typeface="微软雅黑" panose="020B0503020204020204" pitchFamily="34" charset="-122"/>
              <a:ea typeface="微软雅黑" panose="020B0503020204020204" pitchFamily="34" charset="-122"/>
            </a:rPr>
            <a:t>采用可穿戴设备开展患者居家监测与远程管理，能让心脏的居家康复管理落到实处。</a:t>
          </a:r>
          <a:endParaRPr lang="zh-CN" altLang="en-US" sz="1000" kern="1200">
            <a:latin typeface="微软雅黑" panose="020B0503020204020204" pitchFamily="34" charset="-122"/>
            <a:ea typeface="微软雅黑" panose="020B0503020204020204" pitchFamily="34" charset="-122"/>
          </a:endParaRPr>
        </a:p>
      </dsp:txBody>
      <dsp:txXfrm>
        <a:off x="0" y="2268619"/>
        <a:ext cx="6096000" cy="480375"/>
      </dsp:txXfrm>
    </dsp:sp>
    <dsp:sp modelId="{3F15E97E-C304-43C4-8102-C4F6C85B70A4}">
      <dsp:nvSpPr>
        <dsp:cNvPr id="0" name=""/>
        <dsp:cNvSpPr/>
      </dsp:nvSpPr>
      <dsp:spPr>
        <a:xfrm>
          <a:off x="304800" y="2121019"/>
          <a:ext cx="4267200" cy="29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444500">
            <a:lnSpc>
              <a:spcPct val="90000"/>
            </a:lnSpc>
            <a:spcBef>
              <a:spcPct val="0"/>
            </a:spcBef>
            <a:spcAft>
              <a:spcPct val="35000"/>
            </a:spcAft>
          </a:pPr>
          <a:r>
            <a:rPr lang="zh-CN" altLang="en-US" sz="1000" b="1" kern="1200" dirty="0" smtClean="0">
              <a:latin typeface="微软雅黑" panose="020B0503020204020204" pitchFamily="34" charset="-122"/>
              <a:ea typeface="微软雅黑" panose="020B0503020204020204" pitchFamily="34" charset="-122"/>
            </a:rPr>
            <a:t>患者居家康复管理的问题</a:t>
          </a:r>
          <a:endParaRPr lang="zh-CN" altLang="en-US" sz="1000" b="1" kern="1200" dirty="0">
            <a:latin typeface="微软雅黑" panose="020B0503020204020204" pitchFamily="34" charset="-122"/>
            <a:ea typeface="微软雅黑" panose="020B0503020204020204" pitchFamily="34" charset="-122"/>
          </a:endParaRPr>
        </a:p>
      </dsp:txBody>
      <dsp:txXfrm>
        <a:off x="304800" y="2121019"/>
        <a:ext cx="4267200" cy="2952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07BD80-B8B0-40C7-9F88-B5B19023702E}" type="datetimeFigureOut">
              <a:rPr lang="zh-CN" altLang="en-US" smtClean="0"/>
              <a:pPr/>
              <a:t>2024-10-18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17B761-9BD3-4D52-BAF0-A57C5DB37D6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01918C-7925-4549-AC0B-B5875301E63A}" type="slidenum">
              <a:rPr kumimoji="1" lang="zh-CN" altLang="en-US" smtClean="0"/>
              <a:pPr/>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是什么</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解决了什么问题</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市级综合性医院的地位</a:t>
            </a:r>
            <a:endParaRPr lang="zh-CN" altLang="en-US"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6</a:t>
            </a:fld>
            <a:endParaRPr lang="zh-CN" altLang="en-US"/>
          </a:p>
        </p:txBody>
      </p:sp>
    </p:spTree>
    <p:extLst>
      <p:ext uri="{BB962C8B-B14F-4D97-AF65-F5344CB8AC3E}">
        <p14:creationId xmlns="" xmlns:p14="http://schemas.microsoft.com/office/powerpoint/2010/main" val="89884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7</a:t>
            </a:fld>
            <a:endParaRPr lang="zh-CN" altLang="en-US"/>
          </a:p>
        </p:txBody>
      </p:sp>
    </p:spTree>
    <p:extLst>
      <p:ext uri="{BB962C8B-B14F-4D97-AF65-F5344CB8AC3E}">
        <p14:creationId xmlns="" xmlns:p14="http://schemas.microsoft.com/office/powerpoint/2010/main" val="29303186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9</a:t>
            </a:fld>
            <a:endParaRPr lang="zh-CN" altLang="en-US"/>
          </a:p>
        </p:txBody>
      </p:sp>
    </p:spTree>
    <p:extLst>
      <p:ext uri="{BB962C8B-B14F-4D97-AF65-F5344CB8AC3E}">
        <p14:creationId xmlns="" xmlns:p14="http://schemas.microsoft.com/office/powerpoint/2010/main" val="2469954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10</a:t>
            </a:fld>
            <a:endParaRPr lang="zh-CN" altLang="en-US"/>
          </a:p>
        </p:txBody>
      </p:sp>
    </p:spTree>
    <p:extLst>
      <p:ext uri="{BB962C8B-B14F-4D97-AF65-F5344CB8AC3E}">
        <p14:creationId xmlns="" xmlns:p14="http://schemas.microsoft.com/office/powerpoint/2010/main" val="2286103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844083">
              <a:defRPr/>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本产品手持式设计，支持快速建档和远程下单，高精度采集，</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12</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导心电波形同屏显示，</a:t>
            </a:r>
            <a:r>
              <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rPr>
              <a:t>4G/</a:t>
            </a:r>
            <a:r>
              <a:rPr lang="en-US" altLang="zh-CN" sz="1100" dirty="0" err="1">
                <a:solidFill>
                  <a:schemeClr val="tx1">
                    <a:lumMod val="75000"/>
                    <a:lumOff val="25000"/>
                  </a:schemeClr>
                </a:solidFill>
                <a:latin typeface="微软雅黑" panose="020B0503020204020204" pitchFamily="34" charset="-122"/>
                <a:ea typeface="微软雅黑" panose="020B0503020204020204" pitchFamily="34" charset="-122"/>
              </a:rPr>
              <a:t>WiFi</a:t>
            </a: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无线传输，方便移动场景使用，极大地推进了心电图机的智能化和移动化进程，为高效服务和品质医疗提供便利。</a:t>
            </a:r>
            <a:endParaRPr lang="en-US" altLang="zh-CN" sz="1100"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14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专业医疗替换成“刷卡自动建档”</a:t>
            </a:r>
            <a:r>
              <a:rPr kumimoji="1" lang="en-US" altLang="zh-CN" dirty="0"/>
              <a:t>;</a:t>
            </a:r>
            <a:r>
              <a:rPr kumimoji="1" lang="zh-CN" altLang="en-US" dirty="0"/>
              <a:t>定义重新梳理；增加人体画像</a:t>
            </a:r>
          </a:p>
        </p:txBody>
      </p:sp>
      <p:sp>
        <p:nvSpPr>
          <p:cNvPr id="4" name="幻灯片编号占位符 3"/>
          <p:cNvSpPr>
            <a:spLocks noGrp="1"/>
          </p:cNvSpPr>
          <p:nvPr>
            <p:ph type="sldNum" sz="quarter" idx="10"/>
          </p:nvPr>
        </p:nvSpPr>
        <p:spPr/>
        <p:txBody>
          <a:bodyPr/>
          <a:lstStyle/>
          <a:p>
            <a:fld id="{C16CEBB1-29F6-4DD0-A20A-49F07B6D6B29}" type="slidenum">
              <a:rPr lang="zh-CN" altLang="en-US" smtClean="0"/>
              <a:pPr/>
              <a:t>15</a:t>
            </a:fld>
            <a:endParaRPr lang="zh-CN" altLang="en-US"/>
          </a:p>
        </p:txBody>
      </p:sp>
    </p:spTree>
    <p:extLst>
      <p:ext uri="{BB962C8B-B14F-4D97-AF65-F5344CB8AC3E}">
        <p14:creationId xmlns="" xmlns:p14="http://schemas.microsoft.com/office/powerpoint/2010/main" val="1014553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产品介绍不够亮点；</a:t>
            </a:r>
            <a:endParaRPr kumimoji="1" lang="en-US" altLang="zh-CN" dirty="0"/>
          </a:p>
          <a:p>
            <a:r>
              <a:rPr kumimoji="1" lang="zh-CN" altLang="en-US" dirty="0"/>
              <a:t>蓝牙直传写一起</a:t>
            </a:r>
          </a:p>
        </p:txBody>
      </p:sp>
      <p:sp>
        <p:nvSpPr>
          <p:cNvPr id="4" name="幻灯片编号占位符 3"/>
          <p:cNvSpPr>
            <a:spLocks noGrp="1"/>
          </p:cNvSpPr>
          <p:nvPr>
            <p:ph type="sldNum" sz="quarter" idx="10"/>
          </p:nvPr>
        </p:nvSpPr>
        <p:spPr/>
        <p:txBody>
          <a:bodyPr/>
          <a:lstStyle/>
          <a:p>
            <a:fld id="{C16CEBB1-29F6-4DD0-A20A-49F07B6D6B29}" type="slidenum">
              <a:rPr lang="zh-CN" altLang="en-US" smtClean="0"/>
              <a:pPr/>
              <a:t>16</a:t>
            </a:fld>
            <a:endParaRPr lang="zh-CN" altLang="en-US"/>
          </a:p>
        </p:txBody>
      </p:sp>
    </p:spTree>
    <p:extLst>
      <p:ext uri="{BB962C8B-B14F-4D97-AF65-F5344CB8AC3E}">
        <p14:creationId xmlns="" xmlns:p14="http://schemas.microsoft.com/office/powerpoint/2010/main" val="42721100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C16CEBB1-29F6-4DD0-A20A-49F07B6D6B29}" type="slidenum">
              <a:rPr lang="zh-CN" altLang="en-US" smtClean="0"/>
              <a:pPr/>
              <a:t>17</a:t>
            </a:fld>
            <a:endParaRPr lang="zh-CN" altLang="en-US"/>
          </a:p>
        </p:txBody>
      </p:sp>
    </p:spTree>
    <p:extLst>
      <p:ext uri="{BB962C8B-B14F-4D97-AF65-F5344CB8AC3E}">
        <p14:creationId xmlns="" xmlns:p14="http://schemas.microsoft.com/office/powerpoint/2010/main" val="1151466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开放</a:t>
            </a:r>
            <a:r>
              <a:rPr kumimoji="1" lang="en-US" altLang="zh-CN" dirty="0" err="1"/>
              <a:t>sdk</a:t>
            </a:r>
            <a:r>
              <a:rPr kumimoji="1" lang="en-US" altLang="zh-CN" dirty="0"/>
              <a:t>,</a:t>
            </a:r>
            <a:endParaRPr kumimoji="1" lang="zh-CN" altLang="en-US" dirty="0"/>
          </a:p>
        </p:txBody>
      </p:sp>
      <p:sp>
        <p:nvSpPr>
          <p:cNvPr id="4" name="幻灯片编号占位符 3"/>
          <p:cNvSpPr>
            <a:spLocks noGrp="1"/>
          </p:cNvSpPr>
          <p:nvPr>
            <p:ph type="sldNum" sz="quarter" idx="10"/>
          </p:nvPr>
        </p:nvSpPr>
        <p:spPr/>
        <p:txBody>
          <a:bodyPr/>
          <a:lstStyle/>
          <a:p>
            <a:fld id="{C16CEBB1-29F6-4DD0-A20A-49F07B6D6B29}" type="slidenum">
              <a:rPr lang="zh-CN" altLang="en-US" smtClean="0"/>
              <a:pPr/>
              <a:t>18</a:t>
            </a:fld>
            <a:endParaRPr lang="zh-CN" altLang="en-US"/>
          </a:p>
        </p:txBody>
      </p:sp>
    </p:spTree>
    <p:extLst>
      <p:ext uri="{BB962C8B-B14F-4D97-AF65-F5344CB8AC3E}">
        <p14:creationId xmlns="" xmlns:p14="http://schemas.microsoft.com/office/powerpoint/2010/main" val="2009803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置信度分级，提高分析效率</a:t>
            </a:r>
            <a:endParaRPr lang="zh-CN" altLang="en-US"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20</a:t>
            </a:fld>
            <a:endParaRPr lang="zh-CN" altLang="en-US"/>
          </a:p>
        </p:txBody>
      </p:sp>
    </p:spTree>
    <p:extLst>
      <p:ext uri="{BB962C8B-B14F-4D97-AF65-F5344CB8AC3E}">
        <p14:creationId xmlns="" xmlns:p14="http://schemas.microsoft.com/office/powerpoint/2010/main" val="3733614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平台预警业务和预警作息平台结合，将心电检查过程中遇到的告警信息</a:t>
            </a:r>
            <a:endParaRPr lang="zh-CN" altLang="en-US"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21</a:t>
            </a:fld>
            <a:endParaRPr lang="zh-CN" altLang="en-US"/>
          </a:p>
        </p:txBody>
      </p:sp>
    </p:spTree>
    <p:extLst>
      <p:ext uri="{BB962C8B-B14F-4D97-AF65-F5344CB8AC3E}">
        <p14:creationId xmlns="" xmlns:p14="http://schemas.microsoft.com/office/powerpoint/2010/main" val="1045297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从设备端、算法端和平台端三方合一，保证心电数据质控</a:t>
            </a:r>
            <a:endParaRPr lang="en-US" altLang="zh-CN" dirty="0" smtClean="0"/>
          </a:p>
          <a:p>
            <a:r>
              <a:rPr lang="zh-CN" altLang="en-US" dirty="0" smtClean="0"/>
              <a:t>设备数据质控</a:t>
            </a:r>
            <a:endParaRPr lang="en-US" altLang="zh-CN" dirty="0" smtClean="0"/>
          </a:p>
          <a:p>
            <a:r>
              <a:rPr lang="en-US" altLang="zh-CN" dirty="0" smtClean="0"/>
              <a:t>AI</a:t>
            </a:r>
            <a:r>
              <a:rPr lang="zh-CN" altLang="en-US" dirty="0" smtClean="0"/>
              <a:t>算法质控</a:t>
            </a:r>
            <a:endParaRPr lang="en-US" altLang="zh-CN" dirty="0" smtClean="0"/>
          </a:p>
          <a:p>
            <a:r>
              <a:rPr lang="zh-CN" altLang="en-US" dirty="0" smtClean="0"/>
              <a:t>平台数据质控</a:t>
            </a:r>
            <a:endParaRPr lang="zh-CN" altLang="en-US"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22</a:t>
            </a:fld>
            <a:endParaRPr lang="zh-CN" altLang="en-US"/>
          </a:p>
        </p:txBody>
      </p:sp>
    </p:spTree>
    <p:extLst>
      <p:ext uri="{BB962C8B-B14F-4D97-AF65-F5344CB8AC3E}">
        <p14:creationId xmlns="" xmlns:p14="http://schemas.microsoft.com/office/powerpoint/2010/main" val="4044656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5"/>
          </p:nvPr>
        </p:nvSpPr>
        <p:spPr/>
        <p:txBody>
          <a:bodyPr/>
          <a:lstStyle/>
          <a:p>
            <a:fld id="{53B26EDF-CBDF-4E59-A6C9-997BDED55074}" type="slidenum">
              <a:rPr lang="zh-CN" altLang="en-US" smtClean="0"/>
              <a:pPr/>
              <a:t>23</a:t>
            </a:fld>
            <a:endParaRPr lang="zh-CN" altLang="en-US"/>
          </a:p>
        </p:txBody>
      </p:sp>
    </p:spTree>
    <p:extLst>
      <p:ext uri="{BB962C8B-B14F-4D97-AF65-F5344CB8AC3E}">
        <p14:creationId xmlns="" xmlns:p14="http://schemas.microsoft.com/office/powerpoint/2010/main" val="2434914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解决了什么问题</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25</a:t>
            </a:fld>
            <a:endParaRPr lang="zh-CN" altLang="en-US"/>
          </a:p>
        </p:txBody>
      </p:sp>
    </p:spTree>
    <p:extLst>
      <p:ext uri="{BB962C8B-B14F-4D97-AF65-F5344CB8AC3E}">
        <p14:creationId xmlns="" xmlns:p14="http://schemas.microsoft.com/office/powerpoint/2010/main" val="14762951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图片优化</a:t>
            </a:r>
            <a:endParaRPr lang="en-US" altLang="zh-CN" dirty="0"/>
          </a:p>
          <a:p>
            <a:r>
              <a:rPr lang="zh-CN" altLang="en-US" dirty="0"/>
              <a:t>异常心电</a:t>
            </a:r>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27</a:t>
            </a:fld>
            <a:endParaRPr lang="zh-CN" altLang="en-US"/>
          </a:p>
        </p:txBody>
      </p:sp>
    </p:spTree>
    <p:extLst>
      <p:ext uri="{BB962C8B-B14F-4D97-AF65-F5344CB8AC3E}">
        <p14:creationId xmlns="" xmlns:p14="http://schemas.microsoft.com/office/powerpoint/2010/main" val="270658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三高人群写明，</a:t>
            </a:r>
            <a:r>
              <a:rPr lang="zh-CN" altLang="en-US"/>
              <a:t>数字</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28</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三高人群写明，</a:t>
            </a:r>
            <a:r>
              <a:rPr lang="zh-CN" altLang="en-US"/>
              <a:t>数字</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29</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三高人群写明，</a:t>
            </a:r>
            <a:r>
              <a:rPr lang="zh-CN" altLang="en-US"/>
              <a:t>数字</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pPr/>
              <a:t>30</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A17B761-9BD3-4D52-BAF0-A57C5DB37D67}" type="slidenum">
              <a:rPr lang="zh-CN" altLang="en-US" smtClean="0"/>
              <a:pPr/>
              <a:t>31</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16CEBB1-29F6-4DD0-A20A-49F07B6D6B29}"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defRPr/>
              </a:pPr>
              <a:t>32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14423">
              <a:defRPr/>
            </a:pPr>
            <a:r>
              <a:rPr lang="zh-CN" altLang="en-US" dirty="0"/>
              <a:t>安翰科技、新华扬、菲森科技、融智生物、环特生物、</a:t>
            </a:r>
            <a:r>
              <a:rPr lang="zh-CN" altLang="en-US" b="1" dirty="0"/>
              <a:t>雷索药业、霖扬生技、华熙生物、联影医疗、同心医疗、华道生物、诺安百特、贝来生物、基诺厚普、维立志博</a:t>
            </a:r>
            <a:endParaRPr lang="en-US" altLang="zh-CN"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34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右侧图片换</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35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个人可穿戴设备取得；</a:t>
            </a:r>
            <a:r>
              <a:rPr lang="en-US" altLang="zh-CN" dirty="0"/>
              <a:t>2020</a:t>
            </a:r>
            <a:r>
              <a:rPr lang="zh-CN" altLang="en-US" dirty="0"/>
              <a:t>年首张算法二类证；</a:t>
            </a:r>
            <a:r>
              <a:rPr lang="en-US" altLang="zh-CN" dirty="0"/>
              <a:t>22</a:t>
            </a:r>
            <a:r>
              <a:rPr lang="zh-CN" altLang="en-US" dirty="0"/>
              <a:t>年上海人工智能实验室创新大赛；</a:t>
            </a:r>
            <a:r>
              <a:rPr lang="en-US" altLang="zh-CN" dirty="0"/>
              <a:t>2020</a:t>
            </a:r>
            <a:r>
              <a:rPr lang="zh-CN" altLang="en-US" dirty="0"/>
              <a:t>年中华医学奖；</a:t>
            </a:r>
            <a:r>
              <a:rPr lang="en-US" altLang="zh-CN" dirty="0"/>
              <a:t>23</a:t>
            </a:r>
            <a:r>
              <a:rPr lang="zh-CN" altLang="en-US" dirty="0"/>
              <a:t>年小米；</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36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iso27001</a:t>
            </a:r>
            <a:r>
              <a:rPr lang="zh-CN" altLang="en-US" dirty="0"/>
              <a:t>证书</a:t>
            </a:r>
            <a:endParaRPr lang="en-US" altLang="zh-CN" dirty="0"/>
          </a:p>
          <a:p>
            <a:pPr defTabSz="914423">
              <a:defRPr/>
            </a:pPr>
            <a:r>
              <a:rPr lang="zh-CN" altLang="en-US" dirty="0"/>
              <a:t>增加专家资源（卢喜烈、</a:t>
            </a:r>
            <a:r>
              <a:rPr lang="en-US" altLang="zh-CN" dirty="0"/>
              <a:t>--</a:t>
            </a:r>
            <a:r>
              <a:rPr lang="zh-CN" altLang="en-US" dirty="0"/>
              <a:t>，中国心电图协会、）</a:t>
            </a:r>
          </a:p>
          <a:p>
            <a:endParaRPr lang="zh-CN" altLang="en-US" dirty="0"/>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37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八一医院改成东部战区总医院八一院区；京东自营，</a:t>
            </a:r>
          </a:p>
        </p:txBody>
      </p:sp>
      <p:sp>
        <p:nvSpPr>
          <p:cNvPr id="4" name="灯片编号占位符 3"/>
          <p:cNvSpPr>
            <a:spLocks noGrp="1"/>
          </p:cNvSpPr>
          <p:nvPr>
            <p:ph type="sldNum" sz="quarter" idx="10"/>
          </p:nvPr>
        </p:nvSpPr>
        <p:spPr/>
        <p:txBody>
          <a:bodyPr/>
          <a:lstStyle/>
          <a:p>
            <a:fld id="{DA17B761-9BD3-4D52-BAF0-A57C5DB37D67}" type="slidenum">
              <a:rPr lang="zh-CN" altLang="en-US" smtClean="0"/>
              <a:pPr/>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正片">
    <p:spTree>
      <p:nvGrpSpPr>
        <p:cNvPr id="1" name=""/>
        <p:cNvGrpSpPr/>
        <p:nvPr/>
      </p:nvGrpSpPr>
      <p:grpSpPr>
        <a:xfrm>
          <a:off x="0" y="0"/>
          <a:ext cx="0" cy="0"/>
          <a:chOff x="0" y="0"/>
          <a:chExt cx="0" cy="0"/>
        </a:xfrm>
      </p:grpSpPr>
      <p:sp>
        <p:nvSpPr>
          <p:cNvPr id="13" name="文本占位符 12"/>
          <p:cNvSpPr>
            <a:spLocks noGrp="1"/>
          </p:cNvSpPr>
          <p:nvPr>
            <p:ph type="body" sz="quarter" idx="13" hasCustomPrompt="1"/>
          </p:nvPr>
        </p:nvSpPr>
        <p:spPr>
          <a:xfrm>
            <a:off x="251520" y="8450"/>
            <a:ext cx="6696744" cy="720080"/>
          </a:xfrm>
        </p:spPr>
        <p:txBody>
          <a:bodyPr>
            <a:noAutofit/>
          </a:bodyPr>
          <a:lstStyle>
            <a:lvl1pPr marL="0" indent="0" algn="l">
              <a:lnSpc>
                <a:spcPct val="200000"/>
              </a:lnSpc>
              <a:spcBef>
                <a:spcPts val="1200"/>
              </a:spcBef>
              <a:spcAft>
                <a:spcPts val="1200"/>
              </a:spcAft>
              <a:buNone/>
              <a:defRPr sz="2000" b="1">
                <a:latin typeface="微软雅黑" panose="020B0503020204020204" pitchFamily="34" charset="-122"/>
                <a:ea typeface="微软雅黑" panose="020B0503020204020204" pitchFamily="34" charset="-122"/>
              </a:defRPr>
            </a:lvl1pPr>
          </a:lstStyle>
          <a:p>
            <a:pPr lvl="0"/>
            <a:r>
              <a:rPr lang="zh-CN" altLang="en-US" dirty="0"/>
              <a:t>编辑母版文本样式</a:t>
            </a:r>
            <a:endParaRPr lang="en-US" altLang="zh-CN" dirty="0"/>
          </a:p>
          <a:p>
            <a:pPr lvl="0"/>
            <a:endParaRPr lang="zh-CN" altLang="en-US" dirty="0"/>
          </a:p>
        </p:txBody>
      </p:sp>
      <p:sp>
        <p:nvSpPr>
          <p:cNvPr id="14" name="矩形 13"/>
          <p:cNvSpPr/>
          <p:nvPr userDrawn="1"/>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微软雅黑" panose="020B0503020204020204" pitchFamily="34" charset="-122"/>
              <a:ea typeface="微软雅黑" panose="020B0503020204020204" pitchFamily="34" charset="-122"/>
            </a:endParaRPr>
          </a:p>
        </p:txBody>
      </p:sp>
      <p:pic>
        <p:nvPicPr>
          <p:cNvPr id="15" name="Picture 4" descr="C:\Users\Administrator\Desktop\矢量智能对象@2x.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7622137" y="156424"/>
            <a:ext cx="586814" cy="629752"/>
          </a:xfrm>
          <a:prstGeom prst="rect">
            <a:avLst/>
          </a:prstGeom>
          <a:noFill/>
          <a:extLst>
            <a:ext uri="{909E8E84-426E-40DD-AFC4-6F175D3DCCD1}">
              <a14:hiddenFill xmlns="" xmlns:a14="http://schemas.microsoft.com/office/drawing/2010/main">
                <a:solidFill>
                  <a:srgbClr val="FFFFFF"/>
                </a:solidFill>
              </a14:hiddenFill>
            </a:ext>
          </a:extLst>
        </p:spPr>
      </p:pic>
      <p:pic>
        <p:nvPicPr>
          <p:cNvPr id="16" name="Picture 2" descr="C:\Users\Administrator\Desktop\矢量智能对象@2x.png"/>
          <p:cNvPicPr>
            <a:picLocks noChangeAspect="1" noChangeArrowheads="1"/>
          </p:cNvPicPr>
          <p:nvPr userDrawn="1"/>
        </p:nvPicPr>
        <p:blipFill>
          <a:blip r:embed="rId3" cstate="print">
            <a:extLst>
              <a:ext uri="{28A0092B-C50C-407E-A947-70E740481C1C}">
                <a14:useLocalDpi xmlns="" xmlns:a14="http://schemas.microsoft.com/office/drawing/2010/main" val="0"/>
              </a:ext>
            </a:extLst>
          </a:blip>
          <a:srcRect/>
          <a:stretch>
            <a:fillRect/>
          </a:stretch>
        </p:blipFill>
        <p:spPr bwMode="auto">
          <a:xfrm>
            <a:off x="8316416" y="195486"/>
            <a:ext cx="567619" cy="604946"/>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5434962D-DA07-0746-B6E2-B6A62605A90C}" type="datetime1">
              <a:rPr lang="zh-CN" altLang="en-US" smtClean="0"/>
              <a:pPr/>
              <a:t>2024-10-18</a:t>
            </a:fld>
            <a:endParaRPr lang="zh-CN" altLang="en-US"/>
          </a:p>
        </p:txBody>
      </p:sp>
      <p:sp>
        <p:nvSpPr>
          <p:cNvPr id="4" name="页脚占位符 3"/>
          <p:cNvSpPr>
            <a:spLocks noGrp="1"/>
          </p:cNvSpPr>
          <p:nvPr>
            <p:ph type="ftr" sz="quarter" idx="11"/>
          </p:nvPr>
        </p:nvSpPr>
        <p:spPr/>
        <p:txBody>
          <a:bodyPr/>
          <a:lstStyle/>
          <a:p>
            <a:r>
              <a:rPr lang="en-US" altLang="zh-CN" dirty="0"/>
              <a:t>© </a:t>
            </a:r>
            <a:r>
              <a:rPr lang="zh-CN" altLang="en-US" dirty="0"/>
              <a:t>版权所有 </a:t>
            </a:r>
            <a:r>
              <a:rPr lang="en-US" altLang="zh-CN" dirty="0"/>
              <a:t>2021 </a:t>
            </a:r>
            <a:r>
              <a:rPr lang="zh-CN" altLang="en-US" dirty="0"/>
              <a:t>浙江好络维医疗技术有限公司</a:t>
            </a:r>
          </a:p>
        </p:txBody>
      </p:sp>
      <p:sp>
        <p:nvSpPr>
          <p:cNvPr id="5" name="灯片编号占位符 4"/>
          <p:cNvSpPr>
            <a:spLocks noGrp="1"/>
          </p:cNvSpPr>
          <p:nvPr>
            <p:ph type="sldNum" sz="quarter" idx="12"/>
          </p:nvPr>
        </p:nvSpPr>
        <p:spPr/>
        <p:txBody>
          <a:bodyPr/>
          <a:lstStyle/>
          <a:p>
            <a:fld id="{5DD3DB80-B894-403A-B48E-6FDC1A72010E}" type="slidenum">
              <a:rPr lang="zh-CN" altLang="en-US" smtClean="0"/>
              <a:pPr/>
              <a:t>‹#›</a:t>
            </a:fld>
            <a:endParaRPr lang="zh-CN" altLang="en-US"/>
          </a:p>
        </p:txBody>
      </p:sp>
      <p:sp>
        <p:nvSpPr>
          <p:cNvPr id="6" name="文本框 5"/>
          <p:cNvSpPr txBox="1"/>
          <p:nvPr userDrawn="1"/>
        </p:nvSpPr>
        <p:spPr>
          <a:xfrm>
            <a:off x="502444" y="978694"/>
            <a:ext cx="8357188" cy="3861197"/>
          </a:xfrm>
          <a:prstGeom prst="rect">
            <a:avLst/>
          </a:prstGeom>
          <a:noFill/>
        </p:spPr>
        <p:txBody>
          <a:bodyPr wrap="square" rtlCol="0">
            <a:noAutofit/>
          </a:bodyPr>
          <a:lstStyle/>
          <a:p>
            <a:pPr marL="214630" indent="-214630">
              <a:buFont typeface="Wingdings" panose="05000000000000000000" pitchFamily="2" charset="2"/>
              <a:buChar char="l"/>
            </a:pPr>
            <a:endParaRPr kumimoji="1" lang="en-US" altLang="zh-CN" sz="1350" dirty="0"/>
          </a:p>
          <a:p>
            <a:pPr marL="214630" indent="-214630">
              <a:buFont typeface="Wingdings" panose="05000000000000000000" pitchFamily="2" charset="2"/>
              <a:buChar char="l"/>
            </a:pPr>
            <a:endParaRPr kumimoji="1" lang="en-US" altLang="zh-CN" sz="1350" dirty="0"/>
          </a:p>
          <a:p>
            <a:pPr marL="214630" indent="-214630">
              <a:buFont typeface="Wingdings" panose="05000000000000000000" pitchFamily="2" charset="2"/>
              <a:buChar char="l"/>
            </a:pPr>
            <a:endParaRPr kumimoji="1" lang="zh-CN" altLang="en-US" sz="135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内容输入页面">
    <p:spTree>
      <p:nvGrpSpPr>
        <p:cNvPr id="1" name=""/>
        <p:cNvGrpSpPr/>
        <p:nvPr/>
      </p:nvGrpSpPr>
      <p:grpSpPr>
        <a:xfrm>
          <a:off x="0" y="0"/>
          <a:ext cx="0" cy="0"/>
          <a:chOff x="0" y="0"/>
          <a:chExt cx="0" cy="0"/>
        </a:xfrm>
      </p:grpSpPr>
      <p:sp>
        <p:nvSpPr>
          <p:cNvPr id="2" name="标题 1"/>
          <p:cNvSpPr>
            <a:spLocks noGrp="1"/>
          </p:cNvSpPr>
          <p:nvPr>
            <p:ph type="title"/>
          </p:nvPr>
        </p:nvSpPr>
        <p:spPr>
          <a:xfrm>
            <a:off x="628650" y="208700"/>
            <a:ext cx="7886700" cy="325041"/>
          </a:xfrm>
          <a:prstGeom prst="rect">
            <a:avLst/>
          </a:prstGeom>
        </p:spPr>
        <p:txBody>
          <a:bodyPr anchor="ctr"/>
          <a:lstStyle>
            <a:lvl1pPr>
              <a:defRPr sz="2100" b="0" i="0">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7" name="文本占位符 6"/>
          <p:cNvSpPr>
            <a:spLocks noGrp="1"/>
          </p:cNvSpPr>
          <p:nvPr>
            <p:ph type="body" sz="quarter" idx="10"/>
          </p:nvPr>
        </p:nvSpPr>
        <p:spPr>
          <a:xfrm>
            <a:off x="262186" y="208700"/>
            <a:ext cx="334565" cy="325041"/>
          </a:xfrm>
          <a:prstGeom prst="rect">
            <a:avLst/>
          </a:prstGeom>
        </p:spPr>
        <p:txBody>
          <a:bodyPr anchor="ctr"/>
          <a:lstStyle>
            <a:lvl1pPr marL="0" indent="0" algn="ctr">
              <a:buNone/>
              <a:defRPr sz="1350" b="0" i="0">
                <a:solidFill>
                  <a:schemeClr val="bg1"/>
                </a:solidFill>
                <a:latin typeface="微软雅黑" panose="020B0503020204020204" pitchFamily="34" charset="-122"/>
                <a:ea typeface="微软雅黑" panose="020B0503020204020204" pitchFamily="34" charset="-122"/>
              </a:defRPr>
            </a:lvl1pPr>
          </a:lstStyle>
          <a:p>
            <a:pPr lvl="0"/>
            <a:endParaRPr kumimoji="1"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994172"/>
          </a:xfrm>
        </p:spPr>
        <p:txBody>
          <a:bodyPr/>
          <a:lstStyle/>
          <a:p>
            <a:r>
              <a:rPr lang="zh-CN" altLang="en-US"/>
              <a:t>单击此处编辑母版标题样式</a:t>
            </a:r>
          </a:p>
        </p:txBody>
      </p:sp>
      <p:pic>
        <p:nvPicPr>
          <p:cNvPr id="4" name="图片 3" descr="图片包含 游戏机, 画&#10;&#10;描述已自动生成"/>
          <p:cNvPicPr>
            <a:picLocks noChangeAspect="1"/>
          </p:cNvPicPr>
          <p:nvPr userDrawn="1"/>
        </p:nvPicPr>
        <p:blipFill>
          <a:blip r:embed="rId2" cstate="print">
            <a:duotone>
              <a:prstClr val="black"/>
              <a:schemeClr val="accent1">
                <a:tint val="45000"/>
                <a:satMod val="400000"/>
              </a:schemeClr>
            </a:duotone>
            <a:extLst>
              <a:ext uri="{28A0092B-C50C-407E-A947-70E740481C1C}">
                <a14:useLocalDpi xmlns="" xmlns:a14="http://schemas.microsoft.com/office/drawing/2010/main" val="0"/>
              </a:ext>
            </a:extLst>
          </a:blip>
          <a:stretch>
            <a:fillRect/>
          </a:stretch>
        </p:blipFill>
        <p:spPr>
          <a:xfrm>
            <a:off x="7859593" y="85980"/>
            <a:ext cx="1141532" cy="437541"/>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1"/>
            <a:ext cx="7886700" cy="994172"/>
          </a:xfrm>
        </p:spPr>
        <p:txBody>
          <a:bodyPr/>
          <a:lstStyle/>
          <a:p>
            <a:r>
              <a:rPr lang="zh-CN" altLang="en-US"/>
              <a:t>单击此处编辑母版标题样式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sp>
        <p:nvSpPr>
          <p:cNvPr id="2" name="标题 1"/>
          <p:cNvSpPr>
            <a:spLocks noGrp="1"/>
          </p:cNvSpPr>
          <p:nvPr>
            <p:ph type="title"/>
          </p:nvPr>
        </p:nvSpPr>
        <p:spPr>
          <a:xfrm>
            <a:off x="456621" y="1"/>
            <a:ext cx="7841699" cy="857250"/>
          </a:xfrm>
        </p:spPr>
        <p:txBody>
          <a:bodyPr>
            <a:noAutofit/>
          </a:bodyPr>
          <a:lstStyle>
            <a:lvl1pPr marL="0" algn="l" defTabSz="879475" rtl="0" eaLnBrk="1" latinLnBrk="0" hangingPunct="1">
              <a:lnSpc>
                <a:spcPts val="6075"/>
              </a:lnSpc>
              <a:defRPr lang="zh-CN" altLang="en-US" sz="20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2024-10-18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pic>
        <p:nvPicPr>
          <p:cNvPr id="7" name="Picture 4" descr="C:\Users\Administrator\Desktop\矢量智能对象@2x.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7486566" y="267494"/>
            <a:ext cx="586814" cy="629752"/>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2" descr="C:\Users\Administrator\Desktop\矢量智能对象@2x.png"/>
          <p:cNvPicPr>
            <a:picLocks noChangeAspect="1" noChangeArrowheads="1"/>
          </p:cNvPicPr>
          <p:nvPr userDrawn="1"/>
        </p:nvPicPr>
        <p:blipFill>
          <a:blip r:embed="rId3" cstate="print">
            <a:extLst>
              <a:ext uri="{28A0092B-C50C-407E-A947-70E740481C1C}">
                <a14:useLocalDpi xmlns="" xmlns:a14="http://schemas.microsoft.com/office/drawing/2010/main" val="0"/>
              </a:ext>
            </a:extLst>
          </a:blip>
          <a:srcRect/>
          <a:stretch>
            <a:fillRect/>
          </a:stretch>
        </p:blipFill>
        <p:spPr bwMode="auto">
          <a:xfrm>
            <a:off x="8180845" y="306556"/>
            <a:ext cx="567619" cy="604946"/>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3C381E9-8D8D-4B0A-AEF4-E21F930D6749}" type="datetimeFigureOut">
              <a:rPr lang="zh-CN" altLang="en-US" smtClean="0"/>
              <a:pPr/>
              <a:t>2024-10-18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2230631-B87B-4616-91ED-EDA6072C7989}"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pPr/>
              <a:t>10/18/2024</a:t>
            </a:fld>
            <a:endParaRPr lang="en-US"/>
          </a:p>
        </p:txBody>
      </p:sp>
      <p:sp>
        <p:nvSpPr>
          <p:cNvPr id="4" name="Holder 4"/>
          <p:cNvSpPr>
            <a:spLocks noGrp="1"/>
          </p:cNvSpPr>
          <p:nvPr>
            <p:ph type="sldNum" sz="quarter" idx="7"/>
          </p:nvPr>
        </p:nvSpPr>
        <p:spPr>
          <a:xfrm>
            <a:off x="8819197" y="4915118"/>
            <a:ext cx="235268" cy="182403"/>
          </a:xfrm>
          <a:prstGeom prst="rect">
            <a:avLst/>
          </a:prstGeom>
        </p:spPr>
        <p:txBody>
          <a:bodyPr lIns="0" tIns="0" rIns="0" bIns="0"/>
          <a:lstStyle>
            <a:lvl1pPr>
              <a:defRPr sz="900" b="0" i="0">
                <a:solidFill>
                  <a:schemeClr val="tx1"/>
                </a:solidFill>
                <a:latin typeface="UKIJ CJK"/>
                <a:cs typeface="UKIJ CJK"/>
              </a:defRPr>
            </a:lvl1pPr>
          </a:lstStyle>
          <a:p>
            <a:pPr marL="28575">
              <a:spcBef>
                <a:spcPts val="125"/>
              </a:spcBef>
            </a:pPr>
            <a:fld id="{81D60167-4931-47E6-BA6A-407CBD079E47}" type="slidenum">
              <a:rPr lang="en-US" altLang="zh-CN" sz="975" spc="30" smtClean="0"/>
              <a:pPr marL="28575">
                <a:spcBef>
                  <a:spcPts val="125"/>
                </a:spcBef>
              </a:pPr>
              <a:t>‹#›</a:t>
            </a:fld>
            <a:endParaRPr lang="zh-CN" altLang="en-US" sz="975"/>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pic>
        <p:nvPicPr>
          <p:cNvPr id="2" name="Picture 4" descr="C:\Users\Administrator\Desktop\矢量智能对象@2x.png"/>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rcRect/>
          <a:stretch>
            <a:fillRect/>
          </a:stretch>
        </p:blipFill>
        <p:spPr bwMode="auto">
          <a:xfrm>
            <a:off x="7486566" y="123478"/>
            <a:ext cx="586814" cy="629752"/>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2" descr="C:\Users\Administrator\Desktop\矢量智能对象@2x.png"/>
          <p:cNvPicPr>
            <a:picLocks noChangeAspect="1" noChangeArrowheads="1"/>
          </p:cNvPicPr>
          <p:nvPr userDrawn="1"/>
        </p:nvPicPr>
        <p:blipFill>
          <a:blip r:embed="rId3" cstate="print">
            <a:extLst>
              <a:ext uri="{28A0092B-C50C-407E-A947-70E740481C1C}">
                <a14:useLocalDpi xmlns="" xmlns:a14="http://schemas.microsoft.com/office/drawing/2010/main" val="0"/>
              </a:ext>
            </a:extLst>
          </a:blip>
          <a:srcRect/>
          <a:stretch>
            <a:fillRect/>
          </a:stretch>
        </p:blipFill>
        <p:spPr bwMode="auto">
          <a:xfrm>
            <a:off x="8180845" y="162540"/>
            <a:ext cx="567619" cy="604946"/>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83C381E9-8D8D-4B0A-AEF4-E21F930D6749}" type="datetimeFigureOut">
              <a:rPr lang="zh-CN" altLang="en-US" smtClean="0"/>
              <a:pPr/>
              <a:t>2024-10-18</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2230631-B87B-4616-91ED-EDA6072C798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oleObject" Target="../embeddings/oleObject1.bin"/><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4.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slideLayout" Target="../slideLayouts/slideLayout7.xml"/><Relationship Id="rId7" Type="http://schemas.openxmlformats.org/officeDocument/2006/relationships/image" Target="../media/image35.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notesSlide" Target="../notesSlides/notesSlide6.xml"/><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16.xml"/><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tags" Target="../tags/tag21.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 Type="http://schemas.openxmlformats.org/officeDocument/2006/relationships/tags" Target="../tags/tag5.xml"/><Relationship Id="rId16" Type="http://schemas.openxmlformats.org/officeDocument/2006/relationships/tags" Target="../tags/tag19.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tags" Target="../tags/tag18.xml"/><Relationship Id="rId10" Type="http://schemas.openxmlformats.org/officeDocument/2006/relationships/tags" Target="../tags/tag13.xml"/><Relationship Id="rId19" Type="http://schemas.openxmlformats.org/officeDocument/2006/relationships/slideLayout" Target="../slideLayouts/slideLayout16.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8" Type="http://schemas.microsoft.com/office/2007/relationships/hdphoto" Target="../media/hdphoto19.wdp"/><Relationship Id="rId13" Type="http://schemas.openxmlformats.org/officeDocument/2006/relationships/image" Target="../media/image52.png"/><Relationship Id="rId18" Type="http://schemas.openxmlformats.org/officeDocument/2006/relationships/image" Target="../media/image55.png"/><Relationship Id="rId3" Type="http://schemas.openxmlformats.org/officeDocument/2006/relationships/image" Target="../media/image43.png"/><Relationship Id="rId21" Type="http://schemas.microsoft.com/office/2007/relationships/hdphoto" Target="../media/hdphoto22.wdp"/><Relationship Id="rId7" Type="http://schemas.openxmlformats.org/officeDocument/2006/relationships/image" Target="../media/image47.png"/><Relationship Id="rId12" Type="http://schemas.openxmlformats.org/officeDocument/2006/relationships/image" Target="../media/image51.png"/><Relationship Id="rId17" Type="http://schemas.microsoft.com/office/2007/relationships/hdphoto" Target="../media/hdphoto21.wdp"/><Relationship Id="rId2" Type="http://schemas.openxmlformats.org/officeDocument/2006/relationships/notesSlide" Target="../notesSlides/notesSlide9.xml"/><Relationship Id="rId16" Type="http://schemas.openxmlformats.org/officeDocument/2006/relationships/image" Target="../media/image54.png"/><Relationship Id="rId20" Type="http://schemas.openxmlformats.org/officeDocument/2006/relationships/image" Target="../media/image57.png"/><Relationship Id="rId1" Type="http://schemas.openxmlformats.org/officeDocument/2006/relationships/slideLayout" Target="../slideLayouts/slideLayout16.xml"/><Relationship Id="rId6" Type="http://schemas.openxmlformats.org/officeDocument/2006/relationships/image" Target="../media/image46.jpeg"/><Relationship Id="rId11" Type="http://schemas.openxmlformats.org/officeDocument/2006/relationships/image" Target="../media/image50.png"/><Relationship Id="rId5" Type="http://schemas.openxmlformats.org/officeDocument/2006/relationships/image" Target="../media/image45.png"/><Relationship Id="rId15" Type="http://schemas.openxmlformats.org/officeDocument/2006/relationships/image" Target="../media/image53.png"/><Relationship Id="rId10" Type="http://schemas.openxmlformats.org/officeDocument/2006/relationships/image" Target="../media/image49.png"/><Relationship Id="rId19" Type="http://schemas.openxmlformats.org/officeDocument/2006/relationships/image" Target="../media/image56.png"/><Relationship Id="rId4" Type="http://schemas.openxmlformats.org/officeDocument/2006/relationships/image" Target="../media/image44.png"/><Relationship Id="rId9" Type="http://schemas.openxmlformats.org/officeDocument/2006/relationships/image" Target="../media/image48.png"/><Relationship Id="rId14" Type="http://schemas.microsoft.com/office/2007/relationships/hdphoto" Target="../media/hdphoto20.wdp"/><Relationship Id="rId22" Type="http://schemas.openxmlformats.org/officeDocument/2006/relationships/image" Target="../media/image58.png"/></Relationships>
</file>

<file path=ppt/slides/_rels/slide16.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17.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5.png"/><Relationship Id="rId18" Type="http://schemas.microsoft.com/office/2007/relationships/hdphoto" Target="../media/hdphoto26.wdp"/><Relationship Id="rId3" Type="http://schemas.openxmlformats.org/officeDocument/2006/relationships/notesSlide" Target="../notesSlides/notesSlide11.xml"/><Relationship Id="rId7" Type="http://schemas.openxmlformats.org/officeDocument/2006/relationships/image" Target="../media/image71.png"/><Relationship Id="rId12" Type="http://schemas.microsoft.com/office/2007/relationships/hdphoto" Target="../media/hdphoto23.wdp"/><Relationship Id="rId17" Type="http://schemas.openxmlformats.org/officeDocument/2006/relationships/image" Target="../media/image77.png"/><Relationship Id="rId2" Type="http://schemas.openxmlformats.org/officeDocument/2006/relationships/slideLayout" Target="../slideLayouts/slideLayout16.xml"/><Relationship Id="rId16" Type="http://schemas.microsoft.com/office/2007/relationships/hdphoto" Target="../media/hdphoto25.wdp"/><Relationship Id="rId1" Type="http://schemas.openxmlformats.org/officeDocument/2006/relationships/tags" Target="../tags/tag24.xml"/><Relationship Id="rId6" Type="http://schemas.openxmlformats.org/officeDocument/2006/relationships/image" Target="../media/image60.png"/><Relationship Id="rId11" Type="http://schemas.openxmlformats.org/officeDocument/2006/relationships/image" Target="../media/image74.png"/><Relationship Id="rId5" Type="http://schemas.openxmlformats.org/officeDocument/2006/relationships/image" Target="../media/image70.png"/><Relationship Id="rId15" Type="http://schemas.openxmlformats.org/officeDocument/2006/relationships/image" Target="../media/image76.png"/><Relationship Id="rId10" Type="http://schemas.openxmlformats.org/officeDocument/2006/relationships/image" Target="../media/image61.png"/><Relationship Id="rId4" Type="http://schemas.openxmlformats.org/officeDocument/2006/relationships/image" Target="../media/image69.png"/><Relationship Id="rId9" Type="http://schemas.openxmlformats.org/officeDocument/2006/relationships/image" Target="../media/image73.png"/><Relationship Id="rId14" Type="http://schemas.microsoft.com/office/2007/relationships/hdphoto" Target="../media/hdphoto24.wdp"/></Relationships>
</file>

<file path=ppt/slides/_rels/slide18.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84.png"/><Relationship Id="rId3" Type="http://schemas.openxmlformats.org/officeDocument/2006/relationships/image" Target="../media/image78.png"/><Relationship Id="rId7" Type="http://schemas.microsoft.com/office/2007/relationships/hdphoto" Target="../media/hdphoto27.wdp"/><Relationship Id="rId12" Type="http://schemas.openxmlformats.org/officeDocument/2006/relationships/image" Target="../media/image83.pn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80.png"/><Relationship Id="rId11" Type="http://schemas.openxmlformats.org/officeDocument/2006/relationships/image" Target="../media/image61.png"/><Relationship Id="rId5" Type="http://schemas.openxmlformats.org/officeDocument/2006/relationships/image" Target="../media/image79.png"/><Relationship Id="rId10" Type="http://schemas.openxmlformats.org/officeDocument/2006/relationships/image" Target="../media/image82.png"/><Relationship Id="rId4" Type="http://schemas.openxmlformats.org/officeDocument/2006/relationships/image" Target="../media/image60.png"/><Relationship Id="rId9" Type="http://schemas.openxmlformats.org/officeDocument/2006/relationships/image" Target="../media/image81.png"/><Relationship Id="rId14" Type="http://schemas.microsoft.com/office/2007/relationships/hdphoto" Target="../media/hdphoto28.wd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26" Type="http://schemas.openxmlformats.org/officeDocument/2006/relationships/tags" Target="../tags/tag50.xml"/><Relationship Id="rId39" Type="http://schemas.openxmlformats.org/officeDocument/2006/relationships/image" Target="../media/image87.png"/><Relationship Id="rId3" Type="http://schemas.openxmlformats.org/officeDocument/2006/relationships/tags" Target="../tags/tag27.xml"/><Relationship Id="rId21" Type="http://schemas.openxmlformats.org/officeDocument/2006/relationships/tags" Target="../tags/tag45.xml"/><Relationship Id="rId34" Type="http://schemas.openxmlformats.org/officeDocument/2006/relationships/slideLayout" Target="../slideLayouts/slideLayout16.xml"/><Relationship Id="rId42" Type="http://schemas.openxmlformats.org/officeDocument/2006/relationships/image" Target="../media/image38.png"/><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5" Type="http://schemas.openxmlformats.org/officeDocument/2006/relationships/tags" Target="../tags/tag49.xml"/><Relationship Id="rId33" Type="http://schemas.openxmlformats.org/officeDocument/2006/relationships/tags" Target="../tags/tag57.xml"/><Relationship Id="rId38" Type="http://schemas.openxmlformats.org/officeDocument/2006/relationships/hyperlink" Target="http://www.td-tech.com/" TargetMode="External"/><Relationship Id="rId2" Type="http://schemas.openxmlformats.org/officeDocument/2006/relationships/tags" Target="../tags/tag26.xml"/><Relationship Id="rId16" Type="http://schemas.openxmlformats.org/officeDocument/2006/relationships/tags" Target="../tags/tag40.xml"/><Relationship Id="rId20" Type="http://schemas.openxmlformats.org/officeDocument/2006/relationships/tags" Target="../tags/tag44.xml"/><Relationship Id="rId29" Type="http://schemas.openxmlformats.org/officeDocument/2006/relationships/tags" Target="../tags/tag53.xml"/><Relationship Id="rId41" Type="http://schemas.openxmlformats.org/officeDocument/2006/relationships/image" Target="../media/image89.png"/><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24" Type="http://schemas.openxmlformats.org/officeDocument/2006/relationships/tags" Target="../tags/tag48.xml"/><Relationship Id="rId32" Type="http://schemas.openxmlformats.org/officeDocument/2006/relationships/tags" Target="../tags/tag56.xml"/><Relationship Id="rId37" Type="http://schemas.openxmlformats.org/officeDocument/2006/relationships/image" Target="../media/image86.png"/><Relationship Id="rId40" Type="http://schemas.openxmlformats.org/officeDocument/2006/relationships/image" Target="../media/image88.png"/><Relationship Id="rId5" Type="http://schemas.openxmlformats.org/officeDocument/2006/relationships/tags" Target="../tags/tag29.xml"/><Relationship Id="rId15" Type="http://schemas.openxmlformats.org/officeDocument/2006/relationships/tags" Target="../tags/tag39.xml"/><Relationship Id="rId23" Type="http://schemas.openxmlformats.org/officeDocument/2006/relationships/tags" Target="../tags/tag47.xml"/><Relationship Id="rId28" Type="http://schemas.openxmlformats.org/officeDocument/2006/relationships/tags" Target="../tags/tag52.xml"/><Relationship Id="rId36" Type="http://schemas.openxmlformats.org/officeDocument/2006/relationships/image" Target="../media/image85.png"/><Relationship Id="rId10" Type="http://schemas.openxmlformats.org/officeDocument/2006/relationships/tags" Target="../tags/tag34.xml"/><Relationship Id="rId19" Type="http://schemas.openxmlformats.org/officeDocument/2006/relationships/tags" Target="../tags/tag43.xml"/><Relationship Id="rId31" Type="http://schemas.openxmlformats.org/officeDocument/2006/relationships/tags" Target="../tags/tag55.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 Id="rId22" Type="http://schemas.openxmlformats.org/officeDocument/2006/relationships/tags" Target="../tags/tag46.xml"/><Relationship Id="rId27" Type="http://schemas.openxmlformats.org/officeDocument/2006/relationships/tags" Target="../tags/tag51.xml"/><Relationship Id="rId30" Type="http://schemas.openxmlformats.org/officeDocument/2006/relationships/tags" Target="../tags/tag54.xml"/><Relationship Id="rId35"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94.png"/><Relationship Id="rId7" Type="http://schemas.microsoft.com/office/2007/relationships/hdphoto" Target="../media/hdphoto1.wdp"/><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jpeg"/><Relationship Id="rId4" Type="http://schemas.openxmlformats.org/officeDocument/2006/relationships/image" Target="../media/image9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image" Target="../media/image99.png"/></Relationships>
</file>

<file path=ppt/slides/_rels/slide28.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103.png"/><Relationship Id="rId4" Type="http://schemas.openxmlformats.org/officeDocument/2006/relationships/image" Target="../media/image102.png"/></Relationships>
</file>

<file path=ppt/slides/_rels/slide29.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110.png"/><Relationship Id="rId3" Type="http://schemas.openxmlformats.org/officeDocument/2006/relationships/image" Target="../media/image104.png"/><Relationship Id="rId7" Type="http://schemas.openxmlformats.org/officeDocument/2006/relationships/image" Target="../media/image106.png"/><Relationship Id="rId12" Type="http://schemas.openxmlformats.org/officeDocument/2006/relationships/image" Target="../media/image109.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microsoft.com/office/2007/relationships/hdphoto" Target="../media/hdphoto3.wdp"/><Relationship Id="rId11" Type="http://schemas.openxmlformats.org/officeDocument/2006/relationships/image" Target="../media/image108.png"/><Relationship Id="rId5" Type="http://schemas.openxmlformats.org/officeDocument/2006/relationships/image" Target="../media/image105.png"/><Relationship Id="rId10" Type="http://schemas.microsoft.com/office/2007/relationships/hdphoto" Target="../media/hdphoto5.wdp"/><Relationship Id="rId4" Type="http://schemas.microsoft.com/office/2007/relationships/hdphoto" Target="../media/hdphoto2.wdp"/><Relationship Id="rId9" Type="http://schemas.openxmlformats.org/officeDocument/2006/relationships/image" Target="../media/image107.png"/><Relationship Id="rId14" Type="http://schemas.openxmlformats.org/officeDocument/2006/relationships/image" Target="../media/image111.png"/></Relationships>
</file>

<file path=ppt/slides/_rels/slide3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31.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6.png"/><Relationship Id="rId7" Type="http://schemas.microsoft.com/office/2007/relationships/hdphoto" Target="../media/hdphoto7.wdp"/><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18.png"/><Relationship Id="rId5" Type="http://schemas.microsoft.com/office/2007/relationships/hdphoto" Target="../media/hdphoto6.wdp"/><Relationship Id="rId4" Type="http://schemas.openxmlformats.org/officeDocument/2006/relationships/image" Target="../media/image117.png"/></Relationships>
</file>

<file path=ppt/slides/_rels/slide32.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0.png"/><Relationship Id="rId7" Type="http://schemas.openxmlformats.org/officeDocument/2006/relationships/image" Target="../media/image124.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microsoft.com/office/2007/relationships/hdphoto" Target="../media/hdphoto9.wdp"/><Relationship Id="rId13" Type="http://schemas.openxmlformats.org/officeDocument/2006/relationships/image" Target="../media/image136.png"/><Relationship Id="rId3" Type="http://schemas.openxmlformats.org/officeDocument/2006/relationships/image" Target="../media/image129.png"/><Relationship Id="rId7" Type="http://schemas.openxmlformats.org/officeDocument/2006/relationships/image" Target="../media/image132.png"/><Relationship Id="rId12" Type="http://schemas.openxmlformats.org/officeDocument/2006/relationships/image" Target="../media/image135.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microsoft.com/office/2007/relationships/hdphoto" Target="../media/hdphoto8.wdp"/><Relationship Id="rId11" Type="http://schemas.openxmlformats.org/officeDocument/2006/relationships/image" Target="../media/image134.png"/><Relationship Id="rId5" Type="http://schemas.openxmlformats.org/officeDocument/2006/relationships/image" Target="../media/image131.png"/><Relationship Id="rId10" Type="http://schemas.microsoft.com/office/2007/relationships/hdphoto" Target="../media/hdphoto10.wdp"/><Relationship Id="rId4" Type="http://schemas.openxmlformats.org/officeDocument/2006/relationships/image" Target="../media/image130.png"/><Relationship Id="rId9" Type="http://schemas.openxmlformats.org/officeDocument/2006/relationships/image" Target="../media/image133.png"/></Relationships>
</file>

<file path=ppt/slides/_rels/slide35.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image" Target="../media/image139.png"/><Relationship Id="rId5" Type="http://schemas.microsoft.com/office/2007/relationships/hdphoto" Target="../media/hdphoto11.wdp"/><Relationship Id="rId4" Type="http://schemas.openxmlformats.org/officeDocument/2006/relationships/image" Target="../media/image13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8" Type="http://schemas.microsoft.com/office/2007/relationships/hdphoto" Target="../media/hdphoto12.wdp"/><Relationship Id="rId13" Type="http://schemas.openxmlformats.org/officeDocument/2006/relationships/image" Target="../media/image149.png"/><Relationship Id="rId18" Type="http://schemas.openxmlformats.org/officeDocument/2006/relationships/image" Target="../media/image154.png"/><Relationship Id="rId26" Type="http://schemas.openxmlformats.org/officeDocument/2006/relationships/image" Target="../media/image160.png"/><Relationship Id="rId3" Type="http://schemas.openxmlformats.org/officeDocument/2006/relationships/image" Target="../media/image140.jpeg"/><Relationship Id="rId21" Type="http://schemas.microsoft.com/office/2007/relationships/hdphoto" Target="../media/hdphoto13.wdp"/><Relationship Id="rId7" Type="http://schemas.openxmlformats.org/officeDocument/2006/relationships/image" Target="../media/image144.png"/><Relationship Id="rId12" Type="http://schemas.openxmlformats.org/officeDocument/2006/relationships/image" Target="../media/image148.png"/><Relationship Id="rId17" Type="http://schemas.openxmlformats.org/officeDocument/2006/relationships/image" Target="../media/image153.png"/><Relationship Id="rId25" Type="http://schemas.microsoft.com/office/2007/relationships/hdphoto" Target="../media/hdphoto14.wdp"/><Relationship Id="rId2" Type="http://schemas.openxmlformats.org/officeDocument/2006/relationships/notesSlide" Target="../notesSlides/notesSlide27.xml"/><Relationship Id="rId16" Type="http://schemas.openxmlformats.org/officeDocument/2006/relationships/image" Target="../media/image152.png"/><Relationship Id="rId20" Type="http://schemas.openxmlformats.org/officeDocument/2006/relationships/image" Target="../media/image156.png"/><Relationship Id="rId29" Type="http://schemas.openxmlformats.org/officeDocument/2006/relationships/image" Target="../media/image163.png"/><Relationship Id="rId1" Type="http://schemas.openxmlformats.org/officeDocument/2006/relationships/slideLayout" Target="../slideLayouts/slideLayout16.xml"/><Relationship Id="rId6" Type="http://schemas.openxmlformats.org/officeDocument/2006/relationships/image" Target="../media/image143.png"/><Relationship Id="rId11" Type="http://schemas.openxmlformats.org/officeDocument/2006/relationships/image" Target="../media/image147.png"/><Relationship Id="rId24" Type="http://schemas.openxmlformats.org/officeDocument/2006/relationships/image" Target="../media/image159.png"/><Relationship Id="rId32" Type="http://schemas.microsoft.com/office/2007/relationships/hdphoto" Target="../media/hdphoto15.wdp"/><Relationship Id="rId5" Type="http://schemas.openxmlformats.org/officeDocument/2006/relationships/image" Target="../media/image142.png"/><Relationship Id="rId15" Type="http://schemas.openxmlformats.org/officeDocument/2006/relationships/image" Target="../media/image151.png"/><Relationship Id="rId23" Type="http://schemas.openxmlformats.org/officeDocument/2006/relationships/image" Target="../media/image158.jpeg"/><Relationship Id="rId28" Type="http://schemas.openxmlformats.org/officeDocument/2006/relationships/image" Target="../media/image162.png"/><Relationship Id="rId10" Type="http://schemas.openxmlformats.org/officeDocument/2006/relationships/image" Target="../media/image146.png"/><Relationship Id="rId19" Type="http://schemas.openxmlformats.org/officeDocument/2006/relationships/image" Target="../media/image155.png"/><Relationship Id="rId31" Type="http://schemas.openxmlformats.org/officeDocument/2006/relationships/image" Target="../media/image165.png"/><Relationship Id="rId4" Type="http://schemas.openxmlformats.org/officeDocument/2006/relationships/image" Target="../media/image141.jpeg"/><Relationship Id="rId9" Type="http://schemas.openxmlformats.org/officeDocument/2006/relationships/image" Target="../media/image145.png"/><Relationship Id="rId14" Type="http://schemas.openxmlformats.org/officeDocument/2006/relationships/image" Target="../media/image150.png"/><Relationship Id="rId22" Type="http://schemas.openxmlformats.org/officeDocument/2006/relationships/image" Target="../media/image157.png"/><Relationship Id="rId27" Type="http://schemas.openxmlformats.org/officeDocument/2006/relationships/image" Target="../media/image161.png"/><Relationship Id="rId30" Type="http://schemas.openxmlformats.org/officeDocument/2006/relationships/image" Target="../media/image164.png"/></Relationships>
</file>

<file path=ppt/slides/_rels/slide38.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18" Type="http://schemas.openxmlformats.org/officeDocument/2006/relationships/image" Target="../media/image181.png"/><Relationship Id="rId26" Type="http://schemas.openxmlformats.org/officeDocument/2006/relationships/image" Target="../media/image189.png"/><Relationship Id="rId3" Type="http://schemas.openxmlformats.org/officeDocument/2006/relationships/image" Target="../media/image166.png"/><Relationship Id="rId21" Type="http://schemas.openxmlformats.org/officeDocument/2006/relationships/image" Target="../media/image184.png"/><Relationship Id="rId7" Type="http://schemas.openxmlformats.org/officeDocument/2006/relationships/image" Target="../media/image170.png"/><Relationship Id="rId12" Type="http://schemas.openxmlformats.org/officeDocument/2006/relationships/image" Target="../media/image175.png"/><Relationship Id="rId17" Type="http://schemas.openxmlformats.org/officeDocument/2006/relationships/image" Target="../media/image180.png"/><Relationship Id="rId25" Type="http://schemas.openxmlformats.org/officeDocument/2006/relationships/image" Target="../media/image188.png"/><Relationship Id="rId2" Type="http://schemas.openxmlformats.org/officeDocument/2006/relationships/notesSlide" Target="../notesSlides/notesSlide28.xml"/><Relationship Id="rId16" Type="http://schemas.openxmlformats.org/officeDocument/2006/relationships/image" Target="../media/image179.png"/><Relationship Id="rId20" Type="http://schemas.openxmlformats.org/officeDocument/2006/relationships/image" Target="../media/image183.png"/><Relationship Id="rId1" Type="http://schemas.openxmlformats.org/officeDocument/2006/relationships/slideLayout" Target="../slideLayouts/slideLayout2.xml"/><Relationship Id="rId6" Type="http://schemas.openxmlformats.org/officeDocument/2006/relationships/image" Target="../media/image169.png"/><Relationship Id="rId11" Type="http://schemas.openxmlformats.org/officeDocument/2006/relationships/image" Target="../media/image174.png"/><Relationship Id="rId24" Type="http://schemas.openxmlformats.org/officeDocument/2006/relationships/image" Target="../media/image187.png"/><Relationship Id="rId5" Type="http://schemas.openxmlformats.org/officeDocument/2006/relationships/image" Target="../media/image168.png"/><Relationship Id="rId15" Type="http://schemas.openxmlformats.org/officeDocument/2006/relationships/image" Target="../media/image178.png"/><Relationship Id="rId23" Type="http://schemas.openxmlformats.org/officeDocument/2006/relationships/image" Target="../media/image186.png"/><Relationship Id="rId10" Type="http://schemas.openxmlformats.org/officeDocument/2006/relationships/image" Target="../media/image173.png"/><Relationship Id="rId19" Type="http://schemas.openxmlformats.org/officeDocument/2006/relationships/image" Target="../media/image182.png"/><Relationship Id="rId4" Type="http://schemas.openxmlformats.org/officeDocument/2006/relationships/image" Target="../media/image167.png"/><Relationship Id="rId9" Type="http://schemas.openxmlformats.org/officeDocument/2006/relationships/image" Target="../media/image172.png"/><Relationship Id="rId14" Type="http://schemas.openxmlformats.org/officeDocument/2006/relationships/image" Target="../media/image177.png"/><Relationship Id="rId22" Type="http://schemas.openxmlformats.org/officeDocument/2006/relationships/image" Target="../media/image185.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0" name="Picture 22" descr="C:\Users\Administrator\Desktop\矢量智能对象@2x.pn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625010" y="1059582"/>
            <a:ext cx="5843180" cy="2906037"/>
          </a:xfrm>
          <a:prstGeom prst="rect">
            <a:avLst/>
          </a:prstGeom>
          <a:noFill/>
          <a:extLst>
            <a:ext uri="{909E8E84-426E-40DD-AFC4-6F175D3DCCD1}">
              <a14:hiddenFill xmlns="" xmlns:a14="http://schemas.microsoft.com/office/drawing/2010/main">
                <a:solidFill>
                  <a:srgbClr val="FFFFFF"/>
                </a:solidFill>
              </a14:hiddenFill>
            </a:ext>
          </a:extLst>
        </p:spPr>
      </p:pic>
      <p:graphicFrame>
        <p:nvGraphicFramePr>
          <p:cNvPr id="5" name="对象 4" hidden="1"/>
          <p:cNvGraphicFramePr>
            <a:graphicFrameLocks noChangeAspect="1"/>
          </p:cNvGraphicFramePr>
          <p:nvPr/>
        </p:nvGraphicFramePr>
        <p:xfrm>
          <a:off x="1588" y="1588"/>
          <a:ext cx="1227" cy="1588"/>
        </p:xfrm>
        <a:graphic>
          <a:graphicData uri="http://schemas.openxmlformats.org/presentationml/2006/ole">
            <p:oleObj spid="_x0000_s1286" name="think-cell 幻灯片" r:id="rId5" imgW="7761960" imgH="10047960" progId="">
              <p:embed/>
            </p:oleObj>
          </a:graphicData>
        </a:graphic>
      </p:graphicFrame>
      <p:sp>
        <p:nvSpPr>
          <p:cNvPr id="3" name="Rectangle 6"/>
          <p:cNvSpPr/>
          <p:nvPr/>
        </p:nvSpPr>
        <p:spPr>
          <a:xfrm>
            <a:off x="2778467" y="4259049"/>
            <a:ext cx="3701655" cy="276999"/>
          </a:xfrm>
          <a:prstGeom prst="rect">
            <a:avLst/>
          </a:prstGeom>
        </p:spPr>
        <p:txBody>
          <a:bodyPr wrap="none">
            <a:spAutoFit/>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浙江好络维医疗技术有限公司 </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 </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新希望集团控股企业</a:t>
            </a:r>
            <a:endPar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4" name="TextBox 2"/>
          <p:cNvSpPr txBox="1"/>
          <p:nvPr/>
        </p:nvSpPr>
        <p:spPr>
          <a:xfrm>
            <a:off x="2838191" y="2419023"/>
            <a:ext cx="3467616" cy="584775"/>
          </a:xfrm>
          <a:prstGeom prst="rect">
            <a:avLst/>
          </a:prstGeom>
          <a:noFill/>
        </p:spPr>
        <p:txBody>
          <a:bodyPr wrap="none" rtlCol="0">
            <a:spAutoFit/>
          </a:bodyPr>
          <a:lstStyle/>
          <a:p>
            <a:pPr algn="ctr"/>
            <a:r>
              <a:rPr lang="zh-CN" altLang="en-US" sz="3200" b="1" dirty="0">
                <a:solidFill>
                  <a:srgbClr val="196494"/>
                </a:solidFill>
                <a:latin typeface="微软雅黑" panose="020B0503020204020204" pitchFamily="34" charset="-122"/>
                <a:ea typeface="微软雅黑" panose="020B0503020204020204" pitchFamily="34" charset="-122"/>
                <a:cs typeface="Open Sans" panose="020B0606030504020204" pitchFamily="34" charset="0"/>
              </a:rPr>
              <a:t>区域心</a:t>
            </a:r>
            <a:r>
              <a:rPr lang="zh-CN" altLang="en-US" sz="3200" b="1" dirty="0" smtClean="0">
                <a:solidFill>
                  <a:srgbClr val="196494"/>
                </a:solidFill>
                <a:latin typeface="微软雅黑" panose="020B0503020204020204" pitchFamily="34" charset="-122"/>
                <a:ea typeface="微软雅黑" panose="020B0503020204020204" pitchFamily="34" charset="-122"/>
                <a:cs typeface="Open Sans" panose="020B0606030504020204" pitchFamily="34" charset="0"/>
              </a:rPr>
              <a:t>电网络方案</a:t>
            </a:r>
            <a:endParaRPr lang="en-US" altLang="zh-CN" sz="3200" b="1" dirty="0">
              <a:solidFill>
                <a:srgbClr val="196494"/>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11" name="矩形 10"/>
          <p:cNvSpPr/>
          <p:nvPr/>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pic>
        <p:nvPicPr>
          <p:cNvPr id="6" name="图片 5"/>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3878209" y="788811"/>
            <a:ext cx="1336782" cy="133678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descr="C:\Users\Administrator\Desktop\01.p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6512" y="-329910"/>
            <a:ext cx="9180512" cy="5494304"/>
          </a:xfrm>
          <a:prstGeom prst="rect">
            <a:avLst/>
          </a:prstGeom>
          <a:noFill/>
          <a:extLst>
            <a:ext uri="{909E8E84-426E-40DD-AFC4-6F175D3DCCD1}">
              <a14:hiddenFill xmlns="" xmlns:a14="http://schemas.microsoft.com/office/drawing/2010/main">
                <a:solidFill>
                  <a:srgbClr val="FFFFFF"/>
                </a:solidFill>
              </a14:hiddenFill>
            </a:ext>
          </a:extLst>
        </p:spPr>
      </p:pic>
      <p:sp>
        <p:nvSpPr>
          <p:cNvPr id="4" name="椭圆 3"/>
          <p:cNvSpPr/>
          <p:nvPr/>
        </p:nvSpPr>
        <p:spPr>
          <a:xfrm>
            <a:off x="3851920" y="1424268"/>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1</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TextBox 4"/>
          <p:cNvSpPr txBox="1"/>
          <p:nvPr/>
        </p:nvSpPr>
        <p:spPr>
          <a:xfrm>
            <a:off x="4499992" y="1419622"/>
            <a:ext cx="1107996" cy="369332"/>
          </a:xfrm>
          <a:prstGeom prst="rect">
            <a:avLst/>
          </a:prstGeom>
          <a:noFill/>
        </p:spPr>
        <p:txBody>
          <a:bodyPr wrap="none" rtlCol="0">
            <a:spAutoFit/>
          </a:bodyPr>
          <a:lstStyle/>
          <a:p>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业务介绍</a:t>
            </a:r>
          </a:p>
        </p:txBody>
      </p:sp>
      <p:sp>
        <p:nvSpPr>
          <p:cNvPr id="12" name="TextBox 10"/>
          <p:cNvSpPr txBox="1"/>
          <p:nvPr/>
        </p:nvSpPr>
        <p:spPr>
          <a:xfrm>
            <a:off x="4499992" y="2715766"/>
            <a:ext cx="1107996" cy="369332"/>
          </a:xfrm>
          <a:prstGeom prst="rect">
            <a:avLst/>
          </a:prstGeom>
          <a:noFill/>
        </p:spPr>
        <p:txBody>
          <a:bodyPr wrap="none" rtlCol="0">
            <a:spAutoFit/>
          </a:bodyPr>
          <a:lstStyle/>
          <a:p>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rPr>
              <a:t>方案亮点</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3" name="椭圆 12"/>
          <p:cNvSpPr/>
          <p:nvPr/>
        </p:nvSpPr>
        <p:spPr>
          <a:xfrm>
            <a:off x="3851920" y="2720412"/>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3</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9" name="椭圆 8"/>
          <p:cNvSpPr/>
          <p:nvPr/>
        </p:nvSpPr>
        <p:spPr>
          <a:xfrm>
            <a:off x="6513365" y="2067694"/>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1"/>
                </a:solidFill>
                <a:latin typeface="微软雅黑" panose="020B0503020204020204" pitchFamily="34" charset="-122"/>
                <a:ea typeface="微软雅黑" panose="020B0503020204020204" pitchFamily="34" charset="-122"/>
              </a:rPr>
              <a:t>5</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 name="TextBox 10"/>
          <p:cNvSpPr txBox="1"/>
          <p:nvPr/>
        </p:nvSpPr>
        <p:spPr>
          <a:xfrm>
            <a:off x="7161437" y="2063048"/>
            <a:ext cx="1107996" cy="369332"/>
          </a:xfrm>
          <a:prstGeom prst="rect">
            <a:avLst/>
          </a:prstGeom>
          <a:noFill/>
        </p:spPr>
        <p:txBody>
          <a:bodyPr wrap="none" rtlCol="0">
            <a:spAutoFit/>
          </a:bodyPr>
          <a:lstStyle/>
          <a:p>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rPr>
              <a:t>典型案例</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TextBox 10"/>
          <p:cNvSpPr txBox="1"/>
          <p:nvPr/>
        </p:nvSpPr>
        <p:spPr>
          <a:xfrm>
            <a:off x="4499992" y="2067694"/>
            <a:ext cx="1107996" cy="369332"/>
          </a:xfrm>
          <a:prstGeom prst="rect">
            <a:avLst/>
          </a:prstGeom>
          <a:noFill/>
        </p:spPr>
        <p:txBody>
          <a:bodyPr wrap="none" rtlCol="0">
            <a:spAutoFit/>
          </a:bodyPr>
          <a:lstStyle/>
          <a:p>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rPr>
              <a:t>实施方案</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椭圆 15"/>
          <p:cNvSpPr/>
          <p:nvPr/>
        </p:nvSpPr>
        <p:spPr>
          <a:xfrm>
            <a:off x="3851920" y="2072340"/>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2</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7" name="椭圆 16"/>
          <p:cNvSpPr/>
          <p:nvPr/>
        </p:nvSpPr>
        <p:spPr>
          <a:xfrm>
            <a:off x="6513365" y="2715766"/>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1"/>
                </a:solidFill>
                <a:latin typeface="微软雅黑" panose="020B0503020204020204" pitchFamily="34" charset="-122"/>
                <a:ea typeface="微软雅黑" panose="020B0503020204020204" pitchFamily="34" charset="-122"/>
              </a:rPr>
              <a:t>6</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7161437" y="2711120"/>
            <a:ext cx="1107996" cy="369332"/>
          </a:xfrm>
          <a:prstGeom prst="rect">
            <a:avLst/>
          </a:prstGeom>
          <a:noFill/>
        </p:spPr>
        <p:txBody>
          <a:bodyPr wrap="none" rtlCol="0">
            <a:spAutoFit/>
          </a:bodyPr>
          <a:lstStyle/>
          <a:p>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rPr>
              <a:t>公司介绍</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9" name="椭圆 18"/>
          <p:cNvSpPr/>
          <p:nvPr/>
        </p:nvSpPr>
        <p:spPr>
          <a:xfrm>
            <a:off x="6513365" y="1425024"/>
            <a:ext cx="360040" cy="360040"/>
          </a:xfrm>
          <a:prstGeom prst="ellipse">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anose="020B0503020204020204" pitchFamily="34" charset="-122"/>
                <a:ea typeface="微软雅黑" panose="020B0503020204020204" pitchFamily="34" charset="-122"/>
              </a:rPr>
              <a:t>4</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20" name="TextBox 10"/>
          <p:cNvSpPr txBox="1"/>
          <p:nvPr/>
        </p:nvSpPr>
        <p:spPr>
          <a:xfrm>
            <a:off x="7161437" y="1420378"/>
            <a:ext cx="1107996" cy="369332"/>
          </a:xfrm>
          <a:prstGeom prst="rect">
            <a:avLst/>
          </a:prstGeom>
          <a:noFill/>
        </p:spPr>
        <p:txBody>
          <a:bodyPr wrap="none" rtlCol="0">
            <a:spAutoFit/>
          </a:bodyPr>
          <a:lstStyle/>
          <a:p>
            <a:r>
              <a:rPr lang="zh-CN" altLang="en-US" b="1" dirty="0" smtClean="0">
                <a:solidFill>
                  <a:schemeClr val="tx1">
                    <a:lumMod val="65000"/>
                    <a:lumOff val="35000"/>
                  </a:schemeClr>
                </a:solidFill>
                <a:latin typeface="微软雅黑" panose="020B0503020204020204" pitchFamily="34" charset="-122"/>
                <a:ea typeface="微软雅黑" panose="020B0503020204020204" pitchFamily="34" charset="-122"/>
              </a:rPr>
              <a:t>效益分析</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512119" y="1955394"/>
            <a:ext cx="1826141" cy="584775"/>
          </a:xfrm>
          <a:prstGeom prst="rect">
            <a:avLst/>
          </a:prstGeom>
          <a:noFill/>
        </p:spPr>
        <p:txBody>
          <a:bodyPr wrap="none" rtlCol="0">
            <a:spAutoFit/>
          </a:bodyPr>
          <a:lstStyle/>
          <a:p>
            <a:r>
              <a:rPr lang="zh-CN" altLang="en-US" sz="3200" b="1" dirty="0">
                <a:solidFill>
                  <a:srgbClr val="196494"/>
                </a:solidFill>
                <a:latin typeface="微软雅黑" panose="020B0503020204020204" pitchFamily="34" charset="-122"/>
                <a:ea typeface="微软雅黑" panose="020B0503020204020204" pitchFamily="34" charset="-122"/>
              </a:rPr>
              <a:t>业务介绍</a:t>
            </a:r>
          </a:p>
        </p:txBody>
      </p:sp>
      <p:sp>
        <p:nvSpPr>
          <p:cNvPr id="9" name="TextBox 8"/>
          <p:cNvSpPr txBox="1"/>
          <p:nvPr/>
        </p:nvSpPr>
        <p:spPr>
          <a:xfrm>
            <a:off x="1619672" y="1851670"/>
            <a:ext cx="4040530" cy="1200329"/>
          </a:xfrm>
          <a:prstGeom prst="rect">
            <a:avLst/>
          </a:prstGeom>
          <a:noFill/>
        </p:spPr>
        <p:txBody>
          <a:bodyPr wrap="none" rtlCol="0">
            <a:spAutoFit/>
          </a:bodyPr>
          <a:lstStyle>
            <a:defPPr>
              <a:defRPr lang="zh-CN"/>
            </a:defPPr>
            <a:lvl1pPr>
              <a:defRPr sz="7200" b="1">
                <a:solidFill>
                  <a:srgbClr val="1F71A6"/>
                </a:solidFill>
                <a:latin typeface="微软雅黑" panose="020B0503020204020204" pitchFamily="34" charset="-122"/>
                <a:ea typeface="微软雅黑" panose="020B0503020204020204" pitchFamily="34" charset="-122"/>
              </a:defRPr>
            </a:lvl1pPr>
          </a:lstStyle>
          <a:p>
            <a:r>
              <a:rPr lang="en-US" altLang="zh-CN" dirty="0"/>
              <a:t>PART 01</a:t>
            </a:r>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solidFill>
                  <a:schemeClr val="tx1">
                    <a:lumMod val="75000"/>
                    <a:lumOff val="25000"/>
                  </a:schemeClr>
                </a:solidFill>
              </a:rPr>
              <a:t>业务介绍</a:t>
            </a:r>
          </a:p>
        </p:txBody>
      </p:sp>
      <p:sp>
        <p:nvSpPr>
          <p:cNvPr id="3" name="矩形 2"/>
          <p:cNvSpPr/>
          <p:nvPr/>
        </p:nvSpPr>
        <p:spPr>
          <a:xfrm>
            <a:off x="251520" y="843558"/>
            <a:ext cx="8496944" cy="783590"/>
          </a:xfrm>
          <a:prstGeom prst="rect">
            <a:avLst/>
          </a:prstGeom>
        </p:spPr>
        <p:txBody>
          <a:bodyPr wrap="square">
            <a:spAutoFit/>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通过建立</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标准化、一体化的心血管疾病救治体系</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，使得心电图的采集和诊断打破时间和空间的限制，形成</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基层检查、集中诊断、专家质控</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的三级诊疗模式，打通</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院前</a:t>
            </a:r>
            <a:r>
              <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院中</a:t>
            </a:r>
            <a:r>
              <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院后各项关键环节</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。本系统在为各级</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机构</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提供一个实时、共享平台的同时，优化医疗资源配置，助力分级诊疗，为基层居民提供高质量的心电诊疗服务，惠及心血管患者。</a:t>
            </a:r>
          </a:p>
        </p:txBody>
      </p:sp>
      <p:pic>
        <p:nvPicPr>
          <p:cNvPr id="6" name="图片 5"/>
          <p:cNvPicPr>
            <a:picLocks noChangeAspect="1"/>
          </p:cNvPicPr>
          <p:nvPr/>
        </p:nvPicPr>
        <p:blipFill>
          <a:blip r:embed="rId3" cstate="print"/>
          <a:stretch>
            <a:fillRect/>
          </a:stretch>
        </p:blipFill>
        <p:spPr>
          <a:xfrm>
            <a:off x="941235" y="1980715"/>
            <a:ext cx="3959168" cy="2401114"/>
          </a:xfrm>
          <a:prstGeom prst="rect">
            <a:avLst/>
          </a:prstGeom>
        </p:spPr>
      </p:pic>
      <p:sp>
        <p:nvSpPr>
          <p:cNvPr id="4" name="矩形 3"/>
          <p:cNvSpPr/>
          <p:nvPr/>
        </p:nvSpPr>
        <p:spPr>
          <a:xfrm>
            <a:off x="5076056" y="2427734"/>
            <a:ext cx="3600400" cy="1246495"/>
          </a:xfrm>
          <a:prstGeom prst="rect">
            <a:avLst/>
          </a:prstGeom>
        </p:spPr>
        <p:txBody>
          <a:bodyPr wrap="square">
            <a:spAutoFit/>
          </a:bodyPr>
          <a:lstStyle/>
          <a:p>
            <a:pPr>
              <a:lnSpc>
                <a:spcPct val="150000"/>
              </a:lnSpc>
            </a:pPr>
            <a:r>
              <a:rPr lang="zh-CN" altLang="zh-CN" sz="1000" dirty="0" smtClean="0">
                <a:solidFill>
                  <a:schemeClr val="tx1">
                    <a:lumMod val="85000"/>
                    <a:lumOff val="15000"/>
                  </a:schemeClr>
                </a:solidFill>
                <a:latin typeface="微软雅黑" panose="020B0503020204020204" pitchFamily="34" charset="-122"/>
                <a:ea typeface="微软雅黑" panose="020B0503020204020204" pitchFamily="34" charset="-122"/>
              </a:rPr>
              <a:t>基</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于“互联网</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医疗”的远程医疗服务模式，</a:t>
            </a:r>
            <a:r>
              <a:rPr lang="zh-CN" altLang="zh-CN" sz="1000" b="1" dirty="0">
                <a:solidFill>
                  <a:schemeClr val="tx1">
                    <a:lumMod val="85000"/>
                    <a:lumOff val="15000"/>
                  </a:schemeClr>
                </a:solidFill>
                <a:latin typeface="微软雅黑" panose="020B0503020204020204" pitchFamily="34" charset="-122"/>
                <a:ea typeface="微软雅黑" panose="020B0503020204020204" pitchFamily="34" charset="-122"/>
              </a:rPr>
              <a:t>依托医共体主体医院，通过搭建远程心电诊断和管理平台</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，将基层医疗机构（如镇卫生院、村卫生室等）与上级医疗机构（如市级、省级医院等）的心电诊断资源进行有效整合，形成一个</a:t>
            </a:r>
            <a:r>
              <a:rPr lang="zh-CN" altLang="zh-CN" sz="1000" b="1" dirty="0">
                <a:solidFill>
                  <a:schemeClr val="tx1">
                    <a:lumMod val="85000"/>
                    <a:lumOff val="15000"/>
                  </a:schemeClr>
                </a:solidFill>
                <a:latin typeface="微软雅黑" panose="020B0503020204020204" pitchFamily="34" charset="-122"/>
                <a:ea typeface="微软雅黑" panose="020B0503020204020204" pitchFamily="34" charset="-122"/>
              </a:rPr>
              <a:t>覆盖整个区域</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的心电诊断网络，助力区域医疗中心建设。</a:t>
            </a:r>
            <a:endPar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solidFill>
                  <a:schemeClr val="tx1">
                    <a:lumMod val="75000"/>
                    <a:lumOff val="25000"/>
                  </a:schemeClr>
                </a:solidFill>
              </a:rPr>
              <a:t>建设目标</a:t>
            </a:r>
            <a:endParaRPr lang="zh-CN" altLang="en-US" dirty="0">
              <a:solidFill>
                <a:schemeClr val="tx1">
                  <a:lumMod val="75000"/>
                  <a:lumOff val="25000"/>
                </a:schemeClr>
              </a:solidFill>
            </a:endParaRPr>
          </a:p>
        </p:txBody>
      </p:sp>
      <p:sp>
        <p:nvSpPr>
          <p:cNvPr id="3" name="矩形 2"/>
          <p:cNvSpPr/>
          <p:nvPr/>
        </p:nvSpPr>
        <p:spPr>
          <a:xfrm>
            <a:off x="251520" y="915566"/>
            <a:ext cx="8712968" cy="784830"/>
          </a:xfrm>
          <a:prstGeom prst="rect">
            <a:avLst/>
          </a:prstGeom>
        </p:spPr>
        <p:txBody>
          <a:bodyPr wrap="square">
            <a:spAutoFit/>
          </a:bodyPr>
          <a:lstStyle/>
          <a:p>
            <a:pPr>
              <a:lnSpc>
                <a:spcPct val="150000"/>
              </a:lnSpc>
            </a:pPr>
            <a:r>
              <a:rPr lang="zh-CN" altLang="en-US" sz="1000" dirty="0">
                <a:latin typeface="微软雅黑" panose="020B0503020204020204" pitchFamily="34" charset="-122"/>
                <a:ea typeface="微软雅黑" panose="020B0503020204020204" pitchFamily="34" charset="-122"/>
              </a:rPr>
              <a:t>基于便携式网络心电设备和云网络技术，部署适合县域应用的心电云服务平台。基于平台</a:t>
            </a:r>
            <a:r>
              <a:rPr lang="zh-CN" altLang="en-US" sz="1000" dirty="0" smtClean="0">
                <a:latin typeface="微软雅黑" panose="020B0503020204020204" pitchFamily="34" charset="-122"/>
                <a:ea typeface="微软雅黑" panose="020B0503020204020204" pitchFamily="34" charset="-122"/>
              </a:rPr>
              <a:t>以县级</a:t>
            </a:r>
            <a:r>
              <a:rPr lang="zh-CN" altLang="en-US" sz="1000" dirty="0">
                <a:latin typeface="微软雅黑" panose="020B0503020204020204" pitchFamily="34" charset="-122"/>
                <a:ea typeface="微软雅黑" panose="020B0503020204020204" pitchFamily="34" charset="-122"/>
              </a:rPr>
              <a:t>综合医院为龙头融合乡镇</a:t>
            </a:r>
            <a:r>
              <a:rPr lang="zh-CN" altLang="en-US" sz="1000" dirty="0" smtClean="0">
                <a:latin typeface="微软雅黑" panose="020B0503020204020204" pitchFamily="34" charset="-122"/>
                <a:ea typeface="微软雅黑" panose="020B0503020204020204" pitchFamily="34" charset="-122"/>
              </a:rPr>
              <a:t>卫生院</a:t>
            </a:r>
            <a:r>
              <a:rPr lang="en-US" altLang="zh-CN" sz="1000" dirty="0" smtClean="0">
                <a:latin typeface="微软雅黑" panose="020B0503020204020204" pitchFamily="34" charset="-122"/>
                <a:ea typeface="微软雅黑" panose="020B0503020204020204" pitchFamily="34" charset="-122"/>
              </a:rPr>
              <a:t>/</a:t>
            </a:r>
            <a:r>
              <a:rPr lang="zh-CN" altLang="en-US" sz="1000" dirty="0" smtClean="0">
                <a:latin typeface="微软雅黑" panose="020B0503020204020204" pitchFamily="34" charset="-122"/>
                <a:ea typeface="微软雅黑" panose="020B0503020204020204" pitchFamily="34" charset="-122"/>
              </a:rPr>
              <a:t>社区服务中心、</a:t>
            </a:r>
            <a:r>
              <a:rPr lang="zh-CN" altLang="en-US" sz="1000" dirty="0">
                <a:latin typeface="微软雅黑" panose="020B0503020204020204" pitchFamily="34" charset="-122"/>
                <a:ea typeface="微软雅黑" panose="020B0503020204020204" pitchFamily="34" charset="-122"/>
              </a:rPr>
              <a:t>村</a:t>
            </a:r>
            <a:r>
              <a:rPr lang="zh-CN" altLang="en-US" sz="1000" dirty="0" smtClean="0">
                <a:latin typeface="微软雅黑" panose="020B0503020204020204" pitchFamily="34" charset="-122"/>
                <a:ea typeface="微软雅黑" panose="020B0503020204020204" pitchFamily="34" charset="-122"/>
              </a:rPr>
              <a:t>卫生站</a:t>
            </a:r>
            <a:r>
              <a:rPr lang="en-US" altLang="zh-CN" sz="1000" dirty="0" smtClean="0">
                <a:latin typeface="微软雅黑" panose="020B0503020204020204" pitchFamily="34" charset="-122"/>
                <a:ea typeface="微软雅黑" panose="020B0503020204020204" pitchFamily="34" charset="-122"/>
              </a:rPr>
              <a:t>/</a:t>
            </a:r>
            <a:r>
              <a:rPr lang="zh-CN" altLang="en-US" sz="1000" dirty="0" smtClean="0">
                <a:latin typeface="微软雅黑" panose="020B0503020204020204" pitchFamily="34" charset="-122"/>
                <a:ea typeface="微软雅黑" panose="020B0503020204020204" pitchFamily="34" charset="-122"/>
              </a:rPr>
              <a:t>社区服务站，</a:t>
            </a:r>
            <a:r>
              <a:rPr lang="zh-CN" altLang="en-US" sz="1000" dirty="0">
                <a:latin typeface="微软雅黑" panose="020B0503020204020204" pitchFamily="34" charset="-122"/>
                <a:ea typeface="微软雅黑" panose="020B0503020204020204" pitchFamily="34" charset="-122"/>
              </a:rPr>
              <a:t>搭建区域心电服务网络。借助网络实现技术服务下沉，将心电监测、筛查和诊断服务延伸至村</a:t>
            </a:r>
            <a:r>
              <a:rPr lang="en-US" altLang="zh-CN" sz="1000" dirty="0">
                <a:latin typeface="微软雅黑" panose="020B0503020204020204" pitchFamily="34" charset="-122"/>
                <a:ea typeface="微软雅黑" panose="020B0503020204020204" pitchFamily="34" charset="-122"/>
              </a:rPr>
              <a:t>/</a:t>
            </a:r>
            <a:r>
              <a:rPr lang="zh-CN" altLang="en-US" sz="1000" dirty="0">
                <a:latin typeface="微软雅黑" panose="020B0503020204020204" pitchFamily="34" charset="-122"/>
                <a:ea typeface="微软雅黑" panose="020B0503020204020204" pitchFamily="34" charset="-122"/>
              </a:rPr>
              <a:t>社区，充分发挥区域优质医疗资源优势，上下联动打造基层有效的心血管疾病防治体系惠及民生。</a:t>
            </a:r>
          </a:p>
        </p:txBody>
      </p:sp>
      <p:graphicFrame>
        <p:nvGraphicFramePr>
          <p:cNvPr id="4" name="图示 3"/>
          <p:cNvGraphicFramePr/>
          <p:nvPr>
            <p:extLst>
              <p:ext uri="{D42A27DB-BD31-4B8C-83A1-F6EECF244321}">
                <p14:modId xmlns="" xmlns:p14="http://schemas.microsoft.com/office/powerpoint/2010/main" val="2188652763"/>
              </p:ext>
            </p:extLst>
          </p:nvPr>
        </p:nvGraphicFramePr>
        <p:xfrm>
          <a:off x="1524000" y="1779662"/>
          <a:ext cx="6096000" cy="28240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6" name="直接连接符 105"/>
          <p:cNvCxnSpPr/>
          <p:nvPr/>
        </p:nvCxnSpPr>
        <p:spPr>
          <a:xfrm>
            <a:off x="2915816" y="699542"/>
            <a:ext cx="0" cy="3953410"/>
          </a:xfrm>
          <a:prstGeom prst="line">
            <a:avLst/>
          </a:prstGeom>
          <a:ln>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6" name="椭圆 95"/>
          <p:cNvSpPr/>
          <p:nvPr/>
        </p:nvSpPr>
        <p:spPr>
          <a:xfrm>
            <a:off x="4957614" y="2944150"/>
            <a:ext cx="586971" cy="17882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4065275" y="4339593"/>
            <a:ext cx="658834" cy="23174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微软雅黑" panose="020B0503020204020204" pitchFamily="34" charset="-122"/>
              <a:ea typeface="微软雅黑" panose="020B0503020204020204" pitchFamily="34" charset="-122"/>
            </a:endParaRPr>
          </a:p>
        </p:txBody>
      </p:sp>
      <p:sp>
        <p:nvSpPr>
          <p:cNvPr id="3" name="文本占位符 2"/>
          <p:cNvSpPr>
            <a:spLocks noGrp="1"/>
          </p:cNvSpPr>
          <p:nvPr>
            <p:ph type="body" sz="quarter" idx="13"/>
          </p:nvPr>
        </p:nvSpPr>
        <p:spPr/>
        <p:txBody>
          <a:bodyPr/>
          <a:lstStyle/>
          <a:p>
            <a:r>
              <a:rPr lang="zh-CN" altLang="en-US" dirty="0">
                <a:solidFill>
                  <a:schemeClr val="tx1">
                    <a:lumMod val="75000"/>
                    <a:lumOff val="25000"/>
                  </a:schemeClr>
                </a:solidFill>
              </a:rPr>
              <a:t>业务场景</a:t>
            </a:r>
          </a:p>
        </p:txBody>
      </p:sp>
      <p:sp>
        <p:nvSpPr>
          <p:cNvPr id="4" name="文本框 3"/>
          <p:cNvSpPr txBox="1"/>
          <p:nvPr/>
        </p:nvSpPr>
        <p:spPr>
          <a:xfrm>
            <a:off x="4137048" y="4029881"/>
            <a:ext cx="49244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卫生室</a:t>
            </a:r>
          </a:p>
        </p:txBody>
      </p:sp>
      <p:sp>
        <p:nvSpPr>
          <p:cNvPr id="14" name="文本框 13"/>
          <p:cNvSpPr txBox="1"/>
          <p:nvPr/>
        </p:nvSpPr>
        <p:spPr>
          <a:xfrm>
            <a:off x="5964772" y="4018177"/>
            <a:ext cx="49244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卫生站</a:t>
            </a:r>
          </a:p>
        </p:txBody>
      </p:sp>
      <p:sp>
        <p:nvSpPr>
          <p:cNvPr id="15" name="文本框 14"/>
          <p:cNvSpPr txBox="1"/>
          <p:nvPr/>
        </p:nvSpPr>
        <p:spPr>
          <a:xfrm>
            <a:off x="1286748" y="3595921"/>
            <a:ext cx="595035"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b="1" dirty="0">
                <a:latin typeface="微软雅黑" panose="020B0503020204020204" pitchFamily="34" charset="-122"/>
                <a:ea typeface="微软雅黑" panose="020B0503020204020204" pitchFamily="34" charset="-122"/>
              </a:rPr>
              <a:t>民营医院</a:t>
            </a:r>
          </a:p>
        </p:txBody>
      </p:sp>
      <p:pic>
        <p:nvPicPr>
          <p:cNvPr id="16" name="图片 1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368470" y="1836527"/>
            <a:ext cx="499305" cy="499305"/>
          </a:xfrm>
          <a:prstGeom prst="rect">
            <a:avLst/>
          </a:prstGeom>
        </p:spPr>
      </p:pic>
      <p:sp>
        <p:nvSpPr>
          <p:cNvPr id="19" name="文本框 18"/>
          <p:cNvSpPr txBox="1"/>
          <p:nvPr/>
        </p:nvSpPr>
        <p:spPr>
          <a:xfrm>
            <a:off x="5070953" y="2323288"/>
            <a:ext cx="94609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smtClean="0">
                <a:latin typeface="微软雅黑" panose="020B0503020204020204" pitchFamily="34" charset="-122"/>
                <a:ea typeface="微软雅黑" panose="020B0503020204020204" pitchFamily="34" charset="-122"/>
              </a:rPr>
              <a:t>二</a:t>
            </a:r>
            <a:r>
              <a:rPr lang="zh-CN" altLang="en-US" sz="800" dirty="0">
                <a:latin typeface="微软雅黑" panose="020B0503020204020204" pitchFamily="34" charset="-122"/>
                <a:ea typeface="微软雅黑" panose="020B0503020204020204" pitchFamily="34" charset="-122"/>
              </a:rPr>
              <a:t>级医院</a:t>
            </a:r>
            <a:r>
              <a:rPr lang="en-US" altLang="zh-CN" sz="800" dirty="0">
                <a:latin typeface="微软雅黑" panose="020B0503020204020204" pitchFamily="34" charset="-122"/>
                <a:ea typeface="微软雅黑" panose="020B0503020204020204" pitchFamily="34" charset="-122"/>
              </a:rPr>
              <a:t>/</a:t>
            </a:r>
            <a:r>
              <a:rPr lang="zh-CN" altLang="en-US" sz="800" dirty="0">
                <a:latin typeface="微软雅黑" panose="020B0503020204020204" pitchFamily="34" charset="-122"/>
                <a:ea typeface="微软雅黑" panose="020B0503020204020204" pitchFamily="34" charset="-122"/>
              </a:rPr>
              <a:t>医共体</a:t>
            </a:r>
          </a:p>
        </p:txBody>
      </p:sp>
      <p:sp>
        <p:nvSpPr>
          <p:cNvPr id="25" name="文本框 24"/>
          <p:cNvSpPr txBox="1"/>
          <p:nvPr/>
        </p:nvSpPr>
        <p:spPr>
          <a:xfrm>
            <a:off x="4422520" y="3221346"/>
            <a:ext cx="1073855"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lgn="ctr"/>
            <a:r>
              <a:rPr lang="zh-CN" altLang="en-US" sz="800" dirty="0">
                <a:latin typeface="微软雅黑" panose="020B0503020204020204" pitchFamily="34" charset="-122"/>
                <a:ea typeface="微软雅黑" panose="020B0503020204020204" pitchFamily="34" charset="-122"/>
              </a:rPr>
              <a:t>社区卫生服务中心</a:t>
            </a:r>
          </a:p>
        </p:txBody>
      </p:sp>
      <p:sp>
        <p:nvSpPr>
          <p:cNvPr id="26" name="文本框 25"/>
          <p:cNvSpPr txBox="1"/>
          <p:nvPr/>
        </p:nvSpPr>
        <p:spPr>
          <a:xfrm>
            <a:off x="5862181" y="3248310"/>
            <a:ext cx="697627"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乡镇卫生院</a:t>
            </a:r>
          </a:p>
        </p:txBody>
      </p:sp>
      <p:pic>
        <p:nvPicPr>
          <p:cNvPr id="27" name="图片 26"/>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5388667" y="971870"/>
            <a:ext cx="457350" cy="457350"/>
          </a:xfrm>
          <a:prstGeom prst="rect">
            <a:avLst/>
          </a:prstGeom>
        </p:spPr>
      </p:pic>
      <p:sp>
        <p:nvSpPr>
          <p:cNvPr id="28" name="文本框 27"/>
          <p:cNvSpPr txBox="1"/>
          <p:nvPr/>
        </p:nvSpPr>
        <p:spPr>
          <a:xfrm>
            <a:off x="5155279" y="1410647"/>
            <a:ext cx="902811"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市级综合性医院</a:t>
            </a:r>
          </a:p>
        </p:txBody>
      </p:sp>
      <p:sp>
        <p:nvSpPr>
          <p:cNvPr id="30" name="文本框 29"/>
          <p:cNvSpPr txBox="1"/>
          <p:nvPr/>
        </p:nvSpPr>
        <p:spPr>
          <a:xfrm>
            <a:off x="7122029" y="943187"/>
            <a:ext cx="1075936" cy="815608"/>
          </a:xfrm>
          <a:prstGeom prst="rect">
            <a:avLst/>
          </a:prstGeom>
          <a:noFill/>
        </p:spPr>
        <p:txBody>
          <a:bodyPr wrap="none" rtlCol="0">
            <a:spAutoFit/>
          </a:bodyPr>
          <a:lstStyle/>
          <a:p>
            <a:pPr>
              <a:spcAft>
                <a:spcPts val="600"/>
              </a:spcAft>
            </a:pPr>
            <a:r>
              <a:rPr lang="zh-CN" altLang="en-US" sz="1000" b="1" dirty="0">
                <a:latin typeface="微软雅黑" panose="020B0503020204020204" pitchFamily="34" charset="-122"/>
                <a:ea typeface="微软雅黑" panose="020B0503020204020204" pitchFamily="34" charset="-122"/>
              </a:rPr>
              <a:t>市级平台：</a:t>
            </a:r>
            <a:endParaRPr lang="en-US" altLang="zh-CN" sz="1000" b="1"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疑难心电图诊断</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心电诊断指导</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数据、业务质控</a:t>
            </a:r>
            <a:endParaRPr lang="en-US" altLang="zh-CN" sz="800" dirty="0">
              <a:latin typeface="微软雅黑" panose="020B0503020204020204" pitchFamily="34" charset="-122"/>
              <a:ea typeface="微软雅黑" panose="020B0503020204020204" pitchFamily="34" charset="-122"/>
            </a:endParaRPr>
          </a:p>
          <a:p>
            <a:endParaRPr lang="en-US" altLang="zh-CN" sz="800" dirty="0">
              <a:latin typeface="微软雅黑" panose="020B0503020204020204" pitchFamily="34" charset="-122"/>
              <a:ea typeface="微软雅黑" panose="020B0503020204020204" pitchFamily="34" charset="-122"/>
            </a:endParaRPr>
          </a:p>
        </p:txBody>
      </p:sp>
      <p:sp>
        <p:nvSpPr>
          <p:cNvPr id="31" name="文本框 30"/>
          <p:cNvSpPr txBox="1"/>
          <p:nvPr/>
        </p:nvSpPr>
        <p:spPr>
          <a:xfrm>
            <a:off x="7125636" y="1739053"/>
            <a:ext cx="1178528" cy="1107996"/>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县级平台：</a:t>
            </a:r>
            <a:endParaRPr lang="en-US" altLang="zh-CN" sz="1000" b="1"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远程心电诊断</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心电诊断培训指导</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申请远程分析</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远程集中监护</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绩效考核</a:t>
            </a:r>
            <a:endParaRPr lang="en-US" altLang="zh-CN" sz="800" dirty="0">
              <a:latin typeface="微软雅黑" panose="020B0503020204020204" pitchFamily="34" charset="-122"/>
              <a:ea typeface="微软雅黑" panose="020B0503020204020204" pitchFamily="34" charset="-122"/>
            </a:endParaRPr>
          </a:p>
          <a:p>
            <a:endParaRPr lang="en-US" altLang="zh-CN" sz="800" dirty="0">
              <a:latin typeface="微软雅黑" panose="020B0503020204020204" pitchFamily="34" charset="-122"/>
              <a:ea typeface="微软雅黑" panose="020B0503020204020204" pitchFamily="34" charset="-122"/>
            </a:endParaRPr>
          </a:p>
        </p:txBody>
      </p:sp>
      <p:sp>
        <p:nvSpPr>
          <p:cNvPr id="33" name="文本框 32"/>
          <p:cNvSpPr txBox="1"/>
          <p:nvPr/>
        </p:nvSpPr>
        <p:spPr>
          <a:xfrm>
            <a:off x="1838405" y="1518369"/>
            <a:ext cx="100540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区域心电诊断中心</a:t>
            </a:r>
          </a:p>
        </p:txBody>
      </p:sp>
      <p:sp>
        <p:nvSpPr>
          <p:cNvPr id="38" name="文本框 37"/>
          <p:cNvSpPr txBox="1"/>
          <p:nvPr/>
        </p:nvSpPr>
        <p:spPr>
          <a:xfrm>
            <a:off x="7125636" y="2738063"/>
            <a:ext cx="973343" cy="938719"/>
          </a:xfrm>
          <a:prstGeom prst="rect">
            <a:avLst/>
          </a:prstGeom>
          <a:noFill/>
        </p:spPr>
        <p:txBody>
          <a:bodyPr wrap="none" rtlCol="0">
            <a:spAutoFit/>
          </a:bodyPr>
          <a:lstStyle/>
          <a:p>
            <a:pPr>
              <a:spcAft>
                <a:spcPts val="600"/>
              </a:spcAft>
            </a:pPr>
            <a:r>
              <a:rPr lang="zh-CN" altLang="en-US" sz="1000" b="1" dirty="0">
                <a:latin typeface="微软雅黑" panose="020B0503020204020204" pitchFamily="34" charset="-122"/>
                <a:ea typeface="微软雅黑" panose="020B0503020204020204" pitchFamily="34" charset="-122"/>
              </a:rPr>
              <a:t>区级平台：</a:t>
            </a:r>
            <a:endParaRPr lang="en-US" altLang="zh-CN" sz="1000" b="1"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心电采集</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远程集中监护</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申请远程分析</a:t>
            </a:r>
            <a:endParaRPr lang="en-US" altLang="zh-CN" sz="800" dirty="0">
              <a:latin typeface="微软雅黑" panose="020B0503020204020204" pitchFamily="34" charset="-122"/>
              <a:ea typeface="微软雅黑" panose="020B0503020204020204" pitchFamily="34" charset="-122"/>
            </a:endParaRPr>
          </a:p>
          <a:p>
            <a:endParaRPr lang="en-US" altLang="zh-CN" sz="800" b="1" dirty="0">
              <a:latin typeface="微软雅黑" panose="020B0503020204020204" pitchFamily="34" charset="-122"/>
              <a:ea typeface="微软雅黑" panose="020B0503020204020204" pitchFamily="34" charset="-122"/>
            </a:endParaRPr>
          </a:p>
          <a:p>
            <a:endParaRPr lang="en-US" altLang="zh-CN" sz="800" dirty="0">
              <a:latin typeface="微软雅黑" panose="020B0503020204020204" pitchFamily="34" charset="-122"/>
              <a:ea typeface="微软雅黑" panose="020B0503020204020204" pitchFamily="34" charset="-122"/>
            </a:endParaRPr>
          </a:p>
        </p:txBody>
      </p:sp>
      <p:sp>
        <p:nvSpPr>
          <p:cNvPr id="39" name="文本框 38"/>
          <p:cNvSpPr txBox="1"/>
          <p:nvPr/>
        </p:nvSpPr>
        <p:spPr>
          <a:xfrm>
            <a:off x="7127411" y="3653864"/>
            <a:ext cx="973343" cy="815608"/>
          </a:xfrm>
          <a:prstGeom prst="rect">
            <a:avLst/>
          </a:prstGeom>
          <a:noFill/>
        </p:spPr>
        <p:txBody>
          <a:bodyPr wrap="none" rtlCol="0">
            <a:spAutoFit/>
          </a:bodyPr>
          <a:lstStyle/>
          <a:p>
            <a:pPr>
              <a:spcAft>
                <a:spcPts val="600"/>
              </a:spcAft>
            </a:pPr>
            <a:r>
              <a:rPr lang="zh-CN" altLang="en-US" sz="1000" b="1" dirty="0">
                <a:latin typeface="微软雅黑" panose="020B0503020204020204" pitchFamily="34" charset="-122"/>
                <a:ea typeface="微软雅黑" panose="020B0503020204020204" pitchFamily="34" charset="-122"/>
              </a:rPr>
              <a:t>卫生站室：</a:t>
            </a:r>
            <a:endParaRPr lang="en-US" altLang="zh-CN" sz="1000" b="1"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心电采集</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申请远程分析</a:t>
            </a:r>
            <a:endParaRPr lang="en-US" altLang="zh-CN" sz="800" dirty="0">
              <a:latin typeface="微软雅黑" panose="020B0503020204020204" pitchFamily="34" charset="-122"/>
              <a:ea typeface="微软雅黑" panose="020B0503020204020204" pitchFamily="34" charset="-122"/>
            </a:endParaRPr>
          </a:p>
          <a:p>
            <a:endParaRPr lang="en-US" altLang="zh-CN" sz="800" b="1" dirty="0">
              <a:latin typeface="微软雅黑" panose="020B0503020204020204" pitchFamily="34" charset="-122"/>
              <a:ea typeface="微软雅黑" panose="020B0503020204020204" pitchFamily="34" charset="-122"/>
            </a:endParaRPr>
          </a:p>
          <a:p>
            <a:endParaRPr lang="en-US" altLang="zh-CN" sz="800" dirty="0">
              <a:latin typeface="微软雅黑" panose="020B0503020204020204" pitchFamily="34" charset="-122"/>
              <a:ea typeface="微软雅黑" panose="020B0503020204020204" pitchFamily="34" charset="-122"/>
            </a:endParaRPr>
          </a:p>
        </p:txBody>
      </p:sp>
      <p:pic>
        <p:nvPicPr>
          <p:cNvPr id="40" name="图片 39"/>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3178523" y="3707199"/>
            <a:ext cx="351528" cy="281222"/>
          </a:xfrm>
          <a:prstGeom prst="rect">
            <a:avLst/>
          </a:prstGeom>
        </p:spPr>
      </p:pic>
      <p:sp>
        <p:nvSpPr>
          <p:cNvPr id="41" name="文本框 40"/>
          <p:cNvSpPr txBox="1"/>
          <p:nvPr/>
        </p:nvSpPr>
        <p:spPr>
          <a:xfrm>
            <a:off x="3080352" y="3978607"/>
            <a:ext cx="595035"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家庭病床</a:t>
            </a:r>
          </a:p>
        </p:txBody>
      </p:sp>
      <p:pic>
        <p:nvPicPr>
          <p:cNvPr id="46" name="图片 45"/>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4218073" y="3681624"/>
            <a:ext cx="330395" cy="330395"/>
          </a:xfrm>
          <a:prstGeom prst="rect">
            <a:avLst/>
          </a:prstGeom>
        </p:spPr>
      </p:pic>
      <p:sp>
        <p:nvSpPr>
          <p:cNvPr id="47" name="文本框 46"/>
          <p:cNvSpPr txBox="1"/>
          <p:nvPr/>
        </p:nvSpPr>
        <p:spPr>
          <a:xfrm>
            <a:off x="4864171" y="4043355"/>
            <a:ext cx="49244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sz="800" dirty="0">
                <a:latin typeface="微软雅黑" panose="020B0503020204020204" pitchFamily="34" charset="-122"/>
                <a:ea typeface="微软雅黑" panose="020B0503020204020204" pitchFamily="34" charset="-122"/>
              </a:rPr>
              <a:t>卫生室</a:t>
            </a:r>
          </a:p>
        </p:txBody>
      </p:sp>
      <p:pic>
        <p:nvPicPr>
          <p:cNvPr id="50" name="图片 49"/>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6055587" y="3692432"/>
            <a:ext cx="310814" cy="310814"/>
          </a:xfrm>
          <a:prstGeom prst="rect">
            <a:avLst/>
          </a:prstGeom>
        </p:spPr>
      </p:pic>
      <p:pic>
        <p:nvPicPr>
          <p:cNvPr id="51" name="图片 50"/>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4562981" y="2779613"/>
            <a:ext cx="427810" cy="427810"/>
          </a:xfrm>
          <a:prstGeom prst="rect">
            <a:avLst/>
          </a:prstGeom>
        </p:spPr>
      </p:pic>
      <p:pic>
        <p:nvPicPr>
          <p:cNvPr id="52" name="图片 51"/>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5997089" y="2774399"/>
            <a:ext cx="427810" cy="427810"/>
          </a:xfrm>
          <a:prstGeom prst="rect">
            <a:avLst/>
          </a:prstGeom>
        </p:spPr>
      </p:pic>
      <p:sp>
        <p:nvSpPr>
          <p:cNvPr id="60" name="椭圆 59"/>
          <p:cNvSpPr/>
          <p:nvPr/>
        </p:nvSpPr>
        <p:spPr>
          <a:xfrm>
            <a:off x="555562" y="3489210"/>
            <a:ext cx="755599" cy="207819"/>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 name="图片 60" descr="123DA516-2E0B-4D86-BDA8-E5542DB50017-1282-00000028CFB320BF"/>
          <p:cNvPicPr>
            <a:picLocks noChangeAspect="1"/>
          </p:cNvPicPr>
          <p:nvPr/>
        </p:nvPicPr>
        <p:blipFill>
          <a:blip r:embed="rId8" cstate="print"/>
          <a:stretch>
            <a:fillRect/>
          </a:stretch>
        </p:blipFill>
        <p:spPr>
          <a:xfrm rot="16200000">
            <a:off x="4471285" y="4378688"/>
            <a:ext cx="138013" cy="245375"/>
          </a:xfrm>
          <a:prstGeom prst="rect">
            <a:avLst/>
          </a:prstGeom>
        </p:spPr>
      </p:pic>
      <p:pic>
        <p:nvPicPr>
          <p:cNvPr id="63" name="图片 62"/>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4430821" y="4322952"/>
            <a:ext cx="245574" cy="125253"/>
          </a:xfrm>
          <a:prstGeom prst="rect">
            <a:avLst/>
          </a:prstGeom>
        </p:spPr>
      </p:pic>
      <p:pic>
        <p:nvPicPr>
          <p:cNvPr id="65" name="object 4"/>
          <p:cNvPicPr/>
          <p:nvPr/>
        </p:nvPicPr>
        <p:blipFill>
          <a:blip r:embed="rId10" cstate="print"/>
          <a:stretch>
            <a:fillRect/>
          </a:stretch>
        </p:blipFill>
        <p:spPr>
          <a:xfrm>
            <a:off x="4160510" y="4308479"/>
            <a:ext cx="247766" cy="187948"/>
          </a:xfrm>
          <a:prstGeom prst="rect">
            <a:avLst/>
          </a:prstGeom>
        </p:spPr>
      </p:pic>
      <p:pic>
        <p:nvPicPr>
          <p:cNvPr id="66" name="图片 65"/>
          <p:cNvPicPr>
            <a:picLocks noChangeAspect="1"/>
          </p:cNvPicPr>
          <p:nvPr/>
        </p:nvPicPr>
        <p:blipFill rotWithShape="1">
          <a:blip r:embed="rId11" cstate="print">
            <a:extLst>
              <a:ext uri="{28A0092B-C50C-407E-A947-70E740481C1C}">
                <a14:useLocalDpi xmlns="" xmlns:a14="http://schemas.microsoft.com/office/drawing/2010/main" val="0"/>
              </a:ext>
            </a:extLst>
          </a:blip>
          <a:srcRect t="32807" b="26594"/>
          <a:stretch>
            <a:fillRect/>
          </a:stretch>
        </p:blipFill>
        <p:spPr>
          <a:xfrm>
            <a:off x="4117514" y="4437843"/>
            <a:ext cx="305007" cy="123831"/>
          </a:xfrm>
          <a:prstGeom prst="rect">
            <a:avLst/>
          </a:prstGeom>
        </p:spPr>
      </p:pic>
      <p:sp>
        <p:nvSpPr>
          <p:cNvPr id="69" name="椭圆 68"/>
          <p:cNvSpPr/>
          <p:nvPr/>
        </p:nvSpPr>
        <p:spPr>
          <a:xfrm>
            <a:off x="4872845" y="4332056"/>
            <a:ext cx="658834" cy="229617"/>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图片 47"/>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4966966" y="3692971"/>
            <a:ext cx="311109" cy="311109"/>
          </a:xfrm>
          <a:prstGeom prst="rect">
            <a:avLst/>
          </a:prstGeom>
        </p:spPr>
      </p:pic>
      <p:cxnSp>
        <p:nvCxnSpPr>
          <p:cNvPr id="73" name="直接箭头连接符 72"/>
          <p:cNvCxnSpPr>
            <a:stCxn id="16" idx="0"/>
            <a:endCxn id="27" idx="2"/>
          </p:cNvCxnSpPr>
          <p:nvPr/>
        </p:nvCxnSpPr>
        <p:spPr>
          <a:xfrm flipH="1" flipV="1">
            <a:off x="5617342" y="1429220"/>
            <a:ext cx="781" cy="407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51" idx="0"/>
            <a:endCxn id="19" idx="0"/>
          </p:cNvCxnSpPr>
          <p:nvPr/>
        </p:nvCxnSpPr>
        <p:spPr>
          <a:xfrm flipV="1">
            <a:off x="4776886" y="2323288"/>
            <a:ext cx="767114" cy="456325"/>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52" idx="0"/>
            <a:endCxn id="16" idx="2"/>
          </p:cNvCxnSpPr>
          <p:nvPr/>
        </p:nvCxnSpPr>
        <p:spPr>
          <a:xfrm flipH="1" flipV="1">
            <a:off x="5618123" y="2335832"/>
            <a:ext cx="592871" cy="438567"/>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81" name="图片 80"/>
          <p:cNvPicPr>
            <a:picLocks noChangeAspect="1"/>
          </p:cNvPicPr>
          <p:nvPr/>
        </p:nvPicPr>
        <p:blipFill>
          <a:blip r:embed="rId12" cstate="print">
            <a:extLst>
              <a:ext uri="{28A0092B-C50C-407E-A947-70E740481C1C}">
                <a14:useLocalDpi xmlns="" xmlns:a14="http://schemas.microsoft.com/office/drawing/2010/main" val="0"/>
              </a:ext>
            </a:extLst>
          </a:blip>
          <a:stretch>
            <a:fillRect/>
          </a:stretch>
        </p:blipFill>
        <p:spPr>
          <a:xfrm>
            <a:off x="5130237" y="3026904"/>
            <a:ext cx="160147" cy="81682"/>
          </a:xfrm>
          <a:prstGeom prst="rect">
            <a:avLst/>
          </a:prstGeom>
        </p:spPr>
      </p:pic>
      <p:pic>
        <p:nvPicPr>
          <p:cNvPr id="82" name="图片 81" descr="123DA516-2E0B-4D86-BDA8-E5542DB50017-1282-00000028CFB320BF"/>
          <p:cNvPicPr>
            <a:picLocks noChangeAspect="1"/>
          </p:cNvPicPr>
          <p:nvPr/>
        </p:nvPicPr>
        <p:blipFill>
          <a:blip r:embed="rId13" cstate="print"/>
          <a:stretch>
            <a:fillRect/>
          </a:stretch>
        </p:blipFill>
        <p:spPr>
          <a:xfrm rot="16200000">
            <a:off x="5278874" y="2929714"/>
            <a:ext cx="92684" cy="164785"/>
          </a:xfrm>
          <a:prstGeom prst="rect">
            <a:avLst/>
          </a:prstGeom>
        </p:spPr>
      </p:pic>
      <p:sp>
        <p:nvSpPr>
          <p:cNvPr id="86" name="文本框 85"/>
          <p:cNvSpPr txBox="1"/>
          <p:nvPr/>
        </p:nvSpPr>
        <p:spPr>
          <a:xfrm>
            <a:off x="660044" y="3200114"/>
            <a:ext cx="595035" cy="215444"/>
          </a:xfrm>
          <a:prstGeom prst="rect">
            <a:avLst/>
          </a:prstGeom>
          <a:noFill/>
        </p:spPr>
        <p:txBody>
          <a:bodyPr wrap="none" rtlCol="0">
            <a:spAutoFit/>
          </a:bodyPr>
          <a:lstStyle/>
          <a:p>
            <a:r>
              <a:rPr lang="zh-CN" altLang="en-US" sz="800" dirty="0">
                <a:latin typeface="微软雅黑" panose="020B0503020204020204" pitchFamily="34" charset="-122"/>
                <a:ea typeface="微软雅黑" panose="020B0503020204020204" pitchFamily="34" charset="-122"/>
              </a:rPr>
              <a:t>心电采集</a:t>
            </a:r>
          </a:p>
        </p:txBody>
      </p:sp>
      <p:cxnSp>
        <p:nvCxnSpPr>
          <p:cNvPr id="88" name="直接箭头连接符 87"/>
          <p:cNvCxnSpPr>
            <a:stCxn id="46" idx="0"/>
            <a:endCxn id="51" idx="2"/>
          </p:cNvCxnSpPr>
          <p:nvPr/>
        </p:nvCxnSpPr>
        <p:spPr>
          <a:xfrm flipV="1">
            <a:off x="4383271" y="3207423"/>
            <a:ext cx="393615" cy="474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48" idx="0"/>
            <a:endCxn id="51" idx="2"/>
          </p:cNvCxnSpPr>
          <p:nvPr/>
        </p:nvCxnSpPr>
        <p:spPr>
          <a:xfrm flipH="1" flipV="1">
            <a:off x="4776886" y="3207423"/>
            <a:ext cx="345635" cy="485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50" idx="0"/>
            <a:endCxn id="52" idx="2"/>
          </p:cNvCxnSpPr>
          <p:nvPr/>
        </p:nvCxnSpPr>
        <p:spPr>
          <a:xfrm flipV="1">
            <a:off x="6210994" y="3202209"/>
            <a:ext cx="0" cy="490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5" name="图片 94"/>
          <p:cNvPicPr>
            <a:picLocks noChangeAspect="1"/>
          </p:cNvPicPr>
          <p:nvPr/>
        </p:nvPicPr>
        <p:blipFill>
          <a:blip r:embed="rId14" cstate="print">
            <a:extLst>
              <a:ext uri="{28A0092B-C50C-407E-A947-70E740481C1C}">
                <a14:useLocalDpi xmlns="" xmlns:a14="http://schemas.microsoft.com/office/drawing/2010/main" val="0"/>
              </a:ext>
            </a:extLst>
          </a:blip>
          <a:stretch>
            <a:fillRect/>
          </a:stretch>
        </p:blipFill>
        <p:spPr>
          <a:xfrm>
            <a:off x="2110099" y="982664"/>
            <a:ext cx="460224" cy="460224"/>
          </a:xfrm>
          <a:prstGeom prst="rect">
            <a:avLst/>
          </a:prstGeom>
        </p:spPr>
      </p:pic>
      <p:pic>
        <p:nvPicPr>
          <p:cNvPr id="97" name="图片 96"/>
          <p:cNvPicPr>
            <a:picLocks noChangeAspect="1"/>
          </p:cNvPicPr>
          <p:nvPr/>
        </p:nvPicPr>
        <p:blipFill>
          <a:blip r:embed="rId15" cstate="print">
            <a:extLst>
              <a:ext uri="{28A0092B-C50C-407E-A947-70E740481C1C}">
                <a14:useLocalDpi xmlns="" xmlns:a14="http://schemas.microsoft.com/office/drawing/2010/main" val="0"/>
              </a:ext>
            </a:extLst>
          </a:blip>
          <a:stretch>
            <a:fillRect/>
          </a:stretch>
        </p:blipFill>
        <p:spPr>
          <a:xfrm rot="827166">
            <a:off x="5047838" y="2963679"/>
            <a:ext cx="176207" cy="101838"/>
          </a:xfrm>
          <a:prstGeom prst="rect">
            <a:avLst/>
          </a:prstGeom>
        </p:spPr>
      </p:pic>
      <p:sp>
        <p:nvSpPr>
          <p:cNvPr id="98" name="椭圆 97"/>
          <p:cNvSpPr/>
          <p:nvPr/>
        </p:nvSpPr>
        <p:spPr>
          <a:xfrm>
            <a:off x="6388023" y="2955295"/>
            <a:ext cx="586971" cy="17882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9" name="图片 98"/>
          <p:cNvPicPr>
            <a:picLocks noChangeAspect="1"/>
          </p:cNvPicPr>
          <p:nvPr/>
        </p:nvPicPr>
        <p:blipFill>
          <a:blip r:embed="rId12" cstate="print">
            <a:extLst>
              <a:ext uri="{28A0092B-C50C-407E-A947-70E740481C1C}">
                <a14:useLocalDpi xmlns="" xmlns:a14="http://schemas.microsoft.com/office/drawing/2010/main" val="0"/>
              </a:ext>
            </a:extLst>
          </a:blip>
          <a:stretch>
            <a:fillRect/>
          </a:stretch>
        </p:blipFill>
        <p:spPr>
          <a:xfrm>
            <a:off x="6560646" y="3038049"/>
            <a:ext cx="160147" cy="81682"/>
          </a:xfrm>
          <a:prstGeom prst="rect">
            <a:avLst/>
          </a:prstGeom>
        </p:spPr>
      </p:pic>
      <p:pic>
        <p:nvPicPr>
          <p:cNvPr id="100" name="图片 99" descr="123DA516-2E0B-4D86-BDA8-E5542DB50017-1282-00000028CFB320BF"/>
          <p:cNvPicPr>
            <a:picLocks noChangeAspect="1"/>
          </p:cNvPicPr>
          <p:nvPr/>
        </p:nvPicPr>
        <p:blipFill>
          <a:blip r:embed="rId13" cstate="print"/>
          <a:stretch>
            <a:fillRect/>
          </a:stretch>
        </p:blipFill>
        <p:spPr>
          <a:xfrm rot="16200000">
            <a:off x="6709283" y="2940859"/>
            <a:ext cx="92684" cy="164785"/>
          </a:xfrm>
          <a:prstGeom prst="rect">
            <a:avLst/>
          </a:prstGeom>
        </p:spPr>
      </p:pic>
      <p:pic>
        <p:nvPicPr>
          <p:cNvPr id="101" name="图片 100"/>
          <p:cNvPicPr>
            <a:picLocks noChangeAspect="1"/>
          </p:cNvPicPr>
          <p:nvPr/>
        </p:nvPicPr>
        <p:blipFill>
          <a:blip r:embed="rId15" cstate="print">
            <a:extLst>
              <a:ext uri="{28A0092B-C50C-407E-A947-70E740481C1C}">
                <a14:useLocalDpi xmlns="" xmlns:a14="http://schemas.microsoft.com/office/drawing/2010/main" val="0"/>
              </a:ext>
            </a:extLst>
          </a:blip>
          <a:stretch>
            <a:fillRect/>
          </a:stretch>
        </p:blipFill>
        <p:spPr>
          <a:xfrm rot="827166">
            <a:off x="6511125" y="2963053"/>
            <a:ext cx="176207" cy="101838"/>
          </a:xfrm>
          <a:prstGeom prst="rect">
            <a:avLst/>
          </a:prstGeom>
        </p:spPr>
      </p:pic>
      <p:pic>
        <p:nvPicPr>
          <p:cNvPr id="109" name="图片 108" descr="123DA516-2E0B-4D86-BDA8-E5542DB50017-1282-00000028CFB320BF"/>
          <p:cNvPicPr>
            <a:picLocks noChangeAspect="1"/>
          </p:cNvPicPr>
          <p:nvPr/>
        </p:nvPicPr>
        <p:blipFill>
          <a:blip r:embed="rId8" cstate="print"/>
          <a:stretch>
            <a:fillRect/>
          </a:stretch>
        </p:blipFill>
        <p:spPr>
          <a:xfrm rot="16200000">
            <a:off x="5242418" y="4374072"/>
            <a:ext cx="138013" cy="245375"/>
          </a:xfrm>
          <a:prstGeom prst="rect">
            <a:avLst/>
          </a:prstGeom>
        </p:spPr>
      </p:pic>
      <p:pic>
        <p:nvPicPr>
          <p:cNvPr id="110" name="图片 109"/>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5201954" y="4318336"/>
            <a:ext cx="245574" cy="125253"/>
          </a:xfrm>
          <a:prstGeom prst="rect">
            <a:avLst/>
          </a:prstGeom>
        </p:spPr>
      </p:pic>
      <p:pic>
        <p:nvPicPr>
          <p:cNvPr id="111" name="object 4"/>
          <p:cNvPicPr/>
          <p:nvPr/>
        </p:nvPicPr>
        <p:blipFill>
          <a:blip r:embed="rId10" cstate="print"/>
          <a:stretch>
            <a:fillRect/>
          </a:stretch>
        </p:blipFill>
        <p:spPr>
          <a:xfrm>
            <a:off x="4902858" y="4296040"/>
            <a:ext cx="299096" cy="226885"/>
          </a:xfrm>
          <a:prstGeom prst="rect">
            <a:avLst/>
          </a:prstGeom>
        </p:spPr>
      </p:pic>
      <p:pic>
        <p:nvPicPr>
          <p:cNvPr id="112" name="图片 111"/>
          <p:cNvPicPr>
            <a:picLocks noChangeAspect="1"/>
          </p:cNvPicPr>
          <p:nvPr/>
        </p:nvPicPr>
        <p:blipFill rotWithShape="1">
          <a:blip r:embed="rId11" cstate="print">
            <a:extLst>
              <a:ext uri="{28A0092B-C50C-407E-A947-70E740481C1C}">
                <a14:useLocalDpi xmlns="" xmlns:a14="http://schemas.microsoft.com/office/drawing/2010/main" val="0"/>
              </a:ext>
            </a:extLst>
          </a:blip>
          <a:srcRect t="32807" b="26594"/>
          <a:stretch>
            <a:fillRect/>
          </a:stretch>
        </p:blipFill>
        <p:spPr>
          <a:xfrm>
            <a:off x="4888647" y="4433227"/>
            <a:ext cx="305007" cy="123831"/>
          </a:xfrm>
          <a:prstGeom prst="rect">
            <a:avLst/>
          </a:prstGeom>
        </p:spPr>
      </p:pic>
      <p:sp>
        <p:nvSpPr>
          <p:cNvPr id="113" name="椭圆 112"/>
          <p:cNvSpPr/>
          <p:nvPr/>
        </p:nvSpPr>
        <p:spPr>
          <a:xfrm>
            <a:off x="5911249" y="4303956"/>
            <a:ext cx="658834" cy="229617"/>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4" name="图片 113"/>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6240358" y="4290236"/>
            <a:ext cx="245574" cy="125253"/>
          </a:xfrm>
          <a:prstGeom prst="rect">
            <a:avLst/>
          </a:prstGeom>
        </p:spPr>
      </p:pic>
      <p:pic>
        <p:nvPicPr>
          <p:cNvPr id="115" name="object 4"/>
          <p:cNvPicPr/>
          <p:nvPr/>
        </p:nvPicPr>
        <p:blipFill>
          <a:blip r:embed="rId10" cstate="print"/>
          <a:stretch>
            <a:fillRect/>
          </a:stretch>
        </p:blipFill>
        <p:spPr>
          <a:xfrm>
            <a:off x="5941262" y="4267940"/>
            <a:ext cx="299096" cy="226885"/>
          </a:xfrm>
          <a:prstGeom prst="rect">
            <a:avLst/>
          </a:prstGeom>
        </p:spPr>
      </p:pic>
      <p:pic>
        <p:nvPicPr>
          <p:cNvPr id="116" name="图片 115"/>
          <p:cNvPicPr>
            <a:picLocks noChangeAspect="1"/>
          </p:cNvPicPr>
          <p:nvPr/>
        </p:nvPicPr>
        <p:blipFill rotWithShape="1">
          <a:blip r:embed="rId11" cstate="print">
            <a:extLst>
              <a:ext uri="{28A0092B-C50C-407E-A947-70E740481C1C}">
                <a14:useLocalDpi xmlns="" xmlns:a14="http://schemas.microsoft.com/office/drawing/2010/main" val="0"/>
              </a:ext>
            </a:extLst>
          </a:blip>
          <a:srcRect t="32807" b="26594"/>
          <a:stretch>
            <a:fillRect/>
          </a:stretch>
        </p:blipFill>
        <p:spPr>
          <a:xfrm>
            <a:off x="5927051" y="4405127"/>
            <a:ext cx="305007" cy="123831"/>
          </a:xfrm>
          <a:prstGeom prst="rect">
            <a:avLst/>
          </a:prstGeom>
        </p:spPr>
      </p:pic>
      <p:sp>
        <p:nvSpPr>
          <p:cNvPr id="122" name="椭圆 121"/>
          <p:cNvSpPr/>
          <p:nvPr/>
        </p:nvSpPr>
        <p:spPr>
          <a:xfrm>
            <a:off x="2989777" y="4310319"/>
            <a:ext cx="709755" cy="155140"/>
          </a:xfrm>
          <a:prstGeom prst="ellipse">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4" name="图片 63"/>
          <p:cNvPicPr>
            <a:picLocks noChangeAspect="1"/>
          </p:cNvPicPr>
          <p:nvPr/>
        </p:nvPicPr>
        <p:blipFill>
          <a:blip r:embed="rId16" cstate="print">
            <a:extLst>
              <a:ext uri="{28A0092B-C50C-407E-A947-70E740481C1C}">
                <a14:useLocalDpi xmlns="" xmlns:a14="http://schemas.microsoft.com/office/drawing/2010/main" val="0"/>
              </a:ext>
            </a:extLst>
          </a:blip>
          <a:stretch>
            <a:fillRect/>
          </a:stretch>
        </p:blipFill>
        <p:spPr>
          <a:xfrm rot="827166">
            <a:off x="3174219" y="4222894"/>
            <a:ext cx="435604" cy="251756"/>
          </a:xfrm>
          <a:prstGeom prst="rect">
            <a:avLst/>
          </a:prstGeom>
        </p:spPr>
      </p:pic>
      <p:sp>
        <p:nvSpPr>
          <p:cNvPr id="124" name="文本框 123"/>
          <p:cNvSpPr txBox="1"/>
          <p:nvPr/>
        </p:nvSpPr>
        <p:spPr>
          <a:xfrm>
            <a:off x="1202664" y="1119168"/>
            <a:ext cx="973343" cy="461665"/>
          </a:xfrm>
          <a:prstGeom prst="rect">
            <a:avLst/>
          </a:prstGeom>
          <a:noFill/>
        </p:spPr>
        <p:txBody>
          <a:bodyPr wrap="none" rtlCol="0">
            <a:spAutoFit/>
          </a:bodyPr>
          <a:lstStyle/>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心电诊断中心</a:t>
            </a:r>
            <a:endParaRPr lang="en-US" altLang="zh-CN" sz="8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800" dirty="0">
                <a:latin typeface="微软雅黑" panose="020B0503020204020204" pitchFamily="34" charset="-122"/>
                <a:ea typeface="微软雅黑" panose="020B0503020204020204" pitchFamily="34" charset="-122"/>
              </a:rPr>
              <a:t>心电诊断培训</a:t>
            </a:r>
            <a:endParaRPr lang="en-US" altLang="zh-CN" sz="800" dirty="0">
              <a:latin typeface="微软雅黑" panose="020B0503020204020204" pitchFamily="34" charset="-122"/>
              <a:ea typeface="微软雅黑" panose="020B0503020204020204" pitchFamily="34" charset="-122"/>
            </a:endParaRPr>
          </a:p>
          <a:p>
            <a:endParaRPr lang="en-US" altLang="zh-CN" sz="800" dirty="0">
              <a:latin typeface="微软雅黑" panose="020B0503020204020204" pitchFamily="34" charset="-122"/>
              <a:ea typeface="微软雅黑" panose="020B0503020204020204" pitchFamily="34" charset="-122"/>
            </a:endParaRPr>
          </a:p>
        </p:txBody>
      </p:sp>
      <p:pic>
        <p:nvPicPr>
          <p:cNvPr id="125" name="图片 124" descr="123DA516-2E0B-4D86-BDA8-E5542DB50017-1282-00000028CFB320BF"/>
          <p:cNvPicPr>
            <a:picLocks noChangeAspect="1"/>
          </p:cNvPicPr>
          <p:nvPr/>
        </p:nvPicPr>
        <p:blipFill>
          <a:blip r:embed="rId8" cstate="print"/>
          <a:stretch>
            <a:fillRect/>
          </a:stretch>
        </p:blipFill>
        <p:spPr>
          <a:xfrm rot="16200000">
            <a:off x="1015613" y="3509142"/>
            <a:ext cx="138013" cy="245375"/>
          </a:xfrm>
          <a:prstGeom prst="rect">
            <a:avLst/>
          </a:prstGeom>
        </p:spPr>
      </p:pic>
      <p:pic>
        <p:nvPicPr>
          <p:cNvPr id="126" name="图片 125"/>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975149" y="3453406"/>
            <a:ext cx="245574" cy="125253"/>
          </a:xfrm>
          <a:prstGeom prst="rect">
            <a:avLst/>
          </a:prstGeom>
        </p:spPr>
      </p:pic>
      <p:pic>
        <p:nvPicPr>
          <p:cNvPr id="127" name="object 4"/>
          <p:cNvPicPr/>
          <p:nvPr/>
        </p:nvPicPr>
        <p:blipFill>
          <a:blip r:embed="rId10" cstate="print"/>
          <a:stretch>
            <a:fillRect/>
          </a:stretch>
        </p:blipFill>
        <p:spPr>
          <a:xfrm>
            <a:off x="676053" y="3431110"/>
            <a:ext cx="299096" cy="226885"/>
          </a:xfrm>
          <a:prstGeom prst="rect">
            <a:avLst/>
          </a:prstGeom>
        </p:spPr>
      </p:pic>
      <p:pic>
        <p:nvPicPr>
          <p:cNvPr id="128" name="图片 127"/>
          <p:cNvPicPr>
            <a:picLocks noChangeAspect="1"/>
          </p:cNvPicPr>
          <p:nvPr/>
        </p:nvPicPr>
        <p:blipFill rotWithShape="1">
          <a:blip r:embed="rId11" cstate="print">
            <a:extLst>
              <a:ext uri="{28A0092B-C50C-407E-A947-70E740481C1C}">
                <a14:useLocalDpi xmlns="" xmlns:a14="http://schemas.microsoft.com/office/drawing/2010/main" val="0"/>
              </a:ext>
            </a:extLst>
          </a:blip>
          <a:srcRect t="32807" b="26594"/>
          <a:stretch>
            <a:fillRect/>
          </a:stretch>
        </p:blipFill>
        <p:spPr>
          <a:xfrm>
            <a:off x="661842" y="3568297"/>
            <a:ext cx="305007" cy="123831"/>
          </a:xfrm>
          <a:prstGeom prst="rect">
            <a:avLst/>
          </a:prstGeom>
        </p:spPr>
      </p:pic>
      <p:pic>
        <p:nvPicPr>
          <p:cNvPr id="129" name="图片 128"/>
          <p:cNvPicPr>
            <a:picLocks noChangeAspect="1"/>
          </p:cNvPicPr>
          <p:nvPr/>
        </p:nvPicPr>
        <p:blipFill>
          <a:blip r:embed="rId17" cstate="print">
            <a:extLst>
              <a:ext uri="{28A0092B-C50C-407E-A947-70E740481C1C}">
                <a14:useLocalDpi xmlns="" xmlns:a14="http://schemas.microsoft.com/office/drawing/2010/main" val="0"/>
              </a:ext>
            </a:extLst>
          </a:blip>
          <a:stretch>
            <a:fillRect/>
          </a:stretch>
        </p:blipFill>
        <p:spPr>
          <a:xfrm>
            <a:off x="3581875" y="512428"/>
            <a:ext cx="492354" cy="492354"/>
          </a:xfrm>
          <a:prstGeom prst="rect">
            <a:avLst/>
          </a:prstGeom>
        </p:spPr>
      </p:pic>
      <p:sp>
        <p:nvSpPr>
          <p:cNvPr id="130" name="文本框 129"/>
          <p:cNvSpPr txBox="1"/>
          <p:nvPr/>
        </p:nvSpPr>
        <p:spPr>
          <a:xfrm>
            <a:off x="3591428" y="1004782"/>
            <a:ext cx="512793" cy="215444"/>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zh-CN" altLang="en-US" sz="800" dirty="0">
                <a:latin typeface="微软雅黑" panose="020B0503020204020204" pitchFamily="34" charset="-122"/>
                <a:ea typeface="微软雅黑" panose="020B0503020204020204" pitchFamily="34" charset="-122"/>
              </a:rPr>
              <a:t>卫健委</a:t>
            </a:r>
          </a:p>
        </p:txBody>
      </p:sp>
      <p:sp>
        <p:nvSpPr>
          <p:cNvPr id="131" name="文本框 130"/>
          <p:cNvSpPr txBox="1"/>
          <p:nvPr/>
        </p:nvSpPr>
        <p:spPr>
          <a:xfrm>
            <a:off x="4035915" y="550078"/>
            <a:ext cx="595035" cy="461665"/>
          </a:xfrm>
          <a:prstGeom prst="rect">
            <a:avLst/>
          </a:prstGeom>
          <a:noFill/>
        </p:spPr>
        <p:txBody>
          <a:bodyPr wrap="none" rtlCol="0">
            <a:spAutoFit/>
          </a:bodyPr>
          <a:lstStyle/>
          <a:p>
            <a:r>
              <a:rPr lang="zh-CN" altLang="en-US" sz="800" dirty="0">
                <a:latin typeface="微软雅黑" panose="020B0503020204020204" pitchFamily="34" charset="-122"/>
                <a:ea typeface="微软雅黑" panose="020B0503020204020204" pitchFamily="34" charset="-122"/>
              </a:rPr>
              <a:t>监督</a:t>
            </a:r>
            <a:endParaRPr lang="en-US" altLang="zh-CN" sz="800" dirty="0">
              <a:latin typeface="微软雅黑" panose="020B0503020204020204" pitchFamily="34" charset="-122"/>
              <a:ea typeface="微软雅黑" panose="020B0503020204020204" pitchFamily="34" charset="-122"/>
            </a:endParaRPr>
          </a:p>
          <a:p>
            <a:r>
              <a:rPr lang="zh-CN" altLang="en-US" sz="800" dirty="0">
                <a:latin typeface="微软雅黑" panose="020B0503020204020204" pitchFamily="34" charset="-122"/>
                <a:ea typeface="微软雅黑" panose="020B0503020204020204" pitchFamily="34" charset="-122"/>
              </a:rPr>
              <a:t>指导</a:t>
            </a:r>
            <a:endParaRPr lang="en-US" altLang="zh-CN" sz="800" dirty="0">
              <a:latin typeface="微软雅黑" panose="020B0503020204020204" pitchFamily="34" charset="-122"/>
              <a:ea typeface="微软雅黑" panose="020B0503020204020204" pitchFamily="34" charset="-122"/>
            </a:endParaRPr>
          </a:p>
          <a:p>
            <a:r>
              <a:rPr lang="zh-CN" altLang="en-US" sz="800" dirty="0">
                <a:latin typeface="微软雅黑" panose="020B0503020204020204" pitchFamily="34" charset="-122"/>
                <a:ea typeface="微软雅黑" panose="020B0503020204020204" pitchFamily="34" charset="-122"/>
              </a:rPr>
              <a:t>运营监控</a:t>
            </a:r>
            <a:endParaRPr lang="en-US" altLang="zh-CN" sz="800" dirty="0">
              <a:latin typeface="微软雅黑" panose="020B0503020204020204" pitchFamily="34" charset="-122"/>
              <a:ea typeface="微软雅黑" panose="020B0503020204020204" pitchFamily="34" charset="-122"/>
            </a:endParaRPr>
          </a:p>
        </p:txBody>
      </p:sp>
      <p:sp>
        <p:nvSpPr>
          <p:cNvPr id="89" name="文本框 88"/>
          <p:cNvSpPr txBox="1"/>
          <p:nvPr/>
        </p:nvSpPr>
        <p:spPr>
          <a:xfrm>
            <a:off x="3582810" y="1910643"/>
            <a:ext cx="889987" cy="169277"/>
          </a:xfrm>
          <a:prstGeom prst="rect">
            <a:avLst/>
          </a:prstGeom>
          <a:noFill/>
        </p:spPr>
        <p:txBody>
          <a:bodyPr wrap="none" rtlCol="0">
            <a:spAutoFit/>
          </a:bodyPr>
          <a:lstStyle/>
          <a:p>
            <a:r>
              <a:rPr lang="zh-CN" altLang="en-US" sz="500" dirty="0">
                <a:latin typeface="微软雅黑" panose="020B0503020204020204" pitchFamily="34" charset="-122"/>
                <a:ea typeface="微软雅黑" panose="020B0503020204020204" pitchFamily="34" charset="-122"/>
              </a:rPr>
              <a:t>疑难心电图远程心电诊断</a:t>
            </a:r>
          </a:p>
        </p:txBody>
      </p:sp>
      <p:sp>
        <p:nvSpPr>
          <p:cNvPr id="91" name="文本框 90"/>
          <p:cNvSpPr txBox="1"/>
          <p:nvPr/>
        </p:nvSpPr>
        <p:spPr>
          <a:xfrm>
            <a:off x="1554315" y="2156084"/>
            <a:ext cx="278821" cy="553998"/>
          </a:xfrm>
          <a:prstGeom prst="rect">
            <a:avLst/>
          </a:prstGeom>
          <a:noFill/>
        </p:spPr>
        <p:txBody>
          <a:bodyPr wrap="square" rtlCol="0">
            <a:spAutoFit/>
          </a:bodyPr>
          <a:lstStyle/>
          <a:p>
            <a:r>
              <a:rPr lang="zh-CN" altLang="en-US" sz="500" dirty="0">
                <a:latin typeface="微软雅黑" panose="020B0503020204020204" pitchFamily="34" charset="-122"/>
                <a:ea typeface="微软雅黑" panose="020B0503020204020204" pitchFamily="34" charset="-122"/>
              </a:rPr>
              <a:t>远程</a:t>
            </a:r>
            <a:endParaRPr lang="en-US" altLang="zh-CN" sz="500" dirty="0">
              <a:latin typeface="微软雅黑" panose="020B0503020204020204" pitchFamily="34" charset="-122"/>
              <a:ea typeface="微软雅黑" panose="020B0503020204020204" pitchFamily="34" charset="-122"/>
            </a:endParaRPr>
          </a:p>
          <a:p>
            <a:r>
              <a:rPr lang="zh-CN" altLang="en-US" sz="500" dirty="0">
                <a:latin typeface="微软雅黑" panose="020B0503020204020204" pitchFamily="34" charset="-122"/>
                <a:ea typeface="微软雅黑" panose="020B0503020204020204" pitchFamily="34" charset="-122"/>
              </a:rPr>
              <a:t>心电</a:t>
            </a:r>
            <a:endParaRPr lang="en-US" altLang="zh-CN" sz="500" dirty="0">
              <a:latin typeface="微软雅黑" panose="020B0503020204020204" pitchFamily="34" charset="-122"/>
              <a:ea typeface="微软雅黑" panose="020B0503020204020204" pitchFamily="34" charset="-122"/>
            </a:endParaRPr>
          </a:p>
          <a:p>
            <a:r>
              <a:rPr lang="zh-CN" altLang="en-US" sz="500" dirty="0">
                <a:latin typeface="微软雅黑" panose="020B0503020204020204" pitchFamily="34" charset="-122"/>
                <a:ea typeface="微软雅黑" panose="020B0503020204020204" pitchFamily="34" charset="-122"/>
              </a:rPr>
              <a:t>诊断</a:t>
            </a:r>
          </a:p>
        </p:txBody>
      </p:sp>
      <p:pic>
        <p:nvPicPr>
          <p:cNvPr id="11" name="图片 10"/>
          <p:cNvPicPr>
            <a:picLocks noChangeAspect="1"/>
          </p:cNvPicPr>
          <p:nvPr/>
        </p:nvPicPr>
        <p:blipFill>
          <a:blip r:embed="rId18" cstate="print">
            <a:extLst>
              <a:ext uri="{28A0092B-C50C-407E-A947-70E740481C1C}">
                <a14:useLocalDpi xmlns="" xmlns:a14="http://schemas.microsoft.com/office/drawing/2010/main" val="0"/>
              </a:ext>
            </a:extLst>
          </a:blip>
          <a:stretch>
            <a:fillRect/>
          </a:stretch>
        </p:blipFill>
        <p:spPr>
          <a:xfrm>
            <a:off x="1352841" y="3161367"/>
            <a:ext cx="492497" cy="492497"/>
          </a:xfrm>
          <a:prstGeom prst="rect">
            <a:avLst/>
          </a:prstGeom>
        </p:spPr>
      </p:pic>
      <p:cxnSp>
        <p:nvCxnSpPr>
          <p:cNvPr id="21" name="直接箭头连接符 20"/>
          <p:cNvCxnSpPr>
            <a:stCxn id="40" idx="3"/>
            <a:endCxn id="46" idx="1"/>
          </p:cNvCxnSpPr>
          <p:nvPr/>
        </p:nvCxnSpPr>
        <p:spPr>
          <a:xfrm flipV="1">
            <a:off x="3530051" y="3846822"/>
            <a:ext cx="688022" cy="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a:xfrm>
            <a:off x="3601163" y="3722224"/>
            <a:ext cx="441146" cy="169277"/>
          </a:xfrm>
          <a:prstGeom prst="rect">
            <a:avLst/>
          </a:prstGeom>
          <a:noFill/>
        </p:spPr>
        <p:txBody>
          <a:bodyPr wrap="none" rtlCol="0">
            <a:spAutoFit/>
          </a:bodyPr>
          <a:lstStyle/>
          <a:p>
            <a:r>
              <a:rPr lang="zh-CN" altLang="en-US" sz="500" dirty="0">
                <a:latin typeface="微软雅黑" panose="020B0503020204020204" pitchFamily="34" charset="-122"/>
                <a:ea typeface="微软雅黑" panose="020B0503020204020204" pitchFamily="34" charset="-122"/>
              </a:rPr>
              <a:t>远程监护</a:t>
            </a:r>
          </a:p>
        </p:txBody>
      </p:sp>
      <p:cxnSp>
        <p:nvCxnSpPr>
          <p:cNvPr id="24" name="肘形连接符 23"/>
          <p:cNvCxnSpPr>
            <a:stCxn id="51" idx="1"/>
            <a:endCxn id="33" idx="2"/>
          </p:cNvCxnSpPr>
          <p:nvPr/>
        </p:nvCxnSpPr>
        <p:spPr>
          <a:xfrm rot="10800000">
            <a:off x="2341107" y="1733814"/>
            <a:ext cx="2221874" cy="12597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肘形连接符 52"/>
          <p:cNvCxnSpPr>
            <a:stCxn id="46" idx="0"/>
            <a:endCxn id="33" idx="2"/>
          </p:cNvCxnSpPr>
          <p:nvPr/>
        </p:nvCxnSpPr>
        <p:spPr>
          <a:xfrm rot="16200000" flipV="1">
            <a:off x="2388284" y="1686637"/>
            <a:ext cx="1947811" cy="2042164"/>
          </a:xfrm>
          <a:prstGeom prst="bentConnector3">
            <a:avLst>
              <a:gd name="adj1" fmla="val 35404"/>
            </a:avLst>
          </a:prstGeom>
          <a:ln>
            <a:tailEnd type="triangle"/>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5579582" y="1667420"/>
            <a:ext cx="569387" cy="169277"/>
          </a:xfrm>
          <a:prstGeom prst="rect">
            <a:avLst/>
          </a:prstGeom>
          <a:noFill/>
        </p:spPr>
        <p:txBody>
          <a:bodyPr wrap="none" rtlCol="0">
            <a:spAutoFit/>
          </a:bodyPr>
          <a:lstStyle/>
          <a:p>
            <a:r>
              <a:rPr lang="zh-CN" altLang="en-US" sz="500" dirty="0">
                <a:latin typeface="微软雅黑" panose="020B0503020204020204" pitchFamily="34" charset="-122"/>
                <a:ea typeface="微软雅黑" panose="020B0503020204020204" pitchFamily="34" charset="-122"/>
              </a:rPr>
              <a:t>远程心电诊断</a:t>
            </a:r>
          </a:p>
        </p:txBody>
      </p:sp>
      <p:pic>
        <p:nvPicPr>
          <p:cNvPr id="108" name="图片 107"/>
          <p:cNvPicPr>
            <a:picLocks noChangeAspect="1"/>
          </p:cNvPicPr>
          <p:nvPr/>
        </p:nvPicPr>
        <p:blipFill>
          <a:blip r:embed="rId19" cstate="print">
            <a:extLst>
              <a:ext uri="{28A0092B-C50C-407E-A947-70E740481C1C}">
                <a14:useLocalDpi xmlns="" xmlns:a14="http://schemas.microsoft.com/office/drawing/2010/main" val="0"/>
              </a:ext>
            </a:extLst>
          </a:blip>
          <a:stretch>
            <a:fillRect/>
          </a:stretch>
        </p:blipFill>
        <p:spPr>
          <a:xfrm>
            <a:off x="6179538" y="4300657"/>
            <a:ext cx="517390" cy="291792"/>
          </a:xfrm>
          <a:prstGeom prst="rect">
            <a:avLst/>
          </a:prstGeom>
        </p:spPr>
      </p:pic>
      <p:cxnSp>
        <p:nvCxnSpPr>
          <p:cNvPr id="72" name="肘形连接符 71"/>
          <p:cNvCxnSpPr>
            <a:stCxn id="16" idx="1"/>
            <a:endCxn id="33" idx="2"/>
          </p:cNvCxnSpPr>
          <p:nvPr/>
        </p:nvCxnSpPr>
        <p:spPr>
          <a:xfrm rot="10800000">
            <a:off x="2341108" y="1733814"/>
            <a:ext cx="3027363" cy="35236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肘形连接符 102"/>
          <p:cNvCxnSpPr>
            <a:stCxn id="11" idx="0"/>
            <a:endCxn id="33" idx="1"/>
          </p:cNvCxnSpPr>
          <p:nvPr/>
        </p:nvCxnSpPr>
        <p:spPr>
          <a:xfrm rot="5400000" flipH="1" flipV="1">
            <a:off x="951109" y="2274072"/>
            <a:ext cx="1535276" cy="2393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32" name="文本框 131"/>
          <p:cNvSpPr txBox="1"/>
          <p:nvPr/>
        </p:nvSpPr>
        <p:spPr>
          <a:xfrm>
            <a:off x="3230393" y="2784330"/>
            <a:ext cx="569387" cy="169277"/>
          </a:xfrm>
          <a:prstGeom prst="rect">
            <a:avLst/>
          </a:prstGeom>
          <a:noFill/>
        </p:spPr>
        <p:txBody>
          <a:bodyPr wrap="none" rtlCol="0">
            <a:spAutoFit/>
          </a:bodyPr>
          <a:lstStyle/>
          <a:p>
            <a:r>
              <a:rPr lang="zh-CN" altLang="en-US" sz="500" dirty="0">
                <a:latin typeface="微软雅黑" panose="020B0503020204020204" pitchFamily="34" charset="-122"/>
                <a:ea typeface="微软雅黑" panose="020B0503020204020204" pitchFamily="34" charset="-122"/>
              </a:rPr>
              <a:t>远程心电诊断</a:t>
            </a:r>
          </a:p>
        </p:txBody>
      </p:sp>
      <p:cxnSp>
        <p:nvCxnSpPr>
          <p:cNvPr id="134" name="肘形连接符 133"/>
          <p:cNvCxnSpPr>
            <a:stCxn id="40" idx="0"/>
            <a:endCxn id="33" idx="2"/>
          </p:cNvCxnSpPr>
          <p:nvPr/>
        </p:nvCxnSpPr>
        <p:spPr>
          <a:xfrm rot="16200000" flipV="1">
            <a:off x="1861004" y="2213916"/>
            <a:ext cx="1973386" cy="1013180"/>
          </a:xfrm>
          <a:prstGeom prst="bentConnector3">
            <a:avLst>
              <a:gd name="adj1" fmla="val 36157"/>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文本占位符 122"/>
          <p:cNvSpPr>
            <a:spLocks noGrp="1"/>
          </p:cNvSpPr>
          <p:nvPr>
            <p:ph type="body" sz="quarter" idx="13"/>
          </p:nvPr>
        </p:nvSpPr>
        <p:spPr/>
        <p:txBody>
          <a:bodyPr/>
          <a:lstStyle/>
          <a:p>
            <a:r>
              <a:rPr lang="zh-CN" altLang="en-US" dirty="0" smtClean="0">
                <a:solidFill>
                  <a:schemeClr val="tx1">
                    <a:lumMod val="75000"/>
                    <a:lumOff val="25000"/>
                  </a:schemeClr>
                </a:solidFill>
              </a:rPr>
              <a:t>建设内容</a:t>
            </a:r>
            <a:endParaRPr lang="zh-CN" altLang="en-US" dirty="0">
              <a:solidFill>
                <a:schemeClr val="tx1">
                  <a:lumMod val="75000"/>
                  <a:lumOff val="25000"/>
                </a:schemeClr>
              </a:solidFill>
            </a:endParaRPr>
          </a:p>
        </p:txBody>
      </p:sp>
      <p:grpSp>
        <p:nvGrpSpPr>
          <p:cNvPr id="24" name="组合 23"/>
          <p:cNvGrpSpPr/>
          <p:nvPr/>
        </p:nvGrpSpPr>
        <p:grpSpPr>
          <a:xfrm>
            <a:off x="1259632" y="1059582"/>
            <a:ext cx="6654434" cy="1688658"/>
            <a:chOff x="1259632" y="1059582"/>
            <a:chExt cx="6654434" cy="1688658"/>
          </a:xfrm>
        </p:grpSpPr>
        <p:sp>
          <p:nvSpPr>
            <p:cNvPr id="119" name="矩形 118"/>
            <p:cNvSpPr/>
            <p:nvPr/>
          </p:nvSpPr>
          <p:spPr>
            <a:xfrm>
              <a:off x="3543180" y="1059582"/>
              <a:ext cx="2205289" cy="1688658"/>
            </a:xfrm>
            <a:prstGeom prst="rect">
              <a:avLst/>
            </a:prstGeom>
            <a:ln w="3175"/>
          </p:spPr>
          <p:style>
            <a:lnRef idx="2">
              <a:schemeClr val="accent1"/>
            </a:lnRef>
            <a:fillRef idx="1">
              <a:schemeClr val="lt1"/>
            </a:fillRef>
            <a:effectRef idx="0">
              <a:schemeClr val="accent1"/>
            </a:effectRef>
            <a:fontRef idx="minor">
              <a:schemeClr val="dk1"/>
            </a:fontRef>
          </p:style>
          <p:txBody>
            <a:bodyPr rtlCol="0" anchor="t"/>
            <a:lstStyle/>
            <a:p>
              <a:pPr algn="ctr"/>
              <a:r>
                <a:rPr lang="zh-CN" altLang="en-US" sz="1200" b="1" dirty="0" smtClean="0">
                  <a:latin typeface="微软雅黑" panose="020B0503020204020204" pitchFamily="34" charset="-122"/>
                  <a:ea typeface="微软雅黑" panose="020B0503020204020204" pitchFamily="34" charset="-122"/>
                </a:rPr>
                <a:t>区</a:t>
              </a:r>
              <a:r>
                <a:rPr lang="zh-CN" altLang="en-US" sz="1200" b="1" dirty="0">
                  <a:latin typeface="微软雅黑" panose="020B0503020204020204" pitchFamily="34" charset="-122"/>
                  <a:ea typeface="微软雅黑" panose="020B0503020204020204" pitchFamily="34" charset="-122"/>
                </a:rPr>
                <a:t>域心电诊断中</a:t>
              </a:r>
              <a:r>
                <a:rPr lang="zh-CN" altLang="en-US" sz="1200" b="1" dirty="0" smtClean="0">
                  <a:latin typeface="微软雅黑" panose="020B0503020204020204" pitchFamily="34" charset="-122"/>
                  <a:ea typeface="微软雅黑" panose="020B0503020204020204" pitchFamily="34" charset="-122"/>
                </a:rPr>
                <a:t>心</a:t>
              </a:r>
              <a:endParaRPr lang="en-US" altLang="zh-CN" sz="1200" b="1" dirty="0" smtClean="0">
                <a:latin typeface="微软雅黑" panose="020B0503020204020204" pitchFamily="34" charset="-122"/>
                <a:ea typeface="微软雅黑" panose="020B0503020204020204" pitchFamily="34" charset="-122"/>
              </a:endParaRPr>
            </a:p>
            <a:p>
              <a:pPr algn="ctr"/>
              <a:endParaRPr lang="en-US" altLang="zh-CN" sz="1200" b="1" dirty="0">
                <a:latin typeface="微软雅黑" panose="020B0503020204020204" pitchFamily="34" charset="-122"/>
                <a:ea typeface="微软雅黑" panose="020B0503020204020204" pitchFamily="34" charset="-122"/>
              </a:endParaRPr>
            </a:p>
            <a:p>
              <a:pPr algn="ctr"/>
              <a:endParaRPr lang="en-US" altLang="zh-CN" sz="1200" b="1" dirty="0" smtClean="0">
                <a:latin typeface="微软雅黑" panose="020B0503020204020204" pitchFamily="34" charset="-122"/>
                <a:ea typeface="微软雅黑" panose="020B0503020204020204" pitchFamily="34" charset="-122"/>
              </a:endParaRPr>
            </a:p>
            <a:p>
              <a:pPr algn="ctr"/>
              <a:endParaRPr lang="en-US" altLang="zh-CN" sz="1000" dirty="0" smtClean="0">
                <a:latin typeface="微软雅黑" panose="020B0503020204020204" pitchFamily="34" charset="-122"/>
                <a:ea typeface="微软雅黑" panose="020B0503020204020204" pitchFamily="34" charset="-122"/>
              </a:endParaRPr>
            </a:p>
            <a:p>
              <a:pPr algn="ctr">
                <a:spcAft>
                  <a:spcPts val="600"/>
                </a:spcAft>
              </a:pPr>
              <a:r>
                <a:rPr lang="zh-CN" altLang="en-US" sz="1000" b="1" dirty="0" smtClean="0">
                  <a:latin typeface="微软雅黑" panose="020B0503020204020204" pitchFamily="34" charset="-122"/>
                  <a:ea typeface="微软雅黑" panose="020B0503020204020204" pitchFamily="34" charset="-122"/>
                </a:rPr>
                <a:t>心</a:t>
              </a:r>
              <a:r>
                <a:rPr lang="zh-CN" altLang="en-US" sz="1000" b="1" dirty="0">
                  <a:latin typeface="微软雅黑" panose="020B0503020204020204" pitchFamily="34" charset="-122"/>
                  <a:ea typeface="微软雅黑" panose="020B0503020204020204" pitchFamily="34" charset="-122"/>
                </a:rPr>
                <a:t>电解读、业务协</a:t>
              </a:r>
              <a:r>
                <a:rPr lang="zh-CN" altLang="en-US" sz="1000" b="1" dirty="0" smtClean="0">
                  <a:latin typeface="微软雅黑" panose="020B0503020204020204" pitchFamily="34" charset="-122"/>
                  <a:ea typeface="微软雅黑" panose="020B0503020204020204" pitchFamily="34" charset="-122"/>
                </a:rPr>
                <a:t>同</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900" dirty="0" smtClean="0">
                  <a:latin typeface="微软雅黑" panose="020B0503020204020204" pitchFamily="34" charset="-122"/>
                  <a:ea typeface="微软雅黑" panose="020B0503020204020204" pitchFamily="34" charset="-122"/>
                </a:rPr>
                <a:t>倾力搭建心电解读平台，致力于远程心电判读、监测、质控及研究，会集优质专家资源，为各级医疗机构提供完善的心电远程监测判读服务。</a:t>
              </a:r>
              <a:endParaRPr lang="zh-CN" altLang="en-US" sz="900" dirty="0">
                <a:latin typeface="微软雅黑" panose="020B0503020204020204" pitchFamily="34" charset="-122"/>
                <a:ea typeface="微软雅黑" panose="020B0503020204020204" pitchFamily="34" charset="-122"/>
              </a:endParaRPr>
            </a:p>
          </p:txBody>
        </p:sp>
        <p:sp>
          <p:nvSpPr>
            <p:cNvPr id="120" name="矩形 119"/>
            <p:cNvSpPr/>
            <p:nvPr/>
          </p:nvSpPr>
          <p:spPr>
            <a:xfrm>
              <a:off x="5834094" y="1059582"/>
              <a:ext cx="2079972" cy="1688658"/>
            </a:xfrm>
            <a:prstGeom prst="rect">
              <a:avLst/>
            </a:prstGeom>
            <a:ln w="3175"/>
          </p:spPr>
          <p:style>
            <a:lnRef idx="2">
              <a:schemeClr val="accent1"/>
            </a:lnRef>
            <a:fillRef idx="1">
              <a:schemeClr val="lt1"/>
            </a:fillRef>
            <a:effectRef idx="0">
              <a:schemeClr val="accent1"/>
            </a:effectRef>
            <a:fontRef idx="minor">
              <a:schemeClr val="dk1"/>
            </a:fontRef>
          </p:style>
          <p:txBody>
            <a:bodyPr rtlCol="0" anchor="t"/>
            <a:lstStyle/>
            <a:p>
              <a:pPr algn="ctr"/>
              <a:r>
                <a:rPr lang="zh-CN" altLang="en-US" sz="1200" b="1" dirty="0">
                  <a:latin typeface="微软雅黑" panose="020B0503020204020204" pitchFamily="34" charset="-122"/>
                  <a:ea typeface="微软雅黑" panose="020B0503020204020204" pitchFamily="34" charset="-122"/>
                </a:rPr>
                <a:t>大数据中</a:t>
              </a:r>
              <a:r>
                <a:rPr lang="zh-CN" altLang="en-US" sz="1200" b="1" dirty="0" smtClean="0">
                  <a:latin typeface="微软雅黑" panose="020B0503020204020204" pitchFamily="34" charset="-122"/>
                  <a:ea typeface="微软雅黑" panose="020B0503020204020204" pitchFamily="34" charset="-122"/>
                </a:rPr>
                <a:t>心</a:t>
              </a:r>
              <a:endParaRPr lang="en-US" altLang="zh-CN" sz="1200" b="1" dirty="0" smtClean="0">
                <a:latin typeface="微软雅黑" panose="020B0503020204020204" pitchFamily="34" charset="-122"/>
                <a:ea typeface="微软雅黑" panose="020B0503020204020204" pitchFamily="34" charset="-122"/>
              </a:endParaRPr>
            </a:p>
            <a:p>
              <a:pPr algn="ctr"/>
              <a:endParaRPr lang="en-US" altLang="zh-CN" sz="1200" b="1" dirty="0">
                <a:latin typeface="微软雅黑" panose="020B0503020204020204" pitchFamily="34" charset="-122"/>
                <a:ea typeface="微软雅黑" panose="020B0503020204020204" pitchFamily="34" charset="-122"/>
              </a:endParaRPr>
            </a:p>
            <a:p>
              <a:pPr algn="ctr"/>
              <a:endParaRPr lang="en-US" altLang="zh-CN" sz="1200" b="1" dirty="0" smtClean="0">
                <a:latin typeface="微软雅黑" panose="020B0503020204020204" pitchFamily="34" charset="-122"/>
                <a:ea typeface="微软雅黑" panose="020B0503020204020204" pitchFamily="34" charset="-122"/>
              </a:endParaRPr>
            </a:p>
            <a:p>
              <a:pPr algn="ctr"/>
              <a:endParaRPr lang="en-US" altLang="zh-CN" sz="1200" b="1" dirty="0" smtClean="0">
                <a:latin typeface="微软雅黑" panose="020B0503020204020204" pitchFamily="34" charset="-122"/>
                <a:ea typeface="微软雅黑" panose="020B0503020204020204" pitchFamily="34" charset="-122"/>
              </a:endParaRPr>
            </a:p>
            <a:p>
              <a:pPr algn="ctr">
                <a:spcAft>
                  <a:spcPts val="600"/>
                </a:spcAft>
              </a:pPr>
              <a:r>
                <a:rPr lang="zh-CN" altLang="en-US" sz="1000" b="1" dirty="0" smtClean="0">
                  <a:latin typeface="微软雅黑" panose="020B0503020204020204" pitchFamily="34" charset="-122"/>
                  <a:ea typeface="微软雅黑" panose="020B0503020204020204" pitchFamily="34" charset="-122"/>
                </a:rPr>
                <a:t>运</a:t>
              </a:r>
              <a:r>
                <a:rPr lang="zh-CN" altLang="en-US" sz="1000" b="1" dirty="0">
                  <a:latin typeface="微软雅黑" panose="020B0503020204020204" pitchFamily="34" charset="-122"/>
                  <a:ea typeface="微软雅黑" panose="020B0503020204020204" pitchFamily="34" charset="-122"/>
                </a:rPr>
                <a:t>营、监管、质</a:t>
              </a:r>
              <a:r>
                <a:rPr lang="zh-CN" altLang="en-US" sz="1000" b="1" dirty="0" smtClean="0">
                  <a:latin typeface="微软雅黑" panose="020B0503020204020204" pitchFamily="34" charset="-122"/>
                  <a:ea typeface="微软雅黑" panose="020B0503020204020204" pitchFamily="34" charset="-122"/>
                </a:rPr>
                <a:t>控</a:t>
              </a:r>
              <a:endParaRPr lang="en-US" altLang="zh-CN" sz="1000" b="1" dirty="0" smtClean="0">
                <a:latin typeface="微软雅黑" panose="020B0503020204020204" pitchFamily="34" charset="-122"/>
                <a:ea typeface="微软雅黑" panose="020B0503020204020204" pitchFamily="34" charset="-122"/>
              </a:endParaRPr>
            </a:p>
            <a:p>
              <a:pPr algn="ctr">
                <a:lnSpc>
                  <a:spcPct val="150000"/>
                </a:lnSpc>
              </a:pPr>
              <a:r>
                <a:rPr lang="zh-CN" altLang="en-US" sz="900" dirty="0">
                  <a:latin typeface="微软雅黑" panose="020B0503020204020204" pitchFamily="34" charset="-122"/>
                  <a:ea typeface="微软雅黑" panose="020B0503020204020204" pitchFamily="34" charset="-122"/>
                </a:rPr>
                <a:t>为区域医共体心血管健康管理服务提供运营支持，同时为监管部门提供各类监管数据看</a:t>
              </a:r>
              <a:r>
                <a:rPr lang="zh-CN" altLang="en-US" sz="900" dirty="0" smtClean="0">
                  <a:latin typeface="微软雅黑" panose="020B0503020204020204" pitchFamily="34" charset="-122"/>
                  <a:ea typeface="微软雅黑" panose="020B0503020204020204" pitchFamily="34" charset="-122"/>
                </a:rPr>
                <a:t>板。</a:t>
              </a:r>
              <a:endParaRPr lang="zh-CN" altLang="en-US" sz="900" dirty="0">
                <a:latin typeface="微软雅黑" panose="020B0503020204020204" pitchFamily="34" charset="-122"/>
                <a:ea typeface="微软雅黑" panose="020B0503020204020204" pitchFamily="34" charset="-122"/>
              </a:endParaRPr>
            </a:p>
          </p:txBody>
        </p:sp>
        <p:sp>
          <p:nvSpPr>
            <p:cNvPr id="121" name="矩形 120"/>
            <p:cNvSpPr/>
            <p:nvPr/>
          </p:nvSpPr>
          <p:spPr>
            <a:xfrm>
              <a:off x="1259632" y="1059582"/>
              <a:ext cx="2197922" cy="1688658"/>
            </a:xfrm>
            <a:prstGeom prst="rect">
              <a:avLst/>
            </a:prstGeom>
            <a:ln w="3175"/>
          </p:spPr>
          <p:style>
            <a:lnRef idx="2">
              <a:schemeClr val="accent1"/>
            </a:lnRef>
            <a:fillRef idx="1">
              <a:schemeClr val="lt1"/>
            </a:fillRef>
            <a:effectRef idx="0">
              <a:schemeClr val="accent1"/>
            </a:effectRef>
            <a:fontRef idx="minor">
              <a:schemeClr val="dk1"/>
            </a:fontRef>
          </p:style>
          <p:txBody>
            <a:bodyPr rtlCol="0" anchor="t"/>
            <a:lstStyle/>
            <a:p>
              <a:pPr algn="ctr">
                <a:spcAft>
                  <a:spcPts val="600"/>
                </a:spcAft>
              </a:pPr>
              <a:r>
                <a:rPr lang="zh-CN" altLang="en-US" sz="1200" b="1" dirty="0" smtClean="0">
                  <a:latin typeface="微软雅黑" panose="020B0503020204020204" pitchFamily="34" charset="-122"/>
                  <a:ea typeface="微软雅黑" panose="020B0503020204020204" pitchFamily="34" charset="-122"/>
                </a:rPr>
                <a:t>医疗机构监测体系</a:t>
              </a:r>
              <a:endParaRPr lang="en-US" altLang="zh-CN" sz="1200" b="1" dirty="0" smtClean="0">
                <a:latin typeface="微软雅黑" panose="020B0503020204020204" pitchFamily="34" charset="-122"/>
                <a:ea typeface="微软雅黑" panose="020B0503020204020204" pitchFamily="34" charset="-122"/>
              </a:endParaRPr>
            </a:p>
            <a:p>
              <a:pPr algn="ctr">
                <a:spcAft>
                  <a:spcPts val="600"/>
                </a:spcAft>
              </a:pPr>
              <a:endParaRPr lang="en-US" altLang="zh-CN" sz="1000" dirty="0" smtClean="0">
                <a:latin typeface="微软雅黑" panose="020B0503020204020204" pitchFamily="34" charset="-122"/>
                <a:ea typeface="微软雅黑" panose="020B0503020204020204" pitchFamily="34" charset="-122"/>
              </a:endParaRPr>
            </a:p>
            <a:p>
              <a:pPr algn="ctr">
                <a:spcAft>
                  <a:spcPts val="600"/>
                </a:spcAft>
              </a:pPr>
              <a:endParaRPr lang="en-US" altLang="zh-CN" sz="1000" dirty="0">
                <a:latin typeface="微软雅黑" panose="020B0503020204020204" pitchFamily="34" charset="-122"/>
                <a:ea typeface="微软雅黑" panose="020B0503020204020204" pitchFamily="34" charset="-122"/>
              </a:endParaRPr>
            </a:p>
            <a:p>
              <a:pPr algn="ctr">
                <a:spcAft>
                  <a:spcPts val="600"/>
                </a:spcAft>
              </a:pPr>
              <a:r>
                <a:rPr lang="zh-CN" altLang="en-US" sz="1000" b="1" dirty="0" smtClean="0">
                  <a:latin typeface="微软雅黑" panose="020B0503020204020204" pitchFamily="34" charset="-122"/>
                  <a:ea typeface="微软雅黑" panose="020B0503020204020204" pitchFamily="34" charset="-122"/>
                </a:rPr>
                <a:t>建设各级监测中心</a:t>
              </a:r>
              <a:endParaRPr lang="en-US" altLang="zh-CN" sz="1000" b="1" dirty="0" smtClean="0">
                <a:latin typeface="微软雅黑" panose="020B0503020204020204" pitchFamily="34" charset="-122"/>
                <a:ea typeface="微软雅黑" panose="020B0503020204020204" pitchFamily="34" charset="-122"/>
              </a:endParaRPr>
            </a:p>
            <a:p>
              <a:pPr algn="ctr">
                <a:lnSpc>
                  <a:spcPct val="150000"/>
                </a:lnSpc>
                <a:spcAft>
                  <a:spcPts val="600"/>
                </a:spcAft>
              </a:pPr>
              <a:r>
                <a:rPr lang="zh-CN" altLang="en-US" sz="900" dirty="0" smtClean="0">
                  <a:latin typeface="微软雅黑" panose="020B0503020204020204" pitchFamily="34" charset="-122"/>
                  <a:ea typeface="微软雅黑" panose="020B0503020204020204" pitchFamily="34" charset="-122"/>
                </a:rPr>
                <a:t>在村</a:t>
              </a:r>
              <a:r>
                <a:rPr lang="en-US" altLang="zh-CN" sz="900" dirty="0" smtClean="0">
                  <a:latin typeface="微软雅黑" panose="020B0503020204020204" pitchFamily="34" charset="-122"/>
                  <a:ea typeface="微软雅黑" panose="020B0503020204020204" pitchFamily="34" charset="-122"/>
                </a:rPr>
                <a:t>-</a:t>
              </a:r>
              <a:r>
                <a:rPr lang="zh-CN" altLang="en-US" sz="900" dirty="0" smtClean="0">
                  <a:latin typeface="微软雅黑" panose="020B0503020204020204" pitchFamily="34" charset="-122"/>
                  <a:ea typeface="微软雅黑" panose="020B0503020204020204" pitchFamily="34" charset="-122"/>
                </a:rPr>
                <a:t>区</a:t>
              </a:r>
              <a:r>
                <a:rPr lang="en-US" altLang="zh-CN" sz="900" dirty="0" smtClean="0">
                  <a:latin typeface="微软雅黑" panose="020B0503020204020204" pitchFamily="34" charset="-122"/>
                  <a:ea typeface="微软雅黑" panose="020B0503020204020204" pitchFamily="34" charset="-122"/>
                </a:rPr>
                <a:t>-</a:t>
              </a:r>
              <a:r>
                <a:rPr lang="zh-CN" altLang="en-US" sz="900" dirty="0" smtClean="0">
                  <a:latin typeface="微软雅黑" panose="020B0503020204020204" pitchFamily="34" charset="-122"/>
                  <a:ea typeface="微软雅黑" panose="020B0503020204020204" pitchFamily="34" charset="-122"/>
                </a:rPr>
                <a:t>县</a:t>
              </a:r>
              <a:r>
                <a:rPr lang="en-US" altLang="zh-CN" sz="900" dirty="0" smtClean="0">
                  <a:latin typeface="微软雅黑" panose="020B0503020204020204" pitchFamily="34" charset="-122"/>
                  <a:ea typeface="微软雅黑" panose="020B0503020204020204" pitchFamily="34" charset="-122"/>
                </a:rPr>
                <a:t>-</a:t>
              </a:r>
              <a:r>
                <a:rPr lang="zh-CN" altLang="en-US" sz="900" dirty="0" smtClean="0">
                  <a:latin typeface="微软雅黑" panose="020B0503020204020204" pitchFamily="34" charset="-122"/>
                  <a:ea typeface="微软雅黑" panose="020B0503020204020204" pitchFamily="34" charset="-122"/>
                </a:rPr>
                <a:t>市四级平台放置心电设备和搭建业务系统，形成区域心电监测与体系。</a:t>
              </a:r>
              <a:endParaRPr lang="en-US" altLang="zh-CN" sz="900" dirty="0" smtClean="0">
                <a:latin typeface="微软雅黑" panose="020B0503020204020204" pitchFamily="34" charset="-122"/>
                <a:ea typeface="微软雅黑" panose="020B0503020204020204" pitchFamily="34" charset="-122"/>
              </a:endParaRPr>
            </a:p>
            <a:p>
              <a:pPr algn="ctr">
                <a:spcAft>
                  <a:spcPts val="600"/>
                </a:spcAft>
              </a:pPr>
              <a:endParaRPr lang="zh-CN" altLang="en-US" sz="1000" b="1"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2096815" y="1327515"/>
              <a:ext cx="411369" cy="411369"/>
            </a:xfrm>
            <a:prstGeom prst="rect">
              <a:avLst/>
            </a:prstGeom>
          </p:spPr>
        </p:pic>
        <p:pic>
          <p:nvPicPr>
            <p:cNvPr id="14" name="图片 1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4388514" y="1327515"/>
              <a:ext cx="484289" cy="484289"/>
            </a:xfrm>
            <a:prstGeom prst="rect">
              <a:avLst/>
            </a:prstGeom>
          </p:spPr>
        </p:pic>
        <p:pic>
          <p:nvPicPr>
            <p:cNvPr id="16" name="图片 15"/>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6632501" y="1325728"/>
              <a:ext cx="464528" cy="464528"/>
            </a:xfrm>
            <a:prstGeom prst="rect">
              <a:avLst/>
            </a:prstGeom>
          </p:spPr>
        </p:pic>
      </p:grpSp>
      <p:grpSp>
        <p:nvGrpSpPr>
          <p:cNvPr id="26" name="组合 25"/>
          <p:cNvGrpSpPr/>
          <p:nvPr/>
        </p:nvGrpSpPr>
        <p:grpSpPr>
          <a:xfrm>
            <a:off x="284926" y="2873531"/>
            <a:ext cx="8703176" cy="1930467"/>
            <a:chOff x="284926" y="2873531"/>
            <a:chExt cx="8703176" cy="1930467"/>
          </a:xfrm>
        </p:grpSpPr>
        <p:sp>
          <p:nvSpPr>
            <p:cNvPr id="5" name="矩形 4"/>
            <p:cNvSpPr/>
            <p:nvPr/>
          </p:nvSpPr>
          <p:spPr>
            <a:xfrm>
              <a:off x="284926" y="2895080"/>
              <a:ext cx="2126674" cy="1908918"/>
            </a:xfrm>
            <a:prstGeom prst="rect">
              <a:avLst/>
            </a:prstGeom>
            <a:ln w="3175"/>
          </p:spPr>
          <p:style>
            <a:lnRef idx="2">
              <a:schemeClr val="accent1"/>
            </a:lnRef>
            <a:fillRef idx="1">
              <a:schemeClr val="lt1"/>
            </a:fillRef>
            <a:effectRef idx="0">
              <a:schemeClr val="accent1"/>
            </a:effectRef>
            <a:fontRef idx="minor">
              <a:schemeClr val="dk1"/>
            </a:fontRef>
          </p:style>
          <p:txBody>
            <a:bodyPr rtlCol="0" anchor="t"/>
            <a:lstStyle/>
            <a:p>
              <a:pPr algn="ctr">
                <a:spcAft>
                  <a:spcPts val="600"/>
                </a:spcAft>
              </a:pPr>
              <a:r>
                <a:rPr lang="zh-CN" altLang="en-US" sz="1200" b="1" dirty="0" smtClean="0">
                  <a:latin typeface="微软雅黑" panose="020B0503020204020204" pitchFamily="34" charset="-122"/>
                  <a:ea typeface="微软雅黑" panose="020B0503020204020204" pitchFamily="34" charset="-122"/>
                </a:rPr>
                <a:t>业务体系</a:t>
              </a:r>
              <a:endParaRPr lang="en-US" altLang="zh-CN" sz="1200" b="1" dirty="0" smtClean="0">
                <a:latin typeface="微软雅黑" panose="020B0503020204020204" pitchFamily="34" charset="-122"/>
                <a:ea typeface="微软雅黑" panose="020B0503020204020204" pitchFamily="34" charset="-122"/>
              </a:endParaRPr>
            </a:p>
            <a:p>
              <a:pPr algn="ctr">
                <a:spcAft>
                  <a:spcPts val="600"/>
                </a:spcAft>
              </a:pPr>
              <a:endParaRPr lang="en-US" altLang="zh-CN" sz="1200" b="1" dirty="0">
                <a:latin typeface="微软雅黑" panose="020B0503020204020204" pitchFamily="34" charset="-122"/>
                <a:ea typeface="微软雅黑" panose="020B0503020204020204" pitchFamily="34" charset="-122"/>
              </a:endParaRPr>
            </a:p>
            <a:p>
              <a:pPr algn="ctr">
                <a:spcAft>
                  <a:spcPts val="600"/>
                </a:spcAft>
              </a:pPr>
              <a:endParaRPr lang="en-US" altLang="zh-CN" sz="1200" b="1" dirty="0" smtClean="0">
                <a:latin typeface="微软雅黑" panose="020B0503020204020204" pitchFamily="34" charset="-122"/>
                <a:ea typeface="微软雅黑" panose="020B0503020204020204" pitchFamily="34" charset="-122"/>
              </a:endParaRPr>
            </a:p>
            <a:p>
              <a:pPr algn="ctr">
                <a:spcAft>
                  <a:spcPts val="600"/>
                </a:spcAft>
              </a:pPr>
              <a:r>
                <a:rPr lang="zh-CN" altLang="en-US" sz="1000" b="1" dirty="0" smtClean="0">
                  <a:latin typeface="微软雅黑" panose="020B0503020204020204" pitchFamily="34" charset="-122"/>
                  <a:ea typeface="微软雅黑" panose="020B0503020204020204" pitchFamily="34" charset="-122"/>
                </a:rPr>
                <a:t>四</a:t>
              </a:r>
              <a:r>
                <a:rPr lang="zh-CN" altLang="en-US" sz="1000" b="1" dirty="0">
                  <a:latin typeface="微软雅黑" panose="020B0503020204020204" pitchFamily="34" charset="-122"/>
                  <a:ea typeface="微软雅黑" panose="020B0503020204020204" pitchFamily="34" charset="-122"/>
                </a:rPr>
                <a:t>网合一，囊括核心业</a:t>
              </a:r>
              <a:r>
                <a:rPr lang="zh-CN" altLang="en-US" sz="1000" b="1" dirty="0" smtClean="0">
                  <a:latin typeface="微软雅黑" panose="020B0503020204020204" pitchFamily="34" charset="-122"/>
                  <a:ea typeface="微软雅黑" panose="020B0503020204020204" pitchFamily="34" charset="-122"/>
                </a:rPr>
                <a:t>务</a:t>
              </a:r>
              <a:endParaRPr lang="en-US" altLang="zh-CN" sz="1000" b="1" dirty="0" smtClean="0">
                <a:latin typeface="微软雅黑" panose="020B0503020204020204" pitchFamily="34" charset="-122"/>
                <a:ea typeface="微软雅黑" panose="020B0503020204020204" pitchFamily="34" charset="-122"/>
              </a:endParaRPr>
            </a:p>
            <a:p>
              <a:pPr>
                <a:lnSpc>
                  <a:spcPct val="150000"/>
                </a:lnSpc>
              </a:pPr>
              <a:r>
                <a:rPr lang="zh-CN" altLang="en-US" sz="900" dirty="0" smtClean="0">
                  <a:latin typeface="微软雅黑" panose="020B0503020204020204" pitchFamily="34" charset="-122"/>
                  <a:ea typeface="微软雅黑" panose="020B0503020204020204" pitchFamily="34" charset="-122"/>
                </a:rPr>
                <a:t>“静</a:t>
              </a:r>
              <a:r>
                <a:rPr lang="zh-CN" altLang="en-US" sz="900" dirty="0">
                  <a:latin typeface="微软雅黑" panose="020B0503020204020204" pitchFamily="34" charset="-122"/>
                  <a:ea typeface="微软雅黑" panose="020B0503020204020204" pitchFamily="34" charset="-122"/>
                </a:rPr>
                <a:t>态心电一张网、动态心电一张网、远程监护一张网、居家监测一张网”四网合</a:t>
              </a:r>
              <a:r>
                <a:rPr lang="zh-CN" altLang="en-US" sz="900" dirty="0" smtClean="0">
                  <a:latin typeface="微软雅黑" panose="020B0503020204020204" pitchFamily="34" charset="-122"/>
                  <a:ea typeface="微软雅黑" panose="020B0503020204020204" pitchFamily="34" charset="-122"/>
                </a:rPr>
                <a:t>一，构</a:t>
              </a:r>
              <a:r>
                <a:rPr lang="zh-CN" altLang="en-US" sz="900" dirty="0">
                  <a:latin typeface="微软雅黑" panose="020B0503020204020204" pitchFamily="34" charset="-122"/>
                  <a:ea typeface="微软雅黑" panose="020B0503020204020204" pitchFamily="34" charset="-122"/>
                </a:rPr>
                <a:t>建一个全面、高效、协同的区域心电网络，以覆盖并优化核心业务</a:t>
              </a:r>
              <a:r>
                <a:rPr lang="zh-CN" altLang="en-US" sz="900" dirty="0" smtClean="0">
                  <a:latin typeface="微软雅黑" panose="020B0503020204020204" pitchFamily="34" charset="-122"/>
                  <a:ea typeface="微软雅黑" panose="020B0503020204020204" pitchFamily="34" charset="-122"/>
                </a:rPr>
                <a:t>。</a:t>
              </a:r>
              <a:endParaRPr lang="zh-CN" altLang="en-US" sz="900" dirty="0">
                <a:latin typeface="微软雅黑" panose="020B0503020204020204" pitchFamily="34" charset="-122"/>
                <a:ea typeface="微软雅黑" panose="020B0503020204020204" pitchFamily="34" charset="-122"/>
              </a:endParaRPr>
            </a:p>
          </p:txBody>
        </p:sp>
        <p:sp>
          <p:nvSpPr>
            <p:cNvPr id="116" name="矩形 115"/>
            <p:cNvSpPr/>
            <p:nvPr/>
          </p:nvSpPr>
          <p:spPr>
            <a:xfrm>
              <a:off x="2480203" y="2895080"/>
              <a:ext cx="2126674" cy="1908918"/>
            </a:xfrm>
            <a:prstGeom prst="rect">
              <a:avLst/>
            </a:prstGeom>
            <a:ln w="3175"/>
          </p:spPr>
          <p:style>
            <a:lnRef idx="2">
              <a:schemeClr val="accent1"/>
            </a:lnRef>
            <a:fillRef idx="1">
              <a:schemeClr val="lt1"/>
            </a:fillRef>
            <a:effectRef idx="0">
              <a:schemeClr val="accent1"/>
            </a:effectRef>
            <a:fontRef idx="minor">
              <a:schemeClr val="dk1"/>
            </a:fontRef>
          </p:style>
          <p:txBody>
            <a:bodyPr rtlCol="0" anchor="t"/>
            <a:lstStyle/>
            <a:p>
              <a:pPr algn="ctr">
                <a:spcAft>
                  <a:spcPts val="600"/>
                </a:spcAft>
              </a:pPr>
              <a:r>
                <a:rPr lang="zh-CN" altLang="en-US" sz="1200" b="1" dirty="0">
                  <a:latin typeface="微软雅黑" panose="020B0503020204020204" pitchFamily="34" charset="-122"/>
                  <a:ea typeface="微软雅黑" panose="020B0503020204020204" pitchFamily="34" charset="-122"/>
                </a:rPr>
                <a:t>业务闭</a:t>
              </a:r>
              <a:r>
                <a:rPr lang="zh-CN" altLang="en-US" sz="1200" b="1" dirty="0" smtClean="0">
                  <a:latin typeface="微软雅黑" panose="020B0503020204020204" pitchFamily="34" charset="-122"/>
                  <a:ea typeface="微软雅黑" panose="020B0503020204020204" pitchFamily="34" charset="-122"/>
                </a:rPr>
                <a:t>环</a:t>
              </a:r>
              <a:endParaRPr lang="en-US" altLang="zh-CN" sz="1200" b="1" dirty="0" smtClean="0">
                <a:latin typeface="微软雅黑" panose="020B0503020204020204" pitchFamily="34" charset="-122"/>
                <a:ea typeface="微软雅黑" panose="020B0503020204020204" pitchFamily="34" charset="-122"/>
              </a:endParaRPr>
            </a:p>
            <a:p>
              <a:pPr algn="ctr">
                <a:spcAft>
                  <a:spcPts val="600"/>
                </a:spcAft>
              </a:pP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spcAft>
                  <a:spcPts val="600"/>
                </a:spcAft>
              </a:pPr>
              <a:endParaRPr lang="en-US" altLang="zh-CN" sz="12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spcAft>
                  <a:spcPts val="600"/>
                </a:spcAft>
              </a:pPr>
              <a:r>
                <a:rPr lang="zh-CN" altLang="en-US" sz="1000" b="1" dirty="0" smtClean="0">
                  <a:latin typeface="微软雅黑" panose="020B0503020204020204" pitchFamily="34" charset="-122"/>
                  <a:ea typeface="微软雅黑" panose="020B0503020204020204" pitchFamily="34" charset="-122"/>
                </a:rPr>
                <a:t>拓</a:t>
              </a:r>
              <a:r>
                <a:rPr lang="zh-CN" altLang="en-US" sz="1000" b="1" dirty="0">
                  <a:latin typeface="微软雅黑" panose="020B0503020204020204" pitchFamily="34" charset="-122"/>
                  <a:ea typeface="微软雅黑" panose="020B0503020204020204" pitchFamily="34" charset="-122"/>
                </a:rPr>
                <a:t>展院外使用场景，形成服务闭</a:t>
              </a:r>
              <a:r>
                <a:rPr lang="zh-CN" altLang="en-US" sz="1000" b="1" dirty="0" smtClean="0">
                  <a:latin typeface="微软雅黑" panose="020B0503020204020204" pitchFamily="34" charset="-122"/>
                  <a:ea typeface="微软雅黑" panose="020B0503020204020204" pitchFamily="34" charset="-122"/>
                </a:rPr>
                <a:t>环</a:t>
              </a:r>
              <a:endParaRPr lang="en-US" altLang="zh-CN" sz="1000" b="1" dirty="0" smtClean="0">
                <a:latin typeface="微软雅黑" panose="020B0503020204020204" pitchFamily="34" charset="-122"/>
                <a:ea typeface="微软雅黑" panose="020B0503020204020204" pitchFamily="34" charset="-122"/>
              </a:endParaRPr>
            </a:p>
            <a:p>
              <a:pPr>
                <a:lnSpc>
                  <a:spcPct val="150000"/>
                </a:lnSpc>
              </a:pPr>
              <a:r>
                <a:rPr lang="zh-CN" altLang="en-US" sz="900" dirty="0" smtClean="0">
                  <a:latin typeface="微软雅黑" panose="020B0503020204020204" pitchFamily="34" charset="-122"/>
                  <a:ea typeface="微软雅黑" panose="020B0503020204020204" pitchFamily="34" charset="-122"/>
                </a:rPr>
                <a:t>使用</a:t>
              </a:r>
              <a:r>
                <a:rPr lang="zh-CN" altLang="en-US" sz="900" dirty="0">
                  <a:latin typeface="微软雅黑" panose="020B0503020204020204" pitchFamily="34" charset="-122"/>
                  <a:ea typeface="微软雅黑" panose="020B0503020204020204" pitchFamily="34" charset="-122"/>
                </a:rPr>
                <a:t>本平台及好络维的医疗级便携设备、医疗级可穿戴设备，可将心电诊断和监护服务扩展到院外，从而形成院前</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院中</a:t>
              </a:r>
              <a:r>
                <a:rPr lang="en-US" altLang="zh-CN" sz="900" dirty="0">
                  <a:latin typeface="微软雅黑" panose="020B0503020204020204" pitchFamily="34" charset="-122"/>
                  <a:ea typeface="微软雅黑" panose="020B0503020204020204" pitchFamily="34" charset="-122"/>
                </a:rPr>
                <a:t>-</a:t>
              </a:r>
              <a:r>
                <a:rPr lang="zh-CN" altLang="en-US" sz="900" dirty="0">
                  <a:latin typeface="微软雅黑" panose="020B0503020204020204" pitchFamily="34" charset="-122"/>
                  <a:ea typeface="微软雅黑" panose="020B0503020204020204" pitchFamily="34" charset="-122"/>
                </a:rPr>
                <a:t>院后完整的服务闭环。</a:t>
              </a:r>
            </a:p>
            <a:p>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7" name="矩形 116"/>
            <p:cNvSpPr/>
            <p:nvPr/>
          </p:nvSpPr>
          <p:spPr>
            <a:xfrm>
              <a:off x="4670844" y="2895080"/>
              <a:ext cx="2121981" cy="1908918"/>
            </a:xfrm>
            <a:prstGeom prst="rect">
              <a:avLst/>
            </a:prstGeom>
            <a:ln w="3175"/>
          </p:spPr>
          <p:style>
            <a:lnRef idx="2">
              <a:schemeClr val="accent1"/>
            </a:lnRef>
            <a:fillRef idx="1">
              <a:schemeClr val="lt1"/>
            </a:fillRef>
            <a:effectRef idx="0">
              <a:schemeClr val="accent1"/>
            </a:effectRef>
            <a:fontRef idx="minor">
              <a:schemeClr val="dk1"/>
            </a:fontRef>
          </p:style>
          <p:txBody>
            <a:bodyPr rtlCol="0" anchor="t"/>
            <a:lstStyle/>
            <a:p>
              <a:pPr algn="ctr">
                <a:spcAft>
                  <a:spcPts val="600"/>
                </a:spcAft>
              </a:pPr>
              <a:r>
                <a:rPr lang="zh-CN" altLang="en-US" sz="1200" b="1" dirty="0">
                  <a:latin typeface="微软雅黑" panose="020B0503020204020204" pitchFamily="34" charset="-122"/>
                  <a:ea typeface="微软雅黑" panose="020B0503020204020204" pitchFamily="34" charset="-122"/>
                </a:rPr>
                <a:t>移动应</a:t>
              </a:r>
              <a:r>
                <a:rPr lang="zh-CN" altLang="en-US" sz="1200" b="1" dirty="0" smtClean="0">
                  <a:latin typeface="微软雅黑" panose="020B0503020204020204" pitchFamily="34" charset="-122"/>
                  <a:ea typeface="微软雅黑" panose="020B0503020204020204" pitchFamily="34" charset="-122"/>
                </a:rPr>
                <a:t>用</a:t>
              </a:r>
              <a:endParaRPr lang="en-US" altLang="zh-CN" sz="1200" b="1" dirty="0" smtClean="0">
                <a:latin typeface="微软雅黑" panose="020B0503020204020204" pitchFamily="34" charset="-122"/>
                <a:ea typeface="微软雅黑" panose="020B0503020204020204" pitchFamily="34" charset="-122"/>
              </a:endParaRPr>
            </a:p>
            <a:p>
              <a:pPr algn="ctr">
                <a:spcAft>
                  <a:spcPts val="600"/>
                </a:spcAft>
              </a:pPr>
              <a:endParaRPr lang="en-US" altLang="zh-CN" sz="1200" b="1" dirty="0">
                <a:latin typeface="微软雅黑" panose="020B0503020204020204" pitchFamily="34" charset="-122"/>
                <a:ea typeface="微软雅黑" panose="020B0503020204020204" pitchFamily="34" charset="-122"/>
              </a:endParaRPr>
            </a:p>
            <a:p>
              <a:pPr algn="ctr">
                <a:spcAft>
                  <a:spcPts val="600"/>
                </a:spcAft>
              </a:pPr>
              <a:endParaRPr lang="en-US" altLang="zh-CN" sz="1200" b="1" dirty="0" smtClean="0">
                <a:latin typeface="微软雅黑" panose="020B0503020204020204" pitchFamily="34" charset="-122"/>
                <a:ea typeface="微软雅黑" panose="020B0503020204020204" pitchFamily="34" charset="-122"/>
              </a:endParaRPr>
            </a:p>
            <a:p>
              <a:pPr algn="ctr">
                <a:spcAft>
                  <a:spcPts val="600"/>
                </a:spcAft>
              </a:pPr>
              <a:r>
                <a:rPr lang="zh-CN" altLang="en-US" sz="1000" b="1" dirty="0" smtClean="0">
                  <a:latin typeface="微软雅黑" panose="020B0503020204020204" pitchFamily="34" charset="-122"/>
                  <a:ea typeface="微软雅黑" panose="020B0503020204020204" pitchFamily="34" charset="-122"/>
                </a:rPr>
                <a:t>拓</a:t>
              </a:r>
              <a:r>
                <a:rPr lang="zh-CN" altLang="en-US" sz="1000" b="1" dirty="0">
                  <a:latin typeface="微软雅黑" panose="020B0503020204020204" pitchFamily="34" charset="-122"/>
                  <a:ea typeface="微软雅黑" panose="020B0503020204020204" pitchFamily="34" charset="-122"/>
                </a:rPr>
                <a:t>展移动工作场</a:t>
              </a:r>
              <a:r>
                <a:rPr lang="zh-CN" altLang="en-US" sz="1000" b="1" dirty="0" smtClean="0">
                  <a:latin typeface="微软雅黑" panose="020B0503020204020204" pitchFamily="34" charset="-122"/>
                  <a:ea typeface="微软雅黑" panose="020B0503020204020204" pitchFamily="34" charset="-122"/>
                </a:rPr>
                <a:t>景</a:t>
              </a:r>
              <a:endParaRPr lang="en-US" altLang="zh-CN" sz="1000" b="1" dirty="0" smtClean="0">
                <a:latin typeface="微软雅黑" panose="020B0503020204020204" pitchFamily="34" charset="-122"/>
                <a:ea typeface="微软雅黑" panose="020B0503020204020204" pitchFamily="34" charset="-122"/>
              </a:endParaRPr>
            </a:p>
            <a:p>
              <a:pPr algn="ctr">
                <a:lnSpc>
                  <a:spcPct val="150000"/>
                </a:lnSpc>
                <a:spcAft>
                  <a:spcPts val="600"/>
                </a:spcAft>
              </a:pPr>
              <a:r>
                <a:rPr lang="zh-CN" altLang="en-US" sz="900" dirty="0" smtClean="0">
                  <a:latin typeface="微软雅黑" panose="020B0503020204020204" pitchFamily="34" charset="-122"/>
                  <a:ea typeface="微软雅黑" panose="020B0503020204020204" pitchFamily="34" charset="-122"/>
                </a:rPr>
                <a:t>创建医生移动应用</a:t>
              </a:r>
              <a:r>
                <a:rPr lang="en-US" altLang="zh-CN" sz="900" dirty="0" smtClean="0">
                  <a:latin typeface="微软雅黑" panose="020B0503020204020204" pitchFamily="34" charset="-122"/>
                  <a:ea typeface="微软雅黑" panose="020B0503020204020204" pitchFamily="34" charset="-122"/>
                </a:rPr>
                <a:t>APP</a:t>
              </a:r>
              <a:r>
                <a:rPr lang="zh-CN" altLang="en-US" sz="900" dirty="0" smtClean="0">
                  <a:latin typeface="微软雅黑" panose="020B0503020204020204" pitchFamily="34" charset="-122"/>
                  <a:ea typeface="微软雅黑" panose="020B0503020204020204" pitchFamily="34" charset="-122"/>
                </a:rPr>
                <a:t>，拓展应用场景，医生在移动场景下也可以及时分析和审核心电数据，出具心电报告。</a:t>
              </a:r>
              <a:endParaRPr lang="zh-CN" altLang="en-US" sz="900" dirty="0">
                <a:latin typeface="微软雅黑" panose="020B0503020204020204" pitchFamily="34" charset="-122"/>
                <a:ea typeface="微软雅黑" panose="020B0503020204020204" pitchFamily="34" charset="-122"/>
              </a:endParaRPr>
            </a:p>
          </p:txBody>
        </p:sp>
        <p:sp>
          <p:nvSpPr>
            <p:cNvPr id="118" name="矩形 117"/>
            <p:cNvSpPr/>
            <p:nvPr/>
          </p:nvSpPr>
          <p:spPr>
            <a:xfrm>
              <a:off x="6842913" y="2873531"/>
              <a:ext cx="2145189" cy="1908918"/>
            </a:xfrm>
            <a:prstGeom prst="rect">
              <a:avLst/>
            </a:prstGeom>
            <a:ln w="3175"/>
          </p:spPr>
          <p:style>
            <a:lnRef idx="2">
              <a:schemeClr val="accent1"/>
            </a:lnRef>
            <a:fillRef idx="1">
              <a:schemeClr val="lt1"/>
            </a:fillRef>
            <a:effectRef idx="0">
              <a:schemeClr val="accent1"/>
            </a:effectRef>
            <a:fontRef idx="minor">
              <a:schemeClr val="dk1"/>
            </a:fontRef>
          </p:style>
          <p:txBody>
            <a:bodyPr rtlCol="0" anchor="t"/>
            <a:lstStyle/>
            <a:p>
              <a:pPr algn="ctr">
                <a:lnSpc>
                  <a:spcPct val="150000"/>
                </a:lnSpc>
              </a:pPr>
              <a:r>
                <a:rPr lang="zh-CN" altLang="en-US" sz="1200" b="1" dirty="0" smtClean="0">
                  <a:latin typeface="微软雅黑" panose="020B0503020204020204" pitchFamily="34" charset="-122"/>
                  <a:ea typeface="微软雅黑" panose="020B0503020204020204" pitchFamily="34" charset="-122"/>
                </a:rPr>
                <a:t>接口</a:t>
              </a:r>
              <a:endParaRPr lang="en-US" altLang="zh-CN" sz="1200" b="1" dirty="0" smtClean="0">
                <a:latin typeface="微软雅黑" panose="020B0503020204020204" pitchFamily="34" charset="-122"/>
                <a:ea typeface="微软雅黑" panose="020B0503020204020204" pitchFamily="34" charset="-122"/>
              </a:endParaRPr>
            </a:p>
            <a:p>
              <a:pPr algn="ctr">
                <a:lnSpc>
                  <a:spcPct val="150000"/>
                </a:lnSpc>
              </a:pPr>
              <a:endParaRPr lang="en-US" altLang="zh-CN" sz="1000" dirty="0" smtClean="0">
                <a:latin typeface="微软雅黑" panose="020B0503020204020204" pitchFamily="34" charset="-122"/>
                <a:ea typeface="微软雅黑" panose="020B0503020204020204" pitchFamily="34" charset="-122"/>
              </a:endParaRPr>
            </a:p>
            <a:p>
              <a:pPr algn="ctr">
                <a:lnSpc>
                  <a:spcPct val="150000"/>
                </a:lnSpc>
              </a:pPr>
              <a:endParaRPr lang="en-US" altLang="zh-CN" sz="1000" dirty="0">
                <a:latin typeface="微软雅黑" panose="020B0503020204020204" pitchFamily="34" charset="-122"/>
                <a:ea typeface="微软雅黑" panose="020B0503020204020204" pitchFamily="34" charset="-122"/>
              </a:endParaRPr>
            </a:p>
            <a:p>
              <a:pPr algn="ctr">
                <a:spcAft>
                  <a:spcPts val="600"/>
                </a:spcAft>
              </a:pPr>
              <a:r>
                <a:rPr lang="zh-CN" altLang="en-US" sz="1000" b="1" dirty="0" smtClean="0">
                  <a:latin typeface="微软雅黑" panose="020B0503020204020204" pitchFamily="34" charset="-122"/>
                  <a:ea typeface="微软雅黑" panose="020B0503020204020204" pitchFamily="34" charset="-122"/>
                </a:rPr>
                <a:t>开</a:t>
              </a:r>
              <a:r>
                <a:rPr lang="zh-CN" altLang="en-US" sz="1000" b="1" dirty="0">
                  <a:latin typeface="微软雅黑" panose="020B0503020204020204" pitchFamily="34" charset="-122"/>
                  <a:ea typeface="微软雅黑" panose="020B0503020204020204" pitchFamily="34" charset="-122"/>
                </a:rPr>
                <a:t>放、兼</a:t>
              </a:r>
              <a:r>
                <a:rPr lang="zh-CN" altLang="en-US" sz="1000" b="1" dirty="0" smtClean="0">
                  <a:latin typeface="微软雅黑" panose="020B0503020204020204" pitchFamily="34" charset="-122"/>
                  <a:ea typeface="微软雅黑" panose="020B0503020204020204" pitchFamily="34" charset="-122"/>
                </a:rPr>
                <a:t>容</a:t>
              </a:r>
              <a:endParaRPr lang="en-US" altLang="zh-CN" sz="900" b="1" dirty="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900" dirty="0" smtClean="0">
                  <a:latin typeface="微软雅黑" panose="020B0503020204020204" pitchFamily="34" charset="-122"/>
                  <a:ea typeface="微软雅黑" panose="020B0503020204020204" pitchFamily="34" charset="-122"/>
                </a:rPr>
                <a:t>对</a:t>
              </a:r>
              <a:r>
                <a:rPr lang="zh-CN" altLang="en-US" sz="900" dirty="0">
                  <a:latin typeface="微软雅黑" panose="020B0503020204020204" pitchFamily="34" charset="-122"/>
                  <a:ea typeface="微软雅黑" panose="020B0503020204020204" pitchFamily="34" charset="-122"/>
                </a:rPr>
                <a:t>接院内信息系统</a:t>
              </a:r>
            </a:p>
            <a:p>
              <a:pPr marL="171450" indent="-17145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兼容院内老设备</a:t>
              </a:r>
              <a:r>
                <a:rPr lang="zh-CN" altLang="en-US" sz="900" dirty="0" smtClean="0">
                  <a:latin typeface="微软雅黑" panose="020B0503020204020204" pitchFamily="34" charset="-122"/>
                  <a:ea typeface="微软雅黑" panose="020B0503020204020204" pitchFamily="34" charset="-122"/>
                </a:rPr>
                <a:t>，盘</a:t>
              </a:r>
              <a:r>
                <a:rPr lang="zh-CN" altLang="en-US" sz="900" dirty="0">
                  <a:latin typeface="微软雅黑" panose="020B0503020204020204" pitchFamily="34" charset="-122"/>
                  <a:ea typeface="微软雅黑" panose="020B0503020204020204" pitchFamily="34" charset="-122"/>
                </a:rPr>
                <a:t>活院内资产</a:t>
              </a:r>
              <a:endParaRPr lang="en-US" altLang="zh-CN" sz="900" dirty="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对接现有心电网络</a:t>
              </a:r>
              <a:endParaRPr lang="en-US" altLang="zh-CN" sz="900" dirty="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支持上下级医院数据、业务对接</a:t>
              </a:r>
              <a:endParaRPr lang="en-US" altLang="zh-CN" sz="900" dirty="0">
                <a:latin typeface="微软雅黑" panose="020B0503020204020204" pitchFamily="34" charset="-122"/>
                <a:ea typeface="微软雅黑" panose="020B0503020204020204" pitchFamily="34" charset="-122"/>
              </a:endParaRPr>
            </a:p>
            <a:p>
              <a:pPr algn="ctr"/>
              <a:endParaRPr lang="zh-CN" altLang="en-US" sz="1000"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1132773" y="3219822"/>
              <a:ext cx="441587" cy="441587"/>
            </a:xfrm>
            <a:prstGeom prst="rect">
              <a:avLst/>
            </a:prstGeom>
          </p:spPr>
        </p:pic>
        <p:pic>
          <p:nvPicPr>
            <p:cNvPr id="21" name="图片 20"/>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3229917" y="3140956"/>
              <a:ext cx="599317" cy="599317"/>
            </a:xfrm>
            <a:prstGeom prst="rect">
              <a:avLst/>
            </a:prstGeom>
          </p:spPr>
        </p:pic>
        <p:pic>
          <p:nvPicPr>
            <p:cNvPr id="22" name="图片 21"/>
            <p:cNvPicPr>
              <a:picLocks noChangeAspect="1"/>
            </p:cNvPicPr>
            <p:nvPr/>
          </p:nvPicPr>
          <p:blipFill>
            <a:blip r:embed="rId8" cstate="print">
              <a:extLst>
                <a:ext uri="{28A0092B-C50C-407E-A947-70E740481C1C}">
                  <a14:useLocalDpi xmlns="" xmlns:a14="http://schemas.microsoft.com/office/drawing/2010/main" val="0"/>
                </a:ext>
              </a:extLst>
            </a:blip>
            <a:stretch>
              <a:fillRect/>
            </a:stretch>
          </p:blipFill>
          <p:spPr>
            <a:xfrm>
              <a:off x="5560267" y="3219822"/>
              <a:ext cx="367762" cy="367762"/>
            </a:xfrm>
            <a:prstGeom prst="rect">
              <a:avLst/>
            </a:prstGeom>
          </p:spPr>
        </p:pic>
        <p:pic>
          <p:nvPicPr>
            <p:cNvPr id="23" name="图片 22"/>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7682248" y="3182578"/>
              <a:ext cx="418144" cy="418144"/>
            </a:xfrm>
            <a:prstGeom prst="rect">
              <a:avLst/>
            </a:prstGeom>
          </p:spPr>
        </p:pic>
      </p:grpSp>
    </p:spTree>
    <p:extLst>
      <p:ext uri="{BB962C8B-B14F-4D97-AF65-F5344CB8AC3E}">
        <p14:creationId xmlns="" xmlns:p14="http://schemas.microsoft.com/office/powerpoint/2010/main" val="21342229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512119" y="1955394"/>
            <a:ext cx="1826141" cy="584775"/>
          </a:xfrm>
          <a:prstGeom prst="rect">
            <a:avLst/>
          </a:prstGeom>
          <a:noFill/>
        </p:spPr>
        <p:txBody>
          <a:bodyPr wrap="none" rtlCol="0">
            <a:spAutoFit/>
          </a:bodyPr>
          <a:lstStyle/>
          <a:p>
            <a:r>
              <a:rPr lang="zh-CN" altLang="en-US" sz="3200" b="1" dirty="0" smtClean="0">
                <a:solidFill>
                  <a:srgbClr val="196494"/>
                </a:solidFill>
                <a:latin typeface="微软雅黑" panose="020B0503020204020204" pitchFamily="34" charset="-122"/>
                <a:ea typeface="微软雅黑" panose="020B0503020204020204" pitchFamily="34" charset="-122"/>
              </a:rPr>
              <a:t>解决方案</a:t>
            </a:r>
            <a:endParaRPr lang="zh-CN" altLang="en-US" sz="3200" b="1" dirty="0">
              <a:solidFill>
                <a:srgbClr val="196494"/>
              </a:solidFill>
              <a:latin typeface="微软雅黑" panose="020B0503020204020204" pitchFamily="34" charset="-122"/>
              <a:ea typeface="微软雅黑" panose="020B0503020204020204" pitchFamily="34" charset="-122"/>
            </a:endParaRPr>
          </a:p>
        </p:txBody>
      </p:sp>
      <p:sp>
        <p:nvSpPr>
          <p:cNvPr id="9" name="TextBox 8"/>
          <p:cNvSpPr txBox="1"/>
          <p:nvPr/>
        </p:nvSpPr>
        <p:spPr>
          <a:xfrm>
            <a:off x="1619672" y="1851670"/>
            <a:ext cx="4040530" cy="1200329"/>
          </a:xfrm>
          <a:prstGeom prst="rect">
            <a:avLst/>
          </a:prstGeom>
          <a:noFill/>
        </p:spPr>
        <p:txBody>
          <a:bodyPr wrap="none" rtlCol="0">
            <a:spAutoFit/>
          </a:bodyPr>
          <a:lstStyle>
            <a:defPPr>
              <a:defRPr lang="zh-CN"/>
            </a:defPPr>
            <a:lvl1pPr>
              <a:defRPr sz="7200" b="1">
                <a:solidFill>
                  <a:srgbClr val="1F71A6"/>
                </a:solidFill>
                <a:latin typeface="微软雅黑" panose="020B0503020204020204" pitchFamily="34" charset="-122"/>
                <a:ea typeface="微软雅黑" panose="020B0503020204020204" pitchFamily="34" charset="-122"/>
              </a:defRPr>
            </a:lvl1pPr>
          </a:lstStyle>
          <a:p>
            <a:r>
              <a:rPr lang="en-US" altLang="zh-CN" dirty="0"/>
              <a:t>PART 02</a:t>
            </a:r>
            <a:endParaRPr lang="zh-CN" altLang="en-US" dirty="0"/>
          </a:p>
        </p:txBody>
      </p:sp>
    </p:spTree>
    <p:extLst>
      <p:ext uri="{BB962C8B-B14F-4D97-AF65-F5344CB8AC3E}">
        <p14:creationId xmlns="" xmlns:p14="http://schemas.microsoft.com/office/powerpoint/2010/main" val="4512231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r>
              <a:rPr lang="zh-CN" altLang="en-US" dirty="0" smtClean="0"/>
              <a:t>配置清单</a:t>
            </a:r>
            <a:endParaRPr lang="zh-CN" altLang="en-US" dirty="0"/>
          </a:p>
        </p:txBody>
      </p:sp>
      <p:graphicFrame>
        <p:nvGraphicFramePr>
          <p:cNvPr id="32" name="表格 31"/>
          <p:cNvGraphicFramePr>
            <a:graphicFrameLocks noGrp="1"/>
          </p:cNvGraphicFramePr>
          <p:nvPr>
            <p:extLst>
              <p:ext uri="{D42A27DB-BD31-4B8C-83A1-F6EECF244321}">
                <p14:modId xmlns="" xmlns:p14="http://schemas.microsoft.com/office/powerpoint/2010/main" val="423854990"/>
              </p:ext>
            </p:extLst>
          </p:nvPr>
        </p:nvGraphicFramePr>
        <p:xfrm>
          <a:off x="467544" y="931161"/>
          <a:ext cx="8208913" cy="3512797"/>
        </p:xfrm>
        <a:graphic>
          <a:graphicData uri="http://schemas.openxmlformats.org/drawingml/2006/table">
            <a:tbl>
              <a:tblPr firstRow="1" bandRow="1">
                <a:tableStyleId>{5C22544A-7EE6-4342-B048-85BDC9FD1C3A}</a:tableStyleId>
              </a:tblPr>
              <a:tblGrid>
                <a:gridCol w="796387">
                  <a:extLst>
                    <a:ext uri="{9D8B030D-6E8A-4147-A177-3AD203B41FA5}">
                      <a16:colId xmlns="" xmlns:a16="http://schemas.microsoft.com/office/drawing/2014/main" val="20000"/>
                    </a:ext>
                  </a:extLst>
                </a:gridCol>
                <a:gridCol w="1147829">
                  <a:extLst>
                    <a:ext uri="{9D8B030D-6E8A-4147-A177-3AD203B41FA5}">
                      <a16:colId xmlns="" xmlns:a16="http://schemas.microsoft.com/office/drawing/2014/main" val="1509628052"/>
                    </a:ext>
                  </a:extLst>
                </a:gridCol>
                <a:gridCol w="792088">
                  <a:extLst>
                    <a:ext uri="{9D8B030D-6E8A-4147-A177-3AD203B41FA5}">
                      <a16:colId xmlns="" xmlns:a16="http://schemas.microsoft.com/office/drawing/2014/main" val="20001"/>
                    </a:ext>
                  </a:extLst>
                </a:gridCol>
                <a:gridCol w="792088">
                  <a:extLst>
                    <a:ext uri="{9D8B030D-6E8A-4147-A177-3AD203B41FA5}">
                      <a16:colId xmlns="" xmlns:a16="http://schemas.microsoft.com/office/drawing/2014/main" val="20002"/>
                    </a:ext>
                  </a:extLst>
                </a:gridCol>
                <a:gridCol w="864096">
                  <a:extLst>
                    <a:ext uri="{9D8B030D-6E8A-4147-A177-3AD203B41FA5}">
                      <a16:colId xmlns="" xmlns:a16="http://schemas.microsoft.com/office/drawing/2014/main" val="20003"/>
                    </a:ext>
                  </a:extLst>
                </a:gridCol>
                <a:gridCol w="1008112">
                  <a:extLst>
                    <a:ext uri="{9D8B030D-6E8A-4147-A177-3AD203B41FA5}">
                      <a16:colId xmlns="" xmlns:a16="http://schemas.microsoft.com/office/drawing/2014/main" val="20005"/>
                    </a:ext>
                  </a:extLst>
                </a:gridCol>
                <a:gridCol w="1800200"/>
                <a:gridCol w="1008113">
                  <a:extLst>
                    <a:ext uri="{9D8B030D-6E8A-4147-A177-3AD203B41FA5}">
                      <a16:colId xmlns="" xmlns:a16="http://schemas.microsoft.com/office/drawing/2014/main" val="20006"/>
                    </a:ext>
                  </a:extLst>
                </a:gridCol>
              </a:tblGrid>
              <a:tr h="216024">
                <a:tc>
                  <a:txBody>
                    <a:bodyPr/>
                    <a:lstStyle/>
                    <a:p>
                      <a:pPr algn="ctr"/>
                      <a:r>
                        <a:rPr lang="zh-CN" altLang="en-US" sz="900" dirty="0">
                          <a:latin typeface="微软雅黑" panose="020B0503020204020204" pitchFamily="34" charset="-122"/>
                          <a:ea typeface="微软雅黑" panose="020B0503020204020204" pitchFamily="34" charset="-122"/>
                        </a:rPr>
                        <a:t>产品</a:t>
                      </a:r>
                    </a:p>
                  </a:txBody>
                  <a:tcPr anchor="ctr"/>
                </a:tc>
                <a:tc>
                  <a:txBody>
                    <a:bodyPr/>
                    <a:lstStyle/>
                    <a:p>
                      <a:pPr algn="ctr"/>
                      <a:r>
                        <a:rPr lang="zh-CN" altLang="en-US" sz="900" dirty="0" smtClean="0">
                          <a:latin typeface="微软雅黑" panose="020B0503020204020204" pitchFamily="34" charset="-122"/>
                          <a:ea typeface="微软雅黑" panose="020B0503020204020204" pitchFamily="34" charset="-122"/>
                        </a:rPr>
                        <a:t>产品</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900" dirty="0">
                          <a:latin typeface="微软雅黑" panose="020B0503020204020204" pitchFamily="34" charset="-122"/>
                          <a:ea typeface="微软雅黑" panose="020B0503020204020204" pitchFamily="34" charset="-122"/>
                        </a:rPr>
                        <a:t>图片</a:t>
                      </a:r>
                    </a:p>
                  </a:txBody>
                  <a:tcPr anchor="ctr"/>
                </a:tc>
                <a:tc>
                  <a:txBody>
                    <a:bodyPr/>
                    <a:lstStyle/>
                    <a:p>
                      <a:pPr algn="ctr"/>
                      <a:r>
                        <a:rPr lang="zh-CN" altLang="en-US" sz="900" dirty="0" smtClean="0">
                          <a:latin typeface="微软雅黑" panose="020B0503020204020204" pitchFamily="34" charset="-122"/>
                          <a:ea typeface="微软雅黑" panose="020B0503020204020204" pitchFamily="34" charset="-122"/>
                        </a:rPr>
                        <a:t>终端价</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900" dirty="0">
                          <a:latin typeface="微软雅黑" panose="020B0503020204020204" pitchFamily="34" charset="-122"/>
                          <a:ea typeface="微软雅黑" panose="020B0503020204020204" pitchFamily="34" charset="-122"/>
                        </a:rPr>
                        <a:t>监测指标</a:t>
                      </a:r>
                    </a:p>
                  </a:txBody>
                  <a:tcPr anchor="ctr"/>
                </a:tc>
                <a:tc>
                  <a:txBody>
                    <a:bodyPr/>
                    <a:lstStyle/>
                    <a:p>
                      <a:pPr algn="ctr"/>
                      <a:r>
                        <a:rPr lang="zh-CN" altLang="en-US" sz="900" dirty="0">
                          <a:latin typeface="微软雅黑" panose="020B0503020204020204" pitchFamily="34" charset="-122"/>
                          <a:ea typeface="微软雅黑" panose="020B0503020204020204" pitchFamily="34" charset="-122"/>
                        </a:rPr>
                        <a:t>用途</a:t>
                      </a:r>
                    </a:p>
                  </a:txBody>
                  <a:tcPr anchor="ctr"/>
                </a:tc>
                <a:tc>
                  <a:txBody>
                    <a:bodyPr/>
                    <a:lstStyle/>
                    <a:p>
                      <a:pPr algn="ctr"/>
                      <a:r>
                        <a:rPr lang="zh-CN" altLang="en-US" sz="900" dirty="0" smtClean="0">
                          <a:latin typeface="微软雅黑" panose="020B0503020204020204" pitchFamily="34" charset="-122"/>
                          <a:ea typeface="微软雅黑" panose="020B0503020204020204" pitchFamily="34" charset="-122"/>
                        </a:rPr>
                        <a:t>医保收费项</a:t>
                      </a:r>
                      <a:endParaRPr lang="zh-CN" altLang="en-US" sz="9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900" dirty="0">
                          <a:latin typeface="微软雅黑" panose="020B0503020204020204" pitchFamily="34" charset="-122"/>
                          <a:ea typeface="微软雅黑" panose="020B0503020204020204" pitchFamily="34" charset="-122"/>
                        </a:rPr>
                        <a:t>放置地点</a:t>
                      </a:r>
                    </a:p>
                  </a:txBody>
                  <a:tcPr anchor="ctr"/>
                </a:tc>
                <a:extLst>
                  <a:ext uri="{0D108BD9-81ED-4DB2-BD59-A6C34878D82A}">
                    <a16:rowId xmlns="" xmlns:a16="http://schemas.microsoft.com/office/drawing/2014/main" val="10000"/>
                  </a:ext>
                </a:extLst>
              </a:tr>
              <a:tr h="623018">
                <a:tc rowSpan="2">
                  <a:txBody>
                    <a:bodyPr/>
                    <a:lstStyle/>
                    <a:p>
                      <a:pPr algn="ctr"/>
                      <a:r>
                        <a:rPr lang="zh-CN" altLang="en-US" sz="900" b="1"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硬件设备</a:t>
                      </a:r>
                      <a:endParaRPr lang="zh-CN" altLang="en-US" sz="900" b="1"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algn="ctr">
                        <a:lnSpc>
                          <a:spcPct val="130000"/>
                        </a:lnSpc>
                      </a:pPr>
                      <a:r>
                        <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rPr>
                        <a:t>TE-5000Y-A</a:t>
                      </a: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型</a:t>
                      </a:r>
                      <a:endPar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心电图机</a:t>
                      </a:r>
                      <a:endPar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08000"/>
                        </a:lnSpc>
                      </a:pPr>
                      <a:r>
                        <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rPr>
                        <a:t>1.5W</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8000"/>
                        </a:lnSpc>
                        <a:spcBef>
                          <a:spcPts val="0"/>
                        </a:spcBef>
                        <a:spcAft>
                          <a:spcPts val="0"/>
                        </a:spcAft>
                        <a:buClrTx/>
                        <a:buSzTx/>
                        <a:buFont typeface="Arial" panose="020B0604020202020204" pitchFamily="34" charset="0"/>
                        <a:buNone/>
                        <a:defRPr/>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常规十二导心电，异步</a:t>
                      </a:r>
                      <a:r>
                        <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rPr>
                        <a:t>18</a:t>
                      </a: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导心电</a:t>
                      </a:r>
                    </a:p>
                  </a:txBody>
                  <a:tcPr anchor="ctr"/>
                </a:tc>
                <a:tc>
                  <a:txBody>
                    <a:bodyPr/>
                    <a:lstStyle/>
                    <a:p>
                      <a:pPr marL="0" indent="0" algn="l">
                        <a:lnSpc>
                          <a:spcPct val="108000"/>
                        </a:lnSpc>
                        <a:buFont typeface="Arial" panose="020B0604020202020204" pitchFamily="34" charset="0"/>
                        <a:buNone/>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基层常规十二导心电筛查</a:t>
                      </a:r>
                    </a:p>
                  </a:txBody>
                  <a:tcPr anchor="ctr"/>
                </a:tc>
                <a:tc>
                  <a:txBody>
                    <a:bodyPr/>
                    <a:lstStyle/>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tabLst/>
                        <a:defRPr/>
                      </a:pP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常规心电图检查：</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20</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元</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次</a:t>
                      </a:r>
                      <a:endParaRPr lang="zh-CN" altLang="en-US" sz="800"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defRPr/>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乡镇卫生院</a:t>
                      </a:r>
                      <a:endPar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defRPr/>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社区卫生服务中心</a:t>
                      </a:r>
                      <a:endPar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defRPr/>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卫生室</a:t>
                      </a:r>
                    </a:p>
                  </a:txBody>
                  <a:tcPr anchor="ctr"/>
                </a:tc>
                <a:extLst>
                  <a:ext uri="{0D108BD9-81ED-4DB2-BD59-A6C34878D82A}">
                    <a16:rowId xmlns="" xmlns:a16="http://schemas.microsoft.com/office/drawing/2014/main" val="10003"/>
                  </a:ext>
                </a:extLst>
              </a:tr>
              <a:tr h="623018">
                <a:tc vMerge="1">
                  <a:txBody>
                    <a:bodyPr/>
                    <a:lstStyle/>
                    <a:p>
                      <a:pPr algn="ctr"/>
                      <a:endParaRPr lang="zh-CN" altLang="en-US" sz="900" b="1"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algn="ctr">
                        <a:lnSpc>
                          <a:spcPct val="130000"/>
                        </a:lnSpc>
                      </a:pPr>
                      <a:r>
                        <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rPr>
                        <a:t>TE-8000Y-F</a:t>
                      </a: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型</a:t>
                      </a:r>
                      <a:endPar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9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无线多参数监测仪</a:t>
                      </a:r>
                      <a:endParaRPr lang="en-US" altLang="zh-CN" sz="9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algn="ct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08000"/>
                        </a:lnSpc>
                      </a:pPr>
                      <a:r>
                        <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rPr>
                        <a:t>3W</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08000"/>
                        </a:lnSpc>
                        <a:spcBef>
                          <a:spcPts val="0"/>
                        </a:spcBef>
                        <a:spcAft>
                          <a:spcPts val="0"/>
                        </a:spcAft>
                        <a:buClrTx/>
                        <a:buSzTx/>
                        <a:buFont typeface="Arial" panose="020B0604020202020204" pitchFamily="34" charset="0"/>
                        <a:buNone/>
                        <a:defRPr/>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多参数实时远程集中监护</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171450" indent="-171450" algn="l">
                        <a:lnSpc>
                          <a:spcPct val="108000"/>
                        </a:lnSpc>
                        <a:buFont typeface="Arial" panose="020B0604020202020204" pitchFamily="34" charset="0"/>
                        <a:buNone/>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远程中央监护</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defRPr/>
                      </a:pPr>
                      <a:r>
                        <a:rPr lang="zh-CN" altLang="en-US" sz="800" dirty="0" smtClean="0">
                          <a:solidFill>
                            <a:schemeClr val="tx1">
                              <a:lumMod val="85000"/>
                              <a:lumOff val="15000"/>
                            </a:schemeClr>
                          </a:solidFill>
                          <a:latin typeface="微软雅黑" panose="020B0503020204020204" pitchFamily="34" charset="-122"/>
                          <a:ea typeface="微软雅黑" panose="020B0503020204020204" pitchFamily="34" charset="-122"/>
                        </a:rPr>
                        <a:t>心电监测：</a:t>
                      </a:r>
                      <a:r>
                        <a:rPr lang="en-US" altLang="zh-CN" sz="800" dirty="0" smtClean="0">
                          <a:solidFill>
                            <a:schemeClr val="tx1">
                              <a:lumMod val="85000"/>
                              <a:lumOff val="15000"/>
                            </a:schemeClr>
                          </a:solidFill>
                          <a:latin typeface="微软雅黑" panose="020B0503020204020204" pitchFamily="34" charset="-122"/>
                          <a:ea typeface="微软雅黑" panose="020B0503020204020204" pitchFamily="34" charset="-122"/>
                        </a:rPr>
                        <a:t>4</a:t>
                      </a:r>
                      <a:r>
                        <a:rPr lang="zh-CN" altLang="en-US" sz="800" dirty="0" smtClean="0">
                          <a:solidFill>
                            <a:schemeClr val="tx1">
                              <a:lumMod val="85000"/>
                              <a:lumOff val="15000"/>
                            </a:schemeClr>
                          </a:solidFill>
                          <a:latin typeface="微软雅黑" panose="020B0503020204020204" pitchFamily="34" charset="-122"/>
                          <a:ea typeface="微软雅黑" panose="020B0503020204020204" pitchFamily="34" charset="-122"/>
                        </a:rPr>
                        <a:t>元</a:t>
                      </a:r>
                      <a:r>
                        <a:rPr lang="en-US" altLang="zh-CN" sz="800" dirty="0" smtClean="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小时</a:t>
                      </a:r>
                      <a:endPar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endParaRP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tabLst/>
                        <a:defRPr/>
                      </a:pP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24H</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动态血压监测：</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140</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元</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次</a:t>
                      </a:r>
                      <a:endPar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endParaRP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tabLst/>
                        <a:defRPr/>
                      </a:pP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动态心电图：</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144</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元</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次</a:t>
                      </a: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tabLst/>
                        <a:defRPr/>
                      </a:pP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心率变异性分析：</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20</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元</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次</a:t>
                      </a: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tabLst/>
                        <a:defRPr/>
                      </a:pP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移动实时多导心电检测：</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17</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元</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小时</a:t>
                      </a:r>
                      <a:endPar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endParaRP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tabLst/>
                        <a:defRPr/>
                      </a:pP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血氧饱和度监测：</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2</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元</a:t>
                      </a:r>
                      <a:r>
                        <a:rPr lang="en-US" altLang="zh-CN"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a:t>
                      </a:r>
                      <a:r>
                        <a:rPr lang="zh-CN" altLang="en-US" sz="800"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小时</a:t>
                      </a:r>
                      <a:endParaRPr lang="zh-CN" altLang="en-US" sz="800"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defRPr/>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乡镇卫生院</a:t>
                      </a:r>
                      <a:endPar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defRPr/>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社区卫生服务中心</a:t>
                      </a:r>
                      <a:endPar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08000"/>
                        </a:lnSpc>
                        <a:spcBef>
                          <a:spcPts val="0"/>
                        </a:spcBef>
                        <a:spcAft>
                          <a:spcPts val="0"/>
                        </a:spcAft>
                        <a:buClrTx/>
                        <a:buSzTx/>
                        <a:buFont typeface="Arial" panose="020B0604020202020204" pitchFamily="34" charset="0"/>
                        <a:buChar char="•"/>
                        <a:defRPr/>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卫生室</a:t>
                      </a:r>
                    </a:p>
                  </a:txBody>
                  <a:tcPr anchor="ctr"/>
                </a:tc>
              </a:tr>
              <a:tr h="575516">
                <a:tc rowSpan="3">
                  <a:txBody>
                    <a:bodyPr/>
                    <a:lstStyle/>
                    <a:p>
                      <a:pPr algn="ctr"/>
                      <a:r>
                        <a:rPr lang="zh-CN" altLang="en-US" sz="900" b="1"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业务平台（含</a:t>
                      </a:r>
                      <a:endParaRPr lang="zh-CN" altLang="en-US" sz="900" b="1"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p>
                      <a:pPr algn="ctr"/>
                      <a:r>
                        <a:rPr lang="zh-CN" altLang="en-US" sz="900" b="1"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网页版</a:t>
                      </a:r>
                      <a:r>
                        <a:rPr lang="en-US" altLang="zh-CN" sz="900" b="1"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a:t>
                      </a:r>
                      <a:r>
                        <a:rPr lang="zh-CN" altLang="en-US" sz="900" b="1"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客户端、移动应用）</a:t>
                      </a:r>
                      <a:endParaRPr lang="zh-CN" altLang="en-US" sz="900" b="1"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algn="ctr">
                        <a:lnSpc>
                          <a:spcPct val="130000"/>
                        </a:lnSpc>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心电云</a:t>
                      </a: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平台</a:t>
                      </a:r>
                      <a:endPar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endParaRPr>
                    </a:p>
                    <a:p>
                      <a:pPr algn="ctr">
                        <a:lnSpc>
                          <a:spcPct val="130000"/>
                        </a:lnSpc>
                      </a:pPr>
                      <a:r>
                        <a:rPr lang="zh-CN" altLang="en-US" sz="800" dirty="0" smtClean="0">
                          <a:solidFill>
                            <a:schemeClr val="tx1">
                              <a:lumMod val="85000"/>
                              <a:lumOff val="15000"/>
                            </a:schemeClr>
                          </a:solidFill>
                          <a:latin typeface="微软雅黑" panose="020B0503020204020204" pitchFamily="34" charset="-122"/>
                          <a:ea typeface="微软雅黑" panose="020B0503020204020204" pitchFamily="34" charset="-122"/>
                        </a:rPr>
                        <a:t>（本地化部署</a:t>
                      </a:r>
                      <a:r>
                        <a:rPr lang="en-US" altLang="zh-CN" sz="800" dirty="0" smtClean="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800" dirty="0" smtClean="0">
                          <a:solidFill>
                            <a:schemeClr val="tx1">
                              <a:lumMod val="85000"/>
                              <a:lumOff val="15000"/>
                            </a:schemeClr>
                          </a:solidFill>
                          <a:latin typeface="微软雅黑" panose="020B0503020204020204" pitchFamily="34" charset="-122"/>
                          <a:ea typeface="微软雅黑" panose="020B0503020204020204" pitchFamily="34" charset="-122"/>
                        </a:rPr>
                        <a:t>云部署）</a:t>
                      </a:r>
                      <a:endParaRPr lang="en-US" altLang="zh-CN" sz="8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rowSpan="3">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本地化部署：</a:t>
                      </a:r>
                      <a:r>
                        <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rPr>
                        <a:t>50W</a:t>
                      </a:r>
                      <a:endPar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主要业务系统</a:t>
                      </a:r>
                    </a:p>
                  </a:txBody>
                  <a:tcPr anchor="ctr"/>
                </a:tc>
                <a:tc>
                  <a:txBody>
                    <a:bodyPr/>
                    <a:lstStyle/>
                    <a:p>
                      <a:pPr algn="l">
                        <a:lnSpc>
                          <a:spcPct val="130000"/>
                        </a:lnSpc>
                      </a:pP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按需</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10004"/>
                  </a:ext>
                </a:extLst>
              </a:tr>
              <a:tr h="293522">
                <a:tc vMerge="1">
                  <a:txBody>
                    <a:bodyPr/>
                    <a:lstStyle/>
                    <a:p>
                      <a:endParaRPr lang="zh-CN" altLang="en-US" sz="900"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采集分析客户端</a:t>
                      </a:r>
                      <a:endPar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vMerge="1">
                  <a:txBody>
                    <a:bodyPr/>
                    <a:lstStyle/>
                    <a:p>
                      <a:pPr marL="0" marR="0" lvl="0" indent="0" algn="l" defTabSz="914400" rtl="0" eaLnBrk="1" fontAlgn="auto" latinLnBrk="0" hangingPunct="1">
                        <a:lnSpc>
                          <a:spcPct val="130000"/>
                        </a:lnSpc>
                        <a:spcBef>
                          <a:spcPts val="0"/>
                        </a:spcBef>
                        <a:spcAft>
                          <a:spcPts val="0"/>
                        </a:spcAft>
                        <a:buClrTx/>
                        <a:buSzTx/>
                        <a:buFontTx/>
                        <a:buNone/>
                        <a:defRPr/>
                      </a:pP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心</a:t>
                      </a: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电分析</a:t>
                      </a:r>
                    </a:p>
                  </a:txBody>
                  <a:tcPr anchor="ctr"/>
                </a:tc>
                <a:tc>
                  <a:txBody>
                    <a:bodyPr/>
                    <a:lstStyle/>
                    <a:p>
                      <a:pPr algn="l">
                        <a:lnSpc>
                          <a:spcPct val="130000"/>
                        </a:lnSpc>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心</a:t>
                      </a: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电分析客户端</a:t>
                      </a:r>
                    </a:p>
                  </a:txBody>
                  <a:tcPr anchor="ctr"/>
                </a:tc>
                <a:tc>
                  <a:txBody>
                    <a:bodyPr/>
                    <a:lstStyle/>
                    <a:p>
                      <a:pPr algn="l">
                        <a:lnSpc>
                          <a:spcPct val="130000"/>
                        </a:lnSpc>
                      </a:pP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心电图室</a:t>
                      </a:r>
                    </a:p>
                  </a:txBody>
                  <a:tcPr anchor="ctr"/>
                </a:tc>
                <a:extLst>
                  <a:ext uri="{0D108BD9-81ED-4DB2-BD59-A6C34878D82A}">
                    <a16:rowId xmlns="" xmlns:a16="http://schemas.microsoft.com/office/drawing/2014/main" val="404242544"/>
                  </a:ext>
                </a:extLst>
              </a:tr>
              <a:tr h="401466">
                <a:tc vMerge="1">
                  <a:txBody>
                    <a:bodyPr/>
                    <a:lstStyle/>
                    <a:p>
                      <a:endParaRPr lang="zh-CN" altLang="en-US" sz="900"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医生版移动</a:t>
                      </a:r>
                      <a:r>
                        <a:rPr lang="en-US" altLang="zh-CN" sz="900" dirty="0" smtClean="0">
                          <a:solidFill>
                            <a:schemeClr val="tx1">
                              <a:lumMod val="85000"/>
                              <a:lumOff val="15000"/>
                            </a:schemeClr>
                          </a:solidFill>
                          <a:latin typeface="微软雅黑" panose="020B0503020204020204" pitchFamily="34" charset="-122"/>
                          <a:ea typeface="微软雅黑" panose="020B0503020204020204" pitchFamily="34" charset="-122"/>
                        </a:rPr>
                        <a:t>APP</a:t>
                      </a:r>
                      <a:endPar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vMerge="1">
                  <a:txBody>
                    <a:bodyPr/>
                    <a:lstStyle/>
                    <a:p>
                      <a:pPr marL="0" marR="0" lvl="0" indent="0" algn="l" defTabSz="914400" rtl="0" eaLnBrk="1" fontAlgn="auto" latinLnBrk="0" hangingPunct="1">
                        <a:lnSpc>
                          <a:spcPct val="130000"/>
                        </a:lnSpc>
                        <a:spcBef>
                          <a:spcPts val="0"/>
                        </a:spcBef>
                        <a:spcAft>
                          <a:spcPts val="0"/>
                        </a:spcAft>
                        <a:buClrTx/>
                        <a:buSzTx/>
                        <a:buFontTx/>
                        <a:buNone/>
                        <a:defRPr/>
                      </a:pP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采集</a:t>
                      </a: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与分析</a:t>
                      </a:r>
                    </a:p>
                  </a:txBody>
                  <a:tcPr anchor="ctr"/>
                </a:tc>
                <a:tc>
                  <a:txBody>
                    <a:bodyPr/>
                    <a:lstStyle/>
                    <a:p>
                      <a:pPr algn="l">
                        <a:lnSpc>
                          <a:spcPct val="130000"/>
                        </a:lnSpc>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心电图机的采集与分析软件</a:t>
                      </a:r>
                    </a:p>
                  </a:txBody>
                  <a:tcPr anchor="ctr"/>
                </a:tc>
                <a:tc>
                  <a:txBody>
                    <a:bodyPr/>
                    <a:lstStyle/>
                    <a:p>
                      <a:pPr algn="l">
                        <a:lnSpc>
                          <a:spcPct val="130000"/>
                        </a:lnSpc>
                      </a:pP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医生随访</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104776878"/>
                  </a:ext>
                </a:extLst>
              </a:tr>
              <a:tr h="257717">
                <a:tc>
                  <a:txBody>
                    <a:bodyPr/>
                    <a:lstStyle/>
                    <a:p>
                      <a:pPr algn="ctr"/>
                      <a:r>
                        <a:rPr lang="zh-CN" altLang="en-US" sz="900" b="1" kern="1200" dirty="0" smtClean="0">
                          <a:solidFill>
                            <a:schemeClr val="tx1">
                              <a:lumMod val="85000"/>
                              <a:lumOff val="15000"/>
                            </a:schemeClr>
                          </a:solidFill>
                          <a:latin typeface="微软雅黑" panose="020B0503020204020204" pitchFamily="34" charset="-122"/>
                          <a:ea typeface="微软雅黑" panose="020B0503020204020204" pitchFamily="34" charset="-122"/>
                          <a:cs typeface="+mn-cs"/>
                        </a:rPr>
                        <a:t>接口</a:t>
                      </a:r>
                      <a:endParaRPr lang="zh-CN" altLang="en-US" sz="900" b="1" kern="1200" dirty="0">
                        <a:solidFill>
                          <a:schemeClr val="tx1">
                            <a:lumMod val="85000"/>
                            <a:lumOff val="15000"/>
                          </a:schemeClr>
                        </a:solidFill>
                        <a:latin typeface="微软雅黑" panose="020B0503020204020204" pitchFamily="34" charset="-122"/>
                        <a:ea typeface="微软雅黑" panose="020B0503020204020204" pitchFamily="34" charset="-122"/>
                        <a:cs typeface="+mn-cs"/>
                      </a:endParaRPr>
                    </a:p>
                  </a:txBody>
                  <a:tcPr anchor="ctr"/>
                </a:tc>
                <a:tc>
                  <a:txBody>
                    <a:bodyPr/>
                    <a:lstStyle/>
                    <a:p>
                      <a:pPr marL="0" marR="0" indent="0" algn="ctr" defTabSz="914400" rtl="0" eaLnBrk="1" fontAlgn="auto" latinLnBrk="0" hangingPunct="1">
                        <a:lnSpc>
                          <a:spcPct val="130000"/>
                        </a:lnSpc>
                        <a:spcBef>
                          <a:spcPts val="0"/>
                        </a:spcBef>
                        <a:spcAft>
                          <a:spcPts val="0"/>
                        </a:spcAft>
                        <a:buClrTx/>
                        <a:buSzTx/>
                        <a:buFontTx/>
                        <a:buNone/>
                        <a:defRPr/>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云平台接口对接</a:t>
                      </a:r>
                      <a:endPar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ct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marL="0" marR="0" lvl="0" indent="0" algn="l" defTabSz="914400" rtl="0" eaLnBrk="1" fontAlgn="auto" latinLnBrk="0" hangingPunct="1">
                        <a:lnSpc>
                          <a:spcPct val="130000"/>
                        </a:lnSpc>
                        <a:spcBef>
                          <a:spcPts val="0"/>
                        </a:spcBef>
                        <a:spcAft>
                          <a:spcPts val="0"/>
                        </a:spcAft>
                        <a:buClrTx/>
                        <a:buSzTx/>
                        <a:buFontTx/>
                        <a:buNone/>
                        <a:defRPr/>
                      </a:pPr>
                      <a:r>
                        <a:rPr lang="zh-CN" altLang="en-US" sz="900" dirty="0" smtClean="0">
                          <a:solidFill>
                            <a:schemeClr val="tx1">
                              <a:lumMod val="85000"/>
                              <a:lumOff val="15000"/>
                            </a:schemeClr>
                          </a:solidFill>
                          <a:latin typeface="微软雅黑" panose="020B0503020204020204" pitchFamily="34" charset="-122"/>
                          <a:ea typeface="微软雅黑" panose="020B0503020204020204" pitchFamily="34" charset="-122"/>
                        </a:rPr>
                        <a:t>另行商议</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en-US" altLang="zh-CN" sz="9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r>
                        <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rPr>
                        <a:t>对接服务</a:t>
                      </a:r>
                    </a:p>
                  </a:txBody>
                  <a:tcPr anchor="ctr"/>
                </a:tc>
                <a:tc>
                  <a:txBody>
                    <a:bodyPr/>
                    <a:lstStyle/>
                    <a:p>
                      <a:pPr algn="l">
                        <a:lnSpc>
                          <a:spcPct val="130000"/>
                        </a:lnSpc>
                      </a:pP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tc>
                  <a:txBody>
                    <a:bodyPr/>
                    <a:lstStyle/>
                    <a:p>
                      <a:pPr algn="l">
                        <a:lnSpc>
                          <a:spcPct val="130000"/>
                        </a:lnSpc>
                      </a:pPr>
                      <a:endParaRPr lang="zh-CN" altLang="en-US" sz="900" dirty="0">
                        <a:solidFill>
                          <a:schemeClr val="tx1">
                            <a:lumMod val="85000"/>
                            <a:lumOff val="15000"/>
                          </a:schemeClr>
                        </a:solidFill>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692480078"/>
                  </a:ext>
                </a:extLst>
              </a:tr>
            </a:tbl>
          </a:graphicData>
        </a:graphic>
      </p:graphicFrame>
      <p:pic>
        <p:nvPicPr>
          <p:cNvPr id="13" name="图片 12" descr="123DA516-2E0B-4D86-BDA8-E5542DB50017-1282-00000028CFB320BF"/>
          <p:cNvPicPr>
            <a:picLocks noChangeAspect="1"/>
          </p:cNvPicPr>
          <p:nvPr/>
        </p:nvPicPr>
        <p:blipFill>
          <a:blip r:embed="rId5" cstate="print"/>
          <a:stretch>
            <a:fillRect/>
          </a:stretch>
        </p:blipFill>
        <p:spPr>
          <a:xfrm rot="16200000">
            <a:off x="2630561" y="1183463"/>
            <a:ext cx="377398" cy="670983"/>
          </a:xfrm>
          <a:prstGeom prst="rect">
            <a:avLst/>
          </a:prstGeom>
        </p:spPr>
      </p:pic>
      <p:pic>
        <p:nvPicPr>
          <p:cNvPr id="9" name="图片 8"/>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2627784" y="2959899"/>
            <a:ext cx="331931" cy="331931"/>
          </a:xfrm>
          <a:prstGeom prst="rect">
            <a:avLst/>
          </a:prstGeom>
        </p:spPr>
      </p:pic>
      <p:pic>
        <p:nvPicPr>
          <p:cNvPr id="15" name="图片 14"/>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2646834" y="3430047"/>
            <a:ext cx="293831" cy="293831"/>
          </a:xfrm>
          <a:prstGeom prst="rect">
            <a:avLst/>
          </a:prstGeom>
        </p:spPr>
      </p:pic>
      <p:pic>
        <p:nvPicPr>
          <p:cNvPr id="17" name="图片 16"/>
          <p:cNvPicPr>
            <a:picLocks noChangeAspect="1"/>
          </p:cNvPicPr>
          <p:nvPr/>
        </p:nvPicPr>
        <p:blipFill>
          <a:blip r:embed="rId8" cstate="print">
            <a:extLst>
              <a:ext uri="{28A0092B-C50C-407E-A947-70E740481C1C}">
                <a14:useLocalDpi xmlns="" xmlns:a14="http://schemas.microsoft.com/office/drawing/2010/main" val="0"/>
              </a:ext>
            </a:extLst>
          </a:blip>
          <a:stretch>
            <a:fillRect/>
          </a:stretch>
        </p:blipFill>
        <p:spPr>
          <a:xfrm>
            <a:off x="2685737" y="4227934"/>
            <a:ext cx="216024" cy="216024"/>
          </a:xfrm>
          <a:prstGeom prst="rect">
            <a:avLst/>
          </a:prstGeom>
        </p:spPr>
      </p:pic>
      <p:pic>
        <p:nvPicPr>
          <p:cNvPr id="10" name="Picture 2" descr="E:\BSJ\E\工作资料\公司及产品介绍\产品效果图\HM117A1-不带线.png"/>
          <p:cNvPicPr>
            <a:picLocks noChangeAspect="1" noChangeArrowheads="1"/>
          </p:cNvPicPr>
          <p:nvPr>
            <p:custDataLst>
              <p:tags r:id="rId1"/>
            </p:custDataLst>
          </p:nvPr>
        </p:nvPicPr>
        <p:blipFill>
          <a:blip r:embed="rId9" cstate="print"/>
          <a:srcRect/>
          <a:stretch>
            <a:fillRect/>
          </a:stretch>
        </p:blipFill>
        <p:spPr bwMode="auto">
          <a:xfrm rot="300000">
            <a:off x="2712051" y="2327232"/>
            <a:ext cx="410264" cy="299216"/>
          </a:xfrm>
          <a:prstGeom prst="rect">
            <a:avLst/>
          </a:prstGeom>
          <a:noFill/>
        </p:spPr>
      </p:pic>
      <p:pic>
        <p:nvPicPr>
          <p:cNvPr id="11" name="Picture 3" descr="C:\Users\Administrator\Desktop\609不带音插.png"/>
          <p:cNvPicPr>
            <a:picLocks noChangeAspect="1" noChangeArrowheads="1"/>
          </p:cNvPicPr>
          <p:nvPr>
            <p:custDataLst>
              <p:tags r:id="rId2"/>
            </p:custDataLst>
          </p:nvPr>
        </p:nvPicPr>
        <p:blipFill>
          <a:blip r:embed="rId10" cstate="print"/>
          <a:srcRect l="15348" t="9864" r="3506" b="12574"/>
          <a:stretch>
            <a:fillRect/>
          </a:stretch>
        </p:blipFill>
        <p:spPr bwMode="auto">
          <a:xfrm rot="240000">
            <a:off x="2425401" y="1990293"/>
            <a:ext cx="671028" cy="414541"/>
          </a:xfrm>
          <a:prstGeom prst="rect">
            <a:avLst/>
          </a:prstGeom>
          <a:noFill/>
        </p:spPr>
      </p:pic>
      <p:pic>
        <p:nvPicPr>
          <p:cNvPr id="12" name="图片 11"/>
          <p:cNvPicPr>
            <a:picLocks noChangeAspect="1"/>
          </p:cNvPicPr>
          <p:nvPr/>
        </p:nvPicPr>
        <p:blipFill>
          <a:blip r:embed="rId11" cstate="print">
            <a:extLst>
              <a:ext uri="{28A0092B-C50C-407E-A947-70E740481C1C}">
                <a14:useLocalDpi xmlns="" xmlns:a14="http://schemas.microsoft.com/office/drawing/2010/main" val="0"/>
              </a:ext>
            </a:extLst>
          </a:blip>
          <a:stretch>
            <a:fillRect/>
          </a:stretch>
        </p:blipFill>
        <p:spPr>
          <a:xfrm>
            <a:off x="2721741" y="3795886"/>
            <a:ext cx="144016" cy="288032"/>
          </a:xfrm>
          <a:prstGeom prst="rect">
            <a:avLst/>
          </a:prstGeom>
          <a:ln>
            <a:noFill/>
          </a:ln>
          <a:effectLst>
            <a:outerShdw blurRad="50800" dist="38100" dir="2700000" algn="tl" rotWithShape="0">
              <a:prstClr val="black">
                <a:alpha val="40000"/>
              </a:prstClr>
            </a:outerShdw>
          </a:effectLst>
        </p:spPr>
      </p:pic>
      <p:sp>
        <p:nvSpPr>
          <p:cNvPr id="18" name="矩形 17"/>
          <p:cNvSpPr/>
          <p:nvPr/>
        </p:nvSpPr>
        <p:spPr>
          <a:xfrm>
            <a:off x="611560" y="4659982"/>
            <a:ext cx="6336704" cy="323165"/>
          </a:xfrm>
          <a:prstGeom prst="rect">
            <a:avLst/>
          </a:prstGeom>
        </p:spPr>
        <p:txBody>
          <a:bodyPr wrap="square">
            <a:spAutoFit/>
          </a:bodyPr>
          <a:lstStyle/>
          <a:p>
            <a:pPr>
              <a:lnSpc>
                <a:spcPct val="150000"/>
              </a:lnSpc>
            </a:pPr>
            <a:r>
              <a:rPr lang="en-US" altLang="zh-CN" sz="1000" b="1" dirty="0" smtClean="0">
                <a:solidFill>
                  <a:srgbClr val="FF0000"/>
                </a:solidFill>
                <a:latin typeface="微软雅黑" panose="020B0503020204020204" pitchFamily="34" charset="-122"/>
                <a:ea typeface="微软雅黑" panose="020B0503020204020204" pitchFamily="34" charset="-122"/>
              </a:rPr>
              <a:t>40</a:t>
            </a:r>
            <a:r>
              <a:rPr lang="zh-CN" altLang="en-US" sz="1000" b="1" dirty="0" smtClean="0">
                <a:solidFill>
                  <a:srgbClr val="FF0000"/>
                </a:solidFill>
                <a:latin typeface="微软雅黑" panose="020B0503020204020204" pitchFamily="34" charset="-122"/>
                <a:ea typeface="微软雅黑" panose="020B0503020204020204" pitchFamily="34" charset="-122"/>
              </a:rPr>
              <a:t>套</a:t>
            </a:r>
            <a:r>
              <a:rPr lang="zh-CN" altLang="en-US" sz="1000" b="1" dirty="0" smtClean="0">
                <a:solidFill>
                  <a:srgbClr val="FF0000"/>
                </a:solidFill>
                <a:latin typeface="微软雅黑" panose="020B0503020204020204" pitchFamily="34" charset="-122"/>
                <a:ea typeface="微软雅黑" panose="020B0503020204020204" pitchFamily="34" charset="-122"/>
              </a:rPr>
              <a:t>采</a:t>
            </a:r>
            <a:r>
              <a:rPr lang="zh-CN" altLang="en-US" sz="1000" b="1" dirty="0" smtClean="0">
                <a:solidFill>
                  <a:srgbClr val="FF0000"/>
                </a:solidFill>
                <a:latin typeface="微软雅黑" panose="020B0503020204020204" pitchFamily="34" charset="-122"/>
                <a:ea typeface="微软雅黑" panose="020B0503020204020204" pitchFamily="34" charset="-122"/>
              </a:rPr>
              <a:t>购价：（</a:t>
            </a:r>
            <a:r>
              <a:rPr lang="en-US" altLang="zh-CN" sz="1000" b="1" dirty="0" smtClean="0">
                <a:solidFill>
                  <a:srgbClr val="FF0000"/>
                </a:solidFill>
                <a:latin typeface="微软雅黑" panose="020B0503020204020204" pitchFamily="34" charset="-122"/>
                <a:ea typeface="微软雅黑" panose="020B0503020204020204" pitchFamily="34" charset="-122"/>
              </a:rPr>
              <a:t>1.5+3*2</a:t>
            </a:r>
            <a:r>
              <a:rPr lang="zh-CN" altLang="en-US" sz="1000" b="1" dirty="0" smtClean="0">
                <a:solidFill>
                  <a:srgbClr val="FF0000"/>
                </a:solidFill>
                <a:latin typeface="微软雅黑" panose="020B0503020204020204" pitchFamily="34" charset="-122"/>
                <a:ea typeface="微软雅黑" panose="020B0503020204020204" pitchFamily="34" charset="-122"/>
              </a:rPr>
              <a:t>）</a:t>
            </a:r>
            <a:r>
              <a:rPr lang="en-US" altLang="zh-CN" sz="1000" b="1" dirty="0" smtClean="0">
                <a:solidFill>
                  <a:srgbClr val="FF0000"/>
                </a:solidFill>
                <a:latin typeface="微软雅黑" panose="020B0503020204020204" pitchFamily="34" charset="-122"/>
                <a:ea typeface="微软雅黑" panose="020B0503020204020204" pitchFamily="34" charset="-122"/>
              </a:rPr>
              <a:t>*18+50=135W</a:t>
            </a:r>
            <a:r>
              <a:rPr lang="zh-CN" altLang="en-US" sz="1000" b="1" dirty="0" smtClean="0">
                <a:solidFill>
                  <a:srgbClr val="FF0000"/>
                </a:solidFill>
                <a:latin typeface="微软雅黑" panose="020B0503020204020204" pitchFamily="34" charset="-122"/>
                <a:ea typeface="微软雅黑" panose="020B0503020204020204" pitchFamily="34" charset="-122"/>
              </a:rPr>
              <a:t>（元）</a:t>
            </a:r>
            <a:endParaRPr lang="zh-CN" altLang="en-US" sz="10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25986319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r>
              <a:rPr lang="zh-CN" altLang="en-US" dirty="0" smtClean="0"/>
              <a:t>实施步骤</a:t>
            </a:r>
            <a:endParaRPr lang="zh-CN" altLang="en-US" dirty="0"/>
          </a:p>
        </p:txBody>
      </p:sp>
      <p:sp>
        <p:nvSpPr>
          <p:cNvPr id="4" name="矩形 3"/>
          <p:cNvSpPr/>
          <p:nvPr/>
        </p:nvSpPr>
        <p:spPr>
          <a:xfrm>
            <a:off x="1187624" y="1131590"/>
            <a:ext cx="1872208" cy="730544"/>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latin typeface="微软雅黑" panose="020B0503020204020204" pitchFamily="34" charset="-122"/>
                <a:ea typeface="微软雅黑" panose="020B0503020204020204" pitchFamily="34" charset="-122"/>
              </a:rPr>
              <a:t>部署云服务</a:t>
            </a:r>
            <a:endParaRPr lang="zh-CN" altLang="en-US" sz="1200" dirty="0">
              <a:latin typeface="微软雅黑" panose="020B0503020204020204" pitchFamily="34" charset="-122"/>
              <a:ea typeface="微软雅黑" panose="020B0503020204020204" pitchFamily="34" charset="-122"/>
            </a:endParaRPr>
          </a:p>
        </p:txBody>
      </p:sp>
      <p:sp>
        <p:nvSpPr>
          <p:cNvPr id="10" name="矩形 9"/>
          <p:cNvSpPr/>
          <p:nvPr/>
        </p:nvSpPr>
        <p:spPr>
          <a:xfrm>
            <a:off x="1187624" y="3075806"/>
            <a:ext cx="1872208" cy="64807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latin typeface="微软雅黑" panose="020B0503020204020204" pitchFamily="34" charset="-122"/>
                <a:ea typeface="微软雅黑" panose="020B0503020204020204" pitchFamily="34" charset="-122"/>
              </a:rPr>
              <a:t>调试设备</a:t>
            </a:r>
            <a:endParaRPr lang="zh-CN" altLang="en-US" sz="1200" dirty="0">
              <a:latin typeface="微软雅黑" panose="020B0503020204020204" pitchFamily="34" charset="-122"/>
              <a:ea typeface="微软雅黑" panose="020B0503020204020204" pitchFamily="34" charset="-122"/>
            </a:endParaRPr>
          </a:p>
        </p:txBody>
      </p:sp>
      <p:sp>
        <p:nvSpPr>
          <p:cNvPr id="13" name="矩形 12"/>
          <p:cNvSpPr/>
          <p:nvPr/>
        </p:nvSpPr>
        <p:spPr>
          <a:xfrm>
            <a:off x="1187624" y="4110835"/>
            <a:ext cx="1872208" cy="64807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latin typeface="微软雅黑" panose="020B0503020204020204" pitchFamily="34" charset="-122"/>
                <a:ea typeface="微软雅黑" panose="020B0503020204020204" pitchFamily="34" charset="-122"/>
              </a:rPr>
              <a:t>培训</a:t>
            </a:r>
            <a:endParaRPr lang="zh-CN" altLang="en-US" sz="1200" dirty="0">
              <a:latin typeface="微软雅黑" panose="020B0503020204020204" pitchFamily="34" charset="-122"/>
              <a:ea typeface="微软雅黑" panose="020B0503020204020204" pitchFamily="34" charset="-122"/>
            </a:endParaRPr>
          </a:p>
        </p:txBody>
      </p:sp>
      <p:sp>
        <p:nvSpPr>
          <p:cNvPr id="5" name="矩形 4"/>
          <p:cNvSpPr/>
          <p:nvPr/>
        </p:nvSpPr>
        <p:spPr>
          <a:xfrm>
            <a:off x="3059832" y="1131589"/>
            <a:ext cx="4752528" cy="73054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1000" dirty="0" smtClean="0">
                <a:latin typeface="微软雅黑" panose="020B0503020204020204" pitchFamily="34" charset="-122"/>
                <a:ea typeface="微软雅黑" panose="020B0503020204020204" pitchFamily="34" charset="-122"/>
              </a:rPr>
              <a:t>确定使用云存储方案还是本地部署</a:t>
            </a:r>
            <a:endParaRPr lang="en-US" altLang="zh-CN" sz="1000" dirty="0" smtClean="0">
              <a:latin typeface="微软雅黑" panose="020B0503020204020204" pitchFamily="34" charset="-122"/>
              <a:ea typeface="微软雅黑" panose="020B0503020204020204" pitchFamily="34" charset="-122"/>
            </a:endParaRPr>
          </a:p>
          <a:p>
            <a:r>
              <a:rPr lang="zh-CN" altLang="en-US" sz="1000" b="1" dirty="0" smtClean="0">
                <a:latin typeface="微软雅黑" panose="020B0503020204020204" pitchFamily="34" charset="-122"/>
                <a:ea typeface="微软雅黑" panose="020B0503020204020204" pitchFamily="34" charset="-122"/>
              </a:rPr>
              <a:t>云部署：</a:t>
            </a:r>
            <a:r>
              <a:rPr lang="zh-CN" altLang="en-US" sz="1000" dirty="0" smtClean="0">
                <a:latin typeface="微软雅黑" panose="020B0503020204020204" pitchFamily="34" charset="-122"/>
                <a:ea typeface="微软雅黑" panose="020B0503020204020204" pitchFamily="34" charset="-122"/>
              </a:rPr>
              <a:t>使用华为云、阿里云或其他公有云服务；</a:t>
            </a:r>
            <a:endParaRPr lang="en-US" altLang="zh-CN" sz="1000" dirty="0" smtClean="0">
              <a:latin typeface="微软雅黑" panose="020B0503020204020204" pitchFamily="34" charset="-122"/>
              <a:ea typeface="微软雅黑" panose="020B0503020204020204" pitchFamily="34" charset="-122"/>
            </a:endParaRPr>
          </a:p>
          <a:p>
            <a:r>
              <a:rPr lang="zh-CN" altLang="en-US" sz="1000" b="1" dirty="0" smtClean="0">
                <a:latin typeface="微软雅黑" panose="020B0503020204020204" pitchFamily="34" charset="-122"/>
                <a:ea typeface="微软雅黑" panose="020B0503020204020204" pitchFamily="34" charset="-122"/>
              </a:rPr>
              <a:t>本地部署：</a:t>
            </a:r>
            <a:r>
              <a:rPr lang="zh-CN" altLang="en-US" sz="1000" dirty="0" smtClean="0">
                <a:latin typeface="微软雅黑" panose="020B0503020204020204" pitchFamily="34" charset="-122"/>
                <a:ea typeface="微软雅黑" panose="020B0503020204020204" pitchFamily="34" charset="-122"/>
              </a:rPr>
              <a:t>本地部署，使用本地机房部署；</a:t>
            </a:r>
            <a:endParaRPr lang="en-US" altLang="zh-CN" sz="1000" dirty="0" smtClean="0">
              <a:latin typeface="微软雅黑" panose="020B0503020204020204" pitchFamily="34" charset="-122"/>
              <a:ea typeface="微软雅黑" panose="020B0503020204020204" pitchFamily="34" charset="-122"/>
            </a:endParaRPr>
          </a:p>
          <a:p>
            <a:r>
              <a:rPr lang="zh-CN" altLang="en-US" sz="1000" dirty="0" smtClean="0">
                <a:latin typeface="微软雅黑" panose="020B0503020204020204" pitchFamily="34" charset="-122"/>
                <a:ea typeface="微软雅黑" panose="020B0503020204020204" pitchFamily="34" charset="-122"/>
              </a:rPr>
              <a:t>无论采取云部署还是本地化部署，都采用的是</a:t>
            </a:r>
            <a:r>
              <a:rPr lang="en-US" altLang="zh-CN" sz="1000" dirty="0" err="1" smtClean="0">
                <a:latin typeface="微软雅黑" panose="020B0503020204020204" pitchFamily="34" charset="-122"/>
                <a:ea typeface="微软雅黑" panose="020B0503020204020204" pitchFamily="34" charset="-122"/>
              </a:rPr>
              <a:t>saas</a:t>
            </a:r>
            <a:r>
              <a:rPr lang="zh-CN" altLang="en-US" sz="1000" dirty="0" smtClean="0">
                <a:latin typeface="微软雅黑" panose="020B0503020204020204" pitchFamily="34" charset="-122"/>
                <a:ea typeface="微软雅黑" panose="020B0503020204020204" pitchFamily="34" charset="-122"/>
              </a:rPr>
              <a:t>化部署方式。</a:t>
            </a:r>
            <a:endParaRPr lang="zh-CN" altLang="en-US" sz="1000" dirty="0">
              <a:latin typeface="微软雅黑" panose="020B0503020204020204" pitchFamily="34" charset="-122"/>
              <a:ea typeface="微软雅黑" panose="020B0503020204020204" pitchFamily="34" charset="-122"/>
            </a:endParaRPr>
          </a:p>
        </p:txBody>
      </p:sp>
      <p:grpSp>
        <p:nvGrpSpPr>
          <p:cNvPr id="2" name="组合 6"/>
          <p:cNvGrpSpPr/>
          <p:nvPr/>
        </p:nvGrpSpPr>
        <p:grpSpPr>
          <a:xfrm>
            <a:off x="1187624" y="2139702"/>
            <a:ext cx="6611126" cy="648072"/>
            <a:chOff x="1187624" y="2139702"/>
            <a:chExt cx="6611126" cy="648072"/>
          </a:xfrm>
        </p:grpSpPr>
        <p:sp>
          <p:nvSpPr>
            <p:cNvPr id="9" name="矩形 8"/>
            <p:cNvSpPr/>
            <p:nvPr/>
          </p:nvSpPr>
          <p:spPr>
            <a:xfrm>
              <a:off x="1187624" y="2139702"/>
              <a:ext cx="1872208" cy="648072"/>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latin typeface="微软雅黑" panose="020B0503020204020204" pitchFamily="34" charset="-122"/>
                  <a:ea typeface="微软雅黑" panose="020B0503020204020204" pitchFamily="34" charset="-122"/>
                </a:rPr>
                <a:t>部署业务系统</a:t>
              </a:r>
              <a:endParaRPr lang="zh-CN" altLang="en-US" sz="1200" dirty="0">
                <a:latin typeface="微软雅黑" panose="020B0503020204020204" pitchFamily="34" charset="-122"/>
                <a:ea typeface="微软雅黑" panose="020B0503020204020204" pitchFamily="34" charset="-122"/>
              </a:endParaRPr>
            </a:p>
          </p:txBody>
        </p:sp>
        <p:sp>
          <p:nvSpPr>
            <p:cNvPr id="14" name="矩形 13"/>
            <p:cNvSpPr/>
            <p:nvPr/>
          </p:nvSpPr>
          <p:spPr>
            <a:xfrm>
              <a:off x="3046222" y="2139702"/>
              <a:ext cx="4752528" cy="64807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1000" dirty="0">
                  <a:latin typeface="微软雅黑" panose="020B0503020204020204" pitchFamily="34" charset="-122"/>
                  <a:ea typeface="微软雅黑" panose="020B0503020204020204" pitchFamily="34" charset="-122"/>
                </a:rPr>
                <a:t>可依据县卫健委的要求，在指定的地方部署心电云系统，并依托云网络配置县域医共体件的协作交互逻辑，并为各级医疗机构配置应用端口和应用权限。</a:t>
              </a:r>
            </a:p>
          </p:txBody>
        </p:sp>
      </p:grpSp>
      <p:sp>
        <p:nvSpPr>
          <p:cNvPr id="15" name="矩形 14"/>
          <p:cNvSpPr/>
          <p:nvPr/>
        </p:nvSpPr>
        <p:spPr>
          <a:xfrm>
            <a:off x="3059832" y="3075806"/>
            <a:ext cx="4752528" cy="64807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1000" dirty="0" smtClean="0">
                <a:latin typeface="微软雅黑" panose="020B0503020204020204" pitchFamily="34" charset="-122"/>
                <a:ea typeface="微软雅黑" panose="020B0503020204020204" pitchFamily="34" charset="-122"/>
              </a:rPr>
              <a:t>业务系统、心电设备联合调试。</a:t>
            </a:r>
            <a:endParaRPr lang="zh-CN" altLang="en-US" sz="1000" dirty="0">
              <a:latin typeface="微软雅黑" panose="020B0503020204020204" pitchFamily="34" charset="-122"/>
              <a:ea typeface="微软雅黑" panose="020B0503020204020204" pitchFamily="34" charset="-122"/>
            </a:endParaRPr>
          </a:p>
        </p:txBody>
      </p:sp>
      <p:sp>
        <p:nvSpPr>
          <p:cNvPr id="16" name="矩形 15"/>
          <p:cNvSpPr/>
          <p:nvPr/>
        </p:nvSpPr>
        <p:spPr>
          <a:xfrm>
            <a:off x="3059832" y="4110835"/>
            <a:ext cx="4752528" cy="64807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1000" dirty="0" smtClean="0">
                <a:latin typeface="微软雅黑" panose="020B0503020204020204" pitchFamily="34" charset="-122"/>
                <a:ea typeface="微软雅黑" panose="020B0503020204020204" pitchFamily="34" charset="-122"/>
              </a:rPr>
              <a:t>组织相关医生进行业务培训，熟悉业务流程和平台、设备的操作。</a:t>
            </a:r>
            <a:endParaRPr lang="zh-CN" altLang="en-US" sz="1000" dirty="0">
              <a:latin typeface="微软雅黑" panose="020B0503020204020204" pitchFamily="34" charset="-122"/>
              <a:ea typeface="微软雅黑" panose="020B0503020204020204" pitchFamily="34" charset="-122"/>
            </a:endParaRPr>
          </a:p>
        </p:txBody>
      </p:sp>
      <p:sp>
        <p:nvSpPr>
          <p:cNvPr id="6" name="下箭头 5"/>
          <p:cNvSpPr/>
          <p:nvPr/>
        </p:nvSpPr>
        <p:spPr>
          <a:xfrm>
            <a:off x="1907704" y="1923678"/>
            <a:ext cx="432048" cy="144016"/>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 name="下箭头 16"/>
          <p:cNvSpPr/>
          <p:nvPr/>
        </p:nvSpPr>
        <p:spPr>
          <a:xfrm>
            <a:off x="1884896" y="2859782"/>
            <a:ext cx="432048" cy="144016"/>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0" name="下箭头 19"/>
          <p:cNvSpPr/>
          <p:nvPr/>
        </p:nvSpPr>
        <p:spPr>
          <a:xfrm>
            <a:off x="1907704" y="3867894"/>
            <a:ext cx="432048" cy="144016"/>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21964101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2179B1"/>
                </a:solidFill>
              </a:rPr>
              <a:t>心电云平台</a:t>
            </a:r>
          </a:p>
        </p:txBody>
      </p:sp>
      <p:sp>
        <p:nvSpPr>
          <p:cNvPr id="4" name="矩形 3"/>
          <p:cNvSpPr/>
          <p:nvPr/>
        </p:nvSpPr>
        <p:spPr>
          <a:xfrm>
            <a:off x="456621" y="915566"/>
            <a:ext cx="8291843" cy="526811"/>
          </a:xfrm>
          <a:prstGeom prst="rect">
            <a:avLst/>
          </a:prstGeom>
        </p:spPr>
        <p:txBody>
          <a:bodyPr wrap="square">
            <a:spAutoFit/>
          </a:bodyPr>
          <a:lstStyle/>
          <a:p>
            <a:pPr>
              <a:lnSpc>
                <a:spcPct val="150000"/>
              </a:lnSpc>
            </a:pPr>
            <a:r>
              <a:rPr lang="zh-CN" altLang="zh-CN"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好络维心电云平台可以全部覆盖院内</a:t>
            </a:r>
            <a:r>
              <a:rPr lang="zh-CN" altLang="en-US"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a:t>
            </a:r>
            <a:r>
              <a:rPr lang="zh-CN" altLang="zh-CN"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院外用户</a:t>
            </a:r>
            <a:r>
              <a:rPr lang="zh-CN" altLang="en-US"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a:t>
            </a:r>
            <a:r>
              <a:rPr lang="zh-CN" altLang="zh-CN" sz="1000" kern="0" dirty="0">
                <a:solidFill>
                  <a:schemeClr val="tx1">
                    <a:lumMod val="75000"/>
                    <a:lumOff val="25000"/>
                  </a:schemeClr>
                </a:solidFill>
                <a:latin typeface="微软雅黑" panose="020B0503020204020204" pitchFamily="34" charset="-122"/>
                <a:ea typeface="微软雅黑" panose="020B0503020204020204" pitchFamily="34" charset="-122"/>
                <a:cs typeface="宋体" panose="02010600030101010101" pitchFamily="2" charset="-122"/>
              </a:rPr>
              <a:t>连接常规、动态、监护及个人穿戴的心电监测设备，支撑心血管疾病预防，筛查到院内诊断、监护，以及院后康复全流程管理。</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539552" y="1924050"/>
            <a:ext cx="3483610" cy="2903220"/>
          </a:xfrm>
          <a:prstGeom prst="rect">
            <a:avLst/>
          </a:prstGeom>
          <a:ln>
            <a:noFill/>
          </a:ln>
          <a:effectLst>
            <a:outerShdw blurRad="50800" dist="38100" dir="2700000" algn="tl" rotWithShape="0">
              <a:prstClr val="black">
                <a:alpha val="40000"/>
              </a:prstClr>
            </a:outerShdw>
          </a:effectLst>
        </p:spPr>
      </p:pic>
      <p:pic>
        <p:nvPicPr>
          <p:cNvPr id="6" name="图片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936358" y="1923678"/>
            <a:ext cx="2606040" cy="1576705"/>
          </a:xfrm>
          <a:prstGeom prst="rect">
            <a:avLst/>
          </a:prstGeom>
          <a:ln>
            <a:noFill/>
          </a:ln>
          <a:effectLst>
            <a:outerShdw blurRad="50800" dist="38100" dir="2700000" algn="tl" rotWithShape="0">
              <a:prstClr val="black">
                <a:alpha val="40000"/>
              </a:prstClr>
            </a:outerShdw>
          </a:effectLst>
        </p:spPr>
      </p:pic>
      <p:pic>
        <p:nvPicPr>
          <p:cNvPr id="7" name="图片 6"/>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4356100" y="1944370"/>
            <a:ext cx="1235710" cy="2882900"/>
          </a:xfrm>
          <a:prstGeom prst="rect">
            <a:avLst/>
          </a:prstGeom>
          <a:ln>
            <a:noFill/>
          </a:ln>
          <a:effectLst>
            <a:outerShdw blurRad="50800" dist="38100" dir="2700000" algn="tl" rotWithShape="0">
              <a:prstClr val="black">
                <a:alpha val="40000"/>
              </a:prstClr>
            </a:outerShdw>
          </a:effectLst>
        </p:spPr>
      </p:pic>
      <p:pic>
        <p:nvPicPr>
          <p:cNvPr id="8" name="图片 7"/>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936358" y="3224753"/>
            <a:ext cx="2609850" cy="1579245"/>
          </a:xfrm>
          <a:prstGeom prst="rect">
            <a:avLst/>
          </a:prstGeom>
          <a:ln>
            <a:noFill/>
          </a:ln>
          <a:effectLst>
            <a:outerShdw blurRad="50800" dist="38100" dir="2700000" algn="tl" rotWithShape="0">
              <a:prstClr val="black">
                <a:alpha val="40000"/>
              </a:prstClr>
            </a:outerShdw>
          </a:effectLst>
        </p:spPr>
      </p:pic>
      <p:sp>
        <p:nvSpPr>
          <p:cNvPr id="9" name="矩形 8"/>
          <p:cNvSpPr/>
          <p:nvPr/>
        </p:nvSpPr>
        <p:spPr>
          <a:xfrm>
            <a:off x="1619444" y="1563489"/>
            <a:ext cx="1147010" cy="276999"/>
          </a:xfrm>
          <a:prstGeom prst="rect">
            <a:avLst/>
          </a:prstGeom>
          <a:noFill/>
          <a:extLst>
            <a:ext uri="{909E8E84-426E-40DD-AFC4-6F175D3DCCD1}">
              <a14:hiddenFill xmlns="" xmlns:a14="http://schemas.microsoft.com/office/drawing/2010/main">
                <a:solidFill>
                  <a:schemeClr val="tx2">
                    <a:lumMod val="60000"/>
                    <a:lumOff val="40000"/>
                    <a:alpha val="40000"/>
                  </a:schemeClr>
                </a:solidFill>
              </a14:hiddenFill>
            </a:ext>
          </a:extLst>
        </p:spPr>
        <p:txBody>
          <a:bodyPr wrap="square">
            <a:spAutoFit/>
          </a:bodyPr>
          <a:lstStyle/>
          <a:p>
            <a:pPr algn="ctr"/>
            <a:r>
              <a:rPr lang="zh-CN" altLang="en-US" sz="1200" b="1" kern="0" dirty="0">
                <a:solidFill>
                  <a:schemeClr val="accent1"/>
                </a:solidFill>
                <a:latin typeface="微软雅黑" panose="020B0503020204020204" pitchFamily="34" charset="-122"/>
                <a:ea typeface="微软雅黑" panose="020B0503020204020204" pitchFamily="34" charset="-122"/>
                <a:cs typeface="宋体" panose="02010600030101010101" pitchFamily="2" charset="-122"/>
              </a:rPr>
              <a:t>心电云网页端</a:t>
            </a:r>
          </a:p>
        </p:txBody>
      </p:sp>
      <p:sp>
        <p:nvSpPr>
          <p:cNvPr id="10" name="矩形 9"/>
          <p:cNvSpPr/>
          <p:nvPr/>
        </p:nvSpPr>
        <p:spPr>
          <a:xfrm>
            <a:off x="4372649" y="1564898"/>
            <a:ext cx="1147010" cy="275590"/>
          </a:xfrm>
          <a:prstGeom prst="rect">
            <a:avLst/>
          </a:prstGeom>
          <a:noFill/>
          <a:extLst>
            <a:ext uri="{909E8E84-426E-40DD-AFC4-6F175D3DCCD1}">
              <a14:hiddenFill xmlns="" xmlns:a14="http://schemas.microsoft.com/office/drawing/2010/main">
                <a:solidFill>
                  <a:schemeClr val="tx2">
                    <a:lumMod val="60000"/>
                    <a:lumOff val="40000"/>
                    <a:alpha val="40000"/>
                  </a:schemeClr>
                </a:solidFill>
              </a14:hiddenFill>
            </a:ext>
          </a:extLst>
        </p:spPr>
        <p:txBody>
          <a:bodyPr wrap="square">
            <a:spAutoFit/>
          </a:bodyPr>
          <a:lstStyle/>
          <a:p>
            <a:pPr lvl="0" algn="ctr">
              <a:buClrTx/>
              <a:buSzTx/>
              <a:buFontTx/>
            </a:pPr>
            <a:r>
              <a:rPr lang="zh-CN" altLang="en-US" sz="1200" b="1" kern="0" dirty="0">
                <a:solidFill>
                  <a:schemeClr val="accent1"/>
                </a:solidFill>
                <a:latin typeface="微软雅黑" panose="020B0503020204020204" pitchFamily="34" charset="-122"/>
                <a:ea typeface="微软雅黑" panose="020B0503020204020204" pitchFamily="34" charset="-122"/>
                <a:cs typeface="宋体" panose="02010600030101010101" pitchFamily="2" charset="-122"/>
                <a:sym typeface="+mn-ea"/>
              </a:rPr>
              <a:t>心电云移动端</a:t>
            </a:r>
          </a:p>
        </p:txBody>
      </p:sp>
      <p:sp>
        <p:nvSpPr>
          <p:cNvPr id="11" name="矩形 10"/>
          <p:cNvSpPr/>
          <p:nvPr/>
        </p:nvSpPr>
        <p:spPr>
          <a:xfrm>
            <a:off x="6804248" y="1564898"/>
            <a:ext cx="1147010" cy="275590"/>
          </a:xfrm>
          <a:prstGeom prst="rect">
            <a:avLst/>
          </a:prstGeom>
          <a:noFill/>
          <a:extLst>
            <a:ext uri="{909E8E84-426E-40DD-AFC4-6F175D3DCCD1}">
              <a14:hiddenFill xmlns="" xmlns:a14="http://schemas.microsoft.com/office/drawing/2010/main">
                <a:solidFill>
                  <a:schemeClr val="tx2">
                    <a:lumMod val="60000"/>
                    <a:lumOff val="40000"/>
                    <a:alpha val="30000"/>
                  </a:schemeClr>
                </a:solidFill>
              </a14:hiddenFill>
            </a:ext>
          </a:extLst>
        </p:spPr>
        <p:txBody>
          <a:bodyPr wrap="square">
            <a:spAutoFit/>
          </a:bodyPr>
          <a:lstStyle/>
          <a:p>
            <a:pPr lvl="0" algn="ctr">
              <a:buClrTx/>
              <a:buSzTx/>
              <a:buFontTx/>
            </a:pPr>
            <a:r>
              <a:rPr lang="zh-CN" altLang="en-US" sz="1200" b="1" kern="0" dirty="0">
                <a:solidFill>
                  <a:schemeClr val="accent1"/>
                </a:solidFill>
                <a:latin typeface="微软雅黑" panose="020B0503020204020204" pitchFamily="34" charset="-122"/>
                <a:ea typeface="微软雅黑" panose="020B0503020204020204" pitchFamily="34" charset="-122"/>
                <a:cs typeface="宋体" panose="02010600030101010101" pitchFamily="2" charset="-122"/>
                <a:sym typeface="+mn-ea"/>
              </a:rPr>
              <a:t>心电云客户端</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57200" y="1"/>
            <a:ext cx="7830776" cy="857250"/>
          </a:xfrm>
        </p:spPr>
        <p:txBody>
          <a:bodyPr/>
          <a:lstStyle/>
          <a:p>
            <a:r>
              <a:rPr lang="zh-CN" altLang="en-US" dirty="0">
                <a:solidFill>
                  <a:srgbClr val="2179B1"/>
                </a:solidFill>
              </a:rPr>
              <a:t>监测中央站、客户端软件</a:t>
            </a:r>
          </a:p>
        </p:txBody>
      </p:sp>
      <p:grpSp>
        <p:nvGrpSpPr>
          <p:cNvPr id="2" name="组合 9"/>
          <p:cNvGrpSpPr/>
          <p:nvPr/>
        </p:nvGrpSpPr>
        <p:grpSpPr>
          <a:xfrm>
            <a:off x="774349" y="987574"/>
            <a:ext cx="7364095" cy="436245"/>
            <a:chOff x="1242" y="1776"/>
            <a:chExt cx="11597" cy="687"/>
          </a:xfrm>
        </p:grpSpPr>
        <p:sp>
          <p:nvSpPr>
            <p:cNvPr id="11" name="矩形 10"/>
            <p:cNvSpPr/>
            <p:nvPr/>
          </p:nvSpPr>
          <p:spPr>
            <a:xfrm>
              <a:off x="2971" y="1782"/>
              <a:ext cx="9800" cy="6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五边形 23"/>
            <p:cNvSpPr/>
            <p:nvPr/>
          </p:nvSpPr>
          <p:spPr>
            <a:xfrm>
              <a:off x="1242" y="1783"/>
              <a:ext cx="1849" cy="680"/>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200" b="1" dirty="0">
                  <a:solidFill>
                    <a:srgbClr val="2492D8"/>
                  </a:solidFill>
                  <a:latin typeface="微软雅黑" panose="020B0503020204020204" pitchFamily="34" charset="-122"/>
                  <a:ea typeface="微软雅黑" panose="020B0503020204020204" pitchFamily="34" charset="-122"/>
                  <a:cs typeface="微软雅黑 Light" panose="020B0502040204020203" charset="-122"/>
                  <a:sym typeface="+mn-ea"/>
                </a:rPr>
                <a:t>实时远程监护</a:t>
              </a:r>
            </a:p>
          </p:txBody>
        </p:sp>
        <p:sp>
          <p:nvSpPr>
            <p:cNvPr id="13" name="文本框 4"/>
            <p:cNvSpPr txBox="1"/>
            <p:nvPr/>
          </p:nvSpPr>
          <p:spPr>
            <a:xfrm>
              <a:off x="3231" y="1809"/>
              <a:ext cx="9608" cy="628"/>
            </a:xfrm>
            <a:prstGeom prst="rect">
              <a:avLst/>
            </a:prstGeom>
            <a:noFill/>
          </p:spPr>
          <p:txBody>
            <a:bodyPr wrap="square" rtlCol="0">
              <a:sp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中央站、客户端实时显示多导心电波形、呼吸波形、心率、呼吸率、脉率、血氧、血压，实时远程监控病床患者动态生命体征；</a:t>
              </a:r>
            </a:p>
          </p:txBody>
        </p:sp>
        <p:sp>
          <p:nvSpPr>
            <p:cNvPr id="14" name="矩形 13"/>
            <p:cNvSpPr/>
            <p:nvPr/>
          </p:nvSpPr>
          <p:spPr>
            <a:xfrm>
              <a:off x="2971" y="1776"/>
              <a:ext cx="120" cy="677"/>
            </a:xfrm>
            <a:prstGeom prst="rect">
              <a:avLst/>
            </a:prstGeom>
            <a:solidFill>
              <a:srgbClr val="249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14"/>
          <p:cNvGrpSpPr/>
          <p:nvPr/>
        </p:nvGrpSpPr>
        <p:grpSpPr>
          <a:xfrm>
            <a:off x="773714" y="1563519"/>
            <a:ext cx="7445375" cy="436245"/>
            <a:chOff x="1241" y="2798"/>
            <a:chExt cx="11725" cy="687"/>
          </a:xfrm>
        </p:grpSpPr>
        <p:sp>
          <p:nvSpPr>
            <p:cNvPr id="16" name="矩形 15"/>
            <p:cNvSpPr/>
            <p:nvPr>
              <p:custDataLst>
                <p:tags r:id="rId16"/>
              </p:custDataLst>
            </p:nvPr>
          </p:nvSpPr>
          <p:spPr>
            <a:xfrm>
              <a:off x="2972" y="2804"/>
              <a:ext cx="9799" cy="68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五边形 28"/>
            <p:cNvSpPr/>
            <p:nvPr>
              <p:custDataLst>
                <p:tags r:id="rId17"/>
              </p:custDataLst>
            </p:nvPr>
          </p:nvSpPr>
          <p:spPr>
            <a:xfrm>
              <a:off x="1241" y="2805"/>
              <a:ext cx="1856" cy="680"/>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200" b="1" dirty="0">
                  <a:solidFill>
                    <a:srgbClr val="4BACC6"/>
                  </a:solidFill>
                  <a:latin typeface="微软雅黑" panose="020B0503020204020204" pitchFamily="34" charset="-122"/>
                  <a:ea typeface="微软雅黑" panose="020B0503020204020204" pitchFamily="34" charset="-122"/>
                  <a:cs typeface="微软雅黑 Light" panose="020B0502040204020203" charset="-122"/>
                  <a:sym typeface="+mn-ea"/>
                </a:rPr>
                <a:t>集中高效管理</a:t>
              </a:r>
            </a:p>
          </p:txBody>
        </p:sp>
        <p:sp>
          <p:nvSpPr>
            <p:cNvPr id="18" name="文本框 18"/>
            <p:cNvSpPr txBox="1"/>
            <p:nvPr>
              <p:custDataLst>
                <p:tags r:id="rId18"/>
              </p:custDataLst>
            </p:nvPr>
          </p:nvSpPr>
          <p:spPr>
            <a:xfrm>
              <a:off x="3231" y="2798"/>
              <a:ext cx="9735" cy="680"/>
            </a:xfrm>
            <a:prstGeom prst="rect">
              <a:avLst/>
            </a:prstGeom>
            <a:noFill/>
          </p:spPr>
          <p:txBody>
            <a:bodyPr wrap="square" rtlCol="0">
              <a:no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除了床旁监测外，还可以远程监测多个监测仪，不限接入数量，方便医生远程查看患者的实时身体状况，实现远程集中管理，提高管理效率，降低成本；</a:t>
              </a:r>
            </a:p>
          </p:txBody>
        </p:sp>
        <p:sp>
          <p:nvSpPr>
            <p:cNvPr id="19" name="矩形 18"/>
            <p:cNvSpPr/>
            <p:nvPr/>
          </p:nvSpPr>
          <p:spPr>
            <a:xfrm>
              <a:off x="2971" y="2802"/>
              <a:ext cx="120" cy="677"/>
            </a:xfrm>
            <a:prstGeom prst="rect">
              <a:avLst/>
            </a:prstGeom>
            <a:solidFill>
              <a:srgbClr val="4BAC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19"/>
          <p:cNvGrpSpPr/>
          <p:nvPr/>
        </p:nvGrpSpPr>
        <p:grpSpPr>
          <a:xfrm>
            <a:off x="475264" y="2124224"/>
            <a:ext cx="7671435" cy="433705"/>
            <a:chOff x="771" y="2802"/>
            <a:chExt cx="12081" cy="683"/>
          </a:xfrm>
        </p:grpSpPr>
        <p:sp>
          <p:nvSpPr>
            <p:cNvPr id="21" name="矩形 20"/>
            <p:cNvSpPr/>
            <p:nvPr>
              <p:custDataLst>
                <p:tags r:id="rId13"/>
              </p:custDataLst>
            </p:nvPr>
          </p:nvSpPr>
          <p:spPr>
            <a:xfrm>
              <a:off x="2972" y="2804"/>
              <a:ext cx="9799" cy="6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五边形 33"/>
            <p:cNvSpPr/>
            <p:nvPr>
              <p:custDataLst>
                <p:tags r:id="rId14"/>
              </p:custDataLst>
            </p:nvPr>
          </p:nvSpPr>
          <p:spPr>
            <a:xfrm>
              <a:off x="771" y="2805"/>
              <a:ext cx="2326" cy="680"/>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200" b="1" dirty="0">
                  <a:solidFill>
                    <a:schemeClr val="bg2">
                      <a:lumMod val="50000"/>
                    </a:schemeClr>
                  </a:solidFill>
                  <a:latin typeface="微软雅黑" panose="020B0503020204020204" pitchFamily="34" charset="-122"/>
                  <a:ea typeface="微软雅黑" panose="020B0503020204020204" pitchFamily="34" charset="-122"/>
                  <a:cs typeface="微软雅黑 Light" panose="020B0502040204020203" charset="-122"/>
                  <a:sym typeface="+mn-ea"/>
                </a:rPr>
                <a:t>心律失常即时报警</a:t>
              </a:r>
            </a:p>
          </p:txBody>
        </p:sp>
        <p:sp>
          <p:nvSpPr>
            <p:cNvPr id="23" name="文本框 29"/>
            <p:cNvSpPr txBox="1"/>
            <p:nvPr>
              <p:custDataLst>
                <p:tags r:id="rId15"/>
              </p:custDataLst>
            </p:nvPr>
          </p:nvSpPr>
          <p:spPr>
            <a:xfrm>
              <a:off x="3231" y="2831"/>
              <a:ext cx="9621" cy="628"/>
            </a:xfrm>
            <a:prstGeom prst="rect">
              <a:avLst/>
            </a:prstGeom>
            <a:noFill/>
          </p:spPr>
          <p:txBody>
            <a:bodyPr wrap="square" rtlCol="0">
              <a:sp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对自动检测的心律失常事件报警，对停搏、室速、显著的ST段改变等危急值自动报警，并对干扰波进行自动识别和报警提示，减低医疗风险，减轻护士工作量；</a:t>
              </a:r>
            </a:p>
          </p:txBody>
        </p:sp>
        <p:sp>
          <p:nvSpPr>
            <p:cNvPr id="24" name="矩形 23"/>
            <p:cNvSpPr/>
            <p:nvPr/>
          </p:nvSpPr>
          <p:spPr>
            <a:xfrm>
              <a:off x="2971" y="2802"/>
              <a:ext cx="120" cy="67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24"/>
          <p:cNvGrpSpPr/>
          <p:nvPr/>
        </p:nvGrpSpPr>
        <p:grpSpPr>
          <a:xfrm>
            <a:off x="604804" y="2668419"/>
            <a:ext cx="7490460" cy="433705"/>
            <a:chOff x="975" y="2802"/>
            <a:chExt cx="11796" cy="683"/>
          </a:xfrm>
        </p:grpSpPr>
        <p:sp>
          <p:nvSpPr>
            <p:cNvPr id="27" name="矩形 26"/>
            <p:cNvSpPr/>
            <p:nvPr>
              <p:custDataLst>
                <p:tags r:id="rId10"/>
              </p:custDataLst>
            </p:nvPr>
          </p:nvSpPr>
          <p:spPr>
            <a:xfrm>
              <a:off x="2972" y="2804"/>
              <a:ext cx="9799" cy="6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五边形 38"/>
            <p:cNvSpPr/>
            <p:nvPr>
              <p:custDataLst>
                <p:tags r:id="rId11"/>
              </p:custDataLst>
            </p:nvPr>
          </p:nvSpPr>
          <p:spPr>
            <a:xfrm>
              <a:off x="975" y="2805"/>
              <a:ext cx="2122" cy="680"/>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200" b="1" dirty="0">
                  <a:solidFill>
                    <a:srgbClr val="2492D8"/>
                  </a:solidFill>
                  <a:latin typeface="微软雅黑" panose="020B0503020204020204" pitchFamily="34" charset="-122"/>
                  <a:ea typeface="微软雅黑" panose="020B0503020204020204" pitchFamily="34" charset="-122"/>
                  <a:cs typeface="微软雅黑 Light" panose="020B0502040204020203" charset="-122"/>
                  <a:sym typeface="+mn-ea"/>
                </a:rPr>
                <a:t>平台业务一体化</a:t>
              </a:r>
            </a:p>
          </p:txBody>
        </p:sp>
        <p:sp>
          <p:nvSpPr>
            <p:cNvPr id="29" name="文本框 44"/>
            <p:cNvSpPr txBox="1"/>
            <p:nvPr>
              <p:custDataLst>
                <p:tags r:id="rId12"/>
              </p:custDataLst>
            </p:nvPr>
          </p:nvSpPr>
          <p:spPr>
            <a:xfrm>
              <a:off x="3231" y="2831"/>
              <a:ext cx="9540" cy="628"/>
            </a:xfrm>
            <a:prstGeom prst="rect">
              <a:avLst/>
            </a:prstGeom>
            <a:noFill/>
          </p:spPr>
          <p:txBody>
            <a:bodyPr wrap="square" rtlCol="0">
              <a:sp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除了具备实时监护能力，还可于动态</a:t>
              </a:r>
              <a:r>
                <a:rPr lang="en-US" altLang="zh-CN" sz="10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holter</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，生成专业的动态心电分析报告，省去奔波于不同科室，佩戴两次设备的烦恼；</a:t>
              </a:r>
            </a:p>
          </p:txBody>
        </p:sp>
        <p:sp>
          <p:nvSpPr>
            <p:cNvPr id="30" name="矩形 29"/>
            <p:cNvSpPr/>
            <p:nvPr/>
          </p:nvSpPr>
          <p:spPr>
            <a:xfrm>
              <a:off x="2971" y="2802"/>
              <a:ext cx="120" cy="677"/>
            </a:xfrm>
            <a:prstGeom prst="rect">
              <a:avLst/>
            </a:prstGeom>
            <a:solidFill>
              <a:srgbClr val="249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30"/>
          <p:cNvGrpSpPr/>
          <p:nvPr/>
        </p:nvGrpSpPr>
        <p:grpSpPr>
          <a:xfrm>
            <a:off x="595279" y="3212614"/>
            <a:ext cx="7499985" cy="433705"/>
            <a:chOff x="960" y="2802"/>
            <a:chExt cx="11811" cy="683"/>
          </a:xfrm>
        </p:grpSpPr>
        <p:sp>
          <p:nvSpPr>
            <p:cNvPr id="32" name="矩形 31"/>
            <p:cNvSpPr/>
            <p:nvPr>
              <p:custDataLst>
                <p:tags r:id="rId7"/>
              </p:custDataLst>
            </p:nvPr>
          </p:nvSpPr>
          <p:spPr>
            <a:xfrm>
              <a:off x="2972" y="2804"/>
              <a:ext cx="9799" cy="68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五边形 43"/>
            <p:cNvSpPr/>
            <p:nvPr>
              <p:custDataLst>
                <p:tags r:id="rId8"/>
              </p:custDataLst>
            </p:nvPr>
          </p:nvSpPr>
          <p:spPr>
            <a:xfrm>
              <a:off x="960" y="2805"/>
              <a:ext cx="2137" cy="680"/>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200" b="1" dirty="0">
                  <a:solidFill>
                    <a:srgbClr val="4BACC6"/>
                  </a:solidFill>
                  <a:latin typeface="微软雅黑" panose="020B0503020204020204" pitchFamily="34" charset="-122"/>
                  <a:ea typeface="微软雅黑" panose="020B0503020204020204" pitchFamily="34" charset="-122"/>
                  <a:cs typeface="微软雅黑 Light" panose="020B0502040204020203" charset="-122"/>
                  <a:sym typeface="+mn-ea"/>
                </a:rPr>
                <a:t>一体化数据管理</a:t>
              </a:r>
            </a:p>
          </p:txBody>
        </p:sp>
        <p:sp>
          <p:nvSpPr>
            <p:cNvPr id="34" name="文本框 50"/>
            <p:cNvSpPr txBox="1"/>
            <p:nvPr>
              <p:custDataLst>
                <p:tags r:id="rId9"/>
              </p:custDataLst>
            </p:nvPr>
          </p:nvSpPr>
          <p:spPr>
            <a:xfrm>
              <a:off x="3231" y="2857"/>
              <a:ext cx="9540" cy="522"/>
            </a:xfrm>
            <a:prstGeom prst="rect">
              <a:avLst/>
            </a:prstGeom>
            <a:noFill/>
          </p:spPr>
          <p:txBody>
            <a:bodyPr wrap="square" rtlCol="0">
              <a:no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急救、入院、转运、检查、康复训练等场景下的监护数据一体化管理，设备暂时断线，会自动连接补传数据，保持数据的完整性，医生可在各监护客户端轻松访问数据；</a:t>
              </a:r>
            </a:p>
          </p:txBody>
        </p:sp>
        <p:sp>
          <p:nvSpPr>
            <p:cNvPr id="35" name="矩形 34"/>
            <p:cNvSpPr/>
            <p:nvPr/>
          </p:nvSpPr>
          <p:spPr>
            <a:xfrm>
              <a:off x="2971" y="2802"/>
              <a:ext cx="120" cy="677"/>
            </a:xfrm>
            <a:prstGeom prst="rect">
              <a:avLst/>
            </a:prstGeom>
            <a:solidFill>
              <a:srgbClr val="4BAC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37"/>
          <p:cNvGrpSpPr/>
          <p:nvPr/>
        </p:nvGrpSpPr>
        <p:grpSpPr>
          <a:xfrm>
            <a:off x="886744" y="3759349"/>
            <a:ext cx="7259955" cy="435610"/>
            <a:chOff x="1419" y="2799"/>
            <a:chExt cx="11433" cy="686"/>
          </a:xfrm>
        </p:grpSpPr>
        <p:sp>
          <p:nvSpPr>
            <p:cNvPr id="39" name="矩形 38"/>
            <p:cNvSpPr/>
            <p:nvPr>
              <p:custDataLst>
                <p:tags r:id="rId4"/>
              </p:custDataLst>
            </p:nvPr>
          </p:nvSpPr>
          <p:spPr>
            <a:xfrm>
              <a:off x="2972" y="2804"/>
              <a:ext cx="9799" cy="6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五边形 48"/>
            <p:cNvSpPr/>
            <p:nvPr>
              <p:custDataLst>
                <p:tags r:id="rId5"/>
              </p:custDataLst>
            </p:nvPr>
          </p:nvSpPr>
          <p:spPr>
            <a:xfrm>
              <a:off x="1419" y="2805"/>
              <a:ext cx="1678" cy="680"/>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200" b="1" dirty="0">
                  <a:solidFill>
                    <a:schemeClr val="bg2">
                      <a:lumMod val="50000"/>
                    </a:schemeClr>
                  </a:solidFill>
                  <a:latin typeface="微软雅黑" panose="020B0503020204020204" pitchFamily="34" charset="-122"/>
                  <a:ea typeface="微软雅黑" panose="020B0503020204020204" pitchFamily="34" charset="-122"/>
                  <a:cs typeface="微软雅黑 Light" panose="020B0502040204020203" charset="-122"/>
                  <a:sym typeface="+mn-ea"/>
                </a:rPr>
                <a:t>AI自动分析</a:t>
              </a:r>
            </a:p>
          </p:txBody>
        </p:sp>
        <p:sp>
          <p:nvSpPr>
            <p:cNvPr id="42" name="文本框 55"/>
            <p:cNvSpPr txBox="1"/>
            <p:nvPr>
              <p:custDataLst>
                <p:tags r:id="rId6"/>
              </p:custDataLst>
            </p:nvPr>
          </p:nvSpPr>
          <p:spPr>
            <a:xfrm>
              <a:off x="3231" y="2799"/>
              <a:ext cx="9621" cy="630"/>
            </a:xfrm>
            <a:prstGeom prst="rect">
              <a:avLst/>
            </a:prstGeom>
            <a:noFill/>
          </p:spPr>
          <p:txBody>
            <a:bodyPr wrap="square" rtlCol="0">
              <a:sp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内嵌动态心电软件分析包、动态血压分析软件包，对采集的多种电生理参数信号进行统一分析，减轻医生工作量，提高分析效率；</a:t>
              </a:r>
            </a:p>
          </p:txBody>
        </p:sp>
        <p:sp>
          <p:nvSpPr>
            <p:cNvPr id="43" name="矩形 42"/>
            <p:cNvSpPr/>
            <p:nvPr/>
          </p:nvSpPr>
          <p:spPr>
            <a:xfrm>
              <a:off x="2971" y="2802"/>
              <a:ext cx="120" cy="677"/>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43"/>
          <p:cNvGrpSpPr/>
          <p:nvPr/>
        </p:nvGrpSpPr>
        <p:grpSpPr>
          <a:xfrm>
            <a:off x="905794" y="4301004"/>
            <a:ext cx="7189470" cy="433705"/>
            <a:chOff x="1449" y="2802"/>
            <a:chExt cx="11322" cy="683"/>
          </a:xfrm>
        </p:grpSpPr>
        <p:sp>
          <p:nvSpPr>
            <p:cNvPr id="45" name="矩形 44"/>
            <p:cNvSpPr/>
            <p:nvPr>
              <p:custDataLst>
                <p:tags r:id="rId1"/>
              </p:custDataLst>
            </p:nvPr>
          </p:nvSpPr>
          <p:spPr>
            <a:xfrm>
              <a:off x="2972" y="2804"/>
              <a:ext cx="9799" cy="68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五边形 53"/>
            <p:cNvSpPr/>
            <p:nvPr>
              <p:custDataLst>
                <p:tags r:id="rId2"/>
              </p:custDataLst>
            </p:nvPr>
          </p:nvSpPr>
          <p:spPr>
            <a:xfrm>
              <a:off x="1449" y="2805"/>
              <a:ext cx="1648" cy="680"/>
            </a:xfrm>
            <a:prstGeom prst="homePlate">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200" b="1" dirty="0">
                  <a:solidFill>
                    <a:srgbClr val="2492D8"/>
                  </a:solidFill>
                  <a:latin typeface="微软雅黑" panose="020B0503020204020204" pitchFamily="34" charset="-122"/>
                  <a:ea typeface="微软雅黑" panose="020B0503020204020204" pitchFamily="34" charset="-122"/>
                  <a:cs typeface="微软雅黑 Light" panose="020B0502040204020203" charset="-122"/>
                  <a:sym typeface="+mn-ea"/>
                </a:rPr>
                <a:t>扩容成本低</a:t>
              </a:r>
            </a:p>
          </p:txBody>
        </p:sp>
        <p:sp>
          <p:nvSpPr>
            <p:cNvPr id="47" name="文本框 65"/>
            <p:cNvSpPr txBox="1"/>
            <p:nvPr>
              <p:custDataLst>
                <p:tags r:id="rId3"/>
              </p:custDataLst>
            </p:nvPr>
          </p:nvSpPr>
          <p:spPr>
            <a:xfrm>
              <a:off x="3231" y="2933"/>
              <a:ext cx="9540" cy="386"/>
            </a:xfrm>
            <a:prstGeom prst="rect">
              <a:avLst/>
            </a:prstGeom>
            <a:noFill/>
          </p:spPr>
          <p:txBody>
            <a:bodyPr wrap="square" rtlCol="0">
              <a:spAutoFit/>
            </a:bodyPr>
            <a:lstStyle/>
            <a:p>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增加设备时不需要重新安装，后期升级追加成本少；</a:t>
              </a:r>
            </a:p>
          </p:txBody>
        </p:sp>
        <p:sp>
          <p:nvSpPr>
            <p:cNvPr id="48" name="矩形 47"/>
            <p:cNvSpPr/>
            <p:nvPr/>
          </p:nvSpPr>
          <p:spPr>
            <a:xfrm>
              <a:off x="2971" y="2802"/>
              <a:ext cx="120" cy="677"/>
            </a:xfrm>
            <a:prstGeom prst="rect">
              <a:avLst/>
            </a:prstGeom>
            <a:solidFill>
              <a:srgbClr val="2492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4228269" y="932650"/>
            <a:ext cx="902811" cy="307777"/>
          </a:xfrm>
          <a:prstGeom prst="rect">
            <a:avLst/>
          </a:prstGeom>
          <a:noFill/>
        </p:spPr>
        <p:txBody>
          <a:bodyPr wrap="none" rtlCol="0">
            <a:spAutoFit/>
          </a:bodyPr>
          <a:lstStyle/>
          <a:p>
            <a:r>
              <a:rPr lang="zh-CN" altLang="en-US" sz="1400" b="1" dirty="0">
                <a:solidFill>
                  <a:srgbClr val="196494"/>
                </a:solidFill>
                <a:latin typeface="微软雅黑" panose="020B0503020204020204" pitchFamily="34" charset="-122"/>
                <a:ea typeface="微软雅黑" panose="020B0503020204020204" pitchFamily="34" charset="-122"/>
              </a:rPr>
              <a:t>产品亮点</a:t>
            </a:r>
          </a:p>
        </p:txBody>
      </p:sp>
      <p:sp>
        <p:nvSpPr>
          <p:cNvPr id="36" name="文本框 35"/>
          <p:cNvSpPr txBox="1"/>
          <p:nvPr/>
        </p:nvSpPr>
        <p:spPr>
          <a:xfrm>
            <a:off x="539552" y="3291830"/>
            <a:ext cx="800219" cy="276999"/>
          </a:xfrm>
          <a:prstGeom prst="rect">
            <a:avLst/>
          </a:prstGeom>
          <a:noFill/>
        </p:spPr>
        <p:txBody>
          <a:bodyPr wrap="none" rtlCol="0">
            <a:spAutoFit/>
          </a:bodyPr>
          <a:lstStyle/>
          <a:p>
            <a:pPr>
              <a:spcAft>
                <a:spcPts val="600"/>
              </a:spcAft>
            </a:pPr>
            <a:r>
              <a:rPr lang="zh-CN" altLang="en-US" sz="1200" b="1" dirty="0">
                <a:solidFill>
                  <a:srgbClr val="196494"/>
                </a:solidFill>
                <a:latin typeface="微软雅黑" panose="020B0503020204020204" pitchFamily="34" charset="-122"/>
                <a:ea typeface="微软雅黑" panose="020B0503020204020204" pitchFamily="34" charset="-122"/>
              </a:rPr>
              <a:t>适用场景</a:t>
            </a:r>
            <a:endParaRPr lang="en-US" altLang="zh-CN" sz="1200" b="1" dirty="0">
              <a:solidFill>
                <a:srgbClr val="196494"/>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539750" y="3703955"/>
            <a:ext cx="3285490" cy="640715"/>
          </a:xfrm>
          <a:prstGeom prst="roundRect">
            <a:avLst/>
          </a:prstGeom>
          <a:no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lnSpc>
                <a:spcPct val="150000"/>
              </a:lnSpc>
              <a:spcBef>
                <a:spcPct val="0"/>
              </a:spcBef>
              <a:spcAft>
                <a:spcPct val="0"/>
              </a:spcAft>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院内院外监测、术后康复检查、随访管理、慢病管理、社区健康管理等</a:t>
            </a:r>
          </a:p>
        </p:txBody>
      </p:sp>
      <p:sp>
        <p:nvSpPr>
          <p:cNvPr id="3" name="标题 2"/>
          <p:cNvSpPr>
            <a:spLocks noGrp="1"/>
          </p:cNvSpPr>
          <p:nvPr>
            <p:ph type="title"/>
          </p:nvPr>
        </p:nvSpPr>
        <p:spPr>
          <a:xfrm>
            <a:off x="457200" y="1"/>
            <a:ext cx="7830776" cy="857250"/>
          </a:xfrm>
        </p:spPr>
        <p:txBody>
          <a:bodyPr/>
          <a:lstStyle/>
          <a:p>
            <a:r>
              <a:rPr lang="zh-CN" altLang="en-US" dirty="0">
                <a:solidFill>
                  <a:srgbClr val="2179B1"/>
                </a:solidFill>
              </a:rPr>
              <a:t>医疗级便携式设备</a:t>
            </a:r>
            <a:r>
              <a:rPr lang="en-US" altLang="zh-CN" dirty="0">
                <a:solidFill>
                  <a:srgbClr val="2179B1"/>
                </a:solidFill>
              </a:rPr>
              <a:t>|TE-8000Y-F</a:t>
            </a:r>
            <a:r>
              <a:rPr lang="zh-CN" altLang="en-US" dirty="0">
                <a:solidFill>
                  <a:srgbClr val="2179B1"/>
                </a:solidFill>
              </a:rPr>
              <a:t>型无线多参数监测仪</a:t>
            </a:r>
          </a:p>
        </p:txBody>
      </p:sp>
      <p:pic>
        <p:nvPicPr>
          <p:cNvPr id="7" name="Picture 2" descr="E:\BSJ\E\工作资料\公司及产品介绍\产品效果图\HM117A1-不带线.png"/>
          <p:cNvPicPr>
            <a:picLocks noChangeAspect="1" noChangeArrowheads="1"/>
          </p:cNvPicPr>
          <p:nvPr>
            <p:custDataLst>
              <p:tags r:id="rId1"/>
            </p:custDataLst>
          </p:nvPr>
        </p:nvPicPr>
        <p:blipFill>
          <a:blip r:embed="rId4" cstate="print"/>
          <a:srcRect/>
          <a:stretch>
            <a:fillRect/>
          </a:stretch>
        </p:blipFill>
        <p:spPr bwMode="auto">
          <a:xfrm rot="300000">
            <a:off x="2657904" y="1918510"/>
            <a:ext cx="1369130" cy="998542"/>
          </a:xfrm>
          <a:prstGeom prst="rect">
            <a:avLst/>
          </a:prstGeom>
          <a:noFill/>
        </p:spPr>
      </p:pic>
      <p:pic>
        <p:nvPicPr>
          <p:cNvPr id="9" name="Picture 3" descr="C:\Users\Administrator\Desktop\609不带音插.png"/>
          <p:cNvPicPr>
            <a:picLocks noChangeAspect="1" noChangeArrowheads="1"/>
          </p:cNvPicPr>
          <p:nvPr>
            <p:custDataLst>
              <p:tags r:id="rId2"/>
            </p:custDataLst>
          </p:nvPr>
        </p:nvPicPr>
        <p:blipFill>
          <a:blip r:embed="rId5" cstate="print"/>
          <a:srcRect l="15348" t="9864" r="3506" b="12574"/>
          <a:stretch>
            <a:fillRect/>
          </a:stretch>
        </p:blipFill>
        <p:spPr bwMode="auto">
          <a:xfrm rot="240000">
            <a:off x="503881" y="1224302"/>
            <a:ext cx="2716746" cy="1678324"/>
          </a:xfrm>
          <a:prstGeom prst="rect">
            <a:avLst/>
          </a:prstGeom>
          <a:noFill/>
        </p:spPr>
      </p:pic>
      <p:sp>
        <p:nvSpPr>
          <p:cNvPr id="41" name="文本框 40"/>
          <p:cNvSpPr txBox="1"/>
          <p:nvPr/>
        </p:nvSpPr>
        <p:spPr>
          <a:xfrm>
            <a:off x="4228269" y="1285049"/>
            <a:ext cx="4649571" cy="3420577"/>
          </a:xfrm>
          <a:prstGeom prst="rect">
            <a:avLst/>
          </a:prstGeom>
          <a:noFill/>
        </p:spPr>
        <p:txBody>
          <a:bodyPr wrap="square" rtlCol="0" anchor="t">
            <a:noAutofit/>
          </a:bodyPr>
          <a:lstStyle/>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多</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参数实时同步监测：</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心电、呼吸、血氧、脉率、血压参数实时、连续、长时监测，</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3</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导</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/12</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导联心电可选，为医护人员提供第一手的诊疗依据。</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多种模式，一机多用：</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可灵活选择多参实时监测或单参监测，也可作为动态心电图机、动态血压监测仪使用，设备端和平台端均可发起测量。</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移动监测，服务延伸</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4G/</a:t>
            </a:r>
            <a:r>
              <a:rPr lang="en-US" altLang="zh-CN" sz="1000" b="1"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WiFi</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无线传输，全网覆盖，</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打破传统遥测监测边界，患者行动自如，脱离病床的束缚，扩大活动范围，同时拓宽院外监护场景，从急救、转运、入院、检查到康复全生命周期内保持数据的连续性和完整性。</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便携轻薄，</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舒适体验：</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手机大小，</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方便携带，分体式设计，灵活配置，给予患者舒适的穿戴体验。</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gn="l">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显示直观，</a:t>
            </a:r>
            <a:r>
              <a:rPr lang="en-US" altLang="zh-CN" sz="1000" b="1"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交互友好</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彩色高清屏幕实时分区显示波形、数值、报警等信息，界面设计清晰、直观，一目了然，信息全掌握，</a:t>
            </a:r>
            <a:r>
              <a:rPr lang="en-US" altLang="zh-CN" sz="10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电容触摸屏</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给您</a:t>
            </a:r>
            <a:r>
              <a:rPr lang="en-US" altLang="zh-CN" sz="10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智能手机般的操作体验</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gn="l">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实时报警，紧急呼叫</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好络维独有的</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AI-ECG</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人工智能辅助心电分析技术，支持</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心电图危急值的实时监测分析报警，事件存储回放。患者不适时，可按下</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SOS</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按键紧急呼叫医生</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mn-ea"/>
              </a:rPr>
              <a:t>护士，危急时刻安心守护。</a:t>
            </a:r>
          </a:p>
          <a:p>
            <a:pPr>
              <a:lnSpc>
                <a:spcPct val="150000"/>
              </a:lnSpc>
            </a:pPr>
            <a:endParaRPr lang="en-US" altLang="zh-CN" sz="1400" dirty="0">
              <a:latin typeface="微软雅黑 Light" panose="020B0502040204020203" charset="-122"/>
              <a:ea typeface="微软雅黑 Light" panose="020B0502040204020203" charset="-122"/>
              <a:cs typeface="微软雅黑 Light" panose="020B0502040204020203" charset="-122"/>
              <a:sym typeface="+mn-ea"/>
            </a:endParaRPr>
          </a:p>
          <a:p>
            <a:pPr>
              <a:lnSpc>
                <a:spcPct val="150000"/>
              </a:lnSpc>
            </a:pPr>
            <a:endParaRPr lang="en-US" altLang="zh-CN" sz="1400" dirty="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endParaRPr lang="zh-CN" altLang="en-US" sz="1400" b="1" dirty="0">
              <a:solidFill>
                <a:schemeClr val="bg1"/>
              </a:solidFill>
              <a:latin typeface="微软雅黑 Light" panose="020B0502040204020203" charset="-122"/>
              <a:ea typeface="微软雅黑 Light" panose="020B0502040204020203" charset="-122"/>
              <a:cs typeface="微软雅黑 Light" panose="020B0502040204020203" charset="-122"/>
              <a:sym typeface="+mn-ea"/>
            </a:endParaRPr>
          </a:p>
          <a:p>
            <a:endParaRPr lang="zh-CN" altLang="en-US" sz="3200" b="1" dirty="0">
              <a:solidFill>
                <a:schemeClr val="bg1"/>
              </a:solidFill>
              <a:latin typeface="微软雅黑" panose="020B0503020204020204" pitchFamily="34" charset="-122"/>
              <a:ea typeface="微软雅黑" panose="020B0503020204020204" pitchFamily="34" charset="-122"/>
              <a:cs typeface="微软雅黑 Light" panose="020B0502040204020203"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123DA516-2E0B-4D86-BDA8-E5542DB50017-1282-00000028CFB320BF"/>
          <p:cNvPicPr>
            <a:picLocks noChangeAspect="1"/>
          </p:cNvPicPr>
          <p:nvPr/>
        </p:nvPicPr>
        <p:blipFill>
          <a:blip r:embed="rId3" cstate="print"/>
          <a:stretch>
            <a:fillRect/>
          </a:stretch>
        </p:blipFill>
        <p:spPr>
          <a:xfrm>
            <a:off x="1547664" y="1152510"/>
            <a:ext cx="1365279" cy="2427352"/>
          </a:xfrm>
          <a:prstGeom prst="rect">
            <a:avLst/>
          </a:prstGeom>
        </p:spPr>
      </p:pic>
      <p:sp>
        <p:nvSpPr>
          <p:cNvPr id="7" name="文本框 6"/>
          <p:cNvSpPr txBox="1"/>
          <p:nvPr/>
        </p:nvSpPr>
        <p:spPr>
          <a:xfrm>
            <a:off x="683568" y="3867894"/>
            <a:ext cx="3416320" cy="952697"/>
          </a:xfrm>
          <a:prstGeom prst="rect">
            <a:avLst/>
          </a:prstGeom>
          <a:noFill/>
        </p:spPr>
        <p:txBody>
          <a:bodyPr wrap="square" rtlCol="0">
            <a:spAutoFit/>
          </a:bodyPr>
          <a:lstStyle/>
          <a:p>
            <a:pPr>
              <a:spcAft>
                <a:spcPts val="600"/>
              </a:spcAft>
            </a:pPr>
            <a:r>
              <a:rPr lang="zh-CN" altLang="en-US" sz="1200" b="1" dirty="0">
                <a:solidFill>
                  <a:srgbClr val="196494"/>
                </a:solidFill>
                <a:latin typeface="微软雅黑" panose="020B0503020204020204" pitchFamily="34" charset="-122"/>
                <a:ea typeface="微软雅黑" panose="020B0503020204020204" pitchFamily="34" charset="-122"/>
              </a:rPr>
              <a:t>适用场景</a:t>
            </a:r>
            <a:endParaRPr lang="en-US" altLang="zh-CN" sz="1200" b="1" dirty="0">
              <a:solidFill>
                <a:srgbClr val="196494"/>
              </a:solidFill>
              <a:latin typeface="微软雅黑" panose="020B0503020204020204" pitchFamily="34" charset="-122"/>
              <a:ea typeface="微软雅黑" panose="020B0503020204020204" pitchFamily="34" charset="-122"/>
            </a:endParaRPr>
          </a:p>
          <a:p>
            <a:pPr>
              <a:lnSpc>
                <a:spcPct val="150000"/>
              </a:lnSpc>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等级医院：诊室检查、院外救护、病房巡诊等</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基层医疗：诊室检查、公卫筛查、慢病随访、健康体检、义诊等</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体检中心：健康体检</a:t>
            </a:r>
          </a:p>
        </p:txBody>
      </p:sp>
      <p:sp>
        <p:nvSpPr>
          <p:cNvPr id="32" name="圆角矩形 31"/>
          <p:cNvSpPr/>
          <p:nvPr/>
        </p:nvSpPr>
        <p:spPr>
          <a:xfrm>
            <a:off x="639551" y="3852238"/>
            <a:ext cx="3416320" cy="1009877"/>
          </a:xfrm>
          <a:prstGeom prst="roundRect">
            <a:avLst>
              <a:gd name="adj" fmla="val 5230"/>
            </a:avLst>
          </a:prstGeom>
          <a:no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26" name="标题 25"/>
          <p:cNvSpPr>
            <a:spLocks noGrp="1"/>
          </p:cNvSpPr>
          <p:nvPr>
            <p:ph type="title"/>
          </p:nvPr>
        </p:nvSpPr>
        <p:spPr/>
        <p:txBody>
          <a:bodyPr/>
          <a:lstStyle/>
          <a:p>
            <a:r>
              <a:rPr lang="zh-CN" altLang="en-US" dirty="0">
                <a:solidFill>
                  <a:srgbClr val="2179B1"/>
                </a:solidFill>
              </a:rPr>
              <a:t>医疗级便携式设备</a:t>
            </a:r>
            <a:r>
              <a:rPr lang="en-US" altLang="zh-CN" dirty="0">
                <a:solidFill>
                  <a:srgbClr val="2179B1"/>
                </a:solidFill>
              </a:rPr>
              <a:t>|TE-5000Y-A</a:t>
            </a:r>
            <a:r>
              <a:rPr lang="zh-CN" altLang="en-US" dirty="0">
                <a:solidFill>
                  <a:srgbClr val="2179B1"/>
                </a:solidFill>
              </a:rPr>
              <a:t>型网络心电图机</a:t>
            </a:r>
          </a:p>
        </p:txBody>
      </p:sp>
      <p:sp>
        <p:nvSpPr>
          <p:cNvPr id="9" name="文本框 8">
            <a:extLst>
              <a:ext uri="{FF2B5EF4-FFF2-40B4-BE49-F238E27FC236}">
                <a16:creationId xmlns="" xmlns:a16="http://schemas.microsoft.com/office/drawing/2014/main" id="{0A6AA625-5EE0-87E7-2CC5-CA93EDAE0ECB}"/>
              </a:ext>
            </a:extLst>
          </p:cNvPr>
          <p:cNvSpPr txBox="1"/>
          <p:nvPr/>
        </p:nvSpPr>
        <p:spPr>
          <a:xfrm>
            <a:off x="4228269" y="1070615"/>
            <a:ext cx="902811" cy="307777"/>
          </a:xfrm>
          <a:prstGeom prst="rect">
            <a:avLst/>
          </a:prstGeom>
          <a:noFill/>
        </p:spPr>
        <p:txBody>
          <a:bodyPr wrap="none" rtlCol="0">
            <a:spAutoFit/>
          </a:bodyPr>
          <a:lstStyle/>
          <a:p>
            <a:r>
              <a:rPr lang="zh-CN" altLang="en-US" sz="1400" b="1" dirty="0">
                <a:solidFill>
                  <a:srgbClr val="196494"/>
                </a:solidFill>
                <a:latin typeface="微软雅黑" panose="020B0503020204020204" pitchFamily="34" charset="-122"/>
                <a:ea typeface="微软雅黑" panose="020B0503020204020204" pitchFamily="34" charset="-122"/>
              </a:rPr>
              <a:t>产品亮点</a:t>
            </a:r>
          </a:p>
        </p:txBody>
      </p:sp>
      <p:sp>
        <p:nvSpPr>
          <p:cNvPr id="11" name="文本框 10">
            <a:extLst>
              <a:ext uri="{FF2B5EF4-FFF2-40B4-BE49-F238E27FC236}">
                <a16:creationId xmlns="" xmlns:a16="http://schemas.microsoft.com/office/drawing/2014/main" id="{A373C519-FFD5-1D78-7EDA-11398A6686F6}"/>
              </a:ext>
            </a:extLst>
          </p:cNvPr>
          <p:cNvSpPr txBox="1"/>
          <p:nvPr/>
        </p:nvSpPr>
        <p:spPr>
          <a:xfrm>
            <a:off x="4228217" y="1455429"/>
            <a:ext cx="4448239" cy="3420577"/>
          </a:xfrm>
          <a:prstGeom prst="rect">
            <a:avLst/>
          </a:prstGeom>
          <a:noFill/>
        </p:spPr>
        <p:txBody>
          <a:bodyPr wrap="square" rtlCol="0" anchor="t">
            <a:noAutofit/>
          </a:bodyPr>
          <a:lstStyle/>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便携</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移动，互联互通</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4G/</a:t>
            </a:r>
            <a:r>
              <a:rPr lang="en-US" altLang="zh-CN" sz="1000" dirty="0" err="1">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WiFi</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无线传输，全网覆盖，打破传统心电图室固定场所使用限制。设备手机大小，单手握持，方便携带。医生</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护士可以携带设备到患者床旁进行心电采集，数据远传分析端，实现采集、分析流程的自动化，心电数据和报告的共享，同时给患者带来高效服务和品质医疗体验。</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智能建档，快捷操作</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设备支持扫码建档、远程下单等多种快捷的用户录入方式，智能化系统，操作简单，提高效率。</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endParaRPr>
          </a:p>
          <a:p>
            <a:pPr algn="l">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卓越性能，实用设计：</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同屏显示</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12</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导联，可加做</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18</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导，高精度采集，最大支持</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16k</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采样率，内置锂电池供电可连续使用</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8</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小时以上。</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endParaRPr>
          </a:p>
          <a:p>
            <a:pPr algn="l">
              <a:lnSpc>
                <a:spcPct val="150000"/>
              </a:lnSpc>
            </a:pP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 </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mn-ea"/>
              </a:rPr>
              <a:t>分析报告显示、打印</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设备端可显示心电</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AI</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Light" panose="020B0502040204020203" charset="-122"/>
                <a:sym typeface="+mn-ea"/>
              </a:rPr>
              <a:t>辅助分析报告，连接蓝牙打印机可进行报告打印。</a:t>
            </a:r>
            <a:endParaRPr lang="zh-CN" altLang="en-US" sz="3200" b="1" dirty="0">
              <a:solidFill>
                <a:schemeClr val="bg1"/>
              </a:solidFill>
              <a:latin typeface="微软雅黑" panose="020B0503020204020204" pitchFamily="34" charset="-122"/>
              <a:ea typeface="微软雅黑" panose="020B0503020204020204" pitchFamily="34" charset="-122"/>
              <a:cs typeface="微软雅黑 Light" panose="020B0502040204020203"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文本框 45"/>
          <p:cNvSpPr txBox="1"/>
          <p:nvPr/>
        </p:nvSpPr>
        <p:spPr>
          <a:xfrm>
            <a:off x="4954371" y="3512771"/>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适用场景</a:t>
            </a:r>
          </a:p>
        </p:txBody>
      </p:sp>
      <p:pic>
        <p:nvPicPr>
          <p:cNvPr id="12" name="图片 11"/>
          <p:cNvPicPr>
            <a:picLocks noChangeAspect="1"/>
          </p:cNvPicPr>
          <p:nvPr/>
        </p:nvPicPr>
        <p:blipFill>
          <a:blip r:embed="rId3" cstate="print"/>
          <a:stretch>
            <a:fillRect/>
          </a:stretch>
        </p:blipFill>
        <p:spPr>
          <a:xfrm>
            <a:off x="5149006" y="3941535"/>
            <a:ext cx="763132" cy="516107"/>
          </a:xfrm>
          <a:prstGeom prst="rect">
            <a:avLst/>
          </a:prstGeom>
        </p:spPr>
      </p:pic>
      <p:pic>
        <p:nvPicPr>
          <p:cNvPr id="13" name="图片 12"/>
          <p:cNvPicPr>
            <a:picLocks noChangeAspect="1"/>
          </p:cNvPicPr>
          <p:nvPr/>
        </p:nvPicPr>
        <p:blipFill>
          <a:blip r:embed="rId4" cstate="print"/>
          <a:stretch>
            <a:fillRect/>
          </a:stretch>
        </p:blipFill>
        <p:spPr>
          <a:xfrm>
            <a:off x="5984146" y="3939902"/>
            <a:ext cx="792088" cy="516228"/>
          </a:xfrm>
          <a:prstGeom prst="rect">
            <a:avLst/>
          </a:prstGeom>
        </p:spPr>
      </p:pic>
      <p:pic>
        <p:nvPicPr>
          <p:cNvPr id="14" name="图片 13"/>
          <p:cNvPicPr>
            <a:picLocks noChangeAspect="1"/>
          </p:cNvPicPr>
          <p:nvPr/>
        </p:nvPicPr>
        <p:blipFill>
          <a:blip r:embed="rId5" cstate="print"/>
          <a:stretch>
            <a:fillRect/>
          </a:stretch>
        </p:blipFill>
        <p:spPr>
          <a:xfrm>
            <a:off x="6848623" y="3939902"/>
            <a:ext cx="745766" cy="521813"/>
          </a:xfrm>
          <a:prstGeom prst="rect">
            <a:avLst/>
          </a:prstGeom>
        </p:spPr>
      </p:pic>
      <p:pic>
        <p:nvPicPr>
          <p:cNvPr id="17" name="图片 16"/>
          <p:cNvPicPr>
            <a:picLocks noChangeAspect="1"/>
          </p:cNvPicPr>
          <p:nvPr/>
        </p:nvPicPr>
        <p:blipFill>
          <a:blip r:embed="rId6" cstate="print"/>
          <a:stretch>
            <a:fillRect/>
          </a:stretch>
        </p:blipFill>
        <p:spPr>
          <a:xfrm>
            <a:off x="7685293" y="3942542"/>
            <a:ext cx="784460" cy="525308"/>
          </a:xfrm>
          <a:prstGeom prst="rect">
            <a:avLst/>
          </a:prstGeom>
        </p:spPr>
      </p:pic>
      <p:sp>
        <p:nvSpPr>
          <p:cNvPr id="18" name="文本框 17"/>
          <p:cNvSpPr txBox="1"/>
          <p:nvPr/>
        </p:nvSpPr>
        <p:spPr>
          <a:xfrm>
            <a:off x="5184577" y="4511914"/>
            <a:ext cx="595035"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公共卫生</a:t>
            </a:r>
          </a:p>
        </p:txBody>
      </p:sp>
      <p:sp>
        <p:nvSpPr>
          <p:cNvPr id="48" name="文本框 47"/>
          <p:cNvSpPr txBox="1"/>
          <p:nvPr/>
        </p:nvSpPr>
        <p:spPr>
          <a:xfrm>
            <a:off x="6130789" y="4513490"/>
            <a:ext cx="595035"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体检筛查</a:t>
            </a:r>
          </a:p>
        </p:txBody>
      </p:sp>
      <p:sp>
        <p:nvSpPr>
          <p:cNvPr id="49" name="文本框 48"/>
          <p:cNvSpPr txBox="1"/>
          <p:nvPr/>
        </p:nvSpPr>
        <p:spPr>
          <a:xfrm>
            <a:off x="6923988" y="4511914"/>
            <a:ext cx="595035"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养老巡诊</a:t>
            </a:r>
          </a:p>
        </p:txBody>
      </p:sp>
      <p:sp>
        <p:nvSpPr>
          <p:cNvPr id="50" name="文本框 49"/>
          <p:cNvSpPr txBox="1"/>
          <p:nvPr/>
        </p:nvSpPr>
        <p:spPr>
          <a:xfrm>
            <a:off x="5149006" y="1635646"/>
            <a:ext cx="778136" cy="369332"/>
          </a:xfrm>
          <a:prstGeom prst="rect">
            <a:avLst/>
          </a:prstGeom>
          <a:noFill/>
        </p:spPr>
        <p:txBody>
          <a:bodyPr wrap="square" rtlCol="0">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心电、血压</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心率、脉率</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6662830" y="2362576"/>
            <a:ext cx="1068052" cy="369332"/>
          </a:xfrm>
          <a:prstGeom prst="rect">
            <a:avLst/>
          </a:prstGeom>
          <a:noFill/>
        </p:spPr>
        <p:txBody>
          <a:bodyPr wrap="square" rtlCol="0">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真人语音</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引导</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7809903" y="4511914"/>
            <a:ext cx="595035" cy="215444"/>
          </a:xfrm>
          <a:prstGeom prst="rect">
            <a:avLst/>
          </a:prstGeom>
          <a:noFill/>
        </p:spPr>
        <p:txBody>
          <a:bodyPr wrap="none" rtlCol="0">
            <a:spAutoFit/>
          </a:bodyPr>
          <a:lstStyle/>
          <a:p>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照料中心</a:t>
            </a:r>
          </a:p>
        </p:txBody>
      </p:sp>
      <p:sp>
        <p:nvSpPr>
          <p:cNvPr id="53" name="文本框 52"/>
          <p:cNvSpPr txBox="1"/>
          <p:nvPr/>
        </p:nvSpPr>
        <p:spPr>
          <a:xfrm>
            <a:off x="456620" y="915566"/>
            <a:ext cx="4187387" cy="988476"/>
          </a:xfrm>
          <a:prstGeom prst="rect">
            <a:avLst/>
          </a:prstGeom>
        </p:spPr>
        <p:txBody>
          <a:bodyPr wrap="square">
            <a:spAutoFit/>
          </a:bodyPr>
          <a:lstStyle>
            <a:defPPr>
              <a:defRPr lang="zh-CN"/>
            </a:defPPr>
            <a:lvl1pPr algn="just">
              <a:lnSpc>
                <a:spcPct val="120000"/>
              </a:lnSpc>
              <a:defRPr sz="11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000" dirty="0"/>
              <a:t>本产品能自动读取用户身份证、社保卡信息，自助建档、登录，语音智能引导，便捷测量心电、心率、血压、脉率，测量数据无线传输至健康管理平台进行分析、管理。产品高度集成、便携高效，可筛查心脏疾病及高血压等病症，主要用于医疗站点或医务人员随访时使用。</a:t>
            </a:r>
          </a:p>
        </p:txBody>
      </p:sp>
      <p:sp>
        <p:nvSpPr>
          <p:cNvPr id="56" name="矩形 55"/>
          <p:cNvSpPr/>
          <p:nvPr/>
        </p:nvSpPr>
        <p:spPr>
          <a:xfrm>
            <a:off x="6761887" y="3064442"/>
            <a:ext cx="1266497" cy="369332"/>
          </a:xfrm>
          <a:prstGeom prst="rect">
            <a:avLst/>
          </a:prstGeom>
        </p:spPr>
        <p:txBody>
          <a:bodyPr wrap="squar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秒出报告</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40余种异常心电</a:t>
            </a:r>
          </a:p>
        </p:txBody>
      </p:sp>
      <p:sp>
        <p:nvSpPr>
          <p:cNvPr id="58" name="矩形 57"/>
          <p:cNvSpPr/>
          <p:nvPr/>
        </p:nvSpPr>
        <p:spPr>
          <a:xfrm>
            <a:off x="7524328" y="1635646"/>
            <a:ext cx="688580" cy="369332"/>
          </a:xfrm>
          <a:prstGeom prst="rect">
            <a:avLst/>
          </a:prstGeom>
        </p:spPr>
        <p:txBody>
          <a:bodyPr wrap="square">
            <a:spAutoFit/>
          </a:bodyPr>
          <a:lstStyle/>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4G/</a:t>
            </a:r>
            <a:r>
              <a:rPr lang="en-US" altLang="zh-CN" sz="900" dirty="0" err="1">
                <a:solidFill>
                  <a:schemeClr val="tx1">
                    <a:lumMod val="75000"/>
                    <a:lumOff val="25000"/>
                  </a:schemeClr>
                </a:solidFill>
                <a:latin typeface="微软雅黑" panose="020B0503020204020204" pitchFamily="34" charset="-122"/>
                <a:ea typeface="微软雅黑" panose="020B0503020204020204" pitchFamily="34" charset="-122"/>
              </a:rPr>
              <a:t>WiFi</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蓝牙</a:t>
            </a:r>
          </a:p>
        </p:txBody>
      </p:sp>
      <p:pic>
        <p:nvPicPr>
          <p:cNvPr id="59" name="图片 58"/>
          <p:cNvPicPr>
            <a:picLocks noChangeAspect="1"/>
          </p:cNvPicPr>
          <p:nvPr/>
        </p:nvPicPr>
        <p:blipFill>
          <a:blip r:embed="rId7" cstate="print">
            <a:grayscl/>
            <a:extLst>
              <a:ext uri="{BEBA8EAE-BF5A-486C-A8C5-ECC9F3942E4B}">
                <a14:imgProps xmlns="" xmlns:a14="http://schemas.microsoft.com/office/drawing/2010/main">
                  <a14:imgLayer r:embed="rId8">
                    <a14:imgEffect>
                      <a14:brightnessContrast bright="20000"/>
                    </a14:imgEffect>
                  </a14:imgLayer>
                </a14:imgProps>
              </a:ext>
              <a:ext uri="{28A0092B-C50C-407E-A947-70E740481C1C}">
                <a14:useLocalDpi xmlns="" xmlns:a14="http://schemas.microsoft.com/office/drawing/2010/main" val="0"/>
              </a:ext>
            </a:extLst>
          </a:blip>
          <a:stretch>
            <a:fillRect/>
          </a:stretch>
        </p:blipFill>
        <p:spPr>
          <a:xfrm>
            <a:off x="7782440" y="1363294"/>
            <a:ext cx="203710" cy="163623"/>
          </a:xfrm>
          <a:prstGeom prst="rect">
            <a:avLst/>
          </a:prstGeom>
        </p:spPr>
      </p:pic>
      <p:pic>
        <p:nvPicPr>
          <p:cNvPr id="60" name="图片 59"/>
          <p:cNvPicPr>
            <a:picLocks noChangeAspect="1"/>
          </p:cNvPicPr>
          <p:nvPr/>
        </p:nvPicPr>
        <p:blipFill>
          <a:blip r:embed="rId9" cstate="print">
            <a:grayscl/>
            <a:extLst>
              <a:ext uri="{28A0092B-C50C-407E-A947-70E740481C1C}">
                <a14:useLocalDpi xmlns="" xmlns:a14="http://schemas.microsoft.com/office/drawing/2010/main" val="0"/>
              </a:ext>
            </a:extLst>
          </a:blip>
          <a:stretch>
            <a:fillRect/>
          </a:stretch>
        </p:blipFill>
        <p:spPr>
          <a:xfrm>
            <a:off x="7267304" y="2790656"/>
            <a:ext cx="223587" cy="223587"/>
          </a:xfrm>
          <a:prstGeom prst="rect">
            <a:avLst/>
          </a:prstGeom>
        </p:spPr>
      </p:pic>
      <p:pic>
        <p:nvPicPr>
          <p:cNvPr id="63" name="图片 62"/>
          <p:cNvPicPr>
            <a:picLocks noChangeAspect="1"/>
          </p:cNvPicPr>
          <p:nvPr/>
        </p:nvPicPr>
        <p:blipFill>
          <a:blip r:embed="rId10" cstate="print">
            <a:grayscl/>
            <a:extLst>
              <a:ext uri="{28A0092B-C50C-407E-A947-70E740481C1C}">
                <a14:useLocalDpi xmlns="" xmlns:a14="http://schemas.microsoft.com/office/drawing/2010/main" val="0"/>
              </a:ext>
            </a:extLst>
          </a:blip>
          <a:stretch>
            <a:fillRect/>
          </a:stretch>
        </p:blipFill>
        <p:spPr>
          <a:xfrm>
            <a:off x="7092280" y="2119329"/>
            <a:ext cx="216024" cy="216024"/>
          </a:xfrm>
          <a:prstGeom prst="rect">
            <a:avLst/>
          </a:prstGeom>
        </p:spPr>
      </p:pic>
      <p:pic>
        <p:nvPicPr>
          <p:cNvPr id="64" name="图片 63"/>
          <p:cNvPicPr>
            <a:picLocks noChangeAspect="1"/>
          </p:cNvPicPr>
          <p:nvPr/>
        </p:nvPicPr>
        <p:blipFill>
          <a:blip r:embed="rId11" cstate="print">
            <a:grayscl/>
            <a:extLst>
              <a:ext uri="{28A0092B-C50C-407E-A947-70E740481C1C}">
                <a14:useLocalDpi xmlns="" xmlns:a14="http://schemas.microsoft.com/office/drawing/2010/main" val="0"/>
              </a:ext>
            </a:extLst>
          </a:blip>
          <a:stretch>
            <a:fillRect/>
          </a:stretch>
        </p:blipFill>
        <p:spPr>
          <a:xfrm>
            <a:off x="5404579" y="1311610"/>
            <a:ext cx="266990" cy="266990"/>
          </a:xfrm>
          <a:prstGeom prst="rect">
            <a:avLst/>
          </a:prstGeom>
        </p:spPr>
      </p:pic>
      <p:sp>
        <p:nvSpPr>
          <p:cNvPr id="66" name="圆角矩形 65"/>
          <p:cNvSpPr/>
          <p:nvPr/>
        </p:nvSpPr>
        <p:spPr>
          <a:xfrm>
            <a:off x="1005389" y="4195134"/>
            <a:ext cx="2918539" cy="300151"/>
          </a:xfrm>
          <a:prstGeom prst="roundRect">
            <a:avLst>
              <a:gd name="adj" fmla="val 50000"/>
            </a:avLst>
          </a:prstGeom>
          <a:solidFill>
            <a:schemeClr val="accent1">
              <a:alpha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900" dirty="0">
                <a:latin typeface="微软雅黑" panose="020B0503020204020204" pitchFamily="34" charset="-122"/>
                <a:ea typeface="微软雅黑" panose="020B0503020204020204" pitchFamily="34" charset="-122"/>
              </a:rPr>
              <a:t>智能互联，化繁为简，提升医疗服务能力</a:t>
            </a:r>
          </a:p>
        </p:txBody>
      </p:sp>
      <p:sp>
        <p:nvSpPr>
          <p:cNvPr id="4" name="文本框 3">
            <a:extLst>
              <a:ext uri="{FF2B5EF4-FFF2-40B4-BE49-F238E27FC236}">
                <a16:creationId xmlns="" xmlns:a16="http://schemas.microsoft.com/office/drawing/2014/main" id="{5D480357-1EE9-D5F6-D09C-4A9593FCF72B}"/>
              </a:ext>
            </a:extLst>
          </p:cNvPr>
          <p:cNvSpPr txBox="1"/>
          <p:nvPr/>
        </p:nvSpPr>
        <p:spPr>
          <a:xfrm>
            <a:off x="4954371" y="953536"/>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产品优势</a:t>
            </a:r>
          </a:p>
        </p:txBody>
      </p:sp>
      <p:sp>
        <p:nvSpPr>
          <p:cNvPr id="5" name="圆角矩形 31">
            <a:extLst>
              <a:ext uri="{FF2B5EF4-FFF2-40B4-BE49-F238E27FC236}">
                <a16:creationId xmlns="" xmlns:a16="http://schemas.microsoft.com/office/drawing/2014/main" id="{08520AC3-4DD0-A2A1-BD14-DDE805C52FBF}"/>
              </a:ext>
            </a:extLst>
          </p:cNvPr>
          <p:cNvSpPr/>
          <p:nvPr/>
        </p:nvSpPr>
        <p:spPr>
          <a:xfrm>
            <a:off x="5040051" y="3833351"/>
            <a:ext cx="3528392" cy="951940"/>
          </a:xfrm>
          <a:prstGeom prst="roundRect">
            <a:avLst>
              <a:gd name="adj" fmla="val 5230"/>
            </a:avLst>
          </a:prstGeom>
          <a:no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2" cstate="print">
            <a:extLst>
              <a:ext uri="{28A0092B-C50C-407E-A947-70E740481C1C}">
                <a14:useLocalDpi xmlns="" xmlns:a14="http://schemas.microsoft.com/office/drawing/2010/main" val="0"/>
              </a:ext>
            </a:extLst>
          </a:blip>
          <a:stretch>
            <a:fillRect/>
          </a:stretch>
        </p:blipFill>
        <p:spPr>
          <a:xfrm>
            <a:off x="2272925" y="2320700"/>
            <a:ext cx="2093027" cy="1046514"/>
          </a:xfrm>
          <a:prstGeom prst="rect">
            <a:avLst/>
          </a:prstGeom>
        </p:spPr>
      </p:pic>
      <p:sp>
        <p:nvSpPr>
          <p:cNvPr id="10" name="文本框 9">
            <a:extLst>
              <a:ext uri="{FF2B5EF4-FFF2-40B4-BE49-F238E27FC236}">
                <a16:creationId xmlns="" xmlns:a16="http://schemas.microsoft.com/office/drawing/2014/main" id="{2C0C77DE-6735-8CC5-287D-739B46EF3235}"/>
              </a:ext>
            </a:extLst>
          </p:cNvPr>
          <p:cNvSpPr txBox="1"/>
          <p:nvPr/>
        </p:nvSpPr>
        <p:spPr>
          <a:xfrm>
            <a:off x="5724128" y="3064442"/>
            <a:ext cx="888994" cy="369332"/>
          </a:xfrm>
          <a:prstGeom prst="rect">
            <a:avLst/>
          </a:prstGeom>
          <a:noFill/>
        </p:spPr>
        <p:txBody>
          <a:bodyPr wrap="square" rtlCol="0">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高清触摸大屏</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多感官交互</a:t>
            </a:r>
          </a:p>
        </p:txBody>
      </p:sp>
      <p:sp>
        <p:nvSpPr>
          <p:cNvPr id="11" name="文本框 10">
            <a:extLst>
              <a:ext uri="{FF2B5EF4-FFF2-40B4-BE49-F238E27FC236}">
                <a16:creationId xmlns="" xmlns:a16="http://schemas.microsoft.com/office/drawing/2014/main" id="{C8E2107C-A708-2126-F377-24231C77D9E3}"/>
              </a:ext>
            </a:extLst>
          </p:cNvPr>
          <p:cNvSpPr txBox="1"/>
          <p:nvPr/>
        </p:nvSpPr>
        <p:spPr>
          <a:xfrm>
            <a:off x="6876256" y="1635646"/>
            <a:ext cx="640581" cy="369332"/>
          </a:xfrm>
          <a:prstGeom prst="rect">
            <a:avLst/>
          </a:prstGeom>
          <a:noFill/>
        </p:spPr>
        <p:txBody>
          <a:bodyPr wrap="square" rtlCol="0">
            <a:spAutoFit/>
          </a:bodyPr>
          <a:lstStyle/>
          <a:p>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多维识别</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即刻登录</a:t>
            </a:r>
          </a:p>
        </p:txBody>
      </p:sp>
      <p:sp>
        <p:nvSpPr>
          <p:cNvPr id="19" name="文本框 18">
            <a:extLst>
              <a:ext uri="{FF2B5EF4-FFF2-40B4-BE49-F238E27FC236}">
                <a16:creationId xmlns="" xmlns:a16="http://schemas.microsoft.com/office/drawing/2014/main" id="{D0A1B772-7BB3-C6AD-9F39-2B4356E2EDF9}"/>
              </a:ext>
            </a:extLst>
          </p:cNvPr>
          <p:cNvSpPr txBox="1"/>
          <p:nvPr/>
        </p:nvSpPr>
        <p:spPr>
          <a:xfrm>
            <a:off x="5004048" y="2362576"/>
            <a:ext cx="1068052" cy="369332"/>
          </a:xfrm>
          <a:prstGeom prst="rect">
            <a:avLst/>
          </a:prstGeom>
          <a:noFill/>
        </p:spPr>
        <p:txBody>
          <a:bodyPr wrap="square" rtlCol="0">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网电锂电</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双供电</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1" name="图片 30"/>
          <p:cNvPicPr>
            <a:picLocks noChangeAspect="1"/>
          </p:cNvPicPr>
          <p:nvPr/>
        </p:nvPicPr>
        <p:blipFill>
          <a:blip r:embed="rId13" cstate="print">
            <a:extLst>
              <a:ext uri="{BEBA8EAE-BF5A-486C-A8C5-ECC9F3942E4B}">
                <a14:imgProps xmlns="" xmlns:a14="http://schemas.microsoft.com/office/drawing/2010/main">
                  <a14:imgLayer r:embed="rId14">
                    <a14:imgEffect>
                      <a14:brightnessContrast contrast="20000"/>
                    </a14:imgEffect>
                  </a14:imgLayer>
                </a14:imgProps>
              </a:ext>
              <a:ext uri="{28A0092B-C50C-407E-A947-70E740481C1C}">
                <a14:useLocalDpi xmlns="" xmlns:a14="http://schemas.microsoft.com/office/drawing/2010/main" val="0"/>
              </a:ext>
            </a:extLst>
          </a:blip>
          <a:stretch>
            <a:fillRect/>
          </a:stretch>
        </p:blipFill>
        <p:spPr>
          <a:xfrm>
            <a:off x="5412074" y="2101341"/>
            <a:ext cx="252000" cy="252000"/>
          </a:xfrm>
          <a:prstGeom prst="rect">
            <a:avLst/>
          </a:prstGeom>
        </p:spPr>
      </p:pic>
      <p:pic>
        <p:nvPicPr>
          <p:cNvPr id="32" name="图片 31"/>
          <p:cNvPicPr>
            <a:picLocks noChangeAspect="1"/>
          </p:cNvPicPr>
          <p:nvPr/>
        </p:nvPicPr>
        <p:blipFill>
          <a:blip r:embed="rId15" cstate="print">
            <a:extLst>
              <a:ext uri="{28A0092B-C50C-407E-A947-70E740481C1C}">
                <a14:useLocalDpi xmlns="" xmlns:a14="http://schemas.microsoft.com/office/drawing/2010/main" val="0"/>
              </a:ext>
            </a:extLst>
          </a:blip>
          <a:stretch>
            <a:fillRect/>
          </a:stretch>
        </p:blipFill>
        <p:spPr>
          <a:xfrm>
            <a:off x="6059988" y="2778482"/>
            <a:ext cx="243078" cy="243078"/>
          </a:xfrm>
          <a:prstGeom prst="rect">
            <a:avLst/>
          </a:prstGeom>
        </p:spPr>
      </p:pic>
      <p:sp>
        <p:nvSpPr>
          <p:cNvPr id="33" name="文本框 49"/>
          <p:cNvSpPr txBox="1"/>
          <p:nvPr/>
        </p:nvSpPr>
        <p:spPr>
          <a:xfrm>
            <a:off x="5868144" y="1635646"/>
            <a:ext cx="1008112" cy="369332"/>
          </a:xfrm>
          <a:prstGeom prst="rect">
            <a:avLst/>
          </a:prstGeom>
          <a:noFill/>
        </p:spPr>
        <p:txBody>
          <a:bodyPr wrap="square" rtlCol="0">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拓展血氧、血糖</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胆固醇、体温等</a:t>
            </a:r>
          </a:p>
        </p:txBody>
      </p:sp>
      <p:pic>
        <p:nvPicPr>
          <p:cNvPr id="2050" name="Picture 2"/>
          <p:cNvPicPr>
            <a:picLocks noChangeAspect="1" noChangeArrowheads="1"/>
          </p:cNvPicPr>
          <p:nvPr/>
        </p:nvPicPr>
        <p:blipFill>
          <a:blip r:embed="rId16" cstate="print">
            <a:extLst>
              <a:ext uri="{BEBA8EAE-BF5A-486C-A8C5-ECC9F3942E4B}">
                <a14:imgProps xmlns="" xmlns:a14="http://schemas.microsoft.com/office/drawing/2010/main">
                  <a14:imgLayer r:embed="rId17">
                    <a14:imgEffect>
                      <a14:brightnessContrast bright="20000"/>
                    </a14:imgEffect>
                  </a14:imgLayer>
                </a14:imgProps>
              </a:ext>
            </a:extLst>
          </a:blip>
          <a:srcRect/>
          <a:stretch>
            <a:fillRect/>
          </a:stretch>
        </p:blipFill>
        <p:spPr bwMode="auto">
          <a:xfrm>
            <a:off x="7092280" y="1319105"/>
            <a:ext cx="257860" cy="252000"/>
          </a:xfrm>
          <a:prstGeom prst="rect">
            <a:avLst/>
          </a:prstGeom>
          <a:noFill/>
          <a:ln w="9525">
            <a:noFill/>
            <a:miter lim="800000"/>
            <a:headEnd/>
            <a:tailEnd/>
          </a:ln>
        </p:spPr>
      </p:pic>
      <p:pic>
        <p:nvPicPr>
          <p:cNvPr id="2051" name="Picture 3"/>
          <p:cNvPicPr>
            <a:picLocks noChangeAspect="1" noChangeArrowheads="1"/>
          </p:cNvPicPr>
          <p:nvPr/>
        </p:nvPicPr>
        <p:blipFill>
          <a:blip r:embed="rId18" cstate="print">
            <a:lum bright="20000"/>
          </a:blip>
          <a:srcRect/>
          <a:stretch>
            <a:fillRect/>
          </a:stretch>
        </p:blipFill>
        <p:spPr bwMode="auto">
          <a:xfrm>
            <a:off x="6176325" y="1290609"/>
            <a:ext cx="339891" cy="308992"/>
          </a:xfrm>
          <a:prstGeom prst="rect">
            <a:avLst/>
          </a:prstGeom>
          <a:noFill/>
          <a:ln w="9525">
            <a:noFill/>
            <a:miter lim="800000"/>
            <a:headEnd/>
            <a:tailEnd/>
          </a:ln>
        </p:spPr>
      </p:pic>
      <p:sp>
        <p:nvSpPr>
          <p:cNvPr id="36" name="矩形 35"/>
          <p:cNvSpPr/>
          <p:nvPr/>
        </p:nvSpPr>
        <p:spPr>
          <a:xfrm>
            <a:off x="6049036" y="2362576"/>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风险分层</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分级管理</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矩形 37"/>
          <p:cNvSpPr/>
          <p:nvPr/>
        </p:nvSpPr>
        <p:spPr>
          <a:xfrm>
            <a:off x="7572758" y="2362576"/>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趋势分析</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数据管理</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9" name="图片 38"/>
          <p:cNvPicPr>
            <a:picLocks noChangeAspect="1"/>
          </p:cNvPicPr>
          <p:nvPr/>
        </p:nvPicPr>
        <p:blipFill>
          <a:blip r:embed="rId19" cstate="print">
            <a:extLst>
              <a:ext uri="{28A0092B-C50C-407E-A947-70E740481C1C}">
                <a14:useLocalDpi xmlns="" xmlns:a14="http://schemas.microsoft.com/office/drawing/2010/main" val="0"/>
              </a:ext>
            </a:extLst>
          </a:blip>
          <a:stretch>
            <a:fillRect/>
          </a:stretch>
        </p:blipFill>
        <p:spPr>
          <a:xfrm>
            <a:off x="7788782" y="2108373"/>
            <a:ext cx="237936" cy="237936"/>
          </a:xfrm>
          <a:prstGeom prst="rect">
            <a:avLst/>
          </a:prstGeom>
        </p:spPr>
      </p:pic>
      <p:pic>
        <p:nvPicPr>
          <p:cNvPr id="2052" name="Picture 4"/>
          <p:cNvPicPr>
            <a:picLocks noChangeAspect="1" noChangeArrowheads="1"/>
          </p:cNvPicPr>
          <p:nvPr/>
        </p:nvPicPr>
        <p:blipFill>
          <a:blip r:embed="rId20" cstate="print">
            <a:extLst>
              <a:ext uri="{BEBA8EAE-BF5A-486C-A8C5-ECC9F3942E4B}">
                <a14:imgProps xmlns="" xmlns:a14="http://schemas.microsoft.com/office/drawing/2010/main">
                  <a14:imgLayer r:embed="rId21">
                    <a14:imgEffect>
                      <a14:brightnessContrast bright="40000" contrast="-40000"/>
                    </a14:imgEffect>
                  </a14:imgLayer>
                </a14:imgProps>
              </a:ext>
            </a:extLst>
          </a:blip>
          <a:srcRect/>
          <a:stretch>
            <a:fillRect/>
          </a:stretch>
        </p:blipFill>
        <p:spPr bwMode="auto">
          <a:xfrm>
            <a:off x="6195966" y="2098957"/>
            <a:ext cx="300608" cy="256769"/>
          </a:xfrm>
          <a:prstGeom prst="rect">
            <a:avLst/>
          </a:prstGeom>
          <a:noFill/>
          <a:ln w="9525">
            <a:noFill/>
            <a:miter lim="800000"/>
            <a:headEnd/>
            <a:tailEnd/>
          </a:ln>
        </p:spPr>
      </p:pic>
      <p:pic>
        <p:nvPicPr>
          <p:cNvPr id="40" name="图片 39"/>
          <p:cNvPicPr>
            <a:picLocks noChangeAspect="1"/>
          </p:cNvPicPr>
          <p:nvPr/>
        </p:nvPicPr>
        <p:blipFill>
          <a:blip r:embed="rId22" cstate="print">
            <a:extLst>
              <a:ext uri="{28A0092B-C50C-407E-A947-70E740481C1C}">
                <a14:useLocalDpi xmlns="" xmlns:a14="http://schemas.microsoft.com/office/drawing/2010/main" val="0"/>
              </a:ext>
            </a:extLst>
          </a:blip>
          <a:stretch>
            <a:fillRect/>
          </a:stretch>
        </p:blipFill>
        <p:spPr>
          <a:xfrm>
            <a:off x="623455" y="2367457"/>
            <a:ext cx="1495903" cy="841446"/>
          </a:xfrm>
          <a:prstGeom prst="roundRect">
            <a:avLst>
              <a:gd name="adj" fmla="val 8594"/>
            </a:avLst>
          </a:prstGeom>
          <a:solidFill>
            <a:srgbClr val="FFFFFF">
              <a:shade val="85000"/>
            </a:srgbClr>
          </a:solidFill>
          <a:ln>
            <a:noFill/>
          </a:ln>
          <a:effectLst/>
        </p:spPr>
      </p:pic>
      <p:sp>
        <p:nvSpPr>
          <p:cNvPr id="6" name="文本框 5"/>
          <p:cNvSpPr txBox="1"/>
          <p:nvPr/>
        </p:nvSpPr>
        <p:spPr>
          <a:xfrm>
            <a:off x="894352" y="3292528"/>
            <a:ext cx="954107" cy="246221"/>
          </a:xfrm>
          <a:prstGeom prst="rect">
            <a:avLst/>
          </a:prstGeom>
          <a:noFill/>
        </p:spPr>
        <p:txBody>
          <a:bodyPr wrap="none" rtlCol="0">
            <a:spAutoFit/>
          </a:bodyPr>
          <a:lstStyle/>
          <a:p>
            <a:r>
              <a:rPr lang="zh-CN" altLang="en-US" sz="1000" dirty="0">
                <a:latin typeface="微软雅黑" panose="020B0503020204020204" pitchFamily="34" charset="-122"/>
                <a:ea typeface="微软雅黑" panose="020B0503020204020204" pitchFamily="34" charset="-122"/>
              </a:rPr>
              <a:t>大屏实时显示</a:t>
            </a:r>
          </a:p>
        </p:txBody>
      </p:sp>
      <p:sp>
        <p:nvSpPr>
          <p:cNvPr id="7" name="标题 6"/>
          <p:cNvSpPr>
            <a:spLocks noGrp="1"/>
          </p:cNvSpPr>
          <p:nvPr>
            <p:ph type="title"/>
          </p:nvPr>
        </p:nvSpPr>
        <p:spPr/>
        <p:txBody>
          <a:bodyPr/>
          <a:lstStyle/>
          <a:p>
            <a:r>
              <a:rPr lang="zh-CN" altLang="en-US" dirty="0">
                <a:solidFill>
                  <a:srgbClr val="2179B1"/>
                </a:solidFill>
              </a:rPr>
              <a:t>医疗级便携式设备</a:t>
            </a:r>
            <a:r>
              <a:rPr lang="en-US" altLang="zh-CN" dirty="0">
                <a:solidFill>
                  <a:srgbClr val="2179B1"/>
                </a:solidFill>
              </a:rPr>
              <a:t>|TE-8010Y-A</a:t>
            </a:r>
            <a:r>
              <a:rPr lang="zh-CN" altLang="en-US" dirty="0">
                <a:solidFill>
                  <a:srgbClr val="2179B1"/>
                </a:solidFill>
              </a:rPr>
              <a:t>型多参数检测仪</a:t>
            </a:r>
          </a:p>
        </p:txBody>
      </p:sp>
    </p:spTree>
    <p:extLst>
      <p:ext uri="{BB962C8B-B14F-4D97-AF65-F5344CB8AC3E}">
        <p14:creationId xmlns="" xmlns:p14="http://schemas.microsoft.com/office/powerpoint/2010/main" val="3883015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文本框 52"/>
          <p:cNvSpPr txBox="1"/>
          <p:nvPr/>
        </p:nvSpPr>
        <p:spPr>
          <a:xfrm>
            <a:off x="456620" y="979444"/>
            <a:ext cx="4115377" cy="988476"/>
          </a:xfrm>
          <a:prstGeom prst="rect">
            <a:avLst/>
          </a:prstGeom>
        </p:spPr>
        <p:txBody>
          <a:bodyPr wrap="square">
            <a:spAutoFit/>
          </a:bodyPr>
          <a:lstStyle>
            <a:defPPr>
              <a:defRPr lang="zh-CN"/>
            </a:defPPr>
            <a:lvl1pPr algn="just">
              <a:lnSpc>
                <a:spcPct val="120000"/>
              </a:lnSpc>
              <a:defRPr sz="1100">
                <a:solidFill>
                  <a:schemeClr val="tx1">
                    <a:lumMod val="75000"/>
                    <a:lumOff val="25000"/>
                  </a:schemeClr>
                </a:solidFill>
                <a:latin typeface="微软雅黑" panose="020B0503020204020204" pitchFamily="34" charset="-122"/>
                <a:ea typeface="微软雅黑" panose="020B0503020204020204" pitchFamily="34" charset="-122"/>
              </a:defRPr>
            </a:lvl1pPr>
          </a:lstStyle>
          <a:p>
            <a:pPr>
              <a:lnSpc>
                <a:spcPct val="150000"/>
              </a:lnSpc>
            </a:pPr>
            <a:r>
              <a:rPr lang="zh-CN" altLang="en-US" sz="1000" dirty="0"/>
              <a:t>本产品为专业的台式血压测量设备，具备血压和脉率测量、液晶屏显示、语音播报、测压记录查询、测压提醒、用药提醒、蓝牙或</a:t>
            </a:r>
            <a:r>
              <a:rPr lang="en-US" altLang="zh-CN" sz="1000" dirty="0"/>
              <a:t>4G</a:t>
            </a:r>
            <a:r>
              <a:rPr lang="zh-CN" altLang="en-US" sz="1000" dirty="0"/>
              <a:t>无线传输等功能。测压数据发送至健康管理平台，对接快速血压预诊断系统，有助于实现对血压等慢病患者的有效管理。</a:t>
            </a:r>
            <a:endParaRPr lang="en-US" altLang="zh-CN" sz="1000" dirty="0"/>
          </a:p>
        </p:txBody>
      </p:sp>
      <p:sp>
        <p:nvSpPr>
          <p:cNvPr id="66" name="圆角矩形 65"/>
          <p:cNvSpPr/>
          <p:nvPr/>
        </p:nvSpPr>
        <p:spPr>
          <a:xfrm>
            <a:off x="892760" y="4111921"/>
            <a:ext cx="2918539" cy="297787"/>
          </a:xfrm>
          <a:prstGeom prst="roundRect">
            <a:avLst>
              <a:gd name="adj" fmla="val 50000"/>
            </a:avLst>
          </a:prstGeom>
          <a:solidFill>
            <a:schemeClr val="accent1">
              <a:alpha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000" dirty="0">
                <a:latin typeface="微软雅黑" panose="020B0503020204020204" pitchFamily="34" charset="-122"/>
                <a:ea typeface="微软雅黑" panose="020B0503020204020204" pitchFamily="34" charset="-122"/>
              </a:rPr>
              <a:t>测量准确    给您安心的居家关怀</a:t>
            </a:r>
          </a:p>
        </p:txBody>
      </p:sp>
      <p:pic>
        <p:nvPicPr>
          <p:cNvPr id="29" name="Picture 10" descr="Generated"/>
          <p:cNvPicPr/>
          <p:nvPr/>
        </p:nvPicPr>
        <p:blipFill>
          <a:blip r:embed="rId3" cstate="print"/>
          <a:stretch>
            <a:fillRect/>
          </a:stretch>
        </p:blipFill>
        <p:spPr>
          <a:xfrm>
            <a:off x="1331640" y="2262534"/>
            <a:ext cx="1924815" cy="1578858"/>
          </a:xfrm>
          <a:prstGeom prst="rect">
            <a:avLst/>
          </a:prstGeom>
        </p:spPr>
      </p:pic>
      <p:sp>
        <p:nvSpPr>
          <p:cNvPr id="30" name="矩形 29"/>
          <p:cNvSpPr/>
          <p:nvPr/>
        </p:nvSpPr>
        <p:spPr>
          <a:xfrm>
            <a:off x="5461053" y="1744856"/>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一键测量</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操作简单</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矩形 31"/>
          <p:cNvSpPr/>
          <p:nvPr/>
        </p:nvSpPr>
        <p:spPr>
          <a:xfrm>
            <a:off x="7109082" y="1744856"/>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蓝牙传输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/4G</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传输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6262333" y="3191579"/>
            <a:ext cx="740908"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锂电直充</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可测</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300</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次</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矩形 34"/>
          <p:cNvSpPr/>
          <p:nvPr/>
        </p:nvSpPr>
        <p:spPr>
          <a:xfrm>
            <a:off x="6993666" y="3191579"/>
            <a:ext cx="877163"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趋势分析</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智能动态管理</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矩形 35"/>
          <p:cNvSpPr/>
          <p:nvPr/>
        </p:nvSpPr>
        <p:spPr>
          <a:xfrm>
            <a:off x="5345637" y="2458416"/>
            <a:ext cx="877163" cy="2308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测压记录查询</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矩形 36"/>
          <p:cNvSpPr/>
          <p:nvPr/>
        </p:nvSpPr>
        <p:spPr>
          <a:xfrm>
            <a:off x="6309622" y="1744856"/>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语音播报</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方便老人</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5093897" y="1060373"/>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产品优势</a:t>
            </a:r>
          </a:p>
        </p:txBody>
      </p:sp>
      <p:sp>
        <p:nvSpPr>
          <p:cNvPr id="57" name="矩形 56"/>
          <p:cNvSpPr/>
          <p:nvPr/>
        </p:nvSpPr>
        <p:spPr>
          <a:xfrm>
            <a:off x="5345637" y="3191579"/>
            <a:ext cx="877163" cy="2308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识别心率失常</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61" name="图片 60"/>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5680975" y="2957050"/>
            <a:ext cx="206486" cy="206486"/>
          </a:xfrm>
          <a:prstGeom prst="rect">
            <a:avLst/>
          </a:prstGeom>
        </p:spPr>
      </p:pic>
      <p:sp>
        <p:nvSpPr>
          <p:cNvPr id="62" name="矩形 61"/>
          <p:cNvSpPr/>
          <p:nvPr/>
        </p:nvSpPr>
        <p:spPr>
          <a:xfrm>
            <a:off x="7109082" y="2458416"/>
            <a:ext cx="646331" cy="2308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自动关机</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68" name="图片 67"/>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7328309" y="1481094"/>
            <a:ext cx="207877" cy="207877"/>
          </a:xfrm>
          <a:prstGeom prst="rect">
            <a:avLst/>
          </a:prstGeom>
        </p:spPr>
      </p:pic>
      <p:pic>
        <p:nvPicPr>
          <p:cNvPr id="3" name="图片 2"/>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6542787" y="2959748"/>
            <a:ext cx="180000" cy="180000"/>
          </a:xfrm>
          <a:prstGeom prst="rect">
            <a:avLst/>
          </a:prstGeom>
        </p:spPr>
      </p:pic>
      <p:pic>
        <p:nvPicPr>
          <p:cNvPr id="4" name="图片 3"/>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6542787" y="1486613"/>
            <a:ext cx="180000" cy="180000"/>
          </a:xfrm>
          <a:prstGeom prst="rect">
            <a:avLst/>
          </a:prstGeom>
        </p:spPr>
      </p:pic>
      <p:pic>
        <p:nvPicPr>
          <p:cNvPr id="6" name="图片 5"/>
          <p:cNvPicPr>
            <a:picLocks noChangeAspect="1"/>
          </p:cNvPicPr>
          <p:nvPr/>
        </p:nvPicPr>
        <p:blipFill>
          <a:blip r:embed="rId8" cstate="print">
            <a:extLst>
              <a:ext uri="{28A0092B-C50C-407E-A947-70E740481C1C}">
                <a14:useLocalDpi xmlns="" xmlns:a14="http://schemas.microsoft.com/office/drawing/2010/main" val="0"/>
              </a:ext>
            </a:extLst>
          </a:blip>
          <a:stretch>
            <a:fillRect/>
          </a:stretch>
        </p:blipFill>
        <p:spPr>
          <a:xfrm>
            <a:off x="7326251" y="2957050"/>
            <a:ext cx="211992" cy="211992"/>
          </a:xfrm>
          <a:prstGeom prst="rect">
            <a:avLst/>
          </a:prstGeom>
        </p:spPr>
      </p:pic>
      <p:pic>
        <p:nvPicPr>
          <p:cNvPr id="7" name="图片 6"/>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5689250" y="2252881"/>
            <a:ext cx="189936" cy="189936"/>
          </a:xfrm>
          <a:prstGeom prst="rect">
            <a:avLst/>
          </a:prstGeom>
        </p:spPr>
      </p:pic>
      <p:pic>
        <p:nvPicPr>
          <p:cNvPr id="8" name="图片 7"/>
          <p:cNvPicPr>
            <a:picLocks noChangeAspect="1"/>
          </p:cNvPicPr>
          <p:nvPr/>
        </p:nvPicPr>
        <p:blipFill>
          <a:blip r:embed="rId10" cstate="print">
            <a:extLst>
              <a:ext uri="{28A0092B-C50C-407E-A947-70E740481C1C}">
                <a14:useLocalDpi xmlns="" xmlns:a14="http://schemas.microsoft.com/office/drawing/2010/main" val="0"/>
              </a:ext>
            </a:extLst>
          </a:blip>
          <a:stretch>
            <a:fillRect/>
          </a:stretch>
        </p:blipFill>
        <p:spPr>
          <a:xfrm>
            <a:off x="7313843" y="2194410"/>
            <a:ext cx="236808" cy="236808"/>
          </a:xfrm>
          <a:prstGeom prst="rect">
            <a:avLst/>
          </a:prstGeom>
        </p:spPr>
      </p:pic>
      <p:pic>
        <p:nvPicPr>
          <p:cNvPr id="9" name="图片 8"/>
          <p:cNvPicPr>
            <a:picLocks noChangeAspect="1"/>
          </p:cNvPicPr>
          <p:nvPr/>
        </p:nvPicPr>
        <p:blipFill>
          <a:blip r:embed="rId11" cstate="print">
            <a:extLst>
              <a:ext uri="{28A0092B-C50C-407E-A947-70E740481C1C}">
                <a14:useLocalDpi xmlns="" xmlns:a14="http://schemas.microsoft.com/office/drawing/2010/main" val="0"/>
              </a:ext>
            </a:extLst>
          </a:blip>
          <a:stretch>
            <a:fillRect/>
          </a:stretch>
        </p:blipFill>
        <p:spPr>
          <a:xfrm>
            <a:off x="5628261" y="1419404"/>
            <a:ext cx="311915" cy="273792"/>
          </a:xfrm>
          <a:prstGeom prst="rect">
            <a:avLst/>
          </a:prstGeom>
        </p:spPr>
      </p:pic>
      <p:sp>
        <p:nvSpPr>
          <p:cNvPr id="69" name="文本框 68"/>
          <p:cNvSpPr txBox="1"/>
          <p:nvPr/>
        </p:nvSpPr>
        <p:spPr>
          <a:xfrm>
            <a:off x="5093897" y="3841392"/>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适用场景</a:t>
            </a:r>
          </a:p>
        </p:txBody>
      </p:sp>
      <p:sp>
        <p:nvSpPr>
          <p:cNvPr id="2" name="矩形 1">
            <a:extLst>
              <a:ext uri="{FF2B5EF4-FFF2-40B4-BE49-F238E27FC236}">
                <a16:creationId xmlns="" xmlns:a16="http://schemas.microsoft.com/office/drawing/2014/main" id="{29975950-4F1C-6A1C-BD22-228F18238FCA}"/>
              </a:ext>
            </a:extLst>
          </p:cNvPr>
          <p:cNvSpPr/>
          <p:nvPr/>
        </p:nvSpPr>
        <p:spPr>
          <a:xfrm>
            <a:off x="6251914" y="2458416"/>
            <a:ext cx="761747" cy="2308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双用户设计</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p:txBody>
          <a:bodyPr/>
          <a:lstStyle/>
          <a:p>
            <a:r>
              <a:rPr lang="zh-CN" altLang="en-US" dirty="0">
                <a:solidFill>
                  <a:srgbClr val="2179B1"/>
                </a:solidFill>
              </a:rPr>
              <a:t>医疗级便携式设备</a:t>
            </a:r>
            <a:r>
              <a:rPr lang="en-US" altLang="zh-CN" dirty="0">
                <a:solidFill>
                  <a:srgbClr val="2179B1"/>
                </a:solidFill>
              </a:rPr>
              <a:t>|TE-7000Y</a:t>
            </a:r>
            <a:r>
              <a:rPr lang="zh-CN" altLang="en-US" dirty="0">
                <a:solidFill>
                  <a:srgbClr val="2179B1"/>
                </a:solidFill>
              </a:rPr>
              <a:t>无线传输电子测量血压计</a:t>
            </a:r>
          </a:p>
        </p:txBody>
      </p:sp>
      <p:pic>
        <p:nvPicPr>
          <p:cNvPr id="14" name="图片 13">
            <a:extLst>
              <a:ext uri="{FF2B5EF4-FFF2-40B4-BE49-F238E27FC236}">
                <a16:creationId xmlns="" xmlns:a16="http://schemas.microsoft.com/office/drawing/2014/main" id="{A9663E99-CEAB-C83D-D4C2-B15E605681D2}"/>
              </a:ext>
            </a:extLst>
          </p:cNvPr>
          <p:cNvPicPr>
            <a:picLocks noChangeAspect="1"/>
          </p:cNvPicPr>
          <p:nvPr/>
        </p:nvPicPr>
        <p:blipFill>
          <a:blip r:embed="rId12" cstate="print">
            <a:duotone>
              <a:schemeClr val="bg2">
                <a:shade val="45000"/>
                <a:satMod val="135000"/>
              </a:schemeClr>
              <a:prstClr val="white"/>
            </a:duotone>
          </a:blip>
          <a:stretch>
            <a:fillRect/>
          </a:stretch>
        </p:blipFill>
        <p:spPr>
          <a:xfrm>
            <a:off x="6514383" y="2212007"/>
            <a:ext cx="236809" cy="236809"/>
          </a:xfrm>
          <a:prstGeom prst="rect">
            <a:avLst/>
          </a:prstGeom>
        </p:spPr>
      </p:pic>
      <p:grpSp>
        <p:nvGrpSpPr>
          <p:cNvPr id="10" name="组合 9">
            <a:extLst>
              <a:ext uri="{FF2B5EF4-FFF2-40B4-BE49-F238E27FC236}">
                <a16:creationId xmlns="" xmlns:a16="http://schemas.microsoft.com/office/drawing/2014/main" id="{C776A567-B75B-8AB6-181B-3FA13C1138FC}"/>
              </a:ext>
            </a:extLst>
          </p:cNvPr>
          <p:cNvGrpSpPr/>
          <p:nvPr/>
        </p:nvGrpSpPr>
        <p:grpSpPr>
          <a:xfrm>
            <a:off x="5195951" y="4217352"/>
            <a:ext cx="3102369" cy="365509"/>
            <a:chOff x="4944035" y="3729119"/>
            <a:chExt cx="3327026" cy="672159"/>
          </a:xfrm>
        </p:grpSpPr>
        <p:sp>
          <p:nvSpPr>
            <p:cNvPr id="11" name="圆角矩形 35">
              <a:extLst>
                <a:ext uri="{FF2B5EF4-FFF2-40B4-BE49-F238E27FC236}">
                  <a16:creationId xmlns="" xmlns:a16="http://schemas.microsoft.com/office/drawing/2014/main" id="{EE8E133C-8BAF-D245-4F80-BC7E73709AAD}"/>
                </a:ext>
              </a:extLst>
            </p:cNvPr>
            <p:cNvSpPr/>
            <p:nvPr/>
          </p:nvSpPr>
          <p:spPr>
            <a:xfrm>
              <a:off x="4944035" y="3729119"/>
              <a:ext cx="3327026" cy="672159"/>
            </a:xfrm>
            <a:prstGeom prst="roundRect">
              <a:avLst>
                <a:gd name="adj" fmla="val 5230"/>
              </a:avLst>
            </a:prstGeom>
            <a:solidFill>
              <a:schemeClr val="bg1">
                <a:lumMod val="95000"/>
              </a:schemeClr>
            </a:solid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 xmlns:a16="http://schemas.microsoft.com/office/drawing/2014/main" id="{91493B15-19A6-AEAF-55B6-22390517A1E2}"/>
                </a:ext>
              </a:extLst>
            </p:cNvPr>
            <p:cNvSpPr/>
            <p:nvPr/>
          </p:nvSpPr>
          <p:spPr>
            <a:xfrm>
              <a:off x="4989409" y="3806988"/>
              <a:ext cx="3271878" cy="544294"/>
            </a:xfrm>
            <a:prstGeom prst="rect">
              <a:avLst/>
            </a:prstGeom>
          </p:spPr>
          <p:txBody>
            <a:bodyPr wrap="square">
              <a:spAutoFit/>
            </a:bodyPr>
            <a:lstStyle/>
            <a:p>
              <a:pPr>
                <a:lnSpc>
                  <a:spcPct val="150000"/>
                </a:lnSpc>
              </a:pP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13" name="Rectangle 2">
            <a:extLst>
              <a:ext uri="{FF2B5EF4-FFF2-40B4-BE49-F238E27FC236}">
                <a16:creationId xmlns="" xmlns:a16="http://schemas.microsoft.com/office/drawing/2014/main" id="{796131C0-D6B9-BCC6-9763-05F1195631BE}"/>
              </a:ext>
            </a:extLst>
          </p:cNvPr>
          <p:cNvSpPr>
            <a:spLocks noChangeArrowheads="1"/>
          </p:cNvSpPr>
          <p:nvPr/>
        </p:nvSpPr>
        <p:spPr bwMode="auto">
          <a:xfrm>
            <a:off x="5195950" y="4276997"/>
            <a:ext cx="3025311" cy="24622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家庭日常监测</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随访管理</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等</a:t>
            </a:r>
            <a:endPar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1109460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6620" y="987574"/>
            <a:ext cx="4115379" cy="784830"/>
          </a:xfrm>
          <a:prstGeom prst="rect">
            <a:avLst/>
          </a:prstGeom>
          <a:noFill/>
        </p:spPr>
        <p:txBody>
          <a:bodyPr wrap="square" rtlCol="0">
            <a:spAutoFit/>
          </a:bodyPr>
          <a:lstStyle/>
          <a:p>
            <a:pPr>
              <a:lnSpc>
                <a:spcPct val="15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一款卡片形态的单导联心电测量设备，手触即可启动并采集心电信号，通过蓝牙连接</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APP/</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小程序实时显示心电波形及心率值，秒出</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AI</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分析报告，方便快捷，随身常备，随心测量，亲友分享，家人健康早知道。</a:t>
            </a:r>
          </a:p>
        </p:txBody>
      </p:sp>
      <p:pic>
        <p:nvPicPr>
          <p:cNvPr id="24" name="图片 23" descr="图层 49"/>
          <p:cNvPicPr>
            <a:picLocks noChangeAspect="1"/>
          </p:cNvPicPr>
          <p:nvPr/>
        </p:nvPicPr>
        <p:blipFill>
          <a:blip r:embed="rId4" cstate="print"/>
          <a:stretch>
            <a:fillRect/>
          </a:stretch>
        </p:blipFill>
        <p:spPr>
          <a:xfrm>
            <a:off x="68323" y="2148511"/>
            <a:ext cx="2916555" cy="2446655"/>
          </a:xfrm>
          <a:prstGeom prst="rect">
            <a:avLst/>
          </a:prstGeom>
          <a:effectLst/>
        </p:spPr>
      </p:pic>
      <p:pic>
        <p:nvPicPr>
          <p:cNvPr id="35" name="图片 34" descr="组 39"/>
          <p:cNvPicPr>
            <a:picLocks noChangeAspect="1"/>
          </p:cNvPicPr>
          <p:nvPr>
            <p:custDataLst>
              <p:tags r:id="rId1"/>
            </p:custDataLst>
          </p:nvPr>
        </p:nvPicPr>
        <p:blipFill>
          <a:blip r:embed="rId5" cstate="print"/>
          <a:stretch>
            <a:fillRect/>
          </a:stretch>
        </p:blipFill>
        <p:spPr>
          <a:xfrm>
            <a:off x="2984878" y="2632383"/>
            <a:ext cx="986668" cy="2124729"/>
          </a:xfrm>
          <a:prstGeom prst="rect">
            <a:avLst/>
          </a:prstGeom>
        </p:spPr>
      </p:pic>
      <p:sp>
        <p:nvSpPr>
          <p:cNvPr id="36" name="圆角矩形 35"/>
          <p:cNvSpPr/>
          <p:nvPr/>
        </p:nvSpPr>
        <p:spPr>
          <a:xfrm>
            <a:off x="939466" y="2067694"/>
            <a:ext cx="2918539" cy="297787"/>
          </a:xfrm>
          <a:prstGeom prst="roundRect">
            <a:avLst>
              <a:gd name="adj" fmla="val 50000"/>
            </a:avLst>
          </a:prstGeom>
          <a:solidFill>
            <a:schemeClr val="accent1">
              <a:alpha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000" dirty="0">
                <a:latin typeface="微软雅黑" panose="020B0503020204020204" pitchFamily="34" charset="-122"/>
                <a:ea typeface="微软雅黑" panose="020B0503020204020204" pitchFamily="34" charset="-122"/>
              </a:rPr>
              <a:t>随时随地随心测量，及时掌握健康状况</a:t>
            </a:r>
          </a:p>
        </p:txBody>
      </p:sp>
      <p:sp>
        <p:nvSpPr>
          <p:cNvPr id="39" name="矩形 38"/>
          <p:cNvSpPr/>
          <p:nvPr/>
        </p:nvSpPr>
        <p:spPr>
          <a:xfrm>
            <a:off x="5749799" y="1842764"/>
            <a:ext cx="928459" cy="369332"/>
          </a:xfrm>
          <a:prstGeom prst="rect">
            <a:avLst/>
          </a:prstGeom>
        </p:spPr>
        <p:txBody>
          <a:bodyPr wrap="none">
            <a:spAutoFit/>
          </a:bodyPr>
          <a:lstStyle/>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30s-3min</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速测</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日常预防</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矩形 39"/>
          <p:cNvSpPr/>
          <p:nvPr/>
        </p:nvSpPr>
        <p:spPr>
          <a:xfrm>
            <a:off x="7541804" y="2621008"/>
            <a:ext cx="877163"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多维健康评估</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三甲专家解读</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矩形 42"/>
          <p:cNvSpPr/>
          <p:nvPr/>
        </p:nvSpPr>
        <p:spPr>
          <a:xfrm>
            <a:off x="6643716" y="2621008"/>
            <a:ext cx="896399"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秒出</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AI</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报告</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40</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种心电异常</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矩形 43"/>
          <p:cNvSpPr/>
          <p:nvPr/>
        </p:nvSpPr>
        <p:spPr>
          <a:xfrm>
            <a:off x="5153675" y="2621008"/>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超长续航</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可用半年</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5" name="矩形 44"/>
          <p:cNvSpPr/>
          <p:nvPr/>
        </p:nvSpPr>
        <p:spPr>
          <a:xfrm>
            <a:off x="7034781" y="1842764"/>
            <a:ext cx="915127" cy="369332"/>
          </a:xfrm>
          <a:prstGeom prst="rect">
            <a:avLst/>
          </a:prstGeom>
        </p:spPr>
        <p:txBody>
          <a:bodyPr wrap="square">
            <a:spAutoFit/>
          </a:bodyPr>
          <a:lstStyle/>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IPX8</a:t>
            </a: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整机防水</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46" name="图片 45"/>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7355331" y="1563638"/>
            <a:ext cx="237068" cy="237068"/>
          </a:xfrm>
          <a:prstGeom prst="rect">
            <a:avLst/>
          </a:prstGeom>
        </p:spPr>
      </p:pic>
      <p:pic>
        <p:nvPicPr>
          <p:cNvPr id="48" name="图片 47"/>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7902279" y="2391515"/>
            <a:ext cx="190796" cy="190796"/>
          </a:xfrm>
          <a:prstGeom prst="rect">
            <a:avLst/>
          </a:prstGeom>
        </p:spPr>
      </p:pic>
      <p:pic>
        <p:nvPicPr>
          <p:cNvPr id="4" name="图片 3"/>
          <p:cNvPicPr>
            <a:picLocks noChangeAspect="1"/>
          </p:cNvPicPr>
          <p:nvPr/>
        </p:nvPicPr>
        <p:blipFill>
          <a:blip r:embed="rId8" cstate="print">
            <a:extLst>
              <a:ext uri="{28A0092B-C50C-407E-A947-70E740481C1C}">
                <a14:useLocalDpi xmlns="" xmlns:a14="http://schemas.microsoft.com/office/drawing/2010/main" val="0"/>
              </a:ext>
            </a:extLst>
          </a:blip>
          <a:stretch>
            <a:fillRect/>
          </a:stretch>
        </p:blipFill>
        <p:spPr>
          <a:xfrm>
            <a:off x="6067625" y="1569450"/>
            <a:ext cx="225444" cy="225444"/>
          </a:xfrm>
          <a:prstGeom prst="rect">
            <a:avLst/>
          </a:prstGeom>
        </p:spPr>
      </p:pic>
      <p:sp>
        <p:nvSpPr>
          <p:cNvPr id="27" name="文本框 26"/>
          <p:cNvSpPr txBox="1"/>
          <p:nvPr/>
        </p:nvSpPr>
        <p:spPr>
          <a:xfrm>
            <a:off x="5033872" y="1036853"/>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产品优势</a:t>
            </a:r>
          </a:p>
        </p:txBody>
      </p:sp>
      <p:pic>
        <p:nvPicPr>
          <p:cNvPr id="7" name="图片 6"/>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7006393" y="2401390"/>
            <a:ext cx="171047" cy="171047"/>
          </a:xfrm>
          <a:prstGeom prst="rect">
            <a:avLst/>
          </a:prstGeom>
        </p:spPr>
      </p:pic>
      <p:sp>
        <p:nvSpPr>
          <p:cNvPr id="28" name="文本框 27"/>
          <p:cNvSpPr txBox="1"/>
          <p:nvPr/>
        </p:nvSpPr>
        <p:spPr>
          <a:xfrm>
            <a:off x="5033872" y="3411690"/>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适用场景</a:t>
            </a:r>
          </a:p>
        </p:txBody>
      </p:sp>
      <p:sp>
        <p:nvSpPr>
          <p:cNvPr id="11" name="矩形 10">
            <a:extLst>
              <a:ext uri="{FF2B5EF4-FFF2-40B4-BE49-F238E27FC236}">
                <a16:creationId xmlns="" xmlns:a16="http://schemas.microsoft.com/office/drawing/2014/main" id="{4374AE96-DA3A-B201-19E3-FD40DE436751}"/>
              </a:ext>
            </a:extLst>
          </p:cNvPr>
          <p:cNvSpPr/>
          <p:nvPr/>
        </p:nvSpPr>
        <p:spPr>
          <a:xfrm>
            <a:off x="5170782" y="1842764"/>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手触即测</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操作简单</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 xmlns:a16="http://schemas.microsoft.com/office/drawing/2014/main" id="{E89B8E1A-2C8C-D47A-7396-5F4958F12BC9}"/>
              </a:ext>
            </a:extLst>
          </p:cNvPr>
          <p:cNvSpPr/>
          <p:nvPr/>
        </p:nvSpPr>
        <p:spPr>
          <a:xfrm>
            <a:off x="6610942" y="1842764"/>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蓝牙</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5.0</a:t>
            </a: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实时传输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 xmlns:a16="http://schemas.microsoft.com/office/drawing/2014/main" id="{6F9BEB52-3301-4E2F-9300-FEDECA752001}"/>
              </a:ext>
            </a:extLst>
          </p:cNvPr>
          <p:cNvPicPr>
            <a:picLocks noChangeAspect="1"/>
          </p:cNvPicPr>
          <p:nvPr/>
        </p:nvPicPr>
        <p:blipFill>
          <a:blip r:embed="rId10" cstate="print">
            <a:extLst>
              <a:ext uri="{28A0092B-C50C-407E-A947-70E740481C1C}">
                <a14:useLocalDpi xmlns="" xmlns:a14="http://schemas.microsoft.com/office/drawing/2010/main" val="0"/>
              </a:ext>
            </a:extLst>
          </a:blip>
          <a:stretch>
            <a:fillRect/>
          </a:stretch>
        </p:blipFill>
        <p:spPr>
          <a:xfrm>
            <a:off x="6810449" y="1569450"/>
            <a:ext cx="225444" cy="225444"/>
          </a:xfrm>
          <a:prstGeom prst="rect">
            <a:avLst/>
          </a:prstGeom>
        </p:spPr>
      </p:pic>
      <p:sp>
        <p:nvSpPr>
          <p:cNvPr id="17" name="矩形 16">
            <a:extLst>
              <a:ext uri="{FF2B5EF4-FFF2-40B4-BE49-F238E27FC236}">
                <a16:creationId xmlns="" xmlns:a16="http://schemas.microsoft.com/office/drawing/2014/main" id="{4F2EEC88-33A9-6059-98F0-82CB4985B696}"/>
              </a:ext>
            </a:extLst>
          </p:cNvPr>
          <p:cNvSpPr/>
          <p:nvPr/>
        </p:nvSpPr>
        <p:spPr>
          <a:xfrm>
            <a:off x="5796136" y="2621008"/>
            <a:ext cx="877163"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电池可换</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减少充电烦恼</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 xmlns:a16="http://schemas.microsoft.com/office/drawing/2014/main" id="{DDCF099A-3AED-890C-A9AB-82106BCC71CF}"/>
              </a:ext>
            </a:extLst>
          </p:cNvPr>
          <p:cNvSpPr/>
          <p:nvPr/>
        </p:nvSpPr>
        <p:spPr>
          <a:xfrm>
            <a:off x="7617313" y="1842764"/>
            <a:ext cx="915127" cy="369332"/>
          </a:xfrm>
          <a:prstGeom prst="rect">
            <a:avLst/>
          </a:prstGeom>
        </p:spPr>
        <p:txBody>
          <a:bodyPr wrap="squar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超薄设计</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小巧轻便</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076" name="Picture 4">
            <a:extLst>
              <a:ext uri="{FF2B5EF4-FFF2-40B4-BE49-F238E27FC236}">
                <a16:creationId xmlns="" xmlns:a16="http://schemas.microsoft.com/office/drawing/2014/main" id="{8DA88151-5AB4-0870-8677-1AF454AD64DF}"/>
              </a:ext>
            </a:extLst>
          </p:cNvPr>
          <p:cNvPicPr>
            <a:picLocks noChangeAspect="1" noChangeArrowheads="1"/>
          </p:cNvPicPr>
          <p:nvPr/>
        </p:nvPicPr>
        <p:blipFill>
          <a:blip r:embed="rId11" cstate="print">
            <a:extLst>
              <a:ext uri="{BEBA8EAE-BF5A-486C-A8C5-ECC9F3942E4B}">
                <a14:imgProps xmlns="" xmlns:a14="http://schemas.microsoft.com/office/drawing/2010/main">
                  <a14:imgLayer r:embed="rId12">
                    <a14:imgEffect>
                      <a14:sharpenSoften amount="-50000"/>
                    </a14:imgEffect>
                    <a14:imgEffect>
                      <a14:saturation sat="0"/>
                    </a14:imgEffect>
                    <a14:imgEffect>
                      <a14:brightnessContrast bright="51000" contrast="-40000"/>
                    </a14:imgEffect>
                  </a14:imgLayer>
                </a14:imgProps>
              </a:ext>
              <a:ext uri="{28A0092B-C50C-407E-A947-70E740481C1C}">
                <a14:useLocalDpi xmlns="" xmlns:a14="http://schemas.microsoft.com/office/drawing/2010/main" val="0"/>
              </a:ext>
            </a:extLst>
          </a:blip>
          <a:srcRect/>
          <a:stretch>
            <a:fillRect/>
          </a:stretch>
        </p:blipFill>
        <p:spPr bwMode="auto">
          <a:xfrm>
            <a:off x="5344323" y="1573790"/>
            <a:ext cx="302942" cy="216764"/>
          </a:xfrm>
          <a:prstGeom prst="rect">
            <a:avLst/>
          </a:prstGeom>
          <a:noFill/>
          <a:extLst>
            <a:ext uri="{909E8E84-426E-40DD-AFC4-6F175D3DCCD1}">
              <a14:hiddenFill xmlns="" xmlns:a14="http://schemas.microsoft.com/office/drawing/2010/main">
                <a:solidFill>
                  <a:srgbClr val="FFFFFF"/>
                </a:solidFill>
              </a14:hiddenFill>
            </a:ext>
          </a:extLst>
        </p:spPr>
      </p:pic>
      <p:pic>
        <p:nvPicPr>
          <p:cNvPr id="3077" name="Picture 5">
            <a:extLst>
              <a:ext uri="{FF2B5EF4-FFF2-40B4-BE49-F238E27FC236}">
                <a16:creationId xmlns="" xmlns:a16="http://schemas.microsoft.com/office/drawing/2014/main" id="{ADF07D90-16BC-CC3E-AB72-70D7484F4A3E}"/>
              </a:ext>
            </a:extLst>
          </p:cNvPr>
          <p:cNvPicPr>
            <a:picLocks noChangeAspect="1" noChangeArrowheads="1"/>
          </p:cNvPicPr>
          <p:nvPr/>
        </p:nvPicPr>
        <p:blipFill>
          <a:blip r:embed="rId13" cstate="print">
            <a:extLst>
              <a:ext uri="{BEBA8EAE-BF5A-486C-A8C5-ECC9F3942E4B}">
                <a14:imgProps xmlns="" xmlns:a14="http://schemas.microsoft.com/office/drawing/2010/main">
                  <a14:imgLayer r:embed="rId14">
                    <a14:imgEffect>
                      <a14:saturation sat="0"/>
                    </a14:imgEffect>
                    <a14:imgEffect>
                      <a14:brightnessContrast bright="40000" contrast="-40000"/>
                    </a14:imgEffect>
                  </a14:imgLayer>
                </a14:imgProps>
              </a:ext>
              <a:ext uri="{28A0092B-C50C-407E-A947-70E740481C1C}">
                <a14:useLocalDpi xmlns="" xmlns:a14="http://schemas.microsoft.com/office/drawing/2010/main" val="0"/>
              </a:ext>
            </a:extLst>
          </a:blip>
          <a:srcRect/>
          <a:stretch>
            <a:fillRect/>
          </a:stretch>
        </p:blipFill>
        <p:spPr bwMode="auto">
          <a:xfrm>
            <a:off x="7949116" y="1584312"/>
            <a:ext cx="244877" cy="195720"/>
          </a:xfrm>
          <a:prstGeom prst="rect">
            <a:avLst/>
          </a:prstGeom>
          <a:noFill/>
          <a:extLst>
            <a:ext uri="{909E8E84-426E-40DD-AFC4-6F175D3DCCD1}">
              <a14:hiddenFill xmlns="" xmlns:a14="http://schemas.microsoft.com/office/drawing/2010/main">
                <a:solidFill>
                  <a:srgbClr val="FFFFFF"/>
                </a:solidFill>
              </a14:hiddenFill>
            </a:ext>
          </a:extLst>
        </p:spPr>
      </p:pic>
      <p:pic>
        <p:nvPicPr>
          <p:cNvPr id="3078" name="Picture 6">
            <a:extLst>
              <a:ext uri="{FF2B5EF4-FFF2-40B4-BE49-F238E27FC236}">
                <a16:creationId xmlns="" xmlns:a16="http://schemas.microsoft.com/office/drawing/2014/main" id="{5C7B17A3-952B-11E3-C76E-3CFA96CA59BF}"/>
              </a:ext>
            </a:extLst>
          </p:cNvPr>
          <p:cNvPicPr>
            <a:picLocks noChangeAspect="1" noChangeArrowheads="1"/>
          </p:cNvPicPr>
          <p:nvPr/>
        </p:nvPicPr>
        <p:blipFill>
          <a:blip r:embed="rId15" cstate="print">
            <a:extLst>
              <a:ext uri="{BEBA8EAE-BF5A-486C-A8C5-ECC9F3942E4B}">
                <a14:imgProps xmlns="" xmlns:a14="http://schemas.microsoft.com/office/drawing/2010/main">
                  <a14:imgLayer r:embed="rId16">
                    <a14:imgEffect>
                      <a14:saturation sat="0"/>
                    </a14:imgEffect>
                    <a14:imgEffect>
                      <a14:brightnessContrast bright="49000" contrast="-40000"/>
                    </a14:imgEffect>
                  </a14:imgLayer>
                </a14:imgProps>
              </a:ext>
              <a:ext uri="{28A0092B-C50C-407E-A947-70E740481C1C}">
                <a14:useLocalDpi xmlns="" xmlns:a14="http://schemas.microsoft.com/office/drawing/2010/main" val="0"/>
              </a:ext>
            </a:extLst>
          </a:blip>
          <a:srcRect/>
          <a:stretch>
            <a:fillRect/>
          </a:stretch>
        </p:blipFill>
        <p:spPr bwMode="auto">
          <a:xfrm>
            <a:off x="5361208" y="2389475"/>
            <a:ext cx="190796" cy="194877"/>
          </a:xfrm>
          <a:prstGeom prst="rect">
            <a:avLst/>
          </a:prstGeom>
          <a:noFill/>
          <a:extLst>
            <a:ext uri="{909E8E84-426E-40DD-AFC4-6F175D3DCCD1}">
              <a14:hiddenFill xmlns="" xmlns:a14="http://schemas.microsoft.com/office/drawing/2010/main">
                <a:solidFill>
                  <a:srgbClr val="FFFFFF"/>
                </a:solidFill>
              </a14:hiddenFill>
            </a:ext>
          </a:extLst>
        </p:spPr>
      </p:pic>
      <p:pic>
        <p:nvPicPr>
          <p:cNvPr id="3079" name="Picture 7">
            <a:extLst>
              <a:ext uri="{FF2B5EF4-FFF2-40B4-BE49-F238E27FC236}">
                <a16:creationId xmlns="" xmlns:a16="http://schemas.microsoft.com/office/drawing/2014/main" id="{25E8BF23-3B2A-55DD-0378-12A2443AE659}"/>
              </a:ext>
            </a:extLst>
          </p:cNvPr>
          <p:cNvPicPr>
            <a:picLocks noChangeAspect="1" noChangeArrowheads="1"/>
          </p:cNvPicPr>
          <p:nvPr/>
        </p:nvPicPr>
        <p:blipFill>
          <a:blip r:embed="rId17" cstate="print">
            <a:extLst>
              <a:ext uri="{BEBA8EAE-BF5A-486C-A8C5-ECC9F3942E4B}">
                <a14:imgProps xmlns="" xmlns:a14="http://schemas.microsoft.com/office/drawing/2010/main">
                  <a14:imgLayer r:embed="rId18">
                    <a14:imgEffect>
                      <a14:saturation sat="0"/>
                    </a14:imgEffect>
                    <a14:imgEffect>
                      <a14:brightnessContrast bright="51000" contrast="-40000"/>
                    </a14:imgEffect>
                  </a14:imgLayer>
                </a14:imgProps>
              </a:ext>
              <a:ext uri="{28A0092B-C50C-407E-A947-70E740481C1C}">
                <a14:useLocalDpi xmlns="" xmlns:a14="http://schemas.microsoft.com/office/drawing/2010/main" val="0"/>
              </a:ext>
            </a:extLst>
          </a:blip>
          <a:srcRect/>
          <a:stretch>
            <a:fillRect/>
          </a:stretch>
        </p:blipFill>
        <p:spPr bwMode="auto">
          <a:xfrm>
            <a:off x="6135857" y="2391503"/>
            <a:ext cx="164336" cy="19082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solidFill>
                  <a:srgbClr val="2179B1"/>
                </a:solidFill>
              </a:rPr>
              <a:t>医疗级可穿戴设备</a:t>
            </a:r>
            <a:r>
              <a:rPr lang="en-US" altLang="zh-CN" dirty="0">
                <a:solidFill>
                  <a:srgbClr val="2179B1"/>
                </a:solidFill>
              </a:rPr>
              <a:t>|TE-5200Y-C</a:t>
            </a:r>
            <a:r>
              <a:rPr lang="zh-CN" altLang="en-US" dirty="0">
                <a:solidFill>
                  <a:srgbClr val="2179B1"/>
                </a:solidFill>
              </a:rPr>
              <a:t>型心电记录仪</a:t>
            </a:r>
          </a:p>
        </p:txBody>
      </p:sp>
      <p:grpSp>
        <p:nvGrpSpPr>
          <p:cNvPr id="3" name="组合 2">
            <a:extLst>
              <a:ext uri="{FF2B5EF4-FFF2-40B4-BE49-F238E27FC236}">
                <a16:creationId xmlns="" xmlns:a16="http://schemas.microsoft.com/office/drawing/2014/main" id="{23C55EEA-B0F9-3AF9-9199-4884EBC69815}"/>
              </a:ext>
            </a:extLst>
          </p:cNvPr>
          <p:cNvGrpSpPr/>
          <p:nvPr/>
        </p:nvGrpSpPr>
        <p:grpSpPr>
          <a:xfrm>
            <a:off x="5129010" y="3817952"/>
            <a:ext cx="3331422" cy="553998"/>
            <a:chOff x="4944035" y="3729119"/>
            <a:chExt cx="3327026" cy="672159"/>
          </a:xfrm>
        </p:grpSpPr>
        <p:sp>
          <p:nvSpPr>
            <p:cNvPr id="6" name="圆角矩形 35">
              <a:extLst>
                <a:ext uri="{FF2B5EF4-FFF2-40B4-BE49-F238E27FC236}">
                  <a16:creationId xmlns="" xmlns:a16="http://schemas.microsoft.com/office/drawing/2014/main" id="{5890FF98-440D-EDFA-6227-ADB768630A6D}"/>
                </a:ext>
              </a:extLst>
            </p:cNvPr>
            <p:cNvSpPr/>
            <p:nvPr/>
          </p:nvSpPr>
          <p:spPr>
            <a:xfrm>
              <a:off x="4944035" y="3729119"/>
              <a:ext cx="3327026" cy="672159"/>
            </a:xfrm>
            <a:prstGeom prst="roundRect">
              <a:avLst>
                <a:gd name="adj" fmla="val 5230"/>
              </a:avLst>
            </a:prstGeom>
            <a:solidFill>
              <a:schemeClr val="bg1">
                <a:lumMod val="95000"/>
              </a:schemeClr>
            </a:solid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 xmlns:a16="http://schemas.microsoft.com/office/drawing/2014/main" id="{CEA4157B-575E-FAEC-27EA-B1CE1B61E05F}"/>
                </a:ext>
              </a:extLst>
            </p:cNvPr>
            <p:cNvSpPr/>
            <p:nvPr/>
          </p:nvSpPr>
          <p:spPr>
            <a:xfrm>
              <a:off x="4989409" y="3806988"/>
              <a:ext cx="3271878" cy="544294"/>
            </a:xfrm>
            <a:prstGeom prst="rect">
              <a:avLst/>
            </a:prstGeom>
          </p:spPr>
          <p:txBody>
            <a:bodyPr wrap="square">
              <a:spAutoFit/>
            </a:bodyPr>
            <a:lstStyle/>
            <a:p>
              <a:pPr>
                <a:lnSpc>
                  <a:spcPct val="150000"/>
                </a:lnSpc>
              </a:pP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12" name="Rectangle 2"/>
          <p:cNvSpPr>
            <a:spLocks noChangeArrowheads="1"/>
          </p:cNvSpPr>
          <p:nvPr/>
        </p:nvSpPr>
        <p:spPr bwMode="auto">
          <a:xfrm>
            <a:off x="5129010" y="3809479"/>
            <a:ext cx="3276201" cy="5268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个人日常监测</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（不适时、加班后、运动前后） 、</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体检筛查</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随访管理</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等</a:t>
            </a:r>
            <a:endPar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1758468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5033872" y="1036853"/>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产品优势</a:t>
            </a:r>
          </a:p>
        </p:txBody>
      </p:sp>
      <p:sp>
        <p:nvSpPr>
          <p:cNvPr id="3" name="矩形 2"/>
          <p:cNvSpPr/>
          <p:nvPr/>
        </p:nvSpPr>
        <p:spPr>
          <a:xfrm>
            <a:off x="456620" y="1010224"/>
            <a:ext cx="4434061" cy="784830"/>
          </a:xfrm>
          <a:prstGeom prst="rect">
            <a:avLst/>
          </a:prstGeom>
        </p:spPr>
        <p:txBody>
          <a:bodyPr wrap="square">
            <a:spAutoFit/>
          </a:bodyPr>
          <a:lstStyle/>
          <a:p>
            <a:pPr>
              <a:lnSpc>
                <a:spcPct val="15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产品小巧轻柔，隐形穿戴，即贴即用，可对人体进行</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24</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小时单导心电数据采集、存储。连接手机实时查看波形和心率值，通过</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AI</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动态心电报告了解身体健康状况和心脏疾病风险。用心贴心，守护您的每一次心跳。</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rotWithShape="1">
          <a:blip r:embed="rId3" cstate="print">
            <a:extLst>
              <a:ext uri="{28A0092B-C50C-407E-A947-70E740481C1C}">
                <a14:useLocalDpi xmlns="" xmlns:a14="http://schemas.microsoft.com/office/drawing/2010/main" val="0"/>
              </a:ext>
            </a:extLst>
          </a:blip>
          <a:srcRect t="32807" b="26594"/>
          <a:stretch/>
        </p:blipFill>
        <p:spPr>
          <a:xfrm>
            <a:off x="2176373" y="2758870"/>
            <a:ext cx="1796061" cy="729191"/>
          </a:xfrm>
          <a:prstGeom prst="rect">
            <a:avLst/>
          </a:prstGeom>
        </p:spPr>
      </p:pic>
      <p:sp>
        <p:nvSpPr>
          <p:cNvPr id="17" name="矩形 16"/>
          <p:cNvSpPr/>
          <p:nvPr/>
        </p:nvSpPr>
        <p:spPr>
          <a:xfrm>
            <a:off x="5420821" y="1757074"/>
            <a:ext cx="761747"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24小时</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不间断检测</a:t>
            </a:r>
          </a:p>
        </p:txBody>
      </p:sp>
      <p:sp>
        <p:nvSpPr>
          <p:cNvPr id="20" name="矩形 19"/>
          <p:cNvSpPr/>
          <p:nvPr/>
        </p:nvSpPr>
        <p:spPr>
          <a:xfrm>
            <a:off x="6210689" y="2573646"/>
            <a:ext cx="665567" cy="369332"/>
          </a:xfrm>
          <a:prstGeom prst="rect">
            <a:avLst/>
          </a:prstGeom>
        </p:spPr>
        <p:txBody>
          <a:bodyPr wrap="none">
            <a:spAutoFit/>
          </a:bodyPr>
          <a:lstStyle/>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20</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种疾病</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风险筛查</a:t>
            </a:r>
          </a:p>
        </p:txBody>
      </p:sp>
      <p:sp>
        <p:nvSpPr>
          <p:cNvPr id="23" name="矩形 22"/>
          <p:cNvSpPr/>
          <p:nvPr/>
        </p:nvSpPr>
        <p:spPr>
          <a:xfrm>
            <a:off x="5476124" y="2574432"/>
            <a:ext cx="651140"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轻至</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8.9g</a:t>
            </a: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舒适无感</a:t>
            </a:r>
          </a:p>
        </p:txBody>
      </p:sp>
      <p:sp>
        <p:nvSpPr>
          <p:cNvPr id="25" name="矩形 24"/>
          <p:cNvSpPr/>
          <p:nvPr/>
        </p:nvSpPr>
        <p:spPr>
          <a:xfrm>
            <a:off x="6893199" y="2573646"/>
            <a:ext cx="686406"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开放</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SDK</a:t>
            </a: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支持</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OEM</a:t>
            </a:r>
          </a:p>
        </p:txBody>
      </p:sp>
      <p:sp>
        <p:nvSpPr>
          <p:cNvPr id="27" name="矩形 26"/>
          <p:cNvSpPr/>
          <p:nvPr/>
        </p:nvSpPr>
        <p:spPr>
          <a:xfrm>
            <a:off x="6855529" y="1757074"/>
            <a:ext cx="761747" cy="369332"/>
          </a:xfrm>
          <a:prstGeom prst="rect">
            <a:avLst/>
          </a:prstGeom>
        </p:spPr>
        <p:txBody>
          <a:bodyPr wrap="square">
            <a:spAutoFit/>
          </a:bodyPr>
          <a:lstStyle/>
          <a:p>
            <a:pPr algn="ct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IPX7</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防水</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淋浴可佩戴</a:t>
            </a:r>
          </a:p>
        </p:txBody>
      </p:sp>
      <p:pic>
        <p:nvPicPr>
          <p:cNvPr id="8" name="图片 7"/>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7120829" y="1471888"/>
            <a:ext cx="231147" cy="231147"/>
          </a:xfrm>
          <a:prstGeom prst="rect">
            <a:avLst/>
          </a:prstGeom>
        </p:spPr>
      </p:pic>
      <p:pic>
        <p:nvPicPr>
          <p:cNvPr id="9" name="图片 8"/>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7140987" y="2311944"/>
            <a:ext cx="190830" cy="190830"/>
          </a:xfrm>
          <a:prstGeom prst="rect">
            <a:avLst/>
          </a:prstGeom>
        </p:spPr>
      </p:pic>
      <p:pic>
        <p:nvPicPr>
          <p:cNvPr id="11" name="图片 10"/>
          <p:cNvPicPr>
            <a:picLocks noChangeAspect="1"/>
          </p:cNvPicPr>
          <p:nvPr/>
        </p:nvPicPr>
        <p:blipFill>
          <a:blip r:embed="rId6" cstate="print">
            <a:extLst>
              <a:ext uri="{BEBA8EAE-BF5A-486C-A8C5-ECC9F3942E4B}">
                <a14:imgProps xmlns="" xmlns:a14="http://schemas.microsoft.com/office/drawing/2010/main">
                  <a14:imgLayer r:embed="rId7">
                    <a14:imgEffect>
                      <a14:brightnessContrast bright="17000"/>
                    </a14:imgEffect>
                  </a14:imgLayer>
                </a14:imgProps>
              </a:ext>
              <a:ext uri="{28A0092B-C50C-407E-A947-70E740481C1C}">
                <a14:useLocalDpi xmlns="" xmlns:a14="http://schemas.microsoft.com/office/drawing/2010/main" val="0"/>
              </a:ext>
            </a:extLst>
          </a:blip>
          <a:stretch>
            <a:fillRect/>
          </a:stretch>
        </p:blipFill>
        <p:spPr>
          <a:xfrm>
            <a:off x="5683503" y="2289168"/>
            <a:ext cx="236382" cy="236382"/>
          </a:xfrm>
          <a:prstGeom prst="rect">
            <a:avLst/>
          </a:prstGeom>
        </p:spPr>
      </p:pic>
      <p:pic>
        <p:nvPicPr>
          <p:cNvPr id="14" name="图片 13"/>
          <p:cNvPicPr>
            <a:picLocks noChangeAspect="1"/>
          </p:cNvPicPr>
          <p:nvPr/>
        </p:nvPicPr>
        <p:blipFill>
          <a:blip r:embed="rId8" cstate="print">
            <a:extLst>
              <a:ext uri="{28A0092B-C50C-407E-A947-70E740481C1C}">
                <a14:useLocalDpi xmlns="" xmlns:a14="http://schemas.microsoft.com/office/drawing/2010/main" val="0"/>
              </a:ext>
            </a:extLst>
          </a:blip>
          <a:stretch>
            <a:fillRect/>
          </a:stretch>
        </p:blipFill>
        <p:spPr>
          <a:xfrm>
            <a:off x="6438920" y="2302807"/>
            <a:ext cx="209105" cy="209105"/>
          </a:xfrm>
          <a:prstGeom prst="rect">
            <a:avLst/>
          </a:prstGeom>
        </p:spPr>
      </p:pic>
      <p:pic>
        <p:nvPicPr>
          <p:cNvPr id="31" name="图片 30"/>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5703798" y="1489565"/>
            <a:ext cx="195793" cy="195793"/>
          </a:xfrm>
          <a:prstGeom prst="rect">
            <a:avLst/>
          </a:prstGeom>
        </p:spPr>
      </p:pic>
      <p:pic>
        <p:nvPicPr>
          <p:cNvPr id="42" name="图片 41" descr="G:\zd\3_平面杂项\5_产品单页\20230625_三折页_C端产品\心电贴\组 46-2.png组 46-2"/>
          <p:cNvPicPr>
            <a:picLocks noChangeAspect="1"/>
          </p:cNvPicPr>
          <p:nvPr/>
        </p:nvPicPr>
        <p:blipFill>
          <a:blip r:embed="rId10" cstate="print"/>
          <a:srcRect l="32478" r="20445" b="45114"/>
          <a:stretch>
            <a:fillRect/>
          </a:stretch>
        </p:blipFill>
        <p:spPr>
          <a:xfrm>
            <a:off x="486906" y="2137437"/>
            <a:ext cx="1689467" cy="2891123"/>
          </a:xfrm>
          <a:prstGeom prst="rect">
            <a:avLst/>
          </a:prstGeom>
        </p:spPr>
      </p:pic>
      <p:sp>
        <p:nvSpPr>
          <p:cNvPr id="39" name="椭圆 38"/>
          <p:cNvSpPr/>
          <p:nvPr/>
        </p:nvSpPr>
        <p:spPr>
          <a:xfrm>
            <a:off x="1288463" y="3259593"/>
            <a:ext cx="504056" cy="504056"/>
          </a:xfrm>
          <a:prstGeom prst="ellipse">
            <a:avLst/>
          </a:prstGeom>
          <a:noFill/>
          <a:ln>
            <a:solidFill>
              <a:schemeClr val="bg1">
                <a:lumMod val="9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44" name="圆角矩形 43"/>
          <p:cNvSpPr/>
          <p:nvPr/>
        </p:nvSpPr>
        <p:spPr>
          <a:xfrm>
            <a:off x="841757" y="1913923"/>
            <a:ext cx="2918539" cy="297787"/>
          </a:xfrm>
          <a:prstGeom prst="roundRect">
            <a:avLst>
              <a:gd name="adj" fmla="val 50000"/>
            </a:avLst>
          </a:prstGeom>
          <a:solidFill>
            <a:schemeClr val="accent1">
              <a:alpha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zh-CN" altLang="en-US" sz="1000" dirty="0">
                <a:latin typeface="微软雅黑" panose="020B0503020204020204" pitchFamily="34" charset="-122"/>
                <a:ea typeface="微软雅黑" panose="020B0503020204020204" pitchFamily="34" charset="-122"/>
              </a:rPr>
              <a:t>您贴心的心脏健康监测管家</a:t>
            </a:r>
          </a:p>
        </p:txBody>
      </p:sp>
      <p:cxnSp>
        <p:nvCxnSpPr>
          <p:cNvPr id="5" name="肘形连接符 4"/>
          <p:cNvCxnSpPr>
            <a:stCxn id="39" idx="7"/>
          </p:cNvCxnSpPr>
          <p:nvPr/>
        </p:nvCxnSpPr>
        <p:spPr>
          <a:xfrm rot="5400000" flipH="1" flipV="1">
            <a:off x="1950903" y="2859543"/>
            <a:ext cx="241666" cy="706068"/>
          </a:xfrm>
          <a:prstGeom prst="curvedConnector2">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 xmlns:a16="http://schemas.microsoft.com/office/drawing/2014/main" id="{6763BFB0-66C4-12F5-912B-6E908632A012}"/>
              </a:ext>
            </a:extLst>
          </p:cNvPr>
          <p:cNvSpPr/>
          <p:nvPr/>
        </p:nvSpPr>
        <p:spPr>
          <a:xfrm>
            <a:off x="6254771" y="1757074"/>
            <a:ext cx="577402"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蓝牙</a:t>
            </a:r>
            <a:r>
              <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rPr>
              <a:t>5.0</a:t>
            </a: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低功耗</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 xmlns:a16="http://schemas.microsoft.com/office/drawing/2014/main" id="{875753BC-266C-D9AB-8721-B91C98AB899B}"/>
              </a:ext>
            </a:extLst>
          </p:cNvPr>
          <p:cNvPicPr>
            <a:picLocks noChangeAspect="1"/>
          </p:cNvPicPr>
          <p:nvPr/>
        </p:nvPicPr>
        <p:blipFill>
          <a:blip r:embed="rId11" cstate="print">
            <a:extLst>
              <a:ext uri="{28A0092B-C50C-407E-A947-70E740481C1C}">
                <a14:useLocalDpi xmlns="" xmlns:a14="http://schemas.microsoft.com/office/drawing/2010/main" val="0"/>
              </a:ext>
            </a:extLst>
          </a:blip>
          <a:stretch>
            <a:fillRect/>
          </a:stretch>
        </p:blipFill>
        <p:spPr>
          <a:xfrm>
            <a:off x="6429687" y="1473676"/>
            <a:ext cx="227571" cy="227571"/>
          </a:xfrm>
          <a:prstGeom prst="rect">
            <a:avLst/>
          </a:prstGeom>
        </p:spPr>
      </p:pic>
      <p:pic>
        <p:nvPicPr>
          <p:cNvPr id="2" name="图片 1"/>
          <p:cNvPicPr>
            <a:picLocks noChangeAspect="1"/>
          </p:cNvPicPr>
          <p:nvPr/>
        </p:nvPicPr>
        <p:blipFill>
          <a:blip r:embed="rId12" cstate="print">
            <a:extLst>
              <a:ext uri="{28A0092B-C50C-407E-A947-70E740481C1C}">
                <a14:useLocalDpi xmlns="" xmlns:a14="http://schemas.microsoft.com/office/drawing/2010/main" val="0"/>
              </a:ext>
            </a:extLst>
          </a:blip>
          <a:stretch>
            <a:fillRect/>
          </a:stretch>
        </p:blipFill>
        <p:spPr>
          <a:xfrm>
            <a:off x="2395939" y="3377713"/>
            <a:ext cx="1341057" cy="1341057"/>
          </a:xfrm>
          <a:prstGeom prst="rect">
            <a:avLst/>
          </a:prstGeom>
        </p:spPr>
      </p:pic>
      <p:pic>
        <p:nvPicPr>
          <p:cNvPr id="5121" name="Picture 1">
            <a:extLst>
              <a:ext uri="{FF2B5EF4-FFF2-40B4-BE49-F238E27FC236}">
                <a16:creationId xmlns="" xmlns:a16="http://schemas.microsoft.com/office/drawing/2014/main" id="{6306EF65-A775-6C8B-B84D-1CFBC0A2F4A2}"/>
              </a:ext>
            </a:extLst>
          </p:cNvPr>
          <p:cNvPicPr>
            <a:picLocks noChangeAspect="1" noChangeArrowheads="1"/>
          </p:cNvPicPr>
          <p:nvPr/>
        </p:nvPicPr>
        <p:blipFill>
          <a:blip r:embed="rId13" cstate="print">
            <a:extLst>
              <a:ext uri="{BEBA8EAE-BF5A-486C-A8C5-ECC9F3942E4B}">
                <a14:imgProps xmlns="" xmlns:a14="http://schemas.microsoft.com/office/drawing/2010/main">
                  <a14:imgLayer r:embed="rId14">
                    <a14:imgEffect>
                      <a14:saturation sat="0"/>
                    </a14:imgEffect>
                    <a14:imgEffect>
                      <a14:brightnessContrast bright="47000" contrast="-40000"/>
                    </a14:imgEffect>
                  </a14:imgLayer>
                </a14:imgProps>
              </a:ext>
              <a:ext uri="{28A0092B-C50C-407E-A947-70E740481C1C}">
                <a14:useLocalDpi xmlns="" xmlns:a14="http://schemas.microsoft.com/office/drawing/2010/main" val="0"/>
              </a:ext>
            </a:extLst>
          </a:blip>
          <a:srcRect/>
          <a:stretch>
            <a:fillRect/>
          </a:stretch>
        </p:blipFill>
        <p:spPr bwMode="auto">
          <a:xfrm>
            <a:off x="7846274" y="1470334"/>
            <a:ext cx="233270" cy="234254"/>
          </a:xfrm>
          <a:prstGeom prst="rect">
            <a:avLst/>
          </a:prstGeom>
          <a:noFill/>
          <a:extLst>
            <a:ext uri="{909E8E84-426E-40DD-AFC4-6F175D3DCCD1}">
              <a14:hiddenFill xmlns="" xmlns:a14="http://schemas.microsoft.com/office/drawing/2010/main">
                <a:solidFill>
                  <a:srgbClr val="FFFFFF"/>
                </a:solidFill>
              </a14:hiddenFill>
            </a:ext>
          </a:extLst>
        </p:spPr>
      </p:pic>
      <p:sp>
        <p:nvSpPr>
          <p:cNvPr id="13" name="矩形 12">
            <a:extLst>
              <a:ext uri="{FF2B5EF4-FFF2-40B4-BE49-F238E27FC236}">
                <a16:creationId xmlns="" xmlns:a16="http://schemas.microsoft.com/office/drawing/2014/main" id="{C9C31AD1-80FC-31CE-7E09-FA8E15687DA8}"/>
              </a:ext>
            </a:extLst>
          </p:cNvPr>
          <p:cNvSpPr/>
          <p:nvPr/>
        </p:nvSpPr>
        <p:spPr>
          <a:xfrm>
            <a:off x="7639744" y="1757074"/>
            <a:ext cx="646331"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柔软硅胶</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纤薄亲肤</a:t>
            </a:r>
          </a:p>
        </p:txBody>
      </p:sp>
      <p:sp>
        <p:nvSpPr>
          <p:cNvPr id="21" name="文本框 20">
            <a:extLst>
              <a:ext uri="{FF2B5EF4-FFF2-40B4-BE49-F238E27FC236}">
                <a16:creationId xmlns="" xmlns:a16="http://schemas.microsoft.com/office/drawing/2014/main" id="{3CA1B1C0-C98E-B276-4B65-C3F3D852E292}"/>
              </a:ext>
            </a:extLst>
          </p:cNvPr>
          <p:cNvSpPr txBox="1"/>
          <p:nvPr/>
        </p:nvSpPr>
        <p:spPr>
          <a:xfrm>
            <a:off x="5033872" y="3374871"/>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适用场景</a:t>
            </a:r>
          </a:p>
        </p:txBody>
      </p:sp>
      <p:sp>
        <p:nvSpPr>
          <p:cNvPr id="33" name="矩形 32"/>
          <p:cNvSpPr/>
          <p:nvPr/>
        </p:nvSpPr>
        <p:spPr>
          <a:xfrm>
            <a:off x="7524328" y="2562458"/>
            <a:ext cx="877163" cy="369332"/>
          </a:xfrm>
          <a:prstGeom prst="rect">
            <a:avLst/>
          </a:prstGeom>
        </p:spPr>
        <p:txBody>
          <a:bodyPr wrap="none">
            <a:spAutoFit/>
          </a:bodyPr>
          <a:lstStyle/>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多维健康评估</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三甲专家解读</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4" name="图片 33"/>
          <p:cNvPicPr>
            <a:picLocks noChangeAspect="1"/>
          </p:cNvPicPr>
          <p:nvPr/>
        </p:nvPicPr>
        <p:blipFill>
          <a:blip r:embed="rId8" cstate="print">
            <a:extLst>
              <a:ext uri="{28A0092B-C50C-407E-A947-70E740481C1C}">
                <a14:useLocalDpi xmlns="" xmlns:a14="http://schemas.microsoft.com/office/drawing/2010/main" val="0"/>
              </a:ext>
            </a:extLst>
          </a:blip>
          <a:stretch>
            <a:fillRect/>
          </a:stretch>
        </p:blipFill>
        <p:spPr>
          <a:xfrm>
            <a:off x="7867511" y="2311961"/>
            <a:ext cx="190796" cy="190796"/>
          </a:xfrm>
          <a:prstGeom prst="rect">
            <a:avLst/>
          </a:prstGeom>
        </p:spPr>
      </p:pic>
      <p:sp>
        <p:nvSpPr>
          <p:cNvPr id="19" name="标题 18"/>
          <p:cNvSpPr>
            <a:spLocks noGrp="1"/>
          </p:cNvSpPr>
          <p:nvPr>
            <p:ph type="title"/>
          </p:nvPr>
        </p:nvSpPr>
        <p:spPr/>
        <p:txBody>
          <a:bodyPr/>
          <a:lstStyle/>
          <a:p>
            <a:r>
              <a:rPr lang="zh-CN" altLang="en-US" dirty="0">
                <a:solidFill>
                  <a:srgbClr val="2179B1"/>
                </a:solidFill>
              </a:rPr>
              <a:t>医疗级可穿戴设备</a:t>
            </a:r>
            <a:r>
              <a:rPr lang="en-US" altLang="zh-CN" dirty="0">
                <a:solidFill>
                  <a:srgbClr val="2179B1"/>
                </a:solidFill>
              </a:rPr>
              <a:t>|TE-5100Y-C</a:t>
            </a:r>
            <a:r>
              <a:rPr lang="zh-CN" altLang="en-US" dirty="0">
                <a:solidFill>
                  <a:srgbClr val="2179B1"/>
                </a:solidFill>
              </a:rPr>
              <a:t>型动态心电记录仪</a:t>
            </a:r>
          </a:p>
        </p:txBody>
      </p:sp>
      <p:grpSp>
        <p:nvGrpSpPr>
          <p:cNvPr id="4" name="组合 3">
            <a:extLst>
              <a:ext uri="{FF2B5EF4-FFF2-40B4-BE49-F238E27FC236}">
                <a16:creationId xmlns="" xmlns:a16="http://schemas.microsoft.com/office/drawing/2014/main" id="{60DA8FFD-29D9-AE8C-685E-33F14C0035DD}"/>
              </a:ext>
            </a:extLst>
          </p:cNvPr>
          <p:cNvGrpSpPr/>
          <p:nvPr/>
        </p:nvGrpSpPr>
        <p:grpSpPr>
          <a:xfrm>
            <a:off x="5123792" y="3763649"/>
            <a:ext cx="3327026" cy="664859"/>
            <a:chOff x="4944035" y="3729119"/>
            <a:chExt cx="3327026" cy="672159"/>
          </a:xfrm>
        </p:grpSpPr>
        <p:sp>
          <p:nvSpPr>
            <p:cNvPr id="15" name="圆角矩形 35">
              <a:extLst>
                <a:ext uri="{FF2B5EF4-FFF2-40B4-BE49-F238E27FC236}">
                  <a16:creationId xmlns="" xmlns:a16="http://schemas.microsoft.com/office/drawing/2014/main" id="{7B86BA83-82FA-C1AC-5389-2D9AC1AF0433}"/>
                </a:ext>
              </a:extLst>
            </p:cNvPr>
            <p:cNvSpPr/>
            <p:nvPr/>
          </p:nvSpPr>
          <p:spPr>
            <a:xfrm>
              <a:off x="4944035" y="3729119"/>
              <a:ext cx="3327026" cy="672159"/>
            </a:xfrm>
            <a:prstGeom prst="roundRect">
              <a:avLst>
                <a:gd name="adj" fmla="val 5230"/>
              </a:avLst>
            </a:prstGeom>
            <a:solidFill>
              <a:schemeClr val="bg1">
                <a:lumMod val="95000"/>
              </a:schemeClr>
            </a:solid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endPar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 xmlns:a16="http://schemas.microsoft.com/office/drawing/2014/main" id="{E59984F2-5F3D-BB2C-B9C1-E66E4D916DD8}"/>
                </a:ext>
              </a:extLst>
            </p:cNvPr>
            <p:cNvSpPr/>
            <p:nvPr/>
          </p:nvSpPr>
          <p:spPr>
            <a:xfrm>
              <a:off x="4989409" y="3806988"/>
              <a:ext cx="3271878" cy="544294"/>
            </a:xfrm>
            <a:prstGeom prst="rect">
              <a:avLst/>
            </a:prstGeom>
          </p:spPr>
          <p:txBody>
            <a:bodyPr wrap="square">
              <a:spAutoFit/>
            </a:bodyPr>
            <a:lstStyle/>
            <a:p>
              <a:pPr>
                <a:lnSpc>
                  <a:spcPct val="150000"/>
                </a:lnSpc>
              </a:pP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24" name="Rectangle 2">
            <a:extLst>
              <a:ext uri="{FF2B5EF4-FFF2-40B4-BE49-F238E27FC236}">
                <a16:creationId xmlns="" xmlns:a16="http://schemas.microsoft.com/office/drawing/2014/main" id="{A1DDE9A0-328C-F1D2-1216-7D828058A9A0}"/>
              </a:ext>
            </a:extLst>
          </p:cNvPr>
          <p:cNvSpPr>
            <a:spLocks noChangeArrowheads="1"/>
          </p:cNvSpPr>
          <p:nvPr/>
        </p:nvSpPr>
        <p:spPr bwMode="auto">
          <a:xfrm>
            <a:off x="5193438" y="3805044"/>
            <a:ext cx="3257380" cy="5268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健康预警（亚健康、熬夜、工作高负荷、肥胖及三高、心脏不适等人群）、术后康复、康养体检等</a:t>
            </a:r>
            <a:endPar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167430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6479081" y="1955394"/>
            <a:ext cx="1826141" cy="584775"/>
          </a:xfrm>
          <a:prstGeom prst="rect">
            <a:avLst/>
          </a:prstGeom>
          <a:noFill/>
        </p:spPr>
        <p:txBody>
          <a:bodyPr wrap="none" rtlCol="0">
            <a:spAutoFit/>
          </a:bodyPr>
          <a:lstStyle/>
          <a:p>
            <a:r>
              <a:rPr lang="zh-CN" altLang="en-US" sz="3200" b="1" dirty="0" smtClean="0">
                <a:solidFill>
                  <a:srgbClr val="196494"/>
                </a:solidFill>
                <a:latin typeface="微软雅黑" panose="020B0503020204020204" pitchFamily="34" charset="-122"/>
                <a:ea typeface="微软雅黑" panose="020B0503020204020204" pitchFamily="34" charset="-122"/>
              </a:rPr>
              <a:t>方案亮点</a:t>
            </a:r>
            <a:endParaRPr lang="zh-CN" altLang="en-US" sz="3200" b="1" dirty="0">
              <a:solidFill>
                <a:srgbClr val="196494"/>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1619672" y="1851670"/>
            <a:ext cx="4040530" cy="1200329"/>
          </a:xfrm>
          <a:prstGeom prst="rect">
            <a:avLst/>
          </a:prstGeom>
          <a:noFill/>
        </p:spPr>
        <p:txBody>
          <a:bodyPr wrap="none" rtlCol="0">
            <a:spAutoFit/>
          </a:bodyPr>
          <a:lstStyle/>
          <a:p>
            <a:r>
              <a:rPr lang="en-US" altLang="zh-CN" sz="7200" b="1" dirty="0">
                <a:solidFill>
                  <a:srgbClr val="1F71A6"/>
                </a:solidFill>
                <a:latin typeface="微软雅黑" panose="020B0503020204020204" pitchFamily="34" charset="-122"/>
                <a:ea typeface="微软雅黑" panose="020B0503020204020204" pitchFamily="34" charset="-122"/>
              </a:rPr>
              <a:t>PART</a:t>
            </a:r>
            <a:r>
              <a:rPr lang="en-US" altLang="zh-CN" sz="7200" b="1" dirty="0">
                <a:solidFill>
                  <a:schemeClr val="bg1">
                    <a:lumMod val="75000"/>
                  </a:schemeClr>
                </a:solidFill>
                <a:latin typeface="微软雅黑" panose="020B0503020204020204" pitchFamily="34" charset="-122"/>
                <a:ea typeface="微软雅黑" panose="020B0503020204020204" pitchFamily="34" charset="-122"/>
              </a:rPr>
              <a:t> </a:t>
            </a:r>
            <a:r>
              <a:rPr lang="en-US" altLang="zh-CN" sz="7200" b="1" dirty="0" smtClean="0">
                <a:solidFill>
                  <a:srgbClr val="1F71A6"/>
                </a:solidFill>
                <a:latin typeface="微软雅黑" panose="020B0503020204020204" pitchFamily="34" charset="-122"/>
                <a:ea typeface="微软雅黑" panose="020B0503020204020204" pitchFamily="34" charset="-122"/>
              </a:rPr>
              <a:t>03</a:t>
            </a:r>
            <a:endParaRPr lang="zh-CN" altLang="en-US" sz="7200" b="1" dirty="0">
              <a:solidFill>
                <a:srgbClr val="1F71A6"/>
              </a:solidFill>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41582841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3513" y="174650"/>
            <a:ext cx="7943932" cy="523843"/>
          </a:xfrm>
          <a:prstGeom prst="rect">
            <a:avLst/>
          </a:prstGeom>
          <a:noFill/>
        </p:spPr>
        <p:txBody>
          <a:bodyPr wrap="square" lIns="68580" tIns="34290" rIns="68580" bIns="34290" rtlCol="0" anchor="ctr">
            <a:noAutofit/>
          </a:bodyPr>
          <a:lstStyle/>
          <a:p>
            <a:pPr defTabSz="879475">
              <a:lnSpc>
                <a:spcPts val="6075"/>
              </a:lnSpc>
              <a:spcBef>
                <a:spcPct val="0"/>
              </a:spcBef>
              <a:buClrTx/>
              <a:buSz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心电数据解读一键审核</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圆角矩形 213"/>
          <p:cNvSpPr/>
          <p:nvPr>
            <p:custDataLst>
              <p:tags r:id="rId1"/>
            </p:custDataLst>
          </p:nvPr>
        </p:nvSpPr>
        <p:spPr>
          <a:xfrm>
            <a:off x="3081020" y="1826103"/>
            <a:ext cx="2150745" cy="2665571"/>
          </a:xfrm>
          <a:prstGeom prst="roundRect">
            <a:avLst>
              <a:gd name="adj" fmla="val 8817"/>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lIns="68578" tIns="34289" rIns="68578" bIns="34289" rtlCol="0" anchor="ctr"/>
          <a:lstStyle/>
          <a:p>
            <a:pPr algn="ctr"/>
            <a:endParaRPr lang="zh-CN" altLang="en-US" sz="1500">
              <a:solidFill>
                <a:schemeClr val="bg1"/>
              </a:solidFill>
            </a:endParaRPr>
          </a:p>
        </p:txBody>
      </p:sp>
      <p:sp>
        <p:nvSpPr>
          <p:cNvPr id="5" name="圆角矩形 214"/>
          <p:cNvSpPr/>
          <p:nvPr>
            <p:custDataLst>
              <p:tags r:id="rId2"/>
            </p:custDataLst>
          </p:nvPr>
        </p:nvSpPr>
        <p:spPr>
          <a:xfrm>
            <a:off x="556895" y="1826103"/>
            <a:ext cx="1238250" cy="2665571"/>
          </a:xfrm>
          <a:prstGeom prst="roundRect">
            <a:avLst>
              <a:gd name="adj" fmla="val 11288"/>
            </a:avLst>
          </a:prstGeom>
          <a:solidFill>
            <a:srgbClr val="4F80BD"/>
          </a:solidFill>
          <a:ln>
            <a:noFill/>
          </a:ln>
        </p:spPr>
        <p:style>
          <a:lnRef idx="2">
            <a:schemeClr val="accent1">
              <a:shade val="50000"/>
            </a:schemeClr>
          </a:lnRef>
          <a:fillRef idx="1">
            <a:schemeClr val="accent1"/>
          </a:fillRef>
          <a:effectRef idx="0">
            <a:schemeClr val="accent1"/>
          </a:effectRef>
          <a:fontRef idx="minor">
            <a:schemeClr val="lt1"/>
          </a:fontRef>
        </p:style>
        <p:txBody>
          <a:bodyPr lIns="68578" tIns="34289" rIns="68578" bIns="34289" rtlCol="0" anchor="ctr"/>
          <a:lstStyle/>
          <a:p>
            <a:pPr algn="ctr"/>
            <a:endParaRPr lang="zh-CN" altLang="en-US" sz="1500">
              <a:solidFill>
                <a:schemeClr val="bg1"/>
              </a:solidFill>
            </a:endParaRPr>
          </a:p>
        </p:txBody>
      </p:sp>
      <p:sp>
        <p:nvSpPr>
          <p:cNvPr id="6" name="TextBox 28"/>
          <p:cNvSpPr txBox="1"/>
          <p:nvPr>
            <p:custDataLst>
              <p:tags r:id="rId3"/>
            </p:custDataLst>
          </p:nvPr>
        </p:nvSpPr>
        <p:spPr>
          <a:xfrm>
            <a:off x="802403" y="4587974"/>
            <a:ext cx="800219" cy="276999"/>
          </a:xfrm>
          <a:prstGeom prst="rect">
            <a:avLst/>
          </a:prstGeom>
          <a:noFill/>
        </p:spPr>
        <p:txBody>
          <a:bodyPr wrap="none"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心电设备</a:t>
            </a:r>
          </a:p>
        </p:txBody>
      </p:sp>
      <p:pic>
        <p:nvPicPr>
          <p:cNvPr id="7" name="Picture 9" descr="E:\zd\2_UI界面\9_心电帖APP\7_运营\心知了平台医生PPT\素材\brain.png"/>
          <p:cNvPicPr>
            <a:picLocks noChangeAspect="1" noChangeArrowheads="1"/>
          </p:cNvPicPr>
          <p:nvPr>
            <p:custDataLst>
              <p:tags r:id="rId4"/>
            </p:custDataLst>
          </p:nvPr>
        </p:nvPicPr>
        <p:blipFill>
          <a:blip r:embed="rId36" cstate="print"/>
          <a:srcRect/>
          <a:stretch>
            <a:fillRect/>
          </a:stretch>
        </p:blipFill>
        <p:spPr bwMode="auto">
          <a:xfrm>
            <a:off x="3906601" y="3755867"/>
            <a:ext cx="499586" cy="589598"/>
          </a:xfrm>
          <a:prstGeom prst="rect">
            <a:avLst/>
          </a:prstGeom>
          <a:noFill/>
        </p:spPr>
      </p:pic>
      <p:sp>
        <p:nvSpPr>
          <p:cNvPr id="8" name="TextBox 30"/>
          <p:cNvSpPr txBox="1"/>
          <p:nvPr>
            <p:custDataLst>
              <p:tags r:id="rId5"/>
            </p:custDataLst>
          </p:nvPr>
        </p:nvSpPr>
        <p:spPr>
          <a:xfrm>
            <a:off x="3541922" y="4577428"/>
            <a:ext cx="1274708" cy="276999"/>
          </a:xfrm>
          <a:prstGeom prst="rect">
            <a:avLst/>
          </a:prstGeom>
          <a:noFill/>
        </p:spPr>
        <p:txBody>
          <a:bodyPr wrap="none" rtlCol="0">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心电大脑</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AI</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解读</a:t>
            </a:r>
          </a:p>
        </p:txBody>
      </p:sp>
      <p:cxnSp>
        <p:nvCxnSpPr>
          <p:cNvPr id="9" name="直接箭头连接符 8"/>
          <p:cNvCxnSpPr/>
          <p:nvPr>
            <p:custDataLst>
              <p:tags r:id="rId6"/>
            </p:custDataLst>
          </p:nvPr>
        </p:nvCxnSpPr>
        <p:spPr>
          <a:xfrm>
            <a:off x="1956119" y="2923859"/>
            <a:ext cx="995363" cy="13335"/>
          </a:xfrm>
          <a:prstGeom prst="straightConnector1">
            <a:avLst/>
          </a:prstGeom>
          <a:ln w="66675">
            <a:solidFill>
              <a:srgbClr val="4276A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custDataLst>
              <p:tags r:id="rId7"/>
            </p:custDataLst>
          </p:nvPr>
        </p:nvCxnSpPr>
        <p:spPr>
          <a:xfrm>
            <a:off x="1941830" y="3207705"/>
            <a:ext cx="1009650" cy="2381"/>
          </a:xfrm>
          <a:prstGeom prst="straightConnector1">
            <a:avLst/>
          </a:prstGeom>
          <a:ln w="66675">
            <a:solidFill>
              <a:srgbClr val="4276A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35"/>
          <p:cNvSpPr txBox="1"/>
          <p:nvPr>
            <p:custDataLst>
              <p:tags r:id="rId8"/>
            </p:custDataLst>
          </p:nvPr>
        </p:nvSpPr>
        <p:spPr>
          <a:xfrm>
            <a:off x="2111852" y="2602867"/>
            <a:ext cx="723275" cy="253916"/>
          </a:xfrm>
          <a:prstGeom prst="rect">
            <a:avLst/>
          </a:prstGeom>
          <a:noFill/>
        </p:spPr>
        <p:txBody>
          <a:bodyPr wrap="none" rtlCol="0">
            <a:spAutoFit/>
          </a:bodyPr>
          <a:lstStyle/>
          <a:p>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数据上传</a:t>
            </a:r>
          </a:p>
        </p:txBody>
      </p:sp>
      <p:sp>
        <p:nvSpPr>
          <p:cNvPr id="12" name="TextBox 37"/>
          <p:cNvSpPr txBox="1"/>
          <p:nvPr>
            <p:custDataLst>
              <p:tags r:id="rId9"/>
            </p:custDataLst>
          </p:nvPr>
        </p:nvSpPr>
        <p:spPr>
          <a:xfrm>
            <a:off x="2115186" y="3332481"/>
            <a:ext cx="723275" cy="269817"/>
          </a:xfrm>
          <a:prstGeom prst="rect">
            <a:avLst/>
          </a:prstGeom>
          <a:noFill/>
        </p:spPr>
        <p:txBody>
          <a:bodyPr wrap="none" rtlCol="0">
            <a:spAutoFit/>
          </a:bodyPr>
          <a:lstStyle/>
          <a:p>
            <a:pPr>
              <a:lnSpc>
                <a:spcPct val="120000"/>
              </a:lnSpc>
            </a:pP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分析结果</a:t>
            </a:r>
          </a:p>
        </p:txBody>
      </p:sp>
      <p:pic>
        <p:nvPicPr>
          <p:cNvPr id="13" name="图片 12" descr="device_115"/>
          <p:cNvPicPr>
            <a:picLocks noChangeAspect="1"/>
          </p:cNvPicPr>
          <p:nvPr>
            <p:custDataLst>
              <p:tags r:id="rId10"/>
            </p:custDataLst>
          </p:nvPr>
        </p:nvPicPr>
        <p:blipFill>
          <a:blip r:embed="rId37" cstate="print"/>
          <a:stretch>
            <a:fillRect/>
          </a:stretch>
        </p:blipFill>
        <p:spPr>
          <a:xfrm>
            <a:off x="854791" y="2936717"/>
            <a:ext cx="641985" cy="327660"/>
          </a:xfrm>
          <a:prstGeom prst="rect">
            <a:avLst/>
          </a:prstGeom>
        </p:spPr>
      </p:pic>
      <p:grpSp>
        <p:nvGrpSpPr>
          <p:cNvPr id="15" name="组合 14"/>
          <p:cNvGrpSpPr/>
          <p:nvPr/>
        </p:nvGrpSpPr>
        <p:grpSpPr>
          <a:xfrm>
            <a:off x="1098392" y="3522981"/>
            <a:ext cx="154781" cy="205740"/>
            <a:chOff x="9333" y="6460"/>
            <a:chExt cx="440" cy="585"/>
          </a:xfrm>
        </p:grpSpPr>
        <p:sp>
          <p:nvSpPr>
            <p:cNvPr id="16" name="燕尾形 225"/>
            <p:cNvSpPr/>
            <p:nvPr>
              <p:custDataLst>
                <p:tags r:id="rId32"/>
              </p:custDataLst>
            </p:nvPr>
          </p:nvSpPr>
          <p:spPr>
            <a:xfrm rot="16200000">
              <a:off x="9391" y="6402"/>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燕尾形 226"/>
            <p:cNvSpPr/>
            <p:nvPr>
              <p:custDataLst>
                <p:tags r:id="rId33"/>
              </p:custDataLst>
            </p:nvPr>
          </p:nvSpPr>
          <p:spPr>
            <a:xfrm rot="16200000">
              <a:off x="9391" y="6663"/>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9" name="组合 18"/>
          <p:cNvGrpSpPr/>
          <p:nvPr/>
        </p:nvGrpSpPr>
        <p:grpSpPr>
          <a:xfrm rot="10800000">
            <a:off x="1098392" y="2574291"/>
            <a:ext cx="154781" cy="205740"/>
            <a:chOff x="9333" y="6460"/>
            <a:chExt cx="440" cy="585"/>
          </a:xfrm>
        </p:grpSpPr>
        <p:sp>
          <p:nvSpPr>
            <p:cNvPr id="20" name="燕尾形 229"/>
            <p:cNvSpPr/>
            <p:nvPr>
              <p:custDataLst>
                <p:tags r:id="rId30"/>
              </p:custDataLst>
            </p:nvPr>
          </p:nvSpPr>
          <p:spPr>
            <a:xfrm rot="16200000">
              <a:off x="9391" y="6402"/>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燕尾形 230"/>
            <p:cNvSpPr/>
            <p:nvPr>
              <p:custDataLst>
                <p:tags r:id="rId31"/>
              </p:custDataLst>
            </p:nvPr>
          </p:nvSpPr>
          <p:spPr>
            <a:xfrm rot="16200000">
              <a:off x="9391" y="6663"/>
              <a:ext cx="325" cy="440"/>
            </a:xfrm>
            <a:prstGeom prst="chevron">
              <a:avLst/>
            </a:prstGeom>
            <a:gradFill>
              <a:gsLst>
                <a:gs pos="0">
                  <a:srgbClr val="C2D4E7">
                    <a:alpha val="5000"/>
                  </a:srgbClr>
                </a:gs>
                <a:gs pos="100000">
                  <a:srgbClr val="A6C1DD">
                    <a:alpha val="84000"/>
                  </a:srgbClr>
                </a:gs>
                <a:gs pos="59000">
                  <a:schemeClr val="accent1">
                    <a:lumMod val="45000"/>
                    <a:lumOff val="55000"/>
                    <a:alpha val="4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22" name="文本框 21"/>
          <p:cNvSpPr txBox="1"/>
          <p:nvPr>
            <p:custDataLst>
              <p:tags r:id="rId11"/>
            </p:custDataLst>
          </p:nvPr>
        </p:nvSpPr>
        <p:spPr>
          <a:xfrm>
            <a:off x="3205799" y="2321401"/>
            <a:ext cx="530915" cy="300082"/>
          </a:xfrm>
          <a:prstGeom prst="rect">
            <a:avLst/>
          </a:prstGeom>
          <a:noFill/>
        </p:spPr>
        <p:txBody>
          <a:bodyPr wrap="none" rtlCol="0">
            <a:spAutoFit/>
          </a:bodyPr>
          <a:lstStyle/>
          <a:p>
            <a:r>
              <a:rPr lang="zh-CN" altLang="en-US" sz="1350">
                <a:solidFill>
                  <a:schemeClr val="bg1"/>
                </a:solidFill>
                <a:latin typeface="微软雅黑" panose="020B0503020204020204" pitchFamily="34" charset="-122"/>
                <a:ea typeface="微软雅黑" panose="020B0503020204020204" pitchFamily="34" charset="-122"/>
              </a:rPr>
              <a:t>房颤</a:t>
            </a:r>
          </a:p>
        </p:txBody>
      </p:sp>
      <p:sp>
        <p:nvSpPr>
          <p:cNvPr id="23" name="文本框 22"/>
          <p:cNvSpPr txBox="1"/>
          <p:nvPr>
            <p:custDataLst>
              <p:tags r:id="rId12"/>
            </p:custDataLst>
          </p:nvPr>
        </p:nvSpPr>
        <p:spPr>
          <a:xfrm>
            <a:off x="3733484" y="2160431"/>
            <a:ext cx="639919" cy="230832"/>
          </a:xfrm>
          <a:prstGeom prst="rect">
            <a:avLst/>
          </a:prstGeom>
          <a:noFill/>
        </p:spPr>
        <p:txBody>
          <a:bodyPr wrap="none" rtlCol="0">
            <a:spAutoFit/>
          </a:bodyPr>
          <a:lstStyle/>
          <a:p>
            <a:r>
              <a:rPr lang="en-US" altLang="zh-CN"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ST</a:t>
            </a:r>
            <a:r>
              <a:rPr lang="zh-CN" altLang="en-US"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段抬高</a:t>
            </a:r>
          </a:p>
        </p:txBody>
      </p:sp>
      <p:sp>
        <p:nvSpPr>
          <p:cNvPr id="24" name="文本框 23"/>
          <p:cNvSpPr txBox="1"/>
          <p:nvPr>
            <p:custDataLst>
              <p:tags r:id="rId13"/>
            </p:custDataLst>
          </p:nvPr>
        </p:nvSpPr>
        <p:spPr>
          <a:xfrm>
            <a:off x="3733483" y="2421891"/>
            <a:ext cx="995680" cy="337185"/>
          </a:xfrm>
          <a:prstGeom prst="rect">
            <a:avLst/>
          </a:prstGeom>
          <a:noFill/>
        </p:spPr>
        <p:txBody>
          <a:bodyPr wrap="none" rtlCol="0">
            <a:spAutoFit/>
          </a:bodyPr>
          <a:lstStyle/>
          <a:p>
            <a:r>
              <a:rPr lang="zh-CN" altLang="en-US" sz="1600">
                <a:solidFill>
                  <a:schemeClr val="bg1"/>
                </a:solidFill>
                <a:latin typeface="微软雅黑" panose="020B0503020204020204" pitchFamily="34" charset="-122"/>
                <a:ea typeface="微软雅黑" panose="020B0503020204020204" pitchFamily="34" charset="-122"/>
              </a:rPr>
              <a:t>窦性心律</a:t>
            </a:r>
          </a:p>
        </p:txBody>
      </p:sp>
      <p:sp>
        <p:nvSpPr>
          <p:cNvPr id="25" name="文本框 24"/>
          <p:cNvSpPr txBox="1"/>
          <p:nvPr>
            <p:custDataLst>
              <p:tags r:id="rId14"/>
            </p:custDataLst>
          </p:nvPr>
        </p:nvSpPr>
        <p:spPr>
          <a:xfrm>
            <a:off x="3826351" y="3069115"/>
            <a:ext cx="995680" cy="337185"/>
          </a:xfrm>
          <a:prstGeom prst="rect">
            <a:avLst/>
          </a:prstGeom>
          <a:noFill/>
        </p:spPr>
        <p:txBody>
          <a:bodyPr wrap="none" rtlCol="0">
            <a:spAutoFit/>
          </a:bodyPr>
          <a:lstStyle/>
          <a:p>
            <a:pPr algn="l"/>
            <a:r>
              <a:rPr lang="zh-CN" altLang="en-US" sz="1600">
                <a:solidFill>
                  <a:schemeClr val="bg1"/>
                </a:solidFill>
                <a:latin typeface="微软雅黑" panose="020B0503020204020204" pitchFamily="34" charset="-122"/>
                <a:ea typeface="微软雅黑" panose="020B0503020204020204" pitchFamily="34" charset="-122"/>
                <a:sym typeface="+mn-ea"/>
              </a:rPr>
              <a:t>房性早搏</a:t>
            </a:r>
          </a:p>
        </p:txBody>
      </p:sp>
      <p:sp>
        <p:nvSpPr>
          <p:cNvPr id="26" name="文本框 25"/>
          <p:cNvSpPr txBox="1"/>
          <p:nvPr>
            <p:custDataLst>
              <p:tags r:id="rId15"/>
            </p:custDataLst>
          </p:nvPr>
        </p:nvSpPr>
        <p:spPr>
          <a:xfrm>
            <a:off x="3252471" y="2700021"/>
            <a:ext cx="954107" cy="207749"/>
          </a:xfrm>
          <a:prstGeom prst="rect">
            <a:avLst/>
          </a:prstGeom>
          <a:noFill/>
        </p:spPr>
        <p:txBody>
          <a:bodyPr wrap="none" rtlCol="0">
            <a:spAutoFit/>
          </a:bodyPr>
          <a:lstStyle/>
          <a:p>
            <a:pPr algn="l"/>
            <a:r>
              <a:rPr lang="zh-CN" altLang="en-US" sz="750">
                <a:solidFill>
                  <a:schemeClr val="bg1"/>
                </a:solidFill>
                <a:latin typeface="微软雅黑" panose="020B0503020204020204" pitchFamily="34" charset="-122"/>
                <a:ea typeface="微软雅黑" panose="020B0503020204020204" pitchFamily="34" charset="-122"/>
                <a:sym typeface="+mn-ea"/>
              </a:rPr>
              <a:t>短阵室性心动过速</a:t>
            </a:r>
          </a:p>
        </p:txBody>
      </p:sp>
      <p:sp>
        <p:nvSpPr>
          <p:cNvPr id="27" name="文本框 26"/>
          <p:cNvSpPr txBox="1"/>
          <p:nvPr>
            <p:custDataLst>
              <p:tags r:id="rId16"/>
            </p:custDataLst>
          </p:nvPr>
        </p:nvSpPr>
        <p:spPr>
          <a:xfrm>
            <a:off x="3205799" y="3337244"/>
            <a:ext cx="1249680" cy="252730"/>
          </a:xfrm>
          <a:prstGeom prst="rect">
            <a:avLst/>
          </a:prstGeom>
          <a:noFill/>
        </p:spPr>
        <p:txBody>
          <a:bodyPr wrap="none" rtlCol="0">
            <a:spAutoFit/>
          </a:bodyPr>
          <a:lstStyle/>
          <a:p>
            <a:pPr algn="l"/>
            <a:r>
              <a:rPr lang="zh-CN" altLang="en-US" sz="1050">
                <a:solidFill>
                  <a:schemeClr val="bg1"/>
                </a:solidFill>
                <a:latin typeface="微软雅黑" panose="020B0503020204020204" pitchFamily="34" charset="-122"/>
                <a:ea typeface="微软雅黑" panose="020B0503020204020204" pitchFamily="34" charset="-122"/>
              </a:rPr>
              <a:t>短阵房性心动过速</a:t>
            </a:r>
          </a:p>
        </p:txBody>
      </p:sp>
      <p:sp>
        <p:nvSpPr>
          <p:cNvPr id="28" name="文本框 27"/>
          <p:cNvSpPr txBox="1"/>
          <p:nvPr>
            <p:custDataLst>
              <p:tags r:id="rId17"/>
            </p:custDataLst>
          </p:nvPr>
        </p:nvSpPr>
        <p:spPr>
          <a:xfrm>
            <a:off x="3181510" y="2886236"/>
            <a:ext cx="723275" cy="253916"/>
          </a:xfrm>
          <a:prstGeom prst="rect">
            <a:avLst/>
          </a:prstGeom>
          <a:noFill/>
        </p:spPr>
        <p:txBody>
          <a:bodyPr wrap="none" rtlCol="0">
            <a:spAutoFit/>
          </a:bodyPr>
          <a:lstStyle/>
          <a:p>
            <a:r>
              <a:rPr lang="zh-CN" altLang="en-US" sz="1050">
                <a:solidFill>
                  <a:schemeClr val="bg1"/>
                </a:solidFill>
                <a:latin typeface="微软雅黑" panose="020B0503020204020204" pitchFamily="34" charset="-122"/>
                <a:ea typeface="微软雅黑" panose="020B0503020204020204" pitchFamily="34" charset="-122"/>
              </a:rPr>
              <a:t>室内阻滞</a:t>
            </a:r>
          </a:p>
        </p:txBody>
      </p:sp>
      <p:sp>
        <p:nvSpPr>
          <p:cNvPr id="29" name="文本框 28"/>
          <p:cNvSpPr txBox="1"/>
          <p:nvPr>
            <p:custDataLst>
              <p:tags r:id="rId18"/>
            </p:custDataLst>
          </p:nvPr>
        </p:nvSpPr>
        <p:spPr>
          <a:xfrm>
            <a:off x="3252471" y="1987076"/>
            <a:ext cx="877163" cy="230832"/>
          </a:xfrm>
          <a:prstGeom prst="rect">
            <a:avLst/>
          </a:prstGeom>
          <a:noFill/>
        </p:spPr>
        <p:txBody>
          <a:bodyPr wrap="none" rtlCol="0">
            <a:spAutoFit/>
          </a:bodyPr>
          <a:lstStyle/>
          <a:p>
            <a:pPr algn="l"/>
            <a:r>
              <a:rPr sz="900">
                <a:solidFill>
                  <a:schemeClr val="bg1"/>
                </a:solidFill>
                <a:latin typeface="微软雅黑" panose="020B0503020204020204" pitchFamily="34" charset="-122"/>
                <a:ea typeface="微软雅黑" panose="020B0503020204020204" pitchFamily="34" charset="-122"/>
              </a:rPr>
              <a:t>成对房性早搏</a:t>
            </a:r>
          </a:p>
        </p:txBody>
      </p:sp>
      <p:sp>
        <p:nvSpPr>
          <p:cNvPr id="30" name="文本框 29"/>
          <p:cNvSpPr txBox="1"/>
          <p:nvPr>
            <p:custDataLst>
              <p:tags r:id="rId19"/>
            </p:custDataLst>
          </p:nvPr>
        </p:nvSpPr>
        <p:spPr>
          <a:xfrm>
            <a:off x="4341179" y="1950403"/>
            <a:ext cx="788999" cy="300082"/>
          </a:xfrm>
          <a:prstGeom prst="rect">
            <a:avLst/>
          </a:prstGeom>
          <a:noFill/>
        </p:spPr>
        <p:txBody>
          <a:bodyPr wrap="none" rtlCol="0">
            <a:spAutoFit/>
          </a:bodyPr>
          <a:lstStyle/>
          <a:p>
            <a:pPr algn="l"/>
            <a:r>
              <a:rPr lang="zh-CN" altLang="en-US" sz="135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T波改变</a:t>
            </a:r>
          </a:p>
        </p:txBody>
      </p:sp>
      <p:sp>
        <p:nvSpPr>
          <p:cNvPr id="31" name="文本框 30"/>
          <p:cNvSpPr txBox="1"/>
          <p:nvPr>
            <p:custDataLst>
              <p:tags r:id="rId20"/>
            </p:custDataLst>
          </p:nvPr>
        </p:nvSpPr>
        <p:spPr>
          <a:xfrm>
            <a:off x="4108769" y="2862422"/>
            <a:ext cx="1005403" cy="230832"/>
          </a:xfrm>
          <a:prstGeom prst="rect">
            <a:avLst/>
          </a:prstGeom>
          <a:noFill/>
        </p:spPr>
        <p:txBody>
          <a:bodyPr wrap="none" rtlCol="0">
            <a:spAutoFit/>
          </a:bodyPr>
          <a:lstStyle/>
          <a:p>
            <a:pPr algn="l"/>
            <a:r>
              <a:rPr lang="zh-CN" altLang="en-US"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QT/QTc间期延长</a:t>
            </a:r>
          </a:p>
        </p:txBody>
      </p:sp>
      <p:sp>
        <p:nvSpPr>
          <p:cNvPr id="32" name="文本框 31"/>
          <p:cNvSpPr txBox="1"/>
          <p:nvPr>
            <p:custDataLst>
              <p:tags r:id="rId21"/>
            </p:custDataLst>
          </p:nvPr>
        </p:nvSpPr>
        <p:spPr>
          <a:xfrm>
            <a:off x="4444049" y="2251871"/>
            <a:ext cx="646331" cy="230832"/>
          </a:xfrm>
          <a:prstGeom prst="rect">
            <a:avLst/>
          </a:prstGeom>
          <a:noFill/>
        </p:spPr>
        <p:txBody>
          <a:bodyPr wrap="none" rtlCol="0">
            <a:spAutoFit/>
          </a:bodyPr>
          <a:lstStyle/>
          <a:p>
            <a:pPr algn="l"/>
            <a:r>
              <a:rPr lang="zh-CN" altLang="en-US" sz="900">
                <a:solidFill>
                  <a:schemeClr val="bg1"/>
                </a:solidFill>
                <a:latin typeface="微软雅黑" panose="020B0503020204020204" pitchFamily="34" charset="-122"/>
                <a:ea typeface="微软雅黑" panose="020B0503020204020204" pitchFamily="34" charset="-122"/>
              </a:rPr>
              <a:t>室</a:t>
            </a:r>
            <a:r>
              <a:rPr sz="900">
                <a:solidFill>
                  <a:schemeClr val="bg1"/>
                </a:solidFill>
                <a:latin typeface="微软雅黑" panose="020B0503020204020204" pitchFamily="34" charset="-122"/>
                <a:ea typeface="微软雅黑" panose="020B0503020204020204" pitchFamily="34" charset="-122"/>
              </a:rPr>
              <a:t>性早搏</a:t>
            </a:r>
          </a:p>
        </p:txBody>
      </p:sp>
      <p:sp>
        <p:nvSpPr>
          <p:cNvPr id="33" name="文本框 32"/>
          <p:cNvSpPr txBox="1"/>
          <p:nvPr>
            <p:custDataLst>
              <p:tags r:id="rId22"/>
            </p:custDataLst>
          </p:nvPr>
        </p:nvSpPr>
        <p:spPr>
          <a:xfrm>
            <a:off x="4359752" y="2648111"/>
            <a:ext cx="708848" cy="230832"/>
          </a:xfrm>
          <a:prstGeom prst="rect">
            <a:avLst/>
          </a:prstGeom>
          <a:noFill/>
        </p:spPr>
        <p:txBody>
          <a:bodyPr wrap="none" rtlCol="0">
            <a:spAutoFit/>
          </a:bodyPr>
          <a:lstStyle/>
          <a:p>
            <a:pPr algn="l"/>
            <a:r>
              <a:rPr sz="9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R波电压高</a:t>
            </a:r>
          </a:p>
        </p:txBody>
      </p:sp>
      <p:sp>
        <p:nvSpPr>
          <p:cNvPr id="34" name="文本框 33"/>
          <p:cNvSpPr txBox="1"/>
          <p:nvPr>
            <p:custDataLst>
              <p:tags r:id="rId23"/>
            </p:custDataLst>
          </p:nvPr>
        </p:nvSpPr>
        <p:spPr>
          <a:xfrm>
            <a:off x="3308192" y="3126741"/>
            <a:ext cx="569387" cy="207749"/>
          </a:xfrm>
          <a:prstGeom prst="rect">
            <a:avLst/>
          </a:prstGeom>
          <a:noFill/>
        </p:spPr>
        <p:txBody>
          <a:bodyPr wrap="none" rtlCol="0">
            <a:spAutoFit/>
          </a:bodyPr>
          <a:lstStyle/>
          <a:p>
            <a:pPr algn="l"/>
            <a:r>
              <a:rPr lang="zh-CN" altLang="en-US" sz="750">
                <a:solidFill>
                  <a:schemeClr val="bg1"/>
                </a:solidFill>
                <a:latin typeface="微软雅黑" panose="020B0503020204020204" pitchFamily="34" charset="-122"/>
                <a:ea typeface="微软雅黑" panose="020B0503020204020204" pitchFamily="34" charset="-122"/>
                <a:sym typeface="+mn-ea"/>
              </a:rPr>
              <a:t>心房扑动</a:t>
            </a:r>
          </a:p>
        </p:txBody>
      </p:sp>
      <p:sp>
        <p:nvSpPr>
          <p:cNvPr id="35" name="文本框 34"/>
          <p:cNvSpPr txBox="1"/>
          <p:nvPr>
            <p:custDataLst>
              <p:tags r:id="rId24"/>
            </p:custDataLst>
          </p:nvPr>
        </p:nvSpPr>
        <p:spPr>
          <a:xfrm>
            <a:off x="4496912" y="3276284"/>
            <a:ext cx="723275" cy="253916"/>
          </a:xfrm>
          <a:prstGeom prst="rect">
            <a:avLst/>
          </a:prstGeom>
          <a:noFill/>
        </p:spPr>
        <p:txBody>
          <a:bodyPr wrap="none" rtlCol="0">
            <a:spAutoFit/>
          </a:bodyPr>
          <a:lstStyle/>
          <a:p>
            <a:pPr algn="l"/>
            <a:r>
              <a:rPr lang="zh-CN" altLang="en-US" sz="1050">
                <a:solidFill>
                  <a:schemeClr val="bg1"/>
                </a:solidFill>
                <a:latin typeface="微软雅黑" panose="020B0503020204020204" pitchFamily="34" charset="-122"/>
                <a:ea typeface="微软雅黑" panose="020B0503020204020204" pitchFamily="34" charset="-122"/>
              </a:rPr>
              <a:t>心室颤动</a:t>
            </a:r>
          </a:p>
        </p:txBody>
      </p:sp>
      <p:cxnSp>
        <p:nvCxnSpPr>
          <p:cNvPr id="36" name="直接箭头连接符 35"/>
          <p:cNvCxnSpPr/>
          <p:nvPr>
            <p:custDataLst>
              <p:tags r:id="rId25"/>
            </p:custDataLst>
          </p:nvPr>
        </p:nvCxnSpPr>
        <p:spPr>
          <a:xfrm>
            <a:off x="5341838" y="2833700"/>
            <a:ext cx="995363" cy="13335"/>
          </a:xfrm>
          <a:prstGeom prst="straightConnector1">
            <a:avLst/>
          </a:prstGeom>
          <a:ln w="66675">
            <a:solidFill>
              <a:srgbClr val="4276AA"/>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custDataLst>
              <p:tags r:id="rId26"/>
            </p:custDataLst>
          </p:nvPr>
        </p:nvCxnSpPr>
        <p:spPr>
          <a:xfrm>
            <a:off x="5327549" y="3117545"/>
            <a:ext cx="1009650" cy="2381"/>
          </a:xfrm>
          <a:prstGeom prst="straightConnector1">
            <a:avLst/>
          </a:prstGeom>
          <a:ln w="66675">
            <a:solidFill>
              <a:srgbClr val="4276AA"/>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TextBox 35"/>
          <p:cNvSpPr txBox="1"/>
          <p:nvPr>
            <p:custDataLst>
              <p:tags r:id="rId27"/>
            </p:custDataLst>
          </p:nvPr>
        </p:nvSpPr>
        <p:spPr>
          <a:xfrm>
            <a:off x="5436096" y="2512707"/>
            <a:ext cx="857927" cy="253916"/>
          </a:xfrm>
          <a:prstGeom prst="rect">
            <a:avLst/>
          </a:prstGeom>
          <a:noFill/>
        </p:spPr>
        <p:txBody>
          <a:bodyPr wrap="none" rtlCol="0">
            <a:spAutoFit/>
          </a:bodyPr>
          <a:lstStyle/>
          <a:p>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置性度分级</a:t>
            </a:r>
          </a:p>
        </p:txBody>
      </p:sp>
      <p:sp>
        <p:nvSpPr>
          <p:cNvPr id="39" name="TextBox 37"/>
          <p:cNvSpPr txBox="1"/>
          <p:nvPr>
            <p:custDataLst>
              <p:tags r:id="rId28"/>
            </p:custDataLst>
          </p:nvPr>
        </p:nvSpPr>
        <p:spPr>
          <a:xfrm>
            <a:off x="5500905" y="3242322"/>
            <a:ext cx="723275" cy="269817"/>
          </a:xfrm>
          <a:prstGeom prst="rect">
            <a:avLst/>
          </a:prstGeom>
          <a:noFill/>
        </p:spPr>
        <p:txBody>
          <a:bodyPr wrap="none" rtlCol="0">
            <a:spAutoFit/>
          </a:bodyPr>
          <a:lstStyle/>
          <a:p>
            <a:pPr>
              <a:lnSpc>
                <a:spcPct val="120000"/>
              </a:lnSpc>
            </a:pP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分析结果</a:t>
            </a:r>
          </a:p>
        </p:txBody>
      </p:sp>
      <p:sp>
        <p:nvSpPr>
          <p:cNvPr id="40" name="矩形: 圆角 53"/>
          <p:cNvSpPr/>
          <p:nvPr/>
        </p:nvSpPr>
        <p:spPr>
          <a:xfrm>
            <a:off x="6373624" y="3387087"/>
            <a:ext cx="1995564" cy="683620"/>
          </a:xfrm>
          <a:prstGeom prst="round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t"/>
          <a:lstStyle/>
          <a:p>
            <a:r>
              <a:rPr lang="zh-CN" altLang="en-US" sz="1050" b="1" dirty="0">
                <a:solidFill>
                  <a:schemeClr val="tx1"/>
                </a:solidFill>
                <a:latin typeface="微软雅黑" panose="020B0503020204020204" pitchFamily="34" charset="-122"/>
                <a:ea typeface="微软雅黑" panose="020B0503020204020204" pitchFamily="34" charset="-122"/>
              </a:rPr>
              <a:t>          </a:t>
            </a: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中、低置信度医生解读</a:t>
            </a:r>
            <a:endParaRPr lang="zh-CN" altLang="en-US" sz="825" dirty="0">
              <a:solidFill>
                <a:schemeClr val="tx1">
                  <a:lumMod val="75000"/>
                  <a:lumOff val="25000"/>
                </a:schemeClr>
              </a:solidFill>
              <a:latin typeface="微软雅黑" panose="020B0503020204020204" pitchFamily="34" charset="-122"/>
              <a:ea typeface="微软雅黑" panose="020B0503020204020204" pitchFamily="34" charset="-122"/>
              <a:hlinkClick r:id="rId38"/>
            </a:endParaRPr>
          </a:p>
        </p:txBody>
      </p:sp>
      <p:sp>
        <p:nvSpPr>
          <p:cNvPr id="41" name="矩形: 圆角 25"/>
          <p:cNvSpPr/>
          <p:nvPr/>
        </p:nvSpPr>
        <p:spPr>
          <a:xfrm>
            <a:off x="6983501" y="3687552"/>
            <a:ext cx="1241369" cy="21331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桌面终端</a:t>
            </a:r>
            <a:r>
              <a:rPr lang="en-US" altLang="zh-CN" sz="900" dirty="0">
                <a:solidFill>
                  <a:schemeClr val="bg1"/>
                </a:solidFill>
                <a:latin typeface="微软雅黑" panose="020B0503020204020204" pitchFamily="34" charset="-122"/>
                <a:ea typeface="微软雅黑" panose="020B0503020204020204" pitchFamily="34" charset="-122"/>
              </a:rPr>
              <a:t>+</a:t>
            </a:r>
            <a:r>
              <a:rPr lang="zh-CN" altLang="en-US" sz="900" dirty="0">
                <a:solidFill>
                  <a:schemeClr val="bg1"/>
                </a:solidFill>
                <a:latin typeface="微软雅黑" panose="020B0503020204020204" pitchFamily="34" charset="-122"/>
                <a:ea typeface="微软雅黑" panose="020B0503020204020204" pitchFamily="34" charset="-122"/>
              </a:rPr>
              <a:t>医生服务</a:t>
            </a:r>
            <a:endParaRPr lang="en-US" altLang="zh-CN" sz="825" dirty="0">
              <a:solidFill>
                <a:schemeClr val="bg1"/>
              </a:solidFill>
              <a:latin typeface="微软雅黑" panose="020B0503020204020204" pitchFamily="34" charset="-122"/>
              <a:ea typeface="微软雅黑" panose="020B0503020204020204" pitchFamily="34" charset="-122"/>
            </a:endParaRPr>
          </a:p>
        </p:txBody>
      </p:sp>
      <p:pic>
        <p:nvPicPr>
          <p:cNvPr id="42" name="图片 41"/>
          <p:cNvPicPr>
            <a:picLocks noChangeAspect="1"/>
          </p:cNvPicPr>
          <p:nvPr/>
        </p:nvPicPr>
        <p:blipFill>
          <a:blip r:embed="rId39" cstate="print">
            <a:biLevel thresh="25000"/>
            <a:extLst>
              <a:ext uri="{28A0092B-C50C-407E-A947-70E740481C1C}">
                <a14:useLocalDpi xmlns="" xmlns:a14="http://schemas.microsoft.com/office/drawing/2010/main" val="0"/>
              </a:ext>
            </a:extLst>
          </a:blip>
          <a:stretch>
            <a:fillRect/>
          </a:stretch>
        </p:blipFill>
        <p:spPr>
          <a:xfrm>
            <a:off x="6442969" y="3493087"/>
            <a:ext cx="396215" cy="396215"/>
          </a:xfrm>
          <a:prstGeom prst="rect">
            <a:avLst/>
          </a:prstGeom>
        </p:spPr>
      </p:pic>
      <p:sp>
        <p:nvSpPr>
          <p:cNvPr id="43" name="矩形: 圆角 31"/>
          <p:cNvSpPr/>
          <p:nvPr/>
        </p:nvSpPr>
        <p:spPr>
          <a:xfrm>
            <a:off x="6373624" y="2351119"/>
            <a:ext cx="1995300" cy="683100"/>
          </a:xfrm>
          <a:prstGeom prst="roundRect">
            <a:avLst/>
          </a:prstGeom>
          <a:gradFill rotWithShape="1">
            <a:gsLst>
              <a:gs pos="0">
                <a:srgbClr val="70AD47">
                  <a:satMod val="103000"/>
                  <a:lumMod val="102000"/>
                  <a:tint val="94000"/>
                </a:srgbClr>
              </a:gs>
              <a:gs pos="50000">
                <a:srgbClr val="70AD47">
                  <a:satMod val="110000"/>
                  <a:lumMod val="100000"/>
                  <a:shade val="100000"/>
                </a:srgbClr>
              </a:gs>
              <a:gs pos="100000">
                <a:srgbClr val="70AD47">
                  <a:lumMod val="99000"/>
                  <a:satMod val="120000"/>
                  <a:shade val="78000"/>
                </a:srgbClr>
              </a:gs>
            </a:gsLst>
            <a:lin ang="5400000" scaled="0"/>
          </a:gradFill>
          <a:ln w="6350" cap="flat" cmpd="sng" algn="ctr">
            <a:solidFill>
              <a:srgbClr val="70AD47"/>
            </a:solidFill>
            <a:prstDash val="solid"/>
            <a:miter lim="800000"/>
          </a:ln>
          <a:effectLst/>
        </p:spPr>
        <p:txBody>
          <a:bodyPr rtlCol="0" anchor="ctr"/>
          <a:lstStyle/>
          <a:p>
            <a:r>
              <a:rPr lang="zh-CN" altLang="en-US" sz="900" b="1" kern="0" dirty="0">
                <a:solidFill>
                  <a:prstClr val="white"/>
                </a:solidFill>
                <a:latin typeface="微软雅黑" panose="020B0503020204020204" pitchFamily="34" charset="-122"/>
                <a:ea typeface="等线" panose="02010600030101010101" charset="-122"/>
              </a:rPr>
              <a:t>                </a:t>
            </a:r>
            <a:r>
              <a:rPr lang="zh-CN" altLang="en-US" sz="1050" b="1" kern="0" dirty="0">
                <a:solidFill>
                  <a:schemeClr val="tx1">
                    <a:lumMod val="75000"/>
                    <a:lumOff val="25000"/>
                  </a:schemeClr>
                </a:solidFill>
                <a:latin typeface="微软雅黑" panose="020B0503020204020204" pitchFamily="34" charset="-122"/>
                <a:ea typeface="微软雅黑" panose="020B0503020204020204" pitchFamily="34" charset="-122"/>
              </a:rPr>
              <a:t>高</a:t>
            </a:r>
            <a:r>
              <a:rPr lang="zh-CN" altLang="en-US" sz="1050" b="1" dirty="0">
                <a:solidFill>
                  <a:schemeClr val="tx1">
                    <a:lumMod val="75000"/>
                    <a:lumOff val="25000"/>
                  </a:schemeClr>
                </a:solidFill>
                <a:latin typeface="微软雅黑" panose="020B0503020204020204" pitchFamily="34" charset="-122"/>
                <a:ea typeface="微软雅黑" panose="020B0503020204020204" pitchFamily="34" charset="-122"/>
              </a:rPr>
              <a:t>置信度</a:t>
            </a:r>
            <a:r>
              <a:rPr lang="zh-CN" altLang="en-US" sz="1050" b="1" dirty="0">
                <a:solidFill>
                  <a:srgbClr val="FF0000"/>
                </a:solidFill>
                <a:latin typeface="微软雅黑" panose="020B0503020204020204" pitchFamily="34" charset="-122"/>
                <a:ea typeface="微软雅黑" panose="020B0503020204020204" pitchFamily="34" charset="-122"/>
              </a:rPr>
              <a:t>一键审核</a:t>
            </a:r>
            <a:endParaRPr lang="en-US" altLang="zh-CN" sz="1050" b="1" dirty="0">
              <a:solidFill>
                <a:srgbClr val="FF0000"/>
              </a:solidFill>
              <a:latin typeface="微软雅黑" panose="020B0503020204020204" pitchFamily="34" charset="-122"/>
              <a:ea typeface="微软雅黑" panose="020B0503020204020204" pitchFamily="34" charset="-122"/>
            </a:endParaRPr>
          </a:p>
          <a:p>
            <a:r>
              <a:rPr lang="zh-CN" altLang="en-US" sz="1050" kern="0" dirty="0">
                <a:latin typeface="+mj-ea"/>
                <a:ea typeface="+mj-ea"/>
              </a:rPr>
              <a:t>           </a:t>
            </a:r>
            <a:endParaRPr lang="en-US" altLang="zh-CN" sz="1050" kern="0" dirty="0">
              <a:latin typeface="+mj-ea"/>
              <a:ea typeface="+mj-ea"/>
            </a:endParaRPr>
          </a:p>
          <a:p>
            <a:r>
              <a:rPr lang="en-US" altLang="zh-CN" sz="825" kern="0" dirty="0">
                <a:solidFill>
                  <a:prstClr val="white"/>
                </a:solidFill>
                <a:latin typeface="微软雅黑" panose="020B0503020204020204" pitchFamily="34" charset="-122"/>
                <a:ea typeface="等线" panose="02010600030101010101" charset="-122"/>
              </a:rPr>
              <a:t>           </a:t>
            </a:r>
            <a:endParaRPr lang="zh-CN" altLang="en-US" sz="1350" kern="0" dirty="0">
              <a:solidFill>
                <a:prstClr val="white"/>
              </a:solidFill>
              <a:latin typeface="微软雅黑" panose="020B0503020204020204" pitchFamily="34" charset="-122"/>
              <a:ea typeface="等线" panose="02010600030101010101" charset="-122"/>
              <a:hlinkClick r:id="rId38"/>
            </a:endParaRPr>
          </a:p>
        </p:txBody>
      </p:sp>
      <p:pic>
        <p:nvPicPr>
          <p:cNvPr id="44" name="图片 43"/>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a:xfrm>
            <a:off x="6404025" y="2429192"/>
            <a:ext cx="396345" cy="396345"/>
          </a:xfrm>
          <a:prstGeom prst="rect">
            <a:avLst/>
          </a:prstGeom>
        </p:spPr>
      </p:pic>
      <p:sp>
        <p:nvSpPr>
          <p:cNvPr id="45" name="矩形: 圆角 25"/>
          <p:cNvSpPr/>
          <p:nvPr/>
        </p:nvSpPr>
        <p:spPr>
          <a:xfrm>
            <a:off x="6963962" y="2665907"/>
            <a:ext cx="1241369" cy="21331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900" dirty="0">
                <a:solidFill>
                  <a:schemeClr val="bg1"/>
                </a:solidFill>
                <a:latin typeface="微软雅黑" panose="020B0503020204020204" pitchFamily="34" charset="-122"/>
                <a:ea typeface="微软雅黑" panose="020B0503020204020204" pitchFamily="34" charset="-122"/>
              </a:rPr>
              <a:t>桌面终端</a:t>
            </a:r>
            <a:r>
              <a:rPr lang="en-US" altLang="zh-CN" sz="900" dirty="0">
                <a:solidFill>
                  <a:schemeClr val="bg1"/>
                </a:solidFill>
                <a:latin typeface="微软雅黑" panose="020B0503020204020204" pitchFamily="34" charset="-122"/>
                <a:ea typeface="微软雅黑" panose="020B0503020204020204" pitchFamily="34" charset="-122"/>
              </a:rPr>
              <a:t>+</a:t>
            </a:r>
            <a:r>
              <a:rPr lang="zh-CN" altLang="en-US" sz="900" dirty="0">
                <a:solidFill>
                  <a:schemeClr val="bg1"/>
                </a:solidFill>
                <a:latin typeface="微软雅黑" panose="020B0503020204020204" pitchFamily="34" charset="-122"/>
                <a:ea typeface="微软雅黑" panose="020B0503020204020204" pitchFamily="34" charset="-122"/>
              </a:rPr>
              <a:t>医生服务</a:t>
            </a:r>
            <a:endParaRPr lang="en-US" altLang="zh-CN" sz="825" dirty="0">
              <a:solidFill>
                <a:schemeClr val="bg1"/>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452084" y="1022564"/>
            <a:ext cx="8067199" cy="461665"/>
          </a:xfrm>
          <a:prstGeom prst="rect">
            <a:avLst/>
          </a:prstGeom>
          <a:noFill/>
        </p:spPr>
        <p:txBody>
          <a:bodyPr wrap="square" rtlCol="0" anchor="t">
            <a:spAutoFit/>
          </a:bodyPr>
          <a:lstStyle/>
          <a:p>
            <a:pPr>
              <a:lnSpc>
                <a:spcPct val="120000"/>
              </a:lnSpc>
              <a:defRPr/>
            </a:pPr>
            <a:r>
              <a:rPr kumimoji="1"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心电设备数据上传后，通过心电大脑</a:t>
            </a:r>
            <a:r>
              <a:rPr kumimoji="1"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AI</a:t>
            </a:r>
            <a:r>
              <a:rPr kumimoji="1"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解读后，进</a:t>
            </a:r>
            <a:r>
              <a:rPr kumimoji="1"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行置信度分</a:t>
            </a:r>
            <a:r>
              <a:rPr kumimoji="1"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级，高置信度的检查单可由医生一键审核通过，动态心电也可快速出结论，提高工作效率，中低置信度检查单由医生判断分析后，心电大脑进行总结，提升完善后续建设能力。</a:t>
            </a:r>
            <a:endParaRPr kumimoji="1"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7" name="图片 46" descr="123DA516-2E0B-4D86-BDA8-E5542DB50017-1282-00000028CFB320BF">
            <a:extLst>
              <a:ext uri="{FF2B5EF4-FFF2-40B4-BE49-F238E27FC236}">
                <a16:creationId xmlns="" xmlns:a16="http://schemas.microsoft.com/office/drawing/2014/main" id="{BA427C35-5C2F-A78C-A3F3-68EAD3C4162F}"/>
              </a:ext>
            </a:extLst>
          </p:cNvPr>
          <p:cNvPicPr>
            <a:picLocks noChangeAspect="1"/>
          </p:cNvPicPr>
          <p:nvPr/>
        </p:nvPicPr>
        <p:blipFill>
          <a:blip r:embed="rId41" cstate="print"/>
          <a:stretch>
            <a:fillRect/>
          </a:stretch>
        </p:blipFill>
        <p:spPr>
          <a:xfrm rot="16200000">
            <a:off x="994344" y="1902921"/>
            <a:ext cx="413903" cy="735884"/>
          </a:xfrm>
          <a:prstGeom prst="rect">
            <a:avLst/>
          </a:prstGeom>
        </p:spPr>
      </p:pic>
      <p:pic>
        <p:nvPicPr>
          <p:cNvPr id="48" name="Picture 3" descr="C:\Users\Administrator\Desktop\609不带音插.png">
            <a:extLst>
              <a:ext uri="{FF2B5EF4-FFF2-40B4-BE49-F238E27FC236}">
                <a16:creationId xmlns="" xmlns:a16="http://schemas.microsoft.com/office/drawing/2014/main" id="{2E61820C-5437-B1CB-C677-474B425926F6}"/>
              </a:ext>
            </a:extLst>
          </p:cNvPr>
          <p:cNvPicPr>
            <a:picLocks noChangeAspect="1" noChangeArrowheads="1"/>
          </p:cNvPicPr>
          <p:nvPr>
            <p:custDataLst>
              <p:tags r:id="rId29"/>
            </p:custDataLst>
          </p:nvPr>
        </p:nvPicPr>
        <p:blipFill>
          <a:blip r:embed="rId42" cstate="print"/>
          <a:srcRect l="15348" t="9864" r="3506" b="12574"/>
          <a:stretch>
            <a:fillRect/>
          </a:stretch>
        </p:blipFill>
        <p:spPr bwMode="auto">
          <a:xfrm rot="240000">
            <a:off x="854046" y="3803281"/>
            <a:ext cx="797904" cy="492921"/>
          </a:xfrm>
          <a:prstGeom prst="rect">
            <a:avLst/>
          </a:prstGeom>
          <a:noFill/>
        </p:spPr>
      </p:pic>
    </p:spTree>
    <p:extLst>
      <p:ext uri="{BB962C8B-B14F-4D97-AF65-F5344CB8AC3E}">
        <p14:creationId xmlns="" xmlns:p14="http://schemas.microsoft.com/office/powerpoint/2010/main" val="34158074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39552" y="165039"/>
            <a:ext cx="7943932" cy="523843"/>
          </a:xfrm>
          <a:prstGeom prst="rect">
            <a:avLst/>
          </a:prstGeom>
          <a:noFill/>
        </p:spPr>
        <p:txBody>
          <a:bodyPr wrap="square" lIns="68580" tIns="34290" rIns="68580" bIns="34290" rtlCol="0" anchor="ctr">
            <a:noAutofit/>
          </a:bodyPr>
          <a:lstStyle/>
          <a:p>
            <a:pPr defTabSz="879475">
              <a:lnSpc>
                <a:spcPts val="6075"/>
              </a:lnSpc>
              <a:spcBef>
                <a:spcPct val="0"/>
              </a:spcBef>
              <a:buClrTx/>
              <a:buSz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预警服务中心</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4691559" y="1236186"/>
            <a:ext cx="1661509" cy="568883"/>
            <a:chOff x="6359108" y="1516270"/>
            <a:chExt cx="2215345" cy="758511"/>
          </a:xfrm>
        </p:grpSpPr>
        <p:sp>
          <p:nvSpPr>
            <p:cNvPr id="5" name="圆角矩形 6"/>
            <p:cNvSpPr/>
            <p:nvPr/>
          </p:nvSpPr>
          <p:spPr>
            <a:xfrm>
              <a:off x="6425706" y="1516270"/>
              <a:ext cx="2148747" cy="758511"/>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FF0000"/>
                  </a:solidFill>
                  <a:latin typeface="微软雅黑" panose="020B0503020204020204" pitchFamily="34" charset="-122"/>
                  <a:ea typeface="微软雅黑" panose="020B0503020204020204" pitchFamily="34" charset="-122"/>
                </a:rPr>
                <a:t>病情预警</a:t>
              </a:r>
            </a:p>
          </p:txBody>
        </p:sp>
        <p:sp>
          <p:nvSpPr>
            <p:cNvPr id="6" name="文本框 5"/>
            <p:cNvSpPr txBox="1"/>
            <p:nvPr/>
          </p:nvSpPr>
          <p:spPr>
            <a:xfrm>
              <a:off x="6359108" y="1912812"/>
              <a:ext cx="2140373" cy="285327"/>
            </a:xfrm>
            <a:prstGeom prst="rect">
              <a:avLst/>
            </a:prstGeom>
            <a:noFill/>
          </p:spPr>
          <p:txBody>
            <a:bodyPr wrap="none" rtlCol="0">
              <a:spAutoFit/>
            </a:bodyPr>
            <a:lstStyle/>
            <a:p>
              <a:pPr algn="ctr"/>
              <a:r>
                <a:rPr lang="zh-CN" altLang="en-US" sz="800" dirty="0">
                  <a:solidFill>
                    <a:srgbClr val="4877AA"/>
                  </a:solidFill>
                </a:rPr>
                <a:t>心率失常、房颤预警、心梗预警</a:t>
              </a:r>
            </a:p>
          </p:txBody>
        </p:sp>
      </p:grpSp>
      <p:grpSp>
        <p:nvGrpSpPr>
          <p:cNvPr id="7" name="组合 6"/>
          <p:cNvGrpSpPr/>
          <p:nvPr/>
        </p:nvGrpSpPr>
        <p:grpSpPr>
          <a:xfrm>
            <a:off x="4751759" y="1878242"/>
            <a:ext cx="1629138" cy="878833"/>
            <a:chOff x="6439376" y="2488949"/>
            <a:chExt cx="2172184" cy="1171777"/>
          </a:xfrm>
        </p:grpSpPr>
        <p:sp>
          <p:nvSpPr>
            <p:cNvPr id="8" name="圆角矩形 6"/>
            <p:cNvSpPr/>
            <p:nvPr/>
          </p:nvSpPr>
          <p:spPr>
            <a:xfrm>
              <a:off x="6439376" y="2488949"/>
              <a:ext cx="2145798" cy="1171777"/>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050" b="1" dirty="0">
                  <a:solidFill>
                    <a:srgbClr val="FF0000"/>
                  </a:solidFill>
                  <a:latin typeface="微软雅黑" panose="020B0503020204020204" pitchFamily="34" charset="-122"/>
                  <a:ea typeface="微软雅黑" panose="020B0503020204020204" pitchFamily="34" charset="-122"/>
                </a:rPr>
                <a:t>AI</a:t>
              </a:r>
              <a:r>
                <a:rPr lang="zh-CN" altLang="en-US" sz="1050" b="1" dirty="0">
                  <a:solidFill>
                    <a:srgbClr val="FF0000"/>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危急预警</a:t>
              </a:r>
              <a:endParaRPr lang="en-US" altLang="zh-CN" sz="1050" b="1" dirty="0">
                <a:solidFill>
                  <a:srgbClr val="FF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532777" y="2727902"/>
              <a:ext cx="2078783" cy="860213"/>
            </a:xfrm>
            <a:prstGeom prst="rect">
              <a:avLst/>
            </a:prstGeom>
            <a:noFill/>
          </p:spPr>
          <p:txBody>
            <a:bodyPr wrap="square" rtlCol="0">
              <a:spAutoFit/>
            </a:bodyPr>
            <a:lstStyle/>
            <a:p>
              <a:pP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常规静态心电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endPar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单导动态</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静态心电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endPar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动态心电</a:t>
              </a:r>
              <a:r>
                <a:rPr lang="en-US" altLang="zh-CN"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sz="800" dirty="0">
                  <a:solidFill>
                    <a:srgbClr val="4877AA"/>
                  </a:solidFill>
                  <a:latin typeface="微软雅黑" panose="020B0503020204020204" pitchFamily="34" charset="-122"/>
                  <a:ea typeface="微软雅黑" panose="020B0503020204020204" pitchFamily="34" charset="-122"/>
                  <a:cs typeface="微软雅黑" panose="020B0503020204020204" pitchFamily="34" charset="-122"/>
                </a:rPr>
                <a:t>预警</a:t>
              </a:r>
            </a:p>
          </p:txBody>
        </p:sp>
      </p:grpSp>
      <p:grpSp>
        <p:nvGrpSpPr>
          <p:cNvPr id="10" name="组合 9"/>
          <p:cNvGrpSpPr/>
          <p:nvPr/>
        </p:nvGrpSpPr>
        <p:grpSpPr>
          <a:xfrm>
            <a:off x="4751760" y="2830248"/>
            <a:ext cx="1611560" cy="654476"/>
            <a:chOff x="6425706" y="1516270"/>
            <a:chExt cx="2148747" cy="872635"/>
          </a:xfrm>
        </p:grpSpPr>
        <p:sp>
          <p:nvSpPr>
            <p:cNvPr id="11" name="圆角矩形 6"/>
            <p:cNvSpPr/>
            <p:nvPr/>
          </p:nvSpPr>
          <p:spPr>
            <a:xfrm>
              <a:off x="6425706" y="1516270"/>
              <a:ext cx="2148747" cy="872635"/>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脱落报警</a:t>
              </a:r>
            </a:p>
          </p:txBody>
        </p:sp>
        <p:sp>
          <p:nvSpPr>
            <p:cNvPr id="12" name="文本框 11"/>
            <p:cNvSpPr txBox="1"/>
            <p:nvPr/>
          </p:nvSpPr>
          <p:spPr>
            <a:xfrm>
              <a:off x="6542138" y="1721141"/>
              <a:ext cx="1704838" cy="613834"/>
            </a:xfrm>
            <a:prstGeom prst="rect">
              <a:avLst/>
            </a:prstGeom>
            <a:noFill/>
          </p:spPr>
          <p:txBody>
            <a:bodyPr wrap="square" rtlCol="0">
              <a:spAutoFit/>
            </a:bodyPr>
            <a:lstStyle/>
            <a:p>
              <a:pPr>
                <a:lnSpc>
                  <a:spcPct val="150000"/>
                </a:lnSpc>
              </a:pPr>
              <a:r>
                <a:rPr lang="zh-CN" altLang="en-US" sz="800" dirty="0">
                  <a:solidFill>
                    <a:srgbClr val="4877AA"/>
                  </a:solidFill>
                </a:rPr>
                <a:t>导联脱落报警</a:t>
              </a:r>
              <a:endParaRPr lang="en-US" altLang="zh-CN" sz="800" dirty="0">
                <a:solidFill>
                  <a:srgbClr val="4877AA"/>
                </a:solidFill>
              </a:endParaRPr>
            </a:p>
            <a:p>
              <a:pPr>
                <a:lnSpc>
                  <a:spcPct val="150000"/>
                </a:lnSpc>
              </a:pPr>
              <a:r>
                <a:rPr lang="zh-CN" altLang="en-US" sz="800" dirty="0">
                  <a:solidFill>
                    <a:srgbClr val="4877AA"/>
                  </a:solidFill>
                </a:rPr>
                <a:t>电极片脱落报警</a:t>
              </a:r>
            </a:p>
          </p:txBody>
        </p:sp>
      </p:grpSp>
      <p:grpSp>
        <p:nvGrpSpPr>
          <p:cNvPr id="13" name="组合 12"/>
          <p:cNvGrpSpPr/>
          <p:nvPr/>
        </p:nvGrpSpPr>
        <p:grpSpPr>
          <a:xfrm>
            <a:off x="4751760" y="3557897"/>
            <a:ext cx="1611560" cy="654476"/>
            <a:chOff x="6425706" y="1516270"/>
            <a:chExt cx="2148747" cy="872635"/>
          </a:xfrm>
        </p:grpSpPr>
        <p:sp>
          <p:nvSpPr>
            <p:cNvPr id="14" name="圆角矩形 6"/>
            <p:cNvSpPr/>
            <p:nvPr/>
          </p:nvSpPr>
          <p:spPr>
            <a:xfrm>
              <a:off x="6425706" y="1516270"/>
              <a:ext cx="2148747" cy="872635"/>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监护预警</a:t>
              </a:r>
            </a:p>
          </p:txBody>
        </p:sp>
        <p:sp>
          <p:nvSpPr>
            <p:cNvPr id="15" name="文本框 14"/>
            <p:cNvSpPr txBox="1"/>
            <p:nvPr/>
          </p:nvSpPr>
          <p:spPr>
            <a:xfrm>
              <a:off x="6542138" y="1731955"/>
              <a:ext cx="1708539" cy="613834"/>
            </a:xfrm>
            <a:prstGeom prst="rect">
              <a:avLst/>
            </a:prstGeom>
            <a:noFill/>
          </p:spPr>
          <p:txBody>
            <a:bodyPr wrap="square" rtlCol="0">
              <a:spAutoFit/>
            </a:bodyPr>
            <a:lstStyle/>
            <a:p>
              <a:pPr>
                <a:lnSpc>
                  <a:spcPct val="150000"/>
                </a:lnSpc>
              </a:pPr>
              <a:r>
                <a:rPr lang="zh-CN" altLang="en-US" sz="800" dirty="0">
                  <a:solidFill>
                    <a:srgbClr val="4877AA"/>
                  </a:solidFill>
                </a:rPr>
                <a:t>红色报警</a:t>
              </a:r>
              <a:r>
                <a:rPr lang="en-US" altLang="zh-CN" sz="800" dirty="0">
                  <a:solidFill>
                    <a:srgbClr val="4877AA"/>
                  </a:solidFill>
                </a:rPr>
                <a:t>    </a:t>
              </a:r>
              <a:r>
                <a:rPr lang="zh-CN" altLang="en-US" sz="800" dirty="0">
                  <a:solidFill>
                    <a:srgbClr val="4877AA"/>
                  </a:solidFill>
                </a:rPr>
                <a:t>黄色报警</a:t>
              </a:r>
              <a:endParaRPr lang="en-US" altLang="zh-CN" sz="800" dirty="0">
                <a:solidFill>
                  <a:srgbClr val="4877AA"/>
                </a:solidFill>
              </a:endParaRPr>
            </a:p>
            <a:p>
              <a:pPr>
                <a:lnSpc>
                  <a:spcPct val="150000"/>
                </a:lnSpc>
              </a:pPr>
              <a:r>
                <a:rPr lang="zh-CN" altLang="en-US" sz="800" dirty="0">
                  <a:solidFill>
                    <a:srgbClr val="4877AA"/>
                  </a:solidFill>
                </a:rPr>
                <a:t>蓝色报警</a:t>
              </a:r>
            </a:p>
          </p:txBody>
        </p:sp>
      </p:grpSp>
      <p:grpSp>
        <p:nvGrpSpPr>
          <p:cNvPr id="16" name="组合 15"/>
          <p:cNvGrpSpPr/>
          <p:nvPr/>
        </p:nvGrpSpPr>
        <p:grpSpPr>
          <a:xfrm>
            <a:off x="4753610" y="4285615"/>
            <a:ext cx="1611630" cy="517525"/>
            <a:chOff x="6425706" y="1516270"/>
            <a:chExt cx="2148747" cy="872635"/>
          </a:xfrm>
        </p:grpSpPr>
        <p:sp>
          <p:nvSpPr>
            <p:cNvPr id="17" name="圆角矩形 6"/>
            <p:cNvSpPr/>
            <p:nvPr/>
          </p:nvSpPr>
          <p:spPr>
            <a:xfrm>
              <a:off x="6425706" y="1516270"/>
              <a:ext cx="2148747" cy="872635"/>
            </a:xfrm>
            <a:prstGeom prst="roundRect">
              <a:avLst>
                <a:gd name="adj" fmla="val 3869"/>
              </a:avLst>
            </a:prstGeom>
            <a:noFill/>
            <a:ln w="19050">
              <a:solidFill>
                <a:srgbClr val="4877AA"/>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050" b="1" dirty="0">
                  <a:solidFill>
                    <a:srgbClr val="4877AA"/>
                  </a:solidFill>
                  <a:latin typeface="微软雅黑" panose="020B0503020204020204" pitchFamily="34" charset="-122"/>
                  <a:ea typeface="微软雅黑" panose="020B0503020204020204" pitchFamily="34" charset="-122"/>
                </a:rPr>
                <a:t>其他预警</a:t>
              </a:r>
            </a:p>
          </p:txBody>
        </p:sp>
        <p:sp>
          <p:nvSpPr>
            <p:cNvPr id="18" name="文本框 17"/>
            <p:cNvSpPr txBox="1"/>
            <p:nvPr/>
          </p:nvSpPr>
          <p:spPr>
            <a:xfrm>
              <a:off x="6841121" y="1864535"/>
              <a:ext cx="1407160" cy="360832"/>
            </a:xfrm>
            <a:prstGeom prst="rect">
              <a:avLst/>
            </a:prstGeom>
            <a:noFill/>
          </p:spPr>
          <p:txBody>
            <a:bodyPr wrap="square" rtlCol="0">
              <a:spAutoFit/>
            </a:bodyPr>
            <a:lstStyle/>
            <a:p>
              <a:r>
                <a:rPr lang="en-US" altLang="zh-CN" sz="800" dirty="0">
                  <a:solidFill>
                    <a:srgbClr val="4877AA"/>
                  </a:solidFill>
                </a:rPr>
                <a:t>SOS</a:t>
              </a:r>
              <a:r>
                <a:rPr lang="zh-CN" altLang="en-US" sz="800" dirty="0">
                  <a:solidFill>
                    <a:srgbClr val="4877AA"/>
                  </a:solidFill>
                </a:rPr>
                <a:t>、低功耗预警等</a:t>
              </a:r>
            </a:p>
          </p:txBody>
        </p:sp>
      </p:grpSp>
      <p:sp>
        <p:nvSpPr>
          <p:cNvPr id="19" name="右箭头 136"/>
          <p:cNvSpPr/>
          <p:nvPr/>
        </p:nvSpPr>
        <p:spPr>
          <a:xfrm>
            <a:off x="4348880" y="1944327"/>
            <a:ext cx="276779" cy="275753"/>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0" name="组合 19"/>
          <p:cNvGrpSpPr/>
          <p:nvPr/>
        </p:nvGrpSpPr>
        <p:grpSpPr>
          <a:xfrm>
            <a:off x="593890" y="1131590"/>
            <a:ext cx="3669383" cy="1665303"/>
            <a:chOff x="3352572" y="2858140"/>
            <a:chExt cx="4805003" cy="2220404"/>
          </a:xfrm>
        </p:grpSpPr>
        <p:grpSp>
          <p:nvGrpSpPr>
            <p:cNvPr id="21" name="组合 20"/>
            <p:cNvGrpSpPr/>
            <p:nvPr/>
          </p:nvGrpSpPr>
          <p:grpSpPr>
            <a:xfrm>
              <a:off x="3352572" y="2858140"/>
              <a:ext cx="4805003" cy="2220404"/>
              <a:chOff x="3525938" y="2858140"/>
              <a:chExt cx="4805003" cy="2220404"/>
            </a:xfrm>
          </p:grpSpPr>
          <p:sp>
            <p:nvSpPr>
              <p:cNvPr id="25" name="圆角矩形 21"/>
              <p:cNvSpPr/>
              <p:nvPr/>
            </p:nvSpPr>
            <p:spPr>
              <a:xfrm>
                <a:off x="3525938" y="2944475"/>
                <a:ext cx="4805003" cy="2134069"/>
              </a:xfrm>
              <a:prstGeom prst="roundRect">
                <a:avLst/>
              </a:prstGeom>
              <a:solidFill>
                <a:srgbClr val="89ADD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pic>
            <p:nvPicPr>
              <p:cNvPr id="26" name="图片 25"/>
              <p:cNvPicPr>
                <a:picLocks noChangeAspect="1"/>
              </p:cNvPicPr>
              <p:nvPr/>
            </p:nvPicPr>
            <p:blipFill>
              <a:blip r:embed="rId3" cstate="print">
                <a:biLevel thresh="50000"/>
                <a:extLst>
                  <a:ext uri="{28A0092B-C50C-407E-A947-70E740481C1C}">
                    <a14:useLocalDpi xmlns="" xmlns:a14="http://schemas.microsoft.com/office/drawing/2010/main" val="0"/>
                  </a:ext>
                </a:extLst>
              </a:blip>
              <a:stretch>
                <a:fillRect/>
              </a:stretch>
            </p:blipFill>
            <p:spPr>
              <a:xfrm>
                <a:off x="3594093" y="2858140"/>
                <a:ext cx="591075" cy="591075"/>
              </a:xfrm>
              <a:prstGeom prst="rect">
                <a:avLst/>
              </a:prstGeom>
            </p:spPr>
          </p:pic>
          <p:sp>
            <p:nvSpPr>
              <p:cNvPr id="27" name="文本框 26"/>
              <p:cNvSpPr txBox="1"/>
              <p:nvPr/>
            </p:nvSpPr>
            <p:spPr>
              <a:xfrm>
                <a:off x="4127861" y="2978980"/>
                <a:ext cx="1586546" cy="398780"/>
              </a:xfrm>
              <a:prstGeom prst="rect">
                <a:avLst/>
              </a:prstGeom>
              <a:noFill/>
            </p:spPr>
            <p:txBody>
              <a:bodyPr wrap="none" rtlCol="0">
                <a:spAutoFit/>
              </a:bodyPr>
              <a:lstStyle/>
              <a:p>
                <a:r>
                  <a:rPr lang="zh-CN" altLang="en-US" sz="1350" dirty="0">
                    <a:solidFill>
                      <a:schemeClr val="bg1"/>
                    </a:solidFill>
                    <a:latin typeface="微软雅黑" panose="020B0503020204020204" pitchFamily="34" charset="-122"/>
                    <a:ea typeface="微软雅黑" panose="020B0503020204020204" pitchFamily="34" charset="-122"/>
                  </a:rPr>
                  <a:t>预警服务中心</a:t>
                </a:r>
              </a:p>
            </p:txBody>
          </p:sp>
          <p:sp>
            <p:nvSpPr>
              <p:cNvPr id="28" name="文本框 27"/>
              <p:cNvSpPr txBox="1"/>
              <p:nvPr/>
            </p:nvSpPr>
            <p:spPr>
              <a:xfrm>
                <a:off x="4322836" y="3537604"/>
                <a:ext cx="947118" cy="338555"/>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客服人员</a:t>
                </a:r>
              </a:p>
            </p:txBody>
          </p:sp>
          <p:sp>
            <p:nvSpPr>
              <p:cNvPr id="29" name="文本框 28"/>
              <p:cNvSpPr txBox="1"/>
              <p:nvPr/>
            </p:nvSpPr>
            <p:spPr>
              <a:xfrm>
                <a:off x="4322836" y="4055756"/>
                <a:ext cx="1828743" cy="338555"/>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心电云平台预警业务</a:t>
                </a:r>
              </a:p>
            </p:txBody>
          </p:sp>
          <p:sp>
            <p:nvSpPr>
              <p:cNvPr id="30" name="文本框 29"/>
              <p:cNvSpPr txBox="1"/>
              <p:nvPr/>
            </p:nvSpPr>
            <p:spPr>
              <a:xfrm>
                <a:off x="4322836" y="4559975"/>
                <a:ext cx="1299768" cy="338555"/>
              </a:xfrm>
              <a:prstGeom prst="rect">
                <a:avLst/>
              </a:prstGeom>
              <a:noFill/>
            </p:spPr>
            <p:txBody>
              <a:bodyPr wrap="none" rtlCol="0">
                <a:spAutoFit/>
              </a:bodyPr>
              <a:lstStyle/>
              <a:p>
                <a:r>
                  <a:rPr lang="zh-CN" altLang="en-US" sz="1050" dirty="0">
                    <a:solidFill>
                      <a:schemeClr val="bg1"/>
                    </a:solidFill>
                    <a:latin typeface="微软雅黑" panose="020B0503020204020204" pitchFamily="34" charset="-122"/>
                    <a:ea typeface="微软雅黑" panose="020B0503020204020204" pitchFamily="34" charset="-122"/>
                  </a:rPr>
                  <a:t>预警坐席平台</a:t>
                </a:r>
              </a:p>
            </p:txBody>
          </p:sp>
        </p:grpSp>
        <p:pic>
          <p:nvPicPr>
            <p:cNvPr id="22" name="图片 21"/>
            <p:cNvPicPr>
              <a:picLocks noChangeAspect="1"/>
            </p:cNvPicPr>
            <p:nvPr/>
          </p:nvPicPr>
          <p:blipFill>
            <a:blip r:embed="rId4" cstate="print">
              <a:biLevel thresh="50000"/>
              <a:extLst>
                <a:ext uri="{28A0092B-C50C-407E-A947-70E740481C1C}">
                  <a14:useLocalDpi xmlns="" xmlns:a14="http://schemas.microsoft.com/office/drawing/2010/main" val="0"/>
                </a:ext>
              </a:extLst>
            </a:blip>
            <a:stretch>
              <a:fillRect/>
            </a:stretch>
          </p:blipFill>
          <p:spPr>
            <a:xfrm>
              <a:off x="3699218" y="3490900"/>
              <a:ext cx="351609" cy="351609"/>
            </a:xfrm>
            <a:prstGeom prst="rect">
              <a:avLst/>
            </a:prstGeom>
          </p:spPr>
        </p:pic>
        <p:pic>
          <p:nvPicPr>
            <p:cNvPr id="23" name="图片 22"/>
            <p:cNvPicPr>
              <a:picLocks noChangeAspect="1"/>
            </p:cNvPicPr>
            <p:nvPr/>
          </p:nvPicPr>
          <p:blipFill>
            <a:blip r:embed="rId5" cstate="print">
              <a:biLevel thresh="50000"/>
              <a:extLst>
                <a:ext uri="{28A0092B-C50C-407E-A947-70E740481C1C}">
                  <a14:useLocalDpi xmlns="" xmlns:a14="http://schemas.microsoft.com/office/drawing/2010/main" val="0"/>
                </a:ext>
              </a:extLst>
            </a:blip>
            <a:stretch>
              <a:fillRect/>
            </a:stretch>
          </p:blipFill>
          <p:spPr>
            <a:xfrm>
              <a:off x="3716264" y="3989550"/>
              <a:ext cx="365670" cy="365670"/>
            </a:xfrm>
            <a:prstGeom prst="rect">
              <a:avLst/>
            </a:prstGeom>
          </p:spPr>
        </p:pic>
        <p:pic>
          <p:nvPicPr>
            <p:cNvPr id="24" name="图片 23"/>
            <p:cNvPicPr>
              <a:picLocks noChangeAspect="1"/>
            </p:cNvPicPr>
            <p:nvPr/>
          </p:nvPicPr>
          <p:blipFill>
            <a:blip r:embed="rId6" cstate="print">
              <a:biLevel thresh="50000"/>
              <a:extLst>
                <a:ext uri="{28A0092B-C50C-407E-A947-70E740481C1C}">
                  <a14:useLocalDpi xmlns="" xmlns:a14="http://schemas.microsoft.com/office/drawing/2010/main" val="0"/>
                </a:ext>
              </a:extLst>
            </a:blip>
            <a:stretch>
              <a:fillRect/>
            </a:stretch>
          </p:blipFill>
          <p:spPr>
            <a:xfrm>
              <a:off x="3719366" y="4487097"/>
              <a:ext cx="380655" cy="380655"/>
            </a:xfrm>
            <a:prstGeom prst="rect">
              <a:avLst/>
            </a:prstGeom>
          </p:spPr>
        </p:pic>
      </p:grpSp>
      <p:grpSp>
        <p:nvGrpSpPr>
          <p:cNvPr id="31" name="组合 30"/>
          <p:cNvGrpSpPr/>
          <p:nvPr/>
        </p:nvGrpSpPr>
        <p:grpSpPr>
          <a:xfrm>
            <a:off x="659521" y="3223517"/>
            <a:ext cx="3603752" cy="1696743"/>
            <a:chOff x="3525939" y="2944475"/>
            <a:chExt cx="2573964" cy="2262324"/>
          </a:xfrm>
        </p:grpSpPr>
        <p:sp>
          <p:nvSpPr>
            <p:cNvPr id="32" name="圆角矩形 84"/>
            <p:cNvSpPr/>
            <p:nvPr/>
          </p:nvSpPr>
          <p:spPr>
            <a:xfrm>
              <a:off x="3525939" y="2944475"/>
              <a:ext cx="2573964" cy="2262324"/>
            </a:xfrm>
            <a:prstGeom prst="roundRect">
              <a:avLst>
                <a:gd name="adj" fmla="val 56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33" name="文本框 32"/>
            <p:cNvSpPr txBox="1"/>
            <p:nvPr/>
          </p:nvSpPr>
          <p:spPr>
            <a:xfrm>
              <a:off x="4384384" y="2973136"/>
              <a:ext cx="873817" cy="400109"/>
            </a:xfrm>
            <a:prstGeom prst="rect">
              <a:avLst/>
            </a:prstGeom>
            <a:noFill/>
          </p:spPr>
          <p:txBody>
            <a:bodyPr wrap="none" rtlCol="0">
              <a:spAutoFit/>
            </a:bodyPr>
            <a:lstStyle/>
            <a:p>
              <a:pPr algn="ctr"/>
              <a:r>
                <a:rPr lang="zh-CN" altLang="en-US" sz="1350" dirty="0">
                  <a:solidFill>
                    <a:srgbClr val="4877AA"/>
                  </a:solidFill>
                  <a:latin typeface="微软雅黑" panose="020B0503020204020204" pitchFamily="34" charset="-122"/>
                  <a:ea typeface="微软雅黑" panose="020B0503020204020204" pitchFamily="34" charset="-122"/>
                </a:rPr>
                <a:t>预警坐席平台</a:t>
              </a:r>
            </a:p>
          </p:txBody>
        </p:sp>
      </p:grpSp>
      <p:grpSp>
        <p:nvGrpSpPr>
          <p:cNvPr id="34" name="组合 33"/>
          <p:cNvGrpSpPr/>
          <p:nvPr/>
        </p:nvGrpSpPr>
        <p:grpSpPr>
          <a:xfrm>
            <a:off x="4703065" y="914601"/>
            <a:ext cx="1703741" cy="4019279"/>
            <a:chOff x="6270754" y="1183163"/>
            <a:chExt cx="2271654" cy="5359039"/>
          </a:xfrm>
        </p:grpSpPr>
        <p:sp>
          <p:nvSpPr>
            <p:cNvPr id="35" name="圆角矩形 110"/>
            <p:cNvSpPr/>
            <p:nvPr/>
          </p:nvSpPr>
          <p:spPr>
            <a:xfrm>
              <a:off x="6270754" y="1222402"/>
              <a:ext cx="2271654" cy="5319800"/>
            </a:xfrm>
            <a:prstGeom prst="roundRect">
              <a:avLst>
                <a:gd name="adj" fmla="val 7796"/>
              </a:avLst>
            </a:prstGeom>
            <a:noFill/>
            <a:ln w="19050">
              <a:solidFill>
                <a:srgbClr val="4877A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6" name="文本框 35"/>
            <p:cNvSpPr txBox="1"/>
            <p:nvPr/>
          </p:nvSpPr>
          <p:spPr>
            <a:xfrm>
              <a:off x="6804137" y="1183163"/>
              <a:ext cx="1192106" cy="408940"/>
            </a:xfrm>
            <a:prstGeom prst="rect">
              <a:avLst/>
            </a:prstGeom>
            <a:noFill/>
          </p:spPr>
          <p:txBody>
            <a:bodyPr wrap="none" rtlCol="0">
              <a:spAutoFit/>
            </a:bodyPr>
            <a:lstStyle/>
            <a:p>
              <a:r>
                <a:rPr lang="zh-CN" altLang="en-US" sz="1400" b="1" dirty="0">
                  <a:solidFill>
                    <a:srgbClr val="4877AA"/>
                  </a:solidFill>
                  <a:latin typeface="微软雅黑" panose="020B0503020204020204" pitchFamily="34" charset="-122"/>
                  <a:ea typeface="微软雅黑" panose="020B0503020204020204" pitchFamily="34" charset="-122"/>
                </a:rPr>
                <a:t>预警业务</a:t>
              </a:r>
            </a:p>
          </p:txBody>
        </p:sp>
      </p:grpSp>
      <p:sp>
        <p:nvSpPr>
          <p:cNvPr id="37" name="圆角矩形 11"/>
          <p:cNvSpPr/>
          <p:nvPr/>
        </p:nvSpPr>
        <p:spPr>
          <a:xfrm>
            <a:off x="717051" y="3683775"/>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电话客服</a:t>
            </a:r>
          </a:p>
        </p:txBody>
      </p:sp>
      <p:sp>
        <p:nvSpPr>
          <p:cNvPr id="38" name="圆角矩形 112"/>
          <p:cNvSpPr/>
          <p:nvPr/>
        </p:nvSpPr>
        <p:spPr>
          <a:xfrm>
            <a:off x="3601132" y="3692308"/>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 dirty="0"/>
              <a:t>APP</a:t>
            </a:r>
            <a:r>
              <a:rPr lang="zh-CN" altLang="en-US" sz="600" dirty="0"/>
              <a:t>客服</a:t>
            </a:r>
          </a:p>
        </p:txBody>
      </p:sp>
      <p:sp>
        <p:nvSpPr>
          <p:cNvPr id="39" name="圆角矩形 115"/>
          <p:cNvSpPr/>
          <p:nvPr/>
        </p:nvSpPr>
        <p:spPr>
          <a:xfrm>
            <a:off x="2883301" y="3692308"/>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微信客服</a:t>
            </a:r>
          </a:p>
        </p:txBody>
      </p:sp>
      <p:sp>
        <p:nvSpPr>
          <p:cNvPr id="40" name="圆角矩形 116"/>
          <p:cNvSpPr/>
          <p:nvPr/>
        </p:nvSpPr>
        <p:spPr>
          <a:xfrm>
            <a:off x="2161824" y="3692308"/>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 dirty="0"/>
              <a:t>Web</a:t>
            </a:r>
            <a:r>
              <a:rPr lang="zh-CN" altLang="en-US" sz="600" dirty="0"/>
              <a:t>在线客服</a:t>
            </a:r>
          </a:p>
        </p:txBody>
      </p:sp>
      <p:sp>
        <p:nvSpPr>
          <p:cNvPr id="41" name="圆角矩形 117"/>
          <p:cNvSpPr/>
          <p:nvPr/>
        </p:nvSpPr>
        <p:spPr>
          <a:xfrm>
            <a:off x="1369571" y="3683775"/>
            <a:ext cx="737887" cy="21380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solidFill>
                  <a:srgbClr val="4877AA"/>
                </a:solidFill>
              </a:rPr>
              <a:t>互联网客服</a:t>
            </a:r>
          </a:p>
        </p:txBody>
      </p:sp>
      <p:sp>
        <p:nvSpPr>
          <p:cNvPr id="42" name="圆角矩形 13"/>
          <p:cNvSpPr/>
          <p:nvPr/>
        </p:nvSpPr>
        <p:spPr>
          <a:xfrm>
            <a:off x="1412264" y="3642236"/>
            <a:ext cx="2829840" cy="316812"/>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a:p>
        </p:txBody>
      </p:sp>
      <p:sp>
        <p:nvSpPr>
          <p:cNvPr id="43" name="圆角矩形 118"/>
          <p:cNvSpPr/>
          <p:nvPr/>
        </p:nvSpPr>
        <p:spPr>
          <a:xfrm>
            <a:off x="710637"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 dirty="0"/>
              <a:t>ACD</a:t>
            </a:r>
            <a:r>
              <a:rPr lang="zh-CN" altLang="en-US" sz="600" dirty="0"/>
              <a:t>排队</a:t>
            </a:r>
          </a:p>
        </p:txBody>
      </p:sp>
      <p:sp>
        <p:nvSpPr>
          <p:cNvPr id="44" name="圆角矩形 119"/>
          <p:cNvSpPr/>
          <p:nvPr/>
        </p:nvSpPr>
        <p:spPr>
          <a:xfrm>
            <a:off x="1434858"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知识库</a:t>
            </a:r>
          </a:p>
        </p:txBody>
      </p:sp>
      <p:sp>
        <p:nvSpPr>
          <p:cNvPr id="45" name="圆角矩形 120"/>
          <p:cNvSpPr/>
          <p:nvPr/>
        </p:nvSpPr>
        <p:spPr>
          <a:xfrm>
            <a:off x="2159080"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视频教学</a:t>
            </a:r>
          </a:p>
        </p:txBody>
      </p:sp>
      <p:sp>
        <p:nvSpPr>
          <p:cNvPr id="46" name="圆角矩形 121"/>
          <p:cNvSpPr/>
          <p:nvPr/>
        </p:nvSpPr>
        <p:spPr>
          <a:xfrm>
            <a:off x="2883302"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业务培训</a:t>
            </a:r>
          </a:p>
        </p:txBody>
      </p:sp>
      <p:sp>
        <p:nvSpPr>
          <p:cNvPr id="47" name="圆角矩形 122"/>
          <p:cNvSpPr/>
          <p:nvPr/>
        </p:nvSpPr>
        <p:spPr>
          <a:xfrm>
            <a:off x="3607524" y="4139029"/>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医生教育</a:t>
            </a:r>
          </a:p>
        </p:txBody>
      </p:sp>
      <p:sp>
        <p:nvSpPr>
          <p:cNvPr id="48" name="圆角矩形 133"/>
          <p:cNvSpPr/>
          <p:nvPr/>
        </p:nvSpPr>
        <p:spPr>
          <a:xfrm>
            <a:off x="712452"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信息弹屏</a:t>
            </a:r>
          </a:p>
        </p:txBody>
      </p:sp>
      <p:sp>
        <p:nvSpPr>
          <p:cNvPr id="49" name="圆角矩形 135"/>
          <p:cNvSpPr/>
          <p:nvPr/>
        </p:nvSpPr>
        <p:spPr>
          <a:xfrm>
            <a:off x="1436556"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售后维护</a:t>
            </a:r>
          </a:p>
        </p:txBody>
      </p:sp>
      <p:sp>
        <p:nvSpPr>
          <p:cNvPr id="50" name="圆角矩形 141"/>
          <p:cNvSpPr/>
          <p:nvPr/>
        </p:nvSpPr>
        <p:spPr>
          <a:xfrm>
            <a:off x="2160661"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定期回访</a:t>
            </a:r>
          </a:p>
        </p:txBody>
      </p:sp>
      <p:sp>
        <p:nvSpPr>
          <p:cNvPr id="51" name="圆角矩形 142"/>
          <p:cNvSpPr/>
          <p:nvPr/>
        </p:nvSpPr>
        <p:spPr>
          <a:xfrm>
            <a:off x="2884766"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历史记录</a:t>
            </a:r>
          </a:p>
        </p:txBody>
      </p:sp>
      <p:sp>
        <p:nvSpPr>
          <p:cNvPr id="52" name="圆角矩形 143"/>
          <p:cNvSpPr/>
          <p:nvPr/>
        </p:nvSpPr>
        <p:spPr>
          <a:xfrm>
            <a:off x="3608872" y="4499432"/>
            <a:ext cx="628849" cy="2138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 dirty="0"/>
              <a:t>定位监控</a:t>
            </a:r>
          </a:p>
        </p:txBody>
      </p:sp>
      <p:sp>
        <p:nvSpPr>
          <p:cNvPr id="53" name="右箭头 144"/>
          <p:cNvSpPr/>
          <p:nvPr/>
        </p:nvSpPr>
        <p:spPr>
          <a:xfrm rot="5400000">
            <a:off x="2472605" y="2872330"/>
            <a:ext cx="276779" cy="275753"/>
          </a:xfrm>
          <a:prstGeom prst="right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54" name="组合 53"/>
          <p:cNvGrpSpPr/>
          <p:nvPr/>
        </p:nvGrpSpPr>
        <p:grpSpPr>
          <a:xfrm>
            <a:off x="6553835" y="1318260"/>
            <a:ext cx="2432050" cy="3392170"/>
            <a:chOff x="8642668" y="2136241"/>
            <a:chExt cx="3336129" cy="4040801"/>
          </a:xfrm>
        </p:grpSpPr>
        <p:sp>
          <p:nvSpPr>
            <p:cNvPr id="55" name="圆角矩形 59"/>
            <p:cNvSpPr/>
            <p:nvPr/>
          </p:nvSpPr>
          <p:spPr>
            <a:xfrm>
              <a:off x="8642668" y="2136241"/>
              <a:ext cx="3336129" cy="4040801"/>
            </a:xfrm>
            <a:prstGeom prst="roundRect">
              <a:avLst>
                <a:gd name="adj" fmla="val 8536"/>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矩形 55"/>
            <p:cNvSpPr/>
            <p:nvPr/>
          </p:nvSpPr>
          <p:spPr>
            <a:xfrm>
              <a:off x="8745875" y="2181126"/>
              <a:ext cx="3129713" cy="3820682"/>
            </a:xfrm>
            <a:prstGeom prst="rect">
              <a:avLst/>
            </a:prstGeom>
          </p:spPr>
          <p:txBody>
            <a:bodyPr wrap="square">
              <a:spAutoFit/>
            </a:bodyPr>
            <a:lstStyle/>
            <a:p>
              <a:pPr marL="257175" indent="-257175" algn="just">
                <a:lnSpc>
                  <a:spcPct val="150000"/>
                </a:lnSpc>
                <a:buSzPts val="1200"/>
                <a:buFont typeface="Wingdings" panose="05000000000000000000" pitchFamily="2" charset="2"/>
                <a:buChar char="u"/>
              </a:pP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区域心电网络支持预警中心服务，支持动态心电</a:t>
              </a:r>
              <a:r>
                <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心电监护同时开单，预警中心提醒医生有病情预警、</a:t>
              </a:r>
              <a:r>
                <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AI</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危急预警、导联脱落、心电监护、</a:t>
              </a:r>
              <a:r>
                <a:rPr lang="en-US" altLang="zh-CN" sz="900" dirty="0" err="1">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sos</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、低功耗等预警</a:t>
              </a:r>
              <a:endPar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pitchFamily="2" charset="2"/>
                <a:buChar char="u"/>
              </a:pP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预警坐席平台同时可与心电云平台业务深度结合，查看心电解读历史记录，查看所属设备位置、忙闲、使用频率等</a:t>
              </a:r>
              <a:endPar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pitchFamily="2" charset="2"/>
                <a:buChar char="u"/>
              </a:pP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预警坐席平台支持定期回访，完善设备、平台功能，促进设备</a:t>
              </a:r>
              <a:r>
                <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平台售卖</a:t>
              </a:r>
              <a:r>
                <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a:t>
              </a: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投放服务能力的提升</a:t>
              </a:r>
              <a:endPar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a:p>
              <a:pPr marL="257175" indent="-257175" algn="just">
                <a:lnSpc>
                  <a:spcPct val="150000"/>
                </a:lnSpc>
                <a:buSzPts val="1200"/>
                <a:buFont typeface="Wingdings" panose="05000000000000000000" pitchFamily="2" charset="2"/>
                <a:buChar char="u"/>
              </a:pPr>
              <a:r>
                <a:rPr lang="zh-CN" altLang="en-US"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预警坐席平台支持业务流程培训，医生分析软件培训，促进医生业务能力的增长</a:t>
              </a:r>
              <a:endParaRPr lang="en-US" altLang="zh-CN" sz="900" dirty="0">
                <a:solidFill>
                  <a:srgbClr val="4877AA"/>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p:txBody>
        </p:sp>
      </p:grpSp>
    </p:spTree>
    <p:extLst>
      <p:ext uri="{BB962C8B-B14F-4D97-AF65-F5344CB8AC3E}">
        <p14:creationId xmlns="" xmlns:p14="http://schemas.microsoft.com/office/powerpoint/2010/main" val="13995686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95848" y="165039"/>
            <a:ext cx="7915628" cy="523843"/>
          </a:xfrm>
          <a:prstGeom prst="rect">
            <a:avLst/>
          </a:prstGeom>
          <a:noFill/>
        </p:spPr>
        <p:txBody>
          <a:bodyPr wrap="square" lIns="68580" tIns="34290" rIns="68580" bIns="34290" rtlCol="0" anchor="ctr">
            <a:noAutofit/>
          </a:bodyPr>
          <a:lstStyle/>
          <a:p>
            <a:pPr defTabSz="879475">
              <a:lnSpc>
                <a:spcPts val="6075"/>
              </a:lnSpc>
              <a:spcBef>
                <a:spcPct val="0"/>
              </a:spcBef>
              <a:buClrTx/>
              <a:buSzTx/>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数据质控</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等腰三角形 3"/>
          <p:cNvSpPr/>
          <p:nvPr/>
        </p:nvSpPr>
        <p:spPr>
          <a:xfrm>
            <a:off x="1506008" y="1223353"/>
            <a:ext cx="5834327" cy="3810547"/>
          </a:xfrm>
          <a:prstGeom prst="triangle">
            <a:avLst/>
          </a:prstGeom>
          <a:solidFill>
            <a:schemeClr val="accent4">
              <a:lumMod val="60000"/>
              <a:lumOff val="40000"/>
              <a:alpha val="39000"/>
            </a:schemeClr>
          </a:solidFill>
          <a:ln w="12700" cap="rnd">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等腰三角形 12"/>
          <p:cNvSpPr/>
          <p:nvPr/>
        </p:nvSpPr>
        <p:spPr>
          <a:xfrm>
            <a:off x="2760045" y="2194436"/>
            <a:ext cx="3467733" cy="2497108"/>
          </a:xfrm>
          <a:custGeom>
            <a:avLst/>
            <a:gdLst>
              <a:gd name="connsiteX0" fmla="*/ 9829 w 4699132"/>
              <a:gd name="connsiteY0" fmla="*/ 3962487 h 4070610"/>
              <a:gd name="connsiteX1" fmla="*/ 2287285 w 4699132"/>
              <a:gd name="connsiteY1" fmla="*/ 35839 h 4070610"/>
              <a:gd name="connsiteX2" fmla="*/ 2411849 w 4699132"/>
              <a:gd name="connsiteY2" fmla="*/ 35839 h 4070610"/>
              <a:gd name="connsiteX3" fmla="*/ 4689304 w 4699132"/>
              <a:gd name="connsiteY3" fmla="*/ 3962487 h 4070610"/>
              <a:gd name="connsiteX4" fmla="*/ 4627022 w 4699132"/>
              <a:gd name="connsiteY4" fmla="*/ 4070610 h 4070610"/>
              <a:gd name="connsiteX5" fmla="*/ 72111 w 4699132"/>
              <a:gd name="connsiteY5" fmla="*/ 4070610 h 4070610"/>
              <a:gd name="connsiteX6" fmla="*/ 9829 w 4699132"/>
              <a:gd name="connsiteY6" fmla="*/ 3962487 h 4070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9132" h="4070610">
                <a:moveTo>
                  <a:pt x="9829" y="3962487"/>
                </a:moveTo>
                <a:lnTo>
                  <a:pt x="2287285" y="35839"/>
                </a:lnTo>
                <a:cubicBezTo>
                  <a:pt x="2315001" y="-11946"/>
                  <a:pt x="2384133" y="-11946"/>
                  <a:pt x="2411849" y="35839"/>
                </a:cubicBezTo>
                <a:lnTo>
                  <a:pt x="4689304" y="3962487"/>
                </a:lnTo>
                <a:cubicBezTo>
                  <a:pt x="4717148" y="4010493"/>
                  <a:pt x="4682519" y="4070610"/>
                  <a:pt x="4627022" y="4070610"/>
                </a:cubicBezTo>
                <a:lnTo>
                  <a:pt x="72111" y="4070610"/>
                </a:lnTo>
                <a:cubicBezTo>
                  <a:pt x="16614" y="4070610"/>
                  <a:pt x="-18015" y="4010493"/>
                  <a:pt x="9829" y="3962487"/>
                </a:cubicBezTo>
              </a:path>
            </a:pathLst>
          </a:custGeom>
          <a:gradFill flip="none" rotWithShape="1">
            <a:gsLst>
              <a:gs pos="0">
                <a:schemeClr val="bg1">
                  <a:alpha val="0"/>
                </a:schemeClr>
              </a:gs>
              <a:gs pos="100000">
                <a:schemeClr val="bg1"/>
              </a:gs>
            </a:gsLst>
            <a:lin ang="5400000" scaled="1"/>
            <a:tileRect/>
          </a:gradFill>
          <a:ln w="12700" cap="rnd">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6" name="组合 5"/>
          <p:cNvGrpSpPr/>
          <p:nvPr/>
        </p:nvGrpSpPr>
        <p:grpSpPr>
          <a:xfrm>
            <a:off x="3378847" y="2785615"/>
            <a:ext cx="2243312" cy="1612976"/>
            <a:chOff x="4568797" y="2352166"/>
            <a:chExt cx="3054406" cy="2637760"/>
          </a:xfrm>
          <a:effectLst>
            <a:outerShdw blurRad="292100" dist="139700" dir="5400000" sx="98000" sy="98000" algn="t" rotWithShape="0">
              <a:schemeClr val="accent1">
                <a:alpha val="40000"/>
              </a:schemeClr>
            </a:outerShdw>
          </a:effectLst>
        </p:grpSpPr>
        <p:sp>
          <p:nvSpPr>
            <p:cNvPr id="7" name="任意多边形: 形状 6"/>
            <p:cNvSpPr/>
            <p:nvPr/>
          </p:nvSpPr>
          <p:spPr>
            <a:xfrm rot="16200000">
              <a:off x="4442079" y="2480912"/>
              <a:ext cx="2635732" cy="2382295"/>
            </a:xfrm>
            <a:custGeom>
              <a:avLst/>
              <a:gdLst>
                <a:gd name="connsiteX0" fmla="*/ 447596 w 3214779"/>
                <a:gd name="connsiteY0" fmla="*/ 0 h 2905665"/>
                <a:gd name="connsiteX1" fmla="*/ 3222198 w 3214779"/>
                <a:gd name="connsiteY1" fmla="*/ 1601207 h 2905665"/>
                <a:gd name="connsiteX2" fmla="*/ 919922 w 3214779"/>
                <a:gd name="connsiteY2" fmla="*/ 2916794 h 2905665"/>
                <a:gd name="connsiteX3" fmla="*/ 917449 w 3214779"/>
                <a:gd name="connsiteY3" fmla="*/ 2402429 h 2905665"/>
                <a:gd name="connsiteX4" fmla="*/ 2297331 w 3214779"/>
                <a:gd name="connsiteY4" fmla="*/ 1616045 h 2905665"/>
                <a:gd name="connsiteX5" fmla="*/ 0 w 3214779"/>
                <a:gd name="connsiteY5" fmla="*/ 275729 h 290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4779" h="2905665">
                  <a:moveTo>
                    <a:pt x="447596" y="0"/>
                  </a:moveTo>
                  <a:lnTo>
                    <a:pt x="3222198" y="1601207"/>
                  </a:lnTo>
                  <a:lnTo>
                    <a:pt x="919922" y="2916794"/>
                  </a:lnTo>
                  <a:lnTo>
                    <a:pt x="917449" y="2402429"/>
                  </a:lnTo>
                  <a:lnTo>
                    <a:pt x="2297331" y="1616045"/>
                  </a:lnTo>
                  <a:lnTo>
                    <a:pt x="0" y="275729"/>
                  </a:lnTo>
                  <a:close/>
                </a:path>
              </a:pathLst>
            </a:custGeom>
            <a:gradFill flip="none" rotWithShape="1">
              <a:gsLst>
                <a:gs pos="0">
                  <a:schemeClr val="accent1">
                    <a:lumMod val="40000"/>
                    <a:lumOff val="60000"/>
                  </a:schemeClr>
                </a:gs>
                <a:gs pos="74000">
                  <a:schemeClr val="accent1"/>
                </a:gs>
              </a:gsLst>
              <a:lin ang="13500000" scaled="1"/>
              <a:tileRect/>
            </a:gradFill>
            <a:ln w="6350" cap="flat">
              <a:noFill/>
              <a:prstDash val="solid"/>
              <a:miter/>
            </a:ln>
          </p:spPr>
          <p:txBody>
            <a:bodyPr rtlCol="0" anchor="ctr"/>
            <a:lstStyle/>
            <a:p>
              <a:endParaRPr lang="zh-CN" altLang="en-US" sz="1350">
                <a:solidFill>
                  <a:srgbClr val="89DAF4"/>
                </a:solidFill>
              </a:endParaRPr>
            </a:p>
          </p:txBody>
        </p:sp>
        <p:sp>
          <p:nvSpPr>
            <p:cNvPr id="8" name="任意多边形: 形状 7"/>
            <p:cNvSpPr/>
            <p:nvPr/>
          </p:nvSpPr>
          <p:spPr>
            <a:xfrm rot="16200000">
              <a:off x="5271319" y="2636454"/>
              <a:ext cx="1875426" cy="2828342"/>
            </a:xfrm>
            <a:custGeom>
              <a:avLst/>
              <a:gdLst>
                <a:gd name="connsiteX0" fmla="*/ 1236 w 2287439"/>
                <a:gd name="connsiteY0" fmla="*/ 3203651 h 3449705"/>
                <a:gd name="connsiteX1" fmla="*/ 0 w 2287439"/>
                <a:gd name="connsiteY1" fmla="*/ 0 h 3449705"/>
                <a:gd name="connsiteX2" fmla="*/ 2297331 w 2287439"/>
                <a:gd name="connsiteY2" fmla="*/ 1340316 h 3449705"/>
                <a:gd name="connsiteX3" fmla="*/ 1844789 w 2287439"/>
                <a:gd name="connsiteY3" fmla="*/ 1597498 h 3449705"/>
                <a:gd name="connsiteX4" fmla="*/ 474798 w 2287439"/>
                <a:gd name="connsiteY4" fmla="*/ 792567 h 3449705"/>
                <a:gd name="connsiteX5" fmla="*/ 472325 w 2287439"/>
                <a:gd name="connsiteY5" fmla="*/ 3450942 h 344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7439" h="3449705">
                  <a:moveTo>
                    <a:pt x="1236" y="3203651"/>
                  </a:moveTo>
                  <a:lnTo>
                    <a:pt x="0" y="0"/>
                  </a:lnTo>
                  <a:lnTo>
                    <a:pt x="2297331" y="1340316"/>
                  </a:lnTo>
                  <a:lnTo>
                    <a:pt x="1844789" y="1597498"/>
                  </a:lnTo>
                  <a:lnTo>
                    <a:pt x="474798" y="792567"/>
                  </a:lnTo>
                  <a:lnTo>
                    <a:pt x="472325" y="3450942"/>
                  </a:lnTo>
                  <a:close/>
                </a:path>
              </a:pathLst>
            </a:custGeom>
            <a:gradFill>
              <a:gsLst>
                <a:gs pos="100000">
                  <a:schemeClr val="accent1"/>
                </a:gs>
                <a:gs pos="0">
                  <a:schemeClr val="accent1">
                    <a:lumMod val="75000"/>
                  </a:schemeClr>
                </a:gs>
              </a:gsLst>
              <a:lin ang="0" scaled="1"/>
            </a:gradFill>
            <a:ln w="6350"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solidFill>
                  <a:srgbClr val="89DAF4"/>
                </a:solidFill>
              </a:endParaRPr>
            </a:p>
          </p:txBody>
        </p:sp>
        <p:sp>
          <p:nvSpPr>
            <p:cNvPr id="9" name="任意多边形: 形状 9"/>
            <p:cNvSpPr/>
            <p:nvPr/>
          </p:nvSpPr>
          <p:spPr>
            <a:xfrm rot="16200000">
              <a:off x="5403545" y="2392717"/>
              <a:ext cx="2250511" cy="2169409"/>
            </a:xfrm>
            <a:custGeom>
              <a:avLst/>
              <a:gdLst>
                <a:gd name="connsiteX0" fmla="*/ 2749873 w 2744927"/>
                <a:gd name="connsiteY0" fmla="*/ 1065823 h 2646010"/>
                <a:gd name="connsiteX1" fmla="*/ 0 w 2744927"/>
                <a:gd name="connsiteY1" fmla="*/ 2657139 h 2646010"/>
                <a:gd name="connsiteX2" fmla="*/ 3709 w 2744927"/>
                <a:gd name="connsiteY2" fmla="*/ 0 h 2646010"/>
                <a:gd name="connsiteX3" fmla="*/ 456251 w 2744927"/>
                <a:gd name="connsiteY3" fmla="*/ 260892 h 2646010"/>
                <a:gd name="connsiteX4" fmla="*/ 447596 w 2744927"/>
                <a:gd name="connsiteY4" fmla="*/ 1847261 h 2646010"/>
                <a:gd name="connsiteX5" fmla="*/ 2749873 w 2744927"/>
                <a:gd name="connsiteY5" fmla="*/ 531675 h 2646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4927" h="2646010">
                  <a:moveTo>
                    <a:pt x="2749873" y="1065823"/>
                  </a:moveTo>
                  <a:lnTo>
                    <a:pt x="0" y="2657139"/>
                  </a:lnTo>
                  <a:lnTo>
                    <a:pt x="3709" y="0"/>
                  </a:lnTo>
                  <a:lnTo>
                    <a:pt x="456251" y="260892"/>
                  </a:lnTo>
                  <a:lnTo>
                    <a:pt x="447596" y="1847261"/>
                  </a:lnTo>
                  <a:lnTo>
                    <a:pt x="2749873" y="531675"/>
                  </a:lnTo>
                  <a:close/>
                </a:path>
              </a:pathLst>
            </a:custGeom>
            <a:gradFill>
              <a:gsLst>
                <a:gs pos="100000">
                  <a:schemeClr val="accent1">
                    <a:lumMod val="85000"/>
                    <a:lumOff val="15000"/>
                  </a:schemeClr>
                </a:gs>
                <a:gs pos="0">
                  <a:schemeClr val="accent1"/>
                </a:gs>
              </a:gsLst>
              <a:lin ang="4800000" scaled="0"/>
            </a:gradFill>
            <a:ln w="6350" cap="flat">
              <a:noFill/>
              <a:prstDash val="solid"/>
              <a:miter/>
            </a:ln>
          </p:spPr>
          <p:txBody>
            <a:bodyPr rot="0" spcFirstLastPara="0" vertOverflow="overflow" horzOverflow="overflow" vert="horz" wrap="square" lIns="68580" tIns="34290" rIns="68580" bIns="34290" numCol="1" spcCol="0" rtlCol="0" fromWordArt="0" anchor="ctr" anchorCtr="0" forceAA="0" compatLnSpc="1">
              <a:noAutofit/>
            </a:bodyPr>
            <a:lstStyle/>
            <a:p>
              <a:endParaRPr lang="zh-CN" altLang="en-US" sz="1350">
                <a:solidFill>
                  <a:srgbClr val="89DAF4"/>
                </a:solidFill>
              </a:endParaRPr>
            </a:p>
          </p:txBody>
        </p:sp>
      </p:grpSp>
      <p:sp>
        <p:nvSpPr>
          <p:cNvPr id="10" name="文本框 9"/>
          <p:cNvSpPr txBox="1"/>
          <p:nvPr/>
        </p:nvSpPr>
        <p:spPr>
          <a:xfrm>
            <a:off x="3029224" y="1721615"/>
            <a:ext cx="3547631" cy="923330"/>
          </a:xfrm>
          <a:prstGeom prst="rect">
            <a:avLst/>
          </a:prstGeom>
          <a:noFill/>
        </p:spPr>
        <p:txBody>
          <a:bodyPr wrap="square" rtlCol="0">
            <a:spAutoFit/>
          </a:bodyPr>
          <a:lstStyle/>
          <a:p>
            <a:pPr marL="128905" indent="-128905">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高质量、精标注、病种覆盖全面的海量心电数据库</a:t>
            </a:r>
          </a:p>
          <a:p>
            <a:pPr marL="128905" indent="-128905">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领先的</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心电算法</a:t>
            </a:r>
          </a:p>
          <a:p>
            <a:pPr marL="128905" indent="-128905">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适</a:t>
            </a:r>
            <a:r>
              <a:rPr lang="zh-CN" altLang="en-US" sz="900" dirty="0" smtClean="0">
                <a:latin typeface="微软雅黑" panose="020B0503020204020204" pitchFamily="34" charset="-122"/>
                <a:ea typeface="微软雅黑" panose="020B0503020204020204" pitchFamily="34" charset="-122"/>
              </a:rPr>
              <a:t>合院端</a:t>
            </a:r>
            <a:r>
              <a:rPr lang="zh-CN" altLang="en-US" sz="900" dirty="0">
                <a:latin typeface="微软雅黑" panose="020B0503020204020204" pitchFamily="34" charset="-122"/>
                <a:ea typeface="微软雅黑" panose="020B0503020204020204" pitchFamily="34" charset="-122"/>
              </a:rPr>
              <a:t>用户复杂使用场景下造成各种类型干扰的</a:t>
            </a:r>
            <a:r>
              <a:rPr lang="en-US" altLang="zh-CN" sz="900" dirty="0">
                <a:latin typeface="微软雅黑" panose="020B0503020204020204" pitchFamily="34" charset="-122"/>
                <a:ea typeface="微软雅黑" panose="020B0503020204020204" pitchFamily="34" charset="-122"/>
              </a:rPr>
              <a:t>AI</a:t>
            </a:r>
            <a:r>
              <a:rPr lang="zh-CN" altLang="en-US" sz="900" dirty="0">
                <a:latin typeface="微软雅黑" panose="020B0503020204020204" pitchFamily="34" charset="-122"/>
                <a:ea typeface="微软雅黑" panose="020B0503020204020204" pitchFamily="34" charset="-122"/>
              </a:rPr>
              <a:t>算法优化</a:t>
            </a:r>
          </a:p>
          <a:p>
            <a:pPr marL="128905" indent="-128905">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中国顶级心电专家（</a:t>
            </a:r>
            <a:r>
              <a:rPr lang="en-US" altLang="zh-CN" sz="900" dirty="0">
                <a:latin typeface="微软雅黑" panose="020B0503020204020204" pitchFamily="34" charset="-122"/>
                <a:ea typeface="微软雅黑" panose="020B0503020204020204" pitchFamily="34" charset="-122"/>
              </a:rPr>
              <a:t>301</a:t>
            </a:r>
            <a:r>
              <a:rPr lang="zh-CN" altLang="en-US" sz="900" dirty="0">
                <a:latin typeface="微软雅黑" panose="020B0503020204020204" pitchFamily="34" charset="-122"/>
                <a:ea typeface="微软雅黑" panose="020B0503020204020204" pitchFamily="34" charset="-122"/>
              </a:rPr>
              <a:t>医院卢喜烈主任）持续指导与支持</a:t>
            </a:r>
          </a:p>
        </p:txBody>
      </p:sp>
      <p:sp>
        <p:nvSpPr>
          <p:cNvPr id="11" name="文本框 10"/>
          <p:cNvSpPr txBox="1"/>
          <p:nvPr/>
        </p:nvSpPr>
        <p:spPr>
          <a:xfrm>
            <a:off x="6451972" y="3088419"/>
            <a:ext cx="2692028" cy="1937582"/>
          </a:xfrm>
          <a:prstGeom prst="rect">
            <a:avLst/>
          </a:prstGeom>
          <a:noFill/>
        </p:spPr>
        <p:txBody>
          <a:bodyPr wrap="square" rtlCol="0">
            <a:spAutoFit/>
          </a:bodyPr>
          <a:lstStyle/>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平台集成算法</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数据验证，比较数据与预期结果或标准，检查数据是否符合预先设定的规则和条件</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算法检测数据中的异常值，并根据业务逻辑确定是否需要进行处理</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数据清洗：清理数据中的错误、不一致或无效的内容，确保数据的质量和可信度</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数据标准化：数据质控为统一标准的格式、规则等</a:t>
            </a:r>
            <a:endParaRPr lang="en-US" altLang="zh-CN" sz="9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549559" y="3088419"/>
            <a:ext cx="2560937" cy="1937582"/>
          </a:xfrm>
          <a:prstGeom prst="rect">
            <a:avLst/>
          </a:prstGeom>
          <a:noFill/>
        </p:spPr>
        <p:txBody>
          <a:bodyPr wrap="square" rtlCol="0">
            <a:spAutoFit/>
          </a:bodyPr>
          <a:lstStyle/>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设备集成算法</a:t>
            </a: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数据验证，比较数据与预期结果或标准，检查数据是否符合预先设定的规则和条件</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算法检测数据中的异常值，并根据业务逻辑确定是否需要进行处理</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数据清洗：清理数据中的错误、不一致或无效的内容，确保数据的质量和可信度</a:t>
            </a:r>
            <a:endParaRPr lang="en-US" altLang="zh-CN" sz="900" dirty="0">
              <a:latin typeface="微软雅黑" panose="020B0503020204020204" pitchFamily="34" charset="-122"/>
              <a:ea typeface="微软雅黑" panose="020B0503020204020204" pitchFamily="34" charset="-122"/>
            </a:endParaRPr>
          </a:p>
          <a:p>
            <a:pPr marL="214630" indent="-214630">
              <a:lnSpc>
                <a:spcPct val="150000"/>
              </a:lnSpc>
              <a:buFont typeface="Arial" panose="020B0604020202020204" pitchFamily="34" charset="0"/>
              <a:buChar char="•"/>
            </a:pPr>
            <a:r>
              <a:rPr lang="zh-CN" altLang="en-US" sz="900" dirty="0">
                <a:latin typeface="微软雅黑" panose="020B0503020204020204" pitchFamily="34" charset="-122"/>
                <a:ea typeface="微软雅黑" panose="020B0503020204020204" pitchFamily="34" charset="-122"/>
              </a:rPr>
              <a:t>数据标准化：数据质控为统一标准的格式、规则等</a:t>
            </a:r>
            <a:endParaRPr lang="en-US" altLang="zh-CN" sz="900"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653940" y="2530432"/>
            <a:ext cx="1740221" cy="509024"/>
            <a:chOff x="859230" y="3555949"/>
            <a:chExt cx="2320295" cy="678699"/>
          </a:xfrm>
          <a:solidFill>
            <a:srgbClr val="0070C0"/>
          </a:solidFill>
        </p:grpSpPr>
        <p:sp>
          <p:nvSpPr>
            <p:cNvPr id="14" name="矩形: 圆角 14"/>
            <p:cNvSpPr/>
            <p:nvPr/>
          </p:nvSpPr>
          <p:spPr>
            <a:xfrm>
              <a:off x="859230" y="3555949"/>
              <a:ext cx="2320295" cy="678699"/>
            </a:xfrm>
            <a:prstGeom prst="roundRect">
              <a:avLst>
                <a:gd name="adj" fmla="val 50000"/>
              </a:avLst>
            </a:prstGeom>
            <a:grp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15" name="文本框 14"/>
            <p:cNvSpPr txBox="1"/>
            <p:nvPr/>
          </p:nvSpPr>
          <p:spPr>
            <a:xfrm>
              <a:off x="1150774" y="3714366"/>
              <a:ext cx="1737206" cy="369332"/>
            </a:xfrm>
            <a:prstGeom prst="rect">
              <a:avLst/>
            </a:prstGeom>
            <a:noFill/>
          </p:spPr>
          <p:txBody>
            <a:bodyPr wrap="square" rtlCol="0">
              <a:spAutoFit/>
            </a:bodyPr>
            <a:lstStyle/>
            <a:p>
              <a:pPr lvl="0" algn="ctr"/>
              <a:r>
                <a:rPr lang="zh-CN" altLang="en-US" sz="1200" b="1" dirty="0">
                  <a:solidFill>
                    <a:schemeClr val="bg1"/>
                  </a:solidFill>
                  <a:latin typeface="微软雅黑" panose="020B0503020204020204" pitchFamily="34" charset="-122"/>
                  <a:ea typeface="微软雅黑" panose="020B0503020204020204" pitchFamily="34" charset="-122"/>
                </a:rPr>
                <a:t>设备数据质控</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3679962" y="1222342"/>
            <a:ext cx="1464470" cy="499088"/>
            <a:chOff x="859230" y="3555949"/>
            <a:chExt cx="1952627" cy="665451"/>
          </a:xfrm>
          <a:solidFill>
            <a:srgbClr val="0070C0"/>
          </a:solidFill>
        </p:grpSpPr>
        <p:sp>
          <p:nvSpPr>
            <p:cNvPr id="17" name="矩形: 圆角 17"/>
            <p:cNvSpPr/>
            <p:nvPr/>
          </p:nvSpPr>
          <p:spPr>
            <a:xfrm>
              <a:off x="859230" y="3555949"/>
              <a:ext cx="1952627" cy="665451"/>
            </a:xfrm>
            <a:prstGeom prst="roundRect">
              <a:avLst>
                <a:gd name="adj" fmla="val 50000"/>
              </a:avLst>
            </a:prstGeom>
            <a:grp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18" name="文本框 17"/>
            <p:cNvSpPr txBox="1"/>
            <p:nvPr/>
          </p:nvSpPr>
          <p:spPr>
            <a:xfrm>
              <a:off x="978055" y="3726141"/>
              <a:ext cx="1737206" cy="369332"/>
            </a:xfrm>
            <a:prstGeom prst="rect">
              <a:avLst/>
            </a:prstGeom>
            <a:noFill/>
          </p:spPr>
          <p:txBody>
            <a:bodyPr wrap="square" rtlCol="0">
              <a:spAutoFit/>
            </a:bodyPr>
            <a:lstStyle/>
            <a:p>
              <a:pPr lvl="0" algn="ctr"/>
              <a:r>
                <a:rPr lang="en-US" altLang="zh-CN" sz="1200" b="1" dirty="0">
                  <a:solidFill>
                    <a:schemeClr val="bg1"/>
                  </a:solidFill>
                  <a:latin typeface="微软雅黑" panose="020B0503020204020204" pitchFamily="34" charset="-122"/>
                  <a:ea typeface="微软雅黑" panose="020B0503020204020204" pitchFamily="34" charset="-122"/>
                </a:rPr>
                <a:t>AI</a:t>
              </a:r>
              <a:r>
                <a:rPr lang="zh-CN" altLang="en-US" sz="1200" b="1" dirty="0">
                  <a:solidFill>
                    <a:schemeClr val="bg1"/>
                  </a:solidFill>
                  <a:latin typeface="微软雅黑" panose="020B0503020204020204" pitchFamily="34" charset="-122"/>
                  <a:ea typeface="微软雅黑" panose="020B0503020204020204" pitchFamily="34" charset="-122"/>
                </a:rPr>
                <a:t>算法</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6648610" y="2471659"/>
            <a:ext cx="1852225" cy="557987"/>
            <a:chOff x="859230" y="3555950"/>
            <a:chExt cx="2469633" cy="743982"/>
          </a:xfrm>
          <a:solidFill>
            <a:srgbClr val="0070C0"/>
          </a:solidFill>
        </p:grpSpPr>
        <p:sp>
          <p:nvSpPr>
            <p:cNvPr id="20" name="矩形: 圆角 20"/>
            <p:cNvSpPr/>
            <p:nvPr/>
          </p:nvSpPr>
          <p:spPr>
            <a:xfrm>
              <a:off x="859230" y="3555950"/>
              <a:ext cx="2469633" cy="743982"/>
            </a:xfrm>
            <a:prstGeom prst="roundRect">
              <a:avLst>
                <a:gd name="adj" fmla="val 50000"/>
              </a:avLst>
            </a:prstGeom>
            <a:grp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21" name="文本框 20"/>
            <p:cNvSpPr txBox="1"/>
            <p:nvPr/>
          </p:nvSpPr>
          <p:spPr>
            <a:xfrm>
              <a:off x="1134973" y="3745067"/>
              <a:ext cx="1918146" cy="369332"/>
            </a:xfrm>
            <a:prstGeom prst="rect">
              <a:avLst/>
            </a:prstGeom>
            <a:noFill/>
          </p:spPr>
          <p:txBody>
            <a:bodyPr wrap="square" rtlCol="0">
              <a:spAutoFit/>
            </a:bodyPr>
            <a:lstStyle/>
            <a:p>
              <a:pPr lvl="0" algn="ctr"/>
              <a:r>
                <a:rPr lang="zh-CN" altLang="en-US" sz="1200" b="1" dirty="0">
                  <a:solidFill>
                    <a:schemeClr val="bg1"/>
                  </a:solidFill>
                  <a:latin typeface="微软雅黑" panose="020B0503020204020204" pitchFamily="34" charset="-122"/>
                  <a:ea typeface="微软雅黑" panose="020B0503020204020204" pitchFamily="34" charset="-122"/>
                </a:rPr>
                <a:t>平台数据质控</a:t>
              </a:r>
              <a:endParaRPr lang="zh-CN" altLang="en-US" sz="900" dirty="0">
                <a:solidFill>
                  <a:schemeClr val="bg1"/>
                </a:solidFill>
                <a:latin typeface="微软雅黑" panose="020B0503020204020204" pitchFamily="34" charset="-122"/>
                <a:ea typeface="微软雅黑" panose="020B0503020204020204" pitchFamily="34" charset="-122"/>
              </a:endParaRPr>
            </a:p>
          </p:txBody>
        </p:sp>
      </p:grpSp>
      <p:sp>
        <p:nvSpPr>
          <p:cNvPr id="22" name="矩形 21"/>
          <p:cNvSpPr/>
          <p:nvPr/>
        </p:nvSpPr>
        <p:spPr>
          <a:xfrm>
            <a:off x="495848" y="840022"/>
            <a:ext cx="8112422" cy="295978"/>
          </a:xfrm>
          <a:prstGeom prst="rect">
            <a:avLst/>
          </a:prstGeom>
        </p:spPr>
        <p:txBody>
          <a:bodyPr wrap="square">
            <a:spAutoFit/>
          </a:bodyPr>
          <a:lstStyle/>
          <a:p>
            <a:pPr algn="just">
              <a:lnSpc>
                <a:spcPct val="150000"/>
              </a:lnSpc>
              <a:buSzPts val="1200"/>
            </a:pPr>
            <a:r>
              <a:rPr lang="zh-CN" altLang="en-US" sz="1000" dirty="0">
                <a:solidFill>
                  <a:srgbClr val="000000"/>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rPr>
              <a:t>远程心电一张网算法提供设备数据质控及平台数据质控用于完成数据的处理，使得设备采集的数据质量更好，提高分析效率，便于医生解读。</a:t>
            </a:r>
            <a:endParaRPr lang="en-US" altLang="zh-CN" sz="1000" dirty="0">
              <a:solidFill>
                <a:srgbClr val="000000"/>
              </a:solidFill>
              <a:uFill>
                <a:solidFill>
                  <a:srgbClr val="000000"/>
                </a:solidFill>
              </a:u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 xmlns:p14="http://schemas.microsoft.com/office/powerpoint/2010/main" val="2575817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251520" y="958895"/>
            <a:ext cx="8496944" cy="502702"/>
          </a:xfrm>
          <a:prstGeom prst="rect">
            <a:avLst/>
          </a:prstGeom>
          <a:noFill/>
        </p:spPr>
        <p:txBody>
          <a:bodyPr wrap="square" rtlCol="0">
            <a:spAutoFit/>
          </a:bodyPr>
          <a:lstStyle/>
          <a:p>
            <a:pPr>
              <a:lnSpc>
                <a:spcPts val="1600"/>
              </a:lnSpc>
            </a:pP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国家卫健委在中日友好医院设有远程医疗管理与培训中心、远程医疗与互联网医学中心、基层远程医疗发展指导中心，好络维承担平台的建设和运营。</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该中心为国家级平台，以各省部级远程医疗中心为龙头，形成区域性医疗协同中心，优化资源协同调配机制，促进医疗数据互联互通。</a:t>
            </a:r>
          </a:p>
        </p:txBody>
      </p:sp>
      <p:pic>
        <p:nvPicPr>
          <p:cNvPr id="8" name="图片 7"/>
          <p:cNvPicPr>
            <a:picLocks noChangeAspect="1"/>
          </p:cNvPicPr>
          <p:nvPr/>
        </p:nvPicPr>
        <p:blipFill rotWithShape="1">
          <a:blip r:embed="rId3" cstate="screen">
            <a:extLst/>
          </a:blip>
          <a:srcRect t="11476" b="3949"/>
          <a:stretch>
            <a:fillRect/>
          </a:stretch>
        </p:blipFill>
        <p:spPr bwMode="auto">
          <a:xfrm>
            <a:off x="5409029" y="1546236"/>
            <a:ext cx="3196504" cy="1630074"/>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extLst>
            <a:ext uri="{909E8E84-426E-40DD-AFC4-6F175D3DCCD1}">
              <a14:hiddenFill xmlns="" xmlns:a14="http://schemas.microsoft.com/office/drawing/2010/main">
                <a:solidFill>
                  <a:srgbClr val="FFFFFF"/>
                </a:solidFill>
              </a14:hiddenFill>
            </a:ext>
          </a:extLst>
        </p:spPr>
      </p:pic>
      <p:sp>
        <p:nvSpPr>
          <p:cNvPr id="6" name="矩形 5"/>
          <p:cNvSpPr/>
          <p:nvPr/>
        </p:nvSpPr>
        <p:spPr>
          <a:xfrm>
            <a:off x="5409029" y="3543307"/>
            <a:ext cx="3196504" cy="1118255"/>
          </a:xfrm>
          <a:prstGeom prst="rect">
            <a:avLst/>
          </a:prstGeom>
          <a:solidFill>
            <a:schemeClr val="bg1"/>
          </a:solidFill>
          <a:ln w="3175">
            <a:solidFill>
              <a:schemeClr val="bg1">
                <a:lumMod val="65000"/>
              </a:schemeClr>
            </a:solidFill>
            <a:prstDash val="dash"/>
          </a:ln>
        </p:spPr>
        <p:style>
          <a:lnRef idx="2">
            <a:schemeClr val="dk1"/>
          </a:lnRef>
          <a:fillRef idx="1">
            <a:schemeClr val="lt1"/>
          </a:fillRef>
          <a:effectRef idx="0">
            <a:schemeClr val="dk1"/>
          </a:effectRef>
          <a:fontRef idx="minor">
            <a:schemeClr val="dk1"/>
          </a:fontRef>
        </p:style>
        <p:txBody>
          <a:bodyPr wrap="square">
            <a:spAutoFit/>
          </a:bodyPr>
          <a:lstStyle/>
          <a:p>
            <a:pPr marL="514350" indent="-171450" fontAlgn="ctr">
              <a:lnSpc>
                <a:spcPts val="1600"/>
              </a:lnSpc>
              <a:buFont typeface="Arial" panose="020B0604020202020204" pitchFamily="34" charset="0"/>
              <a:buChar char="•"/>
            </a:pP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覆盖</a:t>
            </a: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31</a:t>
            </a: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个省市的地市级机构</a:t>
            </a:r>
          </a:p>
          <a:p>
            <a:pPr marL="514350" indent="-171450" fontAlgn="ctr">
              <a:lnSpc>
                <a:spcPts val="1600"/>
              </a:lnSpc>
              <a:buFont typeface="Arial" panose="020B0604020202020204" pitchFamily="34" charset="0"/>
              <a:buChar char="•"/>
            </a:pP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32+</a:t>
            </a: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省部级医院建立远程医疗区域协同中心</a:t>
            </a:r>
          </a:p>
          <a:p>
            <a:pPr marL="514350" indent="-171450" fontAlgn="ctr">
              <a:lnSpc>
                <a:spcPts val="1600"/>
              </a:lnSpc>
              <a:buFont typeface="Arial" panose="020B0604020202020204" pitchFamily="34" charset="0"/>
              <a:buChar char="•"/>
            </a:pP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103+</a:t>
            </a: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市级医联体区域协同中心</a:t>
            </a:r>
          </a:p>
          <a:p>
            <a:pPr marL="514350" indent="-171450" fontAlgn="ctr">
              <a:lnSpc>
                <a:spcPts val="1600"/>
              </a:lnSpc>
              <a:buFont typeface="Arial" panose="020B0604020202020204" pitchFamily="34" charset="0"/>
              <a:buChar char="•"/>
            </a:pP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5300+</a:t>
            </a:r>
            <a:r>
              <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rPr>
              <a:t>家医疗机构</a:t>
            </a:r>
            <a:endParaRPr lang="en-US" altLang="zh-CN" sz="800" dirty="0">
              <a:solidFill>
                <a:schemeClr val="tx1">
                  <a:lumMod val="85000"/>
                  <a:lumOff val="15000"/>
                </a:schemeClr>
              </a:solidFill>
              <a:latin typeface="微软雅黑" panose="020B0503020204020204" pitchFamily="34" charset="-122"/>
              <a:ea typeface="微软雅黑" panose="020B0503020204020204" pitchFamily="34" charset="-122"/>
            </a:endParaRPr>
          </a:p>
          <a:p>
            <a:pPr marL="514350" indent="-171450" fontAlgn="ctr">
              <a:lnSpc>
                <a:spcPts val="1600"/>
              </a:lnSpc>
              <a:buFont typeface="Arial" panose="020B0604020202020204" pitchFamily="34" charset="0"/>
              <a:buChar char="•"/>
            </a:pPr>
            <a:r>
              <a:rPr lang="en-US" altLang="zh-CN" sz="800" b="1" dirty="0">
                <a:solidFill>
                  <a:schemeClr val="tx1">
                    <a:lumMod val="85000"/>
                    <a:lumOff val="15000"/>
                  </a:schemeClr>
                </a:solidFill>
                <a:latin typeface="微软雅黑" panose="020B0503020204020204" pitchFamily="34" charset="-122"/>
                <a:ea typeface="微软雅黑" panose="020B0503020204020204" pitchFamily="34" charset="-122"/>
              </a:rPr>
              <a:t>16000+</a:t>
            </a:r>
            <a:r>
              <a:rPr lang="zh-CN" altLang="en-US" sz="800" dirty="0">
                <a:solidFill>
                  <a:schemeClr val="tx1">
                    <a:lumMod val="85000"/>
                    <a:lumOff val="15000"/>
                  </a:schemeClr>
                </a:solidFill>
                <a:latin typeface="微软雅黑" panose="020B0503020204020204" pitchFamily="34" charset="-122"/>
                <a:ea typeface="微软雅黑" panose="020B0503020204020204" pitchFamily="34" charset="-122"/>
              </a:rPr>
              <a:t>临床医师</a:t>
            </a:r>
            <a:endParaRPr lang="zh-CN" altLang="zh-CN" sz="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 name="矩形 6"/>
          <p:cNvSpPr/>
          <p:nvPr/>
        </p:nvSpPr>
        <p:spPr>
          <a:xfrm>
            <a:off x="452504" y="2639863"/>
            <a:ext cx="3816424" cy="1195199"/>
          </a:xfrm>
          <a:prstGeom prst="rect">
            <a:avLst/>
          </a:prstGeom>
        </p:spPr>
        <p:txBody>
          <a:bodyPr wrap="square">
            <a:spAutoFit/>
          </a:bodyPr>
          <a:lstStyle/>
          <a:p>
            <a:pPr>
              <a:lnSpc>
                <a:spcPts val="1600"/>
              </a:lnSpc>
              <a:spcAft>
                <a:spcPts val="600"/>
              </a:spcAft>
            </a:pPr>
            <a:r>
              <a:rPr lang="zh-CN" altLang="en-US" sz="1000" b="1" dirty="0">
                <a:solidFill>
                  <a:schemeClr val="tx1">
                    <a:lumMod val="85000"/>
                    <a:lumOff val="15000"/>
                  </a:schemeClr>
                </a:solidFill>
                <a:latin typeface="微软雅黑" panose="020B0503020204020204" pitchFamily="34" charset="-122"/>
                <a:ea typeface="微软雅黑" panose="020B0503020204020204" pitchFamily="34" charset="-122"/>
              </a:rPr>
              <a:t>平台价值：</a:t>
            </a:r>
            <a:endPar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ts val="1600"/>
              </a:lnSpc>
              <a:buFont typeface="Arial" panose="020B0604020202020204" pitchFamily="34" charset="0"/>
              <a:buChar cha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随时随地建立国家平台与医疗机构之间的业务连接；</a:t>
            </a:r>
          </a:p>
          <a:p>
            <a:pPr marL="171450" indent="-171450">
              <a:lnSpc>
                <a:spcPts val="1600"/>
              </a:lnSpc>
              <a:buFont typeface="Arial" panose="020B0604020202020204" pitchFamily="34" charset="0"/>
              <a:buChar cha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覆盖全国</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2700+</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综合性医院，汇集庞大的专家资源；</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marL="171450" indent="-171450">
              <a:lnSpc>
                <a:spcPts val="1600"/>
              </a:lnSpc>
              <a:buFont typeface="Arial" panose="020B0604020202020204" pitchFamily="34" charset="0"/>
              <a:buChar cha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利用互联网诊疗提升对已确诊疾病的复诊诊疗效率；</a:t>
            </a:r>
          </a:p>
          <a:p>
            <a:pPr marL="171450" indent="-171450">
              <a:lnSpc>
                <a:spcPts val="1600"/>
              </a:lnSpc>
              <a:buFont typeface="Arial" panose="020B0604020202020204" pitchFamily="34" charset="0"/>
              <a:buChar char="•"/>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医师在线服务，患者在偏远地区也能享受医疗服务。</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9" name="矩形 18"/>
          <p:cNvSpPr/>
          <p:nvPr/>
        </p:nvSpPr>
        <p:spPr>
          <a:xfrm>
            <a:off x="467544" y="3975592"/>
            <a:ext cx="4089416" cy="555345"/>
          </a:xfrm>
          <a:prstGeom prst="rect">
            <a:avLst/>
          </a:prstGeom>
        </p:spPr>
        <p:txBody>
          <a:bodyPr wrap="square">
            <a:spAutoFit/>
          </a:bodyPr>
          <a:lstStyle/>
          <a:p>
            <a:pPr>
              <a:lnSpc>
                <a:spcPts val="1900"/>
              </a:lnSpc>
              <a:spcBef>
                <a:spcPts val="600"/>
              </a:spcBef>
            </a:pPr>
            <a:r>
              <a:rPr lang="zh-CN" altLang="en-US" sz="1200" b="1" dirty="0">
                <a:solidFill>
                  <a:srgbClr val="2179B1"/>
                </a:solidFill>
                <a:latin typeface="微软雅黑" panose="020B0503020204020204" pitchFamily="34" charset="-122"/>
                <a:ea typeface="微软雅黑" panose="020B0503020204020204" pitchFamily="34" charset="-122"/>
              </a:rPr>
              <a:t>作为</a:t>
            </a:r>
            <a:r>
              <a:rPr lang="zh-CN" altLang="zh-CN" sz="1200" b="1" dirty="0">
                <a:solidFill>
                  <a:srgbClr val="2179B1"/>
                </a:solidFill>
                <a:latin typeface="微软雅黑" panose="020B0503020204020204" pitchFamily="34" charset="-122"/>
                <a:ea typeface="微软雅黑" panose="020B0503020204020204" pitchFamily="34" charset="-122"/>
              </a:rPr>
              <a:t>该平台</a:t>
            </a:r>
            <a:r>
              <a:rPr lang="zh-CN" altLang="en-US" sz="1200" b="1" dirty="0">
                <a:solidFill>
                  <a:srgbClr val="2179B1"/>
                </a:solidFill>
                <a:latin typeface="微软雅黑" panose="020B0503020204020204" pitchFamily="34" charset="-122"/>
                <a:ea typeface="微软雅黑" panose="020B0503020204020204" pitchFamily="34" charset="-122"/>
              </a:rPr>
              <a:t>运营方</a:t>
            </a:r>
            <a:r>
              <a:rPr lang="zh-CN" altLang="zh-CN" sz="1200" b="1" dirty="0">
                <a:solidFill>
                  <a:srgbClr val="2179B1"/>
                </a:solidFill>
                <a:latin typeface="微软雅黑" panose="020B0503020204020204" pitchFamily="34" charset="-122"/>
                <a:ea typeface="微软雅黑" panose="020B0503020204020204" pitchFamily="34" charset="-122"/>
              </a:rPr>
              <a:t>，好络维能迅速连接国内</a:t>
            </a:r>
            <a:r>
              <a:rPr lang="zh-CN" altLang="en-US" sz="1200" b="1" dirty="0">
                <a:solidFill>
                  <a:srgbClr val="2179B1"/>
                </a:solidFill>
                <a:latin typeface="微软雅黑" panose="020B0503020204020204" pitchFamily="34" charset="-122"/>
                <a:ea typeface="微软雅黑" panose="020B0503020204020204" pitchFamily="34" charset="-122"/>
              </a:rPr>
              <a:t>各大三甲医院的</a:t>
            </a:r>
            <a:r>
              <a:rPr lang="zh-CN" altLang="zh-CN" sz="1200" b="1" dirty="0">
                <a:solidFill>
                  <a:srgbClr val="2179B1"/>
                </a:solidFill>
                <a:latin typeface="微软雅黑" panose="020B0503020204020204" pitchFamily="34" charset="-122"/>
                <a:ea typeface="微软雅黑" panose="020B0503020204020204" pitchFamily="34" charset="-122"/>
              </a:rPr>
              <a:t>专家资源，</a:t>
            </a:r>
            <a:r>
              <a:rPr lang="zh-CN" altLang="en-US" sz="1200" b="1" dirty="0">
                <a:solidFill>
                  <a:srgbClr val="2179B1"/>
                </a:solidFill>
                <a:latin typeface="微软雅黑" panose="020B0503020204020204" pitchFamily="34" charset="-122"/>
                <a:ea typeface="微软雅黑" panose="020B0503020204020204" pitchFamily="34" charset="-122"/>
              </a:rPr>
              <a:t>提供优质的服务。</a:t>
            </a:r>
          </a:p>
        </p:txBody>
      </p:sp>
      <p:pic>
        <p:nvPicPr>
          <p:cNvPr id="3" name="图片 2"/>
          <p:cNvPicPr>
            <a:picLocks noChangeAspect="1"/>
          </p:cNvPicPr>
          <p:nvPr/>
        </p:nvPicPr>
        <p:blipFill>
          <a:blip r:embed="rId4" cstate="print">
            <a:extLst/>
          </a:blip>
          <a:stretch>
            <a:fillRect/>
          </a:stretch>
        </p:blipFill>
        <p:spPr>
          <a:xfrm>
            <a:off x="1946680" y="1663656"/>
            <a:ext cx="1248936" cy="811583"/>
          </a:xfrm>
          <a:prstGeom prst="rect">
            <a:avLst/>
          </a:prstGeom>
          <a:ln>
            <a:solidFill>
              <a:schemeClr val="bg1">
                <a:lumMod val="85000"/>
              </a:schemeClr>
            </a:solidFill>
          </a:ln>
        </p:spPr>
      </p:pic>
      <p:pic>
        <p:nvPicPr>
          <p:cNvPr id="4" name="图片 3"/>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3281212" y="1663656"/>
            <a:ext cx="1203740" cy="816591"/>
          </a:xfrm>
          <a:prstGeom prst="rect">
            <a:avLst/>
          </a:prstGeom>
        </p:spPr>
      </p:pic>
      <p:sp>
        <p:nvSpPr>
          <p:cNvPr id="5" name="文本占位符 4"/>
          <p:cNvSpPr>
            <a:spLocks noGrp="1"/>
          </p:cNvSpPr>
          <p:nvPr>
            <p:ph type="body" sz="quarter" idx="13"/>
          </p:nvPr>
        </p:nvSpPr>
        <p:spPr/>
        <p:txBody>
          <a:bodyPr/>
          <a:lstStyle/>
          <a:p>
            <a:r>
              <a:rPr lang="zh-CN" altLang="en-US" dirty="0">
                <a:solidFill>
                  <a:schemeClr val="tx1">
                    <a:lumMod val="75000"/>
                    <a:lumOff val="25000"/>
                  </a:schemeClr>
                </a:solidFill>
                <a:sym typeface="+mn-lt"/>
              </a:rPr>
              <a:t>国家级优质医疗资源</a:t>
            </a:r>
            <a:endParaRPr lang="zh-CN" altLang="en-US" dirty="0"/>
          </a:p>
        </p:txBody>
      </p:sp>
      <p:pic>
        <p:nvPicPr>
          <p:cNvPr id="12" name="Picture 10"/>
          <p:cNvPicPr>
            <a:picLocks noChangeAspect="1" noChangeArrowheads="1"/>
          </p:cNvPicPr>
          <p:nvPr/>
        </p:nvPicPr>
        <p:blipFill>
          <a:blip r:embed="rId6" cstate="print">
            <a:extLst>
              <a:ext uri="{BEBA8EAE-BF5A-486C-A8C5-ECC9F3942E4B}">
                <a14:imgProps xmlns="" xmlns:a14="http://schemas.microsoft.com/office/drawing/2010/main">
                  <a14:imgLayer r:embed="rId7">
                    <a14:imgEffect>
                      <a14:brightnessContrast bright="20000" contrast="20000"/>
                    </a14:imgEffect>
                  </a14:imgLayer>
                </a14:imgProps>
              </a:ext>
              <a:ext uri="{28A0092B-C50C-407E-A947-70E740481C1C}">
                <a14:useLocalDpi xmlns="" xmlns:a14="http://schemas.microsoft.com/office/drawing/2010/main" val="0"/>
              </a:ext>
            </a:extLst>
          </a:blip>
          <a:srcRect/>
          <a:stretch>
            <a:fillRect/>
          </a:stretch>
        </p:blipFill>
        <p:spPr bwMode="auto">
          <a:xfrm>
            <a:off x="467544" y="1654257"/>
            <a:ext cx="1393540" cy="8345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3979247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6479081" y="1955394"/>
            <a:ext cx="1826141" cy="584775"/>
          </a:xfrm>
          <a:prstGeom prst="rect">
            <a:avLst/>
          </a:prstGeom>
          <a:noFill/>
        </p:spPr>
        <p:txBody>
          <a:bodyPr wrap="none" rtlCol="0">
            <a:spAutoFit/>
          </a:bodyPr>
          <a:lstStyle/>
          <a:p>
            <a:r>
              <a:rPr lang="zh-CN" altLang="en-US" sz="3200" b="1" dirty="0" smtClean="0">
                <a:solidFill>
                  <a:srgbClr val="196494"/>
                </a:solidFill>
                <a:latin typeface="微软雅黑" panose="020B0503020204020204" pitchFamily="34" charset="-122"/>
                <a:ea typeface="微软雅黑" panose="020B0503020204020204" pitchFamily="34" charset="-122"/>
              </a:rPr>
              <a:t>效益分析</a:t>
            </a:r>
            <a:endParaRPr lang="zh-CN" altLang="en-US" sz="3200" b="1" dirty="0">
              <a:solidFill>
                <a:srgbClr val="196494"/>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1619672" y="1851670"/>
            <a:ext cx="4040530" cy="1200329"/>
          </a:xfrm>
          <a:prstGeom prst="rect">
            <a:avLst/>
          </a:prstGeom>
          <a:noFill/>
        </p:spPr>
        <p:txBody>
          <a:bodyPr wrap="none" rtlCol="0">
            <a:spAutoFit/>
          </a:bodyPr>
          <a:lstStyle/>
          <a:p>
            <a:r>
              <a:rPr lang="en-US" altLang="zh-CN" sz="7200" b="1" dirty="0">
                <a:solidFill>
                  <a:srgbClr val="1F71A6"/>
                </a:solidFill>
                <a:latin typeface="微软雅黑" panose="020B0503020204020204" pitchFamily="34" charset="-122"/>
                <a:ea typeface="微软雅黑" panose="020B0503020204020204" pitchFamily="34" charset="-122"/>
              </a:rPr>
              <a:t>PART</a:t>
            </a:r>
            <a:r>
              <a:rPr lang="en-US" altLang="zh-CN" sz="7200" b="1" dirty="0">
                <a:solidFill>
                  <a:schemeClr val="bg1">
                    <a:lumMod val="75000"/>
                  </a:schemeClr>
                </a:solidFill>
                <a:latin typeface="微软雅黑" panose="020B0503020204020204" pitchFamily="34" charset="-122"/>
                <a:ea typeface="微软雅黑" panose="020B0503020204020204" pitchFamily="34" charset="-122"/>
              </a:rPr>
              <a:t> </a:t>
            </a:r>
            <a:r>
              <a:rPr lang="en-US" altLang="zh-CN" sz="7200" b="1" dirty="0" smtClean="0">
                <a:solidFill>
                  <a:srgbClr val="1F71A6"/>
                </a:solidFill>
                <a:latin typeface="微软雅黑" panose="020B0503020204020204" pitchFamily="34" charset="-122"/>
                <a:ea typeface="微软雅黑" panose="020B0503020204020204" pitchFamily="34" charset="-122"/>
              </a:rPr>
              <a:t>04</a:t>
            </a:r>
            <a:endParaRPr lang="zh-CN" altLang="en-US" sz="7200" b="1" dirty="0">
              <a:solidFill>
                <a:srgbClr val="1F71A6"/>
              </a:solidFill>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7464399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a:solidFill>
                  <a:schemeClr val="tx1">
                    <a:lumMod val="75000"/>
                    <a:lumOff val="25000"/>
                  </a:schemeClr>
                </a:solidFill>
              </a:rPr>
              <a:t>社会效益</a:t>
            </a:r>
          </a:p>
        </p:txBody>
      </p:sp>
      <p:grpSp>
        <p:nvGrpSpPr>
          <p:cNvPr id="5" name="组合 4"/>
          <p:cNvGrpSpPr/>
          <p:nvPr/>
        </p:nvGrpSpPr>
        <p:grpSpPr>
          <a:xfrm>
            <a:off x="395536" y="1131590"/>
            <a:ext cx="8568952" cy="3311708"/>
            <a:chOff x="686410" y="1276266"/>
            <a:chExt cx="7555154" cy="2994027"/>
          </a:xfrm>
        </p:grpSpPr>
        <p:sp>
          <p:nvSpPr>
            <p:cNvPr id="6" name="任意多边形 5"/>
            <p:cNvSpPr/>
            <p:nvPr/>
          </p:nvSpPr>
          <p:spPr>
            <a:xfrm>
              <a:off x="686410" y="1276266"/>
              <a:ext cx="1709310" cy="683724"/>
            </a:xfrm>
            <a:custGeom>
              <a:avLst/>
              <a:gdLst>
                <a:gd name="connsiteX0" fmla="*/ 0 w 1709310"/>
                <a:gd name="connsiteY0" fmla="*/ 0 h 683724"/>
                <a:gd name="connsiteX1" fmla="*/ 1709310 w 1709310"/>
                <a:gd name="connsiteY1" fmla="*/ 0 h 683724"/>
                <a:gd name="connsiteX2" fmla="*/ 1709310 w 1709310"/>
                <a:gd name="connsiteY2" fmla="*/ 683724 h 683724"/>
                <a:gd name="connsiteX3" fmla="*/ 0 w 1709310"/>
                <a:gd name="connsiteY3" fmla="*/ 683724 h 683724"/>
                <a:gd name="connsiteX4" fmla="*/ 0 w 1709310"/>
                <a:gd name="connsiteY4" fmla="*/ 0 h 68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683724">
                  <a:moveTo>
                    <a:pt x="0" y="0"/>
                  </a:moveTo>
                  <a:lnTo>
                    <a:pt x="1709310" y="0"/>
                  </a:lnTo>
                  <a:lnTo>
                    <a:pt x="1709310" y="683724"/>
                  </a:lnTo>
                  <a:lnTo>
                    <a:pt x="0" y="6837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1400" b="1" kern="1200" dirty="0">
                  <a:latin typeface="微软雅黑" panose="020B0503020204020204" pitchFamily="34" charset="-122"/>
                  <a:ea typeface="微软雅黑" panose="020B0503020204020204" pitchFamily="34" charset="-122"/>
                </a:rPr>
                <a:t>解决基层专业设备和医生短缺</a:t>
              </a:r>
            </a:p>
          </p:txBody>
        </p:sp>
        <p:sp>
          <p:nvSpPr>
            <p:cNvPr id="7" name="任意多边形 6"/>
            <p:cNvSpPr/>
            <p:nvPr/>
          </p:nvSpPr>
          <p:spPr>
            <a:xfrm>
              <a:off x="686410" y="1959990"/>
              <a:ext cx="1709310" cy="2310303"/>
            </a:xfrm>
            <a:custGeom>
              <a:avLst/>
              <a:gdLst>
                <a:gd name="connsiteX0" fmla="*/ 0 w 1709310"/>
                <a:gd name="connsiteY0" fmla="*/ 0 h 2310303"/>
                <a:gd name="connsiteX1" fmla="*/ 1709310 w 1709310"/>
                <a:gd name="connsiteY1" fmla="*/ 0 h 2310303"/>
                <a:gd name="connsiteX2" fmla="*/ 1709310 w 1709310"/>
                <a:gd name="connsiteY2" fmla="*/ 2310303 h 2310303"/>
                <a:gd name="connsiteX3" fmla="*/ 0 w 1709310"/>
                <a:gd name="connsiteY3" fmla="*/ 2310303 h 2310303"/>
                <a:gd name="connsiteX4" fmla="*/ 0 w 1709310"/>
                <a:gd name="connsiteY4" fmla="*/ 0 h 23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2310303">
                  <a:moveTo>
                    <a:pt x="0" y="0"/>
                  </a:moveTo>
                  <a:lnTo>
                    <a:pt x="1709310" y="0"/>
                  </a:lnTo>
                  <a:lnTo>
                    <a:pt x="1709310" y="2310303"/>
                  </a:lnTo>
                  <a:lnTo>
                    <a:pt x="0" y="2310303"/>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150000"/>
                </a:lnSpc>
                <a:spcBef>
                  <a:spcPct val="0"/>
                </a:spcBef>
                <a:spcAft>
                  <a:spcPct val="15000"/>
                </a:spcAft>
                <a:buChar char="•"/>
              </a:pPr>
              <a:r>
                <a:rPr lang="zh-CN" altLang="en-US" sz="1000" kern="1200" dirty="0">
                  <a:latin typeface="微软雅黑" panose="020B0503020204020204" pitchFamily="34" charset="-122"/>
                  <a:ea typeface="微软雅黑" panose="020B0503020204020204" pitchFamily="34" charset="-122"/>
                </a:rPr>
                <a:t>通过为基层医疗机构配置心电设备，并对相关人员进行培训，补齐了基层医疗机构在心电图设备和专业医生方面的不足。</a:t>
              </a:r>
            </a:p>
          </p:txBody>
        </p:sp>
        <p:sp>
          <p:nvSpPr>
            <p:cNvPr id="8" name="任意多边形 7"/>
            <p:cNvSpPr/>
            <p:nvPr/>
          </p:nvSpPr>
          <p:spPr>
            <a:xfrm>
              <a:off x="2635025" y="1276266"/>
              <a:ext cx="1709310" cy="683724"/>
            </a:xfrm>
            <a:custGeom>
              <a:avLst/>
              <a:gdLst>
                <a:gd name="connsiteX0" fmla="*/ 0 w 1709310"/>
                <a:gd name="connsiteY0" fmla="*/ 0 h 683724"/>
                <a:gd name="connsiteX1" fmla="*/ 1709310 w 1709310"/>
                <a:gd name="connsiteY1" fmla="*/ 0 h 683724"/>
                <a:gd name="connsiteX2" fmla="*/ 1709310 w 1709310"/>
                <a:gd name="connsiteY2" fmla="*/ 683724 h 683724"/>
                <a:gd name="connsiteX3" fmla="*/ 0 w 1709310"/>
                <a:gd name="connsiteY3" fmla="*/ 683724 h 683724"/>
                <a:gd name="connsiteX4" fmla="*/ 0 w 1709310"/>
                <a:gd name="connsiteY4" fmla="*/ 0 h 68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683724">
                  <a:moveTo>
                    <a:pt x="0" y="0"/>
                  </a:moveTo>
                  <a:lnTo>
                    <a:pt x="1709310" y="0"/>
                  </a:lnTo>
                  <a:lnTo>
                    <a:pt x="1709310" y="683724"/>
                  </a:lnTo>
                  <a:lnTo>
                    <a:pt x="0" y="6837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1400" b="1" dirty="0">
                  <a:latin typeface="微软雅黑" panose="020B0503020204020204" pitchFamily="34" charset="-122"/>
                  <a:ea typeface="微软雅黑" panose="020B0503020204020204" pitchFamily="34" charset="-122"/>
                </a:rPr>
                <a:t>解决院前诊断不及时和不明确的问题</a:t>
              </a:r>
            </a:p>
          </p:txBody>
        </p:sp>
        <p:sp>
          <p:nvSpPr>
            <p:cNvPr id="9" name="任意多边形 8"/>
            <p:cNvSpPr/>
            <p:nvPr/>
          </p:nvSpPr>
          <p:spPr>
            <a:xfrm>
              <a:off x="2635025" y="1959990"/>
              <a:ext cx="1709310" cy="2310303"/>
            </a:xfrm>
            <a:custGeom>
              <a:avLst/>
              <a:gdLst>
                <a:gd name="connsiteX0" fmla="*/ 0 w 1709310"/>
                <a:gd name="connsiteY0" fmla="*/ 0 h 2310303"/>
                <a:gd name="connsiteX1" fmla="*/ 1709310 w 1709310"/>
                <a:gd name="connsiteY1" fmla="*/ 0 h 2310303"/>
                <a:gd name="connsiteX2" fmla="*/ 1709310 w 1709310"/>
                <a:gd name="connsiteY2" fmla="*/ 2310303 h 2310303"/>
                <a:gd name="connsiteX3" fmla="*/ 0 w 1709310"/>
                <a:gd name="connsiteY3" fmla="*/ 2310303 h 2310303"/>
                <a:gd name="connsiteX4" fmla="*/ 0 w 1709310"/>
                <a:gd name="connsiteY4" fmla="*/ 0 h 23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2310303">
                  <a:moveTo>
                    <a:pt x="0" y="0"/>
                  </a:moveTo>
                  <a:lnTo>
                    <a:pt x="1709310" y="0"/>
                  </a:lnTo>
                  <a:lnTo>
                    <a:pt x="1709310" y="2310303"/>
                  </a:lnTo>
                  <a:lnTo>
                    <a:pt x="0" y="2310303"/>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0" lvl="1" indent="-57150" algn="l" defTabSz="444500">
                <a:lnSpc>
                  <a:spcPct val="150000"/>
                </a:lnSpc>
                <a:spcBef>
                  <a:spcPct val="0"/>
                </a:spcBef>
                <a:spcAft>
                  <a:spcPts val="0"/>
                </a:spcAft>
                <a:buChar char="•"/>
              </a:pPr>
              <a:r>
                <a:rPr lang="zh-CN" altLang="en-US" sz="1000" kern="1200" dirty="0">
                  <a:latin typeface="微软雅黑" panose="020B0503020204020204" pitchFamily="34" charset="-122"/>
                  <a:ea typeface="微软雅黑" panose="020B0503020204020204" pitchFamily="34" charset="-122"/>
                </a:rPr>
                <a:t>心电网络系统通过实时传输系统，实现了上下级之间数据共享，使得“患者未到，信息先到”，心电图判读完全同质化，大大缩短了院前救治时间。</a:t>
              </a:r>
            </a:p>
          </p:txBody>
        </p:sp>
        <p:sp>
          <p:nvSpPr>
            <p:cNvPr id="10" name="任意多边形 9"/>
            <p:cNvSpPr/>
            <p:nvPr/>
          </p:nvSpPr>
          <p:spPr>
            <a:xfrm>
              <a:off x="4583639" y="1276266"/>
              <a:ext cx="1709310" cy="683724"/>
            </a:xfrm>
            <a:custGeom>
              <a:avLst/>
              <a:gdLst>
                <a:gd name="connsiteX0" fmla="*/ 0 w 1709310"/>
                <a:gd name="connsiteY0" fmla="*/ 0 h 683724"/>
                <a:gd name="connsiteX1" fmla="*/ 1709310 w 1709310"/>
                <a:gd name="connsiteY1" fmla="*/ 0 h 683724"/>
                <a:gd name="connsiteX2" fmla="*/ 1709310 w 1709310"/>
                <a:gd name="connsiteY2" fmla="*/ 683724 h 683724"/>
                <a:gd name="connsiteX3" fmla="*/ 0 w 1709310"/>
                <a:gd name="connsiteY3" fmla="*/ 683724 h 683724"/>
                <a:gd name="connsiteX4" fmla="*/ 0 w 1709310"/>
                <a:gd name="connsiteY4" fmla="*/ 0 h 68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683724">
                  <a:moveTo>
                    <a:pt x="0" y="0"/>
                  </a:moveTo>
                  <a:lnTo>
                    <a:pt x="1709310" y="0"/>
                  </a:lnTo>
                  <a:lnTo>
                    <a:pt x="1709310" y="683724"/>
                  </a:lnTo>
                  <a:lnTo>
                    <a:pt x="0" y="6837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1400" b="1" dirty="0">
                  <a:latin typeface="微软雅黑" panose="020B0503020204020204" pitchFamily="34" charset="-122"/>
                  <a:ea typeface="微软雅黑" panose="020B0503020204020204" pitchFamily="34" charset="-122"/>
                </a:rPr>
                <a:t>提高诊疗效率</a:t>
              </a:r>
            </a:p>
          </p:txBody>
        </p:sp>
        <p:sp>
          <p:nvSpPr>
            <p:cNvPr id="11" name="任意多边形 10"/>
            <p:cNvSpPr/>
            <p:nvPr/>
          </p:nvSpPr>
          <p:spPr>
            <a:xfrm>
              <a:off x="4583639" y="1959990"/>
              <a:ext cx="1709310" cy="2310303"/>
            </a:xfrm>
            <a:custGeom>
              <a:avLst/>
              <a:gdLst>
                <a:gd name="connsiteX0" fmla="*/ 0 w 1709310"/>
                <a:gd name="connsiteY0" fmla="*/ 0 h 2310303"/>
                <a:gd name="connsiteX1" fmla="*/ 1709310 w 1709310"/>
                <a:gd name="connsiteY1" fmla="*/ 0 h 2310303"/>
                <a:gd name="connsiteX2" fmla="*/ 1709310 w 1709310"/>
                <a:gd name="connsiteY2" fmla="*/ 2310303 h 2310303"/>
                <a:gd name="connsiteX3" fmla="*/ 0 w 1709310"/>
                <a:gd name="connsiteY3" fmla="*/ 2310303 h 2310303"/>
                <a:gd name="connsiteX4" fmla="*/ 0 w 1709310"/>
                <a:gd name="connsiteY4" fmla="*/ 0 h 23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2310303">
                  <a:moveTo>
                    <a:pt x="0" y="0"/>
                  </a:moveTo>
                  <a:lnTo>
                    <a:pt x="1709310" y="0"/>
                  </a:lnTo>
                  <a:lnTo>
                    <a:pt x="1709310" y="2310303"/>
                  </a:lnTo>
                  <a:lnTo>
                    <a:pt x="0" y="2310303"/>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150000"/>
                </a:lnSpc>
                <a:spcBef>
                  <a:spcPct val="0"/>
                </a:spcBef>
                <a:spcAft>
                  <a:spcPct val="15000"/>
                </a:spcAft>
                <a:buChar char="•"/>
              </a:pPr>
              <a:r>
                <a:rPr lang="zh-CN" altLang="en-US" sz="1000" kern="1200" dirty="0">
                  <a:latin typeface="微软雅黑" panose="020B0503020204020204" pitchFamily="34" charset="-122"/>
                  <a:ea typeface="微软雅黑" panose="020B0503020204020204" pitchFamily="34" charset="-122"/>
                </a:rPr>
                <a:t>心血管疾病疑似患者在</a:t>
              </a:r>
              <a:r>
                <a:rPr lang="zh-CN" altLang="en-US" sz="1000" dirty="0">
                  <a:latin typeface="微软雅黑" panose="020B0503020204020204" pitchFamily="34" charset="-122"/>
                  <a:ea typeface="微软雅黑" panose="020B0503020204020204" pitchFamily="34" charset="-122"/>
                  <a:sym typeface="+mn-ea"/>
                </a:rPr>
                <a:t>基层医疗机构</a:t>
              </a:r>
              <a:r>
                <a:rPr lang="zh-CN" altLang="en-US" sz="1000" kern="1200" dirty="0">
                  <a:latin typeface="微软雅黑" panose="020B0503020204020204" pitchFamily="34" charset="-122"/>
                  <a:ea typeface="微软雅黑" panose="020B0503020204020204" pitchFamily="34" charset="-122"/>
                </a:rPr>
                <a:t>第一时间就可以佩带心电监测设备，监测数据可上传至上级医院，上级医院远程心电中心在短时间内作出诊断并传回诊断报告，基层医疗机构根据回传信息，结合上级医院胸痛中心的指导作出相应诊疗处置，实现了“</a:t>
              </a:r>
              <a:r>
                <a:rPr lang="zh-CN" altLang="en-US" sz="1000" b="1" kern="1200" dirty="0">
                  <a:latin typeface="微软雅黑" panose="020B0503020204020204" pitchFamily="34" charset="-122"/>
                  <a:ea typeface="微软雅黑" panose="020B0503020204020204" pitchFamily="34" charset="-122"/>
                </a:rPr>
                <a:t>基层检查、上级诊断、精准救治</a:t>
              </a:r>
              <a:r>
                <a:rPr lang="zh-CN" altLang="en-US" sz="1000" kern="1200" dirty="0">
                  <a:latin typeface="微软雅黑" panose="020B0503020204020204" pitchFamily="34" charset="-122"/>
                  <a:ea typeface="微软雅黑" panose="020B0503020204020204" pitchFamily="34" charset="-122"/>
                </a:rPr>
                <a:t>”的高效医疗模式。</a:t>
              </a:r>
            </a:p>
          </p:txBody>
        </p:sp>
        <p:sp>
          <p:nvSpPr>
            <p:cNvPr id="12" name="任意多边形 11"/>
            <p:cNvSpPr/>
            <p:nvPr/>
          </p:nvSpPr>
          <p:spPr>
            <a:xfrm>
              <a:off x="6532254" y="1276266"/>
              <a:ext cx="1709310" cy="683724"/>
            </a:xfrm>
            <a:custGeom>
              <a:avLst/>
              <a:gdLst>
                <a:gd name="connsiteX0" fmla="*/ 0 w 1709310"/>
                <a:gd name="connsiteY0" fmla="*/ 0 h 683724"/>
                <a:gd name="connsiteX1" fmla="*/ 1709310 w 1709310"/>
                <a:gd name="connsiteY1" fmla="*/ 0 h 683724"/>
                <a:gd name="connsiteX2" fmla="*/ 1709310 w 1709310"/>
                <a:gd name="connsiteY2" fmla="*/ 683724 h 683724"/>
                <a:gd name="connsiteX3" fmla="*/ 0 w 1709310"/>
                <a:gd name="connsiteY3" fmla="*/ 683724 h 683724"/>
                <a:gd name="connsiteX4" fmla="*/ 0 w 1709310"/>
                <a:gd name="connsiteY4" fmla="*/ 0 h 683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683724">
                  <a:moveTo>
                    <a:pt x="0" y="0"/>
                  </a:moveTo>
                  <a:lnTo>
                    <a:pt x="1709310" y="0"/>
                  </a:lnTo>
                  <a:lnTo>
                    <a:pt x="1709310" y="683724"/>
                  </a:lnTo>
                  <a:lnTo>
                    <a:pt x="0" y="683724"/>
                  </a:lnTo>
                  <a:lnTo>
                    <a:pt x="0" y="0"/>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1120" tIns="40640" rIns="71120" bIns="40640" numCol="1" spcCol="1270" anchor="ctr" anchorCtr="0">
              <a:noAutofit/>
            </a:bodyPr>
            <a:lstStyle/>
            <a:p>
              <a:pPr lvl="0" algn="ctr" defTabSz="444500">
                <a:lnSpc>
                  <a:spcPct val="90000"/>
                </a:lnSpc>
                <a:spcBef>
                  <a:spcPct val="0"/>
                </a:spcBef>
                <a:spcAft>
                  <a:spcPct val="35000"/>
                </a:spcAft>
              </a:pPr>
              <a:r>
                <a:rPr lang="zh-CN" altLang="en-US" sz="1400" b="1" dirty="0">
                  <a:latin typeface="微软雅黑" panose="020B0503020204020204" pitchFamily="34" charset="-122"/>
                  <a:ea typeface="微软雅黑" panose="020B0503020204020204" pitchFamily="34" charset="-122"/>
                </a:rPr>
                <a:t>提升心血管疾病</a:t>
              </a:r>
              <a:endParaRPr lang="en-US" altLang="zh-CN" sz="1400" b="1" dirty="0">
                <a:latin typeface="微软雅黑" panose="020B0503020204020204" pitchFamily="34" charset="-122"/>
                <a:ea typeface="微软雅黑" panose="020B0503020204020204" pitchFamily="34" charset="-122"/>
              </a:endParaRPr>
            </a:p>
            <a:p>
              <a:pPr lvl="0" algn="ctr" defTabSz="444500">
                <a:lnSpc>
                  <a:spcPct val="90000"/>
                </a:lnSpc>
                <a:spcBef>
                  <a:spcPct val="0"/>
                </a:spcBef>
                <a:spcAft>
                  <a:spcPct val="35000"/>
                </a:spcAft>
              </a:pPr>
              <a:r>
                <a:rPr lang="zh-CN" altLang="en-US" sz="1400" b="1" dirty="0">
                  <a:latin typeface="微软雅黑" panose="020B0503020204020204" pitchFamily="34" charset="-122"/>
                  <a:ea typeface="微软雅黑" panose="020B0503020204020204" pitchFamily="34" charset="-122"/>
                </a:rPr>
                <a:t>防治能力</a:t>
              </a:r>
            </a:p>
          </p:txBody>
        </p:sp>
        <p:sp>
          <p:nvSpPr>
            <p:cNvPr id="13" name="任意多边形 12"/>
            <p:cNvSpPr/>
            <p:nvPr/>
          </p:nvSpPr>
          <p:spPr>
            <a:xfrm>
              <a:off x="6532254" y="1959990"/>
              <a:ext cx="1709310" cy="2310303"/>
            </a:xfrm>
            <a:custGeom>
              <a:avLst/>
              <a:gdLst>
                <a:gd name="connsiteX0" fmla="*/ 0 w 1709310"/>
                <a:gd name="connsiteY0" fmla="*/ 0 h 2310303"/>
                <a:gd name="connsiteX1" fmla="*/ 1709310 w 1709310"/>
                <a:gd name="connsiteY1" fmla="*/ 0 h 2310303"/>
                <a:gd name="connsiteX2" fmla="*/ 1709310 w 1709310"/>
                <a:gd name="connsiteY2" fmla="*/ 2310303 h 2310303"/>
                <a:gd name="connsiteX3" fmla="*/ 0 w 1709310"/>
                <a:gd name="connsiteY3" fmla="*/ 2310303 h 2310303"/>
                <a:gd name="connsiteX4" fmla="*/ 0 w 1709310"/>
                <a:gd name="connsiteY4" fmla="*/ 0 h 23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310" h="2310303">
                  <a:moveTo>
                    <a:pt x="0" y="0"/>
                  </a:moveTo>
                  <a:lnTo>
                    <a:pt x="1709310" y="0"/>
                  </a:lnTo>
                  <a:lnTo>
                    <a:pt x="1709310" y="2310303"/>
                  </a:lnTo>
                  <a:lnTo>
                    <a:pt x="0" y="2310303"/>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3340" tIns="53340" rIns="71120" bIns="80010" numCol="1" spcCol="1270" anchor="t" anchorCtr="0">
              <a:noAutofit/>
            </a:bodyPr>
            <a:lstStyle/>
            <a:p>
              <a:pPr marL="57150" lvl="1" indent="-57150" algn="l" defTabSz="444500">
                <a:lnSpc>
                  <a:spcPct val="150000"/>
                </a:lnSpc>
                <a:spcBef>
                  <a:spcPct val="0"/>
                </a:spcBef>
                <a:spcAft>
                  <a:spcPct val="15000"/>
                </a:spcAft>
                <a:buChar char="•"/>
              </a:pPr>
              <a:r>
                <a:rPr lang="zh-CN" altLang="en-US" sz="1000" kern="1200" dirty="0">
                  <a:latin typeface="微软雅黑" panose="020B0503020204020204" pitchFamily="34" charset="-122"/>
                  <a:ea typeface="微软雅黑" panose="020B0503020204020204" pitchFamily="34" charset="-122"/>
                </a:rPr>
                <a:t>让更多的百姓在家门口就能享受到优质便捷的服务。提升了心血管疾病的筛查、监测、预警、救治、康养等领域的防治能力</a:t>
              </a:r>
            </a:p>
          </p:txBody>
        </p:sp>
      </p:grpSp>
    </p:spTree>
    <p:extLst>
      <p:ext uri="{BB962C8B-B14F-4D97-AF65-F5344CB8AC3E}">
        <p14:creationId xmlns="" xmlns:p14="http://schemas.microsoft.com/office/powerpoint/2010/main" val="21589032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6479081" y="1955394"/>
            <a:ext cx="1826141" cy="584775"/>
          </a:xfrm>
          <a:prstGeom prst="rect">
            <a:avLst/>
          </a:prstGeom>
          <a:noFill/>
        </p:spPr>
        <p:txBody>
          <a:bodyPr wrap="none" rtlCol="0">
            <a:spAutoFit/>
          </a:bodyPr>
          <a:lstStyle/>
          <a:p>
            <a:r>
              <a:rPr lang="zh-CN" altLang="en-US" sz="3200" b="1" dirty="0">
                <a:solidFill>
                  <a:srgbClr val="196494"/>
                </a:solidFill>
                <a:latin typeface="微软雅黑" panose="020B0503020204020204" pitchFamily="34" charset="-122"/>
                <a:ea typeface="微软雅黑" panose="020B0503020204020204" pitchFamily="34" charset="-122"/>
              </a:rPr>
              <a:t>典型案例</a:t>
            </a:r>
          </a:p>
        </p:txBody>
      </p:sp>
      <p:sp>
        <p:nvSpPr>
          <p:cNvPr id="8" name="TextBox 7"/>
          <p:cNvSpPr txBox="1"/>
          <p:nvPr/>
        </p:nvSpPr>
        <p:spPr>
          <a:xfrm>
            <a:off x="1619672" y="1851670"/>
            <a:ext cx="4040530" cy="1200329"/>
          </a:xfrm>
          <a:prstGeom prst="rect">
            <a:avLst/>
          </a:prstGeom>
          <a:noFill/>
        </p:spPr>
        <p:txBody>
          <a:bodyPr wrap="none" rtlCol="0">
            <a:spAutoFit/>
          </a:bodyPr>
          <a:lstStyle/>
          <a:p>
            <a:r>
              <a:rPr lang="en-US" altLang="zh-CN" sz="7200" b="1" dirty="0">
                <a:solidFill>
                  <a:srgbClr val="1F71A6"/>
                </a:solidFill>
                <a:latin typeface="微软雅黑" panose="020B0503020204020204" pitchFamily="34" charset="-122"/>
                <a:ea typeface="微软雅黑" panose="020B0503020204020204" pitchFamily="34" charset="-122"/>
              </a:rPr>
              <a:t>PART</a:t>
            </a:r>
            <a:r>
              <a:rPr lang="en-US" altLang="zh-CN" sz="7200" b="1" dirty="0">
                <a:solidFill>
                  <a:schemeClr val="bg1">
                    <a:lumMod val="75000"/>
                  </a:schemeClr>
                </a:solidFill>
                <a:latin typeface="微软雅黑" panose="020B0503020204020204" pitchFamily="34" charset="-122"/>
                <a:ea typeface="微软雅黑" panose="020B0503020204020204" pitchFamily="34" charset="-122"/>
              </a:rPr>
              <a:t> </a:t>
            </a:r>
            <a:r>
              <a:rPr lang="en-US" altLang="zh-CN" sz="7200" b="1" dirty="0" smtClean="0">
                <a:solidFill>
                  <a:srgbClr val="1F71A6"/>
                </a:solidFill>
                <a:latin typeface="微软雅黑" panose="020B0503020204020204" pitchFamily="34" charset="-122"/>
                <a:ea typeface="微软雅黑" panose="020B0503020204020204" pitchFamily="34" charset="-122"/>
              </a:rPr>
              <a:t>05</a:t>
            </a:r>
            <a:endParaRPr lang="zh-CN" altLang="en-US" sz="7200" b="1" dirty="0">
              <a:solidFill>
                <a:srgbClr val="1F71A6"/>
              </a:solidFill>
              <a:latin typeface="微软雅黑" panose="020B0503020204020204" pitchFamily="34" charset="-122"/>
              <a:ea typeface="微软雅黑" panose="020B0503020204020204" pitchFamily="34" charset="-122"/>
            </a:endParaRPr>
          </a:p>
        </p:txBody>
      </p:sp>
    </p:spTree>
    <p:extLst>
      <p:ext uri="{BB962C8B-B14F-4D97-AF65-F5344CB8AC3E}">
        <p14:creationId xmlns="" xmlns:p14="http://schemas.microsoft.com/office/powerpoint/2010/main" val="18229558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a:xfrm>
            <a:off x="467544" y="123478"/>
            <a:ext cx="6480720" cy="720080"/>
          </a:xfrm>
        </p:spPr>
        <p:txBody>
          <a:bodyPr/>
          <a:lstStyle/>
          <a:p>
            <a:r>
              <a:rPr lang="zh-CN" altLang="en-US" dirty="0">
                <a:solidFill>
                  <a:schemeClr val="tx1">
                    <a:lumMod val="75000"/>
                    <a:lumOff val="25000"/>
                  </a:schemeClr>
                </a:solidFill>
              </a:rPr>
              <a:t>典型案例</a:t>
            </a:r>
            <a:r>
              <a:rPr lang="en-US" altLang="zh-CN" dirty="0">
                <a:solidFill>
                  <a:schemeClr val="tx1">
                    <a:lumMod val="75000"/>
                    <a:lumOff val="25000"/>
                  </a:schemeClr>
                </a:solidFill>
              </a:rPr>
              <a:t>——</a:t>
            </a:r>
            <a:r>
              <a:rPr lang="zh-CN" altLang="en-US" dirty="0">
                <a:solidFill>
                  <a:schemeClr val="tx1">
                    <a:lumMod val="75000"/>
                    <a:lumOff val="25000"/>
                  </a:schemeClr>
                </a:solidFill>
              </a:rPr>
              <a:t>阿里健康区域心电一张网</a:t>
            </a:r>
          </a:p>
        </p:txBody>
      </p:sp>
      <p:sp>
        <p:nvSpPr>
          <p:cNvPr id="11" name="矩形 10"/>
          <p:cNvSpPr/>
          <p:nvPr/>
        </p:nvSpPr>
        <p:spPr>
          <a:xfrm>
            <a:off x="456622" y="868835"/>
            <a:ext cx="8329604" cy="784830"/>
          </a:xfrm>
          <a:prstGeom prst="rect">
            <a:avLst/>
          </a:prstGeom>
        </p:spPr>
        <p:txBody>
          <a:bodyPr wrap="square">
            <a:spAutoFit/>
          </a:bodyPr>
          <a:lstStyle/>
          <a:p>
            <a:pPr>
              <a:lnSpc>
                <a:spcPct val="15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好络维联合阿里健康，助力“基层心血管星火计划”医疗健康公益项目，在全国区域建设心电网络，</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开展心电远程诊断、远程指导与在线教育培训，实现上级医院心电诊断资源向基层医疗机构下沉</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，帮助县域基层医院提升心血管疾病救治能力。</a:t>
            </a:r>
            <a:r>
              <a:rPr lang="zh-CN" altLang="zh-CN" sz="1000" b="1" dirty="0">
                <a:solidFill>
                  <a:schemeClr val="tx1">
                    <a:lumMod val="75000"/>
                    <a:lumOff val="25000"/>
                  </a:schemeClr>
                </a:solidFill>
                <a:latin typeface="微软雅黑" panose="020B0503020204020204" pitchFamily="34" charset="-122"/>
                <a:ea typeface="微软雅黑" panose="020B0503020204020204" pitchFamily="34" charset="-122"/>
              </a:rPr>
              <a:t>2023年</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5月开始启动平谷、阜平、寻乌三个县，</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共计</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40</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多个基层医疗机构，覆盖人口超</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100</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万，今年预计新增</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500</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个站点</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zh-CN" sz="1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矩形 11"/>
          <p:cNvSpPr/>
          <p:nvPr/>
        </p:nvSpPr>
        <p:spPr>
          <a:xfrm>
            <a:off x="4932039" y="3075295"/>
            <a:ext cx="3854187" cy="1060450"/>
          </a:xfrm>
          <a:prstGeom prst="rect">
            <a:avLst/>
          </a:prstGeom>
        </p:spPr>
        <p:txBody>
          <a:bodyPr wrap="square">
            <a:spAutoFit/>
          </a:bodyPr>
          <a:lstStyle/>
          <a:p>
            <a:pPr>
              <a:lnSpc>
                <a:spcPct val="15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本项目能及时识别患者早期心血管疾病风险，让乡镇医生第一</a:t>
            </a:r>
          </a:p>
          <a:p>
            <a:pPr>
              <a:lnSpc>
                <a:spcPct val="15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时间为患者提供县级诊断服务，采取适当治疗措施。此外，对</a:t>
            </a:r>
          </a:p>
          <a:p>
            <a:pPr>
              <a:lnSpc>
                <a:spcPct val="15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该区域</a:t>
            </a:r>
            <a:r>
              <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rPr>
              <a:t>40</a:t>
            </a: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多个机构的医生进行远程指导与在线教育培训，极大</a:t>
            </a:r>
          </a:p>
          <a:p>
            <a:pPr>
              <a:lnSpc>
                <a:spcPct val="150000"/>
              </a:lnSpc>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rPr>
              <a:t>地提升了县域基层医院的心血管疾病救治能力。</a:t>
            </a:r>
            <a:endParaRPr lang="zh-CN" altLang="zh-CN" sz="105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3" cstate="print">
            <a:extLst/>
          </a:blip>
          <a:stretch>
            <a:fillRect/>
          </a:stretch>
        </p:blipFill>
        <p:spPr>
          <a:xfrm>
            <a:off x="4996914" y="1847850"/>
            <a:ext cx="1591310" cy="1137920"/>
          </a:xfrm>
          <a:prstGeom prst="rect">
            <a:avLst/>
          </a:prstGeom>
        </p:spPr>
      </p:pic>
      <p:pic>
        <p:nvPicPr>
          <p:cNvPr id="14" name="图片 13"/>
          <p:cNvPicPr>
            <a:picLocks noChangeAspect="1"/>
          </p:cNvPicPr>
          <p:nvPr/>
        </p:nvPicPr>
        <p:blipFill>
          <a:blip r:embed="rId4" cstate="print">
            <a:extLst/>
          </a:blip>
          <a:stretch>
            <a:fillRect/>
          </a:stretch>
        </p:blipFill>
        <p:spPr>
          <a:xfrm>
            <a:off x="6732270" y="1848485"/>
            <a:ext cx="1763395" cy="1100455"/>
          </a:xfrm>
          <a:prstGeom prst="rect">
            <a:avLst/>
          </a:prstGeom>
        </p:spPr>
      </p:pic>
      <p:pic>
        <p:nvPicPr>
          <p:cNvPr id="15" name="图片 14"/>
          <p:cNvPicPr>
            <a:picLocks noChangeAspect="1"/>
          </p:cNvPicPr>
          <p:nvPr/>
        </p:nvPicPr>
        <p:blipFill>
          <a:blip r:embed="rId5" cstate="print"/>
          <a:stretch>
            <a:fillRect/>
          </a:stretch>
        </p:blipFill>
        <p:spPr>
          <a:xfrm>
            <a:off x="539552" y="1779662"/>
            <a:ext cx="4307891" cy="2304256"/>
          </a:xfrm>
          <a:prstGeom prst="rect">
            <a:avLst/>
          </a:prstGeom>
        </p:spPr>
      </p:pic>
    </p:spTree>
    <p:extLst>
      <p:ext uri="{BB962C8B-B14F-4D97-AF65-F5344CB8AC3E}">
        <p14:creationId xmlns="" xmlns:p14="http://schemas.microsoft.com/office/powerpoint/2010/main" val="369087600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456620" y="892811"/>
            <a:ext cx="8329605" cy="757643"/>
          </a:xfrm>
          <a:prstGeom prst="rect">
            <a:avLst/>
          </a:prstGeom>
        </p:spPr>
        <p:txBody>
          <a:bodyPr wrap="square">
            <a:spAutoFit/>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好络维承建的寻乌县医共体的“心电一张网”项目自</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2023</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年下半年启动以来，县人民医院通过这张网覆盖了下属</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19</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个基层医疗单位，在基层卫生院和县级医院之间搭建了一座协作联动的桥梁。通过县级医院提供动态心电图、动态血压和常规心电图等服务，能够确保基层卫生院患者可以迅速获得准确的诊断和治疗。</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 name="文本占位符 8"/>
          <p:cNvSpPr>
            <a:spLocks noGrp="1"/>
          </p:cNvSpPr>
          <p:nvPr>
            <p:ph type="body" sz="quarter" idx="13"/>
          </p:nvPr>
        </p:nvSpPr>
        <p:spPr/>
        <p:txBody>
          <a:bodyPr/>
          <a:lstStyle/>
          <a:p>
            <a:r>
              <a:rPr lang="zh-CN" altLang="en-US" dirty="0">
                <a:solidFill>
                  <a:schemeClr val="tx1">
                    <a:lumMod val="75000"/>
                    <a:lumOff val="25000"/>
                  </a:schemeClr>
                </a:solidFill>
              </a:rPr>
              <a:t>典型案例</a:t>
            </a:r>
            <a:r>
              <a:rPr lang="en-US" altLang="zh-CN" dirty="0">
                <a:solidFill>
                  <a:schemeClr val="tx1">
                    <a:lumMod val="75000"/>
                    <a:lumOff val="25000"/>
                  </a:schemeClr>
                </a:solidFill>
              </a:rPr>
              <a:t>——</a:t>
            </a:r>
            <a:r>
              <a:rPr lang="zh-CN" altLang="en-US" dirty="0">
                <a:solidFill>
                  <a:schemeClr val="tx1">
                    <a:lumMod val="75000"/>
                    <a:lumOff val="25000"/>
                  </a:schemeClr>
                </a:solidFill>
              </a:rPr>
              <a:t>寻乌县心电一张网</a:t>
            </a:r>
            <a:endParaRPr lang="zh-CN" altLang="en-US" dirty="0"/>
          </a:p>
        </p:txBody>
      </p:sp>
      <p:pic>
        <p:nvPicPr>
          <p:cNvPr id="3" name="图片 2"/>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39552" y="1923678"/>
            <a:ext cx="2987824" cy="1673648"/>
          </a:xfrm>
          <a:prstGeom prst="rect">
            <a:avLst/>
          </a:prstGeom>
        </p:spPr>
      </p:pic>
      <p:pic>
        <p:nvPicPr>
          <p:cNvPr id="5" name="图片 4"/>
          <p:cNvPicPr>
            <a:picLocks noChangeAspect="1"/>
          </p:cNvPicPr>
          <p:nvPr/>
        </p:nvPicPr>
        <p:blipFill rotWithShape="1">
          <a:blip r:embed="rId4" cstate="print">
            <a:extLst>
              <a:ext uri="{28A0092B-C50C-407E-A947-70E740481C1C}">
                <a14:useLocalDpi xmlns="" xmlns:a14="http://schemas.microsoft.com/office/drawing/2010/main" val="0"/>
              </a:ext>
            </a:extLst>
          </a:blip>
          <a:srcRect t="12032"/>
          <a:stretch>
            <a:fillRect/>
          </a:stretch>
        </p:blipFill>
        <p:spPr>
          <a:xfrm>
            <a:off x="3569233" y="1923678"/>
            <a:ext cx="2545085" cy="1673648"/>
          </a:xfrm>
          <a:prstGeom prst="rect">
            <a:avLst/>
          </a:prstGeom>
        </p:spPr>
      </p:pic>
      <p:pic>
        <p:nvPicPr>
          <p:cNvPr id="7" name="图片 6"/>
          <p:cNvPicPr>
            <a:picLocks noChangeAspect="1"/>
          </p:cNvPicPr>
          <p:nvPr/>
        </p:nvPicPr>
        <p:blipFill rotWithShape="1">
          <a:blip r:embed="rId5" cstate="print">
            <a:extLst>
              <a:ext uri="{28A0092B-C50C-407E-A947-70E740481C1C}">
                <a14:useLocalDpi xmlns="" xmlns:a14="http://schemas.microsoft.com/office/drawing/2010/main" val="0"/>
              </a:ext>
            </a:extLst>
          </a:blip>
          <a:srcRect l="6971" r="3522"/>
          <a:stretch>
            <a:fillRect/>
          </a:stretch>
        </p:blipFill>
        <p:spPr>
          <a:xfrm>
            <a:off x="6156175" y="1923678"/>
            <a:ext cx="2630050" cy="1674000"/>
          </a:xfrm>
          <a:prstGeom prst="rect">
            <a:avLst/>
          </a:prstGeom>
        </p:spPr>
      </p:pic>
      <p:sp>
        <p:nvSpPr>
          <p:cNvPr id="10" name="文本框 9"/>
          <p:cNvSpPr txBox="1"/>
          <p:nvPr/>
        </p:nvSpPr>
        <p:spPr>
          <a:xfrm>
            <a:off x="465205" y="3854412"/>
            <a:ext cx="8321019" cy="526811"/>
          </a:xfrm>
          <a:prstGeom prst="rect">
            <a:avLst/>
          </a:prstGeom>
          <a:noFill/>
        </p:spPr>
        <p:txBody>
          <a:bodyPr wrap="square">
            <a:spAutoFit/>
          </a:bodyPr>
          <a:lstStyle/>
          <a:p>
            <a:pPr>
              <a:lnSpc>
                <a:spcPct val="15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不到半年，该网络已经分析了超过千人次的心电图数据，极大地增强了医生的诊断准确性，并为优化诊疗流程和提高患者救治效率打下了坚实的基础。这一项目不仅提升了医疗服务的质量和效率，还为县域内心脏、心血管患者的健康提供了有力保障。</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4892267" y="1775901"/>
            <a:ext cx="3357469" cy="2093184"/>
          </a:xfrm>
          <a:prstGeom prst="rect">
            <a:avLst/>
          </a:prstGeom>
          <a:noFill/>
          <a:ln w="31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5" name="矩形 24"/>
          <p:cNvSpPr/>
          <p:nvPr/>
        </p:nvSpPr>
        <p:spPr>
          <a:xfrm>
            <a:off x="456620" y="892811"/>
            <a:ext cx="8329605" cy="526811"/>
          </a:xfrm>
          <a:prstGeom prst="rect">
            <a:avLst/>
          </a:prstGeom>
        </p:spPr>
        <p:txBody>
          <a:bodyPr wrap="square">
            <a:spAutoFit/>
          </a:bodyPr>
          <a:lstStyle/>
          <a:p>
            <a:pPr>
              <a:lnSpc>
                <a:spcPct val="150000"/>
              </a:lnSpc>
            </a:pP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2018年城阳区响应</a:t>
            </a:r>
            <a:r>
              <a:rPr lang="en-US" altLang="zh-CN" sz="1000" dirty="0" err="1">
                <a:solidFill>
                  <a:schemeClr val="tx1">
                    <a:lumMod val="85000"/>
                    <a:lumOff val="15000"/>
                  </a:schemeClr>
                </a:solidFill>
                <a:latin typeface="微软雅黑" panose="020B0503020204020204" pitchFamily="34" charset="-122"/>
                <a:ea typeface="微软雅黑" panose="020B0503020204020204" pitchFamily="34" charset="-122"/>
              </a:rPr>
              <a:t>政策要求，以心脑血管疾病作为“三高共管、三级协同”突破口</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由</a:t>
            </a:r>
            <a:r>
              <a:rPr lang="en-US" altLang="zh-CN" sz="1000" dirty="0" err="1">
                <a:solidFill>
                  <a:schemeClr val="tx1">
                    <a:lumMod val="85000"/>
                    <a:lumOff val="15000"/>
                  </a:schemeClr>
                </a:solidFill>
                <a:latin typeface="微软雅黑" panose="020B0503020204020204" pitchFamily="34" charset="-122"/>
                <a:ea typeface="微软雅黑" panose="020B0503020204020204" pitchFamily="34" charset="-122"/>
              </a:rPr>
              <a:t>城阳区人民医院牵头，建设区域心电中心项目试点</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sz="1000" dirty="0" err="1">
                <a:solidFill>
                  <a:schemeClr val="tx1">
                    <a:lumMod val="85000"/>
                    <a:lumOff val="15000"/>
                  </a:schemeClr>
                </a:solidFill>
                <a:latin typeface="微软雅黑" panose="020B0503020204020204" pitchFamily="34" charset="-122"/>
                <a:ea typeface="微软雅黑" panose="020B0503020204020204" pitchFamily="34" charset="-122"/>
              </a:rPr>
              <a:t>以推动优质医疗资源下沉至基层，提高区域医疗资源利用率，提高基层的诊疗水平</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 name="矩形 7"/>
          <p:cNvSpPr/>
          <p:nvPr/>
        </p:nvSpPr>
        <p:spPr>
          <a:xfrm>
            <a:off x="4788024" y="4018295"/>
            <a:ext cx="3744416" cy="707886"/>
          </a:xfrm>
          <a:prstGeom prst="rect">
            <a:avLst/>
          </a:prstGeom>
        </p:spPr>
        <p:txBody>
          <a:bodyPr wrap="square">
            <a:spAutoFit/>
          </a:bodyPr>
          <a:lstStyle/>
          <a:p>
            <a:pPr>
              <a:lnSpc>
                <a:spcPts val="1600"/>
              </a:lnSpc>
            </a:pP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2019年初，健共体</a:t>
            </a:r>
            <a:r>
              <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rPr>
              <a:t>180家</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基层医疗机构接入。</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2020年“</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三高</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共管”人群</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血压、血糖和血脂</a:t>
            </a:r>
            <a:r>
              <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rPr>
              <a:t>达标率较之前分别提高了</a:t>
            </a:r>
            <a:r>
              <a:rPr lang="en-US" altLang="zh-CN" sz="1000" b="1" dirty="0">
                <a:solidFill>
                  <a:schemeClr val="tx1">
                    <a:lumMod val="85000"/>
                    <a:lumOff val="15000"/>
                  </a:schemeClr>
                </a:solidFill>
                <a:latin typeface="微软雅黑" panose="020B0503020204020204" pitchFamily="34" charset="-122"/>
                <a:ea typeface="微软雅黑" panose="020B0503020204020204" pitchFamily="34" charset="-122"/>
              </a:rPr>
              <a:t>15.3%、6.2%和44.1%</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cstate="print">
            <a:extLst>
              <a:ext uri="{BEBA8EAE-BF5A-486C-A8C5-ECC9F3942E4B}">
                <a14:imgProps xmlns="" xmlns:a14="http://schemas.microsoft.com/office/drawing/2010/main">
                  <a14:imgLayer r:embed="rId4">
                    <a14:imgEffect>
                      <a14:brightnessContrast bright="20000"/>
                    </a14:imgEffect>
                  </a14:imgLayer>
                </a14:imgProps>
              </a:ext>
            </a:extLst>
          </a:blip>
          <a:stretch>
            <a:fillRect/>
          </a:stretch>
        </p:blipFill>
        <p:spPr>
          <a:xfrm>
            <a:off x="683568" y="1707654"/>
            <a:ext cx="1609541" cy="1184142"/>
          </a:xfrm>
          <a:prstGeom prst="roundRect">
            <a:avLst>
              <a:gd name="adj" fmla="val 8594"/>
            </a:avLst>
          </a:prstGeom>
          <a:solidFill>
            <a:srgbClr val="FFFFFF">
              <a:shade val="85000"/>
            </a:srgbClr>
          </a:solidFill>
          <a:ln>
            <a:noFill/>
          </a:ln>
          <a:effectLst/>
        </p:spPr>
      </p:pic>
      <p:pic>
        <p:nvPicPr>
          <p:cNvPr id="3" name="图片 2"/>
          <p:cNvPicPr>
            <a:picLocks noChangeAspect="1"/>
          </p:cNvPicPr>
          <p:nvPr/>
        </p:nvPicPr>
        <p:blipFill>
          <a:blip r:embed="rId5" cstate="print">
            <a:extLst>
              <a:ext uri="{BEBA8EAE-BF5A-486C-A8C5-ECC9F3942E4B}">
                <a14:imgProps xmlns="" xmlns:a14="http://schemas.microsoft.com/office/drawing/2010/main">
                  <a14:imgLayer r:embed="rId6">
                    <a14:imgEffect>
                      <a14:brightnessContrast bright="20000"/>
                    </a14:imgEffect>
                  </a14:imgLayer>
                </a14:imgProps>
              </a:ext>
            </a:extLst>
          </a:blip>
          <a:stretch>
            <a:fillRect/>
          </a:stretch>
        </p:blipFill>
        <p:spPr>
          <a:xfrm>
            <a:off x="2424436" y="1707654"/>
            <a:ext cx="1769302" cy="1184142"/>
          </a:xfrm>
          <a:prstGeom prst="roundRect">
            <a:avLst>
              <a:gd name="adj" fmla="val 8594"/>
            </a:avLst>
          </a:prstGeom>
          <a:solidFill>
            <a:srgbClr val="FFFFFF">
              <a:shade val="85000"/>
            </a:srgbClr>
          </a:solidFill>
          <a:ln>
            <a:noFill/>
          </a:ln>
          <a:effectLst/>
        </p:spPr>
      </p:pic>
      <p:pic>
        <p:nvPicPr>
          <p:cNvPr id="4" name="图片 3"/>
          <p:cNvPicPr>
            <a:picLocks noChangeAspect="1"/>
          </p:cNvPicPr>
          <p:nvPr/>
        </p:nvPicPr>
        <p:blipFill>
          <a:blip r:embed="rId7" cstate="print">
            <a:extLst>
              <a:ext uri="{BEBA8EAE-BF5A-486C-A8C5-ECC9F3942E4B}">
                <a14:imgProps xmlns="" xmlns:a14="http://schemas.microsoft.com/office/drawing/2010/main">
                  <a14:imgLayer r:embed="rId8">
                    <a14:imgEffect>
                      <a14:brightnessContrast bright="20000"/>
                    </a14:imgEffect>
                  </a14:imgLayer>
                </a14:imgProps>
              </a:ext>
            </a:extLst>
          </a:blip>
          <a:stretch>
            <a:fillRect/>
          </a:stretch>
        </p:blipFill>
        <p:spPr>
          <a:xfrm>
            <a:off x="699254" y="3079483"/>
            <a:ext cx="1603531" cy="1108457"/>
          </a:xfrm>
          <a:prstGeom prst="roundRect">
            <a:avLst>
              <a:gd name="adj" fmla="val 8594"/>
            </a:avLst>
          </a:prstGeom>
          <a:solidFill>
            <a:srgbClr val="FFFFFF">
              <a:shade val="85000"/>
            </a:srgbClr>
          </a:solidFill>
          <a:ln>
            <a:noFill/>
          </a:ln>
          <a:effectLst/>
        </p:spPr>
      </p:pic>
      <p:pic>
        <p:nvPicPr>
          <p:cNvPr id="6" name="图片 5"/>
          <p:cNvPicPr>
            <a:picLocks noChangeAspect="1"/>
          </p:cNvPicPr>
          <p:nvPr/>
        </p:nvPicPr>
        <p:blipFill>
          <a:blip r:embed="rId9" cstate="print">
            <a:extLst>
              <a:ext uri="{BEBA8EAE-BF5A-486C-A8C5-ECC9F3942E4B}">
                <a14:imgProps xmlns="" xmlns:a14="http://schemas.microsoft.com/office/drawing/2010/main">
                  <a14:imgLayer r:embed="rId10">
                    <a14:imgEffect>
                      <a14:brightnessContrast bright="20000"/>
                    </a14:imgEffect>
                  </a14:imgLayer>
                </a14:imgProps>
              </a:ext>
            </a:extLst>
          </a:blip>
          <a:stretch>
            <a:fillRect/>
          </a:stretch>
        </p:blipFill>
        <p:spPr>
          <a:xfrm>
            <a:off x="2431656" y="3077150"/>
            <a:ext cx="1769301" cy="1110790"/>
          </a:xfrm>
          <a:prstGeom prst="roundRect">
            <a:avLst>
              <a:gd name="adj" fmla="val 8594"/>
            </a:avLst>
          </a:prstGeom>
          <a:solidFill>
            <a:srgbClr val="FFFFFF">
              <a:shade val="85000"/>
            </a:srgbClr>
          </a:solidFill>
          <a:ln>
            <a:noFill/>
          </a:ln>
          <a:effectLst/>
        </p:spPr>
      </p:pic>
      <p:sp>
        <p:nvSpPr>
          <p:cNvPr id="7" name="矩形 6"/>
          <p:cNvSpPr/>
          <p:nvPr/>
        </p:nvSpPr>
        <p:spPr>
          <a:xfrm>
            <a:off x="6064710" y="2602476"/>
            <a:ext cx="1747650" cy="713016"/>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rPr>
              <a:t>心电等数据分析和诊断</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rPr>
              <a:t>个性化健康干预</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ts val="1600"/>
              </a:lnSpc>
              <a:buFont typeface="Arial" panose="020B0604020202020204" pitchFamily="34" charset="0"/>
              <a:buChar char="•"/>
            </a:pPr>
            <a:endPar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矩形 9"/>
          <p:cNvSpPr/>
          <p:nvPr/>
        </p:nvSpPr>
        <p:spPr>
          <a:xfrm>
            <a:off x="5185782" y="2224262"/>
            <a:ext cx="682362" cy="159462"/>
          </a:xfrm>
          <a:prstGeom prst="rect">
            <a:avLst/>
          </a:prstGeom>
          <a:solidFill>
            <a:srgbClr val="166191">
              <a:alpha val="50000"/>
            </a:srgbClr>
          </a:solidFill>
          <a:ln>
            <a:noFill/>
          </a:ln>
        </p:spPr>
        <p:style>
          <a:lnRef idx="0">
            <a:scrgbClr r="0" g="0" b="0"/>
          </a:lnRef>
          <a:fillRef idx="0">
            <a:scrgbClr r="0" g="0" b="0"/>
          </a:fillRef>
          <a:effectRef idx="0">
            <a:scrgbClr r="0" g="0" b="0"/>
          </a:effectRef>
          <a:fontRef idx="minor">
            <a:schemeClr val="lt1"/>
          </a:fontRef>
        </p:style>
        <p:txBody>
          <a:bodyPr wrap="none" lIns="18000" tIns="18000" rIns="18000" bIns="18000">
            <a:spAutoFit/>
          </a:bodyPr>
          <a:lstStyle/>
          <a:p>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三高</a:t>
            </a:r>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 </a:t>
            </a:r>
            <a:r>
              <a:rPr lang="zh-CN" altLang="en-US" sz="800" dirty="0">
                <a:latin typeface="微软雅黑" panose="020B0503020204020204" pitchFamily="34" charset="-122"/>
                <a:ea typeface="微软雅黑" panose="020B0503020204020204" pitchFamily="34" charset="-122"/>
              </a:rPr>
              <a:t>中心</a:t>
            </a:r>
          </a:p>
        </p:txBody>
      </p:sp>
      <p:sp>
        <p:nvSpPr>
          <p:cNvPr id="11" name="矩形 10"/>
          <p:cNvSpPr/>
          <p:nvPr/>
        </p:nvSpPr>
        <p:spPr>
          <a:xfrm>
            <a:off x="6075076" y="1983614"/>
            <a:ext cx="1806075" cy="507831"/>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动态心电</a:t>
            </a:r>
            <a:r>
              <a:rPr lang="en-US" altLang="zh-CN" sz="900" dirty="0" err="1">
                <a:solidFill>
                  <a:schemeClr val="tx1">
                    <a:lumMod val="75000"/>
                    <a:lumOff val="25000"/>
                  </a:schemeClr>
                </a:solidFill>
                <a:latin typeface="微软雅黑" panose="020B0503020204020204" pitchFamily="34" charset="-122"/>
                <a:ea typeface="微软雅黑" panose="020B0503020204020204" pitchFamily="34" charset="-122"/>
              </a:rPr>
              <a:t>分析</a:t>
            </a: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、解读</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en-US" altLang="zh-CN" sz="900" dirty="0" err="1">
                <a:solidFill>
                  <a:schemeClr val="tx1">
                    <a:lumMod val="75000"/>
                    <a:lumOff val="25000"/>
                  </a:schemeClr>
                </a:solidFill>
                <a:latin typeface="微软雅黑" panose="020B0503020204020204" pitchFamily="34" charset="-122"/>
                <a:ea typeface="微软雅黑" panose="020B0503020204020204" pitchFamily="34" charset="-122"/>
              </a:rPr>
              <a:t>健康干预</a:t>
            </a:r>
            <a:endPar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矩形 23"/>
          <p:cNvSpPr/>
          <p:nvPr/>
        </p:nvSpPr>
        <p:spPr>
          <a:xfrm>
            <a:off x="6074032" y="3310362"/>
            <a:ext cx="1083425" cy="297517"/>
          </a:xfrm>
          <a:prstGeom prst="rect">
            <a:avLst/>
          </a:prstGeom>
        </p:spPr>
        <p:txBody>
          <a:bodyPr wrap="square">
            <a:spAutoFit/>
          </a:bodyPr>
          <a:lstStyle/>
          <a:p>
            <a:pPr marL="171450" indent="-171450">
              <a:lnSpc>
                <a:spcPts val="1600"/>
              </a:lnSpc>
              <a:buFont typeface="Arial" panose="020B0604020202020204" pitchFamily="34" charset="0"/>
              <a:buChar char="•"/>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rPr>
              <a:t>心电</a:t>
            </a:r>
            <a:r>
              <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rPr>
              <a:t>数据采集</a:t>
            </a:r>
          </a:p>
        </p:txBody>
      </p:sp>
      <p:pic>
        <p:nvPicPr>
          <p:cNvPr id="12" name="图片 11"/>
          <p:cNvPicPr>
            <a:picLocks noChangeAspect="1"/>
          </p:cNvPicPr>
          <p:nvPr/>
        </p:nvPicPr>
        <p:blipFill>
          <a:blip r:embed="rId11" cstate="print">
            <a:extLst>
              <a:ext uri="{28A0092B-C50C-407E-A947-70E740481C1C}">
                <a14:useLocalDpi xmlns="" xmlns:a14="http://schemas.microsoft.com/office/drawing/2010/main" val="0"/>
              </a:ext>
            </a:extLst>
          </a:blip>
          <a:stretch>
            <a:fillRect/>
          </a:stretch>
        </p:blipFill>
        <p:spPr>
          <a:xfrm>
            <a:off x="5382348" y="2536623"/>
            <a:ext cx="306025" cy="306025"/>
          </a:xfrm>
          <a:prstGeom prst="rect">
            <a:avLst/>
          </a:prstGeom>
        </p:spPr>
      </p:pic>
      <p:pic>
        <p:nvPicPr>
          <p:cNvPr id="13" name="图片 12"/>
          <p:cNvPicPr>
            <a:picLocks noChangeAspect="1"/>
          </p:cNvPicPr>
          <p:nvPr/>
        </p:nvPicPr>
        <p:blipFill>
          <a:blip r:embed="rId12" cstate="print">
            <a:extLst>
              <a:ext uri="{28A0092B-C50C-407E-A947-70E740481C1C}">
                <a14:useLocalDpi xmlns="" xmlns:a14="http://schemas.microsoft.com/office/drawing/2010/main" val="0"/>
              </a:ext>
            </a:extLst>
          </a:blip>
          <a:stretch>
            <a:fillRect/>
          </a:stretch>
        </p:blipFill>
        <p:spPr>
          <a:xfrm>
            <a:off x="5410091" y="1970287"/>
            <a:ext cx="296400" cy="240000"/>
          </a:xfrm>
          <a:prstGeom prst="rect">
            <a:avLst/>
          </a:prstGeom>
        </p:spPr>
      </p:pic>
      <p:pic>
        <p:nvPicPr>
          <p:cNvPr id="14" name="图片 13"/>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5180461" y="3201013"/>
            <a:ext cx="238892" cy="238892"/>
          </a:xfrm>
          <a:prstGeom prst="rect">
            <a:avLst/>
          </a:prstGeom>
        </p:spPr>
      </p:pic>
      <p:pic>
        <p:nvPicPr>
          <p:cNvPr id="26" name="图片 25"/>
          <p:cNvPicPr>
            <a:picLocks noChangeAspect="1"/>
          </p:cNvPicPr>
          <p:nvPr/>
        </p:nvPicPr>
        <p:blipFill>
          <a:blip r:embed="rId14" cstate="print">
            <a:extLst>
              <a:ext uri="{28A0092B-C50C-407E-A947-70E740481C1C}">
                <a14:useLocalDpi xmlns="" xmlns:a14="http://schemas.microsoft.com/office/drawing/2010/main" val="0"/>
              </a:ext>
            </a:extLst>
          </a:blip>
          <a:stretch>
            <a:fillRect/>
          </a:stretch>
        </p:blipFill>
        <p:spPr>
          <a:xfrm>
            <a:off x="5652120" y="3207532"/>
            <a:ext cx="232373" cy="232373"/>
          </a:xfrm>
          <a:prstGeom prst="rect">
            <a:avLst/>
          </a:prstGeom>
        </p:spPr>
      </p:pic>
      <p:sp>
        <p:nvSpPr>
          <p:cNvPr id="27" name="矩形 26"/>
          <p:cNvSpPr/>
          <p:nvPr/>
        </p:nvSpPr>
        <p:spPr>
          <a:xfrm>
            <a:off x="5193086" y="2830066"/>
            <a:ext cx="682362" cy="159462"/>
          </a:xfrm>
          <a:prstGeom prst="rect">
            <a:avLst/>
          </a:prstGeom>
          <a:solidFill>
            <a:srgbClr val="166191">
              <a:alpha val="50000"/>
            </a:srgbClr>
          </a:solidFill>
          <a:ln>
            <a:noFill/>
          </a:ln>
        </p:spPr>
        <p:style>
          <a:lnRef idx="0">
            <a:scrgbClr r="0" g="0" b="0"/>
          </a:lnRef>
          <a:fillRef idx="0">
            <a:scrgbClr r="0" g="0" b="0"/>
          </a:fillRef>
          <a:effectRef idx="0">
            <a:scrgbClr r="0" g="0" b="0"/>
          </a:effectRef>
          <a:fontRef idx="minor">
            <a:schemeClr val="lt1"/>
          </a:fontRef>
        </p:style>
        <p:txBody>
          <a:bodyPr wrap="none" lIns="18000" tIns="18000" rIns="18000" bIns="18000">
            <a:spAutoFit/>
          </a:bodyPr>
          <a:lstStyle/>
          <a:p>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三高</a:t>
            </a:r>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 </a:t>
            </a:r>
            <a:r>
              <a:rPr lang="zh-CN" altLang="en-US" sz="800" dirty="0">
                <a:latin typeface="微软雅黑" panose="020B0503020204020204" pitchFamily="34" charset="-122"/>
                <a:ea typeface="微软雅黑" panose="020B0503020204020204" pitchFamily="34" charset="-122"/>
              </a:rPr>
              <a:t>基地</a:t>
            </a:r>
          </a:p>
        </p:txBody>
      </p:sp>
      <p:sp>
        <p:nvSpPr>
          <p:cNvPr id="28" name="矩形 27"/>
          <p:cNvSpPr/>
          <p:nvPr/>
        </p:nvSpPr>
        <p:spPr>
          <a:xfrm>
            <a:off x="5193086" y="3472172"/>
            <a:ext cx="682362" cy="159462"/>
          </a:xfrm>
          <a:prstGeom prst="rect">
            <a:avLst/>
          </a:prstGeom>
          <a:solidFill>
            <a:srgbClr val="166191">
              <a:alpha val="50000"/>
            </a:srgbClr>
          </a:solidFill>
          <a:ln>
            <a:noFill/>
          </a:ln>
        </p:spPr>
        <p:style>
          <a:lnRef idx="0">
            <a:scrgbClr r="0" g="0" b="0"/>
          </a:lnRef>
          <a:fillRef idx="0">
            <a:scrgbClr r="0" g="0" b="0"/>
          </a:fillRef>
          <a:effectRef idx="0">
            <a:scrgbClr r="0" g="0" b="0"/>
          </a:effectRef>
          <a:fontRef idx="minor">
            <a:schemeClr val="lt1"/>
          </a:fontRef>
        </p:style>
        <p:txBody>
          <a:bodyPr wrap="none" lIns="18000" tIns="18000" rIns="18000" bIns="18000">
            <a:spAutoFit/>
          </a:bodyPr>
          <a:lstStyle/>
          <a:p>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三高</a:t>
            </a:r>
            <a:r>
              <a:rPr lang="zh-CN" altLang="en-US" sz="800" dirty="0">
                <a:latin typeface="微软雅黑" panose="020B0503020204020204" pitchFamily="34" charset="-122"/>
                <a:ea typeface="微软雅黑" panose="020B0503020204020204" pitchFamily="34" charset="-122"/>
              </a:rPr>
              <a:t>”</a:t>
            </a:r>
            <a:r>
              <a:rPr lang="zh-CN" altLang="zh-CN" sz="800" dirty="0">
                <a:latin typeface="微软雅黑" panose="020B0503020204020204" pitchFamily="34" charset="-122"/>
                <a:ea typeface="微软雅黑" panose="020B0503020204020204" pitchFamily="34" charset="-122"/>
              </a:rPr>
              <a:t> </a:t>
            </a:r>
            <a:r>
              <a:rPr lang="zh-CN" altLang="en-US" sz="800" dirty="0">
                <a:latin typeface="微软雅黑" panose="020B0503020204020204" pitchFamily="34" charset="-122"/>
                <a:ea typeface="微软雅黑" panose="020B0503020204020204" pitchFamily="34" charset="-122"/>
              </a:rPr>
              <a:t>之家</a:t>
            </a:r>
          </a:p>
        </p:txBody>
      </p:sp>
      <p:sp>
        <p:nvSpPr>
          <p:cNvPr id="16" name="上箭头 15"/>
          <p:cNvSpPr/>
          <p:nvPr/>
        </p:nvSpPr>
        <p:spPr>
          <a:xfrm>
            <a:off x="5484881" y="2423623"/>
            <a:ext cx="84106" cy="73190"/>
          </a:xfrm>
          <a:prstGeom prst="upArrow">
            <a:avLst/>
          </a:prstGeom>
          <a:solidFill>
            <a:srgbClr val="73A2BF"/>
          </a:solidFill>
          <a:ln>
            <a:solidFill>
              <a:srgbClr val="73A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0" name="上箭头 29"/>
          <p:cNvSpPr/>
          <p:nvPr/>
        </p:nvSpPr>
        <p:spPr>
          <a:xfrm>
            <a:off x="5467057" y="3058585"/>
            <a:ext cx="84106" cy="73190"/>
          </a:xfrm>
          <a:prstGeom prst="upArrow">
            <a:avLst/>
          </a:prstGeom>
          <a:solidFill>
            <a:srgbClr val="73A2BF"/>
          </a:solidFill>
          <a:ln>
            <a:solidFill>
              <a:srgbClr val="73A2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 name="文本占位符 8"/>
          <p:cNvSpPr>
            <a:spLocks noGrp="1"/>
          </p:cNvSpPr>
          <p:nvPr>
            <p:ph type="body" sz="quarter" idx="13"/>
          </p:nvPr>
        </p:nvSpPr>
        <p:spPr/>
        <p:txBody>
          <a:bodyPr/>
          <a:lstStyle/>
          <a:p>
            <a:r>
              <a:rPr lang="zh-CN" altLang="en-US" dirty="0">
                <a:solidFill>
                  <a:schemeClr val="tx1">
                    <a:lumMod val="75000"/>
                    <a:lumOff val="25000"/>
                  </a:schemeClr>
                </a:solidFill>
              </a:rPr>
              <a:t>典型案例</a:t>
            </a:r>
            <a:r>
              <a:rPr lang="en-US" altLang="zh-CN" dirty="0">
                <a:solidFill>
                  <a:schemeClr val="tx1">
                    <a:lumMod val="75000"/>
                    <a:lumOff val="25000"/>
                  </a:schemeClr>
                </a:solidFill>
              </a:rPr>
              <a:t>——</a:t>
            </a:r>
            <a:r>
              <a:rPr lang="zh-CN" altLang="en-US" dirty="0">
                <a:solidFill>
                  <a:schemeClr val="tx1">
                    <a:lumMod val="75000"/>
                    <a:lumOff val="25000"/>
                  </a:schemeClr>
                </a:solidFill>
              </a:rPr>
              <a:t>青岛城阳区域心电一张网</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456620" y="892811"/>
            <a:ext cx="8329605" cy="988476"/>
          </a:xfrm>
          <a:prstGeom prst="rect">
            <a:avLst/>
          </a:prstGeom>
        </p:spPr>
        <p:txBody>
          <a:bodyPr wrap="square">
            <a:spAutoFit/>
          </a:bodyPr>
          <a:lstStyle/>
          <a:p>
            <a:pPr>
              <a:lnSpc>
                <a:spcPct val="150000"/>
              </a:lnSpc>
            </a:pP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2024</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5</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25</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日好络维携手北京市通州区北苑街道办事处和北苑小学，共同启动“心健一张网”青少年心理疏导项目，用科技和专业守护每一位青少年的心灵健康。此项目是集专业性、系统性、创新性于一体的心理健康服务项目，以“心健一张网”为核心理念，通过构建全方位、多层次的心理疏导网络，为青少年提供全面、及时、有效的心理支持。预计</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月份完成</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个学校、</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个社区的筛查工作。</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50000"/>
              </a:lnSpc>
            </a:pP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9" name="文本占位符 8"/>
          <p:cNvSpPr>
            <a:spLocks noGrp="1"/>
          </p:cNvSpPr>
          <p:nvPr>
            <p:ph type="body" sz="quarter" idx="13"/>
          </p:nvPr>
        </p:nvSpPr>
        <p:spPr/>
        <p:txBody>
          <a:bodyPr/>
          <a:lstStyle/>
          <a:p>
            <a:r>
              <a:rPr lang="zh-CN" altLang="en-US" dirty="0">
                <a:solidFill>
                  <a:schemeClr val="tx1">
                    <a:lumMod val="75000"/>
                    <a:lumOff val="25000"/>
                  </a:schemeClr>
                </a:solidFill>
              </a:rPr>
              <a:t>典型案例</a:t>
            </a:r>
            <a:r>
              <a:rPr lang="en-US" altLang="zh-CN" dirty="0">
                <a:solidFill>
                  <a:schemeClr val="tx1">
                    <a:lumMod val="75000"/>
                    <a:lumOff val="25000"/>
                  </a:schemeClr>
                </a:solidFill>
              </a:rPr>
              <a:t>——</a:t>
            </a:r>
            <a:r>
              <a:rPr lang="zh-CN" altLang="en-US" dirty="0">
                <a:solidFill>
                  <a:schemeClr val="tx1">
                    <a:lumMod val="75000"/>
                    <a:lumOff val="25000"/>
                  </a:schemeClr>
                </a:solidFill>
              </a:rPr>
              <a:t>北京通州北苑街道“心健一张网”</a:t>
            </a:r>
            <a:endParaRPr lang="zh-CN" altLang="en-US" dirty="0"/>
          </a:p>
        </p:txBody>
      </p:sp>
      <p:pic>
        <p:nvPicPr>
          <p:cNvPr id="5" name="图片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539553" y="1835471"/>
            <a:ext cx="1903824" cy="1426743"/>
          </a:xfrm>
          <a:prstGeom prst="rect">
            <a:avLst/>
          </a:prstGeom>
        </p:spPr>
      </p:pic>
      <p:pic>
        <p:nvPicPr>
          <p:cNvPr id="7" name="图片 6"/>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537031" y="3378398"/>
            <a:ext cx="1901301" cy="1425600"/>
          </a:xfrm>
          <a:prstGeom prst="rect">
            <a:avLst/>
          </a:prstGeom>
        </p:spPr>
      </p:pic>
      <p:sp>
        <p:nvSpPr>
          <p:cNvPr id="8" name="矩形 7"/>
          <p:cNvSpPr/>
          <p:nvPr/>
        </p:nvSpPr>
        <p:spPr>
          <a:xfrm>
            <a:off x="6950000" y="1912789"/>
            <a:ext cx="1837961" cy="1938992"/>
          </a:xfrm>
          <a:prstGeom prst="rect">
            <a:avLst/>
          </a:prstGeom>
        </p:spPr>
        <p:txBody>
          <a:bodyPr wrap="square">
            <a:spAutoFit/>
          </a:bodyPr>
          <a:lstStyle/>
          <a:p>
            <a:pPr>
              <a:lnSpc>
                <a:spcPts val="1600"/>
              </a:lnSpc>
            </a:pPr>
            <a:r>
              <a:rPr lang="zh-CN" altLang="en-US" sz="1000" dirty="0" smtClean="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 </a:t>
            </a:r>
            <a:r>
              <a:rPr lang="zh-CN" altLang="en-US" sz="1000" dirty="0" smtClean="0">
                <a:solidFill>
                  <a:schemeClr val="tx1">
                    <a:lumMod val="85000"/>
                    <a:lumOff val="15000"/>
                  </a:schemeClr>
                </a:solidFill>
                <a:latin typeface="微软雅黑" panose="020B0503020204020204" pitchFamily="34" charset="-122"/>
                <a:ea typeface="微软雅黑" panose="020B0503020204020204" pitchFamily="34" charset="-122"/>
              </a:rPr>
              <a:t>关注</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社会心理健康，推进社区心理服务，是社区治理维稳的基石</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r>
              <a:rPr lang="zh-CN" altLang="en-US" sz="1000" dirty="0" smtClean="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 </a:t>
            </a:r>
            <a:r>
              <a:rPr lang="zh-CN" altLang="en-US" sz="1000" dirty="0" smtClean="0">
                <a:solidFill>
                  <a:schemeClr val="tx1">
                    <a:lumMod val="85000"/>
                    <a:lumOff val="15000"/>
                  </a:schemeClr>
                </a:solidFill>
                <a:latin typeface="微软雅黑" panose="020B0503020204020204" pitchFamily="34" charset="-122"/>
                <a:ea typeface="微软雅黑" panose="020B0503020204020204" pitchFamily="34" charset="-122"/>
              </a:rPr>
              <a:t>一</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小一老身心健康是民生的重点关注话题</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ts val="1600"/>
              </a:lnSpc>
            </a:pPr>
            <a:r>
              <a:rPr lang="zh-CN" altLang="en-US" sz="1000" dirty="0" smtClean="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 简便</a:t>
            </a:r>
            <a:r>
              <a:rPr lang="zh-CN" altLang="en-US" sz="1000" dirty="0">
                <a:solidFill>
                  <a:schemeClr val="tx1">
                    <a:lumMod val="85000"/>
                    <a:lumOff val="15000"/>
                  </a:schemeClr>
                </a:solidFill>
                <a:latin typeface="Arial" panose="020B0604020202020204" pitchFamily="34" charset="0"/>
                <a:ea typeface="微软雅黑" panose="020B0503020204020204" pitchFamily="34" charset="-122"/>
                <a:cs typeface="Arial" panose="020B0604020202020204" pitchFamily="34" charset="0"/>
              </a:rPr>
              <a:t>、专业、科学、高效、智能</a:t>
            </a:r>
            <a:endParaRPr lang="zh-CN"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2514085" y="1835471"/>
            <a:ext cx="2107337" cy="2978909"/>
          </a:xfrm>
          <a:prstGeom prst="rect">
            <a:avLst/>
          </a:prstGeom>
        </p:spPr>
      </p:pic>
      <p:pic>
        <p:nvPicPr>
          <p:cNvPr id="13" name="图片 12"/>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4692130" y="1835471"/>
            <a:ext cx="2109969" cy="2980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095934" y="960856"/>
            <a:ext cx="3179102" cy="1692771"/>
          </a:xfrm>
          <a:prstGeom prst="rect">
            <a:avLst/>
          </a:prstGeom>
        </p:spPr>
        <p:txBody>
          <a:bodyPr wrap="square">
            <a:spAutoFit/>
          </a:bodyPr>
          <a:lstStyle/>
          <a:p>
            <a:pPr>
              <a:lnSpc>
                <a:spcPct val="13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固始县健康泉智慧医疗实现了县域内患者就近就医、家门口就可以享受县级专家的医疗服务，通过信息化手段实现了优质医疗资源下沉。</a:t>
            </a:r>
            <a:endPar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endParaRPr>
          </a:p>
          <a:p>
            <a:pPr>
              <a:lnSpc>
                <a:spcPct val="130000"/>
              </a:lnSpc>
            </a:pP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截止</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2021</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9</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月，纳入健康泉智慧医疗系统管理重点人群</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248133</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人，共监测心电图</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46926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条，血压测量</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80205</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条，慢性病随访</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9926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次。县四家远程会诊中心共接收远程会诊分中心提供疑难会诊</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746</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例，远程会诊</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3398</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例，确认各类疾病</a:t>
            </a:r>
            <a:r>
              <a:rPr lang="en-US" altLang="zh-CN" sz="1000" dirty="0">
                <a:solidFill>
                  <a:schemeClr val="tx1">
                    <a:lumMod val="85000"/>
                    <a:lumOff val="15000"/>
                  </a:schemeClr>
                </a:solidFill>
                <a:latin typeface="微软雅黑" panose="020B0503020204020204" pitchFamily="34" charset="-122"/>
                <a:ea typeface="微软雅黑" panose="020B0503020204020204" pitchFamily="34" charset="-122"/>
              </a:rPr>
              <a:t>2670</a:t>
            </a:r>
            <a:r>
              <a:rPr lang="zh-CN" altLang="en-US" sz="1000" dirty="0">
                <a:solidFill>
                  <a:schemeClr val="tx1">
                    <a:lumMod val="85000"/>
                    <a:lumOff val="15000"/>
                  </a:schemeClr>
                </a:solidFill>
                <a:latin typeface="微软雅黑" panose="020B0503020204020204" pitchFamily="34" charset="-122"/>
                <a:ea typeface="微软雅黑" panose="020B0503020204020204" pitchFamily="34" charset="-122"/>
              </a:rPr>
              <a:t>例。</a:t>
            </a:r>
          </a:p>
        </p:txBody>
      </p:sp>
      <p:pic>
        <p:nvPicPr>
          <p:cNvPr id="7" name="图片 6"/>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67544" y="1089409"/>
            <a:ext cx="4386649" cy="3312368"/>
          </a:xfrm>
          <a:prstGeom prst="rect">
            <a:avLst/>
          </a:prstGeom>
        </p:spPr>
      </p:pic>
      <p:pic>
        <p:nvPicPr>
          <p:cNvPr id="9" name="图片 8"/>
          <p:cNvPicPr>
            <a:picLocks noChangeAspect="1"/>
          </p:cNvPicPr>
          <p:nvPr/>
        </p:nvPicPr>
        <p:blipFill rotWithShape="1">
          <a:blip r:embed="rId4" cstate="print">
            <a:extLst>
              <a:ext uri="{BEBA8EAE-BF5A-486C-A8C5-ECC9F3942E4B}">
                <a14:imgProps xmlns="" xmlns:a14="http://schemas.microsoft.com/office/drawing/2010/main">
                  <a14:imgLayer r:embed="rId5">
                    <a14:imgEffect>
                      <a14:brightnessContrast bright="20000" contrast="-20000"/>
                    </a14:imgEffect>
                  </a14:imgLayer>
                </a14:imgProps>
              </a:ext>
              <a:ext uri="{28A0092B-C50C-407E-A947-70E740481C1C}">
                <a14:useLocalDpi xmlns="" xmlns:a14="http://schemas.microsoft.com/office/drawing/2010/main" val="0"/>
              </a:ext>
            </a:extLst>
          </a:blip>
          <a:srcRect t="37400" b="24127"/>
          <a:stretch>
            <a:fillRect/>
          </a:stretch>
        </p:blipFill>
        <p:spPr>
          <a:xfrm>
            <a:off x="5436159" y="2730437"/>
            <a:ext cx="1352089" cy="9062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文本占位符 2"/>
          <p:cNvSpPr>
            <a:spLocks noGrp="1"/>
          </p:cNvSpPr>
          <p:nvPr>
            <p:ph type="body" sz="quarter" idx="13"/>
          </p:nvPr>
        </p:nvSpPr>
        <p:spPr/>
        <p:txBody>
          <a:bodyPr/>
          <a:lstStyle/>
          <a:p>
            <a:r>
              <a:rPr lang="zh-CN" altLang="en-US" dirty="0">
                <a:solidFill>
                  <a:schemeClr val="tx1">
                    <a:lumMod val="75000"/>
                    <a:lumOff val="25000"/>
                  </a:schemeClr>
                </a:solidFill>
              </a:rPr>
              <a:t>典型案例</a:t>
            </a:r>
            <a:r>
              <a:rPr lang="en-US" altLang="zh-CN" dirty="0">
                <a:solidFill>
                  <a:schemeClr val="tx1">
                    <a:lumMod val="75000"/>
                    <a:lumOff val="25000"/>
                  </a:schemeClr>
                </a:solidFill>
              </a:rPr>
              <a:t>——</a:t>
            </a:r>
            <a:r>
              <a:rPr lang="zh-CN" altLang="en-US" dirty="0">
                <a:solidFill>
                  <a:schemeClr val="tx1">
                    <a:lumMod val="75000"/>
                    <a:lumOff val="25000"/>
                  </a:schemeClr>
                </a:solidFill>
              </a:rPr>
              <a:t>固始区域心电一体化平台</a:t>
            </a:r>
          </a:p>
        </p:txBody>
      </p:sp>
      <p:pic>
        <p:nvPicPr>
          <p:cNvPr id="8" name="图片 7"/>
          <p:cNvPicPr>
            <a:picLocks noChangeAspect="1"/>
          </p:cNvPicPr>
          <p:nvPr/>
        </p:nvPicPr>
        <p:blipFill>
          <a:blip r:embed="rId6" cstate="print">
            <a:extLst>
              <a:ext uri="{BEBA8EAE-BF5A-486C-A8C5-ECC9F3942E4B}">
                <a14:imgProps xmlns="" xmlns:a14="http://schemas.microsoft.com/office/drawing/2010/main">
                  <a14:imgLayer r:embed="rId7">
                    <a14:imgEffect>
                      <a14:brightnessContrast bright="20000" contrast="-20000"/>
                    </a14:imgEffect>
                  </a14:imgLayer>
                </a14:imgProps>
              </a:ext>
            </a:extLst>
          </a:blip>
          <a:stretch>
            <a:fillRect/>
          </a:stretch>
        </p:blipFill>
        <p:spPr>
          <a:xfrm>
            <a:off x="6876256" y="2745593"/>
            <a:ext cx="1108288" cy="17818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图片 9"/>
          <p:cNvPicPr>
            <a:picLocks noChangeAspect="1"/>
          </p:cNvPicPr>
          <p:nvPr/>
        </p:nvPicPr>
        <p:blipFill>
          <a:blip r:embed="rId8" cstate="print"/>
          <a:stretch>
            <a:fillRect/>
          </a:stretch>
        </p:blipFill>
        <p:spPr>
          <a:xfrm>
            <a:off x="5436159" y="3693777"/>
            <a:ext cx="1344712" cy="8336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3"/>
          </p:nvPr>
        </p:nvSpPr>
        <p:spPr/>
        <p:txBody>
          <a:bodyPr/>
          <a:lstStyle/>
          <a:p>
            <a:r>
              <a:rPr lang="zh-CN" altLang="en-US" dirty="0">
                <a:solidFill>
                  <a:schemeClr val="tx1">
                    <a:lumMod val="75000"/>
                    <a:lumOff val="25000"/>
                  </a:schemeClr>
                </a:solidFill>
              </a:rPr>
              <a:t>典型案例</a:t>
            </a:r>
            <a:r>
              <a:rPr lang="en-US" altLang="zh-CN" dirty="0">
                <a:solidFill>
                  <a:schemeClr val="tx1">
                    <a:lumMod val="75000"/>
                    <a:lumOff val="25000"/>
                  </a:schemeClr>
                </a:solidFill>
              </a:rPr>
              <a:t>——</a:t>
            </a:r>
            <a:r>
              <a:rPr lang="zh-CN" altLang="en-US" dirty="0">
                <a:solidFill>
                  <a:schemeClr val="tx1">
                    <a:lumMod val="75000"/>
                    <a:lumOff val="25000"/>
                  </a:schemeClr>
                </a:solidFill>
              </a:rPr>
              <a:t>兰州区域心电项目</a:t>
            </a:r>
          </a:p>
        </p:txBody>
      </p:sp>
      <p:sp>
        <p:nvSpPr>
          <p:cNvPr id="3" name="文本框 2"/>
          <p:cNvSpPr txBox="1"/>
          <p:nvPr/>
        </p:nvSpPr>
        <p:spPr>
          <a:xfrm>
            <a:off x="180472" y="744183"/>
            <a:ext cx="8843301" cy="790922"/>
          </a:xfrm>
          <a:prstGeom prst="rect">
            <a:avLst/>
          </a:prstGeom>
          <a:noFill/>
        </p:spPr>
        <p:txBody>
          <a:bodyPr wrap="square" rtlCol="0">
            <a:spAutoFit/>
          </a:bodyPr>
          <a:lstStyle/>
          <a:p>
            <a:pPr>
              <a:lnSpc>
                <a:spcPct val="150000"/>
              </a:lnSpc>
            </a:pPr>
            <a:r>
              <a:rPr lang="zh-CN" altLang="en-US"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全国第五个、西北地区第一个国家级新区</a:t>
            </a:r>
            <a:r>
              <a:rPr lang="en-US" altLang="zh-CN"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兰州新区</a:t>
            </a:r>
            <a:r>
              <a:rPr lang="zh-CN" altLang="en-US"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的区域心电项目</a:t>
            </a:r>
            <a:r>
              <a:rPr lang="zh-CN" altLang="zh-CN"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覆盖了卫生局管辖范围的所有医疗卫生机构，网络以医疗专用网络为基础，以卫生信息中心为中心节点，各医疗卫生机构为分支的星型结构。</a:t>
            </a:r>
            <a:r>
              <a:rPr lang="zh-CN" altLang="en-US" sz="1050" kern="100" dirty="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以兰州新区第一人民医院为上级医院，秦川卫生院、中川镇卫生院等卫生服务中心辐射兰州新区全域，实现整个兰州新区心电网络系统的区域化建设，同时完成对接自有心电设备及理邦等第三方心电设备</a:t>
            </a:r>
            <a:r>
              <a:rPr lang="zh-CN" altLang="en-US" sz="1050" kern="100" dirty="0" smtClean="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050" kern="100" dirty="0" smtClean="0">
              <a:solidFill>
                <a:schemeClr val="tx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142170" y="1719410"/>
            <a:ext cx="8787062" cy="3280919"/>
            <a:chOff x="-202124" y="1610178"/>
            <a:chExt cx="9476501" cy="3538342"/>
          </a:xfrm>
        </p:grpSpPr>
        <p:sp>
          <p:nvSpPr>
            <p:cNvPr id="2" name="圆角矩形 1"/>
            <p:cNvSpPr/>
            <p:nvPr/>
          </p:nvSpPr>
          <p:spPr>
            <a:xfrm>
              <a:off x="4428181" y="2877775"/>
              <a:ext cx="2430899" cy="1711168"/>
            </a:xfrm>
            <a:prstGeom prst="roundRect">
              <a:avLst>
                <a:gd name="adj" fmla="val 4457"/>
              </a:avLst>
            </a:prstGeom>
            <a:noFill/>
            <a:ln w="9525">
              <a:solidFill>
                <a:schemeClr val="accent2"/>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21" name="右箭头标注 4"/>
            <p:cNvSpPr/>
            <p:nvPr/>
          </p:nvSpPr>
          <p:spPr>
            <a:xfrm>
              <a:off x="8442426" y="1610653"/>
              <a:ext cx="228555" cy="3396353"/>
            </a:xfrm>
            <a:prstGeom prst="rightArrowCallout">
              <a:avLst/>
            </a:prstGeom>
          </p:spPr>
          <p:style>
            <a:lnRef idx="1">
              <a:schemeClr val="accent4"/>
            </a:lnRef>
            <a:fillRef idx="2">
              <a:schemeClr val="accent4"/>
            </a:fillRef>
            <a:effectRef idx="1">
              <a:schemeClr val="accent4"/>
            </a:effectRef>
            <a:fontRef idx="minor">
              <a:schemeClr val="dk1"/>
            </a:fontRef>
          </p:style>
          <p:txBody>
            <a:bodyPr anchor="ctr"/>
            <a:lstStyle/>
            <a:p>
              <a:pPr algn="ctr"/>
              <a:endParaRPr lang="zh-CN" altLang="en-US" sz="1050" noProof="1">
                <a:latin typeface="微软雅黑" panose="020B0503020204020204" pitchFamily="34" charset="-122"/>
                <a:ea typeface="微软雅黑" panose="020B0503020204020204" pitchFamily="34" charset="-122"/>
              </a:endParaRPr>
            </a:p>
          </p:txBody>
        </p:sp>
        <p:sp>
          <p:nvSpPr>
            <p:cNvPr id="23" name="文本框 22"/>
            <p:cNvSpPr txBox="1"/>
            <p:nvPr/>
          </p:nvSpPr>
          <p:spPr>
            <a:xfrm>
              <a:off x="1454041" y="4634948"/>
              <a:ext cx="723275" cy="219071"/>
            </a:xfrm>
            <a:prstGeom prst="rect">
              <a:avLst/>
            </a:prstGeom>
            <a:solidFill>
              <a:srgbClr val="0587CE"/>
            </a:solidFill>
          </p:spPr>
          <p:txBody>
            <a:bodyPr wrap="square" rtlCol="0">
              <a:spAutoFit/>
            </a:bodyPr>
            <a:lstStyle>
              <a:defPPr>
                <a:defRPr lang="zh-CN"/>
              </a:defPPr>
              <a:lvl1pPr algn="ctr">
                <a:lnSpc>
                  <a:spcPct val="90000"/>
                </a:lnSpc>
                <a:defRPr sz="1050" b="1">
                  <a:solidFill>
                    <a:srgbClr val="FFFFFF"/>
                  </a:solidFill>
                  <a:latin typeface="微软雅黑" panose="020B0503020204020204" pitchFamily="34" charset="-122"/>
                  <a:ea typeface="微软雅黑" panose="020B0503020204020204" pitchFamily="34" charset="-122"/>
                </a:defRPr>
              </a:lvl1pPr>
            </a:lstStyle>
            <a:p>
              <a:r>
                <a:rPr lang="zh-CN" altLang="en-US" sz="800" dirty="0">
                  <a:latin typeface="微软雅黑" panose="020B0503020204020204" pitchFamily="34" charset="-122"/>
                  <a:ea typeface="微软雅黑" panose="020B0503020204020204" pitchFamily="34" charset="-122"/>
                </a:rPr>
                <a:t>数据输入</a:t>
              </a:r>
            </a:p>
          </p:txBody>
        </p:sp>
        <p:sp>
          <p:nvSpPr>
            <p:cNvPr id="24" name="文本框 23"/>
            <p:cNvSpPr txBox="1"/>
            <p:nvPr/>
          </p:nvSpPr>
          <p:spPr>
            <a:xfrm>
              <a:off x="3174647" y="4634948"/>
              <a:ext cx="1127232" cy="219071"/>
            </a:xfrm>
            <a:prstGeom prst="rect">
              <a:avLst/>
            </a:prstGeom>
            <a:solidFill>
              <a:srgbClr val="0587CE"/>
            </a:solidFill>
          </p:spPr>
          <p:txBody>
            <a:bodyPr wrap="square" rtlCol="0">
              <a:spAutoFit/>
            </a:bodyPr>
            <a:lstStyle>
              <a:defPPr>
                <a:defRPr lang="zh-CN"/>
              </a:defPPr>
              <a:lvl1pPr algn="ctr">
                <a:lnSpc>
                  <a:spcPct val="90000"/>
                </a:lnSpc>
                <a:defRPr sz="1050" b="1">
                  <a:solidFill>
                    <a:srgbClr val="FFFFFF"/>
                  </a:solidFill>
                  <a:latin typeface="微软雅黑" panose="020B0503020204020204" pitchFamily="34" charset="-122"/>
                  <a:ea typeface="微软雅黑" panose="020B0503020204020204" pitchFamily="34" charset="-122"/>
                </a:defRPr>
              </a:lvl1pPr>
            </a:lstStyle>
            <a:p>
              <a:r>
                <a:rPr lang="zh-CN" altLang="en-US" sz="800" dirty="0">
                  <a:latin typeface="微软雅黑" panose="020B0503020204020204" pitchFamily="34" charset="-122"/>
                  <a:ea typeface="微软雅黑" panose="020B0503020204020204" pitchFamily="34" charset="-122"/>
                </a:rPr>
                <a:t>数据处理与分析</a:t>
              </a:r>
            </a:p>
          </p:txBody>
        </p:sp>
        <p:sp>
          <p:nvSpPr>
            <p:cNvPr id="25" name="文本框 24"/>
            <p:cNvSpPr txBox="1"/>
            <p:nvPr/>
          </p:nvSpPr>
          <p:spPr>
            <a:xfrm>
              <a:off x="7415974" y="4634948"/>
              <a:ext cx="723275" cy="219071"/>
            </a:xfrm>
            <a:prstGeom prst="rect">
              <a:avLst/>
            </a:prstGeom>
            <a:solidFill>
              <a:srgbClr val="0587CE"/>
            </a:solidFill>
          </p:spPr>
          <p:txBody>
            <a:bodyPr wrap="square" rtlCol="0">
              <a:spAutoFit/>
            </a:bodyPr>
            <a:lstStyle>
              <a:defPPr>
                <a:defRPr lang="zh-CN"/>
              </a:defPPr>
              <a:lvl1pPr algn="ctr">
                <a:lnSpc>
                  <a:spcPct val="90000"/>
                </a:lnSpc>
                <a:defRPr sz="1050" b="1">
                  <a:solidFill>
                    <a:srgbClr val="FFFFFF"/>
                  </a:solidFill>
                  <a:latin typeface="微软雅黑" panose="020B0503020204020204" pitchFamily="34" charset="-122"/>
                  <a:ea typeface="微软雅黑" panose="020B0503020204020204" pitchFamily="34" charset="-122"/>
                </a:defRPr>
              </a:lvl1pPr>
            </a:lstStyle>
            <a:p>
              <a:r>
                <a:rPr lang="zh-CN" altLang="en-US" sz="800" dirty="0">
                  <a:latin typeface="微软雅黑" panose="020B0503020204020204" pitchFamily="34" charset="-122"/>
                  <a:ea typeface="微软雅黑" panose="020B0503020204020204" pitchFamily="34" charset="-122"/>
                </a:rPr>
                <a:t>方案输出</a:t>
              </a:r>
            </a:p>
          </p:txBody>
        </p:sp>
        <p:sp>
          <p:nvSpPr>
            <p:cNvPr id="28" name="文本框 27"/>
            <p:cNvSpPr txBox="1"/>
            <p:nvPr/>
          </p:nvSpPr>
          <p:spPr>
            <a:xfrm>
              <a:off x="7128940" y="4874682"/>
              <a:ext cx="1506109" cy="273838"/>
            </a:xfrm>
            <a:prstGeom prst="rect">
              <a:avLst/>
            </a:prstGeom>
            <a:noFill/>
          </p:spPr>
          <p:txBody>
            <a:bodyPr wrap="none" rtlCol="0">
              <a:spAutoFit/>
            </a:bodyPr>
            <a:lstStyle/>
            <a:p>
              <a:r>
                <a:rPr kumimoji="1" lang="zh-CN" altLang="en-US" sz="1050" dirty="0">
                  <a:latin typeface="微软雅黑" panose="020B0503020204020204" pitchFamily="34" charset="-122"/>
                  <a:ea typeface="微软雅黑" panose="020B0503020204020204" pitchFamily="34" charset="-122"/>
                </a:rPr>
                <a:t>全人群健康指导方案</a:t>
              </a:r>
              <a:endParaRPr kumimoji="1" lang="en-US" altLang="zh-CN" sz="1050" dirty="0">
                <a:latin typeface="微软雅黑" panose="020B0503020204020204" pitchFamily="34" charset="-122"/>
                <a:ea typeface="微软雅黑" panose="020B0503020204020204" pitchFamily="34" charset="-122"/>
              </a:endParaRPr>
            </a:p>
          </p:txBody>
        </p:sp>
        <p:sp>
          <p:nvSpPr>
            <p:cNvPr id="30" name="文本框 29"/>
            <p:cNvSpPr txBox="1"/>
            <p:nvPr/>
          </p:nvSpPr>
          <p:spPr>
            <a:xfrm>
              <a:off x="-202124" y="3252937"/>
              <a:ext cx="807737" cy="273838"/>
            </a:xfrm>
            <a:prstGeom prst="rect">
              <a:avLst/>
            </a:prstGeom>
            <a:noFill/>
          </p:spPr>
          <p:txBody>
            <a:bodyPr wrap="square">
              <a:spAutoFit/>
              <a:scene3d>
                <a:camera prst="orthographicFront"/>
                <a:lightRig rig="threePt" dir="t"/>
              </a:scene3d>
            </a:bodyPr>
            <a:lstStyle/>
            <a:p>
              <a:pPr algn="ctr"/>
              <a:r>
                <a:rPr lang="zh-CN" altLang="en-US" sz="1050" noProof="1">
                  <a:ln w="22225">
                    <a:solidFill>
                      <a:schemeClr val="accent2"/>
                    </a:solidFill>
                    <a:prstDash val="solid"/>
                  </a:ln>
                  <a:solidFill>
                    <a:schemeClr val="accent2">
                      <a:lumMod val="40000"/>
                      <a:lumOff val="60000"/>
                    </a:schemeClr>
                  </a:solidFill>
                  <a:latin typeface="微软雅黑" panose="020B0503020204020204" pitchFamily="34" charset="-122"/>
                  <a:ea typeface="微软雅黑" panose="020B0503020204020204" pitchFamily="34" charset="-122"/>
                </a:rPr>
                <a:t>用户</a:t>
              </a:r>
            </a:p>
          </p:txBody>
        </p:sp>
        <p:cxnSp>
          <p:nvCxnSpPr>
            <p:cNvPr id="39" name="连接符: 肘形 23"/>
            <p:cNvCxnSpPr/>
            <p:nvPr/>
          </p:nvCxnSpPr>
          <p:spPr>
            <a:xfrm>
              <a:off x="514711" y="3006567"/>
              <a:ext cx="881539" cy="1133951"/>
            </a:xfrm>
            <a:prstGeom prst="bentConnector3">
              <a:avLst>
                <a:gd name="adj1" fmla="val 50027"/>
              </a:avLst>
            </a:prstGeom>
            <a:ln cap="rnd">
              <a:solidFill>
                <a:srgbClr val="0072FF"/>
              </a:solidFill>
              <a:round/>
              <a:tailEnd type="triangle"/>
            </a:ln>
          </p:spPr>
          <p:style>
            <a:lnRef idx="2">
              <a:schemeClr val="accent1"/>
            </a:lnRef>
            <a:fillRef idx="0">
              <a:schemeClr val="accent1"/>
            </a:fillRef>
            <a:effectRef idx="1">
              <a:schemeClr val="accent1"/>
            </a:effectRef>
            <a:fontRef idx="minor">
              <a:schemeClr val="tx1"/>
            </a:fontRef>
          </p:style>
        </p:cxnSp>
        <p:cxnSp>
          <p:nvCxnSpPr>
            <p:cNvPr id="53" name="连接符: 肘形 31"/>
            <p:cNvCxnSpPr/>
            <p:nvPr/>
          </p:nvCxnSpPr>
          <p:spPr>
            <a:xfrm flipV="1">
              <a:off x="514711" y="1963579"/>
              <a:ext cx="872490" cy="1042988"/>
            </a:xfrm>
            <a:prstGeom prst="bentConnector3">
              <a:avLst>
                <a:gd name="adj1" fmla="val 50000"/>
              </a:avLst>
            </a:prstGeom>
            <a:ln cap="rnd">
              <a:solidFill>
                <a:srgbClr val="0072FF"/>
              </a:solidFill>
              <a:tailEnd type="triangle"/>
            </a:ln>
          </p:spPr>
          <p:style>
            <a:lnRef idx="2">
              <a:schemeClr val="accent1"/>
            </a:lnRef>
            <a:fillRef idx="0">
              <a:schemeClr val="accent1"/>
            </a:fillRef>
            <a:effectRef idx="1">
              <a:schemeClr val="accent1"/>
            </a:effectRef>
            <a:fontRef idx="minor">
              <a:schemeClr val="tx1"/>
            </a:fontRef>
          </p:style>
        </p:cxnSp>
        <p:cxnSp>
          <p:nvCxnSpPr>
            <p:cNvPr id="56" name="直接连接符 55"/>
            <p:cNvCxnSpPr/>
            <p:nvPr/>
          </p:nvCxnSpPr>
          <p:spPr>
            <a:xfrm>
              <a:off x="7000811" y="1637638"/>
              <a:ext cx="0" cy="3046378"/>
            </a:xfrm>
            <a:prstGeom prst="line">
              <a:avLst/>
            </a:prstGeom>
            <a:ln>
              <a:solidFill>
                <a:srgbClr val="0072FF"/>
              </a:solidFill>
              <a:prstDash val="sysDash"/>
            </a:ln>
          </p:spPr>
          <p:style>
            <a:lnRef idx="2">
              <a:schemeClr val="accent1"/>
            </a:lnRef>
            <a:fillRef idx="0">
              <a:schemeClr val="accent1"/>
            </a:fillRef>
            <a:effectRef idx="1">
              <a:schemeClr val="accent1"/>
            </a:effectRef>
            <a:fontRef idx="minor">
              <a:schemeClr val="tx1"/>
            </a:fontRef>
          </p:style>
        </p:cxnSp>
        <p:cxnSp>
          <p:nvCxnSpPr>
            <p:cNvPr id="57" name="直接连接符 56"/>
            <p:cNvCxnSpPr/>
            <p:nvPr/>
          </p:nvCxnSpPr>
          <p:spPr>
            <a:xfrm>
              <a:off x="2514963" y="1664043"/>
              <a:ext cx="0" cy="3046378"/>
            </a:xfrm>
            <a:prstGeom prst="line">
              <a:avLst/>
            </a:prstGeom>
            <a:ln>
              <a:solidFill>
                <a:srgbClr val="0072FF"/>
              </a:solidFill>
              <a:prstDash val="sysDash"/>
            </a:ln>
          </p:spPr>
          <p:style>
            <a:lnRef idx="2">
              <a:schemeClr val="accent1"/>
            </a:lnRef>
            <a:fillRef idx="0">
              <a:schemeClr val="accent1"/>
            </a:fillRef>
            <a:effectRef idx="1">
              <a:schemeClr val="accent1"/>
            </a:effectRef>
            <a:fontRef idx="minor">
              <a:schemeClr val="tx1"/>
            </a:fontRef>
          </p:style>
        </p:cxnSp>
        <p:pic>
          <p:nvPicPr>
            <p:cNvPr id="60" name="图片 59"/>
            <p:cNvPicPr>
              <a:picLocks noChangeAspect="1"/>
            </p:cNvPicPr>
            <p:nvPr/>
          </p:nvPicPr>
          <p:blipFill>
            <a:blip r:embed="rId3" cstate="print"/>
            <a:stretch>
              <a:fillRect/>
            </a:stretch>
          </p:blipFill>
          <p:spPr>
            <a:xfrm>
              <a:off x="3494" y="2803043"/>
              <a:ext cx="438122" cy="411114"/>
            </a:xfrm>
            <a:prstGeom prst="rect">
              <a:avLst/>
            </a:prstGeom>
          </p:spPr>
        </p:pic>
        <p:sp>
          <p:nvSpPr>
            <p:cNvPr id="62" name="文本框 61"/>
            <p:cNvSpPr txBox="1"/>
            <p:nvPr/>
          </p:nvSpPr>
          <p:spPr>
            <a:xfrm>
              <a:off x="1426954" y="2439389"/>
              <a:ext cx="788624" cy="547676"/>
            </a:xfrm>
            <a:prstGeom prst="rect">
              <a:avLst/>
            </a:prstGeom>
            <a:noFill/>
          </p:spPr>
          <p:txBody>
            <a:bodyPr wrap="square" rtlCol="0">
              <a:spAutoFit/>
            </a:bodyPr>
            <a:lstStyle/>
            <a:p>
              <a:pPr>
                <a:lnSpc>
                  <a:spcPct val="150000"/>
                </a:lnSpc>
              </a:pP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体检数据</a:t>
              </a:r>
              <a:endPar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健康数据</a:t>
              </a:r>
              <a:endPar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64" name="图片 6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1278363" y="1696764"/>
              <a:ext cx="889988" cy="920944"/>
            </a:xfrm>
            <a:prstGeom prst="rect">
              <a:avLst/>
            </a:prstGeom>
          </p:spPr>
        </p:pic>
        <p:sp>
          <p:nvSpPr>
            <p:cNvPr id="65" name="文本框 64"/>
            <p:cNvSpPr txBox="1"/>
            <p:nvPr/>
          </p:nvSpPr>
          <p:spPr>
            <a:xfrm>
              <a:off x="1332572" y="4195147"/>
              <a:ext cx="655692" cy="298733"/>
            </a:xfrm>
            <a:prstGeom prst="rect">
              <a:avLst/>
            </a:prstGeom>
            <a:noFill/>
          </p:spPr>
          <p:txBody>
            <a:bodyPr wrap="square" rtlCol="0">
              <a:spAutoFit/>
            </a:bodyPr>
            <a:lstStyle/>
            <a:p>
              <a:pPr algn="ctr"/>
              <a:r>
                <a:rPr lang="zh-CN" altLang="en-US" sz="600" dirty="0">
                  <a:latin typeface="微软雅黑" panose="020B0503020204020204" pitchFamily="34" charset="-122"/>
                  <a:ea typeface="微软雅黑" panose="020B0503020204020204" pitchFamily="34" charset="-122"/>
                </a:rPr>
                <a:t>好络维多参仪</a:t>
              </a:r>
              <a:endParaRPr lang="en-US" altLang="zh-CN" sz="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66" name="图片 65"/>
            <p:cNvPicPr>
              <a:picLocks noChangeAspect="1"/>
            </p:cNvPicPr>
            <p:nvPr/>
          </p:nvPicPr>
          <p:blipFill>
            <a:blip r:embed="rId5" cstate="print"/>
            <a:stretch>
              <a:fillRect/>
            </a:stretch>
          </p:blipFill>
          <p:spPr>
            <a:xfrm>
              <a:off x="1425400" y="3891703"/>
              <a:ext cx="469673" cy="259904"/>
            </a:xfrm>
            <a:prstGeom prst="rect">
              <a:avLst/>
            </a:prstGeom>
          </p:spPr>
        </p:pic>
        <p:pic>
          <p:nvPicPr>
            <p:cNvPr id="67" name="图片 66"/>
            <p:cNvPicPr>
              <a:picLocks noChangeAspect="1"/>
            </p:cNvPicPr>
            <p:nvPr/>
          </p:nvPicPr>
          <p:blipFill>
            <a:blip r:embed="rId6" cstate="print"/>
            <a:stretch>
              <a:fillRect/>
            </a:stretch>
          </p:blipFill>
          <p:spPr>
            <a:xfrm>
              <a:off x="1952940" y="3860078"/>
              <a:ext cx="373364" cy="353427"/>
            </a:xfrm>
            <a:prstGeom prst="rect">
              <a:avLst/>
            </a:prstGeom>
          </p:spPr>
        </p:pic>
        <p:sp>
          <p:nvSpPr>
            <p:cNvPr id="68" name="文本框 67"/>
            <p:cNvSpPr txBox="1"/>
            <p:nvPr/>
          </p:nvSpPr>
          <p:spPr>
            <a:xfrm>
              <a:off x="1839670" y="4209946"/>
              <a:ext cx="712856" cy="199155"/>
            </a:xfrm>
            <a:prstGeom prst="rect">
              <a:avLst/>
            </a:prstGeom>
            <a:noFill/>
          </p:spPr>
          <p:txBody>
            <a:bodyPr wrap="square" rtlCol="0">
              <a:spAutoFit/>
            </a:bodyPr>
            <a:lstStyle/>
            <a:p>
              <a:pPr algn="ctr"/>
              <a:r>
                <a:rPr lang="zh-CN" altLang="en-US" sz="600" dirty="0">
                  <a:latin typeface="微软雅黑" panose="020B0503020204020204" pitchFamily="34" charset="-122"/>
                  <a:ea typeface="微软雅黑" panose="020B0503020204020204" pitchFamily="34" charset="-122"/>
                </a:rPr>
                <a:t>理邦多参仪</a:t>
              </a:r>
              <a:endParaRPr lang="en-US" altLang="zh-CN" sz="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276299" y="3538360"/>
              <a:ext cx="1061262" cy="319201"/>
            </a:xfrm>
            <a:prstGeom prst="rect">
              <a:avLst/>
            </a:prstGeom>
            <a:noFill/>
          </p:spPr>
          <p:txBody>
            <a:bodyPr wrap="square" rtlCol="0">
              <a:spAutoFit/>
            </a:bodyPr>
            <a:lstStyle>
              <a:defPPr>
                <a:defRPr lang="zh-CN"/>
              </a:defPPr>
              <a:lvl1pPr>
                <a:lnSpc>
                  <a:spcPct val="150000"/>
                </a:lnSpc>
                <a:defRPr sz="12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r>
                <a:rPr lang="zh-CN" altLang="en-US" sz="1000" dirty="0">
                  <a:latin typeface="微软雅黑" panose="020B0503020204020204" pitchFamily="34" charset="-122"/>
                  <a:ea typeface="微软雅黑" panose="020B0503020204020204" pitchFamily="34" charset="-122"/>
                </a:rPr>
                <a:t>院内检查检验</a:t>
              </a:r>
            </a:p>
          </p:txBody>
        </p:sp>
        <p:sp>
          <p:nvSpPr>
            <p:cNvPr id="69" name="文本框 68"/>
            <p:cNvSpPr txBox="1"/>
            <p:nvPr/>
          </p:nvSpPr>
          <p:spPr>
            <a:xfrm>
              <a:off x="1425400" y="1610178"/>
              <a:ext cx="788624" cy="273838"/>
            </a:xfrm>
            <a:prstGeom prst="rect">
              <a:avLst/>
            </a:prstGeom>
            <a:noFill/>
          </p:spPr>
          <p:txBody>
            <a:bodyPr wrap="square" rtlCol="0">
              <a:spAutoFit/>
            </a:bodyPr>
            <a:lstStyle>
              <a:defPPr>
                <a:defRPr lang="zh-CN"/>
              </a:defPPr>
              <a:lvl1pPr>
                <a:defRPr sz="14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000" dirty="0">
                  <a:latin typeface="微软雅黑" panose="020B0503020204020204" pitchFamily="34" charset="-122"/>
                  <a:ea typeface="微软雅黑" panose="020B0503020204020204" pitchFamily="34" charset="-122"/>
                </a:rPr>
                <a:t>基本信息</a:t>
              </a:r>
              <a:endParaRPr lang="en-US" altLang="zh-CN" sz="10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3044110" y="4320061"/>
              <a:ext cx="1167270" cy="265540"/>
            </a:xfrm>
            <a:prstGeom prst="rect">
              <a:avLst/>
            </a:prstGeom>
            <a:noFill/>
          </p:spPr>
          <p:txBody>
            <a:bodyPr wrap="none" rtlCol="0">
              <a:spAutoFit/>
            </a:bodyPr>
            <a:lstStyle/>
            <a:p>
              <a:r>
                <a:rPr lang="zh-CN" altLang="en-US" sz="1000" dirty="0">
                  <a:latin typeface="微软雅黑" panose="020B0503020204020204" pitchFamily="34" charset="-122"/>
                  <a:ea typeface="微软雅黑" panose="020B0503020204020204" pitchFamily="34" charset="-122"/>
                </a:rPr>
                <a:t>区域心电云平台</a:t>
              </a:r>
            </a:p>
          </p:txBody>
        </p:sp>
        <p:sp>
          <p:nvSpPr>
            <p:cNvPr id="13" name="右箭头 12"/>
            <p:cNvSpPr/>
            <p:nvPr/>
          </p:nvSpPr>
          <p:spPr>
            <a:xfrm>
              <a:off x="2330264" y="3683669"/>
              <a:ext cx="502937" cy="345600"/>
            </a:xfrm>
            <a:prstGeom prst="rightArrow">
              <a:avLst/>
            </a:prstGeom>
            <a:solidFill>
              <a:srgbClr val="237B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14" name="圆角矩形 13"/>
            <p:cNvSpPr/>
            <p:nvPr/>
          </p:nvSpPr>
          <p:spPr>
            <a:xfrm>
              <a:off x="2943986" y="1871002"/>
              <a:ext cx="1353980" cy="572464"/>
            </a:xfrm>
            <a:prstGeom prst="roundRect">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rgbClr val="2179B1"/>
                  </a:solidFill>
                  <a:latin typeface="微软雅黑" panose="020B0503020204020204" pitchFamily="34" charset="-122"/>
                  <a:ea typeface="微软雅黑" panose="020B0503020204020204" pitchFamily="34" charset="-122"/>
                </a:rPr>
                <a:t>全民医疗健康公共服务信息平台</a:t>
              </a:r>
            </a:p>
          </p:txBody>
        </p:sp>
        <p:sp>
          <p:nvSpPr>
            <p:cNvPr id="71" name="右箭头 70"/>
            <p:cNvSpPr/>
            <p:nvPr/>
          </p:nvSpPr>
          <p:spPr>
            <a:xfrm>
              <a:off x="2330264" y="1907412"/>
              <a:ext cx="502937" cy="345600"/>
            </a:xfrm>
            <a:prstGeom prst="rightArrow">
              <a:avLst/>
            </a:prstGeom>
            <a:solidFill>
              <a:srgbClr val="237B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75" name="文本框 74"/>
            <p:cNvSpPr txBox="1"/>
            <p:nvPr/>
          </p:nvSpPr>
          <p:spPr>
            <a:xfrm>
              <a:off x="2921806" y="4855203"/>
              <a:ext cx="2339380" cy="273838"/>
            </a:xfrm>
            <a:prstGeom prst="rect">
              <a:avLst/>
            </a:prstGeom>
            <a:noFill/>
          </p:spPr>
          <p:txBody>
            <a:bodyPr wrap="none" rtlCol="0">
              <a:spAutoFit/>
            </a:bodyPr>
            <a:lstStyle/>
            <a:p>
              <a:r>
                <a:rPr kumimoji="1" lang="zh-CN" altLang="en-US" sz="1050" dirty="0">
                  <a:latin typeface="微软雅黑" panose="020B0503020204020204" pitchFamily="34" charset="-122"/>
                  <a:ea typeface="微软雅黑" panose="020B0503020204020204" pitchFamily="34" charset="-122"/>
                </a:rPr>
                <a:t>医学专业知识库</a:t>
              </a:r>
              <a:r>
                <a:rPr kumimoji="1" lang="en-US" altLang="zh-CN" sz="1050" dirty="0">
                  <a:latin typeface="微软雅黑" panose="020B0503020204020204" pitchFamily="34" charset="-122"/>
                  <a:ea typeface="微软雅黑" panose="020B0503020204020204" pitchFamily="34" charset="-122"/>
                </a:rPr>
                <a:t>+AI</a:t>
              </a:r>
              <a:r>
                <a:rPr kumimoji="1" lang="zh-CN" altLang="en-US" sz="1050" dirty="0">
                  <a:latin typeface="微软雅黑" panose="020B0503020204020204" pitchFamily="34" charset="-122"/>
                  <a:ea typeface="微软雅黑" panose="020B0503020204020204" pitchFamily="34" charset="-122"/>
                </a:rPr>
                <a:t>辅助诊断软件</a:t>
              </a:r>
              <a:endParaRPr kumimoji="1" lang="en-US" altLang="zh-CN" sz="1050" dirty="0">
                <a:latin typeface="微软雅黑" panose="020B0503020204020204" pitchFamily="34" charset="-122"/>
                <a:ea typeface="微软雅黑" panose="020B0503020204020204" pitchFamily="34" charset="-122"/>
              </a:endParaRPr>
            </a:p>
          </p:txBody>
        </p:sp>
        <p:sp>
          <p:nvSpPr>
            <p:cNvPr id="76" name="文本框 75"/>
            <p:cNvSpPr txBox="1"/>
            <p:nvPr/>
          </p:nvSpPr>
          <p:spPr>
            <a:xfrm>
              <a:off x="586722" y="4842314"/>
              <a:ext cx="2377413" cy="273838"/>
            </a:xfrm>
            <a:prstGeom prst="rect">
              <a:avLst/>
            </a:prstGeom>
            <a:noFill/>
          </p:spPr>
          <p:txBody>
            <a:bodyPr wrap="none" rtlCol="0">
              <a:spAutoFit/>
            </a:bodyPr>
            <a:lstStyle/>
            <a:p>
              <a:r>
                <a:rPr kumimoji="1" lang="zh-CN" altLang="en-US" sz="1050" dirty="0">
                  <a:latin typeface="微软雅黑" panose="020B0503020204020204" pitchFamily="34" charset="-122"/>
                  <a:ea typeface="微软雅黑" panose="020B0503020204020204" pitchFamily="34" charset="-122"/>
                </a:rPr>
                <a:t>基于健康数据标准的健康数据整合</a:t>
              </a:r>
              <a:endParaRPr kumimoji="1" lang="en-US" altLang="zh-CN" sz="1050" dirty="0">
                <a:latin typeface="微软雅黑" panose="020B0503020204020204" pitchFamily="34" charset="-122"/>
                <a:ea typeface="微软雅黑" panose="020B0503020204020204" pitchFamily="34" charset="-122"/>
              </a:endParaRPr>
            </a:p>
          </p:txBody>
        </p:sp>
        <p:sp>
          <p:nvSpPr>
            <p:cNvPr id="17" name="上下箭头 16"/>
            <p:cNvSpPr/>
            <p:nvPr/>
          </p:nvSpPr>
          <p:spPr>
            <a:xfrm>
              <a:off x="3491009" y="2710343"/>
              <a:ext cx="303869" cy="501354"/>
            </a:xfrm>
            <a:prstGeom prst="upDownArrow">
              <a:avLst/>
            </a:prstGeom>
            <a:solidFill>
              <a:srgbClr val="237B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80" name="文本框 79"/>
            <p:cNvSpPr txBox="1"/>
            <p:nvPr/>
          </p:nvSpPr>
          <p:spPr>
            <a:xfrm>
              <a:off x="2530994" y="2586919"/>
              <a:ext cx="283356" cy="1066033"/>
            </a:xfrm>
            <a:prstGeom prst="rect">
              <a:avLst/>
            </a:prstGeom>
            <a:noFill/>
          </p:spPr>
          <p:txBody>
            <a:bodyPr wrap="square" rtlCol="0">
              <a:spAutoFit/>
            </a:bodyPr>
            <a:lstStyle>
              <a:defPPr>
                <a:defRPr lang="zh-CN"/>
              </a:defPPr>
              <a:lvl1pPr>
                <a:lnSpc>
                  <a:spcPct val="150000"/>
                </a:lnSpc>
                <a:defRPr sz="12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000" dirty="0">
                  <a:latin typeface="微软雅黑" panose="020B0503020204020204" pitchFamily="34" charset="-122"/>
                  <a:ea typeface="微软雅黑" panose="020B0503020204020204" pitchFamily="34" charset="-122"/>
                </a:rPr>
                <a:t>数</a:t>
              </a:r>
              <a:endParaRPr lang="en-US" altLang="zh-CN" sz="1000" dirty="0">
                <a:latin typeface="微软雅黑" panose="020B0503020204020204" pitchFamily="34" charset="-122"/>
                <a:ea typeface="微软雅黑" panose="020B0503020204020204" pitchFamily="34" charset="-122"/>
              </a:endParaRPr>
            </a:p>
            <a:p>
              <a:r>
                <a:rPr lang="zh-CN" altLang="en-US" sz="1000" dirty="0">
                  <a:latin typeface="微软雅黑" panose="020B0503020204020204" pitchFamily="34" charset="-122"/>
                  <a:ea typeface="微软雅黑" panose="020B0503020204020204" pitchFamily="34" charset="-122"/>
                </a:rPr>
                <a:t>据</a:t>
              </a:r>
              <a:endParaRPr lang="en-US" altLang="zh-CN" sz="1000" dirty="0">
                <a:latin typeface="微软雅黑" panose="020B0503020204020204" pitchFamily="34" charset="-122"/>
                <a:ea typeface="微软雅黑" panose="020B0503020204020204" pitchFamily="34" charset="-122"/>
              </a:endParaRPr>
            </a:p>
            <a:p>
              <a:r>
                <a:rPr lang="zh-CN" altLang="en-US" sz="1000" dirty="0">
                  <a:latin typeface="微软雅黑" panose="020B0503020204020204" pitchFamily="34" charset="-122"/>
                  <a:ea typeface="微软雅黑" panose="020B0503020204020204" pitchFamily="34" charset="-122"/>
                </a:rPr>
                <a:t>采</a:t>
              </a:r>
              <a:endParaRPr lang="en-US" altLang="zh-CN" sz="1000" dirty="0">
                <a:latin typeface="微软雅黑" panose="020B0503020204020204" pitchFamily="34" charset="-122"/>
                <a:ea typeface="微软雅黑" panose="020B0503020204020204" pitchFamily="34" charset="-122"/>
              </a:endParaRPr>
            </a:p>
            <a:p>
              <a:r>
                <a:rPr lang="zh-CN" altLang="en-US" sz="1000" dirty="0">
                  <a:latin typeface="微软雅黑" panose="020B0503020204020204" pitchFamily="34" charset="-122"/>
                  <a:ea typeface="微软雅黑" panose="020B0503020204020204" pitchFamily="34" charset="-122"/>
                </a:rPr>
                <a:t>集</a:t>
              </a:r>
            </a:p>
          </p:txBody>
        </p:sp>
        <p:sp>
          <p:nvSpPr>
            <p:cNvPr id="70" name="文本框 69"/>
            <p:cNvSpPr txBox="1"/>
            <p:nvPr/>
          </p:nvSpPr>
          <p:spPr>
            <a:xfrm>
              <a:off x="3742128" y="2853992"/>
              <a:ext cx="697043" cy="248943"/>
            </a:xfrm>
            <a:prstGeom prst="rect">
              <a:avLst/>
            </a:prstGeom>
            <a:noFill/>
          </p:spPr>
          <p:txBody>
            <a:bodyPr wrap="none" rtlCol="0">
              <a:spAutoFit/>
            </a:bodyPr>
            <a:lstStyle/>
            <a:p>
              <a:r>
                <a:rPr lang="zh-CN" altLang="en-US" sz="900" dirty="0">
                  <a:latin typeface="微软雅黑" panose="020B0503020204020204" pitchFamily="34" charset="-122"/>
                  <a:ea typeface="微软雅黑" panose="020B0503020204020204" pitchFamily="34" charset="-122"/>
                </a:rPr>
                <a:t>数据互通</a:t>
              </a:r>
            </a:p>
          </p:txBody>
        </p:sp>
        <p:sp>
          <p:nvSpPr>
            <p:cNvPr id="86" name="圆角矩形 85"/>
            <p:cNvSpPr/>
            <p:nvPr/>
          </p:nvSpPr>
          <p:spPr>
            <a:xfrm>
              <a:off x="5810577" y="1634407"/>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健康人群</a:t>
              </a:r>
            </a:p>
          </p:txBody>
        </p:sp>
        <p:sp>
          <p:nvSpPr>
            <p:cNvPr id="87" name="圆角矩形 86"/>
            <p:cNvSpPr/>
            <p:nvPr/>
          </p:nvSpPr>
          <p:spPr>
            <a:xfrm>
              <a:off x="5810577" y="1917265"/>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亚健康人群</a:t>
              </a:r>
            </a:p>
          </p:txBody>
        </p:sp>
        <p:sp>
          <p:nvSpPr>
            <p:cNvPr id="88" name="圆角矩形 87"/>
            <p:cNvSpPr/>
            <p:nvPr/>
          </p:nvSpPr>
          <p:spPr>
            <a:xfrm>
              <a:off x="5810577" y="2200123"/>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慢病人群</a:t>
              </a:r>
            </a:p>
          </p:txBody>
        </p:sp>
        <p:sp>
          <p:nvSpPr>
            <p:cNvPr id="89" name="圆角矩形 88"/>
            <p:cNvSpPr/>
            <p:nvPr/>
          </p:nvSpPr>
          <p:spPr>
            <a:xfrm>
              <a:off x="5810577" y="2482981"/>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0072FF"/>
                  </a:solidFill>
                  <a:latin typeface="微软雅黑" panose="020B0503020204020204" pitchFamily="34" charset="-122"/>
                  <a:ea typeface="微软雅黑" panose="020B0503020204020204" pitchFamily="34" charset="-122"/>
                </a:rPr>
                <a:t>疾病人群</a:t>
              </a:r>
            </a:p>
          </p:txBody>
        </p:sp>
        <p:sp>
          <p:nvSpPr>
            <p:cNvPr id="90" name="圆角矩形 89"/>
            <p:cNvSpPr/>
            <p:nvPr/>
          </p:nvSpPr>
          <p:spPr>
            <a:xfrm>
              <a:off x="4713128" y="1946206"/>
              <a:ext cx="468798" cy="422057"/>
            </a:xfrm>
            <a:prstGeom prst="roundRect">
              <a:avLst/>
            </a:prstGeom>
            <a:solidFill>
              <a:srgbClr val="2179B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latin typeface="微软雅黑" panose="020B0503020204020204" pitchFamily="34" charset="-122"/>
                  <a:ea typeface="微软雅黑" panose="020B0503020204020204" pitchFamily="34" charset="-122"/>
                </a:rPr>
                <a:t>评估分析</a:t>
              </a:r>
            </a:p>
          </p:txBody>
        </p:sp>
        <p:cxnSp>
          <p:nvCxnSpPr>
            <p:cNvPr id="94" name="肘形连接符 93"/>
            <p:cNvCxnSpPr>
              <a:stCxn id="14" idx="3"/>
              <a:endCxn id="90" idx="1"/>
            </p:cNvCxnSpPr>
            <p:nvPr/>
          </p:nvCxnSpPr>
          <p:spPr>
            <a:xfrm>
              <a:off x="4297967" y="2157234"/>
              <a:ext cx="415161" cy="1"/>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97" name="肘形连接符 96"/>
            <p:cNvCxnSpPr>
              <a:stCxn id="90" idx="3"/>
              <a:endCxn id="86" idx="1"/>
            </p:cNvCxnSpPr>
            <p:nvPr/>
          </p:nvCxnSpPr>
          <p:spPr>
            <a:xfrm flipV="1">
              <a:off x="5181927" y="1715007"/>
              <a:ext cx="628651" cy="442228"/>
            </a:xfrm>
            <a:prstGeom prst="bentConnector3">
              <a:avLst>
                <a:gd name="adj1" fmla="val 50000"/>
              </a:avLst>
            </a:prstGeom>
            <a:ln w="19050"/>
          </p:spPr>
          <p:style>
            <a:lnRef idx="1">
              <a:schemeClr val="accent1"/>
            </a:lnRef>
            <a:fillRef idx="0">
              <a:schemeClr val="accent1"/>
            </a:fillRef>
            <a:effectRef idx="0">
              <a:schemeClr val="accent1"/>
            </a:effectRef>
            <a:fontRef idx="minor">
              <a:schemeClr val="tx1"/>
            </a:fontRef>
          </p:style>
        </p:cxnSp>
        <p:cxnSp>
          <p:nvCxnSpPr>
            <p:cNvPr id="100" name="肘形连接符 99"/>
            <p:cNvCxnSpPr>
              <a:stCxn id="90" idx="3"/>
              <a:endCxn id="87" idx="1"/>
            </p:cNvCxnSpPr>
            <p:nvPr/>
          </p:nvCxnSpPr>
          <p:spPr>
            <a:xfrm flipV="1">
              <a:off x="5181927" y="1997865"/>
              <a:ext cx="628651" cy="159370"/>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04" name="肘形连接符 103"/>
            <p:cNvCxnSpPr>
              <a:stCxn id="90" idx="3"/>
              <a:endCxn id="88" idx="1"/>
            </p:cNvCxnSpPr>
            <p:nvPr/>
          </p:nvCxnSpPr>
          <p:spPr>
            <a:xfrm>
              <a:off x="5181927" y="2157235"/>
              <a:ext cx="628651" cy="123488"/>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06" name="肘形连接符 105"/>
            <p:cNvCxnSpPr>
              <a:stCxn id="90" idx="3"/>
              <a:endCxn id="89" idx="1"/>
            </p:cNvCxnSpPr>
            <p:nvPr/>
          </p:nvCxnSpPr>
          <p:spPr>
            <a:xfrm>
              <a:off x="5181927" y="2157235"/>
              <a:ext cx="628651" cy="406346"/>
            </a:xfrm>
            <a:prstGeom prst="bentConnector3">
              <a:avLst/>
            </a:prstGeom>
            <a:ln w="19050"/>
          </p:spPr>
          <p:style>
            <a:lnRef idx="1">
              <a:schemeClr val="accent1"/>
            </a:lnRef>
            <a:fillRef idx="0">
              <a:schemeClr val="accent1"/>
            </a:fillRef>
            <a:effectRef idx="0">
              <a:schemeClr val="accent1"/>
            </a:effectRef>
            <a:fontRef idx="minor">
              <a:schemeClr val="tx1"/>
            </a:fontRef>
          </p:style>
        </p:cxnSp>
        <p:sp>
          <p:nvSpPr>
            <p:cNvPr id="107" name="圆角矩形 106"/>
            <p:cNvSpPr/>
            <p:nvPr/>
          </p:nvSpPr>
          <p:spPr>
            <a:xfrm>
              <a:off x="7238696" y="1637688"/>
              <a:ext cx="977022" cy="161201"/>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健康教育</a:t>
              </a:r>
            </a:p>
          </p:txBody>
        </p:sp>
        <p:sp>
          <p:nvSpPr>
            <p:cNvPr id="108" name="圆角矩形 107"/>
            <p:cNvSpPr/>
            <p:nvPr/>
          </p:nvSpPr>
          <p:spPr>
            <a:xfrm>
              <a:off x="7247694" y="2014391"/>
              <a:ext cx="977022" cy="194252"/>
            </a:xfrm>
            <a:prstGeom prst="roundRect">
              <a:avLst>
                <a:gd name="adj" fmla="val 50000"/>
              </a:avLst>
            </a:prstGeom>
            <a:solidFill>
              <a:srgbClr val="0072FF"/>
            </a:solid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chemeClr val="bg1"/>
                  </a:solidFill>
                  <a:latin typeface="微软雅黑" panose="020B0503020204020204" pitchFamily="34" charset="-122"/>
                  <a:ea typeface="微软雅黑" panose="020B0503020204020204" pitchFamily="34" charset="-122"/>
                </a:rPr>
                <a:t>指导方案</a:t>
              </a:r>
            </a:p>
          </p:txBody>
        </p:sp>
        <p:sp>
          <p:nvSpPr>
            <p:cNvPr id="109" name="圆角矩形 108"/>
            <p:cNvSpPr/>
            <p:nvPr/>
          </p:nvSpPr>
          <p:spPr>
            <a:xfrm>
              <a:off x="7239713" y="2478447"/>
              <a:ext cx="977022" cy="174258"/>
            </a:xfrm>
            <a:prstGeom prst="roundRect">
              <a:avLst>
                <a:gd name="adj" fmla="val 50000"/>
              </a:avLst>
            </a:prstGeom>
            <a:noFill/>
            <a:ln w="19050">
              <a:solidFill>
                <a:srgbClr val="007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800" b="1" dirty="0">
                  <a:solidFill>
                    <a:srgbClr val="2179B1"/>
                  </a:solidFill>
                  <a:latin typeface="微软雅黑" panose="020B0503020204020204" pitchFamily="34" charset="-122"/>
                  <a:ea typeface="微软雅黑" panose="020B0503020204020204" pitchFamily="34" charset="-122"/>
                </a:rPr>
                <a:t>就医服务</a:t>
              </a:r>
            </a:p>
          </p:txBody>
        </p:sp>
        <p:cxnSp>
          <p:nvCxnSpPr>
            <p:cNvPr id="111" name="肘形连接符 110"/>
            <p:cNvCxnSpPr>
              <a:stCxn id="86" idx="3"/>
              <a:endCxn id="107" idx="1"/>
            </p:cNvCxnSpPr>
            <p:nvPr/>
          </p:nvCxnSpPr>
          <p:spPr>
            <a:xfrm flipV="1">
              <a:off x="6787599" y="1713045"/>
              <a:ext cx="445456" cy="1963"/>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13" name="肘形连接符 112"/>
            <p:cNvCxnSpPr>
              <a:stCxn id="87" idx="3"/>
              <a:endCxn id="108" idx="1"/>
            </p:cNvCxnSpPr>
            <p:nvPr/>
          </p:nvCxnSpPr>
          <p:spPr>
            <a:xfrm>
              <a:off x="6787600" y="1997865"/>
              <a:ext cx="452114" cy="113652"/>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15" name="肘形连接符 114"/>
            <p:cNvCxnSpPr>
              <a:stCxn id="88" idx="3"/>
              <a:endCxn id="108" idx="1"/>
            </p:cNvCxnSpPr>
            <p:nvPr/>
          </p:nvCxnSpPr>
          <p:spPr>
            <a:xfrm flipV="1">
              <a:off x="6787600" y="2111517"/>
              <a:ext cx="452114" cy="169206"/>
            </a:xfrm>
            <a:prstGeom prst="bentConnector3">
              <a:avLst/>
            </a:prstGeom>
            <a:ln w="19050"/>
          </p:spPr>
          <p:style>
            <a:lnRef idx="1">
              <a:schemeClr val="accent1"/>
            </a:lnRef>
            <a:fillRef idx="0">
              <a:schemeClr val="accent1"/>
            </a:fillRef>
            <a:effectRef idx="0">
              <a:schemeClr val="accent1"/>
            </a:effectRef>
            <a:fontRef idx="minor">
              <a:schemeClr val="tx1"/>
            </a:fontRef>
          </p:style>
        </p:cxnSp>
        <p:cxnSp>
          <p:nvCxnSpPr>
            <p:cNvPr id="117" name="肘形连接符 116"/>
            <p:cNvCxnSpPr>
              <a:stCxn id="89" idx="3"/>
              <a:endCxn id="109" idx="1"/>
            </p:cNvCxnSpPr>
            <p:nvPr/>
          </p:nvCxnSpPr>
          <p:spPr>
            <a:xfrm flipV="1">
              <a:off x="6787600" y="2559048"/>
              <a:ext cx="452114" cy="4534"/>
            </a:xfrm>
            <a:prstGeom prst="bentConnector3">
              <a:avLst/>
            </a:prstGeom>
            <a:ln w="19050"/>
          </p:spPr>
          <p:style>
            <a:lnRef idx="1">
              <a:schemeClr val="accent1"/>
            </a:lnRef>
            <a:fillRef idx="0">
              <a:schemeClr val="accent1"/>
            </a:fillRef>
            <a:effectRef idx="0">
              <a:schemeClr val="accent1"/>
            </a:effectRef>
            <a:fontRef idx="minor">
              <a:schemeClr val="tx1"/>
            </a:fontRef>
          </p:style>
        </p:cxnSp>
        <p:pic>
          <p:nvPicPr>
            <p:cNvPr id="118" name="图片 117"/>
            <p:cNvPicPr>
              <a:picLocks noChangeAspect="1"/>
            </p:cNvPicPr>
            <p:nvPr/>
          </p:nvPicPr>
          <p:blipFill>
            <a:blip r:embed="rId7" cstate="print"/>
            <a:stretch>
              <a:fillRect/>
            </a:stretch>
          </p:blipFill>
          <p:spPr>
            <a:xfrm>
              <a:off x="4712437" y="4103593"/>
              <a:ext cx="267936" cy="267936"/>
            </a:xfrm>
            <a:prstGeom prst="rect">
              <a:avLst/>
            </a:prstGeom>
          </p:spPr>
        </p:pic>
        <p:sp>
          <p:nvSpPr>
            <p:cNvPr id="120" name="文本框 119"/>
            <p:cNvSpPr txBox="1"/>
            <p:nvPr/>
          </p:nvSpPr>
          <p:spPr>
            <a:xfrm>
              <a:off x="5289270" y="4634948"/>
              <a:ext cx="1127232" cy="219071"/>
            </a:xfrm>
            <a:prstGeom prst="rect">
              <a:avLst/>
            </a:prstGeom>
            <a:solidFill>
              <a:srgbClr val="0587CE"/>
            </a:solidFill>
          </p:spPr>
          <p:txBody>
            <a:bodyPr wrap="square" rtlCol="0">
              <a:spAutoFit/>
            </a:bodyPr>
            <a:lstStyle>
              <a:defPPr>
                <a:defRPr lang="zh-CN"/>
              </a:defPPr>
              <a:lvl1pPr algn="ctr">
                <a:lnSpc>
                  <a:spcPct val="90000"/>
                </a:lnSpc>
                <a:defRPr sz="1050" b="1">
                  <a:solidFill>
                    <a:srgbClr val="FFFFFF"/>
                  </a:solidFill>
                  <a:latin typeface="微软雅黑" panose="020B0503020204020204" pitchFamily="34" charset="-122"/>
                  <a:ea typeface="微软雅黑" panose="020B0503020204020204" pitchFamily="34" charset="-122"/>
                </a:defRPr>
              </a:lvl1pPr>
            </a:lstStyle>
            <a:p>
              <a:r>
                <a:rPr lang="zh-CN" altLang="en-US" sz="800" dirty="0">
                  <a:latin typeface="微软雅黑" panose="020B0503020204020204" pitchFamily="34" charset="-122"/>
                  <a:ea typeface="微软雅黑" panose="020B0503020204020204" pitchFamily="34" charset="-122"/>
                </a:rPr>
                <a:t>数据采集</a:t>
              </a:r>
            </a:p>
          </p:txBody>
        </p:sp>
        <p:pic>
          <p:nvPicPr>
            <p:cNvPr id="121" name="图片 120"/>
            <p:cNvPicPr>
              <a:picLocks noChangeAspect="1"/>
            </p:cNvPicPr>
            <p:nvPr/>
          </p:nvPicPr>
          <p:blipFill>
            <a:blip r:embed="rId8" cstate="print"/>
            <a:stretch>
              <a:fillRect/>
            </a:stretch>
          </p:blipFill>
          <p:spPr>
            <a:xfrm>
              <a:off x="5272207" y="2976265"/>
              <a:ext cx="431766" cy="431766"/>
            </a:xfrm>
            <a:prstGeom prst="rect">
              <a:avLst/>
            </a:prstGeom>
          </p:spPr>
        </p:pic>
        <p:sp>
          <p:nvSpPr>
            <p:cNvPr id="122" name="矩形 121"/>
            <p:cNvSpPr/>
            <p:nvPr/>
          </p:nvSpPr>
          <p:spPr>
            <a:xfrm>
              <a:off x="4625358" y="3402474"/>
              <a:ext cx="1923819" cy="265540"/>
            </a:xfrm>
            <a:prstGeom prst="rect">
              <a:avLst/>
            </a:prstGeom>
          </p:spPr>
          <p:txBody>
            <a:bodyPr wrap="square">
              <a:spAutoFit/>
            </a:bodyPr>
            <a:lstStyle/>
            <a:p>
              <a:pPr algn="ctr"/>
              <a:r>
                <a:rPr lang="zh-CN" altLang="en-US" sz="1000" b="1" dirty="0">
                  <a:solidFill>
                    <a:schemeClr val="accent2"/>
                  </a:solidFill>
                  <a:latin typeface="微软雅黑" panose="020B0503020204020204" pitchFamily="34" charset="-122"/>
                  <a:ea typeface="微软雅黑" panose="020B0503020204020204" pitchFamily="34" charset="-122"/>
                </a:rPr>
                <a:t>兰州新区第一人民医院</a:t>
              </a:r>
            </a:p>
          </p:txBody>
        </p:sp>
        <p:sp>
          <p:nvSpPr>
            <p:cNvPr id="124" name="矩形 123"/>
            <p:cNvSpPr/>
            <p:nvPr/>
          </p:nvSpPr>
          <p:spPr>
            <a:xfrm>
              <a:off x="4309352" y="4374750"/>
              <a:ext cx="1132694" cy="211603"/>
            </a:xfrm>
            <a:prstGeom prst="rect">
              <a:avLst/>
            </a:prstGeom>
          </p:spPr>
          <p:txBody>
            <a:bodyPr wrap="none">
              <a:spAutoFit/>
            </a:bodyPr>
            <a:lstStyle/>
            <a:p>
              <a:r>
                <a:rPr lang="zh-CN" altLang="en-US" sz="675" b="1" dirty="0">
                  <a:solidFill>
                    <a:schemeClr val="accent2"/>
                  </a:solidFill>
                  <a:latin typeface="微软雅黑" panose="020B0503020204020204" pitchFamily="34" charset="-122"/>
                  <a:ea typeface="微软雅黑" panose="020B0503020204020204" pitchFamily="34" charset="-122"/>
                </a:rPr>
                <a:t>瑞玲雅苑卫生服务中心</a:t>
              </a:r>
            </a:p>
          </p:txBody>
        </p:sp>
        <p:sp>
          <p:nvSpPr>
            <p:cNvPr id="125" name="矩形 124"/>
            <p:cNvSpPr/>
            <p:nvPr/>
          </p:nvSpPr>
          <p:spPr>
            <a:xfrm>
              <a:off x="5197791" y="4385580"/>
              <a:ext cx="759278" cy="211603"/>
            </a:xfrm>
            <a:prstGeom prst="rect">
              <a:avLst/>
            </a:prstGeom>
          </p:spPr>
          <p:txBody>
            <a:bodyPr wrap="none">
              <a:spAutoFit/>
            </a:bodyPr>
            <a:lstStyle/>
            <a:p>
              <a:r>
                <a:rPr lang="zh-CN" altLang="en-US" sz="675" b="1" dirty="0">
                  <a:solidFill>
                    <a:schemeClr val="accent2"/>
                  </a:solidFill>
                  <a:latin typeface="微软雅黑" panose="020B0503020204020204" pitchFamily="34" charset="-122"/>
                  <a:ea typeface="微软雅黑" panose="020B0503020204020204" pitchFamily="34" charset="-122"/>
                </a:rPr>
                <a:t>中川镇卫生院</a:t>
              </a:r>
            </a:p>
          </p:txBody>
        </p:sp>
        <p:pic>
          <p:nvPicPr>
            <p:cNvPr id="126" name="图片 125"/>
            <p:cNvPicPr>
              <a:picLocks noChangeAspect="1"/>
            </p:cNvPicPr>
            <p:nvPr/>
          </p:nvPicPr>
          <p:blipFill>
            <a:blip r:embed="rId7" cstate="print"/>
            <a:stretch>
              <a:fillRect/>
            </a:stretch>
          </p:blipFill>
          <p:spPr>
            <a:xfrm>
              <a:off x="5337263" y="4103593"/>
              <a:ext cx="267936" cy="267936"/>
            </a:xfrm>
            <a:prstGeom prst="rect">
              <a:avLst/>
            </a:prstGeom>
          </p:spPr>
        </p:pic>
        <p:sp>
          <p:nvSpPr>
            <p:cNvPr id="127" name="矩形 126"/>
            <p:cNvSpPr/>
            <p:nvPr/>
          </p:nvSpPr>
          <p:spPr>
            <a:xfrm>
              <a:off x="5799564" y="4377771"/>
              <a:ext cx="665925" cy="211603"/>
            </a:xfrm>
            <a:prstGeom prst="rect">
              <a:avLst/>
            </a:prstGeom>
          </p:spPr>
          <p:txBody>
            <a:bodyPr wrap="none">
              <a:spAutoFit/>
            </a:bodyPr>
            <a:lstStyle/>
            <a:p>
              <a:r>
                <a:rPr lang="zh-CN" altLang="en-US" sz="675" b="1" dirty="0">
                  <a:solidFill>
                    <a:schemeClr val="accent2"/>
                  </a:solidFill>
                  <a:latin typeface="微软雅黑" panose="020B0503020204020204" pitchFamily="34" charset="-122"/>
                  <a:ea typeface="微软雅黑" panose="020B0503020204020204" pitchFamily="34" charset="-122"/>
                </a:rPr>
                <a:t>秦川卫生院</a:t>
              </a:r>
            </a:p>
          </p:txBody>
        </p:sp>
        <p:sp>
          <p:nvSpPr>
            <p:cNvPr id="128" name="矩形 127"/>
            <p:cNvSpPr/>
            <p:nvPr/>
          </p:nvSpPr>
          <p:spPr>
            <a:xfrm>
              <a:off x="6312833" y="4377771"/>
              <a:ext cx="665925" cy="211603"/>
            </a:xfrm>
            <a:prstGeom prst="rect">
              <a:avLst/>
            </a:prstGeom>
          </p:spPr>
          <p:txBody>
            <a:bodyPr wrap="none">
              <a:spAutoFit/>
            </a:bodyPr>
            <a:lstStyle/>
            <a:p>
              <a:r>
                <a:rPr lang="zh-CN" altLang="en-US" sz="675" b="1" dirty="0">
                  <a:solidFill>
                    <a:schemeClr val="accent2"/>
                  </a:solidFill>
                  <a:latin typeface="微软雅黑" panose="020B0503020204020204" pitchFamily="34" charset="-122"/>
                  <a:ea typeface="微软雅黑" panose="020B0503020204020204" pitchFamily="34" charset="-122"/>
                </a:rPr>
                <a:t>西岔卫生院</a:t>
              </a:r>
            </a:p>
          </p:txBody>
        </p:sp>
        <p:pic>
          <p:nvPicPr>
            <p:cNvPr id="133" name="图片 132"/>
            <p:cNvPicPr>
              <a:picLocks noChangeAspect="1"/>
            </p:cNvPicPr>
            <p:nvPr/>
          </p:nvPicPr>
          <p:blipFill>
            <a:blip r:embed="rId7" cstate="print"/>
            <a:stretch>
              <a:fillRect/>
            </a:stretch>
          </p:blipFill>
          <p:spPr>
            <a:xfrm>
              <a:off x="5924222" y="4103593"/>
              <a:ext cx="267936" cy="267936"/>
            </a:xfrm>
            <a:prstGeom prst="rect">
              <a:avLst/>
            </a:prstGeom>
          </p:spPr>
        </p:pic>
        <p:pic>
          <p:nvPicPr>
            <p:cNvPr id="134" name="图片 133"/>
            <p:cNvPicPr>
              <a:picLocks noChangeAspect="1"/>
            </p:cNvPicPr>
            <p:nvPr/>
          </p:nvPicPr>
          <p:blipFill>
            <a:blip r:embed="rId7" cstate="print"/>
            <a:stretch>
              <a:fillRect/>
            </a:stretch>
          </p:blipFill>
          <p:spPr>
            <a:xfrm>
              <a:off x="6432965" y="4103593"/>
              <a:ext cx="267936" cy="267936"/>
            </a:xfrm>
            <a:prstGeom prst="rect">
              <a:avLst/>
            </a:prstGeom>
          </p:spPr>
        </p:pic>
        <p:sp>
          <p:nvSpPr>
            <p:cNvPr id="135" name="上箭头 134"/>
            <p:cNvSpPr/>
            <p:nvPr/>
          </p:nvSpPr>
          <p:spPr>
            <a:xfrm>
              <a:off x="5479606" y="3644598"/>
              <a:ext cx="315875" cy="316061"/>
            </a:xfrm>
            <a:prstGeom prst="upArrow">
              <a:avLst/>
            </a:prstGeom>
            <a:solidFill>
              <a:srgbClr val="007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sp>
          <p:nvSpPr>
            <p:cNvPr id="136" name="文本框 135"/>
            <p:cNvSpPr txBox="1"/>
            <p:nvPr/>
          </p:nvSpPr>
          <p:spPr>
            <a:xfrm>
              <a:off x="5795481" y="3720502"/>
              <a:ext cx="641722" cy="232348"/>
            </a:xfrm>
            <a:prstGeom prst="rect">
              <a:avLst/>
            </a:prstGeom>
            <a:noFill/>
          </p:spPr>
          <p:txBody>
            <a:bodyPr wrap="none" rtlCol="0">
              <a:spAutoFit/>
            </a:bodyPr>
            <a:lstStyle/>
            <a:p>
              <a:r>
                <a:rPr lang="zh-CN" altLang="en-US" sz="800" b="1" dirty="0">
                  <a:solidFill>
                    <a:schemeClr val="accent2"/>
                  </a:solidFill>
                  <a:latin typeface="微软雅黑" panose="020B0503020204020204" pitchFamily="34" charset="-122"/>
                  <a:ea typeface="微软雅黑" panose="020B0503020204020204" pitchFamily="34" charset="-122"/>
                </a:rPr>
                <a:t>申请分析</a:t>
              </a:r>
            </a:p>
          </p:txBody>
        </p:sp>
        <p:sp>
          <p:nvSpPr>
            <p:cNvPr id="137" name="文本框 136"/>
            <p:cNvSpPr txBox="1"/>
            <p:nvPr/>
          </p:nvSpPr>
          <p:spPr>
            <a:xfrm>
              <a:off x="5935456" y="3056950"/>
              <a:ext cx="863005" cy="232348"/>
            </a:xfrm>
            <a:prstGeom prst="rect">
              <a:avLst/>
            </a:prstGeom>
            <a:noFill/>
          </p:spPr>
          <p:txBody>
            <a:bodyPr wrap="none" rtlCol="0">
              <a:spAutoFit/>
            </a:bodyPr>
            <a:lstStyle/>
            <a:p>
              <a:r>
                <a:rPr lang="zh-CN" altLang="en-US" sz="800" b="1" dirty="0">
                  <a:solidFill>
                    <a:schemeClr val="accent2"/>
                  </a:solidFill>
                  <a:latin typeface="微软雅黑" panose="020B0503020204020204" pitchFamily="34" charset="-122"/>
                  <a:ea typeface="微软雅黑" panose="020B0503020204020204" pitchFamily="34" charset="-122"/>
                </a:rPr>
                <a:t>分析、出报告</a:t>
              </a:r>
            </a:p>
          </p:txBody>
        </p:sp>
        <p:sp>
          <p:nvSpPr>
            <p:cNvPr id="138" name="右箭头 137"/>
            <p:cNvSpPr/>
            <p:nvPr/>
          </p:nvSpPr>
          <p:spPr>
            <a:xfrm>
              <a:off x="6915896" y="4104041"/>
              <a:ext cx="502937" cy="345856"/>
            </a:xfrm>
            <a:prstGeom prst="rightArrow">
              <a:avLst/>
            </a:prstGeom>
            <a:solidFill>
              <a:srgbClr val="237BE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微软雅黑" panose="020B0503020204020204" pitchFamily="34" charset="-122"/>
                <a:ea typeface="微软雅黑" panose="020B0503020204020204" pitchFamily="34" charset="-122"/>
              </a:endParaRPr>
            </a:p>
          </p:txBody>
        </p:sp>
        <p:pic>
          <p:nvPicPr>
            <p:cNvPr id="139" name="图片 138"/>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7390064" y="3852529"/>
              <a:ext cx="723623" cy="723623"/>
            </a:xfrm>
            <a:prstGeom prst="rect">
              <a:avLst/>
            </a:prstGeom>
          </p:spPr>
        </p:pic>
        <p:sp>
          <p:nvSpPr>
            <p:cNvPr id="144" name="文本框 143"/>
            <p:cNvSpPr txBox="1"/>
            <p:nvPr/>
          </p:nvSpPr>
          <p:spPr>
            <a:xfrm>
              <a:off x="7414519" y="3587915"/>
              <a:ext cx="641722" cy="232348"/>
            </a:xfrm>
            <a:prstGeom prst="rect">
              <a:avLst/>
            </a:prstGeom>
            <a:noFill/>
          </p:spPr>
          <p:txBody>
            <a:bodyPr wrap="none" rtlCol="0">
              <a:spAutoFit/>
            </a:bodyPr>
            <a:lstStyle/>
            <a:p>
              <a:r>
                <a:rPr lang="zh-CN" altLang="en-US" sz="800" b="1" dirty="0">
                  <a:solidFill>
                    <a:schemeClr val="accent2"/>
                  </a:solidFill>
                  <a:latin typeface="微软雅黑" panose="020B0503020204020204" pitchFamily="34" charset="-122"/>
                  <a:ea typeface="微软雅黑" panose="020B0503020204020204" pitchFamily="34" charset="-122"/>
                </a:rPr>
                <a:t>打印报告</a:t>
              </a:r>
            </a:p>
          </p:txBody>
        </p:sp>
        <p:sp>
          <p:nvSpPr>
            <p:cNvPr id="145" name="文本框 144"/>
            <p:cNvSpPr txBox="1"/>
            <p:nvPr/>
          </p:nvSpPr>
          <p:spPr>
            <a:xfrm>
              <a:off x="8650473" y="3402474"/>
              <a:ext cx="623904" cy="273838"/>
            </a:xfrm>
            <a:prstGeom prst="rect">
              <a:avLst/>
            </a:prstGeom>
            <a:noFill/>
          </p:spPr>
          <p:txBody>
            <a:bodyPr wrap="square">
              <a:spAutoFit/>
              <a:scene3d>
                <a:camera prst="orthographicFront"/>
                <a:lightRig rig="threePt" dir="t"/>
              </a:scene3d>
            </a:bodyPr>
            <a:lstStyle/>
            <a:p>
              <a:pPr algn="ctr"/>
              <a:r>
                <a:rPr lang="zh-CN" altLang="en-US" sz="1050" noProof="1">
                  <a:ln w="22225">
                    <a:solidFill>
                      <a:schemeClr val="accent2"/>
                    </a:solidFill>
                    <a:prstDash val="solid"/>
                  </a:ln>
                  <a:solidFill>
                    <a:schemeClr val="accent2">
                      <a:lumMod val="40000"/>
                      <a:lumOff val="60000"/>
                    </a:schemeClr>
                  </a:solidFill>
                  <a:latin typeface="微软雅黑" panose="020B0503020204020204" pitchFamily="34" charset="-122"/>
                  <a:ea typeface="微软雅黑" panose="020B0503020204020204" pitchFamily="34" charset="-122"/>
                </a:rPr>
                <a:t>用户</a:t>
              </a:r>
            </a:p>
          </p:txBody>
        </p:sp>
        <p:pic>
          <p:nvPicPr>
            <p:cNvPr id="146" name="图片 145"/>
            <p:cNvPicPr>
              <a:picLocks noChangeAspect="1"/>
            </p:cNvPicPr>
            <p:nvPr/>
          </p:nvPicPr>
          <p:blipFill>
            <a:blip r:embed="rId3" cstate="print"/>
            <a:stretch>
              <a:fillRect/>
            </a:stretch>
          </p:blipFill>
          <p:spPr>
            <a:xfrm>
              <a:off x="8743365" y="2914379"/>
              <a:ext cx="438122" cy="411114"/>
            </a:xfrm>
            <a:prstGeom prst="rect">
              <a:avLst/>
            </a:prstGeom>
          </p:spPr>
        </p:pic>
        <p:sp>
          <p:nvSpPr>
            <p:cNvPr id="147" name="文本框 146"/>
            <p:cNvSpPr txBox="1"/>
            <p:nvPr/>
          </p:nvSpPr>
          <p:spPr>
            <a:xfrm>
              <a:off x="5172439" y="4843610"/>
              <a:ext cx="1360892" cy="273838"/>
            </a:xfrm>
            <a:prstGeom prst="rect">
              <a:avLst/>
            </a:prstGeom>
            <a:noFill/>
          </p:spPr>
          <p:txBody>
            <a:bodyPr wrap="none" rtlCol="0">
              <a:spAutoFit/>
            </a:bodyPr>
            <a:lstStyle/>
            <a:p>
              <a:r>
                <a:rPr kumimoji="1" lang="zh-CN" altLang="en-US" sz="1050" dirty="0">
                  <a:latin typeface="微软雅黑" panose="020B0503020204020204" pitchFamily="34" charset="-122"/>
                  <a:ea typeface="微软雅黑" panose="020B0503020204020204" pitchFamily="34" charset="-122"/>
                </a:rPr>
                <a:t>心电数据标准格式</a:t>
              </a:r>
              <a:endParaRPr kumimoji="1" lang="en-US" altLang="zh-CN" sz="1050" dirty="0">
                <a:latin typeface="微软雅黑" panose="020B0503020204020204" pitchFamily="34" charset="-122"/>
                <a:ea typeface="微软雅黑" panose="020B0503020204020204" pitchFamily="34" charset="-122"/>
              </a:endParaRPr>
            </a:p>
          </p:txBody>
        </p:sp>
        <p:sp>
          <p:nvSpPr>
            <p:cNvPr id="148" name="文本框 147"/>
            <p:cNvSpPr txBox="1"/>
            <p:nvPr/>
          </p:nvSpPr>
          <p:spPr>
            <a:xfrm>
              <a:off x="6964338" y="2586919"/>
              <a:ext cx="283356" cy="1145141"/>
            </a:xfrm>
            <a:prstGeom prst="rect">
              <a:avLst/>
            </a:prstGeom>
            <a:noFill/>
          </p:spPr>
          <p:txBody>
            <a:bodyPr wrap="square" rtlCol="0">
              <a:spAutoFit/>
            </a:bodyPr>
            <a:lstStyle>
              <a:defPPr>
                <a:defRPr lang="zh-CN"/>
              </a:defPPr>
              <a:lvl1pPr>
                <a:lnSpc>
                  <a:spcPct val="150000"/>
                </a:lnSpc>
                <a:defRPr sz="1200">
                  <a:solidFill>
                    <a:schemeClr val="tx1">
                      <a:lumMod val="65000"/>
                      <a:lumOff val="35000"/>
                    </a:schemeClr>
                  </a:solidFill>
                  <a:latin typeface="微软雅黑" panose="020B0503020204020204" pitchFamily="34" charset="-122"/>
                  <a:ea typeface="微软雅黑" panose="020B0503020204020204" pitchFamily="34" charset="-122"/>
                </a:defRPr>
              </a:lvl1pPr>
            </a:lstStyle>
            <a:p>
              <a:r>
                <a:rPr lang="zh-CN" altLang="en-US" sz="1050" dirty="0">
                  <a:latin typeface="微软雅黑" panose="020B0503020204020204" pitchFamily="34" charset="-122"/>
                  <a:ea typeface="微软雅黑" panose="020B0503020204020204" pitchFamily="34" charset="-122"/>
                </a:rPr>
                <a:t>指导方案</a:t>
              </a:r>
            </a:p>
          </p:txBody>
        </p:sp>
        <p:grpSp>
          <p:nvGrpSpPr>
            <p:cNvPr id="150" name="组合 149"/>
            <p:cNvGrpSpPr/>
            <p:nvPr/>
          </p:nvGrpSpPr>
          <p:grpSpPr>
            <a:xfrm>
              <a:off x="3244705" y="3567048"/>
              <a:ext cx="777259" cy="693981"/>
              <a:chOff x="4326272" y="4756064"/>
              <a:chExt cx="1036345" cy="925308"/>
            </a:xfrm>
          </p:grpSpPr>
          <p:pic>
            <p:nvPicPr>
              <p:cNvPr id="15" name="图片 14"/>
              <p:cNvPicPr>
                <a:picLocks noChangeAspect="1"/>
              </p:cNvPicPr>
              <p:nvPr/>
            </p:nvPicPr>
            <p:blipFill>
              <a:blip r:embed="rId10" cstate="print">
                <a:extLst>
                  <a:ext uri="{28A0092B-C50C-407E-A947-70E740481C1C}">
                    <a14:useLocalDpi xmlns="" xmlns:a14="http://schemas.microsoft.com/office/drawing/2010/main" val="0"/>
                  </a:ext>
                </a:extLst>
              </a:blip>
              <a:stretch>
                <a:fillRect/>
              </a:stretch>
            </p:blipFill>
            <p:spPr>
              <a:xfrm>
                <a:off x="4326272" y="4756064"/>
                <a:ext cx="1036345" cy="925308"/>
              </a:xfrm>
              <a:prstGeom prst="rect">
                <a:avLst/>
              </a:prstGeom>
            </p:spPr>
          </p:pic>
          <p:pic>
            <p:nvPicPr>
              <p:cNvPr id="149" name="图片 148"/>
              <p:cNvPicPr>
                <a:picLocks noChangeAspect="1"/>
              </p:cNvPicPr>
              <p:nvPr/>
            </p:nvPicPr>
            <p:blipFill>
              <a:blip r:embed="rId11" cstate="print">
                <a:extLst>
                  <a:ext uri="{28A0092B-C50C-407E-A947-70E740481C1C}">
                    <a14:useLocalDpi xmlns="" xmlns:a14="http://schemas.microsoft.com/office/drawing/2010/main" val="0"/>
                  </a:ext>
                </a:extLst>
              </a:blip>
              <a:stretch>
                <a:fillRect/>
              </a:stretch>
            </p:blipFill>
            <p:spPr>
              <a:xfrm>
                <a:off x="4659390" y="4988714"/>
                <a:ext cx="400446" cy="400445"/>
              </a:xfrm>
              <a:prstGeom prst="rect">
                <a:avLst/>
              </a:prstGeom>
            </p:spPr>
          </p:pic>
        </p:gr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7782"/>
            <a:ext cx="594015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10228" y="1707782"/>
            <a:ext cx="233772" cy="1080000"/>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6479081" y="1955394"/>
            <a:ext cx="1826141" cy="584775"/>
          </a:xfrm>
          <a:prstGeom prst="rect">
            <a:avLst/>
          </a:prstGeom>
          <a:noFill/>
        </p:spPr>
        <p:txBody>
          <a:bodyPr wrap="none" rtlCol="0">
            <a:spAutoFit/>
          </a:bodyPr>
          <a:lstStyle/>
          <a:p>
            <a:r>
              <a:rPr lang="zh-CN" altLang="en-US" sz="3200" b="1" dirty="0" smtClean="0">
                <a:solidFill>
                  <a:srgbClr val="196494"/>
                </a:solidFill>
                <a:latin typeface="微软雅黑" panose="020B0503020204020204" pitchFamily="34" charset="-122"/>
                <a:ea typeface="微软雅黑" panose="020B0503020204020204" pitchFamily="34" charset="-122"/>
              </a:rPr>
              <a:t>公司介绍</a:t>
            </a:r>
            <a:endParaRPr lang="zh-CN" altLang="en-US" sz="3200" b="1" dirty="0">
              <a:solidFill>
                <a:srgbClr val="196494"/>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1619672" y="1851670"/>
            <a:ext cx="4040530" cy="1200329"/>
          </a:xfrm>
          <a:prstGeom prst="rect">
            <a:avLst/>
          </a:prstGeom>
          <a:noFill/>
        </p:spPr>
        <p:txBody>
          <a:bodyPr wrap="none" rtlCol="0">
            <a:spAutoFit/>
          </a:bodyPr>
          <a:lstStyle/>
          <a:p>
            <a:r>
              <a:rPr lang="en-US" altLang="zh-CN" sz="7200" b="1" dirty="0">
                <a:solidFill>
                  <a:srgbClr val="1F71A6"/>
                </a:solidFill>
                <a:latin typeface="微软雅黑" panose="020B0503020204020204" pitchFamily="34" charset="-122"/>
                <a:ea typeface="微软雅黑" panose="020B0503020204020204" pitchFamily="34" charset="-122"/>
              </a:rPr>
              <a:t>PART</a:t>
            </a:r>
            <a:r>
              <a:rPr lang="en-US" altLang="zh-CN" sz="7200" b="1" dirty="0">
                <a:solidFill>
                  <a:schemeClr val="bg1">
                    <a:lumMod val="75000"/>
                  </a:schemeClr>
                </a:solidFill>
                <a:latin typeface="微软雅黑" panose="020B0503020204020204" pitchFamily="34" charset="-122"/>
                <a:ea typeface="微软雅黑" panose="020B0503020204020204" pitchFamily="34" charset="-122"/>
              </a:rPr>
              <a:t> </a:t>
            </a:r>
            <a:r>
              <a:rPr lang="en-US" altLang="zh-CN" sz="7200" b="1" dirty="0" smtClean="0">
                <a:solidFill>
                  <a:srgbClr val="1F71A6"/>
                </a:solidFill>
                <a:latin typeface="微软雅黑" panose="020B0503020204020204" pitchFamily="34" charset="-122"/>
                <a:ea typeface="微软雅黑" panose="020B0503020204020204" pitchFamily="34" charset="-122"/>
              </a:rPr>
              <a:t>06</a:t>
            </a:r>
            <a:endParaRPr lang="zh-CN" altLang="en-US" sz="7200" b="1" dirty="0">
              <a:solidFill>
                <a:srgbClr val="1F71A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39552" y="984685"/>
            <a:ext cx="4422289" cy="1800493"/>
          </a:xfrm>
          <a:prstGeom prst="rect">
            <a:avLst/>
          </a:prstGeom>
          <a:ln w="3175">
            <a:prstDash val="dash"/>
          </a:ln>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50000"/>
              </a:lnSpc>
            </a:pPr>
            <a:r>
              <a:rPr lang="en-US" altLang="zh-CN" sz="1000" dirty="0">
                <a:latin typeface="微软雅黑" panose="020B0503020204020204" pitchFamily="34" charset="-122"/>
                <a:ea typeface="微软雅黑" panose="020B0503020204020204" pitchFamily="34" charset="-122"/>
              </a:rPr>
              <a:t>      </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新希望集团是一家以</a:t>
            </a:r>
            <a:r>
              <a:rPr lang="zh-CN" altLang="zh-CN" sz="1000" b="1" dirty="0">
                <a:solidFill>
                  <a:schemeClr val="tx1">
                    <a:lumMod val="75000"/>
                    <a:lumOff val="25000"/>
                  </a:schemeClr>
                </a:solidFill>
                <a:latin typeface="微软雅黑" panose="020B0503020204020204" pitchFamily="34" charset="-122"/>
                <a:ea typeface="微软雅黑" panose="020B0503020204020204" pitchFamily="34" charset="-122"/>
              </a:rPr>
              <a:t>现代农牧与食品产业</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为主营业务的民营企业集团</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拥有</a:t>
            </a:r>
            <a:r>
              <a:rPr lang="zh-CN" altLang="zh-CN" sz="1000" b="1" dirty="0">
                <a:solidFill>
                  <a:schemeClr val="tx1">
                    <a:lumMod val="75000"/>
                    <a:lumOff val="25000"/>
                  </a:schemeClr>
                </a:solidFill>
                <a:latin typeface="微软雅黑" panose="020B0503020204020204" pitchFamily="34" charset="-122"/>
                <a:ea typeface="微软雅黑" panose="020B0503020204020204" pitchFamily="34" charset="-122"/>
              </a:rPr>
              <a:t>世界第一</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的饲料产能，中国领先的禽肉加工处理能力，是</a:t>
            </a:r>
            <a:r>
              <a:rPr lang="zh-CN" altLang="zh-CN" sz="1000" b="1" dirty="0">
                <a:solidFill>
                  <a:schemeClr val="tx1">
                    <a:lumMod val="75000"/>
                    <a:lumOff val="25000"/>
                  </a:schemeClr>
                </a:solidFill>
                <a:latin typeface="微软雅黑" panose="020B0503020204020204" pitchFamily="34" charset="-122"/>
                <a:ea typeface="微软雅黑" panose="020B0503020204020204" pitchFamily="34" charset="-122"/>
              </a:rPr>
              <a:t>中国最大的肉、蛋、奶综合供应商之一</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集团立足于农牧行业，不断向上下游产业延伸，形成农牧食品、乳品快消、大健康等相关产业生态。</a:t>
            </a:r>
            <a:endPar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rPr>
              <a:t>集团荣登</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2023年《财富》世界500强榜单第363位，已连续三年入选该榜单。入选2022年《财富》最受赞赏中国公司。集团主体信用等级由"中诚信"评定为</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rPr>
              <a:t>AAA级</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endParaRPr lang="zh-CN" altLang="en-US" sz="400" dirty="0">
              <a:latin typeface="微软雅黑" panose="020B0503020204020204" pitchFamily="34" charset="-122"/>
              <a:ea typeface="微软雅黑" panose="020B0503020204020204" pitchFamily="34" charset="-122"/>
            </a:endParaRPr>
          </a:p>
        </p:txBody>
      </p:sp>
      <p:grpSp>
        <p:nvGrpSpPr>
          <p:cNvPr id="4" name="组合 11"/>
          <p:cNvGrpSpPr/>
          <p:nvPr/>
        </p:nvGrpSpPr>
        <p:grpSpPr>
          <a:xfrm>
            <a:off x="620334" y="3087595"/>
            <a:ext cx="4413515" cy="1492807"/>
            <a:chOff x="323528" y="2599055"/>
            <a:chExt cx="4896544" cy="1656184"/>
          </a:xfrm>
        </p:grpSpPr>
        <p:pic>
          <p:nvPicPr>
            <p:cNvPr id="2" name="图片 1"/>
            <p:cNvPicPr>
              <a:picLocks noChangeAspect="1"/>
            </p:cNvPicPr>
            <p:nvPr/>
          </p:nvPicPr>
          <p:blipFill>
            <a:blip r:embed="rId3" cstate="print"/>
            <a:stretch>
              <a:fillRect/>
            </a:stretch>
          </p:blipFill>
          <p:spPr>
            <a:xfrm>
              <a:off x="323528" y="2599055"/>
              <a:ext cx="4826389" cy="1656184"/>
            </a:xfrm>
            <a:prstGeom prst="rect">
              <a:avLst/>
            </a:prstGeom>
          </p:spPr>
        </p:pic>
        <p:sp>
          <p:nvSpPr>
            <p:cNvPr id="9" name="圆角矩形 8"/>
            <p:cNvSpPr/>
            <p:nvPr/>
          </p:nvSpPr>
          <p:spPr>
            <a:xfrm>
              <a:off x="4860032" y="2956688"/>
              <a:ext cx="360040" cy="24332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16" name="TextBox 6"/>
          <p:cNvSpPr txBox="1"/>
          <p:nvPr/>
        </p:nvSpPr>
        <p:spPr>
          <a:xfrm>
            <a:off x="5283385" y="736804"/>
            <a:ext cx="1261884"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大健康领域投资</a:t>
            </a:r>
          </a:p>
        </p:txBody>
      </p:sp>
      <p:sp>
        <p:nvSpPr>
          <p:cNvPr id="3" name="AutoShape 2" descr="厚新健投的简介、联系方式 | IT桔子"/>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 name="矩形 10"/>
          <p:cNvSpPr/>
          <p:nvPr/>
        </p:nvSpPr>
        <p:spPr>
          <a:xfrm>
            <a:off x="5796136" y="1148303"/>
            <a:ext cx="2351855" cy="585987"/>
          </a:xfrm>
          <a:prstGeom prst="rect">
            <a:avLst/>
          </a:prstGeom>
          <a:solidFill>
            <a:schemeClr val="bg1"/>
          </a:solidFill>
          <a:ln w="12700">
            <a:solidFill>
              <a:srgbClr val="19649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flipV="1">
            <a:off x="5429130" y="4948014"/>
            <a:ext cx="2985359" cy="3"/>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0" name="任意多边形 59"/>
          <p:cNvSpPr/>
          <p:nvPr/>
        </p:nvSpPr>
        <p:spPr>
          <a:xfrm>
            <a:off x="6911733" y="1904468"/>
            <a:ext cx="965829" cy="519263"/>
          </a:xfrm>
          <a:custGeom>
            <a:avLst/>
            <a:gdLst>
              <a:gd name="connsiteX0" fmla="*/ 0 w 965829"/>
              <a:gd name="connsiteY0" fmla="*/ 0 h 519263"/>
              <a:gd name="connsiteX1" fmla="*/ 965829 w 965829"/>
              <a:gd name="connsiteY1" fmla="*/ 0 h 519263"/>
              <a:gd name="connsiteX2" fmla="*/ 965829 w 965829"/>
              <a:gd name="connsiteY2" fmla="*/ 519263 h 519263"/>
              <a:gd name="connsiteX3" fmla="*/ 0 w 965829"/>
              <a:gd name="connsiteY3" fmla="*/ 519263 h 519263"/>
              <a:gd name="connsiteX4" fmla="*/ 0 w 965829"/>
              <a:gd name="connsiteY4" fmla="*/ 0 h 519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29" h="519263">
                <a:moveTo>
                  <a:pt x="0" y="0"/>
                </a:moveTo>
                <a:lnTo>
                  <a:pt x="965829" y="0"/>
                </a:lnTo>
                <a:lnTo>
                  <a:pt x="965829" y="519263"/>
                </a:lnTo>
                <a:lnTo>
                  <a:pt x="0" y="519263"/>
                </a:lnTo>
                <a:lnTo>
                  <a:pt x="0" y="0"/>
                </a:lnTo>
                <a:close/>
              </a:path>
            </a:pathLst>
          </a:custGeom>
          <a:no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endParaRPr lang="zh-CN" altLang="en-US" sz="2300" kern="1200"/>
          </a:p>
        </p:txBody>
      </p:sp>
      <p:sp>
        <p:nvSpPr>
          <p:cNvPr id="63" name="任意多边形 62"/>
          <p:cNvSpPr/>
          <p:nvPr/>
        </p:nvSpPr>
        <p:spPr>
          <a:xfrm>
            <a:off x="4761983" y="2783069"/>
            <a:ext cx="934673" cy="519263"/>
          </a:xfrm>
          <a:custGeom>
            <a:avLst/>
            <a:gdLst>
              <a:gd name="connsiteX0" fmla="*/ 0 w 934673"/>
              <a:gd name="connsiteY0" fmla="*/ 0 h 519263"/>
              <a:gd name="connsiteX1" fmla="*/ 934673 w 934673"/>
              <a:gd name="connsiteY1" fmla="*/ 0 h 519263"/>
              <a:gd name="connsiteX2" fmla="*/ 934673 w 934673"/>
              <a:gd name="connsiteY2" fmla="*/ 519263 h 519263"/>
              <a:gd name="connsiteX3" fmla="*/ 0 w 934673"/>
              <a:gd name="connsiteY3" fmla="*/ 519263 h 519263"/>
              <a:gd name="connsiteX4" fmla="*/ 0 w 934673"/>
              <a:gd name="connsiteY4" fmla="*/ 0 h 519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4673" h="519263">
                <a:moveTo>
                  <a:pt x="0" y="0"/>
                </a:moveTo>
                <a:lnTo>
                  <a:pt x="934673" y="0"/>
                </a:lnTo>
                <a:lnTo>
                  <a:pt x="934673" y="519263"/>
                </a:lnTo>
                <a:lnTo>
                  <a:pt x="0" y="51926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7630" tIns="87630" rIns="87630" bIns="87630" numCol="1" spcCol="1270" anchor="ctr" anchorCtr="0">
            <a:noAutofit/>
          </a:bodyPr>
          <a:lstStyle/>
          <a:p>
            <a:pPr lvl="0" algn="r" defTabSz="1022350">
              <a:lnSpc>
                <a:spcPct val="90000"/>
              </a:lnSpc>
              <a:spcBef>
                <a:spcPct val="0"/>
              </a:spcBef>
              <a:spcAft>
                <a:spcPct val="35000"/>
              </a:spcAft>
            </a:pPr>
            <a:endParaRPr lang="zh-CN" altLang="en-US" sz="2300" kern="1200"/>
          </a:p>
        </p:txBody>
      </p:sp>
      <p:sp>
        <p:nvSpPr>
          <p:cNvPr id="66" name="任意多边形 65"/>
          <p:cNvSpPr/>
          <p:nvPr/>
        </p:nvSpPr>
        <p:spPr>
          <a:xfrm>
            <a:off x="7146537" y="3502135"/>
            <a:ext cx="965829" cy="519263"/>
          </a:xfrm>
          <a:custGeom>
            <a:avLst/>
            <a:gdLst>
              <a:gd name="connsiteX0" fmla="*/ 0 w 965829"/>
              <a:gd name="connsiteY0" fmla="*/ 0 h 519263"/>
              <a:gd name="connsiteX1" fmla="*/ 965829 w 965829"/>
              <a:gd name="connsiteY1" fmla="*/ 0 h 519263"/>
              <a:gd name="connsiteX2" fmla="*/ 965829 w 965829"/>
              <a:gd name="connsiteY2" fmla="*/ 519263 h 519263"/>
              <a:gd name="connsiteX3" fmla="*/ 0 w 965829"/>
              <a:gd name="connsiteY3" fmla="*/ 519263 h 519263"/>
              <a:gd name="connsiteX4" fmla="*/ 0 w 965829"/>
              <a:gd name="connsiteY4" fmla="*/ 0 h 519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829" h="519263">
                <a:moveTo>
                  <a:pt x="0" y="0"/>
                </a:moveTo>
                <a:lnTo>
                  <a:pt x="965829" y="0"/>
                </a:lnTo>
                <a:lnTo>
                  <a:pt x="965829" y="519263"/>
                </a:lnTo>
                <a:lnTo>
                  <a:pt x="0" y="51926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endParaRPr lang="zh-CN" altLang="en-US" sz="2300" kern="1200"/>
          </a:p>
        </p:txBody>
      </p:sp>
      <p:cxnSp>
        <p:nvCxnSpPr>
          <p:cNvPr id="72" name="肘形连接符 71"/>
          <p:cNvCxnSpPr/>
          <p:nvPr/>
        </p:nvCxnSpPr>
        <p:spPr>
          <a:xfrm rot="5400000">
            <a:off x="5078931" y="1924593"/>
            <a:ext cx="1180802" cy="257528"/>
          </a:xfrm>
          <a:prstGeom prst="bentConnector3">
            <a:avLst>
              <a:gd name="adj1" fmla="val -113"/>
            </a:avLst>
          </a:prstGeom>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5540568" y="2643758"/>
            <a:ext cx="2844577"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1" name="肘形连接符 80"/>
          <p:cNvCxnSpPr/>
          <p:nvPr/>
        </p:nvCxnSpPr>
        <p:spPr>
          <a:xfrm rot="5400000">
            <a:off x="3812738" y="2964007"/>
            <a:ext cx="3600398" cy="367614"/>
          </a:xfrm>
          <a:prstGeom prst="bentConnector3">
            <a:avLst>
              <a:gd name="adj1" fmla="val 89"/>
            </a:avLst>
          </a:prstGeom>
        </p:spPr>
        <p:style>
          <a:lnRef idx="1">
            <a:schemeClr val="accent1"/>
          </a:lnRef>
          <a:fillRef idx="0">
            <a:schemeClr val="accent1"/>
          </a:fillRef>
          <a:effectRef idx="0">
            <a:schemeClr val="accent1"/>
          </a:effectRef>
          <a:fontRef idx="minor">
            <a:schemeClr val="tx1"/>
          </a:fontRef>
        </p:style>
      </p:cxnSp>
      <p:sp>
        <p:nvSpPr>
          <p:cNvPr id="88" name="文本框 87"/>
          <p:cNvSpPr txBox="1"/>
          <p:nvPr/>
        </p:nvSpPr>
        <p:spPr>
          <a:xfrm>
            <a:off x="5508104" y="2700958"/>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股权投资</a:t>
            </a:r>
          </a:p>
        </p:txBody>
      </p:sp>
      <p:sp>
        <p:nvSpPr>
          <p:cNvPr id="89" name="文本框 88"/>
          <p:cNvSpPr txBox="1"/>
          <p:nvPr/>
        </p:nvSpPr>
        <p:spPr>
          <a:xfrm>
            <a:off x="5520084" y="1779662"/>
            <a:ext cx="646331" cy="230832"/>
          </a:xfrm>
          <a:prstGeom prst="rect">
            <a:avLst/>
          </a:prstGeom>
          <a:noFill/>
        </p:spPr>
        <p:txBody>
          <a:bodyPr wrap="none" rtlCol="0">
            <a:spAutoFit/>
          </a:bodyPr>
          <a:lstStyle/>
          <a:p>
            <a:r>
              <a:rPr lang="zh-CN" altLang="en-US" sz="900" b="1" dirty="0">
                <a:latin typeface="微软雅黑" panose="020B0503020204020204" pitchFamily="34" charset="-122"/>
                <a:ea typeface="微软雅黑" panose="020B0503020204020204" pitchFamily="34" charset="-122"/>
              </a:rPr>
              <a:t>控股运营</a:t>
            </a:r>
          </a:p>
        </p:txBody>
      </p:sp>
      <p:sp>
        <p:nvSpPr>
          <p:cNvPr id="95" name="六边形 94"/>
          <p:cNvSpPr/>
          <p:nvPr/>
        </p:nvSpPr>
        <p:spPr>
          <a:xfrm>
            <a:off x="5779880" y="2094029"/>
            <a:ext cx="523827" cy="429669"/>
          </a:xfrm>
          <a:prstGeom prst="hexagon">
            <a:avLst/>
          </a:prstGeom>
          <a:noFill/>
          <a:ln w="6350">
            <a:solidFill>
              <a:srgbClr val="0C6EB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六边形 95"/>
          <p:cNvSpPr/>
          <p:nvPr/>
        </p:nvSpPr>
        <p:spPr>
          <a:xfrm>
            <a:off x="6252486" y="1858568"/>
            <a:ext cx="523827" cy="429669"/>
          </a:xfrm>
          <a:prstGeom prst="hexagon">
            <a:avLst/>
          </a:prstGeom>
          <a:solidFill>
            <a:srgbClr val="0C6EB8"/>
          </a:solidFill>
          <a:ln>
            <a:solidFill>
              <a:srgbClr val="0C6E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4" name="图片 9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6283942" y="1994311"/>
            <a:ext cx="460914" cy="161574"/>
          </a:xfrm>
          <a:prstGeom prst="rect">
            <a:avLst/>
          </a:prstGeom>
        </p:spPr>
      </p:pic>
      <p:pic>
        <p:nvPicPr>
          <p:cNvPr id="77" name="图片 76"/>
          <p:cNvPicPr>
            <a:picLocks noChangeAspect="1"/>
          </p:cNvPicPr>
          <p:nvPr/>
        </p:nvPicPr>
        <p:blipFill>
          <a:blip r:embed="rId5" cstate="print">
            <a:extLst>
              <a:ext uri="{BEBA8EAE-BF5A-486C-A8C5-ECC9F3942E4B}">
                <a14:imgProps xmlns="" xmlns:a14="http://schemas.microsoft.com/office/drawing/2010/main">
                  <a14:imgLayer r:embed="rId6">
                    <a14:imgEffect>
                      <a14:backgroundRemoval t="0" b="98515" l="262" r="100000">
                        <a14:foregroundMark x1="20942" y1="15842" x2="20942" y2="15842"/>
                        <a14:foregroundMark x1="13351" y1="49505" x2="13351" y2="49505"/>
                        <a14:foregroundMark x1="33770" y1="9901" x2="33770" y2="9901"/>
                        <a14:foregroundMark x1="31152" y1="28218" x2="31152" y2="28218"/>
                        <a14:foregroundMark x1="35209" y1="27228" x2="35209" y2="27228"/>
                        <a14:foregroundMark x1="39267" y1="27228" x2="39267" y2="27228"/>
                        <a14:foregroundMark x1="42539" y1="35149" x2="42539" y2="35149"/>
                        <a14:foregroundMark x1="31152" y1="50990" x2="31152" y2="50990"/>
                        <a14:foregroundMark x1="50654" y1="13861" x2="50654" y2="13861"/>
                        <a14:foregroundMark x1="66885" y1="15347" x2="66885" y2="15347"/>
                        <a14:foregroundMark x1="76440" y1="9901" x2="76440" y2="9901"/>
                        <a14:foregroundMark x1="76963" y1="34158" x2="76963" y2="34158"/>
                        <a14:foregroundMark x1="87304" y1="10891" x2="87304" y2="10891"/>
                        <a14:foregroundMark x1="84948" y1="39604" x2="84948" y2="39604"/>
                        <a14:foregroundMark x1="90445" y1="39109" x2="90445" y2="39109"/>
                        <a14:foregroundMark x1="93848" y1="14356" x2="93848" y2="14356"/>
                        <a14:foregroundMark x1="93848" y1="32178" x2="93848" y2="32178"/>
                        <a14:foregroundMark x1="97775" y1="20297" x2="97775" y2="20297"/>
                        <a14:foregroundMark x1="30759" y1="81683" x2="30759" y2="81683"/>
                        <a14:foregroundMark x1="35733" y1="80198" x2="35733" y2="80198"/>
                        <a14:foregroundMark x1="40576" y1="78713" x2="40576" y2="78713"/>
                        <a14:foregroundMark x1="46728" y1="79208" x2="46728" y2="79208"/>
                        <a14:foregroundMark x1="51963" y1="81188" x2="51963" y2="81188"/>
                        <a14:foregroundMark x1="57723" y1="79208" x2="57723" y2="79208"/>
                        <a14:foregroundMark x1="62958" y1="77723" x2="62958" y2="77723"/>
                        <a14:foregroundMark x1="69372" y1="80198" x2="69372" y2="80198"/>
                        <a14:foregroundMark x1="76963" y1="82178" x2="76963" y2="82178"/>
                        <a14:foregroundMark x1="82330" y1="78713" x2="82330" y2="78713"/>
                        <a14:foregroundMark x1="88220" y1="81683" x2="88220" y2="81683"/>
                        <a14:foregroundMark x1="93063" y1="82178" x2="93063" y2="82178"/>
                        <a14:foregroundMark x1="95942" y1="80693" x2="95942" y2="80693"/>
                        <a14:backgroundMark x1="36387" y1="83168" x2="36387" y2="83168"/>
                        <a14:backgroundMark x1="68848" y1="16832" x2="68848" y2="16832"/>
                        <a14:backgroundMark x1="68979" y1="33663" x2="68979" y2="33663"/>
                        <a14:backgroundMark x1="79188" y1="35644" x2="79188" y2="35644"/>
                        <a14:backgroundMark x1="83639" y1="80198" x2="83639" y2="80198"/>
                        <a14:backgroundMark x1="77749" y1="79208" x2="77749" y2="79208"/>
                        <a14:backgroundMark x1="89005" y1="83663" x2="89005" y2="83663"/>
                      </a14:backgroundRemoval>
                    </a14:imgEffect>
                  </a14:imgLayer>
                </a14:imgProps>
              </a:ext>
              <a:ext uri="{28A0092B-C50C-407E-A947-70E740481C1C}">
                <a14:useLocalDpi xmlns="" xmlns:a14="http://schemas.microsoft.com/office/drawing/2010/main" val="0"/>
              </a:ext>
            </a:extLst>
          </a:blip>
          <a:stretch>
            <a:fillRect/>
          </a:stretch>
        </p:blipFill>
        <p:spPr>
          <a:xfrm>
            <a:off x="5808481" y="2257118"/>
            <a:ext cx="441222" cy="116658"/>
          </a:xfrm>
          <a:prstGeom prst="rect">
            <a:avLst/>
          </a:prstGeom>
        </p:spPr>
      </p:pic>
      <p:grpSp>
        <p:nvGrpSpPr>
          <p:cNvPr id="12" name="组合 104"/>
          <p:cNvGrpSpPr/>
          <p:nvPr/>
        </p:nvGrpSpPr>
        <p:grpSpPr>
          <a:xfrm>
            <a:off x="6710694" y="2100613"/>
            <a:ext cx="523827" cy="429669"/>
            <a:chOff x="6710545" y="2153505"/>
            <a:chExt cx="523827" cy="429669"/>
          </a:xfrm>
          <a:noFill/>
        </p:grpSpPr>
        <p:sp>
          <p:nvSpPr>
            <p:cNvPr id="97" name="六边形 96"/>
            <p:cNvSpPr/>
            <p:nvPr/>
          </p:nvSpPr>
          <p:spPr>
            <a:xfrm>
              <a:off x="6710545" y="2153505"/>
              <a:ext cx="523827" cy="429669"/>
            </a:xfrm>
            <a:prstGeom prst="hexagon">
              <a:avLst/>
            </a:prstGeom>
            <a:grpFill/>
            <a:ln w="6350">
              <a:solidFill>
                <a:srgbClr val="0C6EB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0" name="图片 99"/>
            <p:cNvPicPr>
              <a:picLocks noChangeAspect="1"/>
            </p:cNvPicPr>
            <p:nvPr/>
          </p:nvPicPr>
          <p:blipFill rotWithShape="1">
            <a:blip r:embed="rId7" cstate="print">
              <a:extLst>
                <a:ext uri="{BEBA8EAE-BF5A-486C-A8C5-ECC9F3942E4B}">
                  <a14:imgProps xmlns="" xmlns:a14="http://schemas.microsoft.com/office/drawing/2010/main">
                    <a14:imgLayer r:embed="rId8">
                      <a14:imgEffect>
                        <a14:backgroundRemoval t="3941" b="78079" l="9756" r="89634">
                          <a14:foregroundMark x1="20325" y1="63300" x2="20325" y2="63300"/>
                          <a14:foregroundMark x1="20122" y1="64286" x2="20122" y2="73892"/>
                          <a14:foregroundMark x1="16463" y1="60591" x2="20732" y2="59852"/>
                          <a14:foregroundMark x1="16870" y1="60837" x2="16870" y2="66749"/>
                          <a14:foregroundMark x1="21951" y1="61823" x2="28659" y2="61576"/>
                          <a14:foregroundMark x1="23984" y1="60345" x2="28252" y2="67980"/>
                          <a14:foregroundMark x1="21951" y1="66749" x2="25000" y2="65764"/>
                          <a14:foregroundMark x1="21545" y1="69704" x2="29675" y2="69704"/>
                          <a14:foregroundMark x1="26829" y1="70936" x2="27642" y2="74138"/>
                          <a14:foregroundMark x1="28049" y1="75369" x2="29675" y2="75123"/>
                          <a14:foregroundMark x1="34350" y1="60345" x2="46545" y2="60345"/>
                          <a14:foregroundMark x1="33943" y1="61576" x2="34146" y2="73892"/>
                          <a14:foregroundMark x1="32724" y1="74877" x2="33130" y2="74877"/>
                          <a14:foregroundMark x1="36179" y1="62808" x2="45732" y2="62808"/>
                          <a14:foregroundMark x1="45325" y1="63300" x2="45935" y2="67488"/>
                          <a14:foregroundMark x1="35163" y1="65271" x2="46951" y2="65025"/>
                          <a14:foregroundMark x1="36382" y1="67734" x2="45122" y2="67980"/>
                          <a14:foregroundMark x1="40447" y1="69951" x2="40650" y2="75369"/>
                          <a14:foregroundMark x1="41260" y1="70197" x2="46138" y2="75369"/>
                          <a14:foregroundMark x1="36992" y1="70197" x2="38415" y2="71675"/>
                          <a14:foregroundMark x1="36382" y1="74877" x2="38618" y2="72906"/>
                          <a14:foregroundMark x1="56911" y1="59360" x2="57114" y2="61084"/>
                          <a14:foregroundMark x1="51626" y1="61330" x2="61789" y2="61330"/>
                          <a14:foregroundMark x1="61382" y1="63300" x2="59350" y2="66995"/>
                          <a14:foregroundMark x1="58943" y1="67980" x2="55488" y2="71182"/>
                          <a14:foregroundMark x1="55081" y1="71921" x2="50813" y2="74138"/>
                          <a14:foregroundMark x1="53659" y1="73892" x2="55894" y2="74877"/>
                          <a14:foregroundMark x1="55894" y1="76108" x2="62805" y2="75369"/>
                          <a14:foregroundMark x1="73171" y1="59360" x2="73374" y2="59852"/>
                          <a14:foregroundMark x1="67683" y1="60591" x2="78455" y2="59852"/>
                          <a14:foregroundMark x1="67276" y1="61084" x2="67480" y2="62069"/>
                          <a14:foregroundMark x1="68293" y1="62808" x2="77236" y2="62069"/>
                          <a14:foregroundMark x1="72967" y1="63793" x2="70122" y2="66010"/>
                          <a14:foregroundMark x1="67683" y1="66995" x2="68902" y2="66502"/>
                          <a14:foregroundMark x1="72967" y1="66010" x2="73984" y2="67241"/>
                          <a14:foregroundMark x1="73984" y1="68719" x2="74187" y2="74631"/>
                          <a14:foregroundMark x1="75813" y1="68473" x2="78049" y2="66502"/>
                        </a14:backgroundRemoval>
                      </a14:imgEffect>
                    </a14:imgLayer>
                  </a14:imgProps>
                </a:ext>
                <a:ext uri="{28A0092B-C50C-407E-A947-70E740481C1C}">
                  <a14:useLocalDpi xmlns="" xmlns:a14="http://schemas.microsoft.com/office/drawing/2010/main" val="0"/>
                </a:ext>
              </a:extLst>
            </a:blip>
            <a:srcRect l="-86" t="3818" r="86" b="21130"/>
            <a:stretch>
              <a:fillRect/>
            </a:stretch>
          </p:blipFill>
          <p:spPr>
            <a:xfrm>
              <a:off x="6768737" y="2232502"/>
              <a:ext cx="449640" cy="278475"/>
            </a:xfrm>
            <a:prstGeom prst="rect">
              <a:avLst/>
            </a:prstGeom>
            <a:grpFill/>
          </p:spPr>
        </p:pic>
      </p:grpSp>
      <p:grpSp>
        <p:nvGrpSpPr>
          <p:cNvPr id="15" name="组合 105"/>
          <p:cNvGrpSpPr/>
          <p:nvPr/>
        </p:nvGrpSpPr>
        <p:grpSpPr>
          <a:xfrm>
            <a:off x="7171594" y="1882104"/>
            <a:ext cx="523827" cy="439857"/>
            <a:chOff x="7173646" y="1945517"/>
            <a:chExt cx="523827" cy="439857"/>
          </a:xfrm>
          <a:noFill/>
        </p:grpSpPr>
        <p:sp>
          <p:nvSpPr>
            <p:cNvPr id="98" name="六边形 97"/>
            <p:cNvSpPr/>
            <p:nvPr/>
          </p:nvSpPr>
          <p:spPr>
            <a:xfrm>
              <a:off x="7173646" y="1945517"/>
              <a:ext cx="523827" cy="429669"/>
            </a:xfrm>
            <a:prstGeom prst="hexagon">
              <a:avLst/>
            </a:prstGeom>
            <a:grpFill/>
            <a:ln w="6350">
              <a:solidFill>
                <a:srgbClr val="0C6EB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2" name="图片 101"/>
            <p:cNvPicPr>
              <a:picLocks noChangeAspect="1"/>
            </p:cNvPicPr>
            <p:nvPr/>
          </p:nvPicPr>
          <p:blipFill>
            <a:blip r:embed="rId9" cstate="print">
              <a:extLst>
                <a:ext uri="{BEBA8EAE-BF5A-486C-A8C5-ECC9F3942E4B}">
                  <a14:imgProps xmlns="" xmlns:a14="http://schemas.microsoft.com/office/drawing/2010/main">
                    <a14:imgLayer r:embed="rId10">
                      <a14:imgEffect>
                        <a14:backgroundRemoval t="5556" b="93889" l="5000" r="96667">
                          <a14:foregroundMark x1="18333" y1="28889" x2="28333" y2="17222"/>
                          <a14:foregroundMark x1="79444" y1="16111" x2="82222" y2="17222"/>
                          <a14:foregroundMark x1="78889" y1="22778" x2="78889" y2="22778"/>
                          <a14:foregroundMark x1="72778" y1="18333" x2="72222" y2="20556"/>
                          <a14:foregroundMark x1="82222" y1="27778" x2="85000" y2="25556"/>
                          <a14:foregroundMark x1="22222" y1="53333" x2="32778" y2="58889"/>
                          <a14:foregroundMark x1="38889" y1="37778" x2="42222" y2="36111"/>
                          <a14:foregroundMark x1="36667" y1="38889" x2="37778" y2="38333"/>
                          <a14:foregroundMark x1="43333" y1="36111" x2="44444" y2="35556"/>
                        </a14:backgroundRemoval>
                      </a14:imgEffect>
                    </a14:imgLayer>
                  </a14:imgProps>
                </a:ext>
                <a:ext uri="{28A0092B-C50C-407E-A947-70E740481C1C}">
                  <a14:useLocalDpi xmlns="" xmlns:a14="http://schemas.microsoft.com/office/drawing/2010/main" val="0"/>
                </a:ext>
              </a:extLst>
            </a:blip>
            <a:stretch>
              <a:fillRect/>
            </a:stretch>
          </p:blipFill>
          <p:spPr>
            <a:xfrm>
              <a:off x="7287123" y="1982454"/>
              <a:ext cx="281725" cy="281725"/>
            </a:xfrm>
            <a:prstGeom prst="rect">
              <a:avLst/>
            </a:prstGeom>
            <a:grpFill/>
          </p:spPr>
        </p:pic>
        <p:sp>
          <p:nvSpPr>
            <p:cNvPr id="104" name="文本框 103"/>
            <p:cNvSpPr txBox="1"/>
            <p:nvPr/>
          </p:nvSpPr>
          <p:spPr>
            <a:xfrm>
              <a:off x="7257319" y="2216097"/>
              <a:ext cx="377026" cy="169277"/>
            </a:xfrm>
            <a:prstGeom prst="rect">
              <a:avLst/>
            </a:prstGeom>
            <a:grpFill/>
          </p:spPr>
          <p:txBody>
            <a:bodyPr wrap="none" rtlCol="0">
              <a:spAutoFit/>
            </a:bodyPr>
            <a:lstStyle/>
            <a:p>
              <a:r>
                <a:rPr lang="zh-CN" altLang="en-US" sz="500" b="1" dirty="0">
                  <a:solidFill>
                    <a:schemeClr val="tx1">
                      <a:lumMod val="75000"/>
                      <a:lumOff val="25000"/>
                    </a:schemeClr>
                  </a:solidFill>
                  <a:latin typeface="微软雅黑" panose="020B0503020204020204" pitchFamily="34" charset="-122"/>
                  <a:ea typeface="微软雅黑" panose="020B0503020204020204" pitchFamily="34" charset="-122"/>
                </a:rPr>
                <a:t>新丽美</a:t>
              </a:r>
            </a:p>
          </p:txBody>
        </p:sp>
      </p:grpSp>
      <p:sp>
        <p:nvSpPr>
          <p:cNvPr id="7" name="标题 6"/>
          <p:cNvSpPr>
            <a:spLocks noGrp="1"/>
          </p:cNvSpPr>
          <p:nvPr>
            <p:ph type="title"/>
          </p:nvPr>
        </p:nvSpPr>
        <p:spPr/>
        <p:txBody>
          <a:bodyPr/>
          <a:lstStyle/>
          <a:p>
            <a:r>
              <a:rPr lang="zh-CN" altLang="en-US" dirty="0"/>
              <a:t>新希望集团介绍</a:t>
            </a:r>
          </a:p>
        </p:txBody>
      </p:sp>
      <p:grpSp>
        <p:nvGrpSpPr>
          <p:cNvPr id="18" name="组合 3"/>
          <p:cNvGrpSpPr/>
          <p:nvPr/>
        </p:nvGrpSpPr>
        <p:grpSpPr>
          <a:xfrm>
            <a:off x="620955" y="3076017"/>
            <a:ext cx="4413515" cy="1492807"/>
            <a:chOff x="323528" y="2599055"/>
            <a:chExt cx="4896544" cy="1656184"/>
          </a:xfrm>
        </p:grpSpPr>
        <p:pic>
          <p:nvPicPr>
            <p:cNvPr id="5" name="图片 4"/>
            <p:cNvPicPr>
              <a:picLocks noChangeAspect="1"/>
            </p:cNvPicPr>
            <p:nvPr/>
          </p:nvPicPr>
          <p:blipFill>
            <a:blip r:embed="rId3" cstate="print"/>
            <a:stretch>
              <a:fillRect/>
            </a:stretch>
          </p:blipFill>
          <p:spPr>
            <a:xfrm>
              <a:off x="323528" y="2599055"/>
              <a:ext cx="4826389" cy="1656184"/>
            </a:xfrm>
            <a:prstGeom prst="rect">
              <a:avLst/>
            </a:prstGeom>
          </p:spPr>
        </p:pic>
        <p:sp>
          <p:nvSpPr>
            <p:cNvPr id="8" name="圆角矩形 8"/>
            <p:cNvSpPr/>
            <p:nvPr/>
          </p:nvSpPr>
          <p:spPr>
            <a:xfrm>
              <a:off x="4860032" y="2956688"/>
              <a:ext cx="360040" cy="24332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pic>
        <p:nvPicPr>
          <p:cNvPr id="1026" name="Picture 2" descr="F:\360MoveData\Users\Administrator\Desktop\9922720e0cf3d7ca7bcb07bee949a9096b63f72403e7.png"/>
          <p:cNvPicPr>
            <a:picLocks noChangeAspect="1" noChangeArrowheads="1"/>
          </p:cNvPicPr>
          <p:nvPr/>
        </p:nvPicPr>
        <p:blipFill>
          <a:blip r:embed="rId11" cstate="print">
            <a:extLst>
              <a:ext uri="{28A0092B-C50C-407E-A947-70E740481C1C}">
                <a14:useLocalDpi xmlns="" xmlns:a14="http://schemas.microsoft.com/office/drawing/2010/main" val="0"/>
              </a:ext>
            </a:extLst>
          </a:blip>
          <a:srcRect/>
          <a:stretch>
            <a:fillRect/>
          </a:stretch>
        </p:blipFill>
        <p:spPr bwMode="auto">
          <a:xfrm>
            <a:off x="6161449" y="1172232"/>
            <a:ext cx="1621228" cy="538129"/>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矩形 9"/>
          <p:cNvSpPr/>
          <p:nvPr/>
        </p:nvSpPr>
        <p:spPr>
          <a:xfrm>
            <a:off x="1834580" y="3093305"/>
            <a:ext cx="976805" cy="2147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年销售收入</a:t>
            </a:r>
            <a:endParaRPr lang="zh-CN" altLang="en-US" sz="1000" dirty="0">
              <a:latin typeface="微软雅黑" panose="020B0503020204020204" pitchFamily="34" charset="-122"/>
              <a:ea typeface="微软雅黑" panose="020B0503020204020204" pitchFamily="34" charset="-122"/>
            </a:endParaRPr>
          </a:p>
        </p:txBody>
      </p:sp>
      <p:sp>
        <p:nvSpPr>
          <p:cNvPr id="13" name="矩形 12"/>
          <p:cNvSpPr/>
          <p:nvPr/>
        </p:nvSpPr>
        <p:spPr>
          <a:xfrm>
            <a:off x="3923928" y="3095954"/>
            <a:ext cx="838055" cy="2147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全球雇员</a:t>
            </a:r>
            <a:endParaRPr lang="zh-CN" altLang="en-US" sz="1000" dirty="0">
              <a:latin typeface="微软雅黑" panose="020B0503020204020204" pitchFamily="34" charset="-122"/>
              <a:ea typeface="微软雅黑" panose="020B0503020204020204" pitchFamily="34" charset="-122"/>
            </a:endParaRPr>
          </a:p>
        </p:txBody>
      </p:sp>
      <p:sp>
        <p:nvSpPr>
          <p:cNvPr id="14" name="矩形 13"/>
          <p:cNvSpPr/>
          <p:nvPr/>
        </p:nvSpPr>
        <p:spPr>
          <a:xfrm>
            <a:off x="2811385" y="4349025"/>
            <a:ext cx="976805" cy="2147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全球分公司</a:t>
            </a:r>
            <a:endParaRPr lang="zh-CN" altLang="en-US" sz="1000" dirty="0">
              <a:latin typeface="微软雅黑" panose="020B0503020204020204" pitchFamily="34" charset="-122"/>
              <a:ea typeface="微软雅黑" panose="020B0503020204020204" pitchFamily="34" charset="-122"/>
            </a:endParaRPr>
          </a:p>
        </p:txBody>
      </p:sp>
      <p:sp>
        <p:nvSpPr>
          <p:cNvPr id="17" name="矩形 16"/>
          <p:cNvSpPr/>
          <p:nvPr/>
        </p:nvSpPr>
        <p:spPr>
          <a:xfrm>
            <a:off x="755576" y="4346145"/>
            <a:ext cx="976805" cy="2147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世界</a:t>
            </a:r>
            <a:r>
              <a:rPr lang="en-US" altLang="zh-CN" sz="10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500</a:t>
            </a:r>
            <a:r>
              <a:rPr lang="zh-CN" altLang="en-US" sz="10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强</a:t>
            </a:r>
            <a:endParaRPr lang="zh-CN" altLang="en-US" sz="1000"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12" cstate="print"/>
          <a:stretch>
            <a:fillRect/>
          </a:stretch>
        </p:blipFill>
        <p:spPr>
          <a:xfrm>
            <a:off x="5518843" y="2898923"/>
            <a:ext cx="2831123" cy="1969404"/>
          </a:xfrm>
          <a:prstGeom prst="rect">
            <a:avLst/>
          </a:prstGeom>
        </p:spPr>
      </p:pic>
      <p:sp>
        <p:nvSpPr>
          <p:cNvPr id="21" name="六边形 20"/>
          <p:cNvSpPr/>
          <p:nvPr/>
        </p:nvSpPr>
        <p:spPr>
          <a:xfrm>
            <a:off x="7629451" y="2106299"/>
            <a:ext cx="523827" cy="429669"/>
          </a:xfrm>
          <a:prstGeom prst="hexagon">
            <a:avLst/>
          </a:prstGeom>
          <a:noFill/>
          <a:ln w="6350">
            <a:solidFill>
              <a:srgbClr val="0C6EB8"/>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p:nvPicPr>
        <p:blipFill>
          <a:blip r:embed="rId13" cstate="print"/>
          <a:stretch>
            <a:fillRect/>
          </a:stretch>
        </p:blipFill>
        <p:spPr>
          <a:xfrm>
            <a:off x="7663943" y="2257118"/>
            <a:ext cx="448423" cy="123874"/>
          </a:xfrm>
          <a:prstGeom prst="rect">
            <a:avLst/>
          </a:prstGeom>
        </p:spPr>
      </p:pic>
      <p:sp>
        <p:nvSpPr>
          <p:cNvPr id="30" name="椭圆 29"/>
          <p:cNvSpPr/>
          <p:nvPr/>
        </p:nvSpPr>
        <p:spPr>
          <a:xfrm>
            <a:off x="2016758" y="3492859"/>
            <a:ext cx="648072" cy="650961"/>
          </a:xfrm>
          <a:prstGeom prst="ellipse">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bg1"/>
                </a:solidFill>
              </a:ln>
              <a:noFill/>
            </a:endParaRPr>
          </a:p>
        </p:txBody>
      </p:sp>
      <p:sp>
        <p:nvSpPr>
          <p:cNvPr id="31" name="矩形 30"/>
          <p:cNvSpPr/>
          <p:nvPr/>
        </p:nvSpPr>
        <p:spPr>
          <a:xfrm>
            <a:off x="1900067" y="3710970"/>
            <a:ext cx="799725" cy="214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2800</a:t>
            </a:r>
          </a:p>
          <a:p>
            <a:pPr algn="ctr"/>
            <a:r>
              <a:rPr lang="zh-CN" altLang="en-US" sz="9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亿</a:t>
            </a:r>
            <a:r>
              <a:rPr lang="en-US" altLang="zh-CN" sz="9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椭圆 31"/>
          <p:cNvSpPr/>
          <p:nvPr/>
        </p:nvSpPr>
        <p:spPr>
          <a:xfrm>
            <a:off x="978528" y="3492859"/>
            <a:ext cx="648072" cy="650961"/>
          </a:xfrm>
          <a:prstGeom prst="ellipse">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bg1"/>
                </a:solidFill>
              </a:ln>
              <a:noFill/>
            </a:endParaRPr>
          </a:p>
        </p:txBody>
      </p:sp>
      <p:sp>
        <p:nvSpPr>
          <p:cNvPr id="33" name="矩形 32"/>
          <p:cNvSpPr/>
          <p:nvPr/>
        </p:nvSpPr>
        <p:spPr>
          <a:xfrm>
            <a:off x="861837" y="3710970"/>
            <a:ext cx="799725" cy="214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363</a:t>
            </a:r>
          </a:p>
          <a:p>
            <a:pPr algn="ctr"/>
            <a:r>
              <a:rPr lang="zh-CN" altLang="en-US" sz="9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位</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椭圆 33"/>
          <p:cNvSpPr/>
          <p:nvPr/>
        </p:nvSpPr>
        <p:spPr>
          <a:xfrm>
            <a:off x="2960499" y="3492859"/>
            <a:ext cx="648072" cy="650961"/>
          </a:xfrm>
          <a:prstGeom prst="ellipse">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bg1"/>
                </a:solidFill>
              </a:ln>
              <a:noFill/>
            </a:endParaRPr>
          </a:p>
        </p:txBody>
      </p:sp>
      <p:sp>
        <p:nvSpPr>
          <p:cNvPr id="35" name="矩形 34"/>
          <p:cNvSpPr/>
          <p:nvPr/>
        </p:nvSpPr>
        <p:spPr>
          <a:xfrm>
            <a:off x="2938297" y="3725165"/>
            <a:ext cx="705236" cy="214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600</a:t>
            </a:r>
          </a:p>
          <a:p>
            <a:pPr algn="ctr"/>
            <a:r>
              <a:rPr lang="en-US" altLang="zh-CN" sz="9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椭圆 35"/>
          <p:cNvSpPr/>
          <p:nvPr/>
        </p:nvSpPr>
        <p:spPr>
          <a:xfrm>
            <a:off x="3939202" y="3502135"/>
            <a:ext cx="705236" cy="650961"/>
          </a:xfrm>
          <a:prstGeom prst="ellipse">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bg1"/>
                </a:solidFill>
              </a:ln>
              <a:noFill/>
            </a:endParaRPr>
          </a:p>
        </p:txBody>
      </p:sp>
      <p:sp>
        <p:nvSpPr>
          <p:cNvPr id="37" name="矩形 36"/>
          <p:cNvSpPr/>
          <p:nvPr/>
        </p:nvSpPr>
        <p:spPr>
          <a:xfrm>
            <a:off x="3869953" y="3720246"/>
            <a:ext cx="838055" cy="214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130000</a:t>
            </a:r>
          </a:p>
          <a:p>
            <a:pPr algn="ctr"/>
            <a:r>
              <a:rPr lang="en-US" altLang="zh-CN" sz="900" dirty="0">
                <a:ln w="0"/>
                <a:solidFill>
                  <a:schemeClr val="tx1">
                    <a:lumMod val="75000"/>
                    <a:lumOff val="25000"/>
                  </a:schemeClr>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a:t>
            </a:r>
            <a:endPar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67544" y="2596627"/>
            <a:ext cx="7992888" cy="2110578"/>
          </a:xfrm>
          <a:prstGeom prst="rect">
            <a:avLst/>
          </a:prstGeom>
          <a:noFill/>
        </p:spPr>
        <p:txBody>
          <a:bodyPr wrap="square" rtlCol="0">
            <a:spAutoFit/>
          </a:bodyPr>
          <a:lstStyle/>
          <a:p>
            <a:pPr>
              <a:lnSpc>
                <a:spcPts val="1600"/>
              </a:lnSpc>
              <a:spcBef>
                <a:spcPts val="300"/>
              </a:spcBef>
            </a:pPr>
            <a:r>
              <a:rPr lang="zh-CN" altLang="en-US" sz="1000" dirty="0">
                <a:latin typeface="微软雅黑" panose="020B0503020204020204" pitchFamily="34" charset="-122"/>
                <a:ea typeface="微软雅黑" panose="020B0503020204020204" pitchFamily="34" charset="-122"/>
              </a:rPr>
              <a:t>       </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公司始创于</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2006</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年，现为</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新希望集团直接控股子公司</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，是一家长期致力于以数字科技守护生命健康的国家级高新技术企业，也是行业领先的心电人工智能算法专家。</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ts val="1600"/>
              </a:lnSpc>
              <a:spcBef>
                <a:spcPts val="300"/>
              </a:spcBef>
            </a:pPr>
            <a:r>
              <a:rPr lang="zh-CN" altLang="en-US" sz="1000" b="1" dirty="0">
                <a:solidFill>
                  <a:srgbClr val="196494"/>
                </a:solidFill>
                <a:latin typeface="微软雅黑" panose="020B0503020204020204" pitchFamily="34" charset="-122"/>
                <a:ea typeface="微软雅黑" panose="020B0503020204020204" pitchFamily="34" charset="-122"/>
              </a:rPr>
              <a:t>       使命：智护生命，让健康可见 </a:t>
            </a:r>
            <a:endParaRPr lang="en-US" altLang="zh-CN" sz="1000" b="1" dirty="0">
              <a:solidFill>
                <a:srgbClr val="196494"/>
              </a:solidFill>
              <a:latin typeface="微软雅黑" panose="020B0503020204020204" pitchFamily="34" charset="-122"/>
              <a:ea typeface="微软雅黑" panose="020B0503020204020204" pitchFamily="34" charset="-122"/>
            </a:endParaRPr>
          </a:p>
          <a:p>
            <a:pPr>
              <a:lnSpc>
                <a:spcPts val="1600"/>
              </a:lnSpc>
              <a:spcBef>
                <a:spcPts val="300"/>
              </a:spcBef>
            </a:pPr>
            <a:r>
              <a:rPr lang="zh-CN" altLang="en-US" sz="1000" b="1" dirty="0">
                <a:solidFill>
                  <a:srgbClr val="196494"/>
                </a:solidFill>
                <a:latin typeface="微软雅黑" panose="020B0503020204020204" pitchFamily="34" charset="-122"/>
                <a:ea typeface="微软雅黑" panose="020B0503020204020204" pitchFamily="34" charset="-122"/>
              </a:rPr>
              <a:t>       愿景：中国数字健康引领者</a:t>
            </a:r>
            <a:endParaRPr lang="en-US" altLang="zh-CN" sz="1000" b="1" dirty="0">
              <a:solidFill>
                <a:srgbClr val="196494"/>
              </a:solidFill>
              <a:latin typeface="微软雅黑" panose="020B0503020204020204" pitchFamily="34" charset="-122"/>
              <a:ea typeface="微软雅黑" panose="020B0503020204020204" pitchFamily="34" charset="-122"/>
            </a:endParaRPr>
          </a:p>
          <a:p>
            <a:pPr>
              <a:lnSpc>
                <a:spcPts val="1600"/>
              </a:lnSpc>
              <a:spcBef>
                <a:spcPts val="300"/>
              </a:spcBef>
            </a:pPr>
            <a:r>
              <a:rPr lang="zh-CN" altLang="en-US" sz="1000" dirty="0">
                <a:latin typeface="微软雅黑" panose="020B0503020204020204" pitchFamily="34" charset="-122"/>
                <a:ea typeface="微软雅黑" panose="020B0503020204020204" pitchFamily="34" charset="-122"/>
              </a:rPr>
              <a:t>       </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公司生根于医疗设备移动便携时代，成长于物联网络时代，蓬勃于数智融合时代，曾为抗日战争暨世界反法西斯战争胜利</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70</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周年、建国</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70</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周年阅兵等国家级重大庆典活动提供远程医疗保障服务，联合中日友好医院共建并参与运营</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国家远程医疗与互联网医学中心</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 </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ts val="1600"/>
              </a:lnSpc>
              <a:spcBef>
                <a:spcPts val="300"/>
              </a:spcBef>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       公司研发生产医疗级智能硬件设备，开发平台软件、移动应用、人工智能算法，</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rPr>
              <a:t>为院内外多参数监测、区域心电网络、体检筛查、医疗信息化等场景</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提供多层次专业解决方案。</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ts val="1600"/>
              </a:lnSpc>
              <a:spcBef>
                <a:spcPts val="300"/>
              </a:spcBef>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       公司在医疗健康领域不断开拓创新，用科技和专业为医疗机构降本提质增效，为生态圈合作伙伴赋能，为患者健康保驾护航。</a:t>
            </a:r>
            <a:endParaRPr lang="zh-CN" altLang="en-US" sz="1000" dirty="0">
              <a:latin typeface="微软雅黑" panose="020B0503020204020204" pitchFamily="34" charset="-122"/>
              <a:ea typeface="微软雅黑" panose="020B0503020204020204" pitchFamily="34" charset="-122"/>
            </a:endParaRPr>
          </a:p>
        </p:txBody>
      </p:sp>
      <p:sp>
        <p:nvSpPr>
          <p:cNvPr id="8" name="Rectangle 2"/>
          <p:cNvSpPr/>
          <p:nvPr/>
        </p:nvSpPr>
        <p:spPr>
          <a:xfrm>
            <a:off x="3009608" y="958742"/>
            <a:ext cx="2616753" cy="1596536"/>
          </a:xfrm>
          <a:prstGeom prst="rect">
            <a:avLst/>
          </a:prstGeom>
          <a:solidFill>
            <a:srgbClr val="1964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rotWithShape="1">
          <a:blip r:embed="rId3" cstate="print">
            <a:extLst>
              <a:ext uri="{28A0092B-C50C-407E-A947-70E740481C1C}">
                <a14:useLocalDpi xmlns="" xmlns:a14="http://schemas.microsoft.com/office/drawing/2010/main" val="0"/>
              </a:ext>
            </a:extLst>
          </a:blip>
          <a:srcRect l="-3336" r="19380"/>
          <a:stretch>
            <a:fillRect/>
          </a:stretch>
        </p:blipFill>
        <p:spPr>
          <a:xfrm>
            <a:off x="483478" y="957600"/>
            <a:ext cx="2454996" cy="1598400"/>
          </a:xfrm>
          <a:prstGeom prst="rect">
            <a:avLst/>
          </a:prstGeom>
        </p:spPr>
      </p:pic>
      <p:pic>
        <p:nvPicPr>
          <p:cNvPr id="2" name="图片 1"/>
          <p:cNvPicPr>
            <a:picLocks noChangeAspect="1"/>
          </p:cNvPicPr>
          <p:nvPr/>
        </p:nvPicPr>
        <p:blipFill rotWithShape="1">
          <a:blip r:embed="rId4" cstate="print">
            <a:extLst>
              <a:ext uri="{BEBA8EAE-BF5A-486C-A8C5-ECC9F3942E4B}">
                <a14:imgProps xmlns="" xmlns:a14="http://schemas.microsoft.com/office/drawing/2010/main">
                  <a14:imgLayer r:embed="rId5">
                    <a14:imgEffect>
                      <a14:brightnessContrast bright="29000" contrast="2000"/>
                    </a14:imgEffect>
                    <a14:imgEffect>
                      <a14:sharpenSoften amount="20000"/>
                    </a14:imgEffect>
                  </a14:imgLayer>
                </a14:imgProps>
              </a:ext>
              <a:ext uri="{28A0092B-C50C-407E-A947-70E740481C1C}">
                <a14:useLocalDpi xmlns="" xmlns:a14="http://schemas.microsoft.com/office/drawing/2010/main" val="0"/>
              </a:ext>
            </a:extLst>
          </a:blip>
          <a:srcRect t="18506"/>
          <a:stretch>
            <a:fillRect/>
          </a:stretch>
        </p:blipFill>
        <p:spPr>
          <a:xfrm>
            <a:off x="5700334" y="954281"/>
            <a:ext cx="2688090" cy="1592592"/>
          </a:xfrm>
          <a:prstGeom prst="rect">
            <a:avLst/>
          </a:prstGeom>
        </p:spPr>
      </p:pic>
      <p:sp>
        <p:nvSpPr>
          <p:cNvPr id="4" name="标题 3"/>
          <p:cNvSpPr>
            <a:spLocks noGrp="1"/>
          </p:cNvSpPr>
          <p:nvPr>
            <p:ph type="title"/>
          </p:nvPr>
        </p:nvSpPr>
        <p:spPr/>
        <p:txBody>
          <a:bodyPr/>
          <a:lstStyle/>
          <a:p>
            <a:r>
              <a:rPr lang="zh-CN" altLang="en-US" dirty="0">
                <a:solidFill>
                  <a:schemeClr val="tx1">
                    <a:lumMod val="75000"/>
                    <a:lumOff val="25000"/>
                  </a:schemeClr>
                </a:solidFill>
              </a:rPr>
              <a:t>好络维介绍</a:t>
            </a:r>
            <a:endParaRPr lang="zh-CN" altLang="en-US" dirty="0"/>
          </a:p>
        </p:txBody>
      </p:sp>
      <p:pic>
        <p:nvPicPr>
          <p:cNvPr id="4098" name="Picture 2" descr="F:\360MoveData\Users\Administrator\Desktop\0112.png"/>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3247472" y="1337634"/>
            <a:ext cx="2141025" cy="838752"/>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305103" y="2866247"/>
            <a:ext cx="8136904" cy="0"/>
          </a:xfrm>
          <a:prstGeom prst="line">
            <a:avLst/>
          </a:prstGeom>
          <a:ln w="28575">
            <a:solidFill>
              <a:srgbClr val="166191"/>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0772" y="1924839"/>
            <a:ext cx="1224136" cy="430887"/>
          </a:xfrm>
          <a:prstGeom prst="rect">
            <a:avLst/>
          </a:prstGeom>
        </p:spPr>
        <p:txBody>
          <a:bodyPr wrap="square">
            <a:spAutoFit/>
          </a:bodyPr>
          <a:lstStyle/>
          <a:p>
            <a:pPr marL="342900" fontAlgn="ctr"/>
            <a:r>
              <a:rPr lang="en-US" altLang="zh-CN" sz="900" b="1" dirty="0">
                <a:solidFill>
                  <a:srgbClr val="166191"/>
                </a:solidFill>
                <a:latin typeface="微软雅黑" panose="020B0503020204020204" pitchFamily="34" charset="-122"/>
                <a:ea typeface="微软雅黑" panose="020B0503020204020204" pitchFamily="34" charset="-122"/>
              </a:rPr>
              <a:t>2006</a:t>
            </a:r>
            <a:r>
              <a:rPr lang="zh-CN" altLang="en-US" sz="900" b="1" dirty="0">
                <a:solidFill>
                  <a:srgbClr val="166191"/>
                </a:solidFill>
                <a:latin typeface="微软雅黑" panose="020B0503020204020204" pitchFamily="34" charset="-122"/>
                <a:ea typeface="微软雅黑" panose="020B0503020204020204" pitchFamily="34" charset="-122"/>
              </a:rPr>
              <a:t>年</a:t>
            </a:r>
            <a:r>
              <a:rPr lang="en-US" altLang="zh-CN" sz="900" b="1" dirty="0">
                <a:solidFill>
                  <a:srgbClr val="166191"/>
                </a:solidFill>
                <a:latin typeface="微软雅黑" panose="020B0503020204020204" pitchFamily="34" charset="-122"/>
                <a:ea typeface="微软雅黑" panose="020B0503020204020204" pitchFamily="34" charset="-122"/>
              </a:rPr>
              <a:t> </a:t>
            </a:r>
          </a:p>
          <a:p>
            <a:pPr marL="342900" fontAlgn="ctr">
              <a:spcBef>
                <a:spcPts val="600"/>
              </a:spcBef>
            </a:pP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好络维诞生</a:t>
            </a:r>
          </a:p>
        </p:txBody>
      </p:sp>
      <p:grpSp>
        <p:nvGrpSpPr>
          <p:cNvPr id="2" name="组合 22"/>
          <p:cNvGrpSpPr/>
          <p:nvPr/>
        </p:nvGrpSpPr>
        <p:grpSpPr>
          <a:xfrm>
            <a:off x="528824" y="2348176"/>
            <a:ext cx="203169" cy="533633"/>
            <a:chOff x="611560" y="2038117"/>
            <a:chExt cx="203169" cy="533633"/>
          </a:xfrm>
          <a:solidFill>
            <a:srgbClr val="166191"/>
          </a:solidFill>
        </p:grpSpPr>
        <p:cxnSp>
          <p:nvCxnSpPr>
            <p:cNvPr id="7" name="直接连接符 6"/>
            <p:cNvCxnSpPr/>
            <p:nvPr/>
          </p:nvCxnSpPr>
          <p:spPr>
            <a:xfrm>
              <a:off x="611560" y="2067694"/>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11560" y="2067694"/>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755576" y="2038117"/>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14" name="矩形 13"/>
          <p:cNvSpPr/>
          <p:nvPr/>
        </p:nvSpPr>
        <p:spPr>
          <a:xfrm>
            <a:off x="300639" y="3369062"/>
            <a:ext cx="1094460" cy="553998"/>
          </a:xfrm>
          <a:prstGeom prst="rect">
            <a:avLst/>
          </a:prstGeom>
        </p:spPr>
        <p:txBody>
          <a:bodyPr wrap="square">
            <a:spAutoFit/>
          </a:bodyPr>
          <a:lstStyle/>
          <a:p>
            <a:pPr marL="342900" fontAlgn="ctr"/>
            <a:r>
              <a:rPr lang="zh-CN" altLang="zh-CN" sz="900" b="1" dirty="0">
                <a:solidFill>
                  <a:srgbClr val="166191"/>
                </a:solidFill>
                <a:latin typeface="微软雅黑" panose="020B0503020204020204" pitchFamily="34" charset="-122"/>
                <a:ea typeface="微软雅黑" panose="020B0503020204020204" pitchFamily="34" charset="-122"/>
              </a:rPr>
              <a:t>2008</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marL="342900" fontAlgn="ctr">
              <a:spcBef>
                <a:spcPts val="600"/>
              </a:spcBef>
            </a:pPr>
            <a:r>
              <a:rPr lang="en-US" altLang="zh-CN" sz="800" dirty="0" err="1">
                <a:solidFill>
                  <a:schemeClr val="tx1">
                    <a:lumMod val="75000"/>
                    <a:lumOff val="25000"/>
                  </a:schemeClr>
                </a:solidFill>
                <a:latin typeface="微软雅黑" panose="020B0503020204020204" pitchFamily="34" charset="-122"/>
                <a:ea typeface="微软雅黑" panose="020B0503020204020204" pitchFamily="34" charset="-122"/>
              </a:rPr>
              <a:t>获首张医疗器械注册证</a:t>
            </a:r>
            <a:endPar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 name="组合 35"/>
          <p:cNvGrpSpPr/>
          <p:nvPr/>
        </p:nvGrpSpPr>
        <p:grpSpPr>
          <a:xfrm>
            <a:off x="764506" y="2870542"/>
            <a:ext cx="203169" cy="529286"/>
            <a:chOff x="1043608" y="2571750"/>
            <a:chExt cx="203169" cy="529286"/>
          </a:xfrm>
          <a:solidFill>
            <a:srgbClr val="166191"/>
          </a:solidFill>
        </p:grpSpPr>
        <p:cxnSp>
          <p:nvCxnSpPr>
            <p:cNvPr id="16" name="直接连接符 15"/>
            <p:cNvCxnSpPr/>
            <p:nvPr/>
          </p:nvCxnSpPr>
          <p:spPr>
            <a:xfrm>
              <a:off x="1043608" y="2571750"/>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043608" y="3071460"/>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1187624" y="3041883"/>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136422" y="2348176"/>
            <a:ext cx="205171" cy="532348"/>
            <a:chOff x="1062286" y="2167856"/>
            <a:chExt cx="205171" cy="532348"/>
          </a:xfrm>
          <a:solidFill>
            <a:srgbClr val="166191"/>
          </a:solidFill>
        </p:grpSpPr>
        <p:cxnSp>
          <p:nvCxnSpPr>
            <p:cNvPr id="20" name="直接连接符 19"/>
            <p:cNvCxnSpPr/>
            <p:nvPr/>
          </p:nvCxnSpPr>
          <p:spPr>
            <a:xfrm>
              <a:off x="1062286" y="2196148"/>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64288" y="2197433"/>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22" name="椭圆 21"/>
            <p:cNvSpPr/>
            <p:nvPr/>
          </p:nvSpPr>
          <p:spPr>
            <a:xfrm>
              <a:off x="1208304" y="2167856"/>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15" name="矩形 14"/>
          <p:cNvSpPr/>
          <p:nvPr/>
        </p:nvSpPr>
        <p:spPr>
          <a:xfrm>
            <a:off x="701270" y="1678618"/>
            <a:ext cx="1083071" cy="677108"/>
          </a:xfrm>
          <a:prstGeom prst="rect">
            <a:avLst/>
          </a:prstGeom>
        </p:spPr>
        <p:txBody>
          <a:bodyPr wrap="square">
            <a:spAutoFit/>
          </a:bodyPr>
          <a:lstStyle/>
          <a:p>
            <a:pPr marL="342900" fontAlgn="ctr"/>
            <a:r>
              <a:rPr lang="en-US" altLang="zh-CN" sz="900" b="1" dirty="0">
                <a:solidFill>
                  <a:srgbClr val="166191"/>
                </a:solidFill>
                <a:latin typeface="微软雅黑" panose="020B0503020204020204" pitchFamily="34" charset="-122"/>
                <a:ea typeface="微软雅黑" panose="020B0503020204020204" pitchFamily="34" charset="-122"/>
              </a:rPr>
              <a:t>2010</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marL="342900" fontAlgn="ctr">
              <a:spcBef>
                <a:spcPts val="600"/>
              </a:spcBef>
            </a:pP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获国家“高新技术企业”证书 </a:t>
            </a:r>
          </a:p>
        </p:txBody>
      </p:sp>
      <p:sp>
        <p:nvSpPr>
          <p:cNvPr id="17" name="矩形 16"/>
          <p:cNvSpPr/>
          <p:nvPr/>
        </p:nvSpPr>
        <p:spPr>
          <a:xfrm>
            <a:off x="1460931" y="3369062"/>
            <a:ext cx="961712" cy="923330"/>
          </a:xfrm>
          <a:prstGeom prst="rect">
            <a:avLst/>
          </a:prstGeom>
        </p:spPr>
        <p:txBody>
          <a:bodyPr wrap="square">
            <a:spAutoFit/>
          </a:bodyPr>
          <a:lstStyle/>
          <a:p>
            <a:pPr fontAlgn="ctr"/>
            <a:r>
              <a:rPr lang="zh-CN" altLang="zh-CN" sz="900" b="1" dirty="0">
                <a:solidFill>
                  <a:srgbClr val="166191"/>
                </a:solidFill>
                <a:latin typeface="微软雅黑" panose="020B0503020204020204" pitchFamily="34" charset="-122"/>
                <a:ea typeface="微软雅黑" panose="020B0503020204020204" pitchFamily="34" charset="-122"/>
              </a:rPr>
              <a:t>2012</a:t>
            </a:r>
            <a:r>
              <a:rPr lang="zh-CN" altLang="en-US" sz="900" b="1" dirty="0">
                <a:solidFill>
                  <a:srgbClr val="166191"/>
                </a:solidFill>
                <a:latin typeface="微软雅黑" panose="020B0503020204020204" pitchFamily="34" charset="-122"/>
                <a:ea typeface="微软雅黑" panose="020B0503020204020204" pitchFamily="34" charset="-122"/>
              </a:rPr>
              <a:t>年</a:t>
            </a:r>
            <a:r>
              <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rPr>
              <a:t>  </a:t>
            </a:r>
          </a:p>
          <a:p>
            <a:pPr fontAlgn="ctr">
              <a:spcBef>
                <a:spcPts val="600"/>
              </a:spcBef>
            </a:pP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与解放军总医院</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301</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合作，</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向</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全军体系医院及干休所推广心电远程会诊服务</a:t>
            </a:r>
          </a:p>
        </p:txBody>
      </p:sp>
      <p:grpSp>
        <p:nvGrpSpPr>
          <p:cNvPr id="6" name="组合 5"/>
          <p:cNvGrpSpPr/>
          <p:nvPr/>
        </p:nvGrpSpPr>
        <p:grpSpPr>
          <a:xfrm>
            <a:off x="1564110" y="2870542"/>
            <a:ext cx="154295" cy="529286"/>
            <a:chOff x="1218795" y="2729781"/>
            <a:chExt cx="154295" cy="529286"/>
          </a:xfrm>
          <a:solidFill>
            <a:srgbClr val="166191"/>
          </a:solidFill>
        </p:grpSpPr>
        <p:cxnSp>
          <p:nvCxnSpPr>
            <p:cNvPr id="27" name="直接连接符 26"/>
            <p:cNvCxnSpPr/>
            <p:nvPr/>
          </p:nvCxnSpPr>
          <p:spPr>
            <a:xfrm>
              <a:off x="1220118" y="2729781"/>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218795" y="3231639"/>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1313937" y="3199914"/>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grpSp>
        <p:nvGrpSpPr>
          <p:cNvPr id="8" name="组合 30"/>
          <p:cNvGrpSpPr/>
          <p:nvPr/>
        </p:nvGrpSpPr>
        <p:grpSpPr>
          <a:xfrm>
            <a:off x="1787856" y="2348176"/>
            <a:ext cx="203169" cy="533633"/>
            <a:chOff x="611560" y="2038117"/>
            <a:chExt cx="203169" cy="533633"/>
          </a:xfrm>
          <a:solidFill>
            <a:srgbClr val="166191"/>
          </a:solidFill>
        </p:grpSpPr>
        <p:cxnSp>
          <p:nvCxnSpPr>
            <p:cNvPr id="32" name="直接连接符 31"/>
            <p:cNvCxnSpPr/>
            <p:nvPr/>
          </p:nvCxnSpPr>
          <p:spPr>
            <a:xfrm>
              <a:off x="611560" y="2067694"/>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611560" y="2067694"/>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755576" y="2038117"/>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24" name="矩形 23"/>
          <p:cNvSpPr/>
          <p:nvPr/>
        </p:nvSpPr>
        <p:spPr>
          <a:xfrm>
            <a:off x="1333564" y="1432396"/>
            <a:ext cx="1416952" cy="923330"/>
          </a:xfrm>
          <a:prstGeom prst="rect">
            <a:avLst/>
          </a:prstGeom>
        </p:spPr>
        <p:txBody>
          <a:bodyPr wrap="square">
            <a:spAutoFit/>
          </a:bodyPr>
          <a:lstStyle/>
          <a:p>
            <a:pPr marL="342900" fontAlgn="ctr"/>
            <a:r>
              <a:rPr lang="zh-CN" altLang="zh-CN" sz="900" b="1" dirty="0">
                <a:solidFill>
                  <a:srgbClr val="166191"/>
                </a:solidFill>
                <a:latin typeface="微软雅黑" panose="020B0503020204020204" pitchFamily="34" charset="-122"/>
                <a:ea typeface="微软雅黑" panose="020B0503020204020204" pitchFamily="34" charset="-122"/>
              </a:rPr>
              <a:t>2013年</a:t>
            </a:r>
            <a:endParaRPr lang="en-US" altLang="zh-CN" sz="900" b="1" dirty="0">
              <a:solidFill>
                <a:srgbClr val="166191"/>
              </a:solidFill>
              <a:latin typeface="微软雅黑" panose="020B0503020204020204" pitchFamily="34" charset="-122"/>
              <a:ea typeface="微软雅黑" panose="020B0503020204020204" pitchFamily="34" charset="-122"/>
            </a:endParaRPr>
          </a:p>
          <a:p>
            <a:pPr marL="342900" fontAlgn="ctr">
              <a:spcBef>
                <a:spcPts val="600"/>
              </a:spcBef>
            </a:pP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承接“十二五”国家项目 ，</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完成</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“远程无线便携式多参数心电监护仪”项目开发 </a:t>
            </a:r>
          </a:p>
        </p:txBody>
      </p:sp>
      <p:grpSp>
        <p:nvGrpSpPr>
          <p:cNvPr id="11" name="组合 36"/>
          <p:cNvGrpSpPr/>
          <p:nvPr/>
        </p:nvGrpSpPr>
        <p:grpSpPr>
          <a:xfrm>
            <a:off x="2488664" y="2870542"/>
            <a:ext cx="203169" cy="529286"/>
            <a:chOff x="1043608" y="2571750"/>
            <a:chExt cx="203169" cy="529286"/>
          </a:xfrm>
          <a:solidFill>
            <a:srgbClr val="166191"/>
          </a:solidFill>
        </p:grpSpPr>
        <p:cxnSp>
          <p:nvCxnSpPr>
            <p:cNvPr id="38" name="直接连接符 37"/>
            <p:cNvCxnSpPr/>
            <p:nvPr/>
          </p:nvCxnSpPr>
          <p:spPr>
            <a:xfrm>
              <a:off x="1043608" y="2571750"/>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043608" y="3071460"/>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40" name="椭圆 39"/>
            <p:cNvSpPr/>
            <p:nvPr/>
          </p:nvSpPr>
          <p:spPr>
            <a:xfrm>
              <a:off x="1187624" y="3041883"/>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grpSp>
        <p:nvGrpSpPr>
          <p:cNvPr id="23" name="组合 41"/>
          <p:cNvGrpSpPr/>
          <p:nvPr/>
        </p:nvGrpSpPr>
        <p:grpSpPr>
          <a:xfrm>
            <a:off x="2814694" y="2348176"/>
            <a:ext cx="203169" cy="533633"/>
            <a:chOff x="611560" y="2038117"/>
            <a:chExt cx="203169" cy="533633"/>
          </a:xfrm>
          <a:solidFill>
            <a:srgbClr val="166191"/>
          </a:solidFill>
        </p:grpSpPr>
        <p:cxnSp>
          <p:nvCxnSpPr>
            <p:cNvPr id="43" name="直接连接符 42"/>
            <p:cNvCxnSpPr/>
            <p:nvPr/>
          </p:nvCxnSpPr>
          <p:spPr>
            <a:xfrm>
              <a:off x="611560" y="2067694"/>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11560" y="2067694"/>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755576" y="2038117"/>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46" name="矩形 45"/>
          <p:cNvSpPr/>
          <p:nvPr/>
        </p:nvSpPr>
        <p:spPr>
          <a:xfrm>
            <a:off x="2055844" y="3369062"/>
            <a:ext cx="1368232" cy="1138773"/>
          </a:xfrm>
          <a:prstGeom prst="rect">
            <a:avLst/>
          </a:prstGeom>
        </p:spPr>
        <p:txBody>
          <a:bodyPr wrap="square">
            <a:spAutoFit/>
          </a:bodyPr>
          <a:lstStyle/>
          <a:p>
            <a:pPr marL="342900" fontAlgn="ctr"/>
            <a:r>
              <a:rPr lang="zh-CN" altLang="zh-CN" sz="900" b="1" dirty="0">
                <a:solidFill>
                  <a:srgbClr val="166191"/>
                </a:solidFill>
                <a:latin typeface="微软雅黑" panose="020B0503020204020204" pitchFamily="34" charset="-122"/>
                <a:ea typeface="微软雅黑" panose="020B0503020204020204" pitchFamily="34" charset="-122"/>
              </a:rPr>
              <a:t>2014</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marL="342900"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●获</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新希望</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集团首期</a:t>
            </a:r>
            <a:r>
              <a:rPr lang="en-US" altLang="zh-CN" sz="800" dirty="0" err="1">
                <a:solidFill>
                  <a:schemeClr val="tx1">
                    <a:lumMod val="75000"/>
                    <a:lumOff val="25000"/>
                  </a:schemeClr>
                </a:solidFill>
                <a:latin typeface="微软雅黑" panose="020B0503020204020204" pitchFamily="34" charset="-122"/>
                <a:ea typeface="微软雅黑" panose="020B0503020204020204" pitchFamily="34" charset="-122"/>
              </a:rPr>
              <a:t>投资</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342900"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“医健云”省级重点企业研究院正式签约成立</a:t>
            </a:r>
          </a:p>
          <a:p>
            <a:pPr marL="342900" fontAlgn="ctr"/>
            <a:endParaRPr lang="zh-CN"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矩形 50"/>
          <p:cNvSpPr/>
          <p:nvPr/>
        </p:nvSpPr>
        <p:spPr>
          <a:xfrm>
            <a:off x="3524102" y="1232342"/>
            <a:ext cx="1528414" cy="1123384"/>
          </a:xfrm>
          <a:prstGeom prst="rect">
            <a:avLst/>
          </a:prstGeom>
        </p:spPr>
        <p:txBody>
          <a:bodyPr wrap="square">
            <a:spAutoFit/>
          </a:bodyPr>
          <a:lstStyle/>
          <a:p>
            <a:pPr marL="342900" fontAlgn="ctr"/>
            <a:r>
              <a:rPr lang="en-US" altLang="zh-CN" sz="900" b="1" dirty="0">
                <a:solidFill>
                  <a:srgbClr val="166191"/>
                </a:solidFill>
                <a:latin typeface="微软雅黑" panose="020B0503020204020204" pitchFamily="34" charset="-122"/>
                <a:ea typeface="微软雅黑" panose="020B0503020204020204" pitchFamily="34" charset="-122"/>
              </a:rPr>
              <a:t>2017</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marL="342900"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承接国家远程医疗与互联网医学中心</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平台</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的建设与运营</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342900"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●荣获“智慧健康养老应用试点示范企业”荣誉称号</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5" name="组合 51"/>
          <p:cNvGrpSpPr/>
          <p:nvPr/>
        </p:nvGrpSpPr>
        <p:grpSpPr>
          <a:xfrm>
            <a:off x="5124524" y="2348176"/>
            <a:ext cx="203169" cy="533633"/>
            <a:chOff x="611560" y="2038117"/>
            <a:chExt cx="203169" cy="533633"/>
          </a:xfrm>
          <a:solidFill>
            <a:srgbClr val="166191"/>
          </a:solidFill>
        </p:grpSpPr>
        <p:cxnSp>
          <p:nvCxnSpPr>
            <p:cNvPr id="53" name="直接连接符 52"/>
            <p:cNvCxnSpPr/>
            <p:nvPr/>
          </p:nvCxnSpPr>
          <p:spPr>
            <a:xfrm>
              <a:off x="611560" y="2067694"/>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611560" y="2067694"/>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a:off x="755576" y="2038117"/>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56" name="矩形 55"/>
          <p:cNvSpPr/>
          <p:nvPr/>
        </p:nvSpPr>
        <p:spPr>
          <a:xfrm>
            <a:off x="2366887" y="1109231"/>
            <a:ext cx="1502122" cy="1246495"/>
          </a:xfrm>
          <a:prstGeom prst="rect">
            <a:avLst/>
          </a:prstGeom>
        </p:spPr>
        <p:txBody>
          <a:bodyPr wrap="square">
            <a:spAutoFit/>
          </a:bodyPr>
          <a:lstStyle/>
          <a:p>
            <a:pPr marL="342900" fontAlgn="ctr"/>
            <a:r>
              <a:rPr lang="en-US" altLang="zh-CN" sz="900" b="1" dirty="0">
                <a:solidFill>
                  <a:srgbClr val="166191"/>
                </a:solidFill>
                <a:latin typeface="微软雅黑" panose="020B0503020204020204" pitchFamily="34" charset="-122"/>
                <a:ea typeface="微软雅黑" panose="020B0503020204020204" pitchFamily="34" charset="-122"/>
              </a:rPr>
              <a:t>2015</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marL="342900"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●参与抗战</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70</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周年阅兵老兵健康保障活动，并被授予特别贡献奖 </a:t>
            </a:r>
          </a:p>
          <a:p>
            <a:pPr marL="342900"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●“无线网络生理参数监测仪系统” 被认定为浙江省装备制造业重点领域首台套</a:t>
            </a:r>
          </a:p>
        </p:txBody>
      </p:sp>
      <p:sp>
        <p:nvSpPr>
          <p:cNvPr id="57" name="矩形 56"/>
          <p:cNvSpPr/>
          <p:nvPr/>
        </p:nvSpPr>
        <p:spPr>
          <a:xfrm>
            <a:off x="4464598" y="3369062"/>
            <a:ext cx="1108265" cy="1461939"/>
          </a:xfrm>
          <a:prstGeom prst="rect">
            <a:avLst/>
          </a:prstGeom>
        </p:spPr>
        <p:txBody>
          <a:bodyPr wrap="square">
            <a:spAutoFit/>
          </a:bodyPr>
          <a:lstStyle/>
          <a:p>
            <a:pPr fontAlgn="ctr"/>
            <a:r>
              <a:rPr lang="en-US" altLang="zh-CN" sz="900" b="1" dirty="0">
                <a:solidFill>
                  <a:srgbClr val="166191"/>
                </a:solidFill>
                <a:latin typeface="微软雅黑" panose="020B0503020204020204" pitchFamily="34" charset="-122"/>
                <a:ea typeface="微软雅黑" panose="020B0503020204020204" pitchFamily="34" charset="-122"/>
              </a:rPr>
              <a:t>2018</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●多款产品入选</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智慧健康养老产品及服务推广目录</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 </a:t>
            </a: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●发布“心知了”平台 </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●荣获中华医学科技奖</a:t>
            </a:r>
          </a:p>
          <a:p>
            <a:pPr fontAlgn="ct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6" name="组合 58"/>
          <p:cNvGrpSpPr/>
          <p:nvPr/>
        </p:nvGrpSpPr>
        <p:grpSpPr>
          <a:xfrm>
            <a:off x="5716879" y="2870542"/>
            <a:ext cx="203169" cy="529286"/>
            <a:chOff x="1043608" y="2571750"/>
            <a:chExt cx="203169" cy="529286"/>
          </a:xfrm>
          <a:solidFill>
            <a:srgbClr val="166191"/>
          </a:solidFill>
        </p:grpSpPr>
        <p:cxnSp>
          <p:nvCxnSpPr>
            <p:cNvPr id="60" name="直接连接符 59"/>
            <p:cNvCxnSpPr/>
            <p:nvPr/>
          </p:nvCxnSpPr>
          <p:spPr>
            <a:xfrm>
              <a:off x="1043608" y="2571750"/>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1043608" y="3071460"/>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62" name="椭圆 61"/>
            <p:cNvSpPr/>
            <p:nvPr/>
          </p:nvSpPr>
          <p:spPr>
            <a:xfrm>
              <a:off x="1187624" y="3041883"/>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64" name="矩形 63"/>
          <p:cNvSpPr/>
          <p:nvPr/>
        </p:nvSpPr>
        <p:spPr>
          <a:xfrm>
            <a:off x="5012218" y="1232342"/>
            <a:ext cx="1208368" cy="1123384"/>
          </a:xfrm>
          <a:prstGeom prst="rect">
            <a:avLst/>
          </a:prstGeom>
        </p:spPr>
        <p:txBody>
          <a:bodyPr wrap="square">
            <a:spAutoFit/>
          </a:bodyPr>
          <a:lstStyle/>
          <a:p>
            <a:pPr fontAlgn="ctr"/>
            <a:r>
              <a:rPr lang="en-US" altLang="zh-CN" sz="900" b="1" dirty="0">
                <a:solidFill>
                  <a:srgbClr val="166191"/>
                </a:solidFill>
                <a:latin typeface="微软雅黑" panose="020B0503020204020204" pitchFamily="34" charset="-122"/>
                <a:ea typeface="微软雅黑" panose="020B0503020204020204" pitchFamily="34" charset="-122"/>
              </a:rPr>
              <a:t>2019</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800" dirty="0">
              <a:solidFill>
                <a:srgbClr val="166191"/>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latin typeface="微软雅黑" panose="020B0503020204020204" pitchFamily="34" charset="-122"/>
                <a:ea typeface="微软雅黑" panose="020B0503020204020204" pitchFamily="34" charset="-122"/>
              </a:rPr>
              <a:t>●</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个人</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可穿戴创新产品</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获得医疗器械证并发布上市</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完成</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建国</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70周年阅兵</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老兵健康</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保障，荣获阅兵指挥部的通报表彰</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0" name="组合 64"/>
          <p:cNvGrpSpPr/>
          <p:nvPr/>
        </p:nvGrpSpPr>
        <p:grpSpPr>
          <a:xfrm>
            <a:off x="6349801" y="2348176"/>
            <a:ext cx="212547" cy="533633"/>
            <a:chOff x="611560" y="2038117"/>
            <a:chExt cx="203169" cy="533633"/>
          </a:xfrm>
          <a:solidFill>
            <a:srgbClr val="166191"/>
          </a:solidFill>
        </p:grpSpPr>
        <p:cxnSp>
          <p:nvCxnSpPr>
            <p:cNvPr id="66" name="直接连接符 65"/>
            <p:cNvCxnSpPr/>
            <p:nvPr/>
          </p:nvCxnSpPr>
          <p:spPr>
            <a:xfrm>
              <a:off x="611560" y="2067694"/>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611560" y="2067694"/>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68" name="椭圆 67"/>
            <p:cNvSpPr/>
            <p:nvPr/>
          </p:nvSpPr>
          <p:spPr>
            <a:xfrm>
              <a:off x="755576" y="2038117"/>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69" name="矩形 68"/>
          <p:cNvSpPr/>
          <p:nvPr/>
        </p:nvSpPr>
        <p:spPr>
          <a:xfrm>
            <a:off x="5484582" y="3369062"/>
            <a:ext cx="1166148" cy="1938992"/>
          </a:xfrm>
          <a:prstGeom prst="rect">
            <a:avLst/>
          </a:prstGeom>
        </p:spPr>
        <p:txBody>
          <a:bodyPr wrap="square">
            <a:spAutoFit/>
          </a:bodyPr>
          <a:lstStyle/>
          <a:p>
            <a:pPr fontAlgn="ctr"/>
            <a:r>
              <a:rPr lang="en-US" altLang="zh-CN" sz="900" b="1" dirty="0">
                <a:solidFill>
                  <a:srgbClr val="166191"/>
                </a:solidFill>
                <a:latin typeface="微软雅黑" panose="020B0503020204020204" pitchFamily="34" charset="-122"/>
                <a:ea typeface="微软雅黑" panose="020B0503020204020204" pitchFamily="34" charset="-122"/>
              </a:rPr>
              <a:t>2020</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800" dirty="0">
              <a:solidFill>
                <a:srgbClr val="166191"/>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●获得首张</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AI</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算法</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Ⅱ</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类证</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 获</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全球人工智能大会创新奖</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荣获数字医疗技术及应用创新大赛奖</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●开启与华为、</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OPPO</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的心电解读服务</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1" name="组合 69"/>
          <p:cNvGrpSpPr/>
          <p:nvPr/>
        </p:nvGrpSpPr>
        <p:grpSpPr>
          <a:xfrm>
            <a:off x="6864996" y="2870542"/>
            <a:ext cx="203169" cy="529286"/>
            <a:chOff x="1043608" y="2571750"/>
            <a:chExt cx="203169" cy="529286"/>
          </a:xfrm>
          <a:solidFill>
            <a:srgbClr val="166191"/>
          </a:solidFill>
        </p:grpSpPr>
        <p:cxnSp>
          <p:nvCxnSpPr>
            <p:cNvPr id="71" name="直接连接符 70"/>
            <p:cNvCxnSpPr/>
            <p:nvPr/>
          </p:nvCxnSpPr>
          <p:spPr>
            <a:xfrm>
              <a:off x="1043608" y="2571750"/>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1043608" y="3071460"/>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73" name="椭圆 72"/>
            <p:cNvSpPr/>
            <p:nvPr/>
          </p:nvSpPr>
          <p:spPr>
            <a:xfrm>
              <a:off x="1187624" y="3041883"/>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74" name="矩形 73"/>
          <p:cNvSpPr/>
          <p:nvPr/>
        </p:nvSpPr>
        <p:spPr>
          <a:xfrm>
            <a:off x="6236115" y="1478563"/>
            <a:ext cx="1205310" cy="877163"/>
          </a:xfrm>
          <a:prstGeom prst="rect">
            <a:avLst/>
          </a:prstGeom>
        </p:spPr>
        <p:txBody>
          <a:bodyPr wrap="square">
            <a:spAutoFit/>
          </a:bodyPr>
          <a:lstStyle/>
          <a:p>
            <a:pPr fontAlgn="ctr"/>
            <a:r>
              <a:rPr lang="en-US" altLang="zh-CN" sz="900" b="1" dirty="0">
                <a:solidFill>
                  <a:srgbClr val="166191"/>
                </a:solidFill>
                <a:latin typeface="微软雅黑" panose="020B0503020204020204" pitchFamily="34" charset="-122"/>
                <a:ea typeface="微软雅黑" panose="020B0503020204020204" pitchFamily="34" charset="-122"/>
              </a:rPr>
              <a:t>2021</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●获得华为心电表带</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DFH</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授权认证</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单导心电图数据处理软件</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获</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医疗器械注册证</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5" name="组合 74"/>
          <p:cNvGrpSpPr/>
          <p:nvPr/>
        </p:nvGrpSpPr>
        <p:grpSpPr>
          <a:xfrm>
            <a:off x="7492929" y="2348176"/>
            <a:ext cx="203169" cy="533633"/>
            <a:chOff x="611560" y="2038117"/>
            <a:chExt cx="203169" cy="533633"/>
          </a:xfrm>
          <a:solidFill>
            <a:srgbClr val="166191"/>
          </a:solidFill>
        </p:grpSpPr>
        <p:cxnSp>
          <p:nvCxnSpPr>
            <p:cNvPr id="76" name="直接连接符 75"/>
            <p:cNvCxnSpPr/>
            <p:nvPr/>
          </p:nvCxnSpPr>
          <p:spPr>
            <a:xfrm>
              <a:off x="611560" y="2067694"/>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611560" y="2067694"/>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78" name="椭圆 77"/>
            <p:cNvSpPr/>
            <p:nvPr/>
          </p:nvSpPr>
          <p:spPr>
            <a:xfrm>
              <a:off x="755576" y="2038117"/>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79" name="矩形 78"/>
          <p:cNvSpPr/>
          <p:nvPr/>
        </p:nvSpPr>
        <p:spPr>
          <a:xfrm>
            <a:off x="6771857" y="3369062"/>
            <a:ext cx="1017614" cy="1261884"/>
          </a:xfrm>
          <a:prstGeom prst="rect">
            <a:avLst/>
          </a:prstGeom>
        </p:spPr>
        <p:txBody>
          <a:bodyPr wrap="square">
            <a:spAutoFit/>
          </a:bodyPr>
          <a:lstStyle/>
          <a:p>
            <a:pPr fontAlgn="ctr"/>
            <a:r>
              <a:rPr lang="en-US" altLang="zh-CN" sz="900" b="1" dirty="0">
                <a:solidFill>
                  <a:srgbClr val="166191"/>
                </a:solidFill>
                <a:latin typeface="微软雅黑" panose="020B0503020204020204" pitchFamily="34" charset="-122"/>
                <a:ea typeface="微软雅黑" panose="020B0503020204020204" pitchFamily="34" charset="-122"/>
              </a:rPr>
              <a:t>2022</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fontAlgn="ct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Aft>
                <a:spcPts val="600"/>
              </a:spcAft>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 新希望集团控股</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Aft>
                <a:spcPts val="600"/>
              </a:spcAft>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8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心脏</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”产品上线</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Aft>
                <a:spcPts val="600"/>
              </a:spcAft>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 与中日友好医院合建心脏康复平台上线</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6" name="组合 79"/>
          <p:cNvGrpSpPr/>
          <p:nvPr/>
        </p:nvGrpSpPr>
        <p:grpSpPr>
          <a:xfrm>
            <a:off x="7955346" y="2870542"/>
            <a:ext cx="203169" cy="529286"/>
            <a:chOff x="1043608" y="2571750"/>
            <a:chExt cx="203169" cy="529286"/>
          </a:xfrm>
          <a:solidFill>
            <a:srgbClr val="166191"/>
          </a:solidFill>
        </p:grpSpPr>
        <p:cxnSp>
          <p:nvCxnSpPr>
            <p:cNvPr id="81" name="直接连接符 80"/>
            <p:cNvCxnSpPr/>
            <p:nvPr/>
          </p:nvCxnSpPr>
          <p:spPr>
            <a:xfrm>
              <a:off x="1043608" y="2571750"/>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1043608" y="3071460"/>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83" name="椭圆 82"/>
            <p:cNvSpPr/>
            <p:nvPr/>
          </p:nvSpPr>
          <p:spPr>
            <a:xfrm>
              <a:off x="1187624" y="3041883"/>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84" name="矩形 83"/>
          <p:cNvSpPr/>
          <p:nvPr/>
        </p:nvSpPr>
        <p:spPr>
          <a:xfrm>
            <a:off x="7403607" y="909176"/>
            <a:ext cx="1233434" cy="1446550"/>
          </a:xfrm>
          <a:prstGeom prst="rect">
            <a:avLst/>
          </a:prstGeom>
        </p:spPr>
        <p:txBody>
          <a:bodyPr wrap="square">
            <a:spAutoFit/>
          </a:bodyPr>
          <a:lstStyle/>
          <a:p>
            <a:pPr fontAlgn="ctr"/>
            <a:r>
              <a:rPr lang="en-US" altLang="zh-CN" sz="900" b="1" dirty="0">
                <a:solidFill>
                  <a:srgbClr val="166191"/>
                </a:solidFill>
                <a:latin typeface="微软雅黑" panose="020B0503020204020204" pitchFamily="34" charset="-122"/>
                <a:ea typeface="微软雅黑" panose="020B0503020204020204" pitchFamily="34" charset="-122"/>
              </a:rPr>
              <a:t>2023</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●承接科技部“主动健康和人口老龄化科技应对”重点专项中关键可穿戴设备的研发</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 与阿里健康合作，推进区域心电一张网模式</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 开启与小米心电解读业务合作</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6" name="等腰三角形 85"/>
          <p:cNvSpPr/>
          <p:nvPr/>
        </p:nvSpPr>
        <p:spPr>
          <a:xfrm rot="5400000">
            <a:off x="8429052" y="2793717"/>
            <a:ext cx="168270" cy="145060"/>
          </a:xfrm>
          <a:prstGeom prst="triangle">
            <a:avLst/>
          </a:prstGeom>
          <a:solidFill>
            <a:srgbClr val="166191"/>
          </a:solid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sp>
        <p:nvSpPr>
          <p:cNvPr id="92" name="矩形 91"/>
          <p:cNvSpPr/>
          <p:nvPr/>
        </p:nvSpPr>
        <p:spPr>
          <a:xfrm>
            <a:off x="7845640" y="3369062"/>
            <a:ext cx="974832" cy="1000274"/>
          </a:xfrm>
          <a:prstGeom prst="rect">
            <a:avLst/>
          </a:prstGeom>
        </p:spPr>
        <p:txBody>
          <a:bodyPr wrap="square">
            <a:spAutoFit/>
          </a:bodyPr>
          <a:lstStyle/>
          <a:p>
            <a:pPr fontAlgn="ctr"/>
            <a:r>
              <a:rPr lang="en-US" altLang="zh-CN" sz="900" b="1" dirty="0">
                <a:solidFill>
                  <a:srgbClr val="166191"/>
                </a:solidFill>
                <a:latin typeface="微软雅黑" panose="020B0503020204020204" pitchFamily="34" charset="-122"/>
                <a:ea typeface="微软雅黑" panose="020B0503020204020204" pitchFamily="34" charset="-122"/>
              </a:rPr>
              <a:t>2024</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●开启与荣耀心电手表合作</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●与海康威视合作，推进企业健康管理</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7" name="组合 92"/>
          <p:cNvGrpSpPr/>
          <p:nvPr/>
        </p:nvGrpSpPr>
        <p:grpSpPr>
          <a:xfrm>
            <a:off x="3518980" y="2870542"/>
            <a:ext cx="203169" cy="529286"/>
            <a:chOff x="1043608" y="2571750"/>
            <a:chExt cx="203169" cy="529286"/>
          </a:xfrm>
          <a:solidFill>
            <a:srgbClr val="166191"/>
          </a:solidFill>
        </p:grpSpPr>
        <p:cxnSp>
          <p:nvCxnSpPr>
            <p:cNvPr id="94" name="直接连接符 93"/>
            <p:cNvCxnSpPr/>
            <p:nvPr/>
          </p:nvCxnSpPr>
          <p:spPr>
            <a:xfrm>
              <a:off x="1043608" y="2571750"/>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1043608" y="3071460"/>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96" name="椭圆 95"/>
            <p:cNvSpPr/>
            <p:nvPr/>
          </p:nvSpPr>
          <p:spPr>
            <a:xfrm>
              <a:off x="1187624" y="3041883"/>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97" name="矩形 96"/>
          <p:cNvSpPr/>
          <p:nvPr/>
        </p:nvSpPr>
        <p:spPr>
          <a:xfrm>
            <a:off x="3074076" y="3369062"/>
            <a:ext cx="1438963" cy="1323439"/>
          </a:xfrm>
          <a:prstGeom prst="rect">
            <a:avLst/>
          </a:prstGeom>
        </p:spPr>
        <p:txBody>
          <a:bodyPr wrap="square">
            <a:spAutoFit/>
          </a:bodyPr>
          <a:lstStyle/>
          <a:p>
            <a:pPr marL="342900" fontAlgn="ctr"/>
            <a:r>
              <a:rPr lang="en-US" altLang="zh-CN" sz="900" b="1" dirty="0">
                <a:solidFill>
                  <a:srgbClr val="166191"/>
                </a:solidFill>
                <a:latin typeface="微软雅黑" panose="020B0503020204020204" pitchFamily="34" charset="-122"/>
                <a:ea typeface="微软雅黑" panose="020B0503020204020204" pitchFamily="34" charset="-122"/>
              </a:rPr>
              <a:t>2016</a:t>
            </a:r>
            <a:r>
              <a:rPr lang="zh-CN" altLang="en-US" sz="900" b="1" dirty="0">
                <a:solidFill>
                  <a:srgbClr val="166191"/>
                </a:solidFill>
                <a:latin typeface="微软雅黑" panose="020B0503020204020204" pitchFamily="34" charset="-122"/>
                <a:ea typeface="微软雅黑" panose="020B0503020204020204" pitchFamily="34" charset="-122"/>
              </a:rPr>
              <a:t>年</a:t>
            </a:r>
            <a:endParaRPr lang="en-US" altLang="zh-CN" sz="900" b="1" dirty="0">
              <a:solidFill>
                <a:srgbClr val="166191"/>
              </a:solidFill>
              <a:latin typeface="微软雅黑" panose="020B0503020204020204" pitchFamily="34" charset="-122"/>
              <a:ea typeface="微软雅黑" panose="020B0503020204020204" pitchFamily="34" charset="-122"/>
            </a:endParaRPr>
          </a:p>
          <a:p>
            <a:pPr marL="342900"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承接并启动</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2016年工业转型升级</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（中国制造</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2025</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）项目</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342900" fontAlgn="ctr">
              <a:spcBef>
                <a:spcPts val="600"/>
              </a:spcBef>
            </a:pP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 获评省级高新技术企业研究开发中心</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342900" fontAlgn="ctr">
              <a:spcBef>
                <a:spcPts val="600"/>
              </a:spcBef>
            </a:pP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1" name="组合 97"/>
          <p:cNvGrpSpPr/>
          <p:nvPr/>
        </p:nvGrpSpPr>
        <p:grpSpPr>
          <a:xfrm>
            <a:off x="3965437" y="2348176"/>
            <a:ext cx="203169" cy="533633"/>
            <a:chOff x="611560" y="2038117"/>
            <a:chExt cx="203169" cy="533633"/>
          </a:xfrm>
          <a:solidFill>
            <a:srgbClr val="166191"/>
          </a:solidFill>
        </p:grpSpPr>
        <p:cxnSp>
          <p:nvCxnSpPr>
            <p:cNvPr id="99" name="直接连接符 98"/>
            <p:cNvCxnSpPr/>
            <p:nvPr/>
          </p:nvCxnSpPr>
          <p:spPr>
            <a:xfrm>
              <a:off x="611560" y="2067694"/>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611560" y="2067694"/>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101" name="椭圆 100"/>
            <p:cNvSpPr/>
            <p:nvPr/>
          </p:nvSpPr>
          <p:spPr>
            <a:xfrm>
              <a:off x="755576" y="2038117"/>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grpSp>
        <p:nvGrpSpPr>
          <p:cNvPr id="42" name="组合 101"/>
          <p:cNvGrpSpPr/>
          <p:nvPr/>
        </p:nvGrpSpPr>
        <p:grpSpPr>
          <a:xfrm>
            <a:off x="4583113" y="2870542"/>
            <a:ext cx="203169" cy="529286"/>
            <a:chOff x="1043608" y="2571750"/>
            <a:chExt cx="203169" cy="529286"/>
          </a:xfrm>
          <a:solidFill>
            <a:srgbClr val="166191"/>
          </a:solidFill>
        </p:grpSpPr>
        <p:cxnSp>
          <p:nvCxnSpPr>
            <p:cNvPr id="103" name="直接连接符 102"/>
            <p:cNvCxnSpPr/>
            <p:nvPr/>
          </p:nvCxnSpPr>
          <p:spPr>
            <a:xfrm>
              <a:off x="1043608" y="2571750"/>
              <a:ext cx="0" cy="504056"/>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1043608" y="3071460"/>
              <a:ext cx="144016" cy="0"/>
            </a:xfrm>
            <a:prstGeom prst="line">
              <a:avLst/>
            </a:prstGeom>
            <a:grpFill/>
            <a:ln>
              <a:solidFill>
                <a:srgbClr val="166191"/>
              </a:solidFill>
            </a:ln>
          </p:spPr>
          <p:style>
            <a:lnRef idx="1">
              <a:schemeClr val="accent1"/>
            </a:lnRef>
            <a:fillRef idx="0">
              <a:schemeClr val="accent1"/>
            </a:fillRef>
            <a:effectRef idx="0">
              <a:schemeClr val="accent1"/>
            </a:effectRef>
            <a:fontRef idx="minor">
              <a:schemeClr val="tx1"/>
            </a:fontRef>
          </p:style>
        </p:cxnSp>
        <p:sp>
          <p:nvSpPr>
            <p:cNvPr id="105" name="椭圆 104"/>
            <p:cNvSpPr/>
            <p:nvPr/>
          </p:nvSpPr>
          <p:spPr>
            <a:xfrm>
              <a:off x="1187624" y="3041883"/>
              <a:ext cx="59153" cy="59153"/>
            </a:xfrm>
            <a:prstGeom prst="ellipse">
              <a:avLst/>
            </a:prstGeom>
            <a:grpFill/>
            <a:ln>
              <a:solidFill>
                <a:srgbClr val="1661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66191"/>
                </a:solidFill>
                <a:latin typeface="微软雅黑" panose="020B0503020204020204" pitchFamily="34" charset="-122"/>
                <a:ea typeface="微软雅黑" panose="020B0503020204020204" pitchFamily="34" charset="-122"/>
              </a:endParaRPr>
            </a:p>
          </p:txBody>
        </p:sp>
      </p:grpSp>
      <p:sp>
        <p:nvSpPr>
          <p:cNvPr id="10" name="标题 9"/>
          <p:cNvSpPr>
            <a:spLocks noGrp="1"/>
          </p:cNvSpPr>
          <p:nvPr>
            <p:ph type="title"/>
          </p:nvPr>
        </p:nvSpPr>
        <p:spPr/>
        <p:txBody>
          <a:bodyPr/>
          <a:lstStyle/>
          <a:p>
            <a:r>
              <a:rPr lang="zh-CN" altLang="en-US" dirty="0">
                <a:solidFill>
                  <a:schemeClr val="tx1">
                    <a:lumMod val="75000"/>
                    <a:lumOff val="25000"/>
                  </a:schemeClr>
                </a:solidFill>
              </a:rPr>
              <a:t>发展历程</a:t>
            </a:r>
            <a:endParaRPr lang="zh-CN"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5004049" y="1098431"/>
            <a:ext cx="3743808" cy="36644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 name="文本框 4"/>
          <p:cNvSpPr txBox="1"/>
          <p:nvPr/>
        </p:nvSpPr>
        <p:spPr>
          <a:xfrm>
            <a:off x="475231" y="819841"/>
            <a:ext cx="954107"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国家级荣誉</a:t>
            </a:r>
          </a:p>
        </p:txBody>
      </p:sp>
      <p:sp>
        <p:nvSpPr>
          <p:cNvPr id="62" name="object 4"/>
          <p:cNvSpPr/>
          <p:nvPr/>
        </p:nvSpPr>
        <p:spPr>
          <a:xfrm>
            <a:off x="588060" y="1203598"/>
            <a:ext cx="996793" cy="638588"/>
          </a:xfrm>
          <a:prstGeom prst="rect">
            <a:avLst/>
          </a:prstGeom>
          <a:blipFill>
            <a:blip r:embed="rId3" cstate="print"/>
            <a:stretch>
              <a:fillRect/>
            </a:stretch>
          </a:blipFill>
        </p:spPr>
        <p:txBody>
          <a:bodyPr wrap="square" lIns="0" tIns="0" rIns="0" bIns="0" rtlCol="0"/>
          <a:lstStyle/>
          <a:p>
            <a:r>
              <a:rPr lang="en-US" dirty="0">
                <a:solidFill>
                  <a:schemeClr val="tx1">
                    <a:lumMod val="75000"/>
                    <a:lumOff val="25000"/>
                  </a:schemeClr>
                </a:solidFill>
                <a:latin typeface="微软雅黑" panose="020B0503020204020204" pitchFamily="34" charset="-122"/>
                <a:ea typeface="微软雅黑" panose="020B0503020204020204" pitchFamily="34" charset="-122"/>
              </a:rPr>
              <a:t> </a:t>
            </a:r>
            <a:endParaRPr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 name="矩形 5"/>
          <p:cNvSpPr/>
          <p:nvPr/>
        </p:nvSpPr>
        <p:spPr>
          <a:xfrm>
            <a:off x="467544" y="1867349"/>
            <a:ext cx="1333333" cy="338554"/>
          </a:xfrm>
          <a:prstGeom prst="rect">
            <a:avLst/>
          </a:prstGeom>
        </p:spPr>
        <p:txBody>
          <a:bodyPr wrap="square">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反法西斯战争胜利</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70</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周年</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阅兵</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突出贡献</a:t>
            </a: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奖</a:t>
            </a:r>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7" name="object 5"/>
          <p:cNvSpPr>
            <a:spLocks noChangeAspect="1"/>
          </p:cNvSpPr>
          <p:nvPr/>
        </p:nvSpPr>
        <p:spPr>
          <a:xfrm>
            <a:off x="2752291" y="1203598"/>
            <a:ext cx="883605" cy="637200"/>
          </a:xfrm>
          <a:prstGeom prst="rect">
            <a:avLst/>
          </a:prstGeom>
          <a:blipFill>
            <a:blip r:embed="rId4" cstate="print"/>
            <a:stretch>
              <a:fillRect/>
            </a:stretch>
          </a:blipFill>
        </p:spPr>
        <p:txBody>
          <a:bodyPr wrap="square" lIns="0" tIns="0" rIns="0" bIns="0" rtlCol="0"/>
          <a:lstStyle/>
          <a:p>
            <a:endParaRPr>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8" name="矩形 67"/>
          <p:cNvSpPr/>
          <p:nvPr/>
        </p:nvSpPr>
        <p:spPr>
          <a:xfrm>
            <a:off x="2771800" y="1867349"/>
            <a:ext cx="864096" cy="338554"/>
          </a:xfrm>
          <a:prstGeom prst="rect">
            <a:avLst/>
          </a:prstGeom>
        </p:spPr>
        <p:txBody>
          <a:bodyPr wrap="square">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智慧养老</a:t>
            </a:r>
            <a:r>
              <a:rPr lang="zh-CN" altLang="en-US" sz="800" dirty="0" smtClean="0">
                <a:solidFill>
                  <a:schemeClr val="tx1">
                    <a:lumMod val="75000"/>
                    <a:lumOff val="25000"/>
                  </a:schemeClr>
                </a:solidFill>
                <a:latin typeface="微软雅黑" panose="020B0503020204020204" pitchFamily="34" charset="-122"/>
                <a:ea typeface="微软雅黑" panose="020B0503020204020204" pitchFamily="34" charset="-122"/>
              </a:rPr>
              <a:t>试点</a:t>
            </a:r>
            <a:endParaRPr lang="en-US" altLang="zh-CN" sz="8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800" dirty="0" smtClean="0">
                <a:solidFill>
                  <a:schemeClr val="tx1">
                    <a:lumMod val="75000"/>
                    <a:lumOff val="25000"/>
                  </a:schemeClr>
                </a:solidFill>
                <a:latin typeface="微软雅黑" panose="020B0503020204020204" pitchFamily="34" charset="-122"/>
                <a:ea typeface="微软雅黑" panose="020B0503020204020204" pitchFamily="34" charset="-122"/>
              </a:rPr>
              <a:t>示范</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企业</a:t>
            </a:r>
          </a:p>
        </p:txBody>
      </p:sp>
      <p:pic>
        <p:nvPicPr>
          <p:cNvPr id="69" name="Picture 7"/>
          <p:cNvPicPr>
            <a:picLocks noChangeAspect="1" noChangeArrowheads="1"/>
          </p:cNvPicPr>
          <p:nvPr/>
        </p:nvPicPr>
        <p:blipFill>
          <a:blip r:embed="rId5" cstate="print">
            <a:lum bright="20000"/>
            <a:extLst>
              <a:ext uri="{28A0092B-C50C-407E-A947-70E740481C1C}">
                <a14:useLocalDpi xmlns="" xmlns:a14="http://schemas.microsoft.com/office/drawing/2010/main" val="0"/>
              </a:ext>
            </a:extLst>
          </a:blip>
          <a:srcRect/>
          <a:stretch>
            <a:fillRect/>
          </a:stretch>
        </p:blipFill>
        <p:spPr bwMode="auto">
          <a:xfrm>
            <a:off x="3758430" y="1203598"/>
            <a:ext cx="957586" cy="63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70" name="TextBox 11"/>
          <p:cNvSpPr>
            <a:spLocks noChangeArrowheads="1"/>
          </p:cNvSpPr>
          <p:nvPr/>
        </p:nvSpPr>
        <p:spPr bwMode="auto">
          <a:xfrm>
            <a:off x="3676705" y="1866505"/>
            <a:ext cx="1111319" cy="360884"/>
          </a:xfrm>
          <a:prstGeom prst="rect">
            <a:avLst/>
          </a:prstGeom>
          <a:noFill/>
          <a:ln w="9525">
            <a:noFill/>
            <a:miter lim="800000"/>
          </a:ln>
        </p:spPr>
        <p:txBody>
          <a:bodyPr wrap="square"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支持革命</a:t>
            </a:r>
            <a:r>
              <a:rPr lang="zh-CN" altLang="en-US" sz="800" dirty="0" smtClean="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老区</a:t>
            </a:r>
            <a:endParaRPr lang="en-US" altLang="zh-CN" sz="800" dirty="0" smtClean="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sz="800" dirty="0" smtClean="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脱贫</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攻坚先进单位</a:t>
            </a:r>
          </a:p>
        </p:txBody>
      </p:sp>
      <p:sp>
        <p:nvSpPr>
          <p:cNvPr id="72" name="文本框 71"/>
          <p:cNvSpPr txBox="1"/>
          <p:nvPr/>
        </p:nvSpPr>
        <p:spPr>
          <a:xfrm>
            <a:off x="463204" y="2373808"/>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省级荣誉</a:t>
            </a:r>
          </a:p>
        </p:txBody>
      </p:sp>
      <p:pic>
        <p:nvPicPr>
          <p:cNvPr id="85" name="Picture 8"/>
          <p:cNvPicPr>
            <a:picLocks noChangeAspect="1" noChangeArrowheads="1"/>
          </p:cNvPicPr>
          <p:nvPr/>
        </p:nvPicPr>
        <p:blipFill>
          <a:blip r:embed="rId6" cstate="print"/>
          <a:srcRect/>
          <a:stretch>
            <a:fillRect/>
          </a:stretch>
        </p:blipFill>
        <p:spPr bwMode="auto">
          <a:xfrm>
            <a:off x="3860907" y="2733667"/>
            <a:ext cx="850305" cy="612326"/>
          </a:xfrm>
          <a:prstGeom prst="rect">
            <a:avLst/>
          </a:prstGeom>
          <a:noFill/>
          <a:ln w="9525">
            <a:noFill/>
            <a:miter lim="800000"/>
            <a:headEnd/>
            <a:tailEnd/>
          </a:ln>
          <a:effectLst/>
        </p:spPr>
      </p:pic>
      <p:sp>
        <p:nvSpPr>
          <p:cNvPr id="86" name="TextBox 6"/>
          <p:cNvSpPr>
            <a:spLocks noChangeArrowheads="1"/>
          </p:cNvSpPr>
          <p:nvPr/>
        </p:nvSpPr>
        <p:spPr bwMode="auto">
          <a:xfrm>
            <a:off x="449495" y="3353511"/>
            <a:ext cx="1231132" cy="237774"/>
          </a:xfrm>
          <a:prstGeom prst="rect">
            <a:avLst/>
          </a:prstGeom>
          <a:noFill/>
          <a:ln w="9525">
            <a:noFill/>
            <a:miter lim="800000"/>
          </a:ln>
        </p:spPr>
        <p:txBody>
          <a:bodyPr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高新技术企业</a:t>
            </a:r>
          </a:p>
        </p:txBody>
      </p:sp>
      <p:sp>
        <p:nvSpPr>
          <p:cNvPr id="87" name="TextBox 6"/>
          <p:cNvSpPr>
            <a:spLocks noChangeArrowheads="1"/>
          </p:cNvSpPr>
          <p:nvPr/>
        </p:nvSpPr>
        <p:spPr bwMode="auto">
          <a:xfrm>
            <a:off x="1341150" y="3353511"/>
            <a:ext cx="1529116" cy="237774"/>
          </a:xfrm>
          <a:prstGeom prst="rect">
            <a:avLst/>
          </a:prstGeom>
          <a:noFill/>
          <a:ln w="9525">
            <a:noFill/>
            <a:miter lim="800000"/>
          </a:ln>
        </p:spPr>
        <p:txBody>
          <a:bodyPr wrap="square"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省级重点企业研究院</a:t>
            </a:r>
          </a:p>
        </p:txBody>
      </p:sp>
      <p:sp>
        <p:nvSpPr>
          <p:cNvPr id="88" name="TextBox 6"/>
          <p:cNvSpPr>
            <a:spLocks noChangeArrowheads="1"/>
          </p:cNvSpPr>
          <p:nvPr/>
        </p:nvSpPr>
        <p:spPr bwMode="auto">
          <a:xfrm>
            <a:off x="3755300" y="3362994"/>
            <a:ext cx="1099927" cy="360884"/>
          </a:xfrm>
          <a:prstGeom prst="rect">
            <a:avLst/>
          </a:prstGeom>
          <a:noFill/>
          <a:ln w="9525">
            <a:noFill/>
            <a:miter lim="800000"/>
          </a:ln>
        </p:spPr>
        <p:txBody>
          <a:bodyPr wrap="square"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省级企业研究</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开发中心</a:t>
            </a:r>
          </a:p>
        </p:txBody>
      </p:sp>
      <p:sp>
        <p:nvSpPr>
          <p:cNvPr id="90" name="TextBox 11"/>
          <p:cNvSpPr>
            <a:spLocks noChangeArrowheads="1"/>
          </p:cNvSpPr>
          <p:nvPr/>
        </p:nvSpPr>
        <p:spPr bwMode="auto">
          <a:xfrm>
            <a:off x="2669460" y="3348373"/>
            <a:ext cx="1095678" cy="360884"/>
          </a:xfrm>
          <a:prstGeom prst="rect">
            <a:avLst/>
          </a:prstGeom>
          <a:noFill/>
          <a:ln w="9525">
            <a:noFill/>
            <a:miter lim="800000"/>
          </a:ln>
        </p:spPr>
        <p:txBody>
          <a:bodyPr wrap="square"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浙江省健康产业优秀企业</a:t>
            </a:r>
          </a:p>
        </p:txBody>
      </p:sp>
      <p:sp>
        <p:nvSpPr>
          <p:cNvPr id="92" name="TextBox 11"/>
          <p:cNvSpPr>
            <a:spLocks noChangeArrowheads="1"/>
          </p:cNvSpPr>
          <p:nvPr/>
        </p:nvSpPr>
        <p:spPr bwMode="auto">
          <a:xfrm>
            <a:off x="420389" y="4443113"/>
            <a:ext cx="1209799" cy="360884"/>
          </a:xfrm>
          <a:prstGeom prst="rect">
            <a:avLst/>
          </a:prstGeom>
          <a:noFill/>
          <a:ln w="9525">
            <a:noFill/>
            <a:miter lim="800000"/>
          </a:ln>
        </p:spPr>
        <p:txBody>
          <a:bodyPr wrap="square"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浙江省电子信息</a:t>
            </a: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50</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家成长性特色企业</a:t>
            </a:r>
          </a:p>
        </p:txBody>
      </p:sp>
      <p:pic>
        <p:nvPicPr>
          <p:cNvPr id="93" name="Picture 9"/>
          <p:cNvPicPr>
            <a:picLocks noChangeAspect="1" noChangeArrowheads="1"/>
          </p:cNvPicPr>
          <p:nvPr/>
        </p:nvPicPr>
        <p:blipFill>
          <a:blip r:embed="rId7" cstate="print">
            <a:extLst>
              <a:ext uri="{BEBA8EAE-BF5A-486C-A8C5-ECC9F3942E4B}">
                <a14:imgProps xmlns="" xmlns:a14="http://schemas.microsoft.com/office/drawing/2010/main">
                  <a14:imgLayer r:embed="rId8">
                    <a14:imgEffect>
                      <a14:brightnessContrast bright="20000" contrast="20000"/>
                    </a14:imgEffect>
                  </a14:imgLayer>
                </a14:imgProps>
              </a:ext>
              <a:ext uri="{28A0092B-C50C-407E-A947-70E740481C1C}">
                <a14:useLocalDpi xmlns="" xmlns:a14="http://schemas.microsoft.com/office/drawing/2010/main" val="0"/>
              </a:ext>
            </a:extLst>
          </a:blip>
          <a:srcRect/>
          <a:stretch>
            <a:fillRect/>
          </a:stretch>
        </p:blipFill>
        <p:spPr bwMode="auto">
          <a:xfrm>
            <a:off x="1889059" y="3776385"/>
            <a:ext cx="493002" cy="6667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4" name="TextBox 11"/>
          <p:cNvSpPr>
            <a:spLocks noChangeArrowheads="1"/>
          </p:cNvSpPr>
          <p:nvPr/>
        </p:nvSpPr>
        <p:spPr bwMode="auto">
          <a:xfrm>
            <a:off x="1535480" y="4443114"/>
            <a:ext cx="1219462" cy="360884"/>
          </a:xfrm>
          <a:prstGeom prst="rect">
            <a:avLst/>
          </a:prstGeom>
          <a:noFill/>
          <a:ln w="9525">
            <a:noFill/>
            <a:miter lim="800000"/>
          </a:ln>
        </p:spPr>
        <p:txBody>
          <a:bodyPr wrap="square"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智慧城市建设</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成果优秀奖</a:t>
            </a:r>
          </a:p>
        </p:txBody>
      </p:sp>
      <p:sp>
        <p:nvSpPr>
          <p:cNvPr id="96" name="TextBox 11"/>
          <p:cNvSpPr>
            <a:spLocks noChangeArrowheads="1"/>
          </p:cNvSpPr>
          <p:nvPr/>
        </p:nvSpPr>
        <p:spPr bwMode="auto">
          <a:xfrm>
            <a:off x="2563430" y="4487023"/>
            <a:ext cx="1265303" cy="237774"/>
          </a:xfrm>
          <a:prstGeom prst="rect">
            <a:avLst/>
          </a:prstGeom>
          <a:noFill/>
          <a:ln w="9525">
            <a:noFill/>
            <a:miter lim="800000"/>
          </a:ln>
        </p:spPr>
        <p:txBody>
          <a:bodyPr wrap="square"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浙江省名牌产品</a:t>
            </a:r>
          </a:p>
        </p:txBody>
      </p:sp>
      <p:pic>
        <p:nvPicPr>
          <p:cNvPr id="97" name="Picture 2"/>
          <p:cNvPicPr>
            <a:picLocks noChangeAspect="1" noChangeArrowheads="1"/>
          </p:cNvPicPr>
          <p:nvPr/>
        </p:nvPicPr>
        <p:blipFill>
          <a:blip r:embed="rId9" cstate="print"/>
          <a:srcRect/>
          <a:stretch>
            <a:fillRect/>
          </a:stretch>
        </p:blipFill>
        <p:spPr bwMode="auto">
          <a:xfrm rot="10800000">
            <a:off x="3774445" y="3776384"/>
            <a:ext cx="982969" cy="667572"/>
          </a:xfrm>
          <a:prstGeom prst="rect">
            <a:avLst/>
          </a:prstGeom>
          <a:noFill/>
          <a:ln w="9525">
            <a:noFill/>
            <a:miter lim="800000"/>
            <a:headEnd/>
            <a:tailEnd/>
          </a:ln>
          <a:effectLst/>
        </p:spPr>
      </p:pic>
      <p:sp>
        <p:nvSpPr>
          <p:cNvPr id="98" name="TextBox 6"/>
          <p:cNvSpPr>
            <a:spLocks noChangeArrowheads="1"/>
          </p:cNvSpPr>
          <p:nvPr/>
        </p:nvSpPr>
        <p:spPr bwMode="auto">
          <a:xfrm>
            <a:off x="3640077" y="4430950"/>
            <a:ext cx="1291963" cy="360884"/>
          </a:xfrm>
          <a:prstGeom prst="rect">
            <a:avLst/>
          </a:prstGeom>
          <a:noFill/>
          <a:ln w="9525">
            <a:noFill/>
            <a:miter lim="800000"/>
          </a:ln>
        </p:spPr>
        <p:txBody>
          <a:bodyPr wrap="square" lIns="113555" tIns="56777" rIns="113555" bIns="56777">
            <a:spAutoFit/>
          </a:bodyPr>
          <a:lstStyle/>
          <a:p>
            <a:pPr algn="ctr"/>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AAA</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级“守合同重信用”企业</a:t>
            </a:r>
          </a:p>
        </p:txBody>
      </p:sp>
      <p:sp>
        <p:nvSpPr>
          <p:cNvPr id="99" name="文本框 98"/>
          <p:cNvSpPr txBox="1"/>
          <p:nvPr/>
        </p:nvSpPr>
        <p:spPr>
          <a:xfrm>
            <a:off x="4923909" y="776287"/>
            <a:ext cx="800219" cy="276999"/>
          </a:xfrm>
          <a:prstGeom prst="rect">
            <a:avLst/>
          </a:prstGeom>
          <a:noFill/>
        </p:spPr>
        <p:txBody>
          <a:bodyPr wrap="none" rtlCol="0">
            <a:spAutoFit/>
          </a:bodyPr>
          <a:lstStyle/>
          <a:p>
            <a:r>
              <a:rPr lang="zh-CN" altLang="en-US" sz="1200" b="1" dirty="0">
                <a:solidFill>
                  <a:srgbClr val="196494"/>
                </a:solidFill>
                <a:latin typeface="微软雅黑" panose="020B0503020204020204" pitchFamily="34" charset="-122"/>
                <a:ea typeface="微软雅黑" panose="020B0503020204020204" pitchFamily="34" charset="-122"/>
              </a:rPr>
              <a:t>重要资质</a:t>
            </a:r>
          </a:p>
        </p:txBody>
      </p:sp>
      <p:sp>
        <p:nvSpPr>
          <p:cNvPr id="101" name="TextBox 11"/>
          <p:cNvSpPr>
            <a:spLocks noChangeArrowheads="1"/>
          </p:cNvSpPr>
          <p:nvPr/>
        </p:nvSpPr>
        <p:spPr bwMode="auto">
          <a:xfrm>
            <a:off x="5089517" y="1814121"/>
            <a:ext cx="841484" cy="360884"/>
          </a:xfrm>
          <a:prstGeom prst="rect">
            <a:avLst/>
          </a:prstGeom>
          <a:noFill/>
          <a:ln w="9525">
            <a:noFill/>
            <a:miter lim="800000"/>
          </a:ln>
        </p:spPr>
        <p:txBody>
          <a:bodyPr wrap="square" lIns="113555" tIns="56777" rIns="113555" bIns="56777">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医疗器械生产许可证</a:t>
            </a:r>
          </a:p>
        </p:txBody>
      </p:sp>
      <p:sp>
        <p:nvSpPr>
          <p:cNvPr id="8" name="矩形 7"/>
          <p:cNvSpPr/>
          <p:nvPr/>
        </p:nvSpPr>
        <p:spPr>
          <a:xfrm>
            <a:off x="6068437" y="1814121"/>
            <a:ext cx="754167" cy="338554"/>
          </a:xfrm>
          <a:prstGeom prst="rect">
            <a:avLst/>
          </a:prstGeom>
        </p:spPr>
        <p:txBody>
          <a:bodyPr wrap="square">
            <a:spAutoFit/>
          </a:bodyPr>
          <a:lstStyle/>
          <a:p>
            <a:pPr algn="ct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医疗器械经营许可证</a:t>
            </a:r>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2" name="矩形 101"/>
          <p:cNvSpPr/>
          <p:nvPr/>
        </p:nvSpPr>
        <p:spPr>
          <a:xfrm>
            <a:off x="6893605" y="1814121"/>
            <a:ext cx="813972" cy="295330"/>
          </a:xfrm>
          <a:prstGeom prst="rect">
            <a:avLst/>
          </a:prstGeom>
        </p:spPr>
        <p:txBody>
          <a:bodyPr wrap="square">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制造计量器具</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许可证</a:t>
            </a:r>
          </a:p>
        </p:txBody>
      </p:sp>
      <p:sp>
        <p:nvSpPr>
          <p:cNvPr id="103" name="矩形 102"/>
          <p:cNvSpPr/>
          <p:nvPr/>
        </p:nvSpPr>
        <p:spPr>
          <a:xfrm>
            <a:off x="6938697" y="3052544"/>
            <a:ext cx="806840" cy="338554"/>
          </a:xfrm>
          <a:prstGeom prst="rect">
            <a:avLst/>
          </a:prstGeom>
        </p:spPr>
        <p:txBody>
          <a:bodyPr wrap="square">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安全生产标</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准化三级</a:t>
            </a:r>
          </a:p>
        </p:txBody>
      </p:sp>
      <p:sp>
        <p:nvSpPr>
          <p:cNvPr id="9" name="矩形 8"/>
          <p:cNvSpPr/>
          <p:nvPr/>
        </p:nvSpPr>
        <p:spPr>
          <a:xfrm>
            <a:off x="7718386" y="1814121"/>
            <a:ext cx="1003631" cy="338554"/>
          </a:xfrm>
          <a:prstGeom prst="rect">
            <a:avLst/>
          </a:prstGeom>
        </p:spPr>
        <p:txBody>
          <a:bodyPr wrap="square">
            <a:spAutoFit/>
          </a:bodyPr>
          <a:lstStyle/>
          <a:p>
            <a:pPr algn="ctr"/>
            <a:r>
              <a:rPr lang="zh-CN" altLang="zh-CN" sz="800" dirty="0">
                <a:solidFill>
                  <a:schemeClr val="tx1">
                    <a:lumMod val="75000"/>
                    <a:lumOff val="25000"/>
                  </a:schemeClr>
                </a:solidFill>
                <a:latin typeface="微软雅黑" panose="020B0503020204020204" pitchFamily="34" charset="-122"/>
                <a:ea typeface="微软雅黑" panose="020B0503020204020204" pitchFamily="34" charset="-122"/>
              </a:rPr>
              <a:t>信息系统集成及服务资质三级</a:t>
            </a:r>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5" name="矩形 104"/>
          <p:cNvSpPr/>
          <p:nvPr/>
        </p:nvSpPr>
        <p:spPr>
          <a:xfrm>
            <a:off x="5401237" y="4391566"/>
            <a:ext cx="649492" cy="187937"/>
          </a:xfrm>
          <a:prstGeom prst="rect">
            <a:avLst/>
          </a:prstGeom>
        </p:spPr>
        <p:txBody>
          <a:bodyPr wrap="square">
            <a:spAutoFit/>
          </a:bodyPr>
          <a:lstStyle/>
          <a:p>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CE</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认证</a:t>
            </a:r>
          </a:p>
        </p:txBody>
      </p:sp>
      <p:sp>
        <p:nvSpPr>
          <p:cNvPr id="106" name="矩形 105"/>
          <p:cNvSpPr/>
          <p:nvPr/>
        </p:nvSpPr>
        <p:spPr>
          <a:xfrm>
            <a:off x="7883618" y="3052544"/>
            <a:ext cx="826896" cy="215444"/>
          </a:xfrm>
          <a:prstGeom prst="rect">
            <a:avLst/>
          </a:prstGeom>
        </p:spPr>
        <p:txBody>
          <a:bodyPr wrap="square">
            <a:spAutoFit/>
          </a:bodyPr>
          <a:lstStyle/>
          <a:p>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CMMI5</a:t>
            </a: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rPr>
              <a:t>认证</a:t>
            </a:r>
          </a:p>
        </p:txBody>
      </p:sp>
      <p:sp>
        <p:nvSpPr>
          <p:cNvPr id="107" name="矩形 106"/>
          <p:cNvSpPr/>
          <p:nvPr/>
        </p:nvSpPr>
        <p:spPr>
          <a:xfrm>
            <a:off x="7091949" y="4391566"/>
            <a:ext cx="892690" cy="215444"/>
          </a:xfrm>
          <a:prstGeom prst="rect">
            <a:avLst/>
          </a:prstGeom>
        </p:spPr>
        <p:txBody>
          <a:bodyPr wrap="square">
            <a:spAutoFit/>
          </a:bodyPr>
          <a:lstStyle/>
          <a:p>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ISO13485</a:t>
            </a:r>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8" name="矩形 107"/>
          <p:cNvSpPr/>
          <p:nvPr/>
        </p:nvSpPr>
        <p:spPr>
          <a:xfrm>
            <a:off x="7976165" y="4391566"/>
            <a:ext cx="734349" cy="215444"/>
          </a:xfrm>
          <a:prstGeom prst="rect">
            <a:avLst/>
          </a:prstGeom>
        </p:spPr>
        <p:txBody>
          <a:bodyPr wrap="square">
            <a:spAutoFit/>
          </a:bodyPr>
          <a:lstStyle/>
          <a:p>
            <a:r>
              <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rPr>
              <a:t>ISO9001</a:t>
            </a:r>
            <a:endPar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09" name="Picture 8"/>
          <p:cNvPicPr>
            <a:picLocks noChangeAspect="1" noChangeArrowheads="1"/>
          </p:cNvPicPr>
          <p:nvPr/>
        </p:nvPicPr>
        <p:blipFill>
          <a:blip r:embed="rId10" cstate="print">
            <a:extLst>
              <a:ext uri="{28A0092B-C50C-407E-A947-70E740481C1C}">
                <a14:useLocalDpi xmlns="" xmlns:a14="http://schemas.microsoft.com/office/drawing/2010/main" val="0"/>
              </a:ext>
            </a:extLst>
          </a:blip>
          <a:srcRect/>
          <a:stretch>
            <a:fillRect/>
          </a:stretch>
        </p:blipFill>
        <p:spPr bwMode="auto">
          <a:xfrm>
            <a:off x="7019252" y="1320628"/>
            <a:ext cx="625530" cy="43364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10" name="Picture 3"/>
          <p:cNvPicPr>
            <a:picLocks noChangeAspect="1" noChangeArrowheads="1"/>
          </p:cNvPicPr>
          <p:nvPr/>
        </p:nvPicPr>
        <p:blipFill>
          <a:blip r:embed="rId11" cstate="print"/>
          <a:srcRect/>
          <a:stretch>
            <a:fillRect/>
          </a:stretch>
        </p:blipFill>
        <p:spPr bwMode="auto">
          <a:xfrm>
            <a:off x="7115549" y="2323843"/>
            <a:ext cx="485342" cy="651404"/>
          </a:xfrm>
          <a:prstGeom prst="rect">
            <a:avLst/>
          </a:prstGeom>
          <a:noFill/>
          <a:ln w="9525">
            <a:noFill/>
            <a:miter lim="800000"/>
            <a:headEnd/>
            <a:tailEnd/>
          </a:ln>
          <a:effectLst/>
        </p:spPr>
      </p:pic>
      <p:pic>
        <p:nvPicPr>
          <p:cNvPr id="111" name="Picture 6"/>
          <p:cNvPicPr>
            <a:picLocks noChangeAspect="1" noChangeArrowheads="1"/>
          </p:cNvPicPr>
          <p:nvPr/>
        </p:nvPicPr>
        <p:blipFill>
          <a:blip r:embed="rId12" cstate="print">
            <a:extLst>
              <a:ext uri="{28A0092B-C50C-407E-A947-70E740481C1C}">
                <a14:useLocalDpi xmlns="" xmlns:a14="http://schemas.microsoft.com/office/drawing/2010/main" val="0"/>
              </a:ext>
            </a:extLst>
          </a:blip>
          <a:srcRect/>
          <a:stretch>
            <a:fillRect/>
          </a:stretch>
        </p:blipFill>
        <p:spPr bwMode="auto">
          <a:xfrm>
            <a:off x="7867636" y="1309278"/>
            <a:ext cx="678500" cy="45008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12" name="图片 1"/>
          <p:cNvPicPr>
            <a:picLocks noChangeAspect="1" noChangeArrowheads="1"/>
          </p:cNvPicPr>
          <p:nvPr/>
        </p:nvPicPr>
        <p:blipFill>
          <a:blip r:embed="rId13" cstate="print"/>
          <a:srcRect/>
          <a:stretch>
            <a:fillRect/>
          </a:stretch>
        </p:blipFill>
        <p:spPr bwMode="auto">
          <a:xfrm>
            <a:off x="5277024" y="3632636"/>
            <a:ext cx="448959" cy="607411"/>
          </a:xfrm>
          <a:prstGeom prst="rect">
            <a:avLst/>
          </a:prstGeom>
          <a:noFill/>
          <a:ln w="9525">
            <a:noFill/>
            <a:miter lim="800000"/>
            <a:headEnd/>
            <a:tailEnd/>
          </a:ln>
        </p:spPr>
      </p:pic>
      <p:pic>
        <p:nvPicPr>
          <p:cNvPr id="113" name="图片 2"/>
          <p:cNvPicPr>
            <a:picLocks noChangeAspect="1" noChangeArrowheads="1"/>
          </p:cNvPicPr>
          <p:nvPr/>
        </p:nvPicPr>
        <p:blipFill>
          <a:blip r:embed="rId14" cstate="print"/>
          <a:srcRect/>
          <a:stretch>
            <a:fillRect/>
          </a:stretch>
        </p:blipFill>
        <p:spPr bwMode="auto">
          <a:xfrm>
            <a:off x="5492891" y="3689818"/>
            <a:ext cx="446290" cy="603798"/>
          </a:xfrm>
          <a:prstGeom prst="rect">
            <a:avLst/>
          </a:prstGeom>
          <a:noFill/>
          <a:ln w="9525">
            <a:noFill/>
            <a:miter lim="800000"/>
            <a:headEnd/>
            <a:tailEnd/>
          </a:ln>
        </p:spPr>
      </p:pic>
      <p:pic>
        <p:nvPicPr>
          <p:cNvPr id="114" name="Picture 3"/>
          <p:cNvPicPr>
            <a:picLocks noChangeAspect="1" noChangeArrowheads="1"/>
          </p:cNvPicPr>
          <p:nvPr/>
        </p:nvPicPr>
        <p:blipFill>
          <a:blip r:embed="rId15" cstate="print">
            <a:extLst>
              <a:ext uri="{28A0092B-C50C-407E-A947-70E740481C1C}">
                <a14:useLocalDpi xmlns="" xmlns:a14="http://schemas.microsoft.com/office/drawing/2010/main" val="0"/>
              </a:ext>
            </a:extLst>
          </a:blip>
          <a:srcRect/>
          <a:stretch>
            <a:fillRect/>
          </a:stretch>
        </p:blipFill>
        <p:spPr bwMode="auto">
          <a:xfrm>
            <a:off x="7133988" y="3585768"/>
            <a:ext cx="523154" cy="718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15" name="Picture 4"/>
          <p:cNvPicPr>
            <a:picLocks noChangeAspect="1" noChangeArrowheads="1"/>
          </p:cNvPicPr>
          <p:nvPr/>
        </p:nvPicPr>
        <p:blipFill>
          <a:blip r:embed="rId16" cstate="print">
            <a:extLst>
              <a:ext uri="{28A0092B-C50C-407E-A947-70E740481C1C}">
                <a14:useLocalDpi xmlns="" xmlns:a14="http://schemas.microsoft.com/office/drawing/2010/main" val="0"/>
              </a:ext>
            </a:extLst>
          </a:blip>
          <a:srcRect/>
          <a:stretch>
            <a:fillRect/>
          </a:stretch>
        </p:blipFill>
        <p:spPr bwMode="auto">
          <a:xfrm>
            <a:off x="7970335" y="3581494"/>
            <a:ext cx="538915" cy="72246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20" name="Picture 7"/>
          <p:cNvPicPr>
            <a:picLocks noChangeAspect="1" noChangeArrowheads="1"/>
          </p:cNvPicPr>
          <p:nvPr/>
        </p:nvPicPr>
        <p:blipFill>
          <a:blip r:embed="rId17" cstate="print">
            <a:extLst>
              <a:ext uri="{28A0092B-C50C-407E-A947-70E740481C1C}">
                <a14:useLocalDpi xmlns="" xmlns:a14="http://schemas.microsoft.com/office/drawing/2010/main" val="0"/>
              </a:ext>
            </a:extLst>
          </a:blip>
          <a:srcRect/>
          <a:stretch>
            <a:fillRect/>
          </a:stretch>
        </p:blipFill>
        <p:spPr bwMode="auto">
          <a:xfrm>
            <a:off x="5159990" y="1297707"/>
            <a:ext cx="703682" cy="47323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20482" name="Picture 2"/>
          <p:cNvPicPr>
            <a:picLocks noChangeAspect="1" noChangeArrowheads="1"/>
          </p:cNvPicPr>
          <p:nvPr/>
        </p:nvPicPr>
        <p:blipFill>
          <a:blip r:embed="rId18" cstate="print"/>
          <a:srcRect/>
          <a:stretch>
            <a:fillRect/>
          </a:stretch>
        </p:blipFill>
        <p:spPr bwMode="auto">
          <a:xfrm>
            <a:off x="6107708" y="1284182"/>
            <a:ext cx="667508" cy="486758"/>
          </a:xfrm>
          <a:prstGeom prst="rect">
            <a:avLst/>
          </a:prstGeom>
          <a:noFill/>
          <a:ln w="9525">
            <a:noFill/>
            <a:miter lim="800000"/>
            <a:headEnd/>
            <a:tailEnd/>
          </a:ln>
        </p:spPr>
      </p:pic>
      <p:pic>
        <p:nvPicPr>
          <p:cNvPr id="2" name="图片 1"/>
          <p:cNvPicPr>
            <a:picLocks noChangeAspect="1"/>
          </p:cNvPicPr>
          <p:nvPr/>
        </p:nvPicPr>
        <p:blipFill>
          <a:blip r:embed="rId19" cstate="print"/>
          <a:stretch>
            <a:fillRect/>
          </a:stretch>
        </p:blipFill>
        <p:spPr>
          <a:xfrm>
            <a:off x="7864131" y="2366333"/>
            <a:ext cx="664054" cy="496447"/>
          </a:xfrm>
          <a:prstGeom prst="rect">
            <a:avLst/>
          </a:prstGeom>
        </p:spPr>
      </p:pic>
      <p:pic>
        <p:nvPicPr>
          <p:cNvPr id="12" name="图片 11"/>
          <p:cNvPicPr>
            <a:picLocks noChangeAspect="1"/>
          </p:cNvPicPr>
          <p:nvPr/>
        </p:nvPicPr>
        <p:blipFill rotWithShape="1">
          <a:blip r:embed="rId20" cstate="print">
            <a:extLst>
              <a:ext uri="{BEBA8EAE-BF5A-486C-A8C5-ECC9F3942E4B}">
                <a14:imgProps xmlns="" xmlns:a14="http://schemas.microsoft.com/office/drawing/2010/main">
                  <a14:imgLayer r:embed="rId21">
                    <a14:imgEffect>
                      <a14:brightnessContrast bright="40000" contrast="-20000"/>
                    </a14:imgEffect>
                  </a14:imgLayer>
                </a14:imgProps>
              </a:ext>
            </a:extLst>
          </a:blip>
          <a:srcRect l="4292" t="7957" r="5419" b="9533"/>
          <a:stretch>
            <a:fillRect/>
          </a:stretch>
        </p:blipFill>
        <p:spPr>
          <a:xfrm>
            <a:off x="2769467" y="2745072"/>
            <a:ext cx="903861" cy="576790"/>
          </a:xfrm>
          <a:prstGeom prst="rect">
            <a:avLst/>
          </a:prstGeom>
        </p:spPr>
      </p:pic>
      <p:pic>
        <p:nvPicPr>
          <p:cNvPr id="13" name="图片 12"/>
          <p:cNvPicPr>
            <a:picLocks noChangeAspect="1"/>
          </p:cNvPicPr>
          <p:nvPr/>
        </p:nvPicPr>
        <p:blipFill>
          <a:blip r:embed="rId22" cstate="print">
            <a:extLst>
              <a:ext uri="{28A0092B-C50C-407E-A947-70E740481C1C}">
                <a14:useLocalDpi xmlns="" xmlns:a14="http://schemas.microsoft.com/office/drawing/2010/main" val="0"/>
              </a:ext>
            </a:extLst>
          </a:blip>
          <a:stretch>
            <a:fillRect/>
          </a:stretch>
        </p:blipFill>
        <p:spPr>
          <a:xfrm>
            <a:off x="1698381" y="2751115"/>
            <a:ext cx="802435" cy="577432"/>
          </a:xfrm>
          <a:prstGeom prst="rect">
            <a:avLst/>
          </a:prstGeom>
        </p:spPr>
      </p:pic>
      <p:pic>
        <p:nvPicPr>
          <p:cNvPr id="14" name="图片 13"/>
          <p:cNvPicPr>
            <a:picLocks noChangeAspect="1"/>
          </p:cNvPicPr>
          <p:nvPr/>
        </p:nvPicPr>
        <p:blipFill rotWithShape="1">
          <a:blip r:embed="rId23" cstate="print">
            <a:extLst>
              <a:ext uri="{28A0092B-C50C-407E-A947-70E740481C1C}">
                <a14:useLocalDpi xmlns="" xmlns:a14="http://schemas.microsoft.com/office/drawing/2010/main" val="0"/>
              </a:ext>
            </a:extLst>
          </a:blip>
          <a:srcRect l="1028" t="3439" r="5427" b="8778"/>
          <a:stretch>
            <a:fillRect/>
          </a:stretch>
        </p:blipFill>
        <p:spPr>
          <a:xfrm>
            <a:off x="583943" y="2758137"/>
            <a:ext cx="904733" cy="603155"/>
          </a:xfrm>
          <a:prstGeom prst="rect">
            <a:avLst/>
          </a:prstGeom>
        </p:spPr>
      </p:pic>
      <p:pic>
        <p:nvPicPr>
          <p:cNvPr id="17" name="图片 16"/>
          <p:cNvPicPr>
            <a:picLocks noChangeAspect="1"/>
          </p:cNvPicPr>
          <p:nvPr/>
        </p:nvPicPr>
        <p:blipFill rotWithShape="1">
          <a:blip r:embed="rId24" cstate="print">
            <a:extLst>
              <a:ext uri="{BEBA8EAE-BF5A-486C-A8C5-ECC9F3942E4B}">
                <a14:imgProps xmlns="" xmlns:a14="http://schemas.microsoft.com/office/drawing/2010/main">
                  <a14:imgLayer r:embed="rId25">
                    <a14:imgEffect>
                      <a14:brightnessContrast bright="20000" contrast="-40000"/>
                    </a14:imgEffect>
                    <a14:imgEffect>
                      <a14:saturation sat="33000"/>
                    </a14:imgEffect>
                  </a14:imgLayer>
                </a14:imgProps>
              </a:ext>
              <a:ext uri="{28A0092B-C50C-407E-A947-70E740481C1C}">
                <a14:useLocalDpi xmlns="" xmlns:a14="http://schemas.microsoft.com/office/drawing/2010/main" val="0"/>
              </a:ext>
            </a:extLst>
          </a:blip>
          <a:srcRect l="4875" t="4215" r="5044" b="4787"/>
          <a:stretch>
            <a:fillRect/>
          </a:stretch>
        </p:blipFill>
        <p:spPr>
          <a:xfrm>
            <a:off x="2975532" y="3776383"/>
            <a:ext cx="488511" cy="705627"/>
          </a:xfrm>
          <a:prstGeom prst="rect">
            <a:avLst/>
          </a:prstGeom>
        </p:spPr>
      </p:pic>
      <p:pic>
        <p:nvPicPr>
          <p:cNvPr id="55" name="Picture 13"/>
          <p:cNvPicPr>
            <a:picLocks noChangeAspect="1" noChangeArrowheads="1"/>
          </p:cNvPicPr>
          <p:nvPr/>
        </p:nvPicPr>
        <p:blipFill>
          <a:blip r:embed="rId26" cstate="print">
            <a:extLst>
              <a:ext uri="{28A0092B-C50C-407E-A947-70E740481C1C}">
                <a14:useLocalDpi xmlns="" xmlns:a14="http://schemas.microsoft.com/office/drawing/2010/main" val="0"/>
              </a:ext>
            </a:extLst>
          </a:blip>
          <a:srcRect/>
          <a:stretch>
            <a:fillRect/>
          </a:stretch>
        </p:blipFill>
        <p:spPr bwMode="auto">
          <a:xfrm>
            <a:off x="575040" y="3748246"/>
            <a:ext cx="993155" cy="6948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52" name="图片 51"/>
          <p:cNvPicPr>
            <a:picLocks noChangeAspect="1"/>
          </p:cNvPicPr>
          <p:nvPr/>
        </p:nvPicPr>
        <p:blipFill>
          <a:blip r:embed="rId27" cstate="print"/>
          <a:stretch>
            <a:fillRect/>
          </a:stretch>
        </p:blipFill>
        <p:spPr>
          <a:xfrm>
            <a:off x="6280689" y="3596267"/>
            <a:ext cx="537835" cy="757943"/>
          </a:xfrm>
          <a:prstGeom prst="rect">
            <a:avLst/>
          </a:prstGeom>
        </p:spPr>
      </p:pic>
      <p:sp>
        <p:nvSpPr>
          <p:cNvPr id="53" name="object 7"/>
          <p:cNvSpPr txBox="1"/>
          <p:nvPr/>
        </p:nvSpPr>
        <p:spPr>
          <a:xfrm>
            <a:off x="6318304" y="4441815"/>
            <a:ext cx="1063897" cy="123111"/>
          </a:xfrm>
          <a:prstGeom prst="rect">
            <a:avLst/>
          </a:prstGeom>
        </p:spPr>
        <p:txBody>
          <a:bodyPr vert="horz" wrap="square" lIns="0" tIns="0" rIns="0" bIns="0" rtlCol="0">
            <a:spAutoFit/>
          </a:bodyPr>
          <a:lstStyle/>
          <a:p>
            <a:pPr marL="12700">
              <a:lnSpc>
                <a:spcPct val="100000"/>
              </a:lnSpc>
            </a:pPr>
            <a:r>
              <a:rPr lang="en-US" sz="800" dirty="0">
                <a:solidFill>
                  <a:schemeClr val="tx1">
                    <a:lumMod val="75000"/>
                    <a:lumOff val="25000"/>
                  </a:schemeClr>
                </a:solidFill>
                <a:latin typeface="微软雅黑" panose="020B0503020204020204" pitchFamily="34" charset="-122"/>
                <a:ea typeface="微软雅黑" panose="020B0503020204020204" pitchFamily="34" charset="-122"/>
              </a:rPr>
              <a:t>ISO27001</a:t>
            </a:r>
            <a:endParaRPr sz="8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54" name="Picture 10"/>
          <p:cNvPicPr>
            <a:picLocks noChangeAspect="1" noChangeArrowheads="1"/>
          </p:cNvPicPr>
          <p:nvPr/>
        </p:nvPicPr>
        <p:blipFill>
          <a:blip r:embed="rId28" cstate="print">
            <a:extLst>
              <a:ext uri="{28A0092B-C50C-407E-A947-70E740481C1C}">
                <a14:useLocalDpi xmlns="" xmlns:a14="http://schemas.microsoft.com/office/drawing/2010/main" val="0"/>
              </a:ext>
            </a:extLst>
          </a:blip>
          <a:srcRect/>
          <a:stretch>
            <a:fillRect/>
          </a:stretch>
        </p:blipFill>
        <p:spPr bwMode="auto">
          <a:xfrm>
            <a:off x="5226393" y="2300983"/>
            <a:ext cx="494378" cy="67198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56" name="TextBox 6"/>
          <p:cNvSpPr>
            <a:spLocks noChangeArrowheads="1"/>
          </p:cNvSpPr>
          <p:nvPr/>
        </p:nvSpPr>
        <p:spPr bwMode="auto">
          <a:xfrm>
            <a:off x="5076056" y="3052544"/>
            <a:ext cx="882095" cy="332197"/>
          </a:xfrm>
          <a:prstGeom prst="rect">
            <a:avLst/>
          </a:prstGeom>
          <a:noFill/>
          <a:ln w="9525">
            <a:noFill/>
            <a:miter lim="800000"/>
          </a:ln>
        </p:spPr>
        <p:txBody>
          <a:bodyPr wrap="square" lIns="85144" tIns="42572" rIns="85144" bIns="42572">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华为优选解决方案伙伴</a:t>
            </a:r>
          </a:p>
        </p:txBody>
      </p:sp>
      <p:sp>
        <p:nvSpPr>
          <p:cNvPr id="58" name="TextBox 11"/>
          <p:cNvSpPr>
            <a:spLocks noChangeArrowheads="1"/>
          </p:cNvSpPr>
          <p:nvPr/>
        </p:nvSpPr>
        <p:spPr bwMode="auto">
          <a:xfrm rot="10800000" flipV="1">
            <a:off x="6027590" y="3052544"/>
            <a:ext cx="957939" cy="332197"/>
          </a:xfrm>
          <a:prstGeom prst="rect">
            <a:avLst/>
          </a:prstGeom>
          <a:noFill/>
          <a:ln w="9525">
            <a:noFill/>
            <a:miter lim="800000"/>
          </a:ln>
        </p:spPr>
        <p:txBody>
          <a:bodyPr wrap="square" lIns="85144" tIns="42572" rIns="85144" bIns="42572">
            <a:spAutoFit/>
          </a:bodyPr>
          <a:lstStyle/>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信息安全管理</a:t>
            </a:r>
            <a:endParaRPr lang="en-US" altLang="zh-CN"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gn="ctr"/>
            <a:r>
              <a:rPr lang="zh-CN" altLang="en-US" sz="800" dirty="0">
                <a:solidFill>
                  <a:schemeClr val="tx1">
                    <a:lumMod val="75000"/>
                    <a:lumOff val="25000"/>
                  </a:schemeClr>
                </a:solidFill>
                <a:latin typeface="微软雅黑" panose="020B0503020204020204" pitchFamily="34" charset="-122"/>
                <a:ea typeface="微软雅黑" panose="020B0503020204020204" pitchFamily="34" charset="-122"/>
                <a:sym typeface="微软雅黑" panose="020B0503020204020204" pitchFamily="34" charset="-122"/>
              </a:rPr>
              <a:t>体系认证</a:t>
            </a:r>
          </a:p>
        </p:txBody>
      </p:sp>
      <p:grpSp>
        <p:nvGrpSpPr>
          <p:cNvPr id="3" name="组合 10"/>
          <p:cNvGrpSpPr/>
          <p:nvPr/>
        </p:nvGrpSpPr>
        <p:grpSpPr>
          <a:xfrm>
            <a:off x="6124830" y="2274760"/>
            <a:ext cx="705911" cy="735700"/>
            <a:chOff x="6321058" y="2227174"/>
            <a:chExt cx="778399" cy="811247"/>
          </a:xfrm>
        </p:grpSpPr>
        <p:pic>
          <p:nvPicPr>
            <p:cNvPr id="59" name="图片 58"/>
            <p:cNvPicPr>
              <a:picLocks noChangeAspect="1"/>
            </p:cNvPicPr>
            <p:nvPr/>
          </p:nvPicPr>
          <p:blipFill>
            <a:blip r:embed="rId29" cstate="print"/>
            <a:stretch>
              <a:fillRect/>
            </a:stretch>
          </p:blipFill>
          <p:spPr>
            <a:xfrm>
              <a:off x="6321058" y="2227174"/>
              <a:ext cx="540555" cy="755663"/>
            </a:xfrm>
            <a:prstGeom prst="rect">
              <a:avLst/>
            </a:prstGeom>
          </p:spPr>
        </p:pic>
        <p:pic>
          <p:nvPicPr>
            <p:cNvPr id="57" name="图片 56"/>
            <p:cNvPicPr>
              <a:picLocks noChangeAspect="1"/>
            </p:cNvPicPr>
            <p:nvPr/>
          </p:nvPicPr>
          <p:blipFill>
            <a:blip r:embed="rId30" cstate="print"/>
            <a:stretch>
              <a:fillRect/>
            </a:stretch>
          </p:blipFill>
          <p:spPr>
            <a:xfrm>
              <a:off x="6553692" y="2287319"/>
              <a:ext cx="545765" cy="751102"/>
            </a:xfrm>
            <a:prstGeom prst="rect">
              <a:avLst/>
            </a:prstGeom>
          </p:spPr>
        </p:pic>
      </p:grpSp>
      <p:sp>
        <p:nvSpPr>
          <p:cNvPr id="15" name="标题 14"/>
          <p:cNvSpPr>
            <a:spLocks noGrp="1"/>
          </p:cNvSpPr>
          <p:nvPr>
            <p:ph type="title"/>
          </p:nvPr>
        </p:nvSpPr>
        <p:spPr/>
        <p:txBody>
          <a:bodyPr/>
          <a:lstStyle/>
          <a:p>
            <a:r>
              <a:rPr lang="zh-CN" altLang="en-US" dirty="0">
                <a:solidFill>
                  <a:schemeClr val="tx1">
                    <a:lumMod val="75000"/>
                    <a:lumOff val="25000"/>
                  </a:schemeClr>
                </a:solidFill>
              </a:rPr>
              <a:t>荣誉与资质</a:t>
            </a:r>
            <a:endParaRPr lang="zh-CN" altLang="en-US" dirty="0"/>
          </a:p>
        </p:txBody>
      </p:sp>
      <p:pic>
        <p:nvPicPr>
          <p:cNvPr id="60" name="图片 59"/>
          <p:cNvPicPr>
            <a:picLocks noChangeAspect="1"/>
          </p:cNvPicPr>
          <p:nvPr/>
        </p:nvPicPr>
        <p:blipFill>
          <a:blip r:embed="rId31" cstate="print">
            <a:extLst>
              <a:ext uri="{BEBA8EAE-BF5A-486C-A8C5-ECC9F3942E4B}">
                <a14:imgProps xmlns="" xmlns:a14="http://schemas.microsoft.com/office/drawing/2010/main">
                  <a14:imgLayer r:embed="rId32">
                    <a14:imgEffect>
                      <a14:brightnessContrast bright="10000"/>
                    </a14:imgEffect>
                  </a14:imgLayer>
                </a14:imgProps>
              </a:ext>
            </a:extLst>
          </a:blip>
          <a:stretch>
            <a:fillRect/>
          </a:stretch>
        </p:blipFill>
        <p:spPr>
          <a:xfrm>
            <a:off x="1743883" y="1203598"/>
            <a:ext cx="883901" cy="637200"/>
          </a:xfrm>
          <a:prstGeom prst="roundRect">
            <a:avLst>
              <a:gd name="adj" fmla="val 8594"/>
            </a:avLst>
          </a:prstGeom>
          <a:solidFill>
            <a:srgbClr val="FFFFFF">
              <a:shade val="85000"/>
            </a:srgbClr>
          </a:solidFill>
          <a:ln>
            <a:noFill/>
          </a:ln>
          <a:effectLst/>
        </p:spPr>
      </p:pic>
      <p:sp>
        <p:nvSpPr>
          <p:cNvPr id="61" name="文本框 10"/>
          <p:cNvSpPr txBox="1"/>
          <p:nvPr/>
        </p:nvSpPr>
        <p:spPr>
          <a:xfrm>
            <a:off x="1763688" y="1867349"/>
            <a:ext cx="792088" cy="338554"/>
          </a:xfrm>
          <a:prstGeom prst="rect">
            <a:avLst/>
          </a:prstGeom>
          <a:noFill/>
        </p:spPr>
        <p:txBody>
          <a:bodyPr wrap="square" rtlCol="0">
            <a:spAutoFit/>
          </a:bodyPr>
          <a:lstStyle/>
          <a:p>
            <a:pPr algn="ctr"/>
            <a:r>
              <a:rPr lang="en-US" altLang="zh-CN" sz="800" dirty="0" smtClean="0">
                <a:solidFill>
                  <a:schemeClr val="tx1">
                    <a:lumMod val="75000"/>
                    <a:lumOff val="25000"/>
                  </a:schemeClr>
                </a:solidFill>
                <a:latin typeface="微软雅黑" panose="020B0503020204020204" pitchFamily="34" charset="-122"/>
                <a:ea typeface="微软雅黑" panose="020B0503020204020204" pitchFamily="34" charset="-122"/>
              </a:rPr>
              <a:t>2019</a:t>
            </a:r>
            <a:r>
              <a:rPr lang="zh-CN" altLang="en-US" sz="800" dirty="0" smtClean="0">
                <a:solidFill>
                  <a:schemeClr val="tx1">
                    <a:lumMod val="75000"/>
                    <a:lumOff val="25000"/>
                  </a:schemeClr>
                </a:solidFill>
                <a:latin typeface="微软雅黑" panose="020B0503020204020204" pitchFamily="34" charset="-122"/>
                <a:ea typeface="微软雅黑" panose="020B0503020204020204" pitchFamily="34" charset="-122"/>
              </a:rPr>
              <a:t>年建国</a:t>
            </a:r>
            <a:endParaRPr lang="en-US" altLang="zh-CN" sz="800" dirty="0" smtClean="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800" dirty="0" smtClean="0">
                <a:solidFill>
                  <a:schemeClr val="tx1">
                    <a:lumMod val="75000"/>
                    <a:lumOff val="25000"/>
                  </a:schemeClr>
                </a:solidFill>
                <a:latin typeface="微软雅黑" panose="020B0503020204020204" pitchFamily="34" charset="-122"/>
                <a:ea typeface="微软雅黑" panose="020B0503020204020204" pitchFamily="34" charset="-122"/>
              </a:rPr>
              <a:t>70</a:t>
            </a:r>
            <a:r>
              <a:rPr lang="zh-CN" altLang="en-US" sz="800" dirty="0" smtClean="0">
                <a:solidFill>
                  <a:schemeClr val="tx1">
                    <a:lumMod val="75000"/>
                    <a:lumOff val="25000"/>
                  </a:schemeClr>
                </a:solidFill>
                <a:latin typeface="微软雅黑" panose="020B0503020204020204" pitchFamily="34" charset="-122"/>
                <a:ea typeface="微软雅黑" panose="020B0503020204020204" pitchFamily="34" charset="-122"/>
              </a:rPr>
              <a:t>周年阅兵</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36220" y="726370"/>
            <a:ext cx="2423612" cy="369332"/>
          </a:xfrm>
          <a:prstGeom prst="rect">
            <a:avLst/>
          </a:prstGeom>
          <a:noFill/>
          <a:ln>
            <a:noFill/>
          </a:ln>
        </p:spPr>
        <p:txBody>
          <a:bodyPr wrap="none" rtlCol="0">
            <a:spAutoFit/>
          </a:bodyPr>
          <a:lstStyle/>
          <a:p>
            <a:r>
              <a:rPr lang="en-US" altLang="zh-CN" dirty="0">
                <a:ln w="6350">
                  <a:solidFill>
                    <a:schemeClr val="accent1">
                      <a:lumMod val="60000"/>
                      <a:lumOff val="40000"/>
                    </a:schemeClr>
                  </a:solidFill>
                </a:ln>
                <a:solidFill>
                  <a:schemeClr val="bg1"/>
                </a:solidFill>
                <a:latin typeface="微软雅黑" panose="020B0503020204020204" pitchFamily="34" charset="-122"/>
                <a:ea typeface="微软雅黑" panose="020B0503020204020204" pitchFamily="34" charset="-122"/>
                <a:cs typeface="阿里巴巴普惠体 H" pitchFamily="18" charset="-122"/>
              </a:rPr>
              <a:t>BUSINESS PARTNER</a:t>
            </a:r>
          </a:p>
        </p:txBody>
      </p:sp>
      <p:sp>
        <p:nvSpPr>
          <p:cNvPr id="6" name="TextBox 5"/>
          <p:cNvSpPr txBox="1"/>
          <p:nvPr/>
        </p:nvSpPr>
        <p:spPr>
          <a:xfrm>
            <a:off x="649473" y="438338"/>
            <a:ext cx="1005403" cy="338554"/>
          </a:xfrm>
          <a:prstGeom prst="rect">
            <a:avLst/>
          </a:prstGeom>
          <a:noFill/>
        </p:spPr>
        <p:txBody>
          <a:bodyPr wrap="none" rtlCol="0">
            <a:spAutoFit/>
          </a:bodyPr>
          <a:lstStyle/>
          <a:p>
            <a:r>
              <a:rPr lang="zh-CN" altLang="en-US" sz="1600" b="1" dirty="0">
                <a:solidFill>
                  <a:srgbClr val="196494"/>
                </a:solidFill>
                <a:latin typeface="微软雅黑" panose="020B0503020204020204" pitchFamily="34" charset="-122"/>
                <a:ea typeface="微软雅黑" panose="020B0503020204020204" pitchFamily="34" charset="-122"/>
              </a:rPr>
              <a:t>合作伙伴</a:t>
            </a:r>
          </a:p>
        </p:txBody>
      </p:sp>
      <p:sp>
        <p:nvSpPr>
          <p:cNvPr id="68" name="矩形 67"/>
          <p:cNvSpPr/>
          <p:nvPr/>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latin typeface="微软雅黑" panose="020B0503020204020204" pitchFamily="34" charset="-122"/>
              <a:ea typeface="微软雅黑" panose="020B0503020204020204" pitchFamily="34" charset="-122"/>
            </a:endParaRPr>
          </a:p>
        </p:txBody>
      </p:sp>
      <p:sp>
        <p:nvSpPr>
          <p:cNvPr id="65" name="六边形 64"/>
          <p:cNvSpPr/>
          <p:nvPr/>
        </p:nvSpPr>
        <p:spPr>
          <a:xfrm rot="5400000">
            <a:off x="1844202" y="1699013"/>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66" name="六边形 65"/>
          <p:cNvSpPr/>
          <p:nvPr/>
        </p:nvSpPr>
        <p:spPr>
          <a:xfrm rot="5400000">
            <a:off x="2759597" y="1699013"/>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69" name="六边形 68"/>
          <p:cNvSpPr/>
          <p:nvPr/>
        </p:nvSpPr>
        <p:spPr>
          <a:xfrm rot="5400000">
            <a:off x="3675127" y="1699013"/>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0" name="六边形 69"/>
          <p:cNvSpPr/>
          <p:nvPr/>
        </p:nvSpPr>
        <p:spPr>
          <a:xfrm rot="5400000">
            <a:off x="4590657" y="1699013"/>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1" name="六边形 70"/>
          <p:cNvSpPr/>
          <p:nvPr/>
        </p:nvSpPr>
        <p:spPr>
          <a:xfrm rot="5400000">
            <a:off x="5506187" y="1699013"/>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2" name="六边形 71"/>
          <p:cNvSpPr/>
          <p:nvPr/>
        </p:nvSpPr>
        <p:spPr>
          <a:xfrm rot="5400000">
            <a:off x="6421717" y="1699013"/>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3" name="流程图: 准备 72"/>
          <p:cNvSpPr/>
          <p:nvPr/>
        </p:nvSpPr>
        <p:spPr>
          <a:xfrm rot="5400000">
            <a:off x="928537" y="1699013"/>
            <a:ext cx="918822" cy="792088"/>
          </a:xfrm>
          <a:prstGeom prst="flowChartPreparation">
            <a:avLst/>
          </a:prstGeom>
          <a:solidFill>
            <a:schemeClr val="bg1"/>
          </a:solidFill>
          <a:ln w="31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4" name="六边形 73"/>
          <p:cNvSpPr/>
          <p:nvPr/>
        </p:nvSpPr>
        <p:spPr>
          <a:xfrm rot="5400000">
            <a:off x="7337249" y="1699013"/>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5" name="六边形 74"/>
          <p:cNvSpPr/>
          <p:nvPr/>
        </p:nvSpPr>
        <p:spPr>
          <a:xfrm rot="5400000">
            <a:off x="1412019" y="2526247"/>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6" name="六边形 75"/>
          <p:cNvSpPr/>
          <p:nvPr/>
        </p:nvSpPr>
        <p:spPr>
          <a:xfrm rot="5400000">
            <a:off x="2327549" y="2526247"/>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7" name="六边形 76"/>
          <p:cNvSpPr/>
          <p:nvPr/>
        </p:nvSpPr>
        <p:spPr>
          <a:xfrm rot="5400000">
            <a:off x="3243079" y="2526247"/>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8" name="六边形 77"/>
          <p:cNvSpPr/>
          <p:nvPr/>
        </p:nvSpPr>
        <p:spPr>
          <a:xfrm rot="5400000">
            <a:off x="4158609" y="2526247"/>
            <a:ext cx="918822" cy="792088"/>
          </a:xfrm>
          <a:prstGeom prst="hexagon">
            <a:avLst/>
          </a:prstGeom>
          <a:solidFill>
            <a:schemeClr val="tx2">
              <a:lumMod val="60000"/>
              <a:lumOff val="40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79" name="六边形 78"/>
          <p:cNvSpPr/>
          <p:nvPr/>
        </p:nvSpPr>
        <p:spPr>
          <a:xfrm rot="5400000">
            <a:off x="5074139" y="2526247"/>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0" name="六边形 79"/>
          <p:cNvSpPr/>
          <p:nvPr/>
        </p:nvSpPr>
        <p:spPr>
          <a:xfrm rot="5400000">
            <a:off x="5989669" y="2526247"/>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1" name="六边形 80"/>
          <p:cNvSpPr/>
          <p:nvPr/>
        </p:nvSpPr>
        <p:spPr>
          <a:xfrm rot="5400000">
            <a:off x="496489" y="2526247"/>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2" name="六边形 81"/>
          <p:cNvSpPr/>
          <p:nvPr/>
        </p:nvSpPr>
        <p:spPr>
          <a:xfrm rot="5400000">
            <a:off x="6905201" y="2526247"/>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3" name="六边形 82"/>
          <p:cNvSpPr/>
          <p:nvPr/>
        </p:nvSpPr>
        <p:spPr>
          <a:xfrm rot="5400000">
            <a:off x="7805031" y="2545125"/>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4" name="六边形 83"/>
          <p:cNvSpPr/>
          <p:nvPr/>
        </p:nvSpPr>
        <p:spPr>
          <a:xfrm rot="5400000">
            <a:off x="1844202" y="3362171"/>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5" name="六边形 84"/>
          <p:cNvSpPr/>
          <p:nvPr/>
        </p:nvSpPr>
        <p:spPr>
          <a:xfrm rot="5400000">
            <a:off x="2759597" y="3362171"/>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6" name="六边形 85"/>
          <p:cNvSpPr/>
          <p:nvPr/>
        </p:nvSpPr>
        <p:spPr>
          <a:xfrm rot="5400000">
            <a:off x="3675127" y="3362171"/>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7" name="六边形 86"/>
          <p:cNvSpPr/>
          <p:nvPr/>
        </p:nvSpPr>
        <p:spPr>
          <a:xfrm rot="5400000">
            <a:off x="4590657" y="3362171"/>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8" name="六边形 87"/>
          <p:cNvSpPr/>
          <p:nvPr/>
        </p:nvSpPr>
        <p:spPr>
          <a:xfrm rot="5400000">
            <a:off x="5506187" y="3362171"/>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89" name="六边形 88"/>
          <p:cNvSpPr/>
          <p:nvPr/>
        </p:nvSpPr>
        <p:spPr>
          <a:xfrm rot="5400000">
            <a:off x="6421717" y="3362171"/>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90" name="六边形 89"/>
          <p:cNvSpPr/>
          <p:nvPr/>
        </p:nvSpPr>
        <p:spPr>
          <a:xfrm rot="5400000">
            <a:off x="928537" y="3362171"/>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sp>
        <p:nvSpPr>
          <p:cNvPr id="91" name="六边形 90"/>
          <p:cNvSpPr/>
          <p:nvPr/>
        </p:nvSpPr>
        <p:spPr>
          <a:xfrm rot="5400000">
            <a:off x="7337249" y="3362171"/>
            <a:ext cx="918822" cy="792088"/>
          </a:xfrm>
          <a:prstGeom prst="hexagon">
            <a:avLst/>
          </a:prstGeom>
          <a:solidFill>
            <a:schemeClr val="bg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latin typeface="微软雅黑" panose="020B0503020204020204" pitchFamily="34" charset="-122"/>
              <a:ea typeface="微软雅黑" panose="020B0503020204020204" pitchFamily="34" charset="-122"/>
            </a:endParaRPr>
          </a:p>
        </p:txBody>
      </p:sp>
      <p:pic>
        <p:nvPicPr>
          <p:cNvPr id="92" name="Picture 4"/>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105531" y="1775174"/>
            <a:ext cx="396164" cy="396164"/>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3" name="TextBox 29"/>
          <p:cNvSpPr txBox="1"/>
          <p:nvPr/>
        </p:nvSpPr>
        <p:spPr>
          <a:xfrm>
            <a:off x="1925295" y="2166470"/>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中日友好医院</a:t>
            </a:r>
          </a:p>
        </p:txBody>
      </p:sp>
      <p:pic>
        <p:nvPicPr>
          <p:cNvPr id="94" name="Picture 4" descr="C:\Users\Administrator\Desktop\矢量智能对象@2x.pn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171282" y="1828051"/>
            <a:ext cx="433332" cy="304801"/>
          </a:xfrm>
          <a:prstGeom prst="rect">
            <a:avLst/>
          </a:prstGeom>
          <a:noFill/>
          <a:extLst>
            <a:ext uri="{909E8E84-426E-40DD-AFC4-6F175D3DCCD1}">
              <a14:hiddenFill xmlns="" xmlns:a14="http://schemas.microsoft.com/office/drawing/2010/main">
                <a:solidFill>
                  <a:srgbClr val="FFFFFF"/>
                </a:solidFill>
              </a14:hiddenFill>
            </a:ext>
          </a:extLst>
        </p:spPr>
      </p:pic>
      <p:sp>
        <p:nvSpPr>
          <p:cNvPr id="95" name="TextBox 36"/>
          <p:cNvSpPr txBox="1"/>
          <p:nvPr/>
        </p:nvSpPr>
        <p:spPr>
          <a:xfrm>
            <a:off x="971600" y="2146842"/>
            <a:ext cx="832300"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中国人民解放军</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总医院（</a:t>
            </a:r>
            <a:r>
              <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rPr>
              <a:t>301</a:t>
            </a: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a:t>
            </a:r>
          </a:p>
        </p:txBody>
      </p:sp>
      <p:pic>
        <p:nvPicPr>
          <p:cNvPr id="96" name="Picture 5"/>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3009631" y="1759759"/>
            <a:ext cx="418754" cy="418754"/>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7" name="TextBox 39"/>
          <p:cNvSpPr txBox="1"/>
          <p:nvPr/>
        </p:nvSpPr>
        <p:spPr>
          <a:xfrm>
            <a:off x="2802858" y="2146842"/>
            <a:ext cx="832300"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中国人民解放军</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rPr>
              <a:t>910</a:t>
            </a: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医院</a:t>
            </a:r>
          </a:p>
        </p:txBody>
      </p:sp>
      <p:pic>
        <p:nvPicPr>
          <p:cNvPr id="98" name="Picture 6"/>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3919426" y="1772812"/>
            <a:ext cx="411428" cy="411428"/>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99" name="TextBox 41"/>
          <p:cNvSpPr txBox="1"/>
          <p:nvPr/>
        </p:nvSpPr>
        <p:spPr>
          <a:xfrm>
            <a:off x="3756220" y="2139702"/>
            <a:ext cx="756636"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东部战区总医院八一院区</a:t>
            </a:r>
          </a:p>
        </p:txBody>
      </p:sp>
      <p:sp>
        <p:nvSpPr>
          <p:cNvPr id="100" name="TextBox 43"/>
          <p:cNvSpPr txBox="1"/>
          <p:nvPr/>
        </p:nvSpPr>
        <p:spPr>
          <a:xfrm>
            <a:off x="4625102" y="2146842"/>
            <a:ext cx="832300"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浙江大学医学院</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附属第二医院</a:t>
            </a:r>
          </a:p>
        </p:txBody>
      </p:sp>
      <p:pic>
        <p:nvPicPr>
          <p:cNvPr id="101" name="Picture 8"/>
          <p:cNvPicPr>
            <a:picLocks noChangeAspect="1" noChangeArrowheads="1"/>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5752850" y="1779363"/>
            <a:ext cx="425497" cy="425497"/>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02" name="TextBox 45"/>
          <p:cNvSpPr txBox="1"/>
          <p:nvPr/>
        </p:nvSpPr>
        <p:spPr>
          <a:xfrm>
            <a:off x="5652939" y="2220829"/>
            <a:ext cx="625319"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浙江医院</a:t>
            </a:r>
          </a:p>
        </p:txBody>
      </p:sp>
      <p:sp>
        <p:nvSpPr>
          <p:cNvPr id="103" name="TextBox 48"/>
          <p:cNvSpPr txBox="1"/>
          <p:nvPr/>
        </p:nvSpPr>
        <p:spPr>
          <a:xfrm>
            <a:off x="6464978" y="2169685"/>
            <a:ext cx="832300"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浙江大学邵逸夫</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医院</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04" name="Picture 10"/>
          <p:cNvPicPr>
            <a:picLocks noChangeAspect="1" noChangeArrowheads="1"/>
          </p:cNvPicPr>
          <p:nvPr/>
        </p:nvPicPr>
        <p:blipFill>
          <a:blip r:embed="rId8" cstate="print">
            <a:extLst>
              <a:ext uri="{28A0092B-C50C-407E-A947-70E740481C1C}">
                <a14:useLocalDpi xmlns="" xmlns:a14="http://schemas.microsoft.com/office/drawing/2010/main" val="0"/>
              </a:ext>
            </a:extLst>
          </a:blip>
          <a:srcRect/>
          <a:stretch>
            <a:fillRect/>
          </a:stretch>
        </p:blipFill>
        <p:spPr bwMode="auto">
          <a:xfrm>
            <a:off x="7583912" y="1772812"/>
            <a:ext cx="425497" cy="42549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05" name="TextBox 50"/>
          <p:cNvSpPr txBox="1"/>
          <p:nvPr/>
        </p:nvSpPr>
        <p:spPr>
          <a:xfrm>
            <a:off x="7380510" y="2186057"/>
            <a:ext cx="832300"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北京大学第一</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医院</a:t>
            </a:r>
          </a:p>
        </p:txBody>
      </p:sp>
      <p:pic>
        <p:nvPicPr>
          <p:cNvPr id="106" name="Picture 11"/>
          <p:cNvPicPr>
            <a:picLocks noChangeAspect="1" noChangeArrowheads="1"/>
          </p:cNvPicPr>
          <p:nvPr/>
        </p:nvPicPr>
        <p:blipFill>
          <a:blip r:embed="rId9" cstate="print">
            <a:extLst>
              <a:ext uri="{28A0092B-C50C-407E-A947-70E740481C1C}">
                <a14:useLocalDpi xmlns="" xmlns:a14="http://schemas.microsoft.com/office/drawing/2010/main" val="0"/>
              </a:ext>
            </a:extLst>
          </a:blip>
          <a:srcRect/>
          <a:stretch>
            <a:fillRect/>
          </a:stretch>
        </p:blipFill>
        <p:spPr bwMode="auto">
          <a:xfrm>
            <a:off x="747803" y="2580753"/>
            <a:ext cx="416195" cy="416195"/>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07" name="TextBox 52"/>
          <p:cNvSpPr txBox="1"/>
          <p:nvPr/>
        </p:nvSpPr>
        <p:spPr>
          <a:xfrm>
            <a:off x="611974" y="3007625"/>
            <a:ext cx="687851"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宁夏医科大</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总院</a:t>
            </a:r>
          </a:p>
        </p:txBody>
      </p:sp>
      <p:pic>
        <p:nvPicPr>
          <p:cNvPr id="108" name="Picture 12"/>
          <p:cNvPicPr>
            <a:picLocks noChangeAspect="1" noChangeArrowheads="1"/>
          </p:cNvPicPr>
          <p:nvPr/>
        </p:nvPicPr>
        <p:blipFill>
          <a:blip r:embed="rId10" cstate="print">
            <a:extLst>
              <a:ext uri="{28A0092B-C50C-407E-A947-70E740481C1C}">
                <a14:useLocalDpi xmlns="" xmlns:a14="http://schemas.microsoft.com/office/drawing/2010/main" val="0"/>
              </a:ext>
            </a:extLst>
          </a:blip>
          <a:srcRect/>
          <a:stretch>
            <a:fillRect/>
          </a:stretch>
        </p:blipFill>
        <p:spPr bwMode="auto">
          <a:xfrm>
            <a:off x="1645217" y="2580753"/>
            <a:ext cx="452427" cy="452427"/>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09" name="TextBox 54"/>
          <p:cNvSpPr txBox="1"/>
          <p:nvPr/>
        </p:nvSpPr>
        <p:spPr>
          <a:xfrm>
            <a:off x="1449162" y="3007625"/>
            <a:ext cx="832300"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宁夏回族自治区人民医院</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10" name="Picture 14"/>
          <p:cNvPicPr>
            <a:picLocks noChangeAspect="1" noChangeArrowheads="1"/>
          </p:cNvPicPr>
          <p:nvPr/>
        </p:nvPicPr>
        <p:blipFill>
          <a:blip r:embed="rId11" cstate="print">
            <a:extLst>
              <a:ext uri="{28A0092B-C50C-407E-A947-70E740481C1C}">
                <a14:useLocalDpi xmlns="" xmlns:a14="http://schemas.microsoft.com/office/drawing/2010/main" val="0"/>
              </a:ext>
            </a:extLst>
          </a:blip>
          <a:srcRect/>
          <a:stretch>
            <a:fillRect/>
          </a:stretch>
        </p:blipFill>
        <p:spPr bwMode="auto">
          <a:xfrm>
            <a:off x="2566621" y="2593543"/>
            <a:ext cx="440677" cy="440677"/>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11" name="TextBox 57"/>
          <p:cNvSpPr txBox="1"/>
          <p:nvPr/>
        </p:nvSpPr>
        <p:spPr>
          <a:xfrm>
            <a:off x="2370810" y="3007625"/>
            <a:ext cx="832300" cy="307777"/>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陕西中医院大学附属医院</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12" name="Picture 15"/>
          <p:cNvPicPr>
            <a:picLocks noChangeAspect="1" noChangeArrowheads="1"/>
          </p:cNvPicPr>
          <p:nvPr/>
        </p:nvPicPr>
        <p:blipFill>
          <a:blip r:embed="rId12" cstate="print">
            <a:extLst>
              <a:ext uri="{28A0092B-C50C-407E-A947-70E740481C1C}">
                <a14:useLocalDpi xmlns="" xmlns:a14="http://schemas.microsoft.com/office/drawing/2010/main" val="0"/>
              </a:ext>
            </a:extLst>
          </a:blip>
          <a:srcRect/>
          <a:stretch>
            <a:fillRect/>
          </a:stretch>
        </p:blipFill>
        <p:spPr bwMode="auto">
          <a:xfrm>
            <a:off x="4829730" y="1721174"/>
            <a:ext cx="440677" cy="440677"/>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13" name="Picture 16"/>
          <p:cNvPicPr>
            <a:picLocks noChangeAspect="1" noChangeArrowheads="1"/>
          </p:cNvPicPr>
          <p:nvPr/>
        </p:nvPicPr>
        <p:blipFill>
          <a:blip r:embed="rId13" cstate="print">
            <a:extLst>
              <a:ext uri="{28A0092B-C50C-407E-A947-70E740481C1C}">
                <a14:useLocalDpi xmlns="" xmlns:a14="http://schemas.microsoft.com/office/drawing/2010/main" val="0"/>
              </a:ext>
            </a:extLst>
          </a:blip>
          <a:srcRect/>
          <a:stretch>
            <a:fillRect/>
          </a:stretch>
        </p:blipFill>
        <p:spPr bwMode="auto">
          <a:xfrm>
            <a:off x="6671634" y="1739174"/>
            <a:ext cx="440677" cy="440677"/>
          </a:xfrm>
          <a:prstGeom prst="flowChartPreparati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14" name="Picture 17"/>
          <p:cNvPicPr>
            <a:picLocks noChangeAspect="1" noChangeArrowheads="1"/>
          </p:cNvPicPr>
          <p:nvPr/>
        </p:nvPicPr>
        <p:blipFill>
          <a:blip r:embed="rId14" cstate="print">
            <a:extLst>
              <a:ext uri="{28A0092B-C50C-407E-A947-70E740481C1C}">
                <a14:useLocalDpi xmlns="" xmlns:a14="http://schemas.microsoft.com/office/drawing/2010/main" val="0"/>
              </a:ext>
            </a:extLst>
          </a:blip>
          <a:srcRect/>
          <a:stretch>
            <a:fillRect/>
          </a:stretch>
        </p:blipFill>
        <p:spPr bwMode="auto">
          <a:xfrm>
            <a:off x="3465504" y="2587850"/>
            <a:ext cx="458159" cy="458159"/>
          </a:xfrm>
          <a:prstGeom prst="hexag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15" name="TextBox 61"/>
          <p:cNvSpPr txBox="1"/>
          <p:nvPr/>
        </p:nvSpPr>
        <p:spPr>
          <a:xfrm>
            <a:off x="3324171" y="3007625"/>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甘肃省二院</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16" name="Picture 12" descr="C:\Users\Administrator\Desktop\03@2x.png"/>
          <p:cNvPicPr>
            <a:picLocks noChangeAspect="1" noChangeArrowheads="1"/>
          </p:cNvPicPr>
          <p:nvPr/>
        </p:nvPicPr>
        <p:blipFill>
          <a:blip r:embed="rId15" cstate="print">
            <a:extLst>
              <a:ext uri="{28A0092B-C50C-407E-A947-70E740481C1C}">
                <a14:useLocalDpi xmlns="" xmlns:a14="http://schemas.microsoft.com/office/drawing/2010/main" val="0"/>
              </a:ext>
            </a:extLst>
          </a:blip>
          <a:srcRect/>
          <a:stretch>
            <a:fillRect/>
          </a:stretch>
        </p:blipFill>
        <p:spPr bwMode="auto">
          <a:xfrm>
            <a:off x="5365910" y="2636908"/>
            <a:ext cx="335281" cy="332429"/>
          </a:xfrm>
          <a:prstGeom prst="rect">
            <a:avLst/>
          </a:prstGeom>
          <a:noFill/>
          <a:extLst>
            <a:ext uri="{909E8E84-426E-40DD-AFC4-6F175D3DCCD1}">
              <a14:hiddenFill xmlns="" xmlns:a14="http://schemas.microsoft.com/office/drawing/2010/main">
                <a:solidFill>
                  <a:srgbClr val="FFFFFF"/>
                </a:solidFill>
              </a14:hiddenFill>
            </a:ext>
          </a:extLst>
        </p:spPr>
      </p:pic>
      <p:sp>
        <p:nvSpPr>
          <p:cNvPr id="117" name="TextBox 63"/>
          <p:cNvSpPr txBox="1"/>
          <p:nvPr/>
        </p:nvSpPr>
        <p:spPr>
          <a:xfrm>
            <a:off x="5189625" y="3007625"/>
            <a:ext cx="687851"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华为</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18" name="Picture 18"/>
          <p:cNvPicPr>
            <a:picLocks noChangeAspect="1" noChangeArrowheads="1"/>
          </p:cNvPicPr>
          <p:nvPr/>
        </p:nvPicPr>
        <p:blipFill>
          <a:blip r:embed="rId16" cstate="print">
            <a:extLst>
              <a:ext uri="{28A0092B-C50C-407E-A947-70E740481C1C}">
                <a14:useLocalDpi xmlns="" xmlns:a14="http://schemas.microsoft.com/office/drawing/2010/main" val="0"/>
              </a:ext>
            </a:extLst>
          </a:blip>
          <a:srcRect/>
          <a:stretch>
            <a:fillRect/>
          </a:stretch>
        </p:blipFill>
        <p:spPr bwMode="auto">
          <a:xfrm>
            <a:off x="6245879" y="2585220"/>
            <a:ext cx="406402" cy="406402"/>
          </a:xfrm>
          <a:prstGeom prst="hexagon">
            <a:avLst>
              <a:gd name="adj" fmla="val 14961"/>
              <a:gd name="vf" fmla="val 115470"/>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19" name="TextBox 65"/>
          <p:cNvSpPr txBox="1"/>
          <p:nvPr/>
        </p:nvSpPr>
        <p:spPr>
          <a:xfrm>
            <a:off x="6105155" y="3007625"/>
            <a:ext cx="687851"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小米</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20" name="Picture 13" descr="C:\Users\Administrator\Desktop\04@2x.png"/>
          <p:cNvPicPr>
            <a:picLocks noChangeAspect="1" noChangeArrowheads="1"/>
          </p:cNvPicPr>
          <p:nvPr/>
        </p:nvPicPr>
        <p:blipFill>
          <a:blip r:embed="rId17" cstate="print">
            <a:extLst>
              <a:ext uri="{28A0092B-C50C-407E-A947-70E740481C1C}">
                <a14:useLocalDpi xmlns="" xmlns:a14="http://schemas.microsoft.com/office/drawing/2010/main" val="0"/>
              </a:ext>
            </a:extLst>
          </a:blip>
          <a:srcRect/>
          <a:stretch>
            <a:fillRect/>
          </a:stretch>
        </p:blipFill>
        <p:spPr bwMode="auto">
          <a:xfrm>
            <a:off x="7039169" y="2708916"/>
            <a:ext cx="682681" cy="416070"/>
          </a:xfrm>
          <a:prstGeom prst="flowChartPreparation">
            <a:avLst/>
          </a:prstGeom>
          <a:noFill/>
          <a:extLst>
            <a:ext uri="{909E8E84-426E-40DD-AFC4-6F175D3DCCD1}">
              <a14:hiddenFill xmlns="" xmlns:a14="http://schemas.microsoft.com/office/drawing/2010/main">
                <a:solidFill>
                  <a:srgbClr val="FFFFFF"/>
                </a:solidFill>
              </a14:hiddenFill>
            </a:ext>
          </a:extLst>
        </p:spPr>
      </p:pic>
      <p:sp>
        <p:nvSpPr>
          <p:cNvPr id="121" name="TextBox 67"/>
          <p:cNvSpPr txBox="1"/>
          <p:nvPr/>
        </p:nvSpPr>
        <p:spPr>
          <a:xfrm>
            <a:off x="7036584" y="3007625"/>
            <a:ext cx="687851" cy="200055"/>
          </a:xfrm>
          <a:prstGeom prst="rect">
            <a:avLst/>
          </a:prstGeom>
          <a:noFill/>
        </p:spPr>
        <p:txBody>
          <a:bodyPr wrap="square" rtlCol="0">
            <a:spAutoFit/>
          </a:bodyPr>
          <a:lstStyle/>
          <a:p>
            <a:pPr algn="ctr"/>
            <a:r>
              <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rPr>
              <a:t>OPPO</a:t>
            </a:r>
          </a:p>
        </p:txBody>
      </p:sp>
      <p:pic>
        <p:nvPicPr>
          <p:cNvPr id="122" name="Picture 19"/>
          <p:cNvPicPr>
            <a:picLocks noChangeAspect="1" noChangeArrowheads="1"/>
          </p:cNvPicPr>
          <p:nvPr/>
        </p:nvPicPr>
        <p:blipFill>
          <a:blip r:embed="rId18" cstate="print">
            <a:extLst>
              <a:ext uri="{28A0092B-C50C-407E-A947-70E740481C1C}">
                <a14:useLocalDpi xmlns="" xmlns:a14="http://schemas.microsoft.com/office/drawing/2010/main" val="0"/>
              </a:ext>
            </a:extLst>
          </a:blip>
          <a:srcRect/>
          <a:stretch>
            <a:fillRect/>
          </a:stretch>
        </p:blipFill>
        <p:spPr bwMode="auto">
          <a:xfrm>
            <a:off x="7882038" y="2740737"/>
            <a:ext cx="764809" cy="2994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23" name="TextBox 69"/>
          <p:cNvSpPr txBox="1"/>
          <p:nvPr/>
        </p:nvSpPr>
        <p:spPr>
          <a:xfrm>
            <a:off x="7920516" y="3007625"/>
            <a:ext cx="687851"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荣耀</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24" name="Picture 20"/>
          <p:cNvPicPr>
            <a:picLocks noChangeAspect="1" noChangeArrowheads="1"/>
          </p:cNvPicPr>
          <p:nvPr/>
        </p:nvPicPr>
        <p:blipFill>
          <a:blip r:embed="rId19" cstate="print">
            <a:extLst>
              <a:ext uri="{28A0092B-C50C-407E-A947-70E740481C1C}">
                <a14:useLocalDpi xmlns="" xmlns:a14="http://schemas.microsoft.com/office/drawing/2010/main" val="0"/>
              </a:ext>
            </a:extLst>
          </a:blip>
          <a:srcRect/>
          <a:stretch>
            <a:fillRect/>
          </a:stretch>
        </p:blipFill>
        <p:spPr bwMode="auto">
          <a:xfrm>
            <a:off x="1019436" y="3501004"/>
            <a:ext cx="744252" cy="3819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25" name="TextBox 71"/>
          <p:cNvSpPr txBox="1"/>
          <p:nvPr/>
        </p:nvSpPr>
        <p:spPr>
          <a:xfrm>
            <a:off x="1009630" y="3877013"/>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海康威视</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26" name="Picture 21"/>
          <p:cNvPicPr>
            <a:picLocks noChangeAspect="1" noChangeArrowheads="1"/>
          </p:cNvPicPr>
          <p:nvPr/>
        </p:nvPicPr>
        <p:blipFill>
          <a:blip r:embed="rId20" cstate="print">
            <a:extLst>
              <a:ext uri="{28A0092B-C50C-407E-A947-70E740481C1C}">
                <a14:useLocalDpi xmlns="" xmlns:a14="http://schemas.microsoft.com/office/drawing/2010/main" val="0"/>
              </a:ext>
            </a:extLst>
          </a:blip>
          <a:srcRect/>
          <a:stretch>
            <a:fillRect/>
          </a:stretch>
        </p:blipFill>
        <p:spPr bwMode="auto">
          <a:xfrm>
            <a:off x="1943465" y="3573734"/>
            <a:ext cx="720296" cy="2873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27" name="TextBox 73"/>
          <p:cNvSpPr txBox="1"/>
          <p:nvPr/>
        </p:nvSpPr>
        <p:spPr>
          <a:xfrm>
            <a:off x="1930975" y="3877013"/>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阿里健康</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28" name="Picture 22"/>
          <p:cNvPicPr>
            <a:picLocks noChangeAspect="1" noChangeArrowheads="1"/>
          </p:cNvPicPr>
          <p:nvPr/>
        </p:nvPicPr>
        <p:blipFill>
          <a:blip r:embed="rId21" cstate="print">
            <a:extLst>
              <a:ext uri="{28A0092B-C50C-407E-A947-70E740481C1C}">
                <a14:useLocalDpi xmlns="" xmlns:a14="http://schemas.microsoft.com/office/drawing/2010/main" val="0"/>
              </a:ext>
            </a:extLst>
          </a:blip>
          <a:srcRect/>
          <a:stretch>
            <a:fillRect/>
          </a:stretch>
        </p:blipFill>
        <p:spPr bwMode="auto">
          <a:xfrm>
            <a:off x="2979085" y="3472791"/>
            <a:ext cx="479847" cy="460261"/>
          </a:xfrm>
          <a:prstGeom prst="hexagon">
            <a:avLst>
              <a:gd name="adj" fmla="val 15249"/>
              <a:gd name="vf" fmla="val 115470"/>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29" name="TextBox 75"/>
          <p:cNvSpPr txBox="1"/>
          <p:nvPr/>
        </p:nvSpPr>
        <p:spPr>
          <a:xfrm>
            <a:off x="2840690" y="3877013"/>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平安健康</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30" name="Picture 23"/>
          <p:cNvPicPr>
            <a:picLocks noChangeAspect="1" noChangeArrowheads="1"/>
          </p:cNvPicPr>
          <p:nvPr/>
        </p:nvPicPr>
        <p:blipFill>
          <a:blip r:embed="rId22" cstate="print">
            <a:extLst>
              <a:ext uri="{28A0092B-C50C-407E-A947-70E740481C1C}">
                <a14:useLocalDpi xmlns="" xmlns:a14="http://schemas.microsoft.com/office/drawing/2010/main" val="0"/>
              </a:ext>
            </a:extLst>
          </a:blip>
          <a:srcRect/>
          <a:stretch>
            <a:fillRect/>
          </a:stretch>
        </p:blipFill>
        <p:spPr bwMode="auto">
          <a:xfrm>
            <a:off x="3798467" y="3542673"/>
            <a:ext cx="672143" cy="35610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1" name="TextBox 77"/>
          <p:cNvSpPr txBox="1"/>
          <p:nvPr/>
        </p:nvSpPr>
        <p:spPr>
          <a:xfrm>
            <a:off x="3756220" y="3877013"/>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中国电信</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32" name="Picture 24"/>
          <p:cNvPicPr>
            <a:picLocks noChangeAspect="1" noChangeArrowheads="1"/>
          </p:cNvPicPr>
          <p:nvPr/>
        </p:nvPicPr>
        <p:blipFill>
          <a:blip r:embed="rId23" cstate="print">
            <a:extLst>
              <a:ext uri="{28A0092B-C50C-407E-A947-70E740481C1C}">
                <a14:useLocalDpi xmlns="" xmlns:a14="http://schemas.microsoft.com/office/drawing/2010/main" val="0"/>
              </a:ext>
            </a:extLst>
          </a:blip>
          <a:srcRect/>
          <a:stretch>
            <a:fillRect/>
          </a:stretch>
        </p:blipFill>
        <p:spPr bwMode="auto">
          <a:xfrm>
            <a:off x="4741987" y="3413174"/>
            <a:ext cx="616163" cy="491746"/>
          </a:xfrm>
          <a:prstGeom prst="hexag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3" name="TextBox 79"/>
          <p:cNvSpPr txBox="1"/>
          <p:nvPr/>
        </p:nvSpPr>
        <p:spPr>
          <a:xfrm>
            <a:off x="4671750" y="3877013"/>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中国移动</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34" name="Picture 25"/>
          <p:cNvPicPr>
            <a:picLocks noChangeAspect="1" noChangeArrowheads="1"/>
          </p:cNvPicPr>
          <p:nvPr/>
        </p:nvPicPr>
        <p:blipFill>
          <a:blip r:embed="rId24" cstate="print">
            <a:extLst>
              <a:ext uri="{28A0092B-C50C-407E-A947-70E740481C1C}">
                <a14:useLocalDpi xmlns="" xmlns:a14="http://schemas.microsoft.com/office/drawing/2010/main" val="0"/>
              </a:ext>
            </a:extLst>
          </a:blip>
          <a:srcRect/>
          <a:stretch>
            <a:fillRect/>
          </a:stretch>
        </p:blipFill>
        <p:spPr bwMode="auto">
          <a:xfrm>
            <a:off x="5607158" y="3428996"/>
            <a:ext cx="716881" cy="491746"/>
          </a:xfrm>
          <a:prstGeom prst="hexagon">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5" name="TextBox 81"/>
          <p:cNvSpPr txBox="1"/>
          <p:nvPr/>
        </p:nvSpPr>
        <p:spPr>
          <a:xfrm>
            <a:off x="5587280" y="3877013"/>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中国联通</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36" name="Picture 26"/>
          <p:cNvPicPr>
            <a:picLocks noChangeAspect="1" noChangeArrowheads="1"/>
          </p:cNvPicPr>
          <p:nvPr/>
        </p:nvPicPr>
        <p:blipFill>
          <a:blip r:embed="rId25" cstate="print">
            <a:extLst>
              <a:ext uri="{28A0092B-C50C-407E-A947-70E740481C1C}">
                <a14:useLocalDpi xmlns="" xmlns:a14="http://schemas.microsoft.com/office/drawing/2010/main" val="0"/>
              </a:ext>
            </a:extLst>
          </a:blip>
          <a:srcRect/>
          <a:stretch>
            <a:fillRect/>
          </a:stretch>
        </p:blipFill>
        <p:spPr bwMode="auto">
          <a:xfrm>
            <a:off x="6537446" y="3634030"/>
            <a:ext cx="698850" cy="22701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7" name="TextBox 83"/>
          <p:cNvSpPr txBox="1"/>
          <p:nvPr/>
        </p:nvSpPr>
        <p:spPr>
          <a:xfrm>
            <a:off x="6502810" y="3877013"/>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富士康</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38" name="Picture 19" descr="C:\Users\Administrator\Desktop\10@2x.png"/>
          <p:cNvPicPr>
            <a:picLocks noChangeAspect="1" noChangeArrowheads="1"/>
          </p:cNvPicPr>
          <p:nvPr/>
        </p:nvPicPr>
        <p:blipFill>
          <a:blip r:embed="rId26" cstate="print">
            <a:extLst>
              <a:ext uri="{28A0092B-C50C-407E-A947-70E740481C1C}">
                <a14:useLocalDpi xmlns="" xmlns:a14="http://schemas.microsoft.com/office/drawing/2010/main" val="0"/>
              </a:ext>
            </a:extLst>
          </a:blip>
          <a:srcRect/>
          <a:stretch>
            <a:fillRect/>
          </a:stretch>
        </p:blipFill>
        <p:spPr bwMode="auto">
          <a:xfrm>
            <a:off x="7485177" y="3633295"/>
            <a:ext cx="622966" cy="155741"/>
          </a:xfrm>
          <a:prstGeom prst="rect">
            <a:avLst/>
          </a:prstGeom>
          <a:noFill/>
          <a:extLst>
            <a:ext uri="{909E8E84-426E-40DD-AFC4-6F175D3DCCD1}">
              <a14:hiddenFill xmlns="" xmlns:a14="http://schemas.microsoft.com/office/drawing/2010/main">
                <a:solidFill>
                  <a:srgbClr val="FFFFFF"/>
                </a:solidFill>
              </a14:hiddenFill>
            </a:ext>
          </a:extLst>
        </p:spPr>
      </p:pic>
      <p:sp>
        <p:nvSpPr>
          <p:cNvPr id="139" name="TextBox 85"/>
          <p:cNvSpPr txBox="1"/>
          <p:nvPr/>
        </p:nvSpPr>
        <p:spPr>
          <a:xfrm>
            <a:off x="7418342" y="3877013"/>
            <a:ext cx="756636" cy="200055"/>
          </a:xfrm>
          <a:prstGeom prst="rect">
            <a:avLst/>
          </a:prstGeom>
          <a:noFill/>
        </p:spPr>
        <p:txBody>
          <a:bodyPr wrap="square" rtlCol="0">
            <a:spAutoFit/>
          </a:bodyPr>
          <a:lstStyle/>
          <a:p>
            <a:pPr algn="ctr"/>
            <a:r>
              <a:rPr lang="zh-CN" altLang="en-US" sz="700" dirty="0">
                <a:solidFill>
                  <a:schemeClr val="tx1">
                    <a:lumMod val="75000"/>
                    <a:lumOff val="25000"/>
                  </a:schemeClr>
                </a:solidFill>
                <a:latin typeface="微软雅黑" panose="020B0503020204020204" pitchFamily="34" charset="-122"/>
                <a:ea typeface="微软雅黑" panose="020B0503020204020204" pitchFamily="34" charset="-122"/>
              </a:rPr>
              <a:t>果实</a:t>
            </a:r>
            <a:endParaRPr lang="en-US" altLang="zh-CN" sz="7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0" name="TextBox 32"/>
          <p:cNvSpPr txBox="1"/>
          <p:nvPr/>
        </p:nvSpPr>
        <p:spPr>
          <a:xfrm>
            <a:off x="4213614" y="2780924"/>
            <a:ext cx="808812" cy="276999"/>
          </a:xfrm>
          <a:prstGeom prst="rect">
            <a:avLst/>
          </a:prstGeom>
          <a:noFill/>
        </p:spPr>
        <p:txBody>
          <a:bodyPr wrap="none" rtlCol="0">
            <a:spAutoFit/>
          </a:bodyPr>
          <a:lstStyle/>
          <a:p>
            <a:pPr algn="ctr"/>
            <a:r>
              <a:rPr lang="en-US" altLang="zh-CN" sz="1200" b="1" spc="-120" dirty="0">
                <a:solidFill>
                  <a:schemeClr val="bg1"/>
                </a:solidFill>
                <a:latin typeface="微软雅黑" panose="020B0503020204020204" pitchFamily="34" charset="-122"/>
                <a:ea typeface="微软雅黑" panose="020B0503020204020204" pitchFamily="34" charset="-122"/>
              </a:rPr>
              <a:t>PARTNER</a:t>
            </a:r>
            <a:endParaRPr lang="zh-CN" altLang="en-US" sz="1200" b="1" spc="-12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2" descr="C:\Users\Administrator\Desktop\矢量智能对象@2x.p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625010" y="1059582"/>
            <a:ext cx="5843180" cy="2906037"/>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6"/>
          <p:cNvSpPr/>
          <p:nvPr/>
        </p:nvSpPr>
        <p:spPr>
          <a:xfrm>
            <a:off x="4382930" y="4299942"/>
            <a:ext cx="229550" cy="276999"/>
          </a:xfrm>
          <a:prstGeom prst="rect">
            <a:avLst/>
          </a:prstGeom>
        </p:spPr>
        <p:txBody>
          <a:bodyPr wrap="none">
            <a:spAutoFit/>
          </a:bodyPr>
          <a:lstStyle/>
          <a:p>
            <a:pPr algn="ct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 </a:t>
            </a:r>
            <a:endParaRPr lang="en-US" altLang="zh-CN" sz="1200" dirty="0">
              <a:solidFill>
                <a:schemeClr val="tx1">
                  <a:lumMod val="65000"/>
                  <a:lumOff val="35000"/>
                </a:schemeClr>
              </a:solidFill>
              <a:latin typeface="Calibri" panose="020F0502020204030204" charset="0"/>
              <a:ea typeface="微软雅黑" panose="020B0503020204020204" pitchFamily="34" charset="-122"/>
              <a:cs typeface="Calibri" panose="020F0502020204030204" charset="0"/>
            </a:endParaRPr>
          </a:p>
        </p:txBody>
      </p:sp>
      <p:sp>
        <p:nvSpPr>
          <p:cNvPr id="5" name="Rectangle 6"/>
          <p:cNvSpPr/>
          <p:nvPr/>
        </p:nvSpPr>
        <p:spPr>
          <a:xfrm>
            <a:off x="2676290" y="4449599"/>
            <a:ext cx="3791424" cy="461665"/>
          </a:xfrm>
          <a:prstGeom prst="rect">
            <a:avLst/>
          </a:prstGeom>
        </p:spPr>
        <p:txBody>
          <a:bodyPr wrap="none">
            <a:spAutoFit/>
          </a:bodyPr>
          <a:lstStyle/>
          <a:p>
            <a:pPr algn="ct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新希望集</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团控股企</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业  </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cs typeface="Open Sans" panose="020B0606030504020204" pitchFamily="34" charset="0"/>
              </a:rPr>
              <a:t>浙江好络维医疗技术有限公司</a:t>
            </a:r>
            <a:endParaRPr lang="en-US" altLang="zh-CN" sz="1200" dirty="0">
              <a:solidFill>
                <a:schemeClr val="tx1">
                  <a:lumMod val="65000"/>
                  <a:lumOff val="35000"/>
                </a:schemeClr>
              </a:solidFill>
              <a:latin typeface="Calibri" panose="020F0502020204030204" charset="0"/>
              <a:ea typeface="微软雅黑" panose="020B0503020204020204" pitchFamily="34" charset="-122"/>
              <a:cs typeface="Calibri" panose="020F0502020204030204" charset="0"/>
            </a:endParaRPr>
          </a:p>
          <a:p>
            <a:pPr algn="ctr"/>
            <a:endParaRPr lang="en-US" altLang="zh-CN" sz="1200" dirty="0">
              <a:solidFill>
                <a:schemeClr val="tx1">
                  <a:lumMod val="65000"/>
                  <a:lumOff val="35000"/>
                </a:schemeClr>
              </a:solidFill>
              <a:latin typeface="Calibri" panose="020F0502020204030204" charset="0"/>
              <a:ea typeface="微软雅黑" panose="020B0503020204020204" pitchFamily="34" charset="-122"/>
              <a:cs typeface="Calibri" panose="020F0502020204030204" charset="0"/>
            </a:endParaRPr>
          </a:p>
        </p:txBody>
      </p:sp>
      <p:pic>
        <p:nvPicPr>
          <p:cNvPr id="6" name="Picture 4" descr="C:\Users\Administrator\Desktop\矢量智能对象@2x.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380312" y="415574"/>
            <a:ext cx="586814" cy="629752"/>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2" descr="C:\Users\Administrator\Desktop\矢量智能对象@2x.png"/>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8074591" y="454636"/>
            <a:ext cx="567619" cy="604946"/>
          </a:xfrm>
          <a:prstGeom prst="rect">
            <a:avLst/>
          </a:prstGeom>
          <a:noFill/>
          <a:extLst>
            <a:ext uri="{909E8E84-426E-40DD-AFC4-6F175D3DCCD1}">
              <a14:hiddenFill xmlns="" xmlns:a14="http://schemas.microsoft.com/office/drawing/2010/main">
                <a:solidFill>
                  <a:srgbClr val="FFFFFF"/>
                </a:solidFill>
              </a14:hiddenFill>
            </a:ext>
          </a:extLst>
        </p:spPr>
      </p:pic>
      <p:sp>
        <p:nvSpPr>
          <p:cNvPr id="8" name="矩形 7"/>
          <p:cNvSpPr/>
          <p:nvPr/>
        </p:nvSpPr>
        <p:spPr>
          <a:xfrm flipH="1">
            <a:off x="-2" y="5028560"/>
            <a:ext cx="9144001" cy="13515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p>
        </p:txBody>
      </p:sp>
      <p:sp>
        <p:nvSpPr>
          <p:cNvPr id="9" name="TextBox 8"/>
          <p:cNvSpPr txBox="1"/>
          <p:nvPr/>
        </p:nvSpPr>
        <p:spPr>
          <a:xfrm>
            <a:off x="3347864" y="1947485"/>
            <a:ext cx="2954655" cy="1200329"/>
          </a:xfrm>
          <a:prstGeom prst="rect">
            <a:avLst/>
          </a:prstGeom>
          <a:noFill/>
        </p:spPr>
        <p:txBody>
          <a:bodyPr wrap="none" rtlCol="0">
            <a:spAutoFit/>
          </a:bodyPr>
          <a:lstStyle/>
          <a:p>
            <a:r>
              <a:rPr lang="zh-CN" altLang="en-US" sz="7200" dirty="0">
                <a:solidFill>
                  <a:srgbClr val="196494"/>
                </a:solidFill>
                <a:latin typeface="微软雅黑" panose="020B0503020204020204" pitchFamily="34" charset="-122"/>
                <a:ea typeface="微软雅黑" panose="020B0503020204020204" pitchFamily="34" charset="-122"/>
              </a:rPr>
              <a:t>谢谢！</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ea5f0bcb-ba51-40be-b645-5b46a7bd0f64"/>
  <p:tag name="COMMONDATA" val="eyJoZGlkIjoiY2Q1MWJjYTc2OTI0ZTg3NmZjMzlmMmU5ZjU4ZWEyMm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1656</TotalTime>
  <Words>5933</Words>
  <Application>Microsoft Office PowerPoint</Application>
  <PresentationFormat>全屏显示(16:9)</PresentationFormat>
  <Paragraphs>715</Paragraphs>
  <Slides>39</Slides>
  <Notes>28</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41" baseType="lpstr">
      <vt:lpstr>Office 主题​​</vt:lpstr>
      <vt:lpstr>think-cell 幻灯片</vt:lpstr>
      <vt:lpstr>幻灯片 1</vt:lpstr>
      <vt:lpstr>幻灯片 2</vt:lpstr>
      <vt:lpstr>幻灯片 3</vt:lpstr>
      <vt:lpstr>幻灯片 4</vt:lpstr>
      <vt:lpstr>幻灯片 5</vt:lpstr>
      <vt:lpstr>幻灯片 6</vt:lpstr>
      <vt:lpstr>幻灯片 7</vt:lpstr>
      <vt:lpstr>幻灯片 8</vt:lpstr>
      <vt:lpstr>幻灯片 9</vt:lpstr>
      <vt:lpstr>幻灯片 10</vt:lpstr>
      <vt:lpstr>心电云平台</vt:lpstr>
      <vt:lpstr>监测中央站、客户端软件</vt:lpstr>
      <vt:lpstr>医疗级便携式设备|TE-8000Y-F型无线多参数监测仪</vt:lpstr>
      <vt:lpstr>医疗级便携式设备|TE-5000Y-A型网络心电图机</vt:lpstr>
      <vt:lpstr>医疗级便携式设备|TE-8010Y-A型多参数检测仪</vt:lpstr>
      <vt:lpstr>医疗级便携式设备|TE-7000Y无线传输电子测量血压计</vt:lpstr>
      <vt:lpstr>医疗级可穿戴设备|TE-5200Y-C型心电记录仪</vt:lpstr>
      <vt:lpstr>医疗级可穿戴设备|TE-5100Y-C型动态心电记录仪</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新希望集团介绍</vt:lpstr>
      <vt:lpstr>好络维介绍</vt:lpstr>
      <vt:lpstr>发展历程</vt:lpstr>
      <vt:lpstr>荣誉与资质</vt:lpstr>
      <vt:lpstr>幻灯片 38</vt:lpstr>
      <vt:lpstr>幻灯片 39</vt:lpstr>
    </vt:vector>
  </TitlesOfParts>
  <Company>china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袁祖峰</dc:creator>
  <cp:lastModifiedBy>AutoBVT</cp:lastModifiedBy>
  <cp:revision>1863</cp:revision>
  <dcterms:created xsi:type="dcterms:W3CDTF">2022-10-24T03:24:00Z</dcterms:created>
  <dcterms:modified xsi:type="dcterms:W3CDTF">2024-10-18T04:07:19Z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36D93593CF5643C7BFE988E4E438671F_13</vt:lpwstr>
  </property>
  <property fmtid="{D5CDD505-2E9C-101B-9397-08002B2CF9AE}" pid="3" name="KSOProductBuildVer">
    <vt:lpwstr>2052-12.1.0.16929</vt:lpwstr>
  </property>
</Properties>
</file>