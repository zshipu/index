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3.xml" ContentType="application/vnd.openxmlformats-officedocument.presentationml.notesSlide+xml"/>
  <Override PartName="/ppt/tags/tag39.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0.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1.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2.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15.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16668531" r:id="rId2"/>
    <p:sldId id="2742" r:id="rId3"/>
    <p:sldId id="16668299" r:id="rId4"/>
    <p:sldId id="16668532" r:id="rId5"/>
    <p:sldId id="16668533" r:id="rId6"/>
    <p:sldId id="16668535" r:id="rId7"/>
    <p:sldId id="16668534" r:id="rId8"/>
    <p:sldId id="16668539" r:id="rId9"/>
    <p:sldId id="16668536" r:id="rId10"/>
    <p:sldId id="16668540" r:id="rId11"/>
    <p:sldId id="16668543" r:id="rId12"/>
    <p:sldId id="16668542" r:id="rId13"/>
    <p:sldId id="16668545" r:id="rId14"/>
    <p:sldId id="16668544" r:id="rId15"/>
    <p:sldId id="16668541" r:id="rId16"/>
    <p:sldId id="16668546" r:id="rId17"/>
    <p:sldId id="16668548" r:id="rId18"/>
    <p:sldId id="16668537" r:id="rId19"/>
    <p:sldId id="16668547" r:id="rId20"/>
    <p:sldId id="16668554" r:id="rId21"/>
    <p:sldId id="16668553" r:id="rId22"/>
    <p:sldId id="16668552" r:id="rId23"/>
    <p:sldId id="16668538" r:id="rId24"/>
    <p:sldId id="16668549" r:id="rId25"/>
    <p:sldId id="16668550" r:id="rId26"/>
    <p:sldId id="16668555" r:id="rId27"/>
    <p:sldId id="16668551" r:id="rId28"/>
    <p:sldId id="2740" r:id="rId29"/>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yuyin" initials="" lastIdx="1" clrIdx="4"/>
  <p:cmAuthor id="0" name="liyuanfu" initials="l" lastIdx="2" clrIdx="0"/>
  <p:cmAuthor id="1" name="Liwen Zhang (IB)" initials="" lastIdx="1" clrIdx="5"/>
  <p:cmAuthor id="8" name="yi 6liao" initials="y6" lastIdx="1" clrIdx="6"/>
  <p:cmAuthor id="2" name="Liang Dong" initials="" lastIdx="24" clrIdx="0"/>
  <p:cmAuthor id="3" name="OuYang, Sandra (BJ/DA)" initials="" lastIdx="2" clrIdx="0"/>
  <p:cmAuthor id="4" name="Du, Lexii (CD/DA)" initials="" lastIdx="23" clrIdx="1"/>
  <p:cmAuthor id="5" name="kang04j" initials="" lastIdx="1" clrIdx="2"/>
  <p:cmAuthor id="6" name="戴大尤" initials=""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A86DC"/>
    <a:srgbClr val="D6D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754" autoAdjust="0"/>
  </p:normalViewPr>
  <p:slideViewPr>
    <p:cSldViewPr snapToGrid="0">
      <p:cViewPr varScale="1">
        <p:scale>
          <a:sx n="65" d="100"/>
          <a:sy n="65" d="100"/>
        </p:scale>
        <p:origin x="63"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aobo\Desktop\&#25968;&#25454;.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Sheet1!$A$22</c:f>
              <c:strCache>
                <c:ptCount val="1"/>
                <c:pt idx="0">
                  <c:v>签约额 (万元)</c:v>
                </c:pt>
              </c:strCache>
            </c:strRef>
          </c:tx>
          <c:spPr>
            <a:solidFill>
              <a:schemeClr val="accent6">
                <a:lumMod val="60000"/>
                <a:lumOff val="40000"/>
              </a:schemeClr>
            </a:solidFill>
            <a:ln>
              <a:noFill/>
            </a:ln>
            <a:effectLst/>
          </c:spPr>
          <c:invertIfNegative val="0"/>
          <c:cat>
            <c:strRef>
              <c:f>Sheet1!$B$21:$E$21</c:f>
              <c:strCache>
                <c:ptCount val="4"/>
                <c:pt idx="0">
                  <c:v>2021年</c:v>
                </c:pt>
                <c:pt idx="1">
                  <c:v>2022年</c:v>
                </c:pt>
                <c:pt idx="2">
                  <c:v>2023年</c:v>
                </c:pt>
                <c:pt idx="3">
                  <c:v>2024年</c:v>
                </c:pt>
              </c:strCache>
            </c:strRef>
          </c:cat>
          <c:val>
            <c:numRef>
              <c:f>Sheet1!$B$22:$E$22</c:f>
              <c:numCache>
                <c:formatCode>General</c:formatCode>
                <c:ptCount val="4"/>
                <c:pt idx="0">
                  <c:v>100</c:v>
                </c:pt>
                <c:pt idx="1">
                  <c:v>200</c:v>
                </c:pt>
                <c:pt idx="2">
                  <c:v>300</c:v>
                </c:pt>
                <c:pt idx="3">
                  <c:v>50</c:v>
                </c:pt>
              </c:numCache>
            </c:numRef>
          </c:val>
          <c:extLst>
            <c:ext xmlns:c16="http://schemas.microsoft.com/office/drawing/2014/chart" uri="{C3380CC4-5D6E-409C-BE32-E72D297353CC}">
              <c16:uniqueId val="{00000000-083B-46D7-B041-BAAFD4A185B2}"/>
            </c:ext>
          </c:extLst>
        </c:ser>
        <c:ser>
          <c:idx val="1"/>
          <c:order val="1"/>
          <c:tx>
            <c:strRef>
              <c:f>Sheet1!#REF!</c:f>
              <c:strCache>
                <c:ptCount val="1"/>
                <c:pt idx="0">
                  <c:v>#REF!</c:v>
                </c:pt>
              </c:strCache>
            </c:strRef>
          </c:tx>
          <c:spPr>
            <a:solidFill>
              <a:schemeClr val="accent2"/>
            </a:solidFill>
            <a:ln>
              <a:noFill/>
            </a:ln>
            <a:effectLst/>
          </c:spPr>
          <c:invertIfNegative val="0"/>
          <c:cat>
            <c:strRef>
              <c:f>Sheet1!$B$21:$E$21</c:f>
              <c:strCache>
                <c:ptCount val="4"/>
                <c:pt idx="0">
                  <c:v>2021年</c:v>
                </c:pt>
                <c:pt idx="1">
                  <c:v>2022年</c:v>
                </c:pt>
                <c:pt idx="2">
                  <c:v>2023年</c:v>
                </c:pt>
                <c:pt idx="3">
                  <c:v>2024年</c:v>
                </c:pt>
              </c:strCache>
            </c:strRef>
          </c:cat>
          <c:val>
            <c:numRef>
              <c:f>Sheet1!#REF!</c:f>
              <c:numCache>
                <c:formatCode>General</c:formatCode>
                <c:ptCount val="1"/>
                <c:pt idx="0">
                  <c:v>1</c:v>
                </c:pt>
              </c:numCache>
            </c:numRef>
          </c:val>
          <c:extLst>
            <c:ext xmlns:c16="http://schemas.microsoft.com/office/drawing/2014/chart" uri="{C3380CC4-5D6E-409C-BE32-E72D297353CC}">
              <c16:uniqueId val="{00000001-083B-46D7-B041-BAAFD4A185B2}"/>
            </c:ext>
          </c:extLst>
        </c:ser>
        <c:dLbls>
          <c:showLegendKey val="0"/>
          <c:showVal val="0"/>
          <c:showCatName val="0"/>
          <c:showSerName val="0"/>
          <c:showPercent val="0"/>
          <c:showBubbleSize val="0"/>
        </c:dLbls>
        <c:gapWidth val="219"/>
        <c:overlap val="-100"/>
        <c:axId val="303311568"/>
        <c:axId val="303312048"/>
      </c:barChart>
      <c:barChart>
        <c:barDir val="col"/>
        <c:grouping val="clustered"/>
        <c:varyColors val="0"/>
        <c:ser>
          <c:idx val="2"/>
          <c:order val="2"/>
          <c:tx>
            <c:strRef>
              <c:f>Sheet1!$A$23</c:f>
              <c:strCache>
                <c:ptCount val="1"/>
                <c:pt idx="0">
                  <c:v>签约数</c:v>
                </c:pt>
              </c:strCache>
            </c:strRef>
          </c:tx>
          <c:spPr>
            <a:solidFill>
              <a:schemeClr val="accent5">
                <a:lumMod val="60000"/>
                <a:lumOff val="40000"/>
              </a:schemeClr>
            </a:solidFill>
            <a:ln>
              <a:noFill/>
            </a:ln>
            <a:effectLst/>
          </c:spPr>
          <c:invertIfNegative val="0"/>
          <c:cat>
            <c:strRef>
              <c:f>Sheet1!$B$21:$E$21</c:f>
              <c:strCache>
                <c:ptCount val="4"/>
                <c:pt idx="0">
                  <c:v>2021年</c:v>
                </c:pt>
                <c:pt idx="1">
                  <c:v>2022年</c:v>
                </c:pt>
                <c:pt idx="2">
                  <c:v>2023年</c:v>
                </c:pt>
                <c:pt idx="3">
                  <c:v>2024年</c:v>
                </c:pt>
              </c:strCache>
            </c:strRef>
          </c:cat>
          <c:val>
            <c:numRef>
              <c:f>Sheet1!$B$23:$E$23</c:f>
              <c:numCache>
                <c:formatCode>General</c:formatCode>
                <c:ptCount val="4"/>
                <c:pt idx="0">
                  <c:v>10</c:v>
                </c:pt>
                <c:pt idx="1">
                  <c:v>20</c:v>
                </c:pt>
                <c:pt idx="2">
                  <c:v>10</c:v>
                </c:pt>
                <c:pt idx="3">
                  <c:v>6</c:v>
                </c:pt>
              </c:numCache>
            </c:numRef>
          </c:val>
          <c:extLst>
            <c:ext xmlns:c16="http://schemas.microsoft.com/office/drawing/2014/chart" uri="{C3380CC4-5D6E-409C-BE32-E72D297353CC}">
              <c16:uniqueId val="{00000002-083B-46D7-B041-BAAFD4A185B2}"/>
            </c:ext>
          </c:extLst>
        </c:ser>
        <c:dLbls>
          <c:showLegendKey val="0"/>
          <c:showVal val="0"/>
          <c:showCatName val="0"/>
          <c:showSerName val="0"/>
          <c:showPercent val="0"/>
          <c:showBubbleSize val="0"/>
        </c:dLbls>
        <c:gapWidth val="400"/>
        <c:axId val="736928928"/>
        <c:axId val="714401616"/>
      </c:barChart>
      <c:lineChart>
        <c:grouping val="standard"/>
        <c:varyColors val="0"/>
        <c:ser>
          <c:idx val="3"/>
          <c:order val="3"/>
          <c:tx>
            <c:strRef>
              <c:f>Sheet1!$A$24</c:f>
              <c:strCache>
                <c:ptCount val="1"/>
                <c:pt idx="0">
                  <c:v>签约数</c:v>
                </c:pt>
              </c:strCache>
            </c:strRef>
          </c:tx>
          <c:spPr>
            <a:ln w="28575" cap="rnd">
              <a:solidFill>
                <a:schemeClr val="accent4"/>
              </a:solidFill>
              <a:round/>
            </a:ln>
            <a:effectLst/>
          </c:spPr>
          <c:marker>
            <c:symbol val="none"/>
          </c:marker>
          <c:cat>
            <c:strRef>
              <c:f>Sheet1!$B$21:$E$21</c:f>
              <c:strCache>
                <c:ptCount val="4"/>
                <c:pt idx="0">
                  <c:v>2021年</c:v>
                </c:pt>
                <c:pt idx="1">
                  <c:v>2022年</c:v>
                </c:pt>
                <c:pt idx="2">
                  <c:v>2023年</c:v>
                </c:pt>
                <c:pt idx="3">
                  <c:v>2024年</c:v>
                </c:pt>
              </c:strCache>
            </c:strRef>
          </c:cat>
          <c:val>
            <c:numRef>
              <c:f>Sheet1!$B$24:$E$24</c:f>
              <c:numCache>
                <c:formatCode>General</c:formatCode>
                <c:ptCount val="4"/>
                <c:pt idx="0">
                  <c:v>10</c:v>
                </c:pt>
                <c:pt idx="1">
                  <c:v>20</c:v>
                </c:pt>
                <c:pt idx="2">
                  <c:v>10</c:v>
                </c:pt>
                <c:pt idx="3">
                  <c:v>6</c:v>
                </c:pt>
              </c:numCache>
            </c:numRef>
          </c:val>
          <c:smooth val="0"/>
          <c:extLst>
            <c:ext xmlns:c16="http://schemas.microsoft.com/office/drawing/2014/chart" uri="{C3380CC4-5D6E-409C-BE32-E72D297353CC}">
              <c16:uniqueId val="{00000003-083B-46D7-B041-BAAFD4A185B2}"/>
            </c:ext>
          </c:extLst>
        </c:ser>
        <c:dLbls>
          <c:showLegendKey val="0"/>
          <c:showVal val="0"/>
          <c:showCatName val="0"/>
          <c:showSerName val="0"/>
          <c:showPercent val="0"/>
          <c:showBubbleSize val="0"/>
        </c:dLbls>
        <c:marker val="1"/>
        <c:smooth val="0"/>
        <c:axId val="736928928"/>
        <c:axId val="714401616"/>
      </c:lineChart>
      <c:catAx>
        <c:axId val="30331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303312048"/>
        <c:crosses val="autoZero"/>
        <c:auto val="1"/>
        <c:lblAlgn val="ctr"/>
        <c:lblOffset val="100"/>
        <c:noMultiLvlLbl val="0"/>
      </c:catAx>
      <c:valAx>
        <c:axId val="303312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303311568"/>
        <c:crosses val="autoZero"/>
        <c:crossBetween val="between"/>
      </c:valAx>
      <c:valAx>
        <c:axId val="71440161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36928928"/>
        <c:crosses val="max"/>
        <c:crossBetween val="between"/>
      </c:valAx>
      <c:catAx>
        <c:axId val="736928928"/>
        <c:scaling>
          <c:orientation val="minMax"/>
        </c:scaling>
        <c:delete val="1"/>
        <c:axPos val="b"/>
        <c:numFmt formatCode="General" sourceLinked="1"/>
        <c:majorTickMark val="out"/>
        <c:minorTickMark val="none"/>
        <c:tickLblPos val="nextTo"/>
        <c:crossAx val="714401616"/>
        <c:crosses val="autoZero"/>
        <c:auto val="1"/>
        <c:lblAlgn val="ctr"/>
        <c:lblOffset val="100"/>
        <c:noMultiLvlLbl val="0"/>
      </c:cat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01918C-7925-4549-AC0B-B5875301E63A}" type="slidenum">
              <a:rPr kumimoji="1" lang="zh-CN" altLang="en-US" smtClean="0"/>
              <a:pPr/>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A17B761-9BD3-4D52-BAF0-A57C5DB37D6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3</a:t>
            </a:fld>
            <a:endParaRPr lang="zh-CN" altLang="en-US"/>
          </a:p>
        </p:txBody>
      </p:sp>
    </p:spTree>
    <p:extLst>
      <p:ext uri="{BB962C8B-B14F-4D97-AF65-F5344CB8AC3E}">
        <p14:creationId xmlns:p14="http://schemas.microsoft.com/office/powerpoint/2010/main" val="3256470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96042-C0B7-1284-53F5-AC1C2F3484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B85CD4-E7C4-76BB-76C5-1EAC594D9D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08C151-CD25-0BFA-21EC-8BF65A5AE2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7BB676-DB5D-7CFF-BEDE-0AA1197C8FBA}"/>
              </a:ext>
            </a:extLst>
          </p:cNvPr>
          <p:cNvSpPr>
            <a:spLocks noGrp="1"/>
          </p:cNvSpPr>
          <p:nvPr>
            <p:ph type="sldNum" sz="quarter" idx="10"/>
          </p:nvPr>
        </p:nvSpPr>
        <p:spPr/>
        <p:txBody>
          <a:bodyPr/>
          <a:lstStyle/>
          <a:p>
            <a:fld id="{DA17B761-9BD3-4D52-BAF0-A57C5DB37D67}" type="slidenum">
              <a:rPr lang="zh-CN" altLang="en-US" smtClean="0"/>
              <a:pPr/>
              <a:t>4</a:t>
            </a:fld>
            <a:endParaRPr lang="zh-CN" altLang="en-US"/>
          </a:p>
        </p:txBody>
      </p:sp>
    </p:spTree>
    <p:extLst>
      <p:ext uri="{BB962C8B-B14F-4D97-AF65-F5344CB8AC3E}">
        <p14:creationId xmlns:p14="http://schemas.microsoft.com/office/powerpoint/2010/main" val="2112232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47652-7DEE-4474-8A68-6E25BA7C61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AF8650-AFBC-37B0-4D4B-E09D751EB1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B118DC-9CA8-60E7-2D17-E239101B140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968BC82-83C6-F9D9-C130-6E393F2E852D}"/>
              </a:ext>
            </a:extLst>
          </p:cNvPr>
          <p:cNvSpPr>
            <a:spLocks noGrp="1"/>
          </p:cNvSpPr>
          <p:nvPr>
            <p:ph type="sldNum" sz="quarter" idx="10"/>
          </p:nvPr>
        </p:nvSpPr>
        <p:spPr/>
        <p:txBody>
          <a:bodyPr/>
          <a:lstStyle/>
          <a:p>
            <a:fld id="{DA17B761-9BD3-4D52-BAF0-A57C5DB37D67}" type="slidenum">
              <a:rPr lang="zh-CN" altLang="en-US" smtClean="0"/>
              <a:pPr/>
              <a:t>5</a:t>
            </a:fld>
            <a:endParaRPr lang="zh-CN" altLang="en-US"/>
          </a:p>
        </p:txBody>
      </p:sp>
    </p:spTree>
    <p:extLst>
      <p:ext uri="{BB962C8B-B14F-4D97-AF65-F5344CB8AC3E}">
        <p14:creationId xmlns:p14="http://schemas.microsoft.com/office/powerpoint/2010/main" val="717703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3D13F-A542-DA00-DEA6-7D9A03077D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87E484-CE78-6D14-814D-A497D94BB7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CCAA6B-696D-605D-DA6C-798CAB26BFF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3428E1A-4B20-7DDC-FAD4-071F6D856253}"/>
              </a:ext>
            </a:extLst>
          </p:cNvPr>
          <p:cNvSpPr>
            <a:spLocks noGrp="1"/>
          </p:cNvSpPr>
          <p:nvPr>
            <p:ph type="sldNum" sz="quarter" idx="5"/>
          </p:nvPr>
        </p:nvSpPr>
        <p:spPr/>
        <p:txBody>
          <a:bodyPr/>
          <a:lstStyle/>
          <a:p>
            <a:fld id="{DA17B761-9BD3-4D52-BAF0-A57C5DB37D67}" type="slidenum">
              <a:rPr lang="zh-CN" altLang="en-US" smtClean="0"/>
              <a:t>6</a:t>
            </a:fld>
            <a:endParaRPr lang="zh-CN" altLang="en-US"/>
          </a:p>
        </p:txBody>
      </p:sp>
    </p:spTree>
    <p:extLst>
      <p:ext uri="{BB962C8B-B14F-4D97-AF65-F5344CB8AC3E}">
        <p14:creationId xmlns:p14="http://schemas.microsoft.com/office/powerpoint/2010/main" val="4077147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5D3C5-9217-501B-FABB-CB8C067A04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B3C637-1944-253E-6CD6-10A436F7BD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BB40B2-B419-096E-6F8F-29087453EA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6D0BC0-11E0-A2CB-60CE-FAF35E77B7BB}"/>
              </a:ext>
            </a:extLst>
          </p:cNvPr>
          <p:cNvSpPr>
            <a:spLocks noGrp="1"/>
          </p:cNvSpPr>
          <p:nvPr>
            <p:ph type="sldNum" sz="quarter" idx="10"/>
          </p:nvPr>
        </p:nvSpPr>
        <p:spPr/>
        <p:txBody>
          <a:bodyPr/>
          <a:lstStyle/>
          <a:p>
            <a:fld id="{DA17B761-9BD3-4D52-BAF0-A57C5DB37D67}" type="slidenum">
              <a:rPr lang="zh-CN" altLang="en-US" smtClean="0"/>
              <a:pPr/>
              <a:t>7</a:t>
            </a:fld>
            <a:endParaRPr lang="zh-CN" altLang="en-US"/>
          </a:p>
        </p:txBody>
      </p:sp>
    </p:spTree>
    <p:extLst>
      <p:ext uri="{BB962C8B-B14F-4D97-AF65-F5344CB8AC3E}">
        <p14:creationId xmlns:p14="http://schemas.microsoft.com/office/powerpoint/2010/main" val="382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B3E6C-883D-C9DD-670E-9F8E8D0509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B1CD3C-9455-4A73-DCD6-4A5A2A6F89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6BCC8D-6EB0-8FA4-1ACA-C4A3315186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255F5B-15E2-83AB-051D-8425599C3EAD}"/>
              </a:ext>
            </a:extLst>
          </p:cNvPr>
          <p:cNvSpPr>
            <a:spLocks noGrp="1"/>
          </p:cNvSpPr>
          <p:nvPr>
            <p:ph type="sldNum" sz="quarter" idx="10"/>
          </p:nvPr>
        </p:nvSpPr>
        <p:spPr/>
        <p:txBody>
          <a:bodyPr/>
          <a:lstStyle/>
          <a:p>
            <a:fld id="{DA17B761-9BD3-4D52-BAF0-A57C5DB37D67}" type="slidenum">
              <a:rPr lang="zh-CN" altLang="en-US" smtClean="0"/>
              <a:pPr/>
              <a:t>8</a:t>
            </a:fld>
            <a:endParaRPr lang="zh-CN" altLang="en-US"/>
          </a:p>
        </p:txBody>
      </p:sp>
    </p:spTree>
    <p:extLst>
      <p:ext uri="{BB962C8B-B14F-4D97-AF65-F5344CB8AC3E}">
        <p14:creationId xmlns:p14="http://schemas.microsoft.com/office/powerpoint/2010/main" val="2652976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BA1F7-4950-F19C-2A42-8EA8FAD083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EED4F3-5313-1C47-5301-E1CA85C753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2616B8-4552-992A-CEEE-FE0368D563D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9323A6-5D1A-CCD1-811F-46AD7A3ABA75}"/>
              </a:ext>
            </a:extLst>
          </p:cNvPr>
          <p:cNvSpPr>
            <a:spLocks noGrp="1"/>
          </p:cNvSpPr>
          <p:nvPr>
            <p:ph type="sldNum" sz="quarter" idx="5"/>
          </p:nvPr>
        </p:nvSpPr>
        <p:spPr/>
        <p:txBody>
          <a:bodyPr/>
          <a:lstStyle/>
          <a:p>
            <a:fld id="{DA17B761-9BD3-4D52-BAF0-A57C5DB37D67}" type="slidenum">
              <a:rPr lang="zh-CN" altLang="en-US" smtClean="0"/>
              <a:t>9</a:t>
            </a:fld>
            <a:endParaRPr lang="zh-CN" altLang="en-US"/>
          </a:p>
        </p:txBody>
      </p:sp>
    </p:spTree>
    <p:extLst>
      <p:ext uri="{BB962C8B-B14F-4D97-AF65-F5344CB8AC3E}">
        <p14:creationId xmlns:p14="http://schemas.microsoft.com/office/powerpoint/2010/main" val="998049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EFEB-8384-58A7-81C8-27753F0D42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8F5BDF-59DD-C25F-3470-E9394EA23D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F7C0BC-4C92-281F-8298-BF309D7D50B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928428F-7757-BB16-B866-03D3CE05EE88}"/>
              </a:ext>
            </a:extLst>
          </p:cNvPr>
          <p:cNvSpPr>
            <a:spLocks noGrp="1"/>
          </p:cNvSpPr>
          <p:nvPr>
            <p:ph type="sldNum" sz="quarter" idx="10"/>
          </p:nvPr>
        </p:nvSpPr>
        <p:spPr/>
        <p:txBody>
          <a:bodyPr/>
          <a:lstStyle/>
          <a:p>
            <a:fld id="{DA17B761-9BD3-4D52-BAF0-A57C5DB37D67}" type="slidenum">
              <a:rPr lang="zh-CN" altLang="en-US" smtClean="0"/>
              <a:pPr/>
              <a:t>10</a:t>
            </a:fld>
            <a:endParaRPr lang="zh-CN" altLang="en-US"/>
          </a:p>
        </p:txBody>
      </p:sp>
    </p:spTree>
    <p:extLst>
      <p:ext uri="{BB962C8B-B14F-4D97-AF65-F5344CB8AC3E}">
        <p14:creationId xmlns:p14="http://schemas.microsoft.com/office/powerpoint/2010/main" val="1311265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0DF27-7B2E-B517-A4EF-7F0C82F77B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08BD54-52A8-3ED0-63CD-520611CF57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1985C9-859A-AAB3-963A-34686008113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DD9A6FA-0314-4B76-98D8-E080819587F6}"/>
              </a:ext>
            </a:extLst>
          </p:cNvPr>
          <p:cNvSpPr>
            <a:spLocks noGrp="1"/>
          </p:cNvSpPr>
          <p:nvPr>
            <p:ph type="sldNum" sz="quarter" idx="10"/>
          </p:nvPr>
        </p:nvSpPr>
        <p:spPr/>
        <p:txBody>
          <a:bodyPr/>
          <a:lstStyle/>
          <a:p>
            <a:fld id="{DA17B761-9BD3-4D52-BAF0-A57C5DB37D67}" type="slidenum">
              <a:rPr lang="zh-CN" altLang="en-US" smtClean="0"/>
              <a:pPr/>
              <a:t>11</a:t>
            </a:fld>
            <a:endParaRPr lang="zh-CN" altLang="en-US"/>
          </a:p>
        </p:txBody>
      </p:sp>
    </p:spTree>
    <p:extLst>
      <p:ext uri="{BB962C8B-B14F-4D97-AF65-F5344CB8AC3E}">
        <p14:creationId xmlns:p14="http://schemas.microsoft.com/office/powerpoint/2010/main" val="2627371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A617F-DF17-196D-F8A2-1BF6189555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38A48B-D984-EC13-B058-C7FAAE917C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743895-E780-E073-8A58-0E9D47EA28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FF34BB-F076-60D3-970E-0745A108B4EF}"/>
              </a:ext>
            </a:extLst>
          </p:cNvPr>
          <p:cNvSpPr>
            <a:spLocks noGrp="1"/>
          </p:cNvSpPr>
          <p:nvPr>
            <p:ph type="sldNum" sz="quarter" idx="10"/>
          </p:nvPr>
        </p:nvSpPr>
        <p:spPr/>
        <p:txBody>
          <a:bodyPr/>
          <a:lstStyle/>
          <a:p>
            <a:fld id="{DA17B761-9BD3-4D52-BAF0-A57C5DB37D67}" type="slidenum">
              <a:rPr lang="zh-CN" altLang="en-US" smtClean="0"/>
              <a:pPr/>
              <a:t>12</a:t>
            </a:fld>
            <a:endParaRPr lang="zh-CN" altLang="en-US"/>
          </a:p>
        </p:txBody>
      </p:sp>
    </p:spTree>
    <p:extLst>
      <p:ext uri="{BB962C8B-B14F-4D97-AF65-F5344CB8AC3E}">
        <p14:creationId xmlns:p14="http://schemas.microsoft.com/office/powerpoint/2010/main" val="576818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4F793-E3C7-1957-D78B-F2C31E6398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5C1AF4-8311-8839-6B60-347D811DC7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1798F8-9199-5E35-3CF4-FE70FA6E53F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1B3A3F4-A3B4-FE20-56C9-A6B18D826152}"/>
              </a:ext>
            </a:extLst>
          </p:cNvPr>
          <p:cNvSpPr>
            <a:spLocks noGrp="1"/>
          </p:cNvSpPr>
          <p:nvPr>
            <p:ph type="sldNum" sz="quarter" idx="10"/>
          </p:nvPr>
        </p:nvSpPr>
        <p:spPr/>
        <p:txBody>
          <a:bodyPr/>
          <a:lstStyle/>
          <a:p>
            <a:fld id="{DA17B761-9BD3-4D52-BAF0-A57C5DB37D67}" type="slidenum">
              <a:rPr lang="zh-CN" altLang="en-US" smtClean="0"/>
              <a:pPr/>
              <a:t>13</a:t>
            </a:fld>
            <a:endParaRPr lang="zh-CN" altLang="en-US"/>
          </a:p>
        </p:txBody>
      </p:sp>
    </p:spTree>
    <p:extLst>
      <p:ext uri="{BB962C8B-B14F-4D97-AF65-F5344CB8AC3E}">
        <p14:creationId xmlns:p14="http://schemas.microsoft.com/office/powerpoint/2010/main" val="2342355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F01C-8CDA-A152-089D-D3B168E7C8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495CDB-24C4-751F-8816-F986B969E0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7A98FE-4E4A-8F18-5397-EA629D4D889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5AF8B70-E380-35D2-5323-E5C05AB3AC10}"/>
              </a:ext>
            </a:extLst>
          </p:cNvPr>
          <p:cNvSpPr>
            <a:spLocks noGrp="1"/>
          </p:cNvSpPr>
          <p:nvPr>
            <p:ph type="sldNum" sz="quarter" idx="10"/>
          </p:nvPr>
        </p:nvSpPr>
        <p:spPr/>
        <p:txBody>
          <a:bodyPr/>
          <a:lstStyle/>
          <a:p>
            <a:fld id="{DA17B761-9BD3-4D52-BAF0-A57C5DB37D67}" type="slidenum">
              <a:rPr lang="zh-CN" altLang="en-US" smtClean="0"/>
              <a:pPr/>
              <a:t>14</a:t>
            </a:fld>
            <a:endParaRPr lang="zh-CN" altLang="en-US"/>
          </a:p>
        </p:txBody>
      </p:sp>
    </p:spTree>
    <p:extLst>
      <p:ext uri="{BB962C8B-B14F-4D97-AF65-F5344CB8AC3E}">
        <p14:creationId xmlns:p14="http://schemas.microsoft.com/office/powerpoint/2010/main" val="4101013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5E7A3-6137-F1FF-8683-126DF16D83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993DC1-3112-B668-9E7C-CD934DB2FB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81616A-A8AE-B261-6F5E-92804BEDC5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E43A592-1F28-C9D2-87D3-65A5F6431074}"/>
              </a:ext>
            </a:extLst>
          </p:cNvPr>
          <p:cNvSpPr>
            <a:spLocks noGrp="1"/>
          </p:cNvSpPr>
          <p:nvPr>
            <p:ph type="sldNum" sz="quarter" idx="10"/>
          </p:nvPr>
        </p:nvSpPr>
        <p:spPr/>
        <p:txBody>
          <a:bodyPr/>
          <a:lstStyle/>
          <a:p>
            <a:fld id="{DA17B761-9BD3-4D52-BAF0-A57C5DB37D67}" type="slidenum">
              <a:rPr lang="zh-CN" altLang="en-US" smtClean="0"/>
              <a:pPr/>
              <a:t>15</a:t>
            </a:fld>
            <a:endParaRPr lang="zh-CN" altLang="en-US"/>
          </a:p>
        </p:txBody>
      </p:sp>
    </p:spTree>
    <p:extLst>
      <p:ext uri="{BB962C8B-B14F-4D97-AF65-F5344CB8AC3E}">
        <p14:creationId xmlns:p14="http://schemas.microsoft.com/office/powerpoint/2010/main" val="846316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A1E59-F7FE-337A-70EC-75AC56BB01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BB4A56-3689-25E5-862A-E1BFEC8BB5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8C5E70-5329-6236-F7D9-9DA07A825FD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126C6A-6E30-5E12-7646-D8F2AA510D68}"/>
              </a:ext>
            </a:extLst>
          </p:cNvPr>
          <p:cNvSpPr>
            <a:spLocks noGrp="1"/>
          </p:cNvSpPr>
          <p:nvPr>
            <p:ph type="sldNum" sz="quarter" idx="10"/>
          </p:nvPr>
        </p:nvSpPr>
        <p:spPr/>
        <p:txBody>
          <a:bodyPr/>
          <a:lstStyle/>
          <a:p>
            <a:fld id="{DA17B761-9BD3-4D52-BAF0-A57C5DB37D67}" type="slidenum">
              <a:rPr lang="zh-CN" altLang="en-US" smtClean="0"/>
              <a:pPr/>
              <a:t>16</a:t>
            </a:fld>
            <a:endParaRPr lang="zh-CN" altLang="en-US"/>
          </a:p>
        </p:txBody>
      </p:sp>
    </p:spTree>
    <p:extLst>
      <p:ext uri="{BB962C8B-B14F-4D97-AF65-F5344CB8AC3E}">
        <p14:creationId xmlns:p14="http://schemas.microsoft.com/office/powerpoint/2010/main" val="1546703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63A24-8528-9B7B-D90B-13E1105763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272944-CB25-374C-F19F-DF205A3A52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1D25E5-0428-DEEB-0B56-48D8A21397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9EF3EB4-8C77-28E5-D205-30F4D1824666}"/>
              </a:ext>
            </a:extLst>
          </p:cNvPr>
          <p:cNvSpPr>
            <a:spLocks noGrp="1"/>
          </p:cNvSpPr>
          <p:nvPr>
            <p:ph type="sldNum" sz="quarter" idx="10"/>
          </p:nvPr>
        </p:nvSpPr>
        <p:spPr/>
        <p:txBody>
          <a:bodyPr/>
          <a:lstStyle/>
          <a:p>
            <a:fld id="{DA17B761-9BD3-4D52-BAF0-A57C5DB37D67}" type="slidenum">
              <a:rPr lang="zh-CN" altLang="en-US" smtClean="0"/>
              <a:pPr/>
              <a:t>17</a:t>
            </a:fld>
            <a:endParaRPr lang="zh-CN" altLang="en-US"/>
          </a:p>
        </p:txBody>
      </p:sp>
    </p:spTree>
    <p:extLst>
      <p:ext uri="{BB962C8B-B14F-4D97-AF65-F5344CB8AC3E}">
        <p14:creationId xmlns:p14="http://schemas.microsoft.com/office/powerpoint/2010/main" val="1876553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E9469-9186-B95A-C956-F6DC7D3DC3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9EEEF3-2563-C335-F308-65FA2EF780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D6E60D-0B3D-3DEC-9D62-304603C9CE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D5BDFD-45F2-8194-964A-9C4CFFA03272}"/>
              </a:ext>
            </a:extLst>
          </p:cNvPr>
          <p:cNvSpPr>
            <a:spLocks noGrp="1"/>
          </p:cNvSpPr>
          <p:nvPr>
            <p:ph type="sldNum" sz="quarter" idx="5"/>
          </p:nvPr>
        </p:nvSpPr>
        <p:spPr/>
        <p:txBody>
          <a:bodyPr/>
          <a:lstStyle/>
          <a:p>
            <a:fld id="{DA17B761-9BD3-4D52-BAF0-A57C5DB37D67}" type="slidenum">
              <a:rPr lang="zh-CN" altLang="en-US" smtClean="0"/>
              <a:t>18</a:t>
            </a:fld>
            <a:endParaRPr lang="zh-CN" altLang="en-US"/>
          </a:p>
        </p:txBody>
      </p:sp>
    </p:spTree>
    <p:extLst>
      <p:ext uri="{BB962C8B-B14F-4D97-AF65-F5344CB8AC3E}">
        <p14:creationId xmlns:p14="http://schemas.microsoft.com/office/powerpoint/2010/main" val="2462977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1597A-3CB4-7B3D-D4DD-C68FEE6F55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F9CCC8-834B-7308-105F-4E8450C2F2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E9C665-6C64-72A1-AADC-DF005AFC5B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F853EC4-86D9-B63F-92DF-6EB454DDA984}"/>
              </a:ext>
            </a:extLst>
          </p:cNvPr>
          <p:cNvSpPr>
            <a:spLocks noGrp="1"/>
          </p:cNvSpPr>
          <p:nvPr>
            <p:ph type="sldNum" sz="quarter" idx="10"/>
          </p:nvPr>
        </p:nvSpPr>
        <p:spPr/>
        <p:txBody>
          <a:bodyPr/>
          <a:lstStyle/>
          <a:p>
            <a:fld id="{DA17B761-9BD3-4D52-BAF0-A57C5DB37D67}" type="slidenum">
              <a:rPr lang="zh-CN" altLang="en-US" smtClean="0"/>
              <a:pPr/>
              <a:t>19</a:t>
            </a:fld>
            <a:endParaRPr lang="zh-CN" altLang="en-US"/>
          </a:p>
        </p:txBody>
      </p:sp>
    </p:spTree>
    <p:extLst>
      <p:ext uri="{BB962C8B-B14F-4D97-AF65-F5344CB8AC3E}">
        <p14:creationId xmlns:p14="http://schemas.microsoft.com/office/powerpoint/2010/main" val="35543129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E3D74-71CE-F476-B073-4B9B3E25B3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314A4C-C6A4-C54B-D6CA-B3C7621F57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F8DCB1-E4F4-03DB-C40C-D7111AD590E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99381F1-A099-9C70-5197-2605DA53C9C7}"/>
              </a:ext>
            </a:extLst>
          </p:cNvPr>
          <p:cNvSpPr>
            <a:spLocks noGrp="1"/>
          </p:cNvSpPr>
          <p:nvPr>
            <p:ph type="sldNum" sz="quarter" idx="10"/>
          </p:nvPr>
        </p:nvSpPr>
        <p:spPr/>
        <p:txBody>
          <a:bodyPr/>
          <a:lstStyle/>
          <a:p>
            <a:fld id="{DA17B761-9BD3-4D52-BAF0-A57C5DB37D67}" type="slidenum">
              <a:rPr lang="zh-CN" altLang="en-US" smtClean="0"/>
              <a:pPr/>
              <a:t>20</a:t>
            </a:fld>
            <a:endParaRPr lang="zh-CN" altLang="en-US"/>
          </a:p>
        </p:txBody>
      </p:sp>
    </p:spTree>
    <p:extLst>
      <p:ext uri="{BB962C8B-B14F-4D97-AF65-F5344CB8AC3E}">
        <p14:creationId xmlns:p14="http://schemas.microsoft.com/office/powerpoint/2010/main" val="1676585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DA20-D9BE-36B5-1ED0-37B2A4A058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39EEB6-1286-11C4-9F94-673C67A26D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514DE5-E809-E22C-3E00-D2A312837B9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327860-2ABD-1253-62AD-2D6D0D528E97}"/>
              </a:ext>
            </a:extLst>
          </p:cNvPr>
          <p:cNvSpPr>
            <a:spLocks noGrp="1"/>
          </p:cNvSpPr>
          <p:nvPr>
            <p:ph type="sldNum" sz="quarter" idx="10"/>
          </p:nvPr>
        </p:nvSpPr>
        <p:spPr/>
        <p:txBody>
          <a:bodyPr/>
          <a:lstStyle/>
          <a:p>
            <a:fld id="{DA17B761-9BD3-4D52-BAF0-A57C5DB37D67}" type="slidenum">
              <a:rPr lang="zh-CN" altLang="en-US" smtClean="0"/>
              <a:pPr/>
              <a:t>21</a:t>
            </a:fld>
            <a:endParaRPr lang="zh-CN" altLang="en-US"/>
          </a:p>
        </p:txBody>
      </p:sp>
    </p:spTree>
    <p:extLst>
      <p:ext uri="{BB962C8B-B14F-4D97-AF65-F5344CB8AC3E}">
        <p14:creationId xmlns:p14="http://schemas.microsoft.com/office/powerpoint/2010/main" val="1271067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05A85-22BB-41A3-42D2-761C044990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C06400-E02F-A531-737F-41FA888B8A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166537-99D6-8186-66A6-FB8785F7D03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EEEC4D3-8EB9-BCB8-92F8-FF70DF77D46D}"/>
              </a:ext>
            </a:extLst>
          </p:cNvPr>
          <p:cNvSpPr>
            <a:spLocks noGrp="1"/>
          </p:cNvSpPr>
          <p:nvPr>
            <p:ph type="sldNum" sz="quarter" idx="10"/>
          </p:nvPr>
        </p:nvSpPr>
        <p:spPr/>
        <p:txBody>
          <a:bodyPr/>
          <a:lstStyle/>
          <a:p>
            <a:fld id="{DA17B761-9BD3-4D52-BAF0-A57C5DB37D67}" type="slidenum">
              <a:rPr lang="zh-CN" altLang="en-US" smtClean="0"/>
              <a:pPr/>
              <a:t>22</a:t>
            </a:fld>
            <a:endParaRPr lang="zh-CN" altLang="en-US"/>
          </a:p>
        </p:txBody>
      </p:sp>
    </p:spTree>
    <p:extLst>
      <p:ext uri="{BB962C8B-B14F-4D97-AF65-F5344CB8AC3E}">
        <p14:creationId xmlns:p14="http://schemas.microsoft.com/office/powerpoint/2010/main" val="348218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E6E2B-CA03-6F60-88BF-08C158ADAD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A4AF1C-5E4F-2136-432C-C21C14854D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1CA300-0407-9092-059E-F225A515BF4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FA79B14-2314-459C-6D94-AA4E92B59380}"/>
              </a:ext>
            </a:extLst>
          </p:cNvPr>
          <p:cNvSpPr>
            <a:spLocks noGrp="1"/>
          </p:cNvSpPr>
          <p:nvPr>
            <p:ph type="sldNum" sz="quarter" idx="5"/>
          </p:nvPr>
        </p:nvSpPr>
        <p:spPr/>
        <p:txBody>
          <a:bodyPr/>
          <a:lstStyle/>
          <a:p>
            <a:fld id="{DA17B761-9BD3-4D52-BAF0-A57C5DB37D67}" type="slidenum">
              <a:rPr lang="zh-CN" altLang="en-US" smtClean="0"/>
              <a:t>23</a:t>
            </a:fld>
            <a:endParaRPr lang="zh-CN" altLang="en-US"/>
          </a:p>
        </p:txBody>
      </p:sp>
    </p:spTree>
    <p:extLst>
      <p:ext uri="{BB962C8B-B14F-4D97-AF65-F5344CB8AC3E}">
        <p14:creationId xmlns:p14="http://schemas.microsoft.com/office/powerpoint/2010/main" val="1861725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A9F1-4DE7-21AB-8D1E-AF6A17DC48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C2C690-9A98-EBC5-E974-26B8B3F5FB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F86E17-BC02-9DBB-B67A-BCE5F31CA13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521228-053A-627A-FD68-09F4D84E5F4B}"/>
              </a:ext>
            </a:extLst>
          </p:cNvPr>
          <p:cNvSpPr>
            <a:spLocks noGrp="1"/>
          </p:cNvSpPr>
          <p:nvPr>
            <p:ph type="sldNum" sz="quarter" idx="10"/>
          </p:nvPr>
        </p:nvSpPr>
        <p:spPr/>
        <p:txBody>
          <a:bodyPr/>
          <a:lstStyle/>
          <a:p>
            <a:fld id="{DA17B761-9BD3-4D52-BAF0-A57C5DB37D67}" type="slidenum">
              <a:rPr lang="zh-CN" altLang="en-US" smtClean="0"/>
              <a:pPr/>
              <a:t>24</a:t>
            </a:fld>
            <a:endParaRPr lang="zh-CN" altLang="en-US"/>
          </a:p>
        </p:txBody>
      </p:sp>
    </p:spTree>
    <p:extLst>
      <p:ext uri="{BB962C8B-B14F-4D97-AF65-F5344CB8AC3E}">
        <p14:creationId xmlns:p14="http://schemas.microsoft.com/office/powerpoint/2010/main" val="31286678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EEEFD-F46B-6BA5-BF78-0525330509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FD5DFC-63DD-7630-BB6B-3A30553270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C5DCC3-260B-C36A-8449-6B0709BA2E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CE2FC46-BDCE-D8DE-53D4-5464B8BFDE40}"/>
              </a:ext>
            </a:extLst>
          </p:cNvPr>
          <p:cNvSpPr>
            <a:spLocks noGrp="1"/>
          </p:cNvSpPr>
          <p:nvPr>
            <p:ph type="sldNum" sz="quarter" idx="10"/>
          </p:nvPr>
        </p:nvSpPr>
        <p:spPr/>
        <p:txBody>
          <a:bodyPr/>
          <a:lstStyle/>
          <a:p>
            <a:fld id="{DA17B761-9BD3-4D52-BAF0-A57C5DB37D67}" type="slidenum">
              <a:rPr lang="zh-CN" altLang="en-US" smtClean="0"/>
              <a:pPr/>
              <a:t>25</a:t>
            </a:fld>
            <a:endParaRPr lang="zh-CN" altLang="en-US"/>
          </a:p>
        </p:txBody>
      </p:sp>
    </p:spTree>
    <p:extLst>
      <p:ext uri="{BB962C8B-B14F-4D97-AF65-F5344CB8AC3E}">
        <p14:creationId xmlns:p14="http://schemas.microsoft.com/office/powerpoint/2010/main" val="23295954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784FF-A72F-9D46-6BD2-CE93A08D00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2E3E50-5FD0-5674-A0B8-449ADAFEF6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6B2C1D-2EFD-C7A2-C4F7-100E02F1EA3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600634-12D0-D73F-AF23-3AD96540E9CB}"/>
              </a:ext>
            </a:extLst>
          </p:cNvPr>
          <p:cNvSpPr>
            <a:spLocks noGrp="1"/>
          </p:cNvSpPr>
          <p:nvPr>
            <p:ph type="sldNum" sz="quarter" idx="10"/>
          </p:nvPr>
        </p:nvSpPr>
        <p:spPr/>
        <p:txBody>
          <a:bodyPr/>
          <a:lstStyle/>
          <a:p>
            <a:fld id="{DA17B761-9BD3-4D52-BAF0-A57C5DB37D67}" type="slidenum">
              <a:rPr lang="zh-CN" altLang="en-US" smtClean="0"/>
              <a:pPr/>
              <a:t>26</a:t>
            </a:fld>
            <a:endParaRPr lang="zh-CN" altLang="en-US"/>
          </a:p>
        </p:txBody>
      </p:sp>
    </p:spTree>
    <p:extLst>
      <p:ext uri="{BB962C8B-B14F-4D97-AF65-F5344CB8AC3E}">
        <p14:creationId xmlns:p14="http://schemas.microsoft.com/office/powerpoint/2010/main" val="179388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3980-43FF-C132-AD62-36FE1BEED6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B87013-B8A7-9FEC-74FB-00435CE5CD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C6239A-5B7A-3482-0F06-DDA1969D10B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DDDF90-27E6-9EAE-9B15-9EA4FDFA7059}"/>
              </a:ext>
            </a:extLst>
          </p:cNvPr>
          <p:cNvSpPr>
            <a:spLocks noGrp="1"/>
          </p:cNvSpPr>
          <p:nvPr>
            <p:ph type="sldNum" sz="quarter" idx="10"/>
          </p:nvPr>
        </p:nvSpPr>
        <p:spPr/>
        <p:txBody>
          <a:bodyPr/>
          <a:lstStyle/>
          <a:p>
            <a:fld id="{DA17B761-9BD3-4D52-BAF0-A57C5DB37D67}" type="slidenum">
              <a:rPr lang="zh-CN" altLang="en-US" smtClean="0"/>
              <a:pPr/>
              <a:t>27</a:t>
            </a:fld>
            <a:endParaRPr lang="zh-CN" altLang="en-US"/>
          </a:p>
        </p:txBody>
      </p:sp>
    </p:spTree>
    <p:extLst>
      <p:ext uri="{BB962C8B-B14F-4D97-AF65-F5344CB8AC3E}">
        <p14:creationId xmlns:p14="http://schemas.microsoft.com/office/powerpoint/2010/main" val="227248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2" name="Picture 2" descr="E:\项目\公司资料\logo\2020logo\新希望集团logo.png">
            <a:extLst>
              <a:ext uri="{FF2B5EF4-FFF2-40B4-BE49-F238E27FC236}">
                <a16:creationId xmlns:a16="http://schemas.microsoft.com/office/drawing/2014/main" id="{D1BEB94A-0903-FD88-D579-8B23B56B9E4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43829" y="195485"/>
            <a:ext cx="616520" cy="64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E:\项目\公司资料\logo\2020logo\logo0108.png">
            <a:extLst>
              <a:ext uri="{FF2B5EF4-FFF2-40B4-BE49-F238E27FC236}">
                <a16:creationId xmlns:a16="http://schemas.microsoft.com/office/drawing/2014/main" id="{5127608B-F5FC-FBD6-E0DE-33755A160782}"/>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262395" y="195558"/>
            <a:ext cx="613477" cy="6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Only" preserve="1">
  <p:cSld name="1_仅标题">
    <p:spTree>
      <p:nvGrpSpPr>
        <p:cNvPr id="1" name=""/>
        <p:cNvGrpSpPr/>
        <p:nvPr/>
      </p:nvGrpSpPr>
      <p:grpSpPr>
        <a:xfrm>
          <a:off x="0" y="0"/>
          <a:ext cx="0" cy="0"/>
          <a:chOff x="0" y="0"/>
          <a:chExt cx="0" cy="0"/>
        </a:xfrm>
      </p:grpSpPr>
      <p:pic>
        <p:nvPicPr>
          <p:cNvPr id="3" name="对象 7" hidden="1"/>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191" y="1191"/>
            <a:ext cx="1190" cy="1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4" name="矩形 3"/>
          <p:cNvSpPr/>
          <p:nvPr userDrawn="1"/>
        </p:nvSpPr>
        <p:spPr>
          <a:xfrm>
            <a:off x="-1465660" y="-19050"/>
            <a:ext cx="1114425" cy="371475"/>
          </a:xfrm>
          <a:prstGeom prst="rect">
            <a:avLst/>
          </a:prstGeom>
          <a:solidFill>
            <a:srgbClr val="002E52"/>
          </a:solidFill>
          <a:ln w="12700">
            <a:noFill/>
          </a:ln>
        </p:spPr>
        <p:style>
          <a:lnRef idx="2">
            <a:schemeClr val="accent6"/>
          </a:lnRef>
          <a:fillRef idx="1">
            <a:schemeClr val="lt1"/>
          </a:fillRef>
          <a:effectRef idx="0">
            <a:schemeClr val="accent6"/>
          </a:effectRef>
          <a:fontRef idx="minor">
            <a:schemeClr val="dk1"/>
          </a:fontRef>
        </p:style>
        <p:txBody>
          <a:bodyPr anchor="ctr"/>
          <a:lstStyle/>
          <a:p>
            <a:pPr algn="ctr" fontAlgn="auto"/>
            <a:r>
              <a:rPr lang="en-US" altLang="zh-CN" sz="790" b="1" noProof="1">
                <a:solidFill>
                  <a:prstClr val="white"/>
                </a:solidFill>
              </a:rPr>
              <a:t>04682</a:t>
            </a:r>
            <a:endParaRPr lang="zh-CN" altLang="en-US" sz="790" b="1" noProof="1">
              <a:solidFill>
                <a:prstClr val="white"/>
              </a:solidFill>
            </a:endParaRPr>
          </a:p>
        </p:txBody>
      </p:sp>
      <p:sp>
        <p:nvSpPr>
          <p:cNvPr id="5" name="矩形 4"/>
          <p:cNvSpPr/>
          <p:nvPr userDrawn="1"/>
        </p:nvSpPr>
        <p:spPr>
          <a:xfrm>
            <a:off x="-1465660" y="561975"/>
            <a:ext cx="1114425" cy="371475"/>
          </a:xfrm>
          <a:prstGeom prst="rect">
            <a:avLst/>
          </a:prstGeom>
          <a:solidFill>
            <a:srgbClr val="00518E"/>
          </a:solidFill>
          <a:ln w="12700">
            <a:noFill/>
          </a:ln>
        </p:spPr>
        <p:style>
          <a:lnRef idx="2">
            <a:schemeClr val="accent6"/>
          </a:lnRef>
          <a:fillRef idx="1">
            <a:schemeClr val="lt1"/>
          </a:fillRef>
          <a:effectRef idx="0">
            <a:schemeClr val="accent6"/>
          </a:effectRef>
          <a:fontRef idx="minor">
            <a:schemeClr val="dk1"/>
          </a:fontRef>
        </p:style>
        <p:txBody>
          <a:bodyPr anchor="ctr"/>
          <a:lstStyle/>
          <a:p>
            <a:pPr algn="ctr" fontAlgn="auto"/>
            <a:r>
              <a:rPr lang="en-US" altLang="zh-CN" sz="790" b="1" noProof="1">
                <a:solidFill>
                  <a:prstClr val="white"/>
                </a:solidFill>
              </a:rPr>
              <a:t>081142</a:t>
            </a:r>
            <a:endParaRPr lang="zh-CN" altLang="en-US" sz="790" b="1" noProof="1">
              <a:solidFill>
                <a:prstClr val="white"/>
              </a:solidFill>
            </a:endParaRPr>
          </a:p>
        </p:txBody>
      </p:sp>
      <p:sp>
        <p:nvSpPr>
          <p:cNvPr id="6" name="矩形 5"/>
          <p:cNvSpPr/>
          <p:nvPr userDrawn="1"/>
        </p:nvSpPr>
        <p:spPr>
          <a:xfrm>
            <a:off x="-1465660" y="1143000"/>
            <a:ext cx="1114425" cy="371475"/>
          </a:xfrm>
          <a:prstGeom prst="rect">
            <a:avLst/>
          </a:prstGeom>
          <a:solidFill>
            <a:srgbClr val="2DBBE9"/>
          </a:solidFill>
          <a:ln w="12700">
            <a:noFill/>
          </a:ln>
        </p:spPr>
        <p:style>
          <a:lnRef idx="2">
            <a:schemeClr val="accent6"/>
          </a:lnRef>
          <a:fillRef idx="1">
            <a:schemeClr val="lt1"/>
          </a:fillRef>
          <a:effectRef idx="0">
            <a:schemeClr val="accent6"/>
          </a:effectRef>
          <a:fontRef idx="minor">
            <a:schemeClr val="dk1"/>
          </a:fontRef>
        </p:style>
        <p:txBody>
          <a:bodyPr anchor="ctr"/>
          <a:lstStyle/>
          <a:p>
            <a:pPr algn="ctr" fontAlgn="auto"/>
            <a:r>
              <a:rPr lang="en-US" altLang="zh-CN" sz="790" b="1" noProof="1">
                <a:solidFill>
                  <a:prstClr val="white"/>
                </a:solidFill>
              </a:rPr>
              <a:t>45187233</a:t>
            </a:r>
            <a:endParaRPr lang="zh-CN" altLang="en-US" sz="790" b="1" noProof="1">
              <a:solidFill>
                <a:prstClr val="white"/>
              </a:solidFill>
            </a:endParaRPr>
          </a:p>
        </p:txBody>
      </p:sp>
      <p:sp>
        <p:nvSpPr>
          <p:cNvPr id="7" name="矩形 6"/>
          <p:cNvSpPr/>
          <p:nvPr userDrawn="1"/>
        </p:nvSpPr>
        <p:spPr>
          <a:xfrm>
            <a:off x="-1465660" y="1724025"/>
            <a:ext cx="1114425" cy="371475"/>
          </a:xfrm>
          <a:prstGeom prst="rect">
            <a:avLst/>
          </a:prstGeom>
          <a:solidFill>
            <a:srgbClr val="7F7F7F"/>
          </a:solidFill>
          <a:ln w="12700">
            <a:noFill/>
          </a:ln>
        </p:spPr>
        <p:style>
          <a:lnRef idx="2">
            <a:schemeClr val="accent6"/>
          </a:lnRef>
          <a:fillRef idx="1">
            <a:schemeClr val="lt1"/>
          </a:fillRef>
          <a:effectRef idx="0">
            <a:schemeClr val="accent6"/>
          </a:effectRef>
          <a:fontRef idx="minor">
            <a:schemeClr val="dk1"/>
          </a:fontRef>
        </p:style>
        <p:txBody>
          <a:bodyPr anchor="ctr"/>
          <a:lstStyle/>
          <a:p>
            <a:pPr algn="ctr" fontAlgn="auto"/>
            <a:r>
              <a:rPr lang="en-US" altLang="zh-CN" sz="790" b="1" noProof="1">
                <a:solidFill>
                  <a:prstClr val="white"/>
                </a:solidFill>
              </a:rPr>
              <a:t>127127127</a:t>
            </a:r>
            <a:endParaRPr lang="zh-CN" altLang="en-US" sz="790" b="1" noProof="1">
              <a:solidFill>
                <a:prstClr val="white"/>
              </a:solidFill>
            </a:endParaRPr>
          </a:p>
        </p:txBody>
      </p:sp>
      <p:sp>
        <p:nvSpPr>
          <p:cNvPr id="8" name="Workspace [Presentation]" hidden="1"/>
          <p:cNvSpPr/>
          <p:nvPr userDrawn="1"/>
        </p:nvSpPr>
        <p:spPr>
          <a:xfrm>
            <a:off x="628650" y="1369219"/>
            <a:ext cx="7886700" cy="3263504"/>
          </a:xfrm>
          <a:prstGeom prst="rect">
            <a:avLst/>
          </a:prstGeom>
          <a:noFill/>
          <a:ln w="12700" cap="flat" cmpd="sng" algn="ctr">
            <a:solidFill>
              <a:srgbClr val="D24726"/>
            </a:solidFill>
            <a:prstDash val="lg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en-US" sz="1015" noProof="1"/>
          </a:p>
        </p:txBody>
      </p:sp>
      <p:sp>
        <p:nvSpPr>
          <p:cNvPr id="11" name="TextBox 3"/>
          <p:cNvSpPr txBox="1"/>
          <p:nvPr userDrawn="1"/>
        </p:nvSpPr>
        <p:spPr>
          <a:xfrm>
            <a:off x="8655844" y="4851797"/>
            <a:ext cx="404813" cy="189309"/>
          </a:xfrm>
          <a:prstGeom prst="rect">
            <a:avLst/>
          </a:prstGeom>
          <a:noFill/>
        </p:spPr>
        <p:txBody>
          <a:bodyPr lIns="40500" tIns="10125" rIns="40500" bIns="10125" anchor="ctr"/>
          <a:lstStyle/>
          <a:p>
            <a:pPr algn="r"/>
            <a:fld id="{4462BACD-B132-47CA-B5C2-04A616637DF1}" type="slidenum">
              <a:rPr lang="zh-CN" altLang="en-US" sz="565">
                <a:solidFill>
                  <a:srgbClr val="9DC3E6"/>
                </a:solidFill>
                <a:latin typeface="Arial" panose="020B0604020202020204" pitchFamily="34" charset="0"/>
              </a:rPr>
              <a:t>‹#›</a:t>
            </a:fld>
            <a:endParaRPr lang="zh-CN" altLang="en-US" sz="565">
              <a:solidFill>
                <a:srgbClr val="9DC3E6"/>
              </a:solidFill>
              <a:latin typeface="Arial" panose="020B0604020202020204" pitchFamily="34" charset="0"/>
            </a:endParaRPr>
          </a:p>
        </p:txBody>
      </p:sp>
      <p:sp>
        <p:nvSpPr>
          <p:cNvPr id="2" name="标题 1"/>
          <p:cNvSpPr>
            <a:spLocks noGrp="1"/>
          </p:cNvSpPr>
          <p:nvPr>
            <p:ph type="title"/>
          </p:nvPr>
        </p:nvSpPr>
        <p:spPr>
          <a:xfrm>
            <a:off x="189604" y="248253"/>
            <a:ext cx="8120959" cy="432197"/>
          </a:xfrm>
        </p:spPr>
        <p:txBody>
          <a:bodyPr/>
          <a:lstStyle>
            <a:lvl1pPr algn="l" rtl="0" fontAlgn="base">
              <a:lnSpc>
                <a:spcPct val="90000"/>
              </a:lnSpc>
              <a:spcBef>
                <a:spcPct val="0"/>
              </a:spcBef>
              <a:spcAft>
                <a:spcPct val="0"/>
              </a:spcAft>
              <a:defRPr lang="zh-CN" altLang="en-US" sz="1800" b="1" kern="1200" noProof="1">
                <a:solidFill>
                  <a:srgbClr val="0070C0">
                    <a:lumMod val="50000"/>
                  </a:srgbClr>
                </a:solidFill>
                <a:latin typeface="微软雅黑" panose="020B0503020204020204" charset="-122"/>
                <a:ea typeface="微软雅黑" panose="020B0503020204020204" charset="-122"/>
                <a:cs typeface="+mj-cs"/>
              </a:defRPr>
            </a:lvl1pPr>
          </a:lstStyle>
          <a:p>
            <a:r>
              <a:rPr lang="zh-CN" altLang="en-US" noProof="1"/>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11" name="矩形 10"/>
          <p:cNvSpPr/>
          <p:nvPr userDrawn="1"/>
        </p:nvSpPr>
        <p:spPr>
          <a:xfrm flipH="1">
            <a:off x="0" y="4954905"/>
            <a:ext cx="9144000" cy="188595"/>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sp>
        <p:nvSpPr>
          <p:cNvPr id="2" name="标题 1"/>
          <p:cNvSpPr>
            <a:spLocks noGrp="1"/>
          </p:cNvSpPr>
          <p:nvPr>
            <p:ph type="title"/>
          </p:nvPr>
        </p:nvSpPr>
        <p:spPr>
          <a:xfrm>
            <a:off x="258777" y="0"/>
            <a:ext cx="7841615" cy="556895"/>
          </a:xfrm>
        </p:spPr>
        <p:txBody>
          <a:bodyPr lIns="46990" tIns="46990" rIns="46990" bIns="46990" anchor="ctr" anchorCtr="0">
            <a:noAutofit/>
          </a:bodyPr>
          <a:lstStyle>
            <a:lvl1pPr marL="0" algn="l" defTabSz="879475" rtl="0" eaLnBrk="1" fontAlgn="ctr" latinLnBrk="0" hangingPunct="1">
              <a:lnSpc>
                <a:spcPts val="6075"/>
              </a:lnSpc>
              <a:defRPr lang="zh-CN" altLang="en-US" sz="20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2025/6/8</a:t>
            </a:fld>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3074" name="Picture 2" descr="E:\项目\公司资料\logo\2020logo\新希望集团logo.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43829" y="195485"/>
            <a:ext cx="616520" cy="6480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项目\公司资料\logo\2020logo\logo0108.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262395" y="195558"/>
            <a:ext cx="613477" cy="6480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p:nvCxnSpPr>
        <p:spPr>
          <a:xfrm>
            <a:off x="3175" y="689610"/>
            <a:ext cx="5169600" cy="0"/>
          </a:xfrm>
          <a:prstGeom prst="line">
            <a:avLst/>
          </a:prstGeom>
          <a:ln w="25400">
            <a:gradFill>
              <a:gsLst>
                <a:gs pos="0">
                  <a:srgbClr val="2A86DC"/>
                </a:gs>
                <a:gs pos="100000">
                  <a:srgbClr val="F7F7F7">
                    <a:alpha val="0"/>
                  </a:srgbClr>
                </a:gs>
                <a:gs pos="56000">
                  <a:srgbClr val="ADD1F2"/>
                </a:gs>
              </a:gsLst>
              <a:lin ang="120000" scaled="1"/>
            </a:gradFill>
          </a:ln>
        </p:spPr>
        <p:style>
          <a:lnRef idx="2">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588470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2025/6/8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extLst>
      <p:ext uri="{BB962C8B-B14F-4D97-AF65-F5344CB8AC3E}">
        <p14:creationId xmlns:p14="http://schemas.microsoft.com/office/powerpoint/2010/main" val="4271600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2025/6/8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extLst>
      <p:ext uri="{BB962C8B-B14F-4D97-AF65-F5344CB8AC3E}">
        <p14:creationId xmlns:p14="http://schemas.microsoft.com/office/powerpoint/2010/main" val="3922290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5434962D-DA07-0746-B6E2-B6A62605A90C}" type="datetime1">
              <a:rPr lang="zh-CN" altLang="en-US" smtClean="0"/>
              <a:pPr/>
              <a:t>2025/6/8</a:t>
            </a:fld>
            <a:endParaRPr lang="zh-CN" altLang="en-US"/>
          </a:p>
        </p:txBody>
      </p:sp>
      <p:sp>
        <p:nvSpPr>
          <p:cNvPr id="4" name="页脚占位符 3"/>
          <p:cNvSpPr>
            <a:spLocks noGrp="1"/>
          </p:cNvSpPr>
          <p:nvPr>
            <p:ph type="ftr" sz="quarter" idx="11"/>
          </p:nvPr>
        </p:nvSpPr>
        <p:spPr/>
        <p:txBody>
          <a:bodyPr/>
          <a:lstStyle/>
          <a:p>
            <a:r>
              <a:rPr lang="en-US" altLang="zh-CN" dirty="0"/>
              <a:t>© </a:t>
            </a:r>
            <a:r>
              <a:rPr lang="zh-CN" altLang="en-US" dirty="0"/>
              <a:t>版权所有 </a:t>
            </a:r>
            <a:r>
              <a:rPr lang="en-US" altLang="zh-CN" dirty="0"/>
              <a:t>2021 </a:t>
            </a:r>
            <a:r>
              <a:rPr lang="zh-CN" altLang="en-US" dirty="0"/>
              <a:t>浙江好络维医疗技术有限公司</a:t>
            </a:r>
          </a:p>
        </p:txBody>
      </p:sp>
      <p:sp>
        <p:nvSpPr>
          <p:cNvPr id="5" name="灯片编号占位符 4"/>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文本框 5"/>
          <p:cNvSpPr txBox="1"/>
          <p:nvPr userDrawn="1"/>
        </p:nvSpPr>
        <p:spPr>
          <a:xfrm>
            <a:off x="502444" y="978694"/>
            <a:ext cx="8357188" cy="3861197"/>
          </a:xfrm>
          <a:prstGeom prst="rect">
            <a:avLst/>
          </a:prstGeom>
          <a:noFill/>
        </p:spPr>
        <p:txBody>
          <a:bodyPr wrap="square" rtlCol="0">
            <a:noAutofit/>
          </a:bodyPr>
          <a:lstStyle/>
          <a:p>
            <a:pPr marL="214630" indent="-214630">
              <a:buFont typeface="Wingdings" panose="05000000000000000000" pitchFamily="2" charset="2"/>
              <a:buChar char="l"/>
            </a:pPr>
            <a:endParaRPr kumimoji="1" lang="en-US" altLang="zh-CN" sz="1350" dirty="0"/>
          </a:p>
          <a:p>
            <a:pPr marL="214630" indent="-214630">
              <a:buFont typeface="Wingdings" panose="05000000000000000000" pitchFamily="2" charset="2"/>
              <a:buChar char="l"/>
            </a:pPr>
            <a:endParaRPr kumimoji="1" lang="en-US" altLang="zh-CN" sz="1350" dirty="0"/>
          </a:p>
          <a:p>
            <a:pPr marL="214630" indent="-214630">
              <a:buFont typeface="Wingdings" panose="05000000000000000000" pitchFamily="2" charset="2"/>
              <a:buChar char="l"/>
            </a:pPr>
            <a:endParaRPr kumimoji="1" lang="zh-CN" altLang="en-US" sz="1350" dirty="0"/>
          </a:p>
        </p:txBody>
      </p:sp>
    </p:spTree>
    <p:extLst>
      <p:ext uri="{BB962C8B-B14F-4D97-AF65-F5344CB8AC3E}">
        <p14:creationId xmlns:p14="http://schemas.microsoft.com/office/powerpoint/2010/main" val="6215006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9" Type="http://schemas.openxmlformats.org/officeDocument/2006/relationships/notesSlide" Target="../notesSlides/notesSlide3.xml"/><Relationship Id="rId21" Type="http://schemas.openxmlformats.org/officeDocument/2006/relationships/tags" Target="../tags/tag22.xml"/><Relationship Id="rId34" Type="http://schemas.openxmlformats.org/officeDocument/2006/relationships/tags" Target="../tags/tag35.xml"/><Relationship Id="rId42" Type="http://schemas.openxmlformats.org/officeDocument/2006/relationships/image" Target="../media/image9.png"/><Relationship Id="rId7" Type="http://schemas.openxmlformats.org/officeDocument/2006/relationships/tags" Target="../tags/tag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41" Type="http://schemas.openxmlformats.org/officeDocument/2006/relationships/image" Target="../media/image8.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37" Type="http://schemas.openxmlformats.org/officeDocument/2006/relationships/tags" Target="../tags/tag38.xml"/><Relationship Id="rId40" Type="http://schemas.openxmlformats.org/officeDocument/2006/relationships/image" Target="../media/image7.png"/><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8" Type="http://schemas.openxmlformats.org/officeDocument/2006/relationships/tags" Target="../tags/tag9.xml"/><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6" Type="http://schemas.openxmlformats.org/officeDocument/2006/relationships/tags" Target="../tags/tag65.xml"/><Relationship Id="rId21" Type="http://schemas.openxmlformats.org/officeDocument/2006/relationships/tags" Target="../tags/tag60.xml"/><Relationship Id="rId34" Type="http://schemas.openxmlformats.org/officeDocument/2006/relationships/tags" Target="../tags/tag73.xml"/><Relationship Id="rId42" Type="http://schemas.openxmlformats.org/officeDocument/2006/relationships/tags" Target="../tags/tag81.xml"/><Relationship Id="rId47" Type="http://schemas.openxmlformats.org/officeDocument/2006/relationships/tags" Target="../tags/tag86.xml"/><Relationship Id="rId50" Type="http://schemas.openxmlformats.org/officeDocument/2006/relationships/tags" Target="../tags/tag89.xml"/><Relationship Id="rId55" Type="http://schemas.openxmlformats.org/officeDocument/2006/relationships/tags" Target="../tags/tag94.xml"/><Relationship Id="rId63" Type="http://schemas.openxmlformats.org/officeDocument/2006/relationships/image" Target="../media/image17.png"/><Relationship Id="rId68" Type="http://schemas.openxmlformats.org/officeDocument/2006/relationships/image" Target="../media/image22.png"/><Relationship Id="rId7" Type="http://schemas.openxmlformats.org/officeDocument/2006/relationships/tags" Target="../tags/tag46.xml"/><Relationship Id="rId2" Type="http://schemas.openxmlformats.org/officeDocument/2006/relationships/tags" Target="../tags/tag41.xml"/><Relationship Id="rId16" Type="http://schemas.openxmlformats.org/officeDocument/2006/relationships/tags" Target="../tags/tag55.xml"/><Relationship Id="rId29" Type="http://schemas.openxmlformats.org/officeDocument/2006/relationships/tags" Target="../tags/tag68.xml"/><Relationship Id="rId11" Type="http://schemas.openxmlformats.org/officeDocument/2006/relationships/tags" Target="../tags/tag50.xml"/><Relationship Id="rId24" Type="http://schemas.openxmlformats.org/officeDocument/2006/relationships/tags" Target="../tags/tag63.xml"/><Relationship Id="rId32" Type="http://schemas.openxmlformats.org/officeDocument/2006/relationships/tags" Target="../tags/tag71.xml"/><Relationship Id="rId37" Type="http://schemas.openxmlformats.org/officeDocument/2006/relationships/tags" Target="../tags/tag76.xml"/><Relationship Id="rId40" Type="http://schemas.openxmlformats.org/officeDocument/2006/relationships/tags" Target="../tags/tag79.xml"/><Relationship Id="rId45" Type="http://schemas.openxmlformats.org/officeDocument/2006/relationships/tags" Target="../tags/tag84.xml"/><Relationship Id="rId53" Type="http://schemas.openxmlformats.org/officeDocument/2006/relationships/tags" Target="../tags/tag92.xml"/><Relationship Id="rId58" Type="http://schemas.openxmlformats.org/officeDocument/2006/relationships/tags" Target="../tags/tag97.xml"/><Relationship Id="rId66" Type="http://schemas.openxmlformats.org/officeDocument/2006/relationships/image" Target="../media/image20.png"/><Relationship Id="rId5" Type="http://schemas.openxmlformats.org/officeDocument/2006/relationships/tags" Target="../tags/tag44.xml"/><Relationship Id="rId61" Type="http://schemas.openxmlformats.org/officeDocument/2006/relationships/notesSlide" Target="../notesSlides/notesSlide10.xml"/><Relationship Id="rId19" Type="http://schemas.openxmlformats.org/officeDocument/2006/relationships/tags" Target="../tags/tag58.xml"/><Relationship Id="rId14" Type="http://schemas.openxmlformats.org/officeDocument/2006/relationships/tags" Target="../tags/tag53.xml"/><Relationship Id="rId22" Type="http://schemas.openxmlformats.org/officeDocument/2006/relationships/tags" Target="../tags/tag61.xml"/><Relationship Id="rId27" Type="http://schemas.openxmlformats.org/officeDocument/2006/relationships/tags" Target="../tags/tag66.xml"/><Relationship Id="rId30" Type="http://schemas.openxmlformats.org/officeDocument/2006/relationships/tags" Target="../tags/tag69.xml"/><Relationship Id="rId35" Type="http://schemas.openxmlformats.org/officeDocument/2006/relationships/tags" Target="../tags/tag74.xml"/><Relationship Id="rId43" Type="http://schemas.openxmlformats.org/officeDocument/2006/relationships/tags" Target="../tags/tag82.xml"/><Relationship Id="rId48" Type="http://schemas.openxmlformats.org/officeDocument/2006/relationships/tags" Target="../tags/tag87.xml"/><Relationship Id="rId56" Type="http://schemas.openxmlformats.org/officeDocument/2006/relationships/tags" Target="../tags/tag95.xml"/><Relationship Id="rId64" Type="http://schemas.openxmlformats.org/officeDocument/2006/relationships/image" Target="../media/image18.png"/><Relationship Id="rId8" Type="http://schemas.openxmlformats.org/officeDocument/2006/relationships/tags" Target="../tags/tag47.xml"/><Relationship Id="rId51" Type="http://schemas.openxmlformats.org/officeDocument/2006/relationships/tags" Target="../tags/tag90.xml"/><Relationship Id="rId3" Type="http://schemas.openxmlformats.org/officeDocument/2006/relationships/tags" Target="../tags/tag42.xml"/><Relationship Id="rId12" Type="http://schemas.openxmlformats.org/officeDocument/2006/relationships/tags" Target="../tags/tag51.xml"/><Relationship Id="rId17" Type="http://schemas.openxmlformats.org/officeDocument/2006/relationships/tags" Target="../tags/tag56.xml"/><Relationship Id="rId25" Type="http://schemas.openxmlformats.org/officeDocument/2006/relationships/tags" Target="../tags/tag64.xml"/><Relationship Id="rId33" Type="http://schemas.openxmlformats.org/officeDocument/2006/relationships/tags" Target="../tags/tag72.xml"/><Relationship Id="rId38" Type="http://schemas.openxmlformats.org/officeDocument/2006/relationships/tags" Target="../tags/tag77.xml"/><Relationship Id="rId46" Type="http://schemas.openxmlformats.org/officeDocument/2006/relationships/tags" Target="../tags/tag85.xml"/><Relationship Id="rId59" Type="http://schemas.openxmlformats.org/officeDocument/2006/relationships/tags" Target="../tags/tag98.xml"/><Relationship Id="rId67" Type="http://schemas.openxmlformats.org/officeDocument/2006/relationships/image" Target="../media/image21.png"/><Relationship Id="rId20" Type="http://schemas.openxmlformats.org/officeDocument/2006/relationships/tags" Target="../tags/tag59.xml"/><Relationship Id="rId41" Type="http://schemas.openxmlformats.org/officeDocument/2006/relationships/tags" Target="../tags/tag80.xml"/><Relationship Id="rId54" Type="http://schemas.openxmlformats.org/officeDocument/2006/relationships/tags" Target="../tags/tag93.xml"/><Relationship Id="rId62" Type="http://schemas.openxmlformats.org/officeDocument/2006/relationships/image" Target="../media/image16.png"/><Relationship Id="rId1" Type="http://schemas.openxmlformats.org/officeDocument/2006/relationships/tags" Target="../tags/tag40.xml"/><Relationship Id="rId6" Type="http://schemas.openxmlformats.org/officeDocument/2006/relationships/tags" Target="../tags/tag45.xml"/><Relationship Id="rId15" Type="http://schemas.openxmlformats.org/officeDocument/2006/relationships/tags" Target="../tags/tag54.xml"/><Relationship Id="rId23" Type="http://schemas.openxmlformats.org/officeDocument/2006/relationships/tags" Target="../tags/tag62.xml"/><Relationship Id="rId28" Type="http://schemas.openxmlformats.org/officeDocument/2006/relationships/tags" Target="../tags/tag67.xml"/><Relationship Id="rId36" Type="http://schemas.openxmlformats.org/officeDocument/2006/relationships/tags" Target="../tags/tag75.xml"/><Relationship Id="rId49" Type="http://schemas.openxmlformats.org/officeDocument/2006/relationships/tags" Target="../tags/tag88.xml"/><Relationship Id="rId57" Type="http://schemas.openxmlformats.org/officeDocument/2006/relationships/tags" Target="../tags/tag96.xml"/><Relationship Id="rId10" Type="http://schemas.openxmlformats.org/officeDocument/2006/relationships/tags" Target="../tags/tag49.xml"/><Relationship Id="rId31" Type="http://schemas.openxmlformats.org/officeDocument/2006/relationships/tags" Target="../tags/tag70.xml"/><Relationship Id="rId44" Type="http://schemas.openxmlformats.org/officeDocument/2006/relationships/tags" Target="../tags/tag83.xml"/><Relationship Id="rId52" Type="http://schemas.openxmlformats.org/officeDocument/2006/relationships/tags" Target="../tags/tag91.xml"/><Relationship Id="rId60" Type="http://schemas.openxmlformats.org/officeDocument/2006/relationships/slideLayout" Target="../slideLayouts/slideLayout3.xml"/><Relationship Id="rId65" Type="http://schemas.openxmlformats.org/officeDocument/2006/relationships/image" Target="../media/image19.png"/><Relationship Id="rId4" Type="http://schemas.openxmlformats.org/officeDocument/2006/relationships/tags" Target="../tags/tag43.xml"/><Relationship Id="rId9" Type="http://schemas.openxmlformats.org/officeDocument/2006/relationships/tags" Target="../tags/tag48.xml"/><Relationship Id="rId13" Type="http://schemas.openxmlformats.org/officeDocument/2006/relationships/tags" Target="../tags/tag52.xml"/><Relationship Id="rId18" Type="http://schemas.openxmlformats.org/officeDocument/2006/relationships/tags" Target="../tags/tag57.xml"/><Relationship Id="rId39" Type="http://schemas.openxmlformats.org/officeDocument/2006/relationships/tags" Target="../tags/tag78.xml"/></Relationships>
</file>

<file path=ppt/slides/_rels/slide11.xml.rels><?xml version="1.0" encoding="UTF-8" standalone="yes"?>
<Relationships xmlns="http://schemas.openxmlformats.org/package/2006/relationships"><Relationship Id="rId13" Type="http://schemas.openxmlformats.org/officeDocument/2006/relationships/tags" Target="../tags/tag111.xml"/><Relationship Id="rId18" Type="http://schemas.openxmlformats.org/officeDocument/2006/relationships/tags" Target="../tags/tag116.xml"/><Relationship Id="rId26" Type="http://schemas.openxmlformats.org/officeDocument/2006/relationships/image" Target="../media/image27.png"/><Relationship Id="rId39" Type="http://schemas.openxmlformats.org/officeDocument/2006/relationships/image" Target="../media/image40.webp"/><Relationship Id="rId21" Type="http://schemas.openxmlformats.org/officeDocument/2006/relationships/notesSlide" Target="../notesSlides/notesSlide11.xml"/><Relationship Id="rId34" Type="http://schemas.openxmlformats.org/officeDocument/2006/relationships/image" Target="../media/image35.webp"/><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tags" Target="../tags/tag115.xml"/><Relationship Id="rId25" Type="http://schemas.openxmlformats.org/officeDocument/2006/relationships/image" Target="../media/image26.svg"/><Relationship Id="rId33" Type="http://schemas.openxmlformats.org/officeDocument/2006/relationships/image" Target="../media/image34.webp"/><Relationship Id="rId38" Type="http://schemas.openxmlformats.org/officeDocument/2006/relationships/image" Target="../media/image39.webp"/><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slideLayout" Target="../slideLayouts/slideLayout3.xml"/><Relationship Id="rId29" Type="http://schemas.openxmlformats.org/officeDocument/2006/relationships/image" Target="../media/image30.webp"/><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24" Type="http://schemas.openxmlformats.org/officeDocument/2006/relationships/image" Target="../media/image25.png"/><Relationship Id="rId32" Type="http://schemas.openxmlformats.org/officeDocument/2006/relationships/image" Target="../media/image33.webp"/><Relationship Id="rId37" Type="http://schemas.openxmlformats.org/officeDocument/2006/relationships/image" Target="../media/image38.webp"/><Relationship Id="rId40" Type="http://schemas.openxmlformats.org/officeDocument/2006/relationships/image" Target="../media/image41.png"/><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image" Target="../media/image24.webp"/><Relationship Id="rId28" Type="http://schemas.openxmlformats.org/officeDocument/2006/relationships/image" Target="../media/image29.png"/><Relationship Id="rId36" Type="http://schemas.openxmlformats.org/officeDocument/2006/relationships/image" Target="../media/image37.webp"/><Relationship Id="rId10" Type="http://schemas.openxmlformats.org/officeDocument/2006/relationships/tags" Target="../tags/tag108.xml"/><Relationship Id="rId19" Type="http://schemas.openxmlformats.org/officeDocument/2006/relationships/tags" Target="../tags/tag117.xml"/><Relationship Id="rId31" Type="http://schemas.openxmlformats.org/officeDocument/2006/relationships/image" Target="../media/image32.png"/><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image" Target="../media/image23.png"/><Relationship Id="rId27" Type="http://schemas.openxmlformats.org/officeDocument/2006/relationships/image" Target="../media/image28.svg"/><Relationship Id="rId30" Type="http://schemas.openxmlformats.org/officeDocument/2006/relationships/image" Target="../media/image31.webp"/><Relationship Id="rId35" Type="http://schemas.openxmlformats.org/officeDocument/2006/relationships/image" Target="../media/image36.webp"/><Relationship Id="rId8" Type="http://schemas.openxmlformats.org/officeDocument/2006/relationships/tags" Target="../tags/tag106.xml"/><Relationship Id="rId3" Type="http://schemas.openxmlformats.org/officeDocument/2006/relationships/tags" Target="../tags/tag101.xml"/></Relationships>
</file>

<file path=ppt/slides/_rels/slide12.xml.rels><?xml version="1.0" encoding="UTF-8" standalone="yes"?>
<Relationships xmlns="http://schemas.openxmlformats.org/package/2006/relationships"><Relationship Id="rId13" Type="http://schemas.openxmlformats.org/officeDocument/2006/relationships/tags" Target="../tags/tag130.xml"/><Relationship Id="rId18" Type="http://schemas.openxmlformats.org/officeDocument/2006/relationships/tags" Target="../tags/tag135.xml"/><Relationship Id="rId26" Type="http://schemas.openxmlformats.org/officeDocument/2006/relationships/tags" Target="../tags/tag143.xml"/><Relationship Id="rId39" Type="http://schemas.openxmlformats.org/officeDocument/2006/relationships/image" Target="../media/image42.png"/><Relationship Id="rId21" Type="http://schemas.openxmlformats.org/officeDocument/2006/relationships/tags" Target="../tags/tag138.xml"/><Relationship Id="rId34" Type="http://schemas.openxmlformats.org/officeDocument/2006/relationships/tags" Target="../tags/tag151.xml"/><Relationship Id="rId42" Type="http://schemas.openxmlformats.org/officeDocument/2006/relationships/image" Target="../media/image44.png"/><Relationship Id="rId7" Type="http://schemas.openxmlformats.org/officeDocument/2006/relationships/tags" Target="../tags/tag124.xml"/><Relationship Id="rId2" Type="http://schemas.openxmlformats.org/officeDocument/2006/relationships/tags" Target="../tags/tag119.xml"/><Relationship Id="rId16" Type="http://schemas.openxmlformats.org/officeDocument/2006/relationships/tags" Target="../tags/tag133.xml"/><Relationship Id="rId29" Type="http://schemas.openxmlformats.org/officeDocument/2006/relationships/tags" Target="../tags/tag146.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24" Type="http://schemas.openxmlformats.org/officeDocument/2006/relationships/tags" Target="../tags/tag141.xml"/><Relationship Id="rId32" Type="http://schemas.openxmlformats.org/officeDocument/2006/relationships/tags" Target="../tags/tag149.xml"/><Relationship Id="rId37" Type="http://schemas.openxmlformats.org/officeDocument/2006/relationships/slideLayout" Target="../slideLayouts/slideLayout3.xml"/><Relationship Id="rId40" Type="http://schemas.openxmlformats.org/officeDocument/2006/relationships/hyperlink" Target="http://www.td-tech.com/" TargetMode="External"/><Relationship Id="rId45" Type="http://schemas.openxmlformats.org/officeDocument/2006/relationships/image" Target="../media/image47.png"/><Relationship Id="rId5" Type="http://schemas.openxmlformats.org/officeDocument/2006/relationships/tags" Target="../tags/tag122.xml"/><Relationship Id="rId15" Type="http://schemas.openxmlformats.org/officeDocument/2006/relationships/tags" Target="../tags/tag132.xml"/><Relationship Id="rId23" Type="http://schemas.openxmlformats.org/officeDocument/2006/relationships/tags" Target="../tags/tag140.xml"/><Relationship Id="rId28" Type="http://schemas.openxmlformats.org/officeDocument/2006/relationships/tags" Target="../tags/tag145.xml"/><Relationship Id="rId36" Type="http://schemas.openxmlformats.org/officeDocument/2006/relationships/tags" Target="../tags/tag153.xml"/><Relationship Id="rId10" Type="http://schemas.openxmlformats.org/officeDocument/2006/relationships/tags" Target="../tags/tag127.xml"/><Relationship Id="rId19" Type="http://schemas.openxmlformats.org/officeDocument/2006/relationships/tags" Target="../tags/tag136.xml"/><Relationship Id="rId31" Type="http://schemas.openxmlformats.org/officeDocument/2006/relationships/tags" Target="../tags/tag148.xml"/><Relationship Id="rId44" Type="http://schemas.openxmlformats.org/officeDocument/2006/relationships/image" Target="../media/image46.png"/><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 Id="rId22" Type="http://schemas.openxmlformats.org/officeDocument/2006/relationships/tags" Target="../tags/tag139.xml"/><Relationship Id="rId27" Type="http://schemas.openxmlformats.org/officeDocument/2006/relationships/tags" Target="../tags/tag144.xml"/><Relationship Id="rId30" Type="http://schemas.openxmlformats.org/officeDocument/2006/relationships/tags" Target="../tags/tag147.xml"/><Relationship Id="rId35" Type="http://schemas.openxmlformats.org/officeDocument/2006/relationships/tags" Target="../tags/tag152.xml"/><Relationship Id="rId43" Type="http://schemas.openxmlformats.org/officeDocument/2006/relationships/image" Target="../media/image45.png"/><Relationship Id="rId8" Type="http://schemas.openxmlformats.org/officeDocument/2006/relationships/tags" Target="../tags/tag125.xml"/><Relationship Id="rId3" Type="http://schemas.openxmlformats.org/officeDocument/2006/relationships/tags" Target="../tags/tag120.xml"/><Relationship Id="rId12" Type="http://schemas.openxmlformats.org/officeDocument/2006/relationships/tags" Target="../tags/tag129.xml"/><Relationship Id="rId17" Type="http://schemas.openxmlformats.org/officeDocument/2006/relationships/tags" Target="../tags/tag134.xml"/><Relationship Id="rId25" Type="http://schemas.openxmlformats.org/officeDocument/2006/relationships/tags" Target="../tags/tag142.xml"/><Relationship Id="rId33" Type="http://schemas.openxmlformats.org/officeDocument/2006/relationships/tags" Target="../tags/tag150.xml"/><Relationship Id="rId38" Type="http://schemas.openxmlformats.org/officeDocument/2006/relationships/notesSlide" Target="../notesSlides/notesSlide12.xml"/><Relationship Id="rId20" Type="http://schemas.openxmlformats.org/officeDocument/2006/relationships/tags" Target="../tags/tag137.xml"/><Relationship Id="rId41"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tags" Target="../tags/tag156.xml"/><Relationship Id="rId7" Type="http://schemas.openxmlformats.org/officeDocument/2006/relationships/image" Target="../media/image48.png"/><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notesSlide" Target="../notesSlides/notesSlide13.xml"/><Relationship Id="rId5" Type="http://schemas.openxmlformats.org/officeDocument/2006/relationships/slideLayout" Target="../slideLayouts/slideLayout3.xml"/><Relationship Id="rId10" Type="http://schemas.openxmlformats.org/officeDocument/2006/relationships/image" Target="../media/image51.png"/><Relationship Id="rId4" Type="http://schemas.openxmlformats.org/officeDocument/2006/relationships/tags" Target="../tags/tag157.xml"/><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3.xml"/><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tags" Target="../tags/tag160.xml"/><Relationship Id="rId21" Type="http://schemas.openxmlformats.org/officeDocument/2006/relationships/image" Target="../media/image63.png"/><Relationship Id="rId7" Type="http://schemas.openxmlformats.org/officeDocument/2006/relationships/tags" Target="../tags/tag164.xml"/><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tags" Target="../tags/tag159.xml"/><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image" Target="../media/image53.png"/><Relationship Id="rId5" Type="http://schemas.openxmlformats.org/officeDocument/2006/relationships/tags" Target="../tags/tag162.xml"/><Relationship Id="rId15" Type="http://schemas.openxmlformats.org/officeDocument/2006/relationships/image" Target="../media/image57.png"/><Relationship Id="rId23" Type="http://schemas.openxmlformats.org/officeDocument/2006/relationships/image" Target="../media/image65.jpeg"/><Relationship Id="rId10" Type="http://schemas.openxmlformats.org/officeDocument/2006/relationships/image" Target="../media/image52.png"/><Relationship Id="rId19" Type="http://schemas.openxmlformats.org/officeDocument/2006/relationships/image" Target="../media/image61.png"/><Relationship Id="rId4" Type="http://schemas.openxmlformats.org/officeDocument/2006/relationships/tags" Target="../tags/tag161.xml"/><Relationship Id="rId9" Type="http://schemas.openxmlformats.org/officeDocument/2006/relationships/notesSlide" Target="../notesSlides/notesSlide15.xml"/><Relationship Id="rId14" Type="http://schemas.openxmlformats.org/officeDocument/2006/relationships/image" Target="../media/image56.png"/><Relationship Id="rId22" Type="http://schemas.openxmlformats.org/officeDocument/2006/relationships/image" Target="../media/image64.png"/></Relationships>
</file>

<file path=ppt/slides/_rels/slide16.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1.png"/><Relationship Id="rId3" Type="http://schemas.openxmlformats.org/officeDocument/2006/relationships/tags" Target="../tags/tag167.xml"/><Relationship Id="rId7" Type="http://schemas.openxmlformats.org/officeDocument/2006/relationships/image" Target="../media/image66.png"/><Relationship Id="rId12" Type="http://schemas.openxmlformats.org/officeDocument/2006/relationships/image" Target="../media/image70.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notesSlide" Target="../notesSlides/notesSlide16.xml"/><Relationship Id="rId11" Type="http://schemas.openxmlformats.org/officeDocument/2006/relationships/image" Target="../media/image69.png"/><Relationship Id="rId5" Type="http://schemas.openxmlformats.org/officeDocument/2006/relationships/slideLayout" Target="../slideLayouts/slideLayout3.xml"/><Relationship Id="rId15" Type="http://schemas.openxmlformats.org/officeDocument/2006/relationships/image" Target="../media/image72.png"/><Relationship Id="rId10" Type="http://schemas.openxmlformats.org/officeDocument/2006/relationships/image" Target="../media/image68.png"/><Relationship Id="rId4" Type="http://schemas.openxmlformats.org/officeDocument/2006/relationships/tags" Target="../tags/tag168.xml"/><Relationship Id="rId9" Type="http://schemas.openxmlformats.org/officeDocument/2006/relationships/image" Target="../media/image46.png"/><Relationship Id="rId1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8" Type="http://schemas.openxmlformats.org/officeDocument/2006/relationships/image" Target="../media/image89.jpeg"/><Relationship Id="rId3" Type="http://schemas.openxmlformats.org/officeDocument/2006/relationships/image" Target="../media/image84.jpeg"/><Relationship Id="rId7" Type="http://schemas.openxmlformats.org/officeDocument/2006/relationships/image" Target="../media/image88.jpe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87.jpeg"/><Relationship Id="rId5" Type="http://schemas.openxmlformats.org/officeDocument/2006/relationships/image" Target="../media/image86.jpeg"/><Relationship Id="rId4" Type="http://schemas.openxmlformats.org/officeDocument/2006/relationships/image" Target="../media/image85.jpeg"/></Relationships>
</file>

<file path=ppt/slides/_rels/slide2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flipH="1">
            <a:off x="0" y="2262505"/>
            <a:ext cx="9144000" cy="2901315"/>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sp>
        <p:nvSpPr>
          <p:cNvPr id="3" name="Rectangle 6"/>
          <p:cNvSpPr/>
          <p:nvPr/>
        </p:nvSpPr>
        <p:spPr>
          <a:xfrm>
            <a:off x="2514884" y="4340144"/>
            <a:ext cx="4182555" cy="523220"/>
          </a:xfrm>
          <a:prstGeom prst="rect">
            <a:avLst/>
          </a:prstGeom>
        </p:spPr>
        <p:txBody>
          <a:bodyPr wrap="non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新希望集团控股企业</a:t>
            </a:r>
            <a:r>
              <a:rPr lang="en-US" altLang="zh-CN" sz="14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a:t>
            </a:r>
            <a:r>
              <a:rPr lang="zh-CN" altLang="en-US" sz="14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浙江好络维医疗技术有限公司</a:t>
            </a:r>
            <a:endParaRPr lang="en-US" altLang="zh-CN" sz="1400" dirty="0">
              <a:solidFill>
                <a:schemeClr val="bg1"/>
              </a:solidFill>
              <a:latin typeface="Calibri" panose="020F0502020204030204" pitchFamily="34" charset="0"/>
              <a:ea typeface="微软雅黑" panose="020B0503020204020204" pitchFamily="34" charset="-122"/>
              <a:cs typeface="Calibri" panose="020F0502020204030204" pitchFamily="34" charset="0"/>
            </a:endParaRPr>
          </a:p>
          <a:p>
            <a:pPr algn="ctr"/>
            <a:endParaRPr lang="zh-CN" altLang="en-US" sz="14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4" name="TextBox 2"/>
          <p:cNvSpPr txBox="1"/>
          <p:nvPr/>
        </p:nvSpPr>
        <p:spPr>
          <a:xfrm>
            <a:off x="1503552" y="2835642"/>
            <a:ext cx="6205220" cy="646331"/>
          </a:xfrm>
          <a:prstGeom prst="rect">
            <a:avLst/>
          </a:prstGeom>
          <a:noFill/>
        </p:spPr>
        <p:txBody>
          <a:bodyPr wrap="square" rtlCol="0">
            <a:spAutoFit/>
          </a:bodyPr>
          <a:lstStyle/>
          <a:p>
            <a:pPr algn="ctr"/>
            <a:r>
              <a:rPr lang="zh-CN" altLang="en-US" sz="3600" b="1" kern="0" spc="90" dirty="0">
                <a:solidFill>
                  <a:schemeClr val="bg1"/>
                </a:solidFill>
                <a:latin typeface="微软雅黑" panose="020B0503020204020204" charset="-122"/>
                <a:ea typeface="微软雅黑" panose="020B0503020204020204" charset="-122"/>
                <a:cs typeface="微软雅黑" panose="020B0503020204020204" charset="-122"/>
              </a:rPr>
              <a:t>远程心电一张网解决方案</a:t>
            </a:r>
            <a:endParaRPr lang="en-US" altLang="zh-CN" sz="3400" b="1" dirty="0">
              <a:solidFill>
                <a:schemeClr val="bg1"/>
              </a:solidFill>
              <a:latin typeface="微软雅黑" panose="020B0503020204020204" pitchFamily="34" charset="-122"/>
              <a:ea typeface="微软雅黑" panose="020B0503020204020204" pitchFamily="34" charset="-122"/>
              <a:cs typeface="Open Sans" panose="020B0606030504020204" pitchFamily="34" charset="0"/>
            </a:endParaRPr>
          </a:p>
        </p:txBody>
      </p:sp>
      <p:pic>
        <p:nvPicPr>
          <p:cNvPr id="9" name="图片 8" descr="好络维logo横版"/>
          <p:cNvPicPr>
            <a:picLocks noChangeAspect="1"/>
          </p:cNvPicPr>
          <p:nvPr/>
        </p:nvPicPr>
        <p:blipFill>
          <a:blip r:embed="rId3"/>
          <a:stretch>
            <a:fillRect/>
          </a:stretch>
        </p:blipFill>
        <p:spPr>
          <a:xfrm>
            <a:off x="827405" y="1275715"/>
            <a:ext cx="3510280" cy="866775"/>
          </a:xfrm>
          <a:prstGeom prst="rect">
            <a:avLst/>
          </a:prstGeom>
        </p:spPr>
      </p:pic>
      <p:pic>
        <p:nvPicPr>
          <p:cNvPr id="101" name="图片 100"/>
          <p:cNvPicPr/>
          <p:nvPr/>
        </p:nvPicPr>
        <p:blipFill>
          <a:blip r:embed="rId4">
            <a:clrChange>
              <a:clrFrom>
                <a:srgbClr val="000103">
                  <a:alpha val="2745"/>
                </a:srgbClr>
              </a:clrFrom>
              <a:clrTo>
                <a:srgbClr val="000103">
                  <a:alpha val="2745"/>
                  <a:alpha val="0"/>
                </a:srgbClr>
              </a:clrTo>
            </a:clrChange>
            <a:lum bright="90000" contrast="-78000"/>
          </a:blip>
          <a:srcRect l="44357" t="17981"/>
          <a:stretch>
            <a:fillRect/>
          </a:stretch>
        </p:blipFill>
        <p:spPr>
          <a:xfrm rot="5400000">
            <a:off x="4470589" y="481171"/>
            <a:ext cx="3785235" cy="5580063"/>
          </a:xfrm>
          <a:prstGeom prst="rect">
            <a:avLst/>
          </a:prstGeom>
          <a:noFill/>
          <a:ln w="9525">
            <a:noFill/>
          </a:ln>
        </p:spPr>
      </p:pic>
      <p:pic>
        <p:nvPicPr>
          <p:cNvPr id="10" name="图片 9"/>
          <p:cNvPicPr/>
          <p:nvPr/>
        </p:nvPicPr>
        <p:blipFill>
          <a:blip r:embed="rId4">
            <a:clrChange>
              <a:clrFrom>
                <a:srgbClr val="000103">
                  <a:alpha val="2745"/>
                </a:srgbClr>
              </a:clrFrom>
              <a:clrTo>
                <a:srgbClr val="000103">
                  <a:alpha val="2745"/>
                  <a:alpha val="0"/>
                </a:srgbClr>
              </a:clrTo>
            </a:clrChange>
            <a:lum bright="66000" contrast="-78000"/>
          </a:blip>
          <a:srcRect l="23975" t="17173" r="42598"/>
          <a:stretch>
            <a:fillRect/>
          </a:stretch>
        </p:blipFill>
        <p:spPr>
          <a:xfrm rot="5400000">
            <a:off x="5209540" y="-1686877"/>
            <a:ext cx="2284095" cy="5658168"/>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36830" y="0"/>
            <a:ext cx="4895850" cy="5152390"/>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102" name="图片 101"/>
          <p:cNvPicPr/>
          <p:nvPr/>
        </p:nvPicPr>
        <p:blipFill>
          <a:blip r:embed="rId3">
            <a:alphaModFix amt="20000"/>
          </a:blip>
          <a:srcRect r="37055"/>
          <a:stretch>
            <a:fillRect/>
          </a:stretch>
        </p:blipFill>
        <p:spPr>
          <a:xfrm>
            <a:off x="-36195" y="0"/>
            <a:ext cx="4896485" cy="5143500"/>
          </a:xfrm>
          <a:prstGeom prst="rect">
            <a:avLst/>
          </a:prstGeom>
          <a:noFill/>
          <a:ln w="9525">
            <a:noFill/>
          </a:ln>
        </p:spPr>
      </p:pic>
      <p:sp>
        <p:nvSpPr>
          <p:cNvPr id="3" name="文本框 2"/>
          <p:cNvSpPr txBox="1"/>
          <p:nvPr/>
        </p:nvSpPr>
        <p:spPr>
          <a:xfrm>
            <a:off x="611505" y="699770"/>
            <a:ext cx="1868805" cy="768350"/>
          </a:xfrm>
          <a:prstGeom prst="rect">
            <a:avLst/>
          </a:prstGeom>
          <a:noFill/>
        </p:spPr>
        <p:txBody>
          <a:bodyPr wrap="square" rtlCol="0">
            <a:spAutoFit/>
          </a:bodyPr>
          <a:lstStyle/>
          <a:p>
            <a:r>
              <a:rPr lang="zh-CN" altLang="en-US" sz="4400" b="1">
                <a:solidFill>
                  <a:schemeClr val="bg1"/>
                </a:solidFill>
                <a:latin typeface="微软雅黑" panose="020B0503020204020204" pitchFamily="34" charset="-122"/>
                <a:ea typeface="微软雅黑" panose="020B0503020204020204" pitchFamily="34" charset="-122"/>
              </a:rPr>
              <a:t>目录</a:t>
            </a:r>
          </a:p>
        </p:txBody>
      </p:sp>
      <p:sp>
        <p:nvSpPr>
          <p:cNvPr id="6" name="文本框 5"/>
          <p:cNvSpPr txBox="1"/>
          <p:nvPr/>
        </p:nvSpPr>
        <p:spPr>
          <a:xfrm>
            <a:off x="664210" y="1491615"/>
            <a:ext cx="1868805" cy="398780"/>
          </a:xfrm>
          <a:prstGeom prst="rect">
            <a:avLst/>
          </a:prstGeom>
          <a:noFill/>
        </p:spPr>
        <p:txBody>
          <a:bodyPr wrap="square" rtlCol="0">
            <a:spAutoFit/>
          </a:bodyPr>
          <a:lstStyle/>
          <a:p>
            <a:r>
              <a:rPr lang="en-US" altLang="zh-CN" sz="2000" b="1">
                <a:solidFill>
                  <a:schemeClr val="bg1">
                    <a:alpha val="50000"/>
                  </a:schemeClr>
                </a:solidFill>
                <a:latin typeface="微软雅黑" panose="020B0503020204020204" pitchFamily="34" charset="-122"/>
                <a:ea typeface="微软雅黑" panose="020B0503020204020204" pitchFamily="34" charset="-122"/>
              </a:rPr>
              <a:t>CONTENTS</a:t>
            </a:r>
          </a:p>
        </p:txBody>
      </p:sp>
      <p:grpSp>
        <p:nvGrpSpPr>
          <p:cNvPr id="23" name="组合 22"/>
          <p:cNvGrpSpPr/>
          <p:nvPr/>
        </p:nvGrpSpPr>
        <p:grpSpPr>
          <a:xfrm>
            <a:off x="4491990" y="417994"/>
            <a:ext cx="3060065" cy="709930"/>
            <a:chOff x="4613" y="892"/>
            <a:chExt cx="4819" cy="1118"/>
          </a:xfrm>
        </p:grpSpPr>
        <p:sp>
          <p:nvSpPr>
            <p:cNvPr id="7" name="圆角矩形 6"/>
            <p:cNvSpPr/>
            <p:nvPr/>
          </p:nvSpPr>
          <p:spPr>
            <a:xfrm>
              <a:off x="4932" y="1017"/>
              <a:ext cx="4501" cy="869"/>
            </a:xfrm>
            <a:prstGeom prst="roundRect">
              <a:avLst>
                <a:gd name="adj" fmla="val 50000"/>
              </a:avLst>
            </a:prstGeom>
            <a:solidFill>
              <a:srgbClr val="2A86DC"/>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政策背景</a:t>
              </a:r>
            </a:p>
          </p:txBody>
        </p:sp>
        <p:sp>
          <p:nvSpPr>
            <p:cNvPr id="4" name="椭圆 3"/>
            <p:cNvSpPr/>
            <p:nvPr/>
          </p:nvSpPr>
          <p:spPr>
            <a:xfrm>
              <a:off x="4613" y="892"/>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1</a:t>
              </a:r>
            </a:p>
          </p:txBody>
        </p:sp>
      </p:grpSp>
      <p:grpSp>
        <p:nvGrpSpPr>
          <p:cNvPr id="22" name="组合 21"/>
          <p:cNvGrpSpPr/>
          <p:nvPr/>
        </p:nvGrpSpPr>
        <p:grpSpPr>
          <a:xfrm>
            <a:off x="4491990" y="1336040"/>
            <a:ext cx="3060700" cy="709930"/>
            <a:chOff x="4613" y="2763"/>
            <a:chExt cx="4820" cy="1118"/>
          </a:xfrm>
        </p:grpSpPr>
        <p:sp>
          <p:nvSpPr>
            <p:cNvPr id="8" name="圆角矩形 7"/>
            <p:cNvSpPr/>
            <p:nvPr/>
          </p:nvSpPr>
          <p:spPr>
            <a:xfrm>
              <a:off x="4932" y="2888"/>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需求分析</a:t>
              </a:r>
            </a:p>
          </p:txBody>
        </p:sp>
        <p:sp>
          <p:nvSpPr>
            <p:cNvPr id="9" name="椭圆 8"/>
            <p:cNvSpPr/>
            <p:nvPr/>
          </p:nvSpPr>
          <p:spPr>
            <a:xfrm>
              <a:off x="4613" y="2763"/>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2</a:t>
              </a:r>
            </a:p>
          </p:txBody>
        </p:sp>
      </p:grpSp>
      <p:grpSp>
        <p:nvGrpSpPr>
          <p:cNvPr id="20" name="组合 19"/>
          <p:cNvGrpSpPr/>
          <p:nvPr/>
        </p:nvGrpSpPr>
        <p:grpSpPr>
          <a:xfrm>
            <a:off x="4491990" y="2268456"/>
            <a:ext cx="3060065" cy="709930"/>
            <a:chOff x="4613" y="6448"/>
            <a:chExt cx="4819" cy="1118"/>
          </a:xfrm>
        </p:grpSpPr>
        <p:sp>
          <p:nvSpPr>
            <p:cNvPr id="17" name="圆角矩形 16"/>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方案概述</a:t>
              </a:r>
            </a:p>
          </p:txBody>
        </p:sp>
        <p:sp>
          <p:nvSpPr>
            <p:cNvPr id="19" name="椭圆 18"/>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3</a:t>
              </a:r>
            </a:p>
          </p:txBody>
        </p:sp>
      </p:grpSp>
      <p:grpSp>
        <p:nvGrpSpPr>
          <p:cNvPr id="5" name="组合 19">
            <a:extLst>
              <a:ext uri="{FF2B5EF4-FFF2-40B4-BE49-F238E27FC236}">
                <a16:creationId xmlns:a16="http://schemas.microsoft.com/office/drawing/2014/main" id="{7482AA88-2C9B-3238-B290-D1F6C86147F9}"/>
              </a:ext>
            </a:extLst>
          </p:cNvPr>
          <p:cNvGrpSpPr/>
          <p:nvPr/>
        </p:nvGrpSpPr>
        <p:grpSpPr>
          <a:xfrm>
            <a:off x="4491990" y="3216746"/>
            <a:ext cx="3060700" cy="709930"/>
            <a:chOff x="4613" y="6448"/>
            <a:chExt cx="4820" cy="1118"/>
          </a:xfrm>
        </p:grpSpPr>
        <p:sp>
          <p:nvSpPr>
            <p:cNvPr id="10" name="圆角矩形 16">
              <a:extLst>
                <a:ext uri="{FF2B5EF4-FFF2-40B4-BE49-F238E27FC236}">
                  <a16:creationId xmlns:a16="http://schemas.microsoft.com/office/drawing/2014/main" id="{D13A8AE4-9F89-5013-DC0F-095CE2C88AAA}"/>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应用场景</a:t>
              </a:r>
            </a:p>
          </p:txBody>
        </p:sp>
        <p:sp>
          <p:nvSpPr>
            <p:cNvPr id="11" name="椭圆 18">
              <a:extLst>
                <a:ext uri="{FF2B5EF4-FFF2-40B4-BE49-F238E27FC236}">
                  <a16:creationId xmlns:a16="http://schemas.microsoft.com/office/drawing/2014/main" id="{50172271-CD1E-9B3A-4FB1-9B7C77D28C86}"/>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4</a:t>
              </a:r>
            </a:p>
          </p:txBody>
        </p:sp>
      </p:grpSp>
      <p:grpSp>
        <p:nvGrpSpPr>
          <p:cNvPr id="13" name="组合 19">
            <a:extLst>
              <a:ext uri="{FF2B5EF4-FFF2-40B4-BE49-F238E27FC236}">
                <a16:creationId xmlns:a16="http://schemas.microsoft.com/office/drawing/2014/main" id="{BF137AD9-F53F-F7D3-08D3-789905B1A204}"/>
              </a:ext>
            </a:extLst>
          </p:cNvPr>
          <p:cNvGrpSpPr/>
          <p:nvPr/>
        </p:nvGrpSpPr>
        <p:grpSpPr>
          <a:xfrm>
            <a:off x="4491990" y="4154465"/>
            <a:ext cx="3060065" cy="709930"/>
            <a:chOff x="4613" y="6448"/>
            <a:chExt cx="4819" cy="1118"/>
          </a:xfrm>
        </p:grpSpPr>
        <p:sp>
          <p:nvSpPr>
            <p:cNvPr id="14" name="圆角矩形 16">
              <a:extLst>
                <a:ext uri="{FF2B5EF4-FFF2-40B4-BE49-F238E27FC236}">
                  <a16:creationId xmlns:a16="http://schemas.microsoft.com/office/drawing/2014/main" id="{1BE32C00-5698-B0DD-FF1B-422E48F3F065}"/>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应用案例</a:t>
              </a:r>
            </a:p>
          </p:txBody>
        </p:sp>
        <p:sp>
          <p:nvSpPr>
            <p:cNvPr id="15" name="椭圆 18">
              <a:extLst>
                <a:ext uri="{FF2B5EF4-FFF2-40B4-BE49-F238E27FC236}">
                  <a16:creationId xmlns:a16="http://schemas.microsoft.com/office/drawing/2014/main" id="{FAC327F1-29F6-8121-27DB-40903C5F4C35}"/>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5</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政策背景</a:t>
            </a:r>
          </a:p>
        </p:txBody>
      </p:sp>
      <p:sp>
        <p:nvSpPr>
          <p:cNvPr id="10" name="文本框 9">
            <a:extLst>
              <a:ext uri="{FF2B5EF4-FFF2-40B4-BE49-F238E27FC236}">
                <a16:creationId xmlns:a16="http://schemas.microsoft.com/office/drawing/2014/main" id="{0D4DD254-2AB4-D1B1-2F52-3CD3246D4ED4}"/>
              </a:ext>
            </a:extLst>
          </p:cNvPr>
          <p:cNvSpPr txBox="1"/>
          <p:nvPr/>
        </p:nvSpPr>
        <p:spPr>
          <a:xfrm>
            <a:off x="5035868" y="3212451"/>
            <a:ext cx="3613309" cy="1130618"/>
          </a:xfrm>
          <a:prstGeom prst="rect">
            <a:avLst/>
          </a:prstGeom>
          <a:noFill/>
        </p:spPr>
        <p:txBody>
          <a:bodyPr wrap="square" rtlCol="0">
            <a:no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十四届全国人大三次会议民生主题：</a:t>
            </a:r>
            <a:endParaRPr kumimoji="0" lang="en-US" altLang="zh-CN" sz="105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endParaRPr>
          </a:p>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mn-cs"/>
              </a:rPr>
              <a:t>国家卫健委统一部署，工信部、国资委等部委支持的医疗大数据国家队。</a:t>
            </a:r>
          </a:p>
        </p:txBody>
      </p:sp>
      <p:sp>
        <p:nvSpPr>
          <p:cNvPr id="14" name="矩形 13">
            <a:extLst>
              <a:ext uri="{FF2B5EF4-FFF2-40B4-BE49-F238E27FC236}">
                <a16:creationId xmlns:a16="http://schemas.microsoft.com/office/drawing/2014/main" id="{1E014901-50E8-8F9E-5DE7-5D9EC39C63B0}"/>
              </a:ext>
            </a:extLst>
          </p:cNvPr>
          <p:cNvSpPr/>
          <p:nvPr/>
        </p:nvSpPr>
        <p:spPr>
          <a:xfrm>
            <a:off x="5020628" y="1367935"/>
            <a:ext cx="3630454" cy="2664827"/>
          </a:xfrm>
          <a:prstGeom prst="rect">
            <a:avLst/>
          </a:prstGeom>
          <a:noFill/>
          <a:ln>
            <a:gradFill flip="none" rotWithShape="1">
              <a:gsLst>
                <a:gs pos="0">
                  <a:srgbClr val="0070C0"/>
                </a:gs>
                <a:gs pos="100000">
                  <a:schemeClr val="accent5">
                    <a:alpha val="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nvGrpSpPr>
          <p:cNvPr id="17" name="组合 16">
            <a:extLst>
              <a:ext uri="{FF2B5EF4-FFF2-40B4-BE49-F238E27FC236}">
                <a16:creationId xmlns:a16="http://schemas.microsoft.com/office/drawing/2014/main" id="{00F542D4-479C-A50C-C605-055B148926EE}"/>
              </a:ext>
            </a:extLst>
          </p:cNvPr>
          <p:cNvGrpSpPr/>
          <p:nvPr/>
        </p:nvGrpSpPr>
        <p:grpSpPr>
          <a:xfrm>
            <a:off x="5087448" y="4280362"/>
            <a:ext cx="3489507" cy="566109"/>
            <a:chOff x="5632109" y="5240818"/>
            <a:chExt cx="6203568" cy="1006416"/>
          </a:xfrm>
        </p:grpSpPr>
        <p:pic>
          <p:nvPicPr>
            <p:cNvPr id="18" name="图片 17">
              <a:extLst>
                <a:ext uri="{FF2B5EF4-FFF2-40B4-BE49-F238E27FC236}">
                  <a16:creationId xmlns:a16="http://schemas.microsoft.com/office/drawing/2014/main" id="{D2E92558-0582-D0D3-7F52-4EFAED37D347}"/>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5632109" y="5240818"/>
              <a:ext cx="1319002" cy="962466"/>
            </a:xfrm>
            <a:prstGeom prst="rect">
              <a:avLst/>
            </a:prstGeom>
          </p:spPr>
        </p:pic>
        <p:pic>
          <p:nvPicPr>
            <p:cNvPr id="19" name="图片 18">
              <a:extLst>
                <a:ext uri="{FF2B5EF4-FFF2-40B4-BE49-F238E27FC236}">
                  <a16:creationId xmlns:a16="http://schemas.microsoft.com/office/drawing/2014/main" id="{666A3A5A-DE69-4842-9AC9-1CB532F7ED25}"/>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7280201" y="5257951"/>
              <a:ext cx="1319002" cy="962466"/>
            </a:xfrm>
            <a:prstGeom prst="rect">
              <a:avLst/>
            </a:prstGeom>
          </p:spPr>
        </p:pic>
        <p:pic>
          <p:nvPicPr>
            <p:cNvPr id="20" name="图片 19">
              <a:extLst>
                <a:ext uri="{FF2B5EF4-FFF2-40B4-BE49-F238E27FC236}">
                  <a16:creationId xmlns:a16="http://schemas.microsoft.com/office/drawing/2014/main" id="{A1874B7B-42B6-67ED-9BE6-661B74620B85}"/>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8906343" y="5284768"/>
              <a:ext cx="1319002" cy="962466"/>
            </a:xfrm>
            <a:prstGeom prst="rect">
              <a:avLst/>
            </a:prstGeom>
          </p:spPr>
        </p:pic>
        <p:pic>
          <p:nvPicPr>
            <p:cNvPr id="21" name="图片 20">
              <a:extLst>
                <a:ext uri="{FF2B5EF4-FFF2-40B4-BE49-F238E27FC236}">
                  <a16:creationId xmlns:a16="http://schemas.microsoft.com/office/drawing/2014/main" id="{A601669C-F5DC-6479-75D9-5EF6E9C17E02}"/>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10516675" y="5284768"/>
              <a:ext cx="1319002" cy="962466"/>
            </a:xfrm>
            <a:prstGeom prst="rect">
              <a:avLst/>
            </a:prstGeom>
          </p:spPr>
        </p:pic>
        <p:sp>
          <p:nvSpPr>
            <p:cNvPr id="22" name="文本框 21">
              <a:extLst>
                <a:ext uri="{FF2B5EF4-FFF2-40B4-BE49-F238E27FC236}">
                  <a16:creationId xmlns:a16="http://schemas.microsoft.com/office/drawing/2014/main" id="{71193DD2-A33D-7736-E181-57176C25B176}"/>
                </a:ext>
              </a:extLst>
            </p:cNvPr>
            <p:cNvSpPr txBox="1"/>
            <p:nvPr/>
          </p:nvSpPr>
          <p:spPr>
            <a:xfrm>
              <a:off x="5769662" y="5623176"/>
              <a:ext cx="1086029" cy="40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医供体</a:t>
              </a:r>
            </a:p>
          </p:txBody>
        </p:sp>
        <p:sp>
          <p:nvSpPr>
            <p:cNvPr id="23" name="文本框 22">
              <a:extLst>
                <a:ext uri="{FF2B5EF4-FFF2-40B4-BE49-F238E27FC236}">
                  <a16:creationId xmlns:a16="http://schemas.microsoft.com/office/drawing/2014/main" id="{8A29A5C0-CE8E-70EB-3EFC-2920E39DC7B3}"/>
                </a:ext>
              </a:extLst>
            </p:cNvPr>
            <p:cNvSpPr txBox="1"/>
            <p:nvPr/>
          </p:nvSpPr>
          <p:spPr>
            <a:xfrm>
              <a:off x="6397986" y="5284563"/>
              <a:ext cx="458725" cy="40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家</a:t>
              </a:r>
            </a:p>
          </p:txBody>
        </p:sp>
        <p:sp>
          <p:nvSpPr>
            <p:cNvPr id="24" name="文本框 23">
              <a:extLst>
                <a:ext uri="{FF2B5EF4-FFF2-40B4-BE49-F238E27FC236}">
                  <a16:creationId xmlns:a16="http://schemas.microsoft.com/office/drawing/2014/main" id="{D14F5DAA-4615-35A8-CACF-DA0B0FDC601F}"/>
                </a:ext>
              </a:extLst>
            </p:cNvPr>
            <p:cNvSpPr txBox="1"/>
            <p:nvPr/>
          </p:nvSpPr>
          <p:spPr>
            <a:xfrm>
              <a:off x="7417754" y="5640309"/>
              <a:ext cx="1086029" cy="40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1200" cap="none" spc="0" normalizeH="0" baseline="0" noProof="0" dirty="0">
                  <a:ln>
                    <a:noFill/>
                  </a:ln>
                  <a:gradFill>
                    <a:gsLst>
                      <a:gs pos="0">
                        <a:srgbClr val="FC5800"/>
                      </a:gs>
                      <a:gs pos="100000">
                        <a:srgbClr val="C00000"/>
                      </a:gs>
                    </a:gsLst>
                    <a:lin ang="16200000" scaled="1"/>
                  </a:gradFill>
                  <a:effectLst/>
                  <a:uLnTx/>
                  <a:uFillTx/>
                  <a:latin typeface="微软雅黑" panose="020B0503020204020204" charset="-122"/>
                  <a:ea typeface="微软雅黑" panose="020B0503020204020204" charset="-122"/>
                  <a:cs typeface="Arial" panose="020B0604020202020204" pitchFamily="34" charset="0"/>
                </a:rPr>
                <a:t>就诊率</a:t>
              </a:r>
            </a:p>
          </p:txBody>
        </p:sp>
        <p:sp>
          <p:nvSpPr>
            <p:cNvPr id="25" name="文本框 24">
              <a:extLst>
                <a:ext uri="{FF2B5EF4-FFF2-40B4-BE49-F238E27FC236}">
                  <a16:creationId xmlns:a16="http://schemas.microsoft.com/office/drawing/2014/main" id="{1E8B5C1E-4F4E-8592-BF05-3353ED388D54}"/>
                </a:ext>
              </a:extLst>
            </p:cNvPr>
            <p:cNvSpPr txBox="1"/>
            <p:nvPr/>
          </p:nvSpPr>
          <p:spPr>
            <a:xfrm>
              <a:off x="8966826" y="5667126"/>
              <a:ext cx="1212899" cy="40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覆盖县</a:t>
              </a:r>
            </a:p>
          </p:txBody>
        </p:sp>
        <p:sp>
          <p:nvSpPr>
            <p:cNvPr id="26" name="文本框 25">
              <a:extLst>
                <a:ext uri="{FF2B5EF4-FFF2-40B4-BE49-F238E27FC236}">
                  <a16:creationId xmlns:a16="http://schemas.microsoft.com/office/drawing/2014/main" id="{F956E0D2-1262-E804-1FBA-95FDE805301C}"/>
                </a:ext>
              </a:extLst>
            </p:cNvPr>
            <p:cNvSpPr txBox="1"/>
            <p:nvPr/>
          </p:nvSpPr>
          <p:spPr>
            <a:xfrm>
              <a:off x="9571751" y="5328513"/>
              <a:ext cx="458725" cy="40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个</a:t>
              </a:r>
            </a:p>
          </p:txBody>
        </p:sp>
        <p:sp>
          <p:nvSpPr>
            <p:cNvPr id="27" name="文本框 26">
              <a:extLst>
                <a:ext uri="{FF2B5EF4-FFF2-40B4-BE49-F238E27FC236}">
                  <a16:creationId xmlns:a16="http://schemas.microsoft.com/office/drawing/2014/main" id="{3EE1D0FA-99D5-25ED-67DA-30910BA584D5}"/>
                </a:ext>
              </a:extLst>
            </p:cNvPr>
            <p:cNvSpPr txBox="1"/>
            <p:nvPr/>
          </p:nvSpPr>
          <p:spPr>
            <a:xfrm>
              <a:off x="10546160" y="5667538"/>
              <a:ext cx="1260969" cy="40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2027</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计划</a:t>
              </a:r>
            </a:p>
          </p:txBody>
        </p:sp>
        <p:sp>
          <p:nvSpPr>
            <p:cNvPr id="28" name="文本框 27">
              <a:extLst>
                <a:ext uri="{FF2B5EF4-FFF2-40B4-BE49-F238E27FC236}">
                  <a16:creationId xmlns:a16="http://schemas.microsoft.com/office/drawing/2014/main" id="{6FADFF9A-C6CA-D7B5-5659-7171169A6461}"/>
                </a:ext>
              </a:extLst>
            </p:cNvPr>
            <p:cNvSpPr txBox="1"/>
            <p:nvPr/>
          </p:nvSpPr>
          <p:spPr>
            <a:xfrm>
              <a:off x="10677114" y="5274683"/>
              <a:ext cx="991164" cy="48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0" fontAlgn="base" hangingPunct="0">
                <a:spcBef>
                  <a:spcPct val="0"/>
                </a:spcBef>
                <a:spcAft>
                  <a:spcPct val="0"/>
                </a:spcAft>
                <a:defRPr sz="1400" b="1" kern="0">
                  <a:gradFill flip="none" rotWithShape="1">
                    <a:gsLst>
                      <a:gs pos="0">
                        <a:schemeClr val="tx2"/>
                      </a:gs>
                      <a:gs pos="100000">
                        <a:schemeClr val="accent5"/>
                      </a:gs>
                    </a:gsLst>
                    <a:lin ang="5400000" scaled="1"/>
                    <a:tileRect/>
                  </a:gradFill>
                  <a:latin typeface="Impact" panose="020B080603090205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gradFill>
                    <a:gsLst>
                      <a:gs pos="0">
                        <a:srgbClr val="FC5800"/>
                      </a:gs>
                      <a:gs pos="100000">
                        <a:srgbClr val="C00000"/>
                      </a:gs>
                    </a:gsLst>
                    <a:lin ang="16200000" scaled="1"/>
                  </a:gradFill>
                  <a:effectLst/>
                  <a:uLnTx/>
                  <a:uFillTx/>
                  <a:latin typeface="Impact" panose="020B0806030902050204" pitchFamily="34" charset="0"/>
                  <a:ea typeface="微软雅黑" panose="020B0503020204020204" charset="-122"/>
                  <a:cs typeface="+mn-cs"/>
                </a:rPr>
                <a:t>90%</a:t>
              </a:r>
            </a:p>
          </p:txBody>
        </p:sp>
      </p:grpSp>
      <p:cxnSp>
        <p:nvCxnSpPr>
          <p:cNvPr id="29" name="直接连接符 28">
            <a:extLst>
              <a:ext uri="{FF2B5EF4-FFF2-40B4-BE49-F238E27FC236}">
                <a16:creationId xmlns:a16="http://schemas.microsoft.com/office/drawing/2014/main" id="{0721DEE9-4724-E59D-169F-CF4232D62907}"/>
              </a:ext>
            </a:extLst>
          </p:cNvPr>
          <p:cNvCxnSpPr/>
          <p:nvPr>
            <p:custDataLst>
              <p:tags r:id="rId1"/>
            </p:custDataLst>
          </p:nvPr>
        </p:nvCxnSpPr>
        <p:spPr>
          <a:xfrm>
            <a:off x="435293" y="1176122"/>
            <a:ext cx="0" cy="3690938"/>
          </a:xfrm>
          <a:prstGeom prst="line">
            <a:avLst/>
          </a:prstGeom>
          <a:ln>
            <a:gradFill flip="none" rotWithShape="1">
              <a:gsLst>
                <a:gs pos="0">
                  <a:schemeClr val="tx2"/>
                </a:gs>
                <a:gs pos="100000">
                  <a:schemeClr val="accent5"/>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5B9BC024-8A07-36B6-E88B-72A660ED3BEB}"/>
              </a:ext>
            </a:extLst>
          </p:cNvPr>
          <p:cNvGrpSpPr/>
          <p:nvPr>
            <p:custDataLst>
              <p:tags r:id="rId2"/>
            </p:custDataLst>
          </p:nvPr>
        </p:nvGrpSpPr>
        <p:grpSpPr>
          <a:xfrm>
            <a:off x="409575" y="1116136"/>
            <a:ext cx="1162050" cy="235659"/>
            <a:chOff x="5061726" y="1547846"/>
            <a:chExt cx="1746795" cy="328296"/>
          </a:xfrm>
        </p:grpSpPr>
        <p:sp>
          <p:nvSpPr>
            <p:cNvPr id="32" name="椭圆 31">
              <a:extLst>
                <a:ext uri="{FF2B5EF4-FFF2-40B4-BE49-F238E27FC236}">
                  <a16:creationId xmlns:a16="http://schemas.microsoft.com/office/drawing/2014/main" id="{DCC01201-9DA0-20F6-1039-3975B0FB56E9}"/>
                </a:ext>
              </a:extLst>
            </p:cNvPr>
            <p:cNvSpPr/>
            <p:nvPr>
              <p:custDataLst>
                <p:tags r:id="rId34"/>
              </p:custDataLst>
            </p:nvPr>
          </p:nvSpPr>
          <p:spPr>
            <a:xfrm>
              <a:off x="5061726" y="1638921"/>
              <a:ext cx="112324" cy="112324"/>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nvGrpSpPr>
            <p:cNvPr id="33" name="组合 32">
              <a:extLst>
                <a:ext uri="{FF2B5EF4-FFF2-40B4-BE49-F238E27FC236}">
                  <a16:creationId xmlns:a16="http://schemas.microsoft.com/office/drawing/2014/main" id="{3D6E92F3-56BA-3065-165C-A3251D904D56}"/>
                </a:ext>
              </a:extLst>
            </p:cNvPr>
            <p:cNvGrpSpPr/>
            <p:nvPr/>
          </p:nvGrpSpPr>
          <p:grpSpPr>
            <a:xfrm>
              <a:off x="5206521" y="1547846"/>
              <a:ext cx="1602000" cy="328296"/>
              <a:chOff x="5206521" y="1547846"/>
              <a:chExt cx="1602000" cy="328296"/>
            </a:xfrm>
          </p:grpSpPr>
          <p:sp>
            <p:nvSpPr>
              <p:cNvPr id="34" name="圆角矩形 74">
                <a:extLst>
                  <a:ext uri="{FF2B5EF4-FFF2-40B4-BE49-F238E27FC236}">
                    <a16:creationId xmlns:a16="http://schemas.microsoft.com/office/drawing/2014/main" id="{3F462E58-A2D4-6B23-B1B3-328A1ED5086C}"/>
                  </a:ext>
                </a:extLst>
              </p:cNvPr>
              <p:cNvSpPr/>
              <p:nvPr>
                <p:custDataLst>
                  <p:tags r:id="rId35"/>
                </p:custDataLst>
              </p:nvPr>
            </p:nvSpPr>
            <p:spPr>
              <a:xfrm>
                <a:off x="5237249" y="1552508"/>
                <a:ext cx="1540543" cy="287999"/>
              </a:xfrm>
              <a:prstGeom prst="roundRect">
                <a:avLst>
                  <a:gd name="adj" fmla="val 50000"/>
                </a:avLst>
              </a:prstGeom>
              <a:gradFill>
                <a:gsLst>
                  <a:gs pos="0">
                    <a:srgbClr val="0070C0">
                      <a:alpha val="32000"/>
                    </a:srgbClr>
                  </a:gs>
                  <a:gs pos="100000">
                    <a:srgbClr val="00B0F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35" name="圆角矩形 75">
                <a:extLst>
                  <a:ext uri="{FF2B5EF4-FFF2-40B4-BE49-F238E27FC236}">
                    <a16:creationId xmlns:a16="http://schemas.microsoft.com/office/drawing/2014/main" id="{6B63B8FD-2329-C9D8-2D0B-1A9FC8035D3E}"/>
                  </a:ext>
                </a:extLst>
              </p:cNvPr>
              <p:cNvSpPr/>
              <p:nvPr>
                <p:custDataLst>
                  <p:tags r:id="rId36"/>
                </p:custDataLst>
              </p:nvPr>
            </p:nvSpPr>
            <p:spPr>
              <a:xfrm>
                <a:off x="5206521" y="1547846"/>
                <a:ext cx="1602000" cy="288048"/>
              </a:xfrm>
              <a:prstGeom prst="roundRect">
                <a:avLst>
                  <a:gd name="adj" fmla="val 50000"/>
                </a:avLst>
              </a:prstGeom>
              <a:noFill/>
              <a:ln w="6350">
                <a:gradFill flip="none" rotWithShape="1">
                  <a:gsLst>
                    <a:gs pos="0">
                      <a:srgbClr val="00B0F0"/>
                    </a:gs>
                    <a:gs pos="62000">
                      <a:srgbClr val="00B0F0">
                        <a:alpha val="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36" name="矩形 35">
                <a:extLst>
                  <a:ext uri="{FF2B5EF4-FFF2-40B4-BE49-F238E27FC236}">
                    <a16:creationId xmlns:a16="http://schemas.microsoft.com/office/drawing/2014/main" id="{0ADD70DA-EFC5-6E00-543D-90E98E2FC1CA}"/>
                  </a:ext>
                </a:extLst>
              </p:cNvPr>
              <p:cNvSpPr/>
              <p:nvPr>
                <p:custDataLst>
                  <p:tags r:id="rId37"/>
                </p:custDataLst>
              </p:nvPr>
            </p:nvSpPr>
            <p:spPr>
              <a:xfrm>
                <a:off x="5211694" y="1555911"/>
                <a:ext cx="1580882" cy="320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2017</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年</a:t>
                </a: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10</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月</a:t>
                </a:r>
              </a:p>
            </p:txBody>
          </p:sp>
        </p:grpSp>
      </p:grpSp>
      <p:sp>
        <p:nvSpPr>
          <p:cNvPr id="37" name="矩形 36">
            <a:extLst>
              <a:ext uri="{FF2B5EF4-FFF2-40B4-BE49-F238E27FC236}">
                <a16:creationId xmlns:a16="http://schemas.microsoft.com/office/drawing/2014/main" id="{EF060A59-7918-E0B5-2F7F-015DD3979DFC}"/>
              </a:ext>
            </a:extLst>
          </p:cNvPr>
          <p:cNvSpPr/>
          <p:nvPr>
            <p:custDataLst>
              <p:tags r:id="rId3"/>
            </p:custDataLst>
          </p:nvPr>
        </p:nvSpPr>
        <p:spPr>
          <a:xfrm>
            <a:off x="500063" y="1298474"/>
            <a:ext cx="4271963" cy="42227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rPr>
              <a:t>中共中央、国务院印发</a:t>
            </a:r>
            <a:r>
              <a:rPr kumimoji="0" lang="en-US" altLang="zh-CN"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关于推进医疗联合体建设和发展的指导意见</a:t>
            </a:r>
            <a:r>
              <a:rPr kumimoji="0" lang="en-US" altLang="zh-CN"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825"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rPr>
              <a:t>首次明确要求组建县域医疗共同体，推动县乡村三级医疗机构一体化管理，提升县域医疗服务能力 </a:t>
            </a:r>
          </a:p>
        </p:txBody>
      </p:sp>
      <p:sp>
        <p:nvSpPr>
          <p:cNvPr id="38" name="矩形 37">
            <a:extLst>
              <a:ext uri="{FF2B5EF4-FFF2-40B4-BE49-F238E27FC236}">
                <a16:creationId xmlns:a16="http://schemas.microsoft.com/office/drawing/2014/main" id="{62C2B532-CDB1-FFA0-F06E-A78F765EC77A}"/>
              </a:ext>
            </a:extLst>
          </p:cNvPr>
          <p:cNvSpPr/>
          <p:nvPr>
            <p:custDataLst>
              <p:tags r:id="rId4"/>
            </p:custDataLst>
          </p:nvPr>
        </p:nvSpPr>
        <p:spPr>
          <a:xfrm>
            <a:off x="489585" y="1915964"/>
            <a:ext cx="4282440" cy="42227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lang="zh-CN" altLang="en-US" sz="825"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sym typeface="+mn-ea"/>
              </a:rPr>
              <a:t>国家卫健委印发</a:t>
            </a:r>
            <a:r>
              <a:rPr lang="en-US" altLang="zh-CN"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关于推进紧密型县域医疗卫生共同体建设的通知</a:t>
            </a:r>
            <a:r>
              <a:rPr lang="en-US" altLang="zh-CN"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825" noProof="0" dirty="0">
                <a:ln>
                  <a:noFill/>
                </a:ln>
                <a:solidFill>
                  <a:srgbClr val="313131"/>
                </a:solidFill>
                <a:effectLst/>
                <a:uLnTx/>
                <a:uFillTx/>
                <a:latin typeface="微软雅黑" panose="020B0503020204020204" charset="-122"/>
                <a:ea typeface="微软雅黑" panose="020B0503020204020204" charset="-122"/>
                <a:sym typeface="+mn-ea"/>
              </a:rPr>
              <a:t>正式启动紧密型医共体建设试点，覆盖全国</a:t>
            </a:r>
            <a:r>
              <a:rPr lang="en-US" altLang="zh-CN" sz="825" noProof="0" dirty="0">
                <a:ln>
                  <a:noFill/>
                </a:ln>
                <a:solidFill>
                  <a:srgbClr val="313131"/>
                </a:solidFill>
                <a:effectLst/>
                <a:uLnTx/>
                <a:uFillTx/>
                <a:latin typeface="微软雅黑" panose="020B0503020204020204" charset="-122"/>
                <a:ea typeface="微软雅黑" panose="020B0503020204020204" charset="-122"/>
                <a:sym typeface="+mn-ea"/>
              </a:rPr>
              <a:t> 567</a:t>
            </a:r>
            <a:r>
              <a:rPr lang="zh-CN" altLang="en-US" sz="825" noProof="0" dirty="0">
                <a:ln>
                  <a:noFill/>
                </a:ln>
                <a:solidFill>
                  <a:srgbClr val="313131"/>
                </a:solidFill>
                <a:effectLst/>
                <a:uLnTx/>
                <a:uFillTx/>
                <a:latin typeface="微软雅黑" panose="020B0503020204020204" charset="-122"/>
                <a:ea typeface="微软雅黑" panose="020B0503020204020204" charset="-122"/>
                <a:sym typeface="+mn-ea"/>
              </a:rPr>
              <a:t>个县，明确强县城，强基建目标。</a:t>
            </a:r>
            <a:endPar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sym typeface="+mn-ea"/>
            </a:endParaRPr>
          </a:p>
        </p:txBody>
      </p:sp>
      <p:sp>
        <p:nvSpPr>
          <p:cNvPr id="39" name="矩形 38">
            <a:extLst>
              <a:ext uri="{FF2B5EF4-FFF2-40B4-BE49-F238E27FC236}">
                <a16:creationId xmlns:a16="http://schemas.microsoft.com/office/drawing/2014/main" id="{B327C32F-A8FB-FDB8-742E-DC500712E802}"/>
              </a:ext>
            </a:extLst>
          </p:cNvPr>
          <p:cNvSpPr/>
          <p:nvPr>
            <p:custDataLst>
              <p:tags r:id="rId5"/>
            </p:custDataLst>
          </p:nvPr>
        </p:nvSpPr>
        <p:spPr>
          <a:xfrm>
            <a:off x="485299" y="3121829"/>
            <a:ext cx="4348163" cy="58737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lang="zh-CN" altLang="en-US" sz="825" noProof="0" dirty="0">
                <a:ln>
                  <a:noFill/>
                </a:ln>
                <a:solidFill>
                  <a:srgbClr val="313131"/>
                </a:solidFill>
                <a:effectLst/>
                <a:uLnTx/>
                <a:uFillTx/>
                <a:latin typeface="微软雅黑" panose="020B0503020204020204" charset="-122"/>
                <a:ea typeface="微软雅黑" panose="020B0503020204020204" charset="-122"/>
                <a:sym typeface="+mn-ea"/>
              </a:rPr>
              <a:t>国家十四五计划：</a:t>
            </a:r>
            <a:r>
              <a:rPr lang="en-US" altLang="zh-CN"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《“十四五”全民医疗保障规划》</a:t>
            </a:r>
            <a:r>
              <a:rPr lang="zh-CN" altLang="en-US" sz="825" noProof="0" dirty="0">
                <a:ln>
                  <a:noFill/>
                </a:ln>
                <a:solidFill>
                  <a:srgbClr val="313131"/>
                </a:solidFill>
                <a:effectLst/>
                <a:uLnTx/>
                <a:uFillTx/>
                <a:latin typeface="微软雅黑" panose="020B0503020204020204" charset="-122"/>
                <a:ea typeface="微软雅黑" panose="020B0503020204020204" charset="-122"/>
                <a:sym typeface="+mn-ea"/>
              </a:rPr>
              <a:t>强调深化医保支付方式改革，支持紧密型医共体进行医保基金打包支付，印发</a:t>
            </a:r>
            <a:r>
              <a:rPr lang="en-US" altLang="zh-CN"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县域慢性病一体化管理试点方案的通知</a:t>
            </a:r>
            <a:r>
              <a:rPr lang="en-US" altLang="zh-CN"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825" b="1"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825" noProof="0" dirty="0">
                <a:ln>
                  <a:noFill/>
                </a:ln>
                <a:solidFill>
                  <a:srgbClr val="313131"/>
                </a:solidFill>
                <a:effectLst/>
                <a:uLnTx/>
                <a:uFillTx/>
                <a:latin typeface="微软雅黑" panose="020B0503020204020204" charset="-122"/>
                <a:ea typeface="微软雅黑" panose="020B0503020204020204" charset="-122"/>
                <a:sym typeface="+mn-ea"/>
              </a:rPr>
              <a:t>努力推动慢病的防治结合，提升全民健康管理水平</a:t>
            </a:r>
            <a:endParaRPr kumimoji="0" lang="zh-CN" altLang="en-US" sz="825"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sym typeface="+mn-ea"/>
            </a:endParaRPr>
          </a:p>
        </p:txBody>
      </p:sp>
      <p:grpSp>
        <p:nvGrpSpPr>
          <p:cNvPr id="40" name="组合 39">
            <a:extLst>
              <a:ext uri="{FF2B5EF4-FFF2-40B4-BE49-F238E27FC236}">
                <a16:creationId xmlns:a16="http://schemas.microsoft.com/office/drawing/2014/main" id="{66186F9C-AAEC-FC19-F971-3273A49DA6C3}"/>
              </a:ext>
            </a:extLst>
          </p:cNvPr>
          <p:cNvGrpSpPr/>
          <p:nvPr>
            <p:custDataLst>
              <p:tags r:id="rId6"/>
            </p:custDataLst>
          </p:nvPr>
        </p:nvGrpSpPr>
        <p:grpSpPr>
          <a:xfrm>
            <a:off x="412909" y="1700538"/>
            <a:ext cx="1155092" cy="253683"/>
            <a:chOff x="5061726" y="1522536"/>
            <a:chExt cx="2053639" cy="353155"/>
          </a:xfrm>
        </p:grpSpPr>
        <p:sp>
          <p:nvSpPr>
            <p:cNvPr id="41" name="椭圆 40">
              <a:extLst>
                <a:ext uri="{FF2B5EF4-FFF2-40B4-BE49-F238E27FC236}">
                  <a16:creationId xmlns:a16="http://schemas.microsoft.com/office/drawing/2014/main" id="{104A75B5-B590-1625-E957-1E4E3E67372A}"/>
                </a:ext>
              </a:extLst>
            </p:cNvPr>
            <p:cNvSpPr/>
            <p:nvPr>
              <p:custDataLst>
                <p:tags r:id="rId30"/>
              </p:custDataLst>
            </p:nvPr>
          </p:nvSpPr>
          <p:spPr>
            <a:xfrm>
              <a:off x="5061726" y="1638894"/>
              <a:ext cx="112324" cy="112324"/>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nvGrpSpPr>
            <p:cNvPr id="42" name="组合 41">
              <a:extLst>
                <a:ext uri="{FF2B5EF4-FFF2-40B4-BE49-F238E27FC236}">
                  <a16:creationId xmlns:a16="http://schemas.microsoft.com/office/drawing/2014/main" id="{7F60C25C-E1EF-7D8D-8F5D-725C871066C8}"/>
                </a:ext>
              </a:extLst>
            </p:cNvPr>
            <p:cNvGrpSpPr/>
            <p:nvPr/>
          </p:nvGrpSpPr>
          <p:grpSpPr>
            <a:xfrm>
              <a:off x="5206521" y="1522536"/>
              <a:ext cx="1908844" cy="353155"/>
              <a:chOff x="5206521" y="1522536"/>
              <a:chExt cx="1908844" cy="353155"/>
            </a:xfrm>
          </p:grpSpPr>
          <p:sp>
            <p:nvSpPr>
              <p:cNvPr id="43" name="圆角矩形 154">
                <a:extLst>
                  <a:ext uri="{FF2B5EF4-FFF2-40B4-BE49-F238E27FC236}">
                    <a16:creationId xmlns:a16="http://schemas.microsoft.com/office/drawing/2014/main" id="{808931DD-5FB0-4771-C39A-5DE076635DA5}"/>
                  </a:ext>
                </a:extLst>
              </p:cNvPr>
              <p:cNvSpPr/>
              <p:nvPr>
                <p:custDataLst>
                  <p:tags r:id="rId31"/>
                </p:custDataLst>
              </p:nvPr>
            </p:nvSpPr>
            <p:spPr>
              <a:xfrm>
                <a:off x="5237003" y="1522536"/>
                <a:ext cx="1865337" cy="287740"/>
              </a:xfrm>
              <a:prstGeom prst="roundRect">
                <a:avLst>
                  <a:gd name="adj" fmla="val 50000"/>
                </a:avLst>
              </a:prstGeom>
              <a:gradFill>
                <a:gsLst>
                  <a:gs pos="0">
                    <a:srgbClr val="0070C0">
                      <a:alpha val="32000"/>
                    </a:srgbClr>
                  </a:gs>
                  <a:gs pos="100000">
                    <a:srgbClr val="00B0F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44" name="圆角矩形 155">
                <a:extLst>
                  <a:ext uri="{FF2B5EF4-FFF2-40B4-BE49-F238E27FC236}">
                    <a16:creationId xmlns:a16="http://schemas.microsoft.com/office/drawing/2014/main" id="{A892B7D8-1E44-8F60-94E2-4EEA0D0E3C60}"/>
                  </a:ext>
                </a:extLst>
              </p:cNvPr>
              <p:cNvSpPr/>
              <p:nvPr>
                <p:custDataLst>
                  <p:tags r:id="rId32"/>
                </p:custDataLst>
              </p:nvPr>
            </p:nvSpPr>
            <p:spPr>
              <a:xfrm>
                <a:off x="5206521" y="1540352"/>
                <a:ext cx="1908844" cy="288049"/>
              </a:xfrm>
              <a:prstGeom prst="roundRect">
                <a:avLst>
                  <a:gd name="adj" fmla="val 50000"/>
                </a:avLst>
              </a:prstGeom>
              <a:noFill/>
              <a:ln w="6350">
                <a:gradFill flip="none" rotWithShape="1">
                  <a:gsLst>
                    <a:gs pos="0">
                      <a:srgbClr val="00B0F0"/>
                    </a:gs>
                    <a:gs pos="62000">
                      <a:srgbClr val="00B0F0">
                        <a:alpha val="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45" name="矩形 44">
                <a:extLst>
                  <a:ext uri="{FF2B5EF4-FFF2-40B4-BE49-F238E27FC236}">
                    <a16:creationId xmlns:a16="http://schemas.microsoft.com/office/drawing/2014/main" id="{93B95AE5-FC4E-BD91-8C8E-FA3483136672}"/>
                  </a:ext>
                </a:extLst>
              </p:cNvPr>
              <p:cNvSpPr/>
              <p:nvPr>
                <p:custDataLst>
                  <p:tags r:id="rId33"/>
                </p:custDataLst>
              </p:nvPr>
            </p:nvSpPr>
            <p:spPr>
              <a:xfrm>
                <a:off x="5211601" y="1555686"/>
                <a:ext cx="1890738" cy="32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2019</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年</a:t>
                </a: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10</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月</a:t>
                </a:r>
              </a:p>
            </p:txBody>
          </p:sp>
        </p:grpSp>
      </p:grpSp>
      <p:grpSp>
        <p:nvGrpSpPr>
          <p:cNvPr id="46" name="组合 45">
            <a:extLst>
              <a:ext uri="{FF2B5EF4-FFF2-40B4-BE49-F238E27FC236}">
                <a16:creationId xmlns:a16="http://schemas.microsoft.com/office/drawing/2014/main" id="{C9B71FB6-B634-A0F4-0F0E-AB59CC369FCE}"/>
              </a:ext>
            </a:extLst>
          </p:cNvPr>
          <p:cNvGrpSpPr/>
          <p:nvPr>
            <p:custDataLst>
              <p:tags r:id="rId7"/>
            </p:custDataLst>
          </p:nvPr>
        </p:nvGrpSpPr>
        <p:grpSpPr>
          <a:xfrm>
            <a:off x="408146" y="2919899"/>
            <a:ext cx="1180624" cy="247164"/>
            <a:chOff x="5061726" y="1522536"/>
            <a:chExt cx="1746795" cy="344330"/>
          </a:xfrm>
        </p:grpSpPr>
        <p:sp>
          <p:nvSpPr>
            <p:cNvPr id="47" name="椭圆 46">
              <a:extLst>
                <a:ext uri="{FF2B5EF4-FFF2-40B4-BE49-F238E27FC236}">
                  <a16:creationId xmlns:a16="http://schemas.microsoft.com/office/drawing/2014/main" id="{1CD5DD04-AA3A-3DA5-E17C-11CB2AD84E31}"/>
                </a:ext>
              </a:extLst>
            </p:cNvPr>
            <p:cNvSpPr/>
            <p:nvPr>
              <p:custDataLst>
                <p:tags r:id="rId26"/>
              </p:custDataLst>
            </p:nvPr>
          </p:nvSpPr>
          <p:spPr>
            <a:xfrm>
              <a:off x="5061726" y="1638922"/>
              <a:ext cx="112325" cy="112323"/>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nvGrpSpPr>
            <p:cNvPr id="48" name="组合 47">
              <a:extLst>
                <a:ext uri="{FF2B5EF4-FFF2-40B4-BE49-F238E27FC236}">
                  <a16:creationId xmlns:a16="http://schemas.microsoft.com/office/drawing/2014/main" id="{703C2644-50F4-3294-517B-A98B1C135BA2}"/>
                </a:ext>
              </a:extLst>
            </p:cNvPr>
            <p:cNvGrpSpPr/>
            <p:nvPr/>
          </p:nvGrpSpPr>
          <p:grpSpPr>
            <a:xfrm>
              <a:off x="5206521" y="1522536"/>
              <a:ext cx="1602000" cy="344330"/>
              <a:chOff x="5206521" y="1522536"/>
              <a:chExt cx="1602000" cy="344330"/>
            </a:xfrm>
          </p:grpSpPr>
          <p:sp>
            <p:nvSpPr>
              <p:cNvPr id="49" name="圆角矩形 160">
                <a:extLst>
                  <a:ext uri="{FF2B5EF4-FFF2-40B4-BE49-F238E27FC236}">
                    <a16:creationId xmlns:a16="http://schemas.microsoft.com/office/drawing/2014/main" id="{F12ACA11-9CC5-24D1-2B3C-727F6EB2B718}"/>
                  </a:ext>
                </a:extLst>
              </p:cNvPr>
              <p:cNvSpPr/>
              <p:nvPr>
                <p:custDataLst>
                  <p:tags r:id="rId27"/>
                </p:custDataLst>
              </p:nvPr>
            </p:nvSpPr>
            <p:spPr>
              <a:xfrm>
                <a:off x="5237250" y="1522536"/>
                <a:ext cx="1540543" cy="288000"/>
              </a:xfrm>
              <a:prstGeom prst="roundRect">
                <a:avLst>
                  <a:gd name="adj" fmla="val 50000"/>
                </a:avLst>
              </a:prstGeom>
              <a:gradFill>
                <a:gsLst>
                  <a:gs pos="0">
                    <a:srgbClr val="0070C0">
                      <a:alpha val="32000"/>
                    </a:srgbClr>
                  </a:gs>
                  <a:gs pos="100000">
                    <a:srgbClr val="00B0F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50" name="圆角矩形 161">
                <a:extLst>
                  <a:ext uri="{FF2B5EF4-FFF2-40B4-BE49-F238E27FC236}">
                    <a16:creationId xmlns:a16="http://schemas.microsoft.com/office/drawing/2014/main" id="{C4249BC3-C82C-6E77-E830-CB79FDE8A343}"/>
                  </a:ext>
                </a:extLst>
              </p:cNvPr>
              <p:cNvSpPr/>
              <p:nvPr>
                <p:custDataLst>
                  <p:tags r:id="rId28"/>
                </p:custDataLst>
              </p:nvPr>
            </p:nvSpPr>
            <p:spPr>
              <a:xfrm>
                <a:off x="5206521" y="1540352"/>
                <a:ext cx="1602000" cy="288049"/>
              </a:xfrm>
              <a:prstGeom prst="roundRect">
                <a:avLst>
                  <a:gd name="adj" fmla="val 50000"/>
                </a:avLst>
              </a:prstGeom>
              <a:noFill/>
              <a:ln w="6350">
                <a:gradFill flip="none" rotWithShape="1">
                  <a:gsLst>
                    <a:gs pos="0">
                      <a:srgbClr val="00B0F0"/>
                    </a:gs>
                    <a:gs pos="62000">
                      <a:srgbClr val="00B0F0">
                        <a:alpha val="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51" name="矩形 50">
                <a:extLst>
                  <a:ext uri="{FF2B5EF4-FFF2-40B4-BE49-F238E27FC236}">
                    <a16:creationId xmlns:a16="http://schemas.microsoft.com/office/drawing/2014/main" id="{74A578DD-64DB-2B8D-1C18-4270E5903D2B}"/>
                  </a:ext>
                </a:extLst>
              </p:cNvPr>
              <p:cNvSpPr/>
              <p:nvPr>
                <p:custDataLst>
                  <p:tags r:id="rId29"/>
                </p:custDataLst>
              </p:nvPr>
            </p:nvSpPr>
            <p:spPr>
              <a:xfrm>
                <a:off x="5211694" y="1546629"/>
                <a:ext cx="1580882" cy="32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2022</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年</a:t>
                </a: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10</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月</a:t>
                </a:r>
              </a:p>
            </p:txBody>
          </p:sp>
        </p:grpSp>
      </p:grpSp>
      <p:grpSp>
        <p:nvGrpSpPr>
          <p:cNvPr id="52" name="组合 51">
            <a:extLst>
              <a:ext uri="{FF2B5EF4-FFF2-40B4-BE49-F238E27FC236}">
                <a16:creationId xmlns:a16="http://schemas.microsoft.com/office/drawing/2014/main" id="{1D12ADA1-E835-D586-29DE-8316D69A0DB2}"/>
              </a:ext>
            </a:extLst>
          </p:cNvPr>
          <p:cNvGrpSpPr/>
          <p:nvPr>
            <p:custDataLst>
              <p:tags r:id="rId8"/>
            </p:custDataLst>
          </p:nvPr>
        </p:nvGrpSpPr>
        <p:grpSpPr>
          <a:xfrm>
            <a:off x="409575" y="2327023"/>
            <a:ext cx="1180624" cy="247164"/>
            <a:chOff x="5061726" y="1522536"/>
            <a:chExt cx="1746795" cy="344330"/>
          </a:xfrm>
        </p:grpSpPr>
        <p:sp>
          <p:nvSpPr>
            <p:cNvPr id="53" name="椭圆 52">
              <a:extLst>
                <a:ext uri="{FF2B5EF4-FFF2-40B4-BE49-F238E27FC236}">
                  <a16:creationId xmlns:a16="http://schemas.microsoft.com/office/drawing/2014/main" id="{7357C48D-9E7E-213C-5F3F-55BF32CA18EA}"/>
                </a:ext>
              </a:extLst>
            </p:cNvPr>
            <p:cNvSpPr/>
            <p:nvPr>
              <p:custDataLst>
                <p:tags r:id="rId22"/>
              </p:custDataLst>
            </p:nvPr>
          </p:nvSpPr>
          <p:spPr>
            <a:xfrm>
              <a:off x="5061726" y="1631428"/>
              <a:ext cx="112325" cy="112323"/>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grpSp>
          <p:nvGrpSpPr>
            <p:cNvPr id="54" name="组合 53">
              <a:extLst>
                <a:ext uri="{FF2B5EF4-FFF2-40B4-BE49-F238E27FC236}">
                  <a16:creationId xmlns:a16="http://schemas.microsoft.com/office/drawing/2014/main" id="{DB111E19-DF92-FD61-5100-E1BD89BD8148}"/>
                </a:ext>
              </a:extLst>
            </p:cNvPr>
            <p:cNvGrpSpPr/>
            <p:nvPr/>
          </p:nvGrpSpPr>
          <p:grpSpPr>
            <a:xfrm>
              <a:off x="5206521" y="1522536"/>
              <a:ext cx="1602000" cy="344330"/>
              <a:chOff x="5206521" y="1522536"/>
              <a:chExt cx="1602000" cy="344330"/>
            </a:xfrm>
          </p:grpSpPr>
          <p:sp>
            <p:nvSpPr>
              <p:cNvPr id="55" name="圆角矩形 74">
                <a:extLst>
                  <a:ext uri="{FF2B5EF4-FFF2-40B4-BE49-F238E27FC236}">
                    <a16:creationId xmlns:a16="http://schemas.microsoft.com/office/drawing/2014/main" id="{725DA6C5-3978-18C7-4D54-A38E44904885}"/>
                  </a:ext>
                </a:extLst>
              </p:cNvPr>
              <p:cNvSpPr/>
              <p:nvPr>
                <p:custDataLst>
                  <p:tags r:id="rId23"/>
                </p:custDataLst>
              </p:nvPr>
            </p:nvSpPr>
            <p:spPr>
              <a:xfrm>
                <a:off x="5237250" y="1522536"/>
                <a:ext cx="1540543" cy="288000"/>
              </a:xfrm>
              <a:prstGeom prst="roundRect">
                <a:avLst>
                  <a:gd name="adj" fmla="val 50000"/>
                </a:avLst>
              </a:prstGeom>
              <a:gradFill>
                <a:gsLst>
                  <a:gs pos="0">
                    <a:srgbClr val="0070C0">
                      <a:alpha val="32000"/>
                    </a:srgbClr>
                  </a:gs>
                  <a:gs pos="100000">
                    <a:srgbClr val="00B0F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56" name="圆角矩形 75">
                <a:extLst>
                  <a:ext uri="{FF2B5EF4-FFF2-40B4-BE49-F238E27FC236}">
                    <a16:creationId xmlns:a16="http://schemas.microsoft.com/office/drawing/2014/main" id="{372C2141-9A0F-6FCE-2A69-307C4D7A813E}"/>
                  </a:ext>
                </a:extLst>
              </p:cNvPr>
              <p:cNvSpPr/>
              <p:nvPr>
                <p:custDataLst>
                  <p:tags r:id="rId24"/>
                </p:custDataLst>
              </p:nvPr>
            </p:nvSpPr>
            <p:spPr>
              <a:xfrm>
                <a:off x="5206521" y="1540352"/>
                <a:ext cx="1602000" cy="288049"/>
              </a:xfrm>
              <a:prstGeom prst="roundRect">
                <a:avLst>
                  <a:gd name="adj" fmla="val 50000"/>
                </a:avLst>
              </a:prstGeom>
              <a:noFill/>
              <a:ln w="6350">
                <a:gradFill flip="none" rotWithShape="1">
                  <a:gsLst>
                    <a:gs pos="0">
                      <a:srgbClr val="00B0F0"/>
                    </a:gs>
                    <a:gs pos="62000">
                      <a:srgbClr val="00B0F0">
                        <a:alpha val="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57" name="矩形 56">
                <a:extLst>
                  <a:ext uri="{FF2B5EF4-FFF2-40B4-BE49-F238E27FC236}">
                    <a16:creationId xmlns:a16="http://schemas.microsoft.com/office/drawing/2014/main" id="{0C471014-2BDA-1AEB-D201-D5D27ADCF1CB}"/>
                  </a:ext>
                </a:extLst>
              </p:cNvPr>
              <p:cNvSpPr/>
              <p:nvPr>
                <p:custDataLst>
                  <p:tags r:id="rId25"/>
                </p:custDataLst>
              </p:nvPr>
            </p:nvSpPr>
            <p:spPr>
              <a:xfrm>
                <a:off x="5211694" y="1546629"/>
                <a:ext cx="1580882" cy="32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2020</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年</a:t>
                </a: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4</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月</a:t>
                </a:r>
              </a:p>
            </p:txBody>
          </p:sp>
        </p:grpSp>
      </p:grpSp>
      <p:sp>
        <p:nvSpPr>
          <p:cNvPr id="58" name="矩形 57">
            <a:extLst>
              <a:ext uri="{FF2B5EF4-FFF2-40B4-BE49-F238E27FC236}">
                <a16:creationId xmlns:a16="http://schemas.microsoft.com/office/drawing/2014/main" id="{501538CE-ADE5-E3DB-4ABE-452E842A7B8F}"/>
              </a:ext>
            </a:extLst>
          </p:cNvPr>
          <p:cNvSpPr/>
          <p:nvPr>
            <p:custDataLst>
              <p:tags r:id="rId9"/>
            </p:custDataLst>
          </p:nvPr>
        </p:nvSpPr>
        <p:spPr>
          <a:xfrm>
            <a:off x="500063" y="2508951"/>
            <a:ext cx="4333875" cy="42227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卫健委印发</a:t>
            </a:r>
            <a:r>
              <a:rPr kumimoji="0" lang="en-US" altLang="zh-CN"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《紧密型县域医共体建设评判标准和监测指标体系》</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出台量化评估标准，明确服务能力，运行效率，群众健康改善指标等作为考核指标。</a:t>
            </a:r>
          </a:p>
        </p:txBody>
      </p:sp>
      <p:sp>
        <p:nvSpPr>
          <p:cNvPr id="59" name="矩形 58">
            <a:extLst>
              <a:ext uri="{FF2B5EF4-FFF2-40B4-BE49-F238E27FC236}">
                <a16:creationId xmlns:a16="http://schemas.microsoft.com/office/drawing/2014/main" id="{B3DBE18E-7B60-E451-6B2A-864B1B7E8153}"/>
              </a:ext>
            </a:extLst>
          </p:cNvPr>
          <p:cNvSpPr/>
          <p:nvPr>
            <p:custDataLst>
              <p:tags r:id="rId10"/>
            </p:custDataLst>
          </p:nvPr>
        </p:nvSpPr>
        <p:spPr>
          <a:xfrm>
            <a:off x="509588" y="3911758"/>
            <a:ext cx="4373880" cy="42227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国家医保局、财政部</a:t>
            </a:r>
            <a:r>
              <a:rPr kumimoji="0" lang="zh-CN" altLang="en-US"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《关于推进紧密型县域医共体医保支付方式改革的通知</a:t>
            </a:r>
            <a:r>
              <a:rPr kumimoji="0" lang="en-US" altLang="zh-CN"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提出：推动医保基金</a:t>
            </a:r>
            <a:r>
              <a:rPr kumimoji="0" lang="en-US" altLang="zh-CN"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打包付费</a:t>
            </a:r>
            <a:r>
              <a:rPr kumimoji="0" lang="en-US" altLang="zh-CN"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改革，促进以公益内部资源整和和协同服务，同时建立激励机制</a:t>
            </a:r>
          </a:p>
        </p:txBody>
      </p:sp>
      <p:grpSp>
        <p:nvGrpSpPr>
          <p:cNvPr id="60" name="组合 59">
            <a:extLst>
              <a:ext uri="{FF2B5EF4-FFF2-40B4-BE49-F238E27FC236}">
                <a16:creationId xmlns:a16="http://schemas.microsoft.com/office/drawing/2014/main" id="{4EA80A5E-B3B3-F7BC-B455-0EA65AD2D43F}"/>
              </a:ext>
            </a:extLst>
          </p:cNvPr>
          <p:cNvGrpSpPr/>
          <p:nvPr>
            <p:custDataLst>
              <p:tags r:id="rId11"/>
            </p:custDataLst>
          </p:nvPr>
        </p:nvGrpSpPr>
        <p:grpSpPr>
          <a:xfrm>
            <a:off x="391001" y="4321807"/>
            <a:ext cx="1180624" cy="247015"/>
            <a:chOff x="5061726" y="1522536"/>
            <a:chExt cx="1746795" cy="343968"/>
          </a:xfrm>
        </p:grpSpPr>
        <p:sp>
          <p:nvSpPr>
            <p:cNvPr id="61" name="椭圆 60">
              <a:extLst>
                <a:ext uri="{FF2B5EF4-FFF2-40B4-BE49-F238E27FC236}">
                  <a16:creationId xmlns:a16="http://schemas.microsoft.com/office/drawing/2014/main" id="{7AE87550-03B2-8F3B-12E1-5CB85C1E3DB4}"/>
                </a:ext>
              </a:extLst>
            </p:cNvPr>
            <p:cNvSpPr/>
            <p:nvPr>
              <p:custDataLst>
                <p:tags r:id="rId18"/>
              </p:custDataLst>
            </p:nvPr>
          </p:nvSpPr>
          <p:spPr>
            <a:xfrm>
              <a:off x="5061726" y="1631415"/>
              <a:ext cx="112325" cy="112324"/>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nvGrpSpPr>
            <p:cNvPr id="62" name="组合 61">
              <a:extLst>
                <a:ext uri="{FF2B5EF4-FFF2-40B4-BE49-F238E27FC236}">
                  <a16:creationId xmlns:a16="http://schemas.microsoft.com/office/drawing/2014/main" id="{33BAEEA4-F109-ECCD-CA3F-6791F2081EEC}"/>
                </a:ext>
              </a:extLst>
            </p:cNvPr>
            <p:cNvGrpSpPr/>
            <p:nvPr/>
          </p:nvGrpSpPr>
          <p:grpSpPr>
            <a:xfrm>
              <a:off x="5206521" y="1522536"/>
              <a:ext cx="1602000" cy="343968"/>
              <a:chOff x="5206521" y="1522536"/>
              <a:chExt cx="1602000" cy="343968"/>
            </a:xfrm>
          </p:grpSpPr>
          <p:sp>
            <p:nvSpPr>
              <p:cNvPr id="63" name="圆角矩形 160">
                <a:extLst>
                  <a:ext uri="{FF2B5EF4-FFF2-40B4-BE49-F238E27FC236}">
                    <a16:creationId xmlns:a16="http://schemas.microsoft.com/office/drawing/2014/main" id="{E4C6684C-AF77-17A9-CE82-C135255EB5E9}"/>
                  </a:ext>
                </a:extLst>
              </p:cNvPr>
              <p:cNvSpPr/>
              <p:nvPr>
                <p:custDataLst>
                  <p:tags r:id="rId19"/>
                </p:custDataLst>
              </p:nvPr>
            </p:nvSpPr>
            <p:spPr>
              <a:xfrm>
                <a:off x="5237250" y="1522536"/>
                <a:ext cx="1540543" cy="288000"/>
              </a:xfrm>
              <a:prstGeom prst="roundRect">
                <a:avLst>
                  <a:gd name="adj" fmla="val 50000"/>
                </a:avLst>
              </a:prstGeom>
              <a:gradFill>
                <a:gsLst>
                  <a:gs pos="0">
                    <a:srgbClr val="0070C0">
                      <a:alpha val="32000"/>
                    </a:srgbClr>
                  </a:gs>
                  <a:gs pos="100000">
                    <a:srgbClr val="00B0F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64" name="圆角矩形 161">
                <a:extLst>
                  <a:ext uri="{FF2B5EF4-FFF2-40B4-BE49-F238E27FC236}">
                    <a16:creationId xmlns:a16="http://schemas.microsoft.com/office/drawing/2014/main" id="{E525E8B3-CC28-7DAE-92AF-8A94BA4840DA}"/>
                  </a:ext>
                </a:extLst>
              </p:cNvPr>
              <p:cNvSpPr/>
              <p:nvPr>
                <p:custDataLst>
                  <p:tags r:id="rId20"/>
                </p:custDataLst>
              </p:nvPr>
            </p:nvSpPr>
            <p:spPr>
              <a:xfrm>
                <a:off x="5206521" y="1540352"/>
                <a:ext cx="1602000" cy="288049"/>
              </a:xfrm>
              <a:prstGeom prst="roundRect">
                <a:avLst>
                  <a:gd name="adj" fmla="val 50000"/>
                </a:avLst>
              </a:prstGeom>
              <a:noFill/>
              <a:ln w="6350">
                <a:gradFill flip="none" rotWithShape="1">
                  <a:gsLst>
                    <a:gs pos="0">
                      <a:srgbClr val="00B0F0"/>
                    </a:gs>
                    <a:gs pos="62000">
                      <a:srgbClr val="00B0F0">
                        <a:alpha val="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65" name="矩形 64">
                <a:extLst>
                  <a:ext uri="{FF2B5EF4-FFF2-40B4-BE49-F238E27FC236}">
                    <a16:creationId xmlns:a16="http://schemas.microsoft.com/office/drawing/2014/main" id="{85305DEA-E5E8-421B-C889-5BAA3F9FDCD5}"/>
                  </a:ext>
                </a:extLst>
              </p:cNvPr>
              <p:cNvSpPr/>
              <p:nvPr>
                <p:custDataLst>
                  <p:tags r:id="rId21"/>
                </p:custDataLst>
              </p:nvPr>
            </p:nvSpPr>
            <p:spPr>
              <a:xfrm>
                <a:off x="5211694" y="1546411"/>
                <a:ext cx="1580882" cy="320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2025</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年</a:t>
                </a: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3</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月</a:t>
                </a:r>
              </a:p>
            </p:txBody>
          </p:sp>
        </p:grpSp>
      </p:grpSp>
      <p:grpSp>
        <p:nvGrpSpPr>
          <p:cNvPr id="66" name="组合 65">
            <a:extLst>
              <a:ext uri="{FF2B5EF4-FFF2-40B4-BE49-F238E27FC236}">
                <a16:creationId xmlns:a16="http://schemas.microsoft.com/office/drawing/2014/main" id="{632A7223-F392-3EC2-FFB0-1F3F4FF4AAFA}"/>
              </a:ext>
            </a:extLst>
          </p:cNvPr>
          <p:cNvGrpSpPr/>
          <p:nvPr>
            <p:custDataLst>
              <p:tags r:id="rId12"/>
            </p:custDataLst>
          </p:nvPr>
        </p:nvGrpSpPr>
        <p:grpSpPr>
          <a:xfrm>
            <a:off x="403384" y="3695485"/>
            <a:ext cx="1180624" cy="247164"/>
            <a:chOff x="5061726" y="1522536"/>
            <a:chExt cx="1746795" cy="344330"/>
          </a:xfrm>
        </p:grpSpPr>
        <p:sp>
          <p:nvSpPr>
            <p:cNvPr id="67" name="椭圆 66">
              <a:extLst>
                <a:ext uri="{FF2B5EF4-FFF2-40B4-BE49-F238E27FC236}">
                  <a16:creationId xmlns:a16="http://schemas.microsoft.com/office/drawing/2014/main" id="{8A9AF087-BDD4-57ED-A4AF-C4B76DD7CB76}"/>
                </a:ext>
              </a:extLst>
            </p:cNvPr>
            <p:cNvSpPr/>
            <p:nvPr>
              <p:custDataLst>
                <p:tags r:id="rId14"/>
              </p:custDataLst>
            </p:nvPr>
          </p:nvSpPr>
          <p:spPr>
            <a:xfrm>
              <a:off x="5061726" y="1623935"/>
              <a:ext cx="112325" cy="112323"/>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grpSp>
          <p:nvGrpSpPr>
            <p:cNvPr id="68" name="组合 67">
              <a:extLst>
                <a:ext uri="{FF2B5EF4-FFF2-40B4-BE49-F238E27FC236}">
                  <a16:creationId xmlns:a16="http://schemas.microsoft.com/office/drawing/2014/main" id="{A7F6BBD8-7875-D599-FEAD-BF5063DA7D09}"/>
                </a:ext>
              </a:extLst>
            </p:cNvPr>
            <p:cNvGrpSpPr/>
            <p:nvPr/>
          </p:nvGrpSpPr>
          <p:grpSpPr>
            <a:xfrm>
              <a:off x="5206521" y="1522536"/>
              <a:ext cx="1602000" cy="344330"/>
              <a:chOff x="5206521" y="1522536"/>
              <a:chExt cx="1602000" cy="344330"/>
            </a:xfrm>
          </p:grpSpPr>
          <p:sp>
            <p:nvSpPr>
              <p:cNvPr id="69" name="圆角矩形 160">
                <a:extLst>
                  <a:ext uri="{FF2B5EF4-FFF2-40B4-BE49-F238E27FC236}">
                    <a16:creationId xmlns:a16="http://schemas.microsoft.com/office/drawing/2014/main" id="{4B2D67F4-EA1F-EA85-454D-7C6DEB6DC779}"/>
                  </a:ext>
                </a:extLst>
              </p:cNvPr>
              <p:cNvSpPr/>
              <p:nvPr>
                <p:custDataLst>
                  <p:tags r:id="rId15"/>
                </p:custDataLst>
              </p:nvPr>
            </p:nvSpPr>
            <p:spPr>
              <a:xfrm>
                <a:off x="5237250" y="1522536"/>
                <a:ext cx="1540543" cy="288000"/>
              </a:xfrm>
              <a:prstGeom prst="roundRect">
                <a:avLst>
                  <a:gd name="adj" fmla="val 50000"/>
                </a:avLst>
              </a:prstGeom>
              <a:gradFill>
                <a:gsLst>
                  <a:gs pos="0">
                    <a:srgbClr val="0070C0">
                      <a:alpha val="32000"/>
                    </a:srgbClr>
                  </a:gs>
                  <a:gs pos="100000">
                    <a:srgbClr val="00B0F0">
                      <a:alpha val="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70" name="圆角矩形 161">
                <a:extLst>
                  <a:ext uri="{FF2B5EF4-FFF2-40B4-BE49-F238E27FC236}">
                    <a16:creationId xmlns:a16="http://schemas.microsoft.com/office/drawing/2014/main" id="{98A11953-67B5-0368-FC08-EAE568101C09}"/>
                  </a:ext>
                </a:extLst>
              </p:cNvPr>
              <p:cNvSpPr/>
              <p:nvPr>
                <p:custDataLst>
                  <p:tags r:id="rId16"/>
                </p:custDataLst>
              </p:nvPr>
            </p:nvSpPr>
            <p:spPr>
              <a:xfrm>
                <a:off x="5206521" y="1540352"/>
                <a:ext cx="1602000" cy="288049"/>
              </a:xfrm>
              <a:prstGeom prst="roundRect">
                <a:avLst>
                  <a:gd name="adj" fmla="val 50000"/>
                </a:avLst>
              </a:prstGeom>
              <a:noFill/>
              <a:ln w="6350">
                <a:gradFill flip="none" rotWithShape="1">
                  <a:gsLst>
                    <a:gs pos="0">
                      <a:srgbClr val="00B0F0"/>
                    </a:gs>
                    <a:gs pos="62000">
                      <a:srgbClr val="00B0F0">
                        <a:alpha val="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71" name="矩形 70">
                <a:extLst>
                  <a:ext uri="{FF2B5EF4-FFF2-40B4-BE49-F238E27FC236}">
                    <a16:creationId xmlns:a16="http://schemas.microsoft.com/office/drawing/2014/main" id="{376BE4E2-DEB1-B7CA-39B8-C472629AD9C5}"/>
                  </a:ext>
                </a:extLst>
              </p:cNvPr>
              <p:cNvSpPr/>
              <p:nvPr>
                <p:custDataLst>
                  <p:tags r:id="rId17"/>
                </p:custDataLst>
              </p:nvPr>
            </p:nvSpPr>
            <p:spPr>
              <a:xfrm>
                <a:off x="5211694" y="1546629"/>
                <a:ext cx="1580882" cy="32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2022</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年</a:t>
                </a:r>
                <a:r>
                  <a:rPr kumimoji="0" lang="en-US" altLang="zh-CN"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10</a:t>
                </a:r>
                <a:r>
                  <a:rPr kumimoji="0" lang="zh-CN" altLang="en-US" sz="900" b="1" i="0" u="none" strike="noStrike" kern="0" cap="none" spc="0" normalizeH="0" baseline="0" noProof="0" dirty="0">
                    <a:ln>
                      <a:noFill/>
                    </a:ln>
                    <a:gradFill flip="none" rotWithShape="1">
                      <a:gsLst>
                        <a:gs pos="0">
                          <a:srgbClr val="002D55"/>
                        </a:gs>
                        <a:gs pos="100000">
                          <a:srgbClr val="4472C4"/>
                        </a:gs>
                      </a:gsLst>
                      <a:lin ang="5400000" scaled="1"/>
                      <a:tileRect/>
                    </a:gradFill>
                    <a:effectLst/>
                    <a:uLnTx/>
                    <a:uFillTx/>
                    <a:latin typeface="Impact" panose="020B0806030902050204" pitchFamily="34" charset="0"/>
                    <a:ea typeface="微软雅黑" panose="020B0503020204020204" charset="-122"/>
                    <a:cs typeface="Arial" panose="020B0604020202020204" pitchFamily="34" charset="0"/>
                  </a:rPr>
                  <a:t>月</a:t>
                </a:r>
              </a:p>
            </p:txBody>
          </p:sp>
        </p:grpSp>
      </p:grpSp>
      <p:sp>
        <p:nvSpPr>
          <p:cNvPr id="72" name="文本框 71">
            <a:extLst>
              <a:ext uri="{FF2B5EF4-FFF2-40B4-BE49-F238E27FC236}">
                <a16:creationId xmlns:a16="http://schemas.microsoft.com/office/drawing/2014/main" id="{3D09A202-76CD-A374-A8C0-7A6F5C0E5E6A}"/>
              </a:ext>
            </a:extLst>
          </p:cNvPr>
          <p:cNvSpPr txBox="1"/>
          <p:nvPr/>
        </p:nvSpPr>
        <p:spPr>
          <a:xfrm>
            <a:off x="1025366" y="4399291"/>
            <a:ext cx="3048000" cy="685800"/>
          </a:xfrm>
          <a:prstGeom prst="rect">
            <a:avLst/>
          </a:prstGeom>
          <a:noFill/>
          <a:ln>
            <a:noFill/>
          </a:ln>
        </p:spPr>
        <p:txBody>
          <a:bodyPr vert="horz" wrap="square" lIns="27000" tIns="34290" rIns="27000" bIns="34290" rtlCol="0" anchor="t" anchorCtr="0">
            <a:noAutofit/>
          </a:bodyPr>
          <a:lstStyle/>
          <a:p>
            <a:pPr algn="l"/>
            <a:endParaRPr lang="zh-CN" altLang="en-US" sz="1350" dirty="0"/>
          </a:p>
        </p:txBody>
      </p:sp>
      <p:sp>
        <p:nvSpPr>
          <p:cNvPr id="74" name="矩形 73">
            <a:extLst>
              <a:ext uri="{FF2B5EF4-FFF2-40B4-BE49-F238E27FC236}">
                <a16:creationId xmlns:a16="http://schemas.microsoft.com/office/drawing/2014/main" id="{1A72EF1A-3FBE-C545-2F12-9C5D4A284ADD}"/>
              </a:ext>
            </a:extLst>
          </p:cNvPr>
          <p:cNvSpPr/>
          <p:nvPr>
            <p:custDataLst>
              <p:tags r:id="rId13"/>
            </p:custDataLst>
          </p:nvPr>
        </p:nvSpPr>
        <p:spPr>
          <a:xfrm>
            <a:off x="467360" y="4529282"/>
            <a:ext cx="4443095" cy="42227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825" b="1" i="0" u="none" strike="noStrike" kern="1200" cap="none" spc="0" normalizeH="0" baseline="0" noProof="0" dirty="0">
                <a:ln>
                  <a:noFill/>
                </a:ln>
                <a:solidFill>
                  <a:srgbClr val="2A86DC"/>
                </a:solidFill>
                <a:effectLst/>
                <a:uLnTx/>
                <a:uFillTx/>
                <a:latin typeface="微软雅黑" panose="020B0503020204020204" charset="-122"/>
                <a:ea typeface="微软雅黑" panose="020B0503020204020204" charset="-122"/>
                <a:cs typeface="微软雅黑" panose="020B0503020204020204" charset="-122"/>
              </a:rPr>
              <a:t>十四届全国人大三次会议民生主题会议</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提出：推动优质医疗资源扩容和下沉，区域均衡布局，要求到</a:t>
            </a:r>
            <a:r>
              <a:rPr kumimoji="0" lang="en-US" altLang="zh-CN"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2025</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年末，全国</a:t>
            </a:r>
            <a:r>
              <a:rPr kumimoji="0" lang="en-US" altLang="zh-CN"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90%</a:t>
            </a:r>
            <a:r>
              <a:rPr kumimoji="0" lang="zh-CN" altLang="en-US" sz="825"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医生县（市）目标明确、全责清晰，分工明确的紧密型医共体。</a:t>
            </a:r>
          </a:p>
        </p:txBody>
      </p:sp>
      <p:sp>
        <p:nvSpPr>
          <p:cNvPr id="75" name="文本框 74">
            <a:extLst>
              <a:ext uri="{FF2B5EF4-FFF2-40B4-BE49-F238E27FC236}">
                <a16:creationId xmlns:a16="http://schemas.microsoft.com/office/drawing/2014/main" id="{BB6B462D-CB63-4D76-7280-8257FF1DE5AA}"/>
              </a:ext>
            </a:extLst>
          </p:cNvPr>
          <p:cNvSpPr txBox="1"/>
          <p:nvPr/>
        </p:nvSpPr>
        <p:spPr>
          <a:xfrm>
            <a:off x="5119818" y="4279565"/>
            <a:ext cx="55145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gradFill>
                  <a:gsLst>
                    <a:gs pos="0">
                      <a:srgbClr val="FC5800"/>
                    </a:gs>
                    <a:gs pos="100000">
                      <a:srgbClr val="C00000"/>
                    </a:gs>
                  </a:gsLst>
                  <a:lin ang="16200000" scaled="1"/>
                </a:gradFill>
                <a:effectLst/>
                <a:uLnTx/>
                <a:uFillTx/>
                <a:latin typeface="Impact" panose="020B0806030902050204" pitchFamily="34" charset="0"/>
                <a:ea typeface="微软雅黑" panose="020B0503020204020204" charset="-122"/>
                <a:cs typeface="+mn-cs"/>
              </a:rPr>
              <a:t>4000</a:t>
            </a:r>
          </a:p>
        </p:txBody>
      </p:sp>
      <p:sp>
        <p:nvSpPr>
          <p:cNvPr id="76" name="文本框 75">
            <a:extLst>
              <a:ext uri="{FF2B5EF4-FFF2-40B4-BE49-F238E27FC236}">
                <a16:creationId xmlns:a16="http://schemas.microsoft.com/office/drawing/2014/main" id="{C2B4BF90-85D2-6EC4-DFFB-DA7E4A30907B}"/>
              </a:ext>
            </a:extLst>
          </p:cNvPr>
          <p:cNvSpPr txBox="1"/>
          <p:nvPr/>
        </p:nvSpPr>
        <p:spPr>
          <a:xfrm>
            <a:off x="6115498" y="4284645"/>
            <a:ext cx="55145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gradFill>
                  <a:gsLst>
                    <a:gs pos="0">
                      <a:srgbClr val="FC5800"/>
                    </a:gs>
                    <a:gs pos="100000">
                      <a:srgbClr val="C00000"/>
                    </a:gs>
                  </a:gsLst>
                  <a:lin ang="16200000" scaled="1"/>
                </a:gradFill>
                <a:effectLst/>
                <a:uLnTx/>
                <a:uFillTx/>
                <a:latin typeface="Impact" panose="020B0806030902050204" pitchFamily="34" charset="0"/>
                <a:ea typeface="微软雅黑" panose="020B0503020204020204" charset="-122"/>
                <a:cs typeface="+mn-cs"/>
              </a:rPr>
              <a:t>90%</a:t>
            </a:r>
          </a:p>
        </p:txBody>
      </p:sp>
      <p:sp>
        <p:nvSpPr>
          <p:cNvPr id="77" name="文本框 76">
            <a:extLst>
              <a:ext uri="{FF2B5EF4-FFF2-40B4-BE49-F238E27FC236}">
                <a16:creationId xmlns:a16="http://schemas.microsoft.com/office/drawing/2014/main" id="{9EC491A2-7B28-4850-82D7-7338C04D700B}"/>
              </a:ext>
            </a:extLst>
          </p:cNvPr>
          <p:cNvSpPr txBox="1"/>
          <p:nvPr/>
        </p:nvSpPr>
        <p:spPr>
          <a:xfrm>
            <a:off x="6951158" y="4304965"/>
            <a:ext cx="55145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gradFill>
                  <a:gsLst>
                    <a:gs pos="0">
                      <a:srgbClr val="FC5800"/>
                    </a:gs>
                    <a:gs pos="100000">
                      <a:srgbClr val="C00000"/>
                    </a:gs>
                  </a:gsLst>
                  <a:lin ang="16200000" scaled="1"/>
                </a:gradFill>
                <a:effectLst/>
                <a:uLnTx/>
                <a:uFillTx/>
                <a:latin typeface="Impact" panose="020B0806030902050204" pitchFamily="34" charset="0"/>
                <a:ea typeface="微软雅黑" panose="020B0503020204020204" charset="-122"/>
                <a:cs typeface="+mn-cs"/>
              </a:rPr>
              <a:t>800</a:t>
            </a:r>
          </a:p>
        </p:txBody>
      </p:sp>
      <p:pic>
        <p:nvPicPr>
          <p:cNvPr id="78" name="图片 77">
            <a:extLst>
              <a:ext uri="{FF2B5EF4-FFF2-40B4-BE49-F238E27FC236}">
                <a16:creationId xmlns:a16="http://schemas.microsoft.com/office/drawing/2014/main" id="{0EE0DA46-B258-A2B1-D572-844E7E0D6EDD}"/>
              </a:ext>
            </a:extLst>
          </p:cNvPr>
          <p:cNvPicPr/>
          <p:nvPr/>
        </p:nvPicPr>
        <p:blipFill>
          <a:blip r:embed="rId41"/>
          <a:stretch>
            <a:fillRect/>
          </a:stretch>
        </p:blipFill>
        <p:spPr>
          <a:xfrm>
            <a:off x="5023485" y="1196802"/>
            <a:ext cx="1840865" cy="1950085"/>
          </a:xfrm>
          <a:prstGeom prst="rect">
            <a:avLst/>
          </a:prstGeom>
        </p:spPr>
      </p:pic>
      <p:pic>
        <p:nvPicPr>
          <p:cNvPr id="79" name="图片 78">
            <a:extLst>
              <a:ext uri="{FF2B5EF4-FFF2-40B4-BE49-F238E27FC236}">
                <a16:creationId xmlns:a16="http://schemas.microsoft.com/office/drawing/2014/main" id="{94D9D913-A7E3-55D0-1A3C-7D1371B08220}"/>
              </a:ext>
            </a:extLst>
          </p:cNvPr>
          <p:cNvPicPr/>
          <p:nvPr/>
        </p:nvPicPr>
        <p:blipFill>
          <a:blip r:embed="rId42"/>
          <a:stretch>
            <a:fillRect/>
          </a:stretch>
        </p:blipFill>
        <p:spPr>
          <a:xfrm>
            <a:off x="6864350" y="1196802"/>
            <a:ext cx="1785620" cy="1950085"/>
          </a:xfrm>
          <a:prstGeom prst="rect">
            <a:avLst/>
          </a:prstGeom>
        </p:spPr>
      </p:pic>
      <p:sp>
        <p:nvSpPr>
          <p:cNvPr id="80" name="文本框 79">
            <a:extLst>
              <a:ext uri="{FF2B5EF4-FFF2-40B4-BE49-F238E27FC236}">
                <a16:creationId xmlns:a16="http://schemas.microsoft.com/office/drawing/2014/main" id="{1CE59085-731A-EEAB-874E-B67586ACFFE3}"/>
              </a:ext>
            </a:extLst>
          </p:cNvPr>
          <p:cNvSpPr txBox="1"/>
          <p:nvPr/>
        </p:nvSpPr>
        <p:spPr>
          <a:xfrm>
            <a:off x="299254" y="805518"/>
            <a:ext cx="8057972" cy="276999"/>
          </a:xfrm>
          <a:prstGeom prst="rect">
            <a:avLst/>
          </a:prstGeom>
          <a:noFill/>
        </p:spPr>
        <p:txBody>
          <a:bodyPr wrap="square">
            <a:spAutoFit/>
          </a:bodyPr>
          <a:lstStyle/>
          <a:p>
            <a:r>
              <a:rPr lang="zh-CN" altLang="en-US" sz="1200" b="0" kern="0" noProof="0" dirty="0">
                <a:ln>
                  <a:noFill/>
                </a:ln>
                <a:solidFill>
                  <a:schemeClr val="tx1">
                    <a:lumMod val="75000"/>
                    <a:lumOff val="25000"/>
                  </a:schemeClr>
                </a:solidFill>
                <a:effectLst/>
                <a:uLnTx/>
                <a:uFillTx/>
                <a:latin typeface="Impact" panose="020B0806030902050204" pitchFamily="34" charset="0"/>
                <a:cs typeface="Arial" panose="020B0604020202020204" pitchFamily="34" charset="0"/>
                <a:sym typeface="+mn-ea"/>
              </a:rPr>
              <a:t>推进县域医联体医共体，铺设人工辅助决策诊疗系统上升成为国家战略</a:t>
            </a:r>
            <a:r>
              <a:rPr lang="zh-CN" altLang="en-US" sz="1200" kern="0" dirty="0">
                <a:solidFill>
                  <a:schemeClr val="tx1">
                    <a:lumMod val="75000"/>
                    <a:lumOff val="25000"/>
                  </a:schemeClr>
                </a:solidFill>
                <a:latin typeface="Impact" panose="020B0806030902050204" pitchFamily="34" charset="0"/>
                <a:cs typeface="Arial" panose="020B0604020202020204" pitchFamily="34" charset="0"/>
                <a:sym typeface="+mn-ea"/>
              </a:rPr>
              <a:t>。</a:t>
            </a:r>
            <a:endParaRPr lang="zh-CN" altLang="en-US" sz="1200" dirty="0">
              <a:solidFill>
                <a:schemeClr val="tx1">
                  <a:lumMod val="75000"/>
                  <a:lumOff val="25000"/>
                </a:schemeClr>
              </a:solidFill>
            </a:endParaRPr>
          </a:p>
        </p:txBody>
      </p:sp>
    </p:spTree>
    <p:extLst>
      <p:ext uri="{BB962C8B-B14F-4D97-AF65-F5344CB8AC3E}">
        <p14:creationId xmlns:p14="http://schemas.microsoft.com/office/powerpoint/2010/main" val="1884145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7C3C-CE49-0B05-3FB8-8AE0838A18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5D5700-C305-ABFF-53A4-2A33F87105E4}"/>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项目拓展规模</a:t>
            </a:r>
            <a:r>
              <a:rPr kumimoji="1" lang="en-US" altLang="zh-CN" dirty="0">
                <a:solidFill>
                  <a:srgbClr val="FF0000"/>
                </a:solidFill>
              </a:rPr>
              <a:t>---</a:t>
            </a:r>
            <a:r>
              <a:rPr kumimoji="1" lang="zh-CN" altLang="en-US" dirty="0">
                <a:solidFill>
                  <a:srgbClr val="FF0000"/>
                </a:solidFill>
              </a:rPr>
              <a:t>待确认</a:t>
            </a:r>
          </a:p>
        </p:txBody>
      </p:sp>
      <p:sp>
        <p:nvSpPr>
          <p:cNvPr id="3" name="文本框 2">
            <a:extLst>
              <a:ext uri="{FF2B5EF4-FFF2-40B4-BE49-F238E27FC236}">
                <a16:creationId xmlns:a16="http://schemas.microsoft.com/office/drawing/2014/main" id="{BDFB0D89-1177-315B-14EB-BB9C9EED3922}"/>
              </a:ext>
            </a:extLst>
          </p:cNvPr>
          <p:cNvSpPr txBox="1"/>
          <p:nvPr/>
        </p:nvSpPr>
        <p:spPr>
          <a:xfrm>
            <a:off x="801447" y="2163184"/>
            <a:ext cx="367030" cy="1621155"/>
          </a:xfrm>
          <a:prstGeom prst="rect">
            <a:avLst/>
          </a:prstGeom>
          <a:noFill/>
        </p:spPr>
        <p:txBody>
          <a:bodyPr vert="eaVert" wrap="square" rtlCol="0">
            <a:spAutoFit/>
          </a:bodyPr>
          <a:lstStyle/>
          <a:p>
            <a:pPr algn="ctr"/>
            <a:r>
              <a:rPr lang="zh-CN" altLang="en-US" sz="1200">
                <a:latin typeface="微软雅黑" panose="020B0503020204020204" pitchFamily="34" charset="-122"/>
                <a:ea typeface="微软雅黑" panose="020B0503020204020204" pitchFamily="34" charset="-122"/>
              </a:rPr>
              <a:t>签约金额：万元</a:t>
            </a:r>
          </a:p>
        </p:txBody>
      </p:sp>
      <p:sp>
        <p:nvSpPr>
          <p:cNvPr id="4" name="文本框 3">
            <a:extLst>
              <a:ext uri="{FF2B5EF4-FFF2-40B4-BE49-F238E27FC236}">
                <a16:creationId xmlns:a16="http://schemas.microsoft.com/office/drawing/2014/main" id="{B3EF3237-0613-2FE2-8273-AFE29D053D85}"/>
              </a:ext>
            </a:extLst>
          </p:cNvPr>
          <p:cNvSpPr txBox="1"/>
          <p:nvPr>
            <p:custDataLst>
              <p:tags r:id="rId1"/>
            </p:custDataLst>
          </p:nvPr>
        </p:nvSpPr>
        <p:spPr>
          <a:xfrm>
            <a:off x="7856223" y="2065896"/>
            <a:ext cx="367030" cy="1697355"/>
          </a:xfrm>
          <a:prstGeom prst="rect">
            <a:avLst/>
          </a:prstGeom>
          <a:noFill/>
        </p:spPr>
        <p:txBody>
          <a:bodyPr vert="eaVert" wrap="square" rtlCol="0">
            <a:spAutoFit/>
          </a:bodyPr>
          <a:lstStyle/>
          <a:p>
            <a:pPr algn="ctr"/>
            <a:r>
              <a:rPr lang="zh-CN" altLang="en-US" sz="1200">
                <a:latin typeface="微软雅黑" panose="020B0503020204020204" pitchFamily="34" charset="-122"/>
                <a:ea typeface="微软雅黑" panose="020B0503020204020204" pitchFamily="34" charset="-122"/>
              </a:rPr>
              <a:t>签约用户数：个</a:t>
            </a:r>
          </a:p>
        </p:txBody>
      </p:sp>
      <p:graphicFrame>
        <p:nvGraphicFramePr>
          <p:cNvPr id="6" name="图表 5">
            <a:extLst>
              <a:ext uri="{FF2B5EF4-FFF2-40B4-BE49-F238E27FC236}">
                <a16:creationId xmlns:a16="http://schemas.microsoft.com/office/drawing/2014/main" id="{4807C4AF-1C87-0D84-AC4B-3BE62B9B0F9A}"/>
              </a:ext>
            </a:extLst>
          </p:cNvPr>
          <p:cNvGraphicFramePr>
            <a:graphicFrameLocks/>
          </p:cNvGraphicFramePr>
          <p:nvPr>
            <p:extLst>
              <p:ext uri="{D42A27DB-BD31-4B8C-83A1-F6EECF244321}">
                <p14:modId xmlns:p14="http://schemas.microsoft.com/office/powerpoint/2010/main" val="3669747045"/>
              </p:ext>
            </p:extLst>
          </p:nvPr>
        </p:nvGraphicFramePr>
        <p:xfrm>
          <a:off x="1527586" y="1377428"/>
          <a:ext cx="5895190" cy="32160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67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D140B-5D15-35B6-B3CE-4693662DAF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3841904-E52B-C87B-33B6-24AE25BBC15C}"/>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用户案例集合</a:t>
            </a:r>
            <a:r>
              <a:rPr kumimoji="1" lang="en-US" altLang="zh-CN" dirty="0">
                <a:solidFill>
                  <a:srgbClr val="196494"/>
                </a:solidFill>
              </a:rPr>
              <a:t>—</a:t>
            </a:r>
            <a:r>
              <a:rPr kumimoji="1" lang="zh-CN" altLang="en-US" dirty="0">
                <a:solidFill>
                  <a:srgbClr val="FF0000"/>
                </a:solidFill>
              </a:rPr>
              <a:t>待确认</a:t>
            </a:r>
          </a:p>
        </p:txBody>
      </p:sp>
      <p:sp>
        <p:nvSpPr>
          <p:cNvPr id="7" name="object 3">
            <a:extLst>
              <a:ext uri="{FF2B5EF4-FFF2-40B4-BE49-F238E27FC236}">
                <a16:creationId xmlns:a16="http://schemas.microsoft.com/office/drawing/2014/main" id="{AE656691-0541-092A-3810-6D1CF66DC229}"/>
              </a:ext>
            </a:extLst>
          </p:cNvPr>
          <p:cNvSpPr/>
          <p:nvPr/>
        </p:nvSpPr>
        <p:spPr>
          <a:xfrm>
            <a:off x="1078628" y="1491630"/>
            <a:ext cx="1924922" cy="3232578"/>
          </a:xfrm>
          <a:custGeom>
            <a:avLst/>
            <a:gdLst/>
            <a:ahLst/>
            <a:cxnLst/>
            <a:rect l="l" t="t" r="r" b="b"/>
            <a:pathLst>
              <a:path w="2522220" h="4505325">
                <a:moveTo>
                  <a:pt x="2522070" y="0"/>
                </a:moveTo>
                <a:lnTo>
                  <a:pt x="420354" y="0"/>
                </a:lnTo>
                <a:lnTo>
                  <a:pt x="371332" y="2828"/>
                </a:lnTo>
                <a:lnTo>
                  <a:pt x="323971" y="11101"/>
                </a:lnTo>
                <a:lnTo>
                  <a:pt x="278586" y="24506"/>
                </a:lnTo>
                <a:lnTo>
                  <a:pt x="235493" y="42725"/>
                </a:lnTo>
                <a:lnTo>
                  <a:pt x="195007" y="65444"/>
                </a:lnTo>
                <a:lnTo>
                  <a:pt x="157444" y="92347"/>
                </a:lnTo>
                <a:lnTo>
                  <a:pt x="123119" y="123119"/>
                </a:lnTo>
                <a:lnTo>
                  <a:pt x="92347" y="157444"/>
                </a:lnTo>
                <a:lnTo>
                  <a:pt x="65444" y="195007"/>
                </a:lnTo>
                <a:lnTo>
                  <a:pt x="42725" y="235493"/>
                </a:lnTo>
                <a:lnTo>
                  <a:pt x="24506" y="278586"/>
                </a:lnTo>
                <a:lnTo>
                  <a:pt x="11101" y="323971"/>
                </a:lnTo>
                <a:lnTo>
                  <a:pt x="2828" y="371332"/>
                </a:lnTo>
                <a:lnTo>
                  <a:pt x="0" y="420354"/>
                </a:lnTo>
                <a:lnTo>
                  <a:pt x="0" y="4504857"/>
                </a:lnTo>
                <a:lnTo>
                  <a:pt x="2101715" y="4504857"/>
                </a:lnTo>
                <a:lnTo>
                  <a:pt x="2150737" y="4502029"/>
                </a:lnTo>
                <a:lnTo>
                  <a:pt x="2198098" y="4493755"/>
                </a:lnTo>
                <a:lnTo>
                  <a:pt x="2243483" y="4480351"/>
                </a:lnTo>
                <a:lnTo>
                  <a:pt x="2286576" y="4462131"/>
                </a:lnTo>
                <a:lnTo>
                  <a:pt x="2327062" y="4439412"/>
                </a:lnTo>
                <a:lnTo>
                  <a:pt x="2364625" y="4412509"/>
                </a:lnTo>
                <a:lnTo>
                  <a:pt x="2398950" y="4381738"/>
                </a:lnTo>
                <a:lnTo>
                  <a:pt x="2429722" y="4347412"/>
                </a:lnTo>
                <a:lnTo>
                  <a:pt x="2456625" y="4309849"/>
                </a:lnTo>
                <a:lnTo>
                  <a:pt x="2479344" y="4269363"/>
                </a:lnTo>
                <a:lnTo>
                  <a:pt x="2497563" y="4226270"/>
                </a:lnTo>
                <a:lnTo>
                  <a:pt x="2510968" y="4180885"/>
                </a:lnTo>
                <a:lnTo>
                  <a:pt x="2519242" y="4133524"/>
                </a:lnTo>
                <a:lnTo>
                  <a:pt x="2522070" y="4084502"/>
                </a:lnTo>
                <a:lnTo>
                  <a:pt x="2522070" y="0"/>
                </a:lnTo>
                <a:close/>
              </a:path>
            </a:pathLst>
          </a:custGeom>
          <a:solidFill>
            <a:schemeClr val="accent5">
              <a:lumMod val="75000"/>
            </a:schemeClr>
          </a:solidFill>
        </p:spPr>
        <p:txBody>
          <a:bodyPr wrap="square" lIns="0" tIns="0" rIns="0" bIns="0" rtlCol="0"/>
          <a:lstStyle/>
          <a:p>
            <a:endParaRPr dirty="0"/>
          </a:p>
        </p:txBody>
      </p:sp>
      <p:sp>
        <p:nvSpPr>
          <p:cNvPr id="8" name="object 7">
            <a:extLst>
              <a:ext uri="{FF2B5EF4-FFF2-40B4-BE49-F238E27FC236}">
                <a16:creationId xmlns:a16="http://schemas.microsoft.com/office/drawing/2014/main" id="{00B512ED-7E7D-B7CF-CB6B-3B202977851E}"/>
              </a:ext>
            </a:extLst>
          </p:cNvPr>
          <p:cNvSpPr txBox="1"/>
          <p:nvPr/>
        </p:nvSpPr>
        <p:spPr>
          <a:xfrm>
            <a:off x="1484847" y="1177186"/>
            <a:ext cx="1125515" cy="213969"/>
          </a:xfrm>
          <a:prstGeom prst="rect">
            <a:avLst/>
          </a:prstGeom>
        </p:spPr>
        <p:txBody>
          <a:bodyPr vert="horz" wrap="square" lIns="0" tIns="6350" rIns="0" bIns="0" rtlCol="0">
            <a:spAutoFit/>
          </a:bodyPr>
          <a:lstStyle/>
          <a:p>
            <a:pPr marL="127000" marR="5080" indent="-114300" algn="ctr">
              <a:lnSpc>
                <a:spcPct val="102200"/>
              </a:lnSpc>
              <a:spcBef>
                <a:spcPts val="50"/>
              </a:spcBef>
            </a:pPr>
            <a:r>
              <a:rPr sz="1400" b="1" dirty="0">
                <a:solidFill>
                  <a:schemeClr val="tx1">
                    <a:lumMod val="75000"/>
                    <a:lumOff val="25000"/>
                  </a:schemeClr>
                </a:solidFill>
                <a:latin typeface="微软雅黑"/>
                <a:cs typeface="微软雅黑"/>
              </a:rPr>
              <a:t>好络维 案例</a:t>
            </a:r>
            <a:endParaRPr sz="1400" dirty="0">
              <a:solidFill>
                <a:schemeClr val="tx1">
                  <a:lumMod val="75000"/>
                  <a:lumOff val="25000"/>
                </a:schemeClr>
              </a:solidFill>
              <a:latin typeface="微软雅黑"/>
              <a:cs typeface="微软雅黑"/>
            </a:endParaRPr>
          </a:p>
        </p:txBody>
      </p:sp>
      <p:sp>
        <p:nvSpPr>
          <p:cNvPr id="9" name="矩形 8">
            <a:extLst>
              <a:ext uri="{FF2B5EF4-FFF2-40B4-BE49-F238E27FC236}">
                <a16:creationId xmlns:a16="http://schemas.microsoft.com/office/drawing/2014/main" id="{4ABE9F19-9819-F13E-C274-D1366A557C2E}"/>
              </a:ext>
            </a:extLst>
          </p:cNvPr>
          <p:cNvSpPr/>
          <p:nvPr/>
        </p:nvSpPr>
        <p:spPr>
          <a:xfrm>
            <a:off x="1251403" y="1654185"/>
            <a:ext cx="1592405" cy="28539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600"/>
              </a:spcBef>
            </a:pPr>
            <a:r>
              <a:rPr lang="en-US" altLang="zh-CN" sz="1000" spc="-15" dirty="0">
                <a:solidFill>
                  <a:schemeClr val="tx1"/>
                </a:solidFill>
                <a:latin typeface="微软雅黑" panose="020B0503020204020204" pitchFamily="34" charset="-122"/>
                <a:ea typeface="微软雅黑" panose="020B0503020204020204" pitchFamily="34" charset="-122"/>
                <a:cs typeface="微软雅黑"/>
              </a:rPr>
              <a:t>2015</a:t>
            </a: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年</a:t>
            </a:r>
            <a:r>
              <a:rPr lang="en-US" altLang="zh-CN" sz="1000" spc="-15" dirty="0">
                <a:solidFill>
                  <a:schemeClr val="tx1"/>
                </a:solidFill>
                <a:latin typeface="微软雅黑" panose="020B0503020204020204" pitchFamily="34" charset="-122"/>
                <a:ea typeface="微软雅黑" panose="020B0503020204020204" pitchFamily="34" charset="-122"/>
                <a:cs typeface="微软雅黑"/>
              </a:rPr>
              <a:t>9·3</a:t>
            </a:r>
            <a:r>
              <a:rPr lang="zh-CN" altLang="en-US" sz="1000" spc="-15" dirty="0">
                <a:solidFill>
                  <a:schemeClr val="tx1"/>
                </a:solidFill>
                <a:latin typeface="微软雅黑" panose="020B0503020204020204" pitchFamily="34" charset="-122"/>
                <a:ea typeface="微软雅黑" panose="020B0503020204020204" pitchFamily="34" charset="-122"/>
                <a:cs typeface="微软雅黑"/>
              </a:rPr>
              <a:t>阅兵保障</a:t>
            </a:r>
            <a:endParaRPr lang="en-US" altLang="zh-CN" sz="1000" spc="-15"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en-US" altLang="zh-CN" sz="1000" spc="-15" dirty="0">
                <a:solidFill>
                  <a:schemeClr val="tx1"/>
                </a:solidFill>
                <a:latin typeface="微软雅黑" panose="020B0503020204020204" pitchFamily="34" charset="-122"/>
                <a:ea typeface="微软雅黑" panose="020B0503020204020204" pitchFamily="34" charset="-122"/>
                <a:cs typeface="微软雅黑"/>
              </a:rPr>
              <a:t>2019</a:t>
            </a:r>
            <a:r>
              <a:rPr lang="zh-CN" altLang="en-US" sz="1000" spc="-15" dirty="0">
                <a:solidFill>
                  <a:schemeClr val="tx1"/>
                </a:solidFill>
                <a:latin typeface="微软雅黑" panose="020B0503020204020204" pitchFamily="34" charset="-122"/>
                <a:ea typeface="微软雅黑" panose="020B0503020204020204" pitchFamily="34" charset="-122"/>
                <a:cs typeface="微软雅黑"/>
              </a:rPr>
              <a:t>年建</a:t>
            </a: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国</a:t>
            </a:r>
            <a:r>
              <a:rPr lang="en-US" altLang="zh-CN" sz="1000" spc="-15" dirty="0">
                <a:solidFill>
                  <a:schemeClr val="tx1"/>
                </a:solidFill>
                <a:latin typeface="微软雅黑" panose="020B0503020204020204" pitchFamily="34" charset="-122"/>
                <a:ea typeface="微软雅黑" panose="020B0503020204020204" pitchFamily="34" charset="-122"/>
                <a:cs typeface="微软雅黑"/>
              </a:rPr>
              <a:t>70</a:t>
            </a:r>
            <a:r>
              <a:rPr lang="zh-CN" altLang="en-US" sz="1000" spc="-15" dirty="0">
                <a:solidFill>
                  <a:schemeClr val="tx1"/>
                </a:solidFill>
                <a:latin typeface="微软雅黑" panose="020B0503020204020204" pitchFamily="34" charset="-122"/>
                <a:ea typeface="微软雅黑" panose="020B0503020204020204" pitchFamily="34" charset="-122"/>
                <a:cs typeface="微软雅黑"/>
              </a:rPr>
              <a:t>周年阅兵保障</a:t>
            </a:r>
            <a:endParaRPr lang="en-US" altLang="zh-CN" sz="1000" spc="-15"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zh-CN" altLang="en-US" sz="1000" spc="-15" dirty="0">
                <a:solidFill>
                  <a:schemeClr val="tx1"/>
                </a:solidFill>
                <a:latin typeface="微软雅黑" panose="020B0503020204020204" pitchFamily="34" charset="-122"/>
                <a:ea typeface="微软雅黑" panose="020B0503020204020204" pitchFamily="34" charset="-122"/>
                <a:cs typeface="微软雅黑"/>
              </a:rPr>
              <a:t>固始远程心电与慢病管理</a:t>
            </a:r>
            <a:endParaRPr lang="en-US" altLang="zh-CN" sz="1000" spc="-15"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zh-CN" altLang="en-US" sz="1000" dirty="0">
                <a:solidFill>
                  <a:schemeClr val="tx1"/>
                </a:solidFill>
                <a:latin typeface="微软雅黑" panose="020B0503020204020204" pitchFamily="34" charset="-122"/>
                <a:ea typeface="微软雅黑" panose="020B0503020204020204" pitchFamily="34" charset="-122"/>
                <a:cs typeface="微软雅黑"/>
              </a:rPr>
              <a:t>青岛城阳区区域心电</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zh-CN" altLang="en-US" sz="1000" dirty="0">
                <a:solidFill>
                  <a:schemeClr val="tx1"/>
                </a:solidFill>
                <a:latin typeface="微软雅黑" panose="020B0503020204020204" pitchFamily="34" charset="-122"/>
                <a:ea typeface="微软雅黑" panose="020B0503020204020204" pitchFamily="34" charset="-122"/>
                <a:cs typeface="微软雅黑"/>
              </a:rPr>
              <a:t>浙江椒江心电一张网</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zh-CN" altLang="en-US" sz="1000" dirty="0">
                <a:solidFill>
                  <a:schemeClr val="tx1"/>
                </a:solidFill>
                <a:latin typeface="微软雅黑" panose="020B0503020204020204" pitchFamily="34" charset="-122"/>
                <a:ea typeface="微软雅黑" panose="020B0503020204020204" pitchFamily="34" charset="-122"/>
                <a:cs typeface="微软雅黑"/>
              </a:rPr>
              <a:t>德清县居民心电筛查</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zh-CN" altLang="en-US" sz="1000" dirty="0">
                <a:solidFill>
                  <a:schemeClr val="tx1"/>
                </a:solidFill>
                <a:latin typeface="微软雅黑" panose="020B0503020204020204" pitchFamily="34" charset="-122"/>
                <a:ea typeface="微软雅黑" panose="020B0503020204020204" pitchFamily="34" charset="-122"/>
                <a:cs typeface="微软雅黑"/>
              </a:rPr>
              <a:t>富士康晓康之家员工智能体检</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spcBef>
                <a:spcPts val="600"/>
              </a:spcBef>
            </a:pPr>
            <a:r>
              <a:rPr lang="en-US" altLang="zh-CN" sz="1000" dirty="0">
                <a:solidFill>
                  <a:schemeClr val="tx1"/>
                </a:solidFill>
                <a:latin typeface="微软雅黑" panose="020B0503020204020204" pitchFamily="34" charset="-122"/>
                <a:ea typeface="微软雅黑" panose="020B0503020204020204" pitchFamily="34" charset="-122"/>
                <a:cs typeface="微软雅黑"/>
              </a:rPr>
              <a:t>"</a:t>
            </a:r>
            <a:r>
              <a:rPr lang="zh-CN" altLang="en-US" sz="1000" dirty="0">
                <a:solidFill>
                  <a:schemeClr val="tx1"/>
                </a:solidFill>
                <a:latin typeface="微软雅黑" panose="020B0503020204020204" pitchFamily="34" charset="-122"/>
                <a:ea typeface="微软雅黑" panose="020B0503020204020204" pitchFamily="34" charset="-122"/>
                <a:cs typeface="微软雅黑"/>
              </a:rPr>
              <a:t>生命卫士”社区健康驿站</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pPr>
            <a:r>
              <a:rPr lang="en-US" altLang="zh-CN" sz="1000" dirty="0">
                <a:solidFill>
                  <a:schemeClr val="tx1"/>
                </a:solidFill>
                <a:latin typeface="微软雅黑" panose="020B0503020204020204" pitchFamily="34" charset="-122"/>
                <a:ea typeface="微软雅黑" panose="020B0503020204020204" pitchFamily="34" charset="-122"/>
                <a:cs typeface="微软雅黑"/>
              </a:rPr>
              <a:t>……</a:t>
            </a:r>
            <a:endParaRPr lang="zh-CN" altLang="en-US" sz="1000" dirty="0">
              <a:latin typeface="微软雅黑" panose="020B0503020204020204" pitchFamily="34" charset="-122"/>
              <a:ea typeface="微软雅黑" panose="020B0503020204020204" pitchFamily="34" charset="-122"/>
            </a:endParaRPr>
          </a:p>
        </p:txBody>
      </p:sp>
      <p:sp>
        <p:nvSpPr>
          <p:cNvPr id="10" name="object 3">
            <a:extLst>
              <a:ext uri="{FF2B5EF4-FFF2-40B4-BE49-F238E27FC236}">
                <a16:creationId xmlns:a16="http://schemas.microsoft.com/office/drawing/2014/main" id="{11EF9BFA-45FD-97B9-38C6-4E47CB031895}"/>
              </a:ext>
            </a:extLst>
          </p:cNvPr>
          <p:cNvSpPr/>
          <p:nvPr/>
        </p:nvSpPr>
        <p:spPr>
          <a:xfrm>
            <a:off x="3558650" y="1491630"/>
            <a:ext cx="1837188" cy="3232578"/>
          </a:xfrm>
          <a:custGeom>
            <a:avLst/>
            <a:gdLst/>
            <a:ahLst/>
            <a:cxnLst/>
            <a:rect l="l" t="t" r="r" b="b"/>
            <a:pathLst>
              <a:path w="2522220" h="4505325">
                <a:moveTo>
                  <a:pt x="2522070" y="0"/>
                </a:moveTo>
                <a:lnTo>
                  <a:pt x="420354" y="0"/>
                </a:lnTo>
                <a:lnTo>
                  <a:pt x="371332" y="2828"/>
                </a:lnTo>
                <a:lnTo>
                  <a:pt x="323971" y="11101"/>
                </a:lnTo>
                <a:lnTo>
                  <a:pt x="278586" y="24506"/>
                </a:lnTo>
                <a:lnTo>
                  <a:pt x="235493" y="42725"/>
                </a:lnTo>
                <a:lnTo>
                  <a:pt x="195007" y="65444"/>
                </a:lnTo>
                <a:lnTo>
                  <a:pt x="157444" y="92347"/>
                </a:lnTo>
                <a:lnTo>
                  <a:pt x="123119" y="123119"/>
                </a:lnTo>
                <a:lnTo>
                  <a:pt x="92347" y="157444"/>
                </a:lnTo>
                <a:lnTo>
                  <a:pt x="65444" y="195007"/>
                </a:lnTo>
                <a:lnTo>
                  <a:pt x="42725" y="235493"/>
                </a:lnTo>
                <a:lnTo>
                  <a:pt x="24506" y="278586"/>
                </a:lnTo>
                <a:lnTo>
                  <a:pt x="11101" y="323971"/>
                </a:lnTo>
                <a:lnTo>
                  <a:pt x="2828" y="371332"/>
                </a:lnTo>
                <a:lnTo>
                  <a:pt x="0" y="420354"/>
                </a:lnTo>
                <a:lnTo>
                  <a:pt x="0" y="4504857"/>
                </a:lnTo>
                <a:lnTo>
                  <a:pt x="2101715" y="4504857"/>
                </a:lnTo>
                <a:lnTo>
                  <a:pt x="2150737" y="4502029"/>
                </a:lnTo>
                <a:lnTo>
                  <a:pt x="2198098" y="4493755"/>
                </a:lnTo>
                <a:lnTo>
                  <a:pt x="2243483" y="4480351"/>
                </a:lnTo>
                <a:lnTo>
                  <a:pt x="2286576" y="4462131"/>
                </a:lnTo>
                <a:lnTo>
                  <a:pt x="2327062" y="4439412"/>
                </a:lnTo>
                <a:lnTo>
                  <a:pt x="2364625" y="4412509"/>
                </a:lnTo>
                <a:lnTo>
                  <a:pt x="2398950" y="4381738"/>
                </a:lnTo>
                <a:lnTo>
                  <a:pt x="2429722" y="4347412"/>
                </a:lnTo>
                <a:lnTo>
                  <a:pt x="2456625" y="4309849"/>
                </a:lnTo>
                <a:lnTo>
                  <a:pt x="2479344" y="4269363"/>
                </a:lnTo>
                <a:lnTo>
                  <a:pt x="2497563" y="4226270"/>
                </a:lnTo>
                <a:lnTo>
                  <a:pt x="2510968" y="4180885"/>
                </a:lnTo>
                <a:lnTo>
                  <a:pt x="2519242" y="4133524"/>
                </a:lnTo>
                <a:lnTo>
                  <a:pt x="2522070" y="4084502"/>
                </a:lnTo>
                <a:lnTo>
                  <a:pt x="2522070" y="0"/>
                </a:lnTo>
                <a:close/>
              </a:path>
            </a:pathLst>
          </a:custGeom>
          <a:solidFill>
            <a:schemeClr val="accent5">
              <a:lumMod val="75000"/>
            </a:schemeClr>
          </a:solidFill>
        </p:spPr>
        <p:txBody>
          <a:bodyPr wrap="square" lIns="0" tIns="0" rIns="0" bIns="0" rtlCol="0"/>
          <a:lstStyle/>
          <a:p>
            <a:endParaRPr dirty="0"/>
          </a:p>
        </p:txBody>
      </p:sp>
      <p:sp>
        <p:nvSpPr>
          <p:cNvPr id="11" name="矩形 10">
            <a:extLst>
              <a:ext uri="{FF2B5EF4-FFF2-40B4-BE49-F238E27FC236}">
                <a16:creationId xmlns:a16="http://schemas.microsoft.com/office/drawing/2014/main" id="{D1BBC2C0-B651-002E-E20E-BF9E29AF7FD8}"/>
              </a:ext>
            </a:extLst>
          </p:cNvPr>
          <p:cNvSpPr/>
          <p:nvPr/>
        </p:nvSpPr>
        <p:spPr>
          <a:xfrm>
            <a:off x="3731426" y="1654185"/>
            <a:ext cx="1491635" cy="5980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华为运动健康</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心电服务</a:t>
            </a:r>
          </a:p>
        </p:txBody>
      </p:sp>
      <p:sp>
        <p:nvSpPr>
          <p:cNvPr id="12" name="object 3">
            <a:extLst>
              <a:ext uri="{FF2B5EF4-FFF2-40B4-BE49-F238E27FC236}">
                <a16:creationId xmlns:a16="http://schemas.microsoft.com/office/drawing/2014/main" id="{D61119AE-CB41-B8BB-FD6E-D268263151FD}"/>
              </a:ext>
            </a:extLst>
          </p:cNvPr>
          <p:cNvSpPr/>
          <p:nvPr/>
        </p:nvSpPr>
        <p:spPr>
          <a:xfrm>
            <a:off x="6047179" y="1464895"/>
            <a:ext cx="1837188" cy="3232578"/>
          </a:xfrm>
          <a:custGeom>
            <a:avLst/>
            <a:gdLst/>
            <a:ahLst/>
            <a:cxnLst/>
            <a:rect l="l" t="t" r="r" b="b"/>
            <a:pathLst>
              <a:path w="2522220" h="4505325">
                <a:moveTo>
                  <a:pt x="2522070" y="0"/>
                </a:moveTo>
                <a:lnTo>
                  <a:pt x="420354" y="0"/>
                </a:lnTo>
                <a:lnTo>
                  <a:pt x="371332" y="2828"/>
                </a:lnTo>
                <a:lnTo>
                  <a:pt x="323971" y="11101"/>
                </a:lnTo>
                <a:lnTo>
                  <a:pt x="278586" y="24506"/>
                </a:lnTo>
                <a:lnTo>
                  <a:pt x="235493" y="42725"/>
                </a:lnTo>
                <a:lnTo>
                  <a:pt x="195007" y="65444"/>
                </a:lnTo>
                <a:lnTo>
                  <a:pt x="157444" y="92347"/>
                </a:lnTo>
                <a:lnTo>
                  <a:pt x="123119" y="123119"/>
                </a:lnTo>
                <a:lnTo>
                  <a:pt x="92347" y="157444"/>
                </a:lnTo>
                <a:lnTo>
                  <a:pt x="65444" y="195007"/>
                </a:lnTo>
                <a:lnTo>
                  <a:pt x="42725" y="235493"/>
                </a:lnTo>
                <a:lnTo>
                  <a:pt x="24506" y="278586"/>
                </a:lnTo>
                <a:lnTo>
                  <a:pt x="11101" y="323971"/>
                </a:lnTo>
                <a:lnTo>
                  <a:pt x="2828" y="371332"/>
                </a:lnTo>
                <a:lnTo>
                  <a:pt x="0" y="420354"/>
                </a:lnTo>
                <a:lnTo>
                  <a:pt x="0" y="4504857"/>
                </a:lnTo>
                <a:lnTo>
                  <a:pt x="2101715" y="4504857"/>
                </a:lnTo>
                <a:lnTo>
                  <a:pt x="2150737" y="4502029"/>
                </a:lnTo>
                <a:lnTo>
                  <a:pt x="2198098" y="4493755"/>
                </a:lnTo>
                <a:lnTo>
                  <a:pt x="2243483" y="4480351"/>
                </a:lnTo>
                <a:lnTo>
                  <a:pt x="2286576" y="4462131"/>
                </a:lnTo>
                <a:lnTo>
                  <a:pt x="2327062" y="4439412"/>
                </a:lnTo>
                <a:lnTo>
                  <a:pt x="2364625" y="4412509"/>
                </a:lnTo>
                <a:lnTo>
                  <a:pt x="2398950" y="4381738"/>
                </a:lnTo>
                <a:lnTo>
                  <a:pt x="2429722" y="4347412"/>
                </a:lnTo>
                <a:lnTo>
                  <a:pt x="2456625" y="4309849"/>
                </a:lnTo>
                <a:lnTo>
                  <a:pt x="2479344" y="4269363"/>
                </a:lnTo>
                <a:lnTo>
                  <a:pt x="2497563" y="4226270"/>
                </a:lnTo>
                <a:lnTo>
                  <a:pt x="2510968" y="4180885"/>
                </a:lnTo>
                <a:lnTo>
                  <a:pt x="2519242" y="4133524"/>
                </a:lnTo>
                <a:lnTo>
                  <a:pt x="2522070" y="4084502"/>
                </a:lnTo>
                <a:lnTo>
                  <a:pt x="2522070" y="0"/>
                </a:lnTo>
                <a:close/>
              </a:path>
            </a:pathLst>
          </a:custGeom>
          <a:solidFill>
            <a:schemeClr val="accent5">
              <a:lumMod val="75000"/>
            </a:schemeClr>
          </a:solidFill>
        </p:spPr>
        <p:txBody>
          <a:bodyPr wrap="square" lIns="0" tIns="0" rIns="0" bIns="0" rtlCol="0"/>
          <a:lstStyle/>
          <a:p>
            <a:endParaRPr/>
          </a:p>
        </p:txBody>
      </p:sp>
      <p:sp>
        <p:nvSpPr>
          <p:cNvPr id="13" name="矩形 12">
            <a:extLst>
              <a:ext uri="{FF2B5EF4-FFF2-40B4-BE49-F238E27FC236}">
                <a16:creationId xmlns:a16="http://schemas.microsoft.com/office/drawing/2014/main" id="{778E26DF-080C-EAA9-C065-60B37584DAC6}"/>
              </a:ext>
            </a:extLst>
          </p:cNvPr>
          <p:cNvSpPr/>
          <p:nvPr/>
        </p:nvSpPr>
        <p:spPr>
          <a:xfrm>
            <a:off x="6213454" y="1654184"/>
            <a:ext cx="1491635" cy="12712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spcBef>
                <a:spcPts val="1000"/>
              </a:spcBef>
            </a:pPr>
            <a:endParaRPr lang="en-US" altLang="zh-CN" sz="1000" spc="-1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5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北京平谷区心电一张网</a:t>
            </a:r>
            <a:endParaRPr lang="en-US" altLang="zh-CN" sz="1000" spc="-1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5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河北阜平县心电一张网</a:t>
            </a:r>
            <a:endParaRPr lang="zh-CN" altLang="en-US"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5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江西寻乌县心电一张网</a:t>
            </a:r>
            <a:endParaRPr lang="zh-CN" altLang="en-US"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50000"/>
              </a:lnSpc>
            </a:pPr>
            <a:r>
              <a:rPr lang="zh-CN" altLang="en-US" sz="1000" dirty="0">
                <a:solidFill>
                  <a:schemeClr val="tx1"/>
                </a:solidFill>
                <a:latin typeface="微软雅黑" panose="020B0503020204020204" pitchFamily="34" charset="-122"/>
                <a:ea typeface="微软雅黑" panose="020B0503020204020204" pitchFamily="34" charset="-122"/>
                <a:cs typeface="微软雅黑"/>
              </a:rPr>
              <a:t>浙江景宁心电一张网</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50000"/>
              </a:lnSpc>
            </a:pPr>
            <a:r>
              <a:rPr lang="zh-CN" altLang="en-US" sz="1000" dirty="0">
                <a:solidFill>
                  <a:schemeClr val="tx1"/>
                </a:solidFill>
                <a:latin typeface="微软雅黑" panose="020B0503020204020204" pitchFamily="34" charset="-122"/>
                <a:ea typeface="微软雅黑" panose="020B0503020204020204" pitchFamily="34" charset="-122"/>
                <a:cs typeface="微软雅黑"/>
              </a:rPr>
              <a:t>陕西清涧心电一张网</a:t>
            </a:r>
            <a:endParaRPr lang="en-US" altLang="zh-CN" sz="1000" dirty="0">
              <a:solidFill>
                <a:schemeClr val="tx1"/>
              </a:solidFill>
              <a:latin typeface="微软雅黑" panose="020B0503020204020204" pitchFamily="34" charset="-122"/>
              <a:ea typeface="微软雅黑" panose="020B0503020204020204" pitchFamily="34" charset="-122"/>
              <a:cs typeface="微软雅黑"/>
            </a:endParaRPr>
          </a:p>
          <a:p>
            <a:pPr algn="ctr"/>
            <a:endParaRPr lang="zh-CN" altLang="en-US" sz="1000" dirty="0">
              <a:solidFill>
                <a:schemeClr val="tx1"/>
              </a:solidFill>
              <a:latin typeface="微软雅黑" panose="020B0503020204020204" pitchFamily="34" charset="-122"/>
              <a:ea typeface="微软雅黑" panose="020B0503020204020204" pitchFamily="34" charset="-122"/>
              <a:cs typeface="微软雅黑"/>
            </a:endParaRPr>
          </a:p>
        </p:txBody>
      </p:sp>
      <p:sp>
        <p:nvSpPr>
          <p:cNvPr id="14" name="object 7">
            <a:extLst>
              <a:ext uri="{FF2B5EF4-FFF2-40B4-BE49-F238E27FC236}">
                <a16:creationId xmlns:a16="http://schemas.microsoft.com/office/drawing/2014/main" id="{5D68B5E9-2A88-A8DB-7AB9-B5DFD48C7DC2}"/>
              </a:ext>
            </a:extLst>
          </p:cNvPr>
          <p:cNvSpPr txBox="1"/>
          <p:nvPr/>
        </p:nvSpPr>
        <p:spPr>
          <a:xfrm>
            <a:off x="3731425" y="1163267"/>
            <a:ext cx="1416438" cy="213969"/>
          </a:xfrm>
          <a:prstGeom prst="rect">
            <a:avLst/>
          </a:prstGeom>
        </p:spPr>
        <p:txBody>
          <a:bodyPr vert="horz" wrap="square" lIns="0" tIns="6350" rIns="0" bIns="0" rtlCol="0">
            <a:spAutoFit/>
          </a:bodyPr>
          <a:lstStyle/>
          <a:p>
            <a:pPr marL="127000" marR="5080" indent="-114300" algn="ctr">
              <a:lnSpc>
                <a:spcPct val="102200"/>
              </a:lnSpc>
              <a:spcBef>
                <a:spcPts val="50"/>
              </a:spcBef>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a:rPr>
              <a:t>华为 合作</a:t>
            </a:r>
            <a:r>
              <a:rPr sz="1400" b="1" dirty="0" err="1">
                <a:solidFill>
                  <a:schemeClr val="tx1">
                    <a:lumMod val="75000"/>
                    <a:lumOff val="25000"/>
                  </a:schemeClr>
                </a:solidFill>
                <a:latin typeface="微软雅黑"/>
                <a:cs typeface="微软雅黑"/>
              </a:rPr>
              <a:t>案例</a:t>
            </a:r>
            <a:endParaRPr sz="1400" dirty="0">
              <a:solidFill>
                <a:schemeClr val="tx1">
                  <a:lumMod val="75000"/>
                  <a:lumOff val="25000"/>
                </a:schemeClr>
              </a:solidFill>
              <a:latin typeface="微软雅黑"/>
              <a:cs typeface="微软雅黑"/>
            </a:endParaRPr>
          </a:p>
        </p:txBody>
      </p:sp>
      <p:sp>
        <p:nvSpPr>
          <p:cNvPr id="15" name="object 7">
            <a:extLst>
              <a:ext uri="{FF2B5EF4-FFF2-40B4-BE49-F238E27FC236}">
                <a16:creationId xmlns:a16="http://schemas.microsoft.com/office/drawing/2014/main" id="{67E76BA7-4E10-806F-F2D3-5CE4805B9C3E}"/>
              </a:ext>
            </a:extLst>
          </p:cNvPr>
          <p:cNvSpPr txBox="1"/>
          <p:nvPr/>
        </p:nvSpPr>
        <p:spPr>
          <a:xfrm>
            <a:off x="6058187" y="1177186"/>
            <a:ext cx="1802168" cy="213969"/>
          </a:xfrm>
          <a:prstGeom prst="rect">
            <a:avLst/>
          </a:prstGeom>
        </p:spPr>
        <p:txBody>
          <a:bodyPr vert="horz" wrap="square" lIns="0" tIns="6350" rIns="0" bIns="0" rtlCol="0">
            <a:spAutoFit/>
          </a:bodyPr>
          <a:lstStyle/>
          <a:p>
            <a:pPr marL="127000" marR="5080" indent="-114300" algn="ctr">
              <a:lnSpc>
                <a:spcPct val="102200"/>
              </a:lnSpc>
              <a:spcBef>
                <a:spcPts val="50"/>
              </a:spcBef>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a:rPr>
              <a:t>阿里健康 合作</a:t>
            </a:r>
            <a:r>
              <a:rPr sz="1400" b="1" dirty="0" err="1">
                <a:solidFill>
                  <a:schemeClr val="tx1">
                    <a:lumMod val="75000"/>
                    <a:lumOff val="25000"/>
                  </a:schemeClr>
                </a:solidFill>
                <a:latin typeface="微软雅黑"/>
                <a:cs typeface="微软雅黑"/>
              </a:rPr>
              <a:t>案例</a:t>
            </a:r>
            <a:endParaRPr sz="1400" dirty="0">
              <a:solidFill>
                <a:schemeClr val="tx1">
                  <a:lumMod val="75000"/>
                  <a:lumOff val="25000"/>
                </a:schemeClr>
              </a:solidFill>
              <a:latin typeface="微软雅黑"/>
              <a:cs typeface="微软雅黑"/>
            </a:endParaRPr>
          </a:p>
        </p:txBody>
      </p:sp>
      <p:sp>
        <p:nvSpPr>
          <p:cNvPr id="16" name="矩形 15">
            <a:extLst>
              <a:ext uri="{FF2B5EF4-FFF2-40B4-BE49-F238E27FC236}">
                <a16:creationId xmlns:a16="http://schemas.microsoft.com/office/drawing/2014/main" id="{7F345A0E-57DE-96A6-C3A2-F5231FDE1F56}"/>
              </a:ext>
            </a:extLst>
          </p:cNvPr>
          <p:cNvSpPr/>
          <p:nvPr/>
        </p:nvSpPr>
        <p:spPr>
          <a:xfrm>
            <a:off x="3731425" y="2435981"/>
            <a:ext cx="1491635" cy="8963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山东高青县</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智慧城市项目</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（远程心电协同）</a:t>
            </a:r>
          </a:p>
        </p:txBody>
      </p:sp>
      <p:sp>
        <p:nvSpPr>
          <p:cNvPr id="17" name="矩形 16">
            <a:extLst>
              <a:ext uri="{FF2B5EF4-FFF2-40B4-BE49-F238E27FC236}">
                <a16:creationId xmlns:a16="http://schemas.microsoft.com/office/drawing/2014/main" id="{F566871E-0B71-ECD1-CF80-9DB9289196C6}"/>
              </a:ext>
            </a:extLst>
          </p:cNvPr>
          <p:cNvSpPr/>
          <p:nvPr/>
        </p:nvSpPr>
        <p:spPr>
          <a:xfrm>
            <a:off x="3731425" y="3548343"/>
            <a:ext cx="1491635" cy="9598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兰州新区</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智慧医疗</a:t>
            </a:r>
            <a:endParaRPr lang="en-US" altLang="zh-CN" sz="1000" dirty="0">
              <a:solidFill>
                <a:schemeClr val="tx1"/>
              </a:solidFill>
              <a:latin typeface="微软雅黑" panose="020B0503020204020204" pitchFamily="34" charset="-122"/>
              <a:ea typeface="微软雅黑" panose="020B0503020204020204" pitchFamily="34" charset="-122"/>
            </a:endParaRPr>
          </a:p>
          <a:p>
            <a:pPr algn="ctr">
              <a:lnSpc>
                <a:spcPct val="120000"/>
              </a:lnSpc>
            </a:pPr>
            <a:r>
              <a:rPr lang="zh-CN" altLang="en-US" sz="1000" dirty="0">
                <a:solidFill>
                  <a:schemeClr val="tx1"/>
                </a:solidFill>
                <a:latin typeface="微软雅黑" panose="020B0503020204020204" pitchFamily="34" charset="-122"/>
                <a:ea typeface="微软雅黑" panose="020B0503020204020204" pitchFamily="34" charset="-122"/>
              </a:rPr>
              <a:t>（远程心电一张网）</a:t>
            </a:r>
          </a:p>
        </p:txBody>
      </p:sp>
      <p:sp>
        <p:nvSpPr>
          <p:cNvPr id="20" name="矩形 19">
            <a:extLst>
              <a:ext uri="{FF2B5EF4-FFF2-40B4-BE49-F238E27FC236}">
                <a16:creationId xmlns:a16="http://schemas.microsoft.com/office/drawing/2014/main" id="{965B75DC-0356-E281-054C-AEF6638C9FCE}"/>
              </a:ext>
            </a:extLst>
          </p:cNvPr>
          <p:cNvSpPr/>
          <p:nvPr/>
        </p:nvSpPr>
        <p:spPr>
          <a:xfrm>
            <a:off x="6213456" y="2998194"/>
            <a:ext cx="1491635" cy="1063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日喀则、黔东南、 白银、武威、肇庆、安康、</a:t>
            </a:r>
            <a:endParaRPr lang="en-US" altLang="zh-CN" sz="1000" spc="-1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榆林、延安、松潘、</a:t>
            </a:r>
            <a:endParaRPr lang="en-US" altLang="zh-CN" sz="1000" spc="-10" dirty="0">
              <a:solidFill>
                <a:schemeClr val="tx1"/>
              </a:solidFill>
              <a:latin typeface="微软雅黑" panose="020B0503020204020204" pitchFamily="34" charset="-122"/>
              <a:ea typeface="微软雅黑" panose="020B0503020204020204" pitchFamily="34" charset="-122"/>
              <a:cs typeface="微软雅黑"/>
            </a:endParaRPr>
          </a:p>
          <a:p>
            <a:pPr algn="ctr">
              <a:lnSpc>
                <a:spcPct val="12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临汾</a:t>
            </a:r>
            <a:r>
              <a:rPr lang="en-US" altLang="zh-CN" sz="1000" spc="-10" dirty="0">
                <a:solidFill>
                  <a:schemeClr val="tx1"/>
                </a:solidFill>
                <a:latin typeface="微软雅黑" panose="020B0503020204020204" pitchFamily="34" charset="-122"/>
                <a:ea typeface="微软雅黑" panose="020B0503020204020204" pitchFamily="34" charset="-122"/>
                <a:cs typeface="微软雅黑"/>
              </a:rPr>
              <a:t>…</a:t>
            </a:r>
          </a:p>
          <a:p>
            <a:pPr algn="ctr">
              <a:lnSpc>
                <a:spcPct val="120000"/>
              </a:lnSpc>
            </a:pPr>
            <a:r>
              <a:rPr lang="zh-CN" altLang="en-US" sz="1000" spc="-10" dirty="0">
                <a:solidFill>
                  <a:schemeClr val="tx1"/>
                </a:solidFill>
                <a:latin typeface="微软雅黑" panose="020B0503020204020204" pitchFamily="34" charset="-122"/>
                <a:ea typeface="微软雅黑" panose="020B0503020204020204" pitchFamily="34" charset="-122"/>
                <a:cs typeface="微软雅黑"/>
              </a:rPr>
              <a:t>村站心电远程监测</a:t>
            </a:r>
          </a:p>
        </p:txBody>
      </p:sp>
      <p:sp>
        <p:nvSpPr>
          <p:cNvPr id="21" name="矩形 20">
            <a:extLst>
              <a:ext uri="{FF2B5EF4-FFF2-40B4-BE49-F238E27FC236}">
                <a16:creationId xmlns:a16="http://schemas.microsoft.com/office/drawing/2014/main" id="{FF41FB1C-02D0-1059-CAF6-B5E4D7668ED0}"/>
              </a:ext>
            </a:extLst>
          </p:cNvPr>
          <p:cNvSpPr/>
          <p:nvPr/>
        </p:nvSpPr>
        <p:spPr>
          <a:xfrm>
            <a:off x="6213455" y="4133975"/>
            <a:ext cx="1491635" cy="3742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spc="-10" dirty="0">
                <a:solidFill>
                  <a:schemeClr val="tx1"/>
                </a:solidFill>
                <a:latin typeface="微软雅黑" panose="020B0503020204020204" pitchFamily="34" charset="-122"/>
                <a:ea typeface="微软雅黑" panose="020B0503020204020204" pitchFamily="34" charset="-122"/>
                <a:cs typeface="微软雅黑"/>
              </a:rPr>
              <a:t>……</a:t>
            </a:r>
            <a:endParaRPr lang="zh-CN" altLang="en-US" sz="1000" dirty="0">
              <a:solidFill>
                <a:schemeClr val="tx1"/>
              </a:solidFill>
              <a:latin typeface="微软雅黑" panose="020B0503020204020204" pitchFamily="34" charset="-122"/>
              <a:ea typeface="微软雅黑" panose="020B0503020204020204" pitchFamily="34" charset="-122"/>
              <a:cs typeface="微软雅黑"/>
            </a:endParaRPr>
          </a:p>
        </p:txBody>
      </p:sp>
    </p:spTree>
    <p:extLst>
      <p:ext uri="{BB962C8B-B14F-4D97-AF65-F5344CB8AC3E}">
        <p14:creationId xmlns:p14="http://schemas.microsoft.com/office/powerpoint/2010/main" val="401473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C8653-4D36-79FD-B8AB-7F7222B61F8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3362F7B-D24C-F94E-6DED-E8915D12A6D2}"/>
              </a:ext>
            </a:extLst>
          </p:cNvPr>
          <p:cNvSpPr/>
          <p:nvPr/>
        </p:nvSpPr>
        <p:spPr>
          <a:xfrm flipH="1">
            <a:off x="-36830" y="0"/>
            <a:ext cx="4895850" cy="5152390"/>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102" name="图片 101">
            <a:extLst>
              <a:ext uri="{FF2B5EF4-FFF2-40B4-BE49-F238E27FC236}">
                <a16:creationId xmlns:a16="http://schemas.microsoft.com/office/drawing/2014/main" id="{1A4DFB43-DC0D-6E95-6C17-3AA2AA632809}"/>
              </a:ext>
            </a:extLst>
          </p:cNvPr>
          <p:cNvPicPr/>
          <p:nvPr/>
        </p:nvPicPr>
        <p:blipFill>
          <a:blip r:embed="rId3">
            <a:alphaModFix amt="20000"/>
          </a:blip>
          <a:srcRect r="37055"/>
          <a:stretch>
            <a:fillRect/>
          </a:stretch>
        </p:blipFill>
        <p:spPr>
          <a:xfrm>
            <a:off x="-36195" y="0"/>
            <a:ext cx="4896485" cy="5143500"/>
          </a:xfrm>
          <a:prstGeom prst="rect">
            <a:avLst/>
          </a:prstGeom>
          <a:noFill/>
          <a:ln w="9525">
            <a:noFill/>
          </a:ln>
        </p:spPr>
      </p:pic>
      <p:sp>
        <p:nvSpPr>
          <p:cNvPr id="3" name="文本框 2">
            <a:extLst>
              <a:ext uri="{FF2B5EF4-FFF2-40B4-BE49-F238E27FC236}">
                <a16:creationId xmlns:a16="http://schemas.microsoft.com/office/drawing/2014/main" id="{2C927F2A-2895-8A97-E602-9153C04A203E}"/>
              </a:ext>
            </a:extLst>
          </p:cNvPr>
          <p:cNvSpPr txBox="1"/>
          <p:nvPr/>
        </p:nvSpPr>
        <p:spPr>
          <a:xfrm>
            <a:off x="611505" y="699770"/>
            <a:ext cx="1868805" cy="768350"/>
          </a:xfrm>
          <a:prstGeom prst="rect">
            <a:avLst/>
          </a:prstGeom>
          <a:noFill/>
        </p:spPr>
        <p:txBody>
          <a:bodyPr wrap="square" rtlCol="0">
            <a:spAutoFit/>
          </a:bodyPr>
          <a:lstStyle/>
          <a:p>
            <a:r>
              <a:rPr lang="zh-CN" altLang="en-US" sz="4400" b="1">
                <a:solidFill>
                  <a:schemeClr val="bg1"/>
                </a:solidFill>
                <a:latin typeface="微软雅黑" panose="020B0503020204020204" pitchFamily="34" charset="-122"/>
                <a:ea typeface="微软雅黑" panose="020B0503020204020204" pitchFamily="34" charset="-122"/>
              </a:rPr>
              <a:t>目录</a:t>
            </a:r>
          </a:p>
        </p:txBody>
      </p:sp>
      <p:sp>
        <p:nvSpPr>
          <p:cNvPr id="6" name="文本框 5">
            <a:extLst>
              <a:ext uri="{FF2B5EF4-FFF2-40B4-BE49-F238E27FC236}">
                <a16:creationId xmlns:a16="http://schemas.microsoft.com/office/drawing/2014/main" id="{EB63B858-ABC4-4CAD-F700-FB86DA672178}"/>
              </a:ext>
            </a:extLst>
          </p:cNvPr>
          <p:cNvSpPr txBox="1"/>
          <p:nvPr/>
        </p:nvSpPr>
        <p:spPr>
          <a:xfrm>
            <a:off x="664210" y="1491615"/>
            <a:ext cx="1868805" cy="398780"/>
          </a:xfrm>
          <a:prstGeom prst="rect">
            <a:avLst/>
          </a:prstGeom>
          <a:noFill/>
        </p:spPr>
        <p:txBody>
          <a:bodyPr wrap="square" rtlCol="0">
            <a:spAutoFit/>
          </a:bodyPr>
          <a:lstStyle/>
          <a:p>
            <a:r>
              <a:rPr lang="en-US" altLang="zh-CN" sz="2000" b="1">
                <a:solidFill>
                  <a:schemeClr val="bg1">
                    <a:alpha val="50000"/>
                  </a:schemeClr>
                </a:solidFill>
                <a:latin typeface="微软雅黑" panose="020B0503020204020204" pitchFamily="34" charset="-122"/>
                <a:ea typeface="微软雅黑" panose="020B0503020204020204" pitchFamily="34" charset="-122"/>
              </a:rPr>
              <a:t>CONTENTS</a:t>
            </a:r>
          </a:p>
        </p:txBody>
      </p:sp>
      <p:grpSp>
        <p:nvGrpSpPr>
          <p:cNvPr id="23" name="组合 22">
            <a:extLst>
              <a:ext uri="{FF2B5EF4-FFF2-40B4-BE49-F238E27FC236}">
                <a16:creationId xmlns:a16="http://schemas.microsoft.com/office/drawing/2014/main" id="{C27D9D3F-98BD-0EEE-AC87-CBE4CDDA7D19}"/>
              </a:ext>
            </a:extLst>
          </p:cNvPr>
          <p:cNvGrpSpPr/>
          <p:nvPr/>
        </p:nvGrpSpPr>
        <p:grpSpPr>
          <a:xfrm>
            <a:off x="4491990" y="417994"/>
            <a:ext cx="3060065" cy="709930"/>
            <a:chOff x="4613" y="892"/>
            <a:chExt cx="4819" cy="1118"/>
          </a:xfrm>
        </p:grpSpPr>
        <p:sp>
          <p:nvSpPr>
            <p:cNvPr id="7" name="圆角矩形 6">
              <a:extLst>
                <a:ext uri="{FF2B5EF4-FFF2-40B4-BE49-F238E27FC236}">
                  <a16:creationId xmlns:a16="http://schemas.microsoft.com/office/drawing/2014/main" id="{70E99ADE-9301-884E-A1B3-C13213528CE1}"/>
                </a:ext>
              </a:extLst>
            </p:cNvPr>
            <p:cNvSpPr/>
            <p:nvPr/>
          </p:nvSpPr>
          <p:spPr>
            <a:xfrm>
              <a:off x="4932" y="1017"/>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政策背景</a:t>
              </a:r>
            </a:p>
          </p:txBody>
        </p:sp>
        <p:sp>
          <p:nvSpPr>
            <p:cNvPr id="4" name="椭圆 3">
              <a:extLst>
                <a:ext uri="{FF2B5EF4-FFF2-40B4-BE49-F238E27FC236}">
                  <a16:creationId xmlns:a16="http://schemas.microsoft.com/office/drawing/2014/main" id="{9A8EAD47-25AE-30E4-8476-B1C3ED9C566A}"/>
                </a:ext>
              </a:extLst>
            </p:cNvPr>
            <p:cNvSpPr/>
            <p:nvPr/>
          </p:nvSpPr>
          <p:spPr>
            <a:xfrm>
              <a:off x="4613" y="892"/>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1</a:t>
              </a:r>
            </a:p>
          </p:txBody>
        </p:sp>
      </p:grpSp>
      <p:grpSp>
        <p:nvGrpSpPr>
          <p:cNvPr id="22" name="组合 21">
            <a:extLst>
              <a:ext uri="{FF2B5EF4-FFF2-40B4-BE49-F238E27FC236}">
                <a16:creationId xmlns:a16="http://schemas.microsoft.com/office/drawing/2014/main" id="{21AD3359-607B-D944-29A6-9B22C3AFDB3D}"/>
              </a:ext>
            </a:extLst>
          </p:cNvPr>
          <p:cNvGrpSpPr/>
          <p:nvPr/>
        </p:nvGrpSpPr>
        <p:grpSpPr>
          <a:xfrm>
            <a:off x="4491990" y="1336040"/>
            <a:ext cx="3060700" cy="709930"/>
            <a:chOff x="4613" y="2763"/>
            <a:chExt cx="4820" cy="1118"/>
          </a:xfrm>
        </p:grpSpPr>
        <p:sp>
          <p:nvSpPr>
            <p:cNvPr id="8" name="圆角矩形 7">
              <a:extLst>
                <a:ext uri="{FF2B5EF4-FFF2-40B4-BE49-F238E27FC236}">
                  <a16:creationId xmlns:a16="http://schemas.microsoft.com/office/drawing/2014/main" id="{841A0BDC-1C81-BECB-F67E-19A69525E5F2}"/>
                </a:ext>
              </a:extLst>
            </p:cNvPr>
            <p:cNvSpPr/>
            <p:nvPr/>
          </p:nvSpPr>
          <p:spPr>
            <a:xfrm>
              <a:off x="4932" y="2888"/>
              <a:ext cx="4501" cy="869"/>
            </a:xfrm>
            <a:prstGeom prst="roundRect">
              <a:avLst>
                <a:gd name="adj" fmla="val 50000"/>
              </a:avLst>
            </a:prstGeom>
            <a:solidFill>
              <a:srgbClr val="2A86DC"/>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需求分析</a:t>
              </a:r>
            </a:p>
          </p:txBody>
        </p:sp>
        <p:sp>
          <p:nvSpPr>
            <p:cNvPr id="9" name="椭圆 8">
              <a:extLst>
                <a:ext uri="{FF2B5EF4-FFF2-40B4-BE49-F238E27FC236}">
                  <a16:creationId xmlns:a16="http://schemas.microsoft.com/office/drawing/2014/main" id="{73EE37A5-C1E2-978A-E2E1-30A86871A9DC}"/>
                </a:ext>
              </a:extLst>
            </p:cNvPr>
            <p:cNvSpPr/>
            <p:nvPr/>
          </p:nvSpPr>
          <p:spPr>
            <a:xfrm>
              <a:off x="4613" y="2763"/>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2</a:t>
              </a:r>
            </a:p>
          </p:txBody>
        </p:sp>
      </p:grpSp>
      <p:grpSp>
        <p:nvGrpSpPr>
          <p:cNvPr id="20" name="组合 19">
            <a:extLst>
              <a:ext uri="{FF2B5EF4-FFF2-40B4-BE49-F238E27FC236}">
                <a16:creationId xmlns:a16="http://schemas.microsoft.com/office/drawing/2014/main" id="{12B3B5B6-A339-F93A-C8F9-3AA503027D52}"/>
              </a:ext>
            </a:extLst>
          </p:cNvPr>
          <p:cNvGrpSpPr/>
          <p:nvPr/>
        </p:nvGrpSpPr>
        <p:grpSpPr>
          <a:xfrm>
            <a:off x="4491990" y="2268456"/>
            <a:ext cx="3060065" cy="709930"/>
            <a:chOff x="4613" y="6448"/>
            <a:chExt cx="4819" cy="1118"/>
          </a:xfrm>
        </p:grpSpPr>
        <p:sp>
          <p:nvSpPr>
            <p:cNvPr id="17" name="圆角矩形 16">
              <a:extLst>
                <a:ext uri="{FF2B5EF4-FFF2-40B4-BE49-F238E27FC236}">
                  <a16:creationId xmlns:a16="http://schemas.microsoft.com/office/drawing/2014/main" id="{E897E3B3-5016-74C8-E9CC-9638E1B5EB00}"/>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方案概述</a:t>
              </a:r>
            </a:p>
          </p:txBody>
        </p:sp>
        <p:sp>
          <p:nvSpPr>
            <p:cNvPr id="19" name="椭圆 18">
              <a:extLst>
                <a:ext uri="{FF2B5EF4-FFF2-40B4-BE49-F238E27FC236}">
                  <a16:creationId xmlns:a16="http://schemas.microsoft.com/office/drawing/2014/main" id="{2E17F68E-9D80-0BE6-CB5F-1751253BBB2C}"/>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3</a:t>
              </a:r>
            </a:p>
          </p:txBody>
        </p:sp>
      </p:grpSp>
      <p:grpSp>
        <p:nvGrpSpPr>
          <p:cNvPr id="5" name="组合 19">
            <a:extLst>
              <a:ext uri="{FF2B5EF4-FFF2-40B4-BE49-F238E27FC236}">
                <a16:creationId xmlns:a16="http://schemas.microsoft.com/office/drawing/2014/main" id="{2810C6EA-238B-E907-9A47-731D314CC500}"/>
              </a:ext>
            </a:extLst>
          </p:cNvPr>
          <p:cNvGrpSpPr/>
          <p:nvPr/>
        </p:nvGrpSpPr>
        <p:grpSpPr>
          <a:xfrm>
            <a:off x="4491990" y="3216746"/>
            <a:ext cx="3060700" cy="709930"/>
            <a:chOff x="4613" y="6448"/>
            <a:chExt cx="4820" cy="1118"/>
          </a:xfrm>
        </p:grpSpPr>
        <p:sp>
          <p:nvSpPr>
            <p:cNvPr id="10" name="圆角矩形 16">
              <a:extLst>
                <a:ext uri="{FF2B5EF4-FFF2-40B4-BE49-F238E27FC236}">
                  <a16:creationId xmlns:a16="http://schemas.microsoft.com/office/drawing/2014/main" id="{B6DB33A9-045E-3C23-A8B9-41A542DFAC41}"/>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应用场景</a:t>
              </a:r>
            </a:p>
          </p:txBody>
        </p:sp>
        <p:sp>
          <p:nvSpPr>
            <p:cNvPr id="11" name="椭圆 18">
              <a:extLst>
                <a:ext uri="{FF2B5EF4-FFF2-40B4-BE49-F238E27FC236}">
                  <a16:creationId xmlns:a16="http://schemas.microsoft.com/office/drawing/2014/main" id="{E4ECAE27-FAA6-8361-C6C1-F90CDA974A2F}"/>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4</a:t>
              </a:r>
            </a:p>
          </p:txBody>
        </p:sp>
      </p:grpSp>
      <p:grpSp>
        <p:nvGrpSpPr>
          <p:cNvPr id="13" name="组合 19">
            <a:extLst>
              <a:ext uri="{FF2B5EF4-FFF2-40B4-BE49-F238E27FC236}">
                <a16:creationId xmlns:a16="http://schemas.microsoft.com/office/drawing/2014/main" id="{BA41FF09-64F4-4302-867A-BF3C7BCFF9D4}"/>
              </a:ext>
            </a:extLst>
          </p:cNvPr>
          <p:cNvGrpSpPr/>
          <p:nvPr/>
        </p:nvGrpSpPr>
        <p:grpSpPr>
          <a:xfrm>
            <a:off x="4491990" y="4154465"/>
            <a:ext cx="3060065" cy="709930"/>
            <a:chOff x="4613" y="6448"/>
            <a:chExt cx="4819" cy="1118"/>
          </a:xfrm>
        </p:grpSpPr>
        <p:sp>
          <p:nvSpPr>
            <p:cNvPr id="14" name="圆角矩形 16">
              <a:extLst>
                <a:ext uri="{FF2B5EF4-FFF2-40B4-BE49-F238E27FC236}">
                  <a16:creationId xmlns:a16="http://schemas.microsoft.com/office/drawing/2014/main" id="{F982DDF3-7A49-0628-87B1-52D49C8D6A9F}"/>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应用案例</a:t>
              </a:r>
            </a:p>
          </p:txBody>
        </p:sp>
        <p:sp>
          <p:nvSpPr>
            <p:cNvPr id="15" name="椭圆 18">
              <a:extLst>
                <a:ext uri="{FF2B5EF4-FFF2-40B4-BE49-F238E27FC236}">
                  <a16:creationId xmlns:a16="http://schemas.microsoft.com/office/drawing/2014/main" id="{096C2E15-2705-F530-6092-097DC6220BFE}"/>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5</a:t>
              </a:r>
            </a:p>
          </p:txBody>
        </p:sp>
      </p:grpSp>
    </p:spTree>
    <p:extLst>
      <p:ext uri="{BB962C8B-B14F-4D97-AF65-F5344CB8AC3E}">
        <p14:creationId xmlns:p14="http://schemas.microsoft.com/office/powerpoint/2010/main" val="1638242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EDAE-E3CD-2FDB-6899-54E1A1381E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06FE191-6667-178E-8160-0823B138EB7C}"/>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需求分析</a:t>
            </a:r>
          </a:p>
        </p:txBody>
      </p:sp>
      <p:sp>
        <p:nvSpPr>
          <p:cNvPr id="4" name="TextBox 3">
            <a:extLst>
              <a:ext uri="{FF2B5EF4-FFF2-40B4-BE49-F238E27FC236}">
                <a16:creationId xmlns:a16="http://schemas.microsoft.com/office/drawing/2014/main" id="{1B8912B8-FC69-B5DF-4FAC-56F8EFC1C1C0}"/>
              </a:ext>
            </a:extLst>
          </p:cNvPr>
          <p:cNvSpPr txBox="1"/>
          <p:nvPr/>
        </p:nvSpPr>
        <p:spPr>
          <a:xfrm>
            <a:off x="344247" y="778677"/>
            <a:ext cx="7750766" cy="859915"/>
          </a:xfrm>
          <a:prstGeom prst="rect">
            <a:avLst/>
          </a:prstGeom>
          <a:noFill/>
        </p:spPr>
        <p:txBody>
          <a:bodyPr wrap="square" rtlCol="0">
            <a:spAutoFit/>
          </a:bodyPr>
          <a:lstStyle/>
          <a:p>
            <a:r>
              <a:rPr lang="zh-CN" altLang="en-US" sz="1600" b="1" dirty="0">
                <a:solidFill>
                  <a:srgbClr val="196494"/>
                </a:solidFill>
                <a:latin typeface="微软雅黑" panose="020B0503020204020204" pitchFamily="34" charset="-122"/>
                <a:ea typeface="微软雅黑" panose="020B0503020204020204" pitchFamily="34" charset="-122"/>
              </a:rPr>
              <a:t>基层心血管防控体系普遍面临的问题</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我国城乡居民疾病死亡构成比中，心血管病占首位，且逐年上升。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农村的发生率高于城市，且死亡病例主要发生在院外，院外死亡人数占总死亡率的</a:t>
            </a:r>
            <a:r>
              <a:rPr lang="en-US" altLang="zh-CN" sz="1200" b="1" dirty="0">
                <a:solidFill>
                  <a:srgbClr val="2A86DC"/>
                </a:solidFill>
                <a:latin typeface="微软雅黑" panose="020B0503020204020204" pitchFamily="34" charset="-122"/>
                <a:ea typeface="微软雅黑" panose="020B0503020204020204" pitchFamily="34" charset="-122"/>
              </a:rPr>
              <a:t>81.51%</a:t>
            </a:r>
            <a:r>
              <a:rPr lang="zh-CN" altLang="en-US" sz="1200" b="1" dirty="0">
                <a:solidFill>
                  <a:srgbClr val="2A86DC"/>
                </a:solidFill>
                <a:latin typeface="微软雅黑" panose="020B0503020204020204" pitchFamily="34" charset="-122"/>
                <a:ea typeface="微软雅黑" panose="020B0503020204020204" pitchFamily="34" charset="-122"/>
              </a:rPr>
              <a:t>。</a:t>
            </a:r>
            <a:endParaRPr lang="en-US" altLang="zh-CN" sz="1200" b="1" dirty="0">
              <a:solidFill>
                <a:srgbClr val="2A86DC"/>
              </a:solidFill>
              <a:latin typeface="微软雅黑" panose="020B0503020204020204" pitchFamily="34" charset="-122"/>
              <a:ea typeface="微软雅黑" panose="020B0503020204020204" pitchFamily="34" charset="-122"/>
            </a:endParaRPr>
          </a:p>
        </p:txBody>
      </p:sp>
      <p:sp>
        <p:nvSpPr>
          <p:cNvPr id="5" name="object 3">
            <a:extLst>
              <a:ext uri="{FF2B5EF4-FFF2-40B4-BE49-F238E27FC236}">
                <a16:creationId xmlns:a16="http://schemas.microsoft.com/office/drawing/2014/main" id="{D3E85207-36B0-C5ED-1382-C4BD92679F1E}"/>
              </a:ext>
            </a:extLst>
          </p:cNvPr>
          <p:cNvSpPr/>
          <p:nvPr/>
        </p:nvSpPr>
        <p:spPr>
          <a:xfrm>
            <a:off x="658754" y="1647152"/>
            <a:ext cx="3784054" cy="1519223"/>
          </a:xfrm>
          <a:custGeom>
            <a:avLst/>
            <a:gdLst/>
            <a:ahLst/>
            <a:cxnLst/>
            <a:rect l="l" t="t" r="r" b="b"/>
            <a:pathLst>
              <a:path w="5511800" h="2340610">
                <a:moveTo>
                  <a:pt x="0" y="0"/>
                </a:moveTo>
                <a:lnTo>
                  <a:pt x="5511224" y="0"/>
                </a:lnTo>
                <a:lnTo>
                  <a:pt x="5511224" y="2339999"/>
                </a:lnTo>
                <a:lnTo>
                  <a:pt x="0" y="2339999"/>
                </a:lnTo>
                <a:lnTo>
                  <a:pt x="0" y="0"/>
                </a:lnTo>
                <a:close/>
              </a:path>
            </a:pathLst>
          </a:custGeom>
          <a:solidFill>
            <a:schemeClr val="accent5">
              <a:lumMod val="75000"/>
            </a:schemeClr>
          </a:solidFill>
        </p:spPr>
        <p:txBody>
          <a:bodyPr wrap="square" lIns="0" tIns="0" rIns="0" bIns="0" rtlCol="0"/>
          <a:lstStyle/>
          <a:p>
            <a:endParaRPr dirty="0"/>
          </a:p>
        </p:txBody>
      </p:sp>
      <p:sp>
        <p:nvSpPr>
          <p:cNvPr id="6" name="object 3">
            <a:extLst>
              <a:ext uri="{FF2B5EF4-FFF2-40B4-BE49-F238E27FC236}">
                <a16:creationId xmlns:a16="http://schemas.microsoft.com/office/drawing/2014/main" id="{AF53F402-966C-A958-1296-21D5CE06040C}"/>
              </a:ext>
            </a:extLst>
          </p:cNvPr>
          <p:cNvSpPr/>
          <p:nvPr/>
        </p:nvSpPr>
        <p:spPr>
          <a:xfrm>
            <a:off x="658754" y="3238384"/>
            <a:ext cx="3784054" cy="1611896"/>
          </a:xfrm>
          <a:custGeom>
            <a:avLst/>
            <a:gdLst/>
            <a:ahLst/>
            <a:cxnLst/>
            <a:rect l="l" t="t" r="r" b="b"/>
            <a:pathLst>
              <a:path w="5511800" h="2340610">
                <a:moveTo>
                  <a:pt x="0" y="0"/>
                </a:moveTo>
                <a:lnTo>
                  <a:pt x="5511224" y="0"/>
                </a:lnTo>
                <a:lnTo>
                  <a:pt x="5511224" y="2339999"/>
                </a:lnTo>
                <a:lnTo>
                  <a:pt x="0" y="2339999"/>
                </a:lnTo>
                <a:lnTo>
                  <a:pt x="0" y="0"/>
                </a:lnTo>
                <a:close/>
              </a:path>
            </a:pathLst>
          </a:custGeom>
          <a:solidFill>
            <a:schemeClr val="accent5">
              <a:lumMod val="75000"/>
            </a:schemeClr>
          </a:solidFill>
        </p:spPr>
        <p:txBody>
          <a:bodyPr wrap="square" lIns="0" tIns="0" rIns="0" bIns="0" rtlCol="0"/>
          <a:lstStyle/>
          <a:p>
            <a:endParaRPr/>
          </a:p>
        </p:txBody>
      </p:sp>
      <p:sp>
        <p:nvSpPr>
          <p:cNvPr id="7" name="object 3">
            <a:extLst>
              <a:ext uri="{FF2B5EF4-FFF2-40B4-BE49-F238E27FC236}">
                <a16:creationId xmlns:a16="http://schemas.microsoft.com/office/drawing/2014/main" id="{590BD6BE-4344-1D38-D519-FBA7FCD8B1C6}"/>
              </a:ext>
            </a:extLst>
          </p:cNvPr>
          <p:cNvSpPr/>
          <p:nvPr/>
        </p:nvSpPr>
        <p:spPr>
          <a:xfrm>
            <a:off x="4543509" y="1647152"/>
            <a:ext cx="3784054" cy="1519223"/>
          </a:xfrm>
          <a:custGeom>
            <a:avLst/>
            <a:gdLst/>
            <a:ahLst/>
            <a:cxnLst/>
            <a:rect l="l" t="t" r="r" b="b"/>
            <a:pathLst>
              <a:path w="5511800" h="2340610">
                <a:moveTo>
                  <a:pt x="0" y="0"/>
                </a:moveTo>
                <a:lnTo>
                  <a:pt x="5511224" y="0"/>
                </a:lnTo>
                <a:lnTo>
                  <a:pt x="5511224" y="2339999"/>
                </a:lnTo>
                <a:lnTo>
                  <a:pt x="0" y="2339999"/>
                </a:lnTo>
                <a:lnTo>
                  <a:pt x="0" y="0"/>
                </a:lnTo>
                <a:close/>
              </a:path>
            </a:pathLst>
          </a:custGeom>
          <a:solidFill>
            <a:schemeClr val="accent5">
              <a:lumMod val="75000"/>
            </a:schemeClr>
          </a:solidFill>
        </p:spPr>
        <p:txBody>
          <a:bodyPr wrap="square" lIns="0" tIns="0" rIns="0" bIns="0" rtlCol="0"/>
          <a:lstStyle/>
          <a:p>
            <a:endParaRPr/>
          </a:p>
        </p:txBody>
      </p:sp>
      <p:sp>
        <p:nvSpPr>
          <p:cNvPr id="8" name="object 3">
            <a:extLst>
              <a:ext uri="{FF2B5EF4-FFF2-40B4-BE49-F238E27FC236}">
                <a16:creationId xmlns:a16="http://schemas.microsoft.com/office/drawing/2014/main" id="{B843BBA5-36CD-E57E-B14C-F0A3F720F8AB}"/>
              </a:ext>
            </a:extLst>
          </p:cNvPr>
          <p:cNvSpPr/>
          <p:nvPr/>
        </p:nvSpPr>
        <p:spPr>
          <a:xfrm>
            <a:off x="4543509" y="3238384"/>
            <a:ext cx="3784054" cy="1611896"/>
          </a:xfrm>
          <a:custGeom>
            <a:avLst/>
            <a:gdLst/>
            <a:ahLst/>
            <a:cxnLst/>
            <a:rect l="l" t="t" r="r" b="b"/>
            <a:pathLst>
              <a:path w="5511800" h="2340610">
                <a:moveTo>
                  <a:pt x="0" y="0"/>
                </a:moveTo>
                <a:lnTo>
                  <a:pt x="5511224" y="0"/>
                </a:lnTo>
                <a:lnTo>
                  <a:pt x="5511224" y="2339999"/>
                </a:lnTo>
                <a:lnTo>
                  <a:pt x="0" y="2339999"/>
                </a:lnTo>
                <a:lnTo>
                  <a:pt x="0" y="0"/>
                </a:lnTo>
                <a:close/>
              </a:path>
            </a:pathLst>
          </a:custGeom>
          <a:solidFill>
            <a:schemeClr val="accent5">
              <a:lumMod val="75000"/>
            </a:schemeClr>
          </a:solidFill>
        </p:spPr>
        <p:txBody>
          <a:bodyPr wrap="square" lIns="0" tIns="0" rIns="0" bIns="0" rtlCol="0"/>
          <a:lstStyle/>
          <a:p>
            <a:endParaRPr/>
          </a:p>
        </p:txBody>
      </p:sp>
      <p:sp>
        <p:nvSpPr>
          <p:cNvPr id="9" name="文本框 8">
            <a:extLst>
              <a:ext uri="{FF2B5EF4-FFF2-40B4-BE49-F238E27FC236}">
                <a16:creationId xmlns:a16="http://schemas.microsoft.com/office/drawing/2014/main" id="{72535A79-5A23-F9E0-BCD0-55D8A594F1EA}"/>
              </a:ext>
            </a:extLst>
          </p:cNvPr>
          <p:cNvSpPr txBox="1"/>
          <p:nvPr/>
        </p:nvSpPr>
        <p:spPr>
          <a:xfrm>
            <a:off x="1074617" y="1727560"/>
            <a:ext cx="2952328" cy="1359346"/>
          </a:xfrm>
          <a:prstGeom prst="rect">
            <a:avLst/>
          </a:prstGeom>
          <a:noFill/>
        </p:spPr>
        <p:txBody>
          <a:bodyPr wrap="square">
            <a:spAutoFit/>
          </a:bodyPr>
          <a:lstStyle/>
          <a:p>
            <a:pPr algn="ctr">
              <a:lnSpc>
                <a:spcPct val="100000"/>
              </a:lnSpc>
              <a:spcBef>
                <a:spcPts val="1060"/>
              </a:spcBef>
              <a:spcAft>
                <a:spcPts val="600"/>
              </a:spcAft>
            </a:pPr>
            <a:r>
              <a:rPr lang="zh-CN" altLang="en-US" sz="1400" dirty="0">
                <a:solidFill>
                  <a:schemeClr val="bg1"/>
                </a:solidFill>
                <a:latin typeface="微软雅黑" panose="020B0503020204020204" pitchFamily="34" charset="-122"/>
                <a:ea typeface="微软雅黑" panose="020B0503020204020204" pitchFamily="34" charset="-122"/>
              </a:rPr>
              <a:t>居民</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留守老人多，老龄化比例高</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心血管疾病基础教育不足</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地方偏远、交通不便</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院外康复管理缺失</a:t>
            </a:r>
          </a:p>
        </p:txBody>
      </p:sp>
      <p:sp>
        <p:nvSpPr>
          <p:cNvPr id="10" name="文本框 9">
            <a:extLst>
              <a:ext uri="{FF2B5EF4-FFF2-40B4-BE49-F238E27FC236}">
                <a16:creationId xmlns:a16="http://schemas.microsoft.com/office/drawing/2014/main" id="{6654EA1A-F482-89EC-8BCC-C82568289916}"/>
              </a:ext>
            </a:extLst>
          </p:cNvPr>
          <p:cNvSpPr txBox="1"/>
          <p:nvPr/>
        </p:nvSpPr>
        <p:spPr>
          <a:xfrm>
            <a:off x="4923411" y="1732939"/>
            <a:ext cx="2952328" cy="1359346"/>
          </a:xfrm>
          <a:prstGeom prst="rect">
            <a:avLst/>
          </a:prstGeom>
          <a:noFill/>
        </p:spPr>
        <p:txBody>
          <a:bodyPr wrap="square">
            <a:spAutoFit/>
          </a:bodyPr>
          <a:lstStyle/>
          <a:p>
            <a:pPr algn="ctr">
              <a:spcBef>
                <a:spcPts val="1060"/>
              </a:spcBef>
              <a:spcAft>
                <a:spcPts val="600"/>
              </a:spcAft>
            </a:pPr>
            <a:r>
              <a:rPr lang="zh-CN" altLang="en-US" sz="1400" dirty="0">
                <a:solidFill>
                  <a:schemeClr val="bg1"/>
                </a:solidFill>
                <a:latin typeface="微软雅黑" panose="020B0503020204020204" pitchFamily="34" charset="-122"/>
                <a:ea typeface="微软雅黑" panose="020B0503020204020204" pitchFamily="34" charset="-122"/>
              </a:rPr>
              <a:t>县级医院</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院外筛查与防控成本高</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院外心电监测能力不足</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病人送医救治不及时</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院后康复执行不到位</a:t>
            </a:r>
          </a:p>
        </p:txBody>
      </p:sp>
      <p:sp>
        <p:nvSpPr>
          <p:cNvPr id="11" name="文本框 10">
            <a:extLst>
              <a:ext uri="{FF2B5EF4-FFF2-40B4-BE49-F238E27FC236}">
                <a16:creationId xmlns:a16="http://schemas.microsoft.com/office/drawing/2014/main" id="{20ECCE78-2544-5F45-CA95-CF4F17E21C35}"/>
              </a:ext>
            </a:extLst>
          </p:cNvPr>
          <p:cNvSpPr txBox="1"/>
          <p:nvPr/>
        </p:nvSpPr>
        <p:spPr>
          <a:xfrm>
            <a:off x="1162810" y="3364313"/>
            <a:ext cx="2952328" cy="1359346"/>
          </a:xfrm>
          <a:prstGeom prst="rect">
            <a:avLst/>
          </a:prstGeom>
          <a:noFill/>
        </p:spPr>
        <p:txBody>
          <a:bodyPr wrap="square">
            <a:spAutoFit/>
          </a:bodyPr>
          <a:lstStyle/>
          <a:p>
            <a:pPr algn="ctr">
              <a:lnSpc>
                <a:spcPct val="100000"/>
              </a:lnSpc>
              <a:spcBef>
                <a:spcPts val="1060"/>
              </a:spcBef>
              <a:spcAft>
                <a:spcPts val="600"/>
              </a:spcAft>
            </a:pPr>
            <a:r>
              <a:rPr lang="zh-CN" altLang="en-US" sz="1400" dirty="0">
                <a:solidFill>
                  <a:schemeClr val="bg1"/>
                </a:solidFill>
                <a:latin typeface="微软雅黑" panose="020B0503020204020204" pitchFamily="34" charset="-122"/>
                <a:ea typeface="微软雅黑" panose="020B0503020204020204" pitchFamily="34" charset="-122"/>
              </a:rPr>
              <a:t>基层医院</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基层心电设备陈旧，缺乏联网能力</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基层心电医生缺乏，诊疗、检验能力不足</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缺少及时、有效的双向转诊机制</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院后病人不能有效管理起来</a:t>
            </a:r>
          </a:p>
        </p:txBody>
      </p:sp>
      <p:sp>
        <p:nvSpPr>
          <p:cNvPr id="12" name="文本框 11">
            <a:extLst>
              <a:ext uri="{FF2B5EF4-FFF2-40B4-BE49-F238E27FC236}">
                <a16:creationId xmlns:a16="http://schemas.microsoft.com/office/drawing/2014/main" id="{23B47250-03C3-4913-A67D-C957AA0D9FB1}"/>
              </a:ext>
            </a:extLst>
          </p:cNvPr>
          <p:cNvSpPr txBox="1"/>
          <p:nvPr/>
        </p:nvSpPr>
        <p:spPr>
          <a:xfrm>
            <a:off x="5030229" y="3353555"/>
            <a:ext cx="2952328" cy="1359346"/>
          </a:xfrm>
          <a:prstGeom prst="rect">
            <a:avLst/>
          </a:prstGeom>
          <a:noFill/>
        </p:spPr>
        <p:txBody>
          <a:bodyPr wrap="square">
            <a:spAutoFit/>
          </a:bodyPr>
          <a:lstStyle/>
          <a:p>
            <a:pPr algn="ctr">
              <a:lnSpc>
                <a:spcPct val="100000"/>
              </a:lnSpc>
              <a:spcBef>
                <a:spcPts val="1060"/>
              </a:spcBef>
              <a:spcAft>
                <a:spcPts val="600"/>
              </a:spcAft>
            </a:pPr>
            <a:r>
              <a:rPr lang="zh-CN" altLang="en-US" sz="1400" dirty="0">
                <a:solidFill>
                  <a:schemeClr val="bg1"/>
                </a:solidFill>
                <a:latin typeface="微软雅黑" panose="020B0503020204020204" pitchFamily="34" charset="-122"/>
                <a:ea typeface="微软雅黑" panose="020B0503020204020204" pitchFamily="34" charset="-122"/>
              </a:rPr>
              <a:t>政府</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人口老龄化持续增加</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疾病人群不断增多、经济负担不断加重</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医疗资源供给与需求相背离</a:t>
            </a:r>
            <a:endParaRPr lang="en-US" altLang="zh-CN" sz="1000" dirty="0">
              <a:solidFill>
                <a:schemeClr val="bg1"/>
              </a:solidFill>
              <a:latin typeface="微软雅黑" panose="020B0503020204020204" pitchFamily="34" charset="-122"/>
              <a:ea typeface="微软雅黑" panose="020B0503020204020204" pitchFamily="34" charset="-122"/>
            </a:endParaRPr>
          </a:p>
          <a:p>
            <a:pPr algn="ctr">
              <a:spcBef>
                <a:spcPts val="720"/>
              </a:spcBef>
              <a:tabLst>
                <a:tab pos="1793875" algn="l"/>
              </a:tabLst>
            </a:pPr>
            <a:r>
              <a:rPr lang="zh-CN" altLang="en-US" sz="1000" dirty="0">
                <a:solidFill>
                  <a:schemeClr val="bg1"/>
                </a:solidFill>
                <a:latin typeface="微软雅黑" panose="020B0503020204020204" pitchFamily="34" charset="-122"/>
                <a:ea typeface="微软雅黑" panose="020B0503020204020204" pitchFamily="34" charset="-122"/>
              </a:rPr>
              <a:t>投入多，收益小，见效慢</a:t>
            </a:r>
          </a:p>
        </p:txBody>
      </p:sp>
    </p:spTree>
    <p:extLst>
      <p:ext uri="{BB962C8B-B14F-4D97-AF65-F5344CB8AC3E}">
        <p14:creationId xmlns:p14="http://schemas.microsoft.com/office/powerpoint/2010/main" val="4018812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269D-7E1F-6575-3994-1DBBA04648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B7641B-89C6-D4AD-4019-C76680F5BBD4}"/>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需求分析</a:t>
            </a:r>
          </a:p>
        </p:txBody>
      </p:sp>
      <p:sp>
        <p:nvSpPr>
          <p:cNvPr id="4" name="文本框 3">
            <a:extLst>
              <a:ext uri="{FF2B5EF4-FFF2-40B4-BE49-F238E27FC236}">
                <a16:creationId xmlns:a16="http://schemas.microsoft.com/office/drawing/2014/main" id="{4C1749A2-31A1-3EB0-5C4D-8CD4FA80A9EF}"/>
              </a:ext>
            </a:extLst>
          </p:cNvPr>
          <p:cNvSpPr txBox="1"/>
          <p:nvPr/>
        </p:nvSpPr>
        <p:spPr>
          <a:xfrm>
            <a:off x="360379" y="1277990"/>
            <a:ext cx="7853045" cy="1106805"/>
          </a:xfrm>
          <a:prstGeom prst="rect">
            <a:avLst/>
          </a:prstGeom>
          <a:noFill/>
        </p:spPr>
        <p:txBody>
          <a:bodyPr wrap="square" rtlCol="0">
            <a:spAutoFit/>
          </a:bodyPr>
          <a:lstStyle/>
          <a:p>
            <a:pPr indent="330835">
              <a:lnSpc>
                <a:spcPct val="15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应用</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云网络</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结合</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智能辅助诊断</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便携可穿戴监测技术</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，构建县域心血管疾病防治网络；将县域综合医院诊断优势与基层落地服务优势相结合，</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打造县域内心血管疾病的筛查、双向转诊、康复管理，以及居家慢病管理的闭环服务体系</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；通过分布实施和集中管理</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优化医疗资源的作用</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提升县域医疗综合服务能力</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县域紧密型医共体</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，发挥县域心电一张网在基层心血管疾病的防治和慢病延伸管理中的优势，对接融合为其赋能，拓展其综合管理的能力</a:t>
            </a:r>
            <a:r>
              <a:rPr lang="zh-CN" altLang="en-US" sz="1100" dirty="0">
                <a:solidFill>
                  <a:schemeClr val="tx1">
                    <a:lumMod val="75000"/>
                    <a:lumOff val="25000"/>
                  </a:schemeClr>
                </a:solidFill>
              </a:rPr>
              <a:t>。</a:t>
            </a:r>
          </a:p>
        </p:txBody>
      </p:sp>
      <p:sp>
        <p:nvSpPr>
          <p:cNvPr id="5" name="文本框 4">
            <a:extLst>
              <a:ext uri="{FF2B5EF4-FFF2-40B4-BE49-F238E27FC236}">
                <a16:creationId xmlns:a16="http://schemas.microsoft.com/office/drawing/2014/main" id="{5A955F9C-A471-A6ED-451A-1330D2F52F9D}"/>
              </a:ext>
            </a:extLst>
          </p:cNvPr>
          <p:cNvSpPr txBox="1"/>
          <p:nvPr/>
        </p:nvSpPr>
        <p:spPr>
          <a:xfrm>
            <a:off x="360379" y="2392976"/>
            <a:ext cx="3048000" cy="562783"/>
          </a:xfrm>
          <a:prstGeom prst="rect">
            <a:avLst/>
          </a:prstGeom>
          <a:noFill/>
        </p:spPr>
        <p:txBody>
          <a:bodyPr wrap="square" rtlCol="0">
            <a:spAutoFit/>
          </a:bodyPr>
          <a:lstStyle/>
          <a:p>
            <a:pPr algn="l">
              <a:lnSpc>
                <a:spcPct val="200000"/>
              </a:lnSpc>
              <a:spcBef>
                <a:spcPts val="1200"/>
              </a:spcBef>
              <a:spcAft>
                <a:spcPts val="1200"/>
              </a:spcAft>
              <a:buClrTx/>
              <a:buSzTx/>
              <a:buFont typeface="Arial" panose="020B0604020202020204" pitchFamily="34" charset="0"/>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主要解决问题</a:t>
            </a:r>
          </a:p>
        </p:txBody>
      </p:sp>
      <p:sp>
        <p:nvSpPr>
          <p:cNvPr id="7" name="文本框 6">
            <a:extLst>
              <a:ext uri="{FF2B5EF4-FFF2-40B4-BE49-F238E27FC236}">
                <a16:creationId xmlns:a16="http://schemas.microsoft.com/office/drawing/2014/main" id="{6B79388D-0532-0C9A-60DA-149BAAF0174D}"/>
              </a:ext>
            </a:extLst>
          </p:cNvPr>
          <p:cNvSpPr txBox="1"/>
          <p:nvPr/>
        </p:nvSpPr>
        <p:spPr>
          <a:xfrm>
            <a:off x="360379" y="688307"/>
            <a:ext cx="3048000" cy="562783"/>
          </a:xfrm>
          <a:prstGeom prst="rect">
            <a:avLst/>
          </a:prstGeom>
          <a:noFill/>
        </p:spPr>
        <p:txBody>
          <a:bodyPr wrap="square" rtlCol="0">
            <a:spAutoFit/>
          </a:bodyPr>
          <a:lstStyle/>
          <a:p>
            <a:pPr algn="l">
              <a:lnSpc>
                <a:spcPct val="200000"/>
              </a:lnSpc>
              <a:spcBef>
                <a:spcPts val="1200"/>
              </a:spcBef>
              <a:spcAft>
                <a:spcPts val="1200"/>
              </a:spcAft>
              <a:buClrTx/>
              <a:buSzTx/>
              <a:buFont typeface="Arial" panose="020B0604020202020204" pitchFamily="34" charset="0"/>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建设目标</a:t>
            </a:r>
          </a:p>
        </p:txBody>
      </p:sp>
      <p:sp>
        <p:nvSpPr>
          <p:cNvPr id="8" name="圆角矩形 24">
            <a:extLst>
              <a:ext uri="{FF2B5EF4-FFF2-40B4-BE49-F238E27FC236}">
                <a16:creationId xmlns:a16="http://schemas.microsoft.com/office/drawing/2014/main" id="{BD6CD12E-8869-5AC7-6318-16279D886BC5}"/>
              </a:ext>
            </a:extLst>
          </p:cNvPr>
          <p:cNvSpPr/>
          <p:nvPr/>
        </p:nvSpPr>
        <p:spPr>
          <a:xfrm>
            <a:off x="6455786" y="3205107"/>
            <a:ext cx="2230120" cy="557530"/>
          </a:xfrm>
          <a:prstGeom prst="roundRect">
            <a:avLst>
              <a:gd name="adj" fmla="val 50000"/>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522CF1E-91F1-BCE8-E40A-6B6662F520E4}"/>
              </a:ext>
            </a:extLst>
          </p:cNvPr>
          <p:cNvSpPr/>
          <p:nvPr/>
        </p:nvSpPr>
        <p:spPr>
          <a:xfrm>
            <a:off x="6180196" y="3095252"/>
            <a:ext cx="720090" cy="720090"/>
          </a:xfrm>
          <a:prstGeom prst="ellipse">
            <a:avLst/>
          </a:prstGeom>
          <a:solidFill>
            <a:schemeClr val="bg1"/>
          </a:solidFill>
          <a:ln>
            <a:noFill/>
          </a:ln>
          <a:effectLst>
            <a:outerShdw blurRad="177800" sx="104000" sy="104000" algn="ctr" rotWithShape="0">
              <a:srgbClr val="4D94C1">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圆角矩形 26">
            <a:extLst>
              <a:ext uri="{FF2B5EF4-FFF2-40B4-BE49-F238E27FC236}">
                <a16:creationId xmlns:a16="http://schemas.microsoft.com/office/drawing/2014/main" id="{DBF2604C-7D54-3618-F5F3-493F5AD85FEA}"/>
              </a:ext>
            </a:extLst>
          </p:cNvPr>
          <p:cNvSpPr/>
          <p:nvPr/>
        </p:nvSpPr>
        <p:spPr>
          <a:xfrm>
            <a:off x="6455786" y="4103632"/>
            <a:ext cx="2230120" cy="557530"/>
          </a:xfrm>
          <a:prstGeom prst="roundRect">
            <a:avLst>
              <a:gd name="adj" fmla="val 50000"/>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2AD3865B-4945-47B3-3657-04F625D7D473}"/>
              </a:ext>
            </a:extLst>
          </p:cNvPr>
          <p:cNvSpPr/>
          <p:nvPr/>
        </p:nvSpPr>
        <p:spPr>
          <a:xfrm>
            <a:off x="6180196" y="3993777"/>
            <a:ext cx="720090" cy="720090"/>
          </a:xfrm>
          <a:prstGeom prst="ellipse">
            <a:avLst/>
          </a:prstGeom>
          <a:solidFill>
            <a:schemeClr val="bg1"/>
          </a:solidFill>
          <a:ln>
            <a:noFill/>
          </a:ln>
          <a:effectLst>
            <a:outerShdw blurRad="177800" sx="104000" sy="104000" algn="ctr" rotWithShape="0">
              <a:srgbClr val="4D94C1">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圆角矩形 22">
            <a:extLst>
              <a:ext uri="{FF2B5EF4-FFF2-40B4-BE49-F238E27FC236}">
                <a16:creationId xmlns:a16="http://schemas.microsoft.com/office/drawing/2014/main" id="{3ACBE194-D955-F79C-2049-BA9DA0D8EE0B}"/>
              </a:ext>
            </a:extLst>
          </p:cNvPr>
          <p:cNvSpPr/>
          <p:nvPr/>
        </p:nvSpPr>
        <p:spPr>
          <a:xfrm>
            <a:off x="3540501" y="3205107"/>
            <a:ext cx="2436495" cy="557530"/>
          </a:xfrm>
          <a:prstGeom prst="roundRect">
            <a:avLst>
              <a:gd name="adj" fmla="val 50000"/>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CBA3ACC-F619-118C-7877-BD35D5DB5D09}"/>
              </a:ext>
            </a:extLst>
          </p:cNvPr>
          <p:cNvSpPr/>
          <p:nvPr/>
        </p:nvSpPr>
        <p:spPr>
          <a:xfrm>
            <a:off x="3264911" y="3095252"/>
            <a:ext cx="720090" cy="720090"/>
          </a:xfrm>
          <a:prstGeom prst="ellipse">
            <a:avLst/>
          </a:prstGeom>
          <a:solidFill>
            <a:schemeClr val="bg1"/>
          </a:solidFill>
          <a:ln>
            <a:noFill/>
          </a:ln>
          <a:effectLst>
            <a:outerShdw blurRad="177800" sx="104000" sy="104000" algn="ctr" rotWithShape="0">
              <a:srgbClr val="4D94C1">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7">
            <a:extLst>
              <a:ext uri="{FF2B5EF4-FFF2-40B4-BE49-F238E27FC236}">
                <a16:creationId xmlns:a16="http://schemas.microsoft.com/office/drawing/2014/main" id="{9D0BC4C2-E2E6-51C8-EF5C-A495D799689C}"/>
              </a:ext>
            </a:extLst>
          </p:cNvPr>
          <p:cNvSpPr/>
          <p:nvPr/>
        </p:nvSpPr>
        <p:spPr>
          <a:xfrm>
            <a:off x="3540501" y="4103632"/>
            <a:ext cx="2436495" cy="557530"/>
          </a:xfrm>
          <a:prstGeom prst="roundRect">
            <a:avLst>
              <a:gd name="adj" fmla="val 50000"/>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77D85B8-7D33-98A9-A480-B681B2D6B5CA}"/>
              </a:ext>
            </a:extLst>
          </p:cNvPr>
          <p:cNvSpPr/>
          <p:nvPr/>
        </p:nvSpPr>
        <p:spPr>
          <a:xfrm>
            <a:off x="3264911" y="3993777"/>
            <a:ext cx="720090" cy="720090"/>
          </a:xfrm>
          <a:prstGeom prst="ellipse">
            <a:avLst/>
          </a:prstGeom>
          <a:solidFill>
            <a:schemeClr val="bg1"/>
          </a:solidFill>
          <a:ln>
            <a:noFill/>
          </a:ln>
          <a:effectLst>
            <a:outerShdw blurRad="177800" sx="104000" sy="104000" algn="ctr" rotWithShape="0">
              <a:srgbClr val="4D94C1">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圆角矩形 15">
            <a:extLst>
              <a:ext uri="{FF2B5EF4-FFF2-40B4-BE49-F238E27FC236}">
                <a16:creationId xmlns:a16="http://schemas.microsoft.com/office/drawing/2014/main" id="{944C4EB8-134C-A0C9-417A-DED9C49A5F52}"/>
              </a:ext>
            </a:extLst>
          </p:cNvPr>
          <p:cNvSpPr/>
          <p:nvPr/>
        </p:nvSpPr>
        <p:spPr>
          <a:xfrm>
            <a:off x="625216" y="4103632"/>
            <a:ext cx="2436495" cy="557530"/>
          </a:xfrm>
          <a:prstGeom prst="roundRect">
            <a:avLst>
              <a:gd name="adj" fmla="val 50000"/>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2DD9F0A4-F0EE-57E1-5A7F-EEB378B26F64}"/>
              </a:ext>
            </a:extLst>
          </p:cNvPr>
          <p:cNvSpPr/>
          <p:nvPr/>
        </p:nvSpPr>
        <p:spPr>
          <a:xfrm>
            <a:off x="349626" y="3993777"/>
            <a:ext cx="720090" cy="720090"/>
          </a:xfrm>
          <a:prstGeom prst="ellipse">
            <a:avLst/>
          </a:prstGeom>
          <a:solidFill>
            <a:schemeClr val="bg1"/>
          </a:solidFill>
          <a:ln>
            <a:noFill/>
          </a:ln>
          <a:effectLst>
            <a:outerShdw blurRad="177800" sx="104000" sy="104000" algn="ctr" rotWithShape="0">
              <a:srgbClr val="4D94C1">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圆角矩形 14">
            <a:extLst>
              <a:ext uri="{FF2B5EF4-FFF2-40B4-BE49-F238E27FC236}">
                <a16:creationId xmlns:a16="http://schemas.microsoft.com/office/drawing/2014/main" id="{7F7E0109-9F32-E781-FB4A-2F895C919532}"/>
              </a:ext>
            </a:extLst>
          </p:cNvPr>
          <p:cNvSpPr/>
          <p:nvPr/>
        </p:nvSpPr>
        <p:spPr>
          <a:xfrm>
            <a:off x="625216" y="3205107"/>
            <a:ext cx="2436495" cy="557530"/>
          </a:xfrm>
          <a:prstGeom prst="roundRect">
            <a:avLst>
              <a:gd name="adj" fmla="val 50000"/>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2156C0ED-1B48-719A-0104-9C11B60FD8F1}"/>
              </a:ext>
            </a:extLst>
          </p:cNvPr>
          <p:cNvSpPr/>
          <p:nvPr/>
        </p:nvSpPr>
        <p:spPr>
          <a:xfrm>
            <a:off x="349626" y="3095252"/>
            <a:ext cx="720090" cy="720090"/>
          </a:xfrm>
          <a:prstGeom prst="ellipse">
            <a:avLst/>
          </a:prstGeom>
          <a:solidFill>
            <a:schemeClr val="bg1"/>
          </a:solidFill>
          <a:ln>
            <a:noFill/>
          </a:ln>
          <a:effectLst>
            <a:outerShdw blurRad="177800" sx="104000" sy="104000" algn="ctr" rotWithShape="0">
              <a:srgbClr val="4D94C1">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3B39C81-9024-8589-BC01-20CAA31C14D1}"/>
              </a:ext>
            </a:extLst>
          </p:cNvPr>
          <p:cNvSpPr/>
          <p:nvPr/>
        </p:nvSpPr>
        <p:spPr>
          <a:xfrm>
            <a:off x="1052632" y="4103853"/>
            <a:ext cx="1961345" cy="483337"/>
          </a:xfrm>
          <a:prstGeom prst="rect">
            <a:avLst/>
          </a:prstGeom>
        </p:spPr>
        <p:txBody>
          <a:bodyPr wrap="square">
            <a:spAutoFit/>
          </a:bodyPr>
          <a:lstStyle/>
          <a:p>
            <a:pP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解决县域内优质心内医疗资源集中，基层心电应用难以普及的问题</a:t>
            </a:r>
          </a:p>
        </p:txBody>
      </p:sp>
      <p:sp>
        <p:nvSpPr>
          <p:cNvPr id="21" name="矩形 20">
            <a:extLst>
              <a:ext uri="{FF2B5EF4-FFF2-40B4-BE49-F238E27FC236}">
                <a16:creationId xmlns:a16="http://schemas.microsoft.com/office/drawing/2014/main" id="{410DB9F8-8AA6-FFD3-76E8-085D2F8D0370}"/>
              </a:ext>
            </a:extLst>
          </p:cNvPr>
          <p:cNvSpPr/>
          <p:nvPr/>
        </p:nvSpPr>
        <p:spPr>
          <a:xfrm>
            <a:off x="3991365" y="4103853"/>
            <a:ext cx="1903792" cy="483337"/>
          </a:xfrm>
          <a:prstGeom prst="rect">
            <a:avLst/>
          </a:prstGeom>
        </p:spPr>
        <p:txBody>
          <a:bodyPr wrap="square">
            <a:spAutoFit/>
          </a:bodyPr>
          <a:lstStyle/>
          <a:p>
            <a:pP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解决基层医生面对疑难杂症时的必要的远程协助问题</a:t>
            </a:r>
          </a:p>
        </p:txBody>
      </p:sp>
      <p:sp>
        <p:nvSpPr>
          <p:cNvPr id="22" name="矩形 21">
            <a:extLst>
              <a:ext uri="{FF2B5EF4-FFF2-40B4-BE49-F238E27FC236}">
                <a16:creationId xmlns:a16="http://schemas.microsoft.com/office/drawing/2014/main" id="{776BABF5-BF56-CFA7-4116-E6EF8319BF25}"/>
              </a:ext>
            </a:extLst>
          </p:cNvPr>
          <p:cNvSpPr/>
          <p:nvPr/>
        </p:nvSpPr>
        <p:spPr>
          <a:xfrm>
            <a:off x="6895099" y="4103853"/>
            <a:ext cx="1698930" cy="483337"/>
          </a:xfrm>
          <a:prstGeom prst="rect">
            <a:avLst/>
          </a:prstGeom>
        </p:spPr>
        <p:txBody>
          <a:bodyPr wrap="square">
            <a:spAutoFit/>
          </a:bodyPr>
          <a:lstStyle/>
          <a:p>
            <a:pP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解决</a:t>
            </a: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康复管理</a:t>
            </a: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居家延伸缺乏有效手段的问题</a:t>
            </a:r>
          </a:p>
        </p:txBody>
      </p:sp>
      <p:pic>
        <p:nvPicPr>
          <p:cNvPr id="23" name="图片 22">
            <a:extLst>
              <a:ext uri="{FF2B5EF4-FFF2-40B4-BE49-F238E27FC236}">
                <a16:creationId xmlns:a16="http://schemas.microsoft.com/office/drawing/2014/main" id="{877F8358-CCDE-4DB3-7542-BE8CE8CACF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141" y="3273687"/>
            <a:ext cx="369570" cy="354330"/>
          </a:xfrm>
          <a:prstGeom prst="rect">
            <a:avLst/>
          </a:prstGeom>
        </p:spPr>
      </p:pic>
      <p:pic>
        <p:nvPicPr>
          <p:cNvPr id="24" name="图片 23">
            <a:extLst>
              <a:ext uri="{FF2B5EF4-FFF2-40B4-BE49-F238E27FC236}">
                <a16:creationId xmlns:a16="http://schemas.microsoft.com/office/drawing/2014/main" id="{F182B4F9-D851-6298-E51B-FABF7F86694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807" y="4118544"/>
            <a:ext cx="448444" cy="448444"/>
          </a:xfrm>
          <a:prstGeom prst="rect">
            <a:avLst/>
          </a:prstGeom>
        </p:spPr>
      </p:pic>
      <p:pic>
        <p:nvPicPr>
          <p:cNvPr id="25" name="图片 24">
            <a:extLst>
              <a:ext uri="{FF2B5EF4-FFF2-40B4-BE49-F238E27FC236}">
                <a16:creationId xmlns:a16="http://schemas.microsoft.com/office/drawing/2014/main" id="{0E8B38C0-4DAA-6492-7FD3-C9174C4A2C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48364" y="3158690"/>
            <a:ext cx="554490" cy="554490"/>
          </a:xfrm>
          <a:prstGeom prst="rect">
            <a:avLst/>
          </a:prstGeom>
        </p:spPr>
      </p:pic>
      <p:pic>
        <p:nvPicPr>
          <p:cNvPr id="26" name="图片 25">
            <a:extLst>
              <a:ext uri="{FF2B5EF4-FFF2-40B4-BE49-F238E27FC236}">
                <a16:creationId xmlns:a16="http://schemas.microsoft.com/office/drawing/2014/main" id="{19E4610C-D147-A318-4015-F82A264A71B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10824" y="4143240"/>
            <a:ext cx="427835" cy="427835"/>
          </a:xfrm>
          <a:prstGeom prst="rect">
            <a:avLst/>
          </a:prstGeom>
        </p:spPr>
      </p:pic>
      <p:pic>
        <p:nvPicPr>
          <p:cNvPr id="27" name="图片 26">
            <a:extLst>
              <a:ext uri="{FF2B5EF4-FFF2-40B4-BE49-F238E27FC236}">
                <a16:creationId xmlns:a16="http://schemas.microsoft.com/office/drawing/2014/main" id="{D4A4FA5B-DBE7-086B-9640-BC8C263FA73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58428" y="3154487"/>
            <a:ext cx="588372" cy="588372"/>
          </a:xfrm>
          <a:prstGeom prst="rect">
            <a:avLst/>
          </a:prstGeom>
        </p:spPr>
      </p:pic>
      <p:pic>
        <p:nvPicPr>
          <p:cNvPr id="28" name="图片 27">
            <a:extLst>
              <a:ext uri="{FF2B5EF4-FFF2-40B4-BE49-F238E27FC236}">
                <a16:creationId xmlns:a16="http://schemas.microsoft.com/office/drawing/2014/main" id="{738388F9-4D87-87A0-271F-65CCA95C1D6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7986" y="4096647"/>
            <a:ext cx="549910" cy="549910"/>
          </a:xfrm>
          <a:prstGeom prst="rect">
            <a:avLst/>
          </a:prstGeom>
        </p:spPr>
      </p:pic>
      <p:sp>
        <p:nvSpPr>
          <p:cNvPr id="29" name="文本框 28">
            <a:extLst>
              <a:ext uri="{FF2B5EF4-FFF2-40B4-BE49-F238E27FC236}">
                <a16:creationId xmlns:a16="http://schemas.microsoft.com/office/drawing/2014/main" id="{B00D675E-26EF-D9C4-5510-BD3F34C07942}"/>
              </a:ext>
            </a:extLst>
          </p:cNvPr>
          <p:cNvSpPr txBox="1"/>
          <p:nvPr/>
        </p:nvSpPr>
        <p:spPr>
          <a:xfrm>
            <a:off x="1067893" y="3205414"/>
            <a:ext cx="1946084" cy="507831"/>
          </a:xfrm>
          <a:prstGeom prst="rect">
            <a:avLst/>
          </a:prstGeom>
          <a:noFill/>
        </p:spPr>
        <p:txBody>
          <a:bodyPr wrap="square" rtlCol="0">
            <a:spAutoFit/>
          </a:bodyPr>
          <a:lstStyle/>
          <a:p>
            <a:pPr>
              <a:lnSpc>
                <a:spcPct val="150000"/>
              </a:lnSpc>
              <a:buClrTx/>
              <a:buSzTx/>
              <a:buFontTx/>
            </a:pP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解决心电数据的分布采集与集中诊断和管理的技术问题</a:t>
            </a:r>
          </a:p>
        </p:txBody>
      </p:sp>
      <p:sp>
        <p:nvSpPr>
          <p:cNvPr id="30" name="矩形 29">
            <a:extLst>
              <a:ext uri="{FF2B5EF4-FFF2-40B4-BE49-F238E27FC236}">
                <a16:creationId xmlns:a16="http://schemas.microsoft.com/office/drawing/2014/main" id="{88546697-206C-87A9-15C9-BDD61A4EAA22}"/>
              </a:ext>
            </a:extLst>
          </p:cNvPr>
          <p:cNvSpPr/>
          <p:nvPr/>
        </p:nvSpPr>
        <p:spPr>
          <a:xfrm>
            <a:off x="6865837" y="3205414"/>
            <a:ext cx="1728192" cy="483337"/>
          </a:xfrm>
          <a:prstGeom prst="rect">
            <a:avLst/>
          </a:prstGeom>
        </p:spPr>
        <p:txBody>
          <a:bodyPr wrap="square">
            <a:spAutoFit/>
          </a:bodyPr>
          <a:lstStyle/>
          <a:p>
            <a:pP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解决多场景下医生高效管理的问题</a:t>
            </a:r>
          </a:p>
        </p:txBody>
      </p:sp>
      <p:sp>
        <p:nvSpPr>
          <p:cNvPr id="31" name="矩形 30">
            <a:extLst>
              <a:ext uri="{FF2B5EF4-FFF2-40B4-BE49-F238E27FC236}">
                <a16:creationId xmlns:a16="http://schemas.microsoft.com/office/drawing/2014/main" id="{A9E128E0-1ED4-F879-9093-CCB8222D8ACF}"/>
              </a:ext>
            </a:extLst>
          </p:cNvPr>
          <p:cNvSpPr/>
          <p:nvPr/>
        </p:nvSpPr>
        <p:spPr>
          <a:xfrm>
            <a:off x="3985005" y="3205414"/>
            <a:ext cx="1910151" cy="483337"/>
          </a:xfrm>
          <a:prstGeom prst="rect">
            <a:avLst/>
          </a:prstGeom>
        </p:spPr>
        <p:txBody>
          <a:bodyPr wrap="square">
            <a:spAutoFit/>
          </a:bodyPr>
          <a:lstStyle/>
          <a:p>
            <a:pP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解决医生团队下乡和家医随访中传统设备使用不便的问题</a:t>
            </a:r>
          </a:p>
        </p:txBody>
      </p:sp>
    </p:spTree>
    <p:extLst>
      <p:ext uri="{BB962C8B-B14F-4D97-AF65-F5344CB8AC3E}">
        <p14:creationId xmlns:p14="http://schemas.microsoft.com/office/powerpoint/2010/main" val="3966553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8F666-7642-C0FA-E7A9-C1674F7BEC3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6F3E3C9-AE4C-F405-81FE-A2065F34FC91}"/>
              </a:ext>
            </a:extLst>
          </p:cNvPr>
          <p:cNvSpPr/>
          <p:nvPr/>
        </p:nvSpPr>
        <p:spPr>
          <a:xfrm flipH="1">
            <a:off x="-36830" y="0"/>
            <a:ext cx="4895850" cy="5152390"/>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102" name="图片 101">
            <a:extLst>
              <a:ext uri="{FF2B5EF4-FFF2-40B4-BE49-F238E27FC236}">
                <a16:creationId xmlns:a16="http://schemas.microsoft.com/office/drawing/2014/main" id="{9892AC7E-F864-55BE-AB87-9A25448ED064}"/>
              </a:ext>
            </a:extLst>
          </p:cNvPr>
          <p:cNvPicPr/>
          <p:nvPr/>
        </p:nvPicPr>
        <p:blipFill>
          <a:blip r:embed="rId3">
            <a:alphaModFix amt="20000"/>
          </a:blip>
          <a:srcRect r="37055"/>
          <a:stretch>
            <a:fillRect/>
          </a:stretch>
        </p:blipFill>
        <p:spPr>
          <a:xfrm>
            <a:off x="-36195" y="0"/>
            <a:ext cx="4896485" cy="5143500"/>
          </a:xfrm>
          <a:prstGeom prst="rect">
            <a:avLst/>
          </a:prstGeom>
          <a:noFill/>
          <a:ln w="9525">
            <a:noFill/>
          </a:ln>
        </p:spPr>
      </p:pic>
      <p:sp>
        <p:nvSpPr>
          <p:cNvPr id="3" name="文本框 2">
            <a:extLst>
              <a:ext uri="{FF2B5EF4-FFF2-40B4-BE49-F238E27FC236}">
                <a16:creationId xmlns:a16="http://schemas.microsoft.com/office/drawing/2014/main" id="{B3EF051F-5F94-6278-8AC8-28EF707A6BEB}"/>
              </a:ext>
            </a:extLst>
          </p:cNvPr>
          <p:cNvSpPr txBox="1"/>
          <p:nvPr/>
        </p:nvSpPr>
        <p:spPr>
          <a:xfrm>
            <a:off x="611505" y="699770"/>
            <a:ext cx="1868805" cy="768350"/>
          </a:xfrm>
          <a:prstGeom prst="rect">
            <a:avLst/>
          </a:prstGeom>
          <a:noFill/>
        </p:spPr>
        <p:txBody>
          <a:bodyPr wrap="square" rtlCol="0">
            <a:spAutoFit/>
          </a:bodyPr>
          <a:lstStyle/>
          <a:p>
            <a:r>
              <a:rPr lang="zh-CN" altLang="en-US" sz="4400" b="1">
                <a:solidFill>
                  <a:schemeClr val="bg1"/>
                </a:solidFill>
                <a:latin typeface="微软雅黑" panose="020B0503020204020204" pitchFamily="34" charset="-122"/>
                <a:ea typeface="微软雅黑" panose="020B0503020204020204" pitchFamily="34" charset="-122"/>
              </a:rPr>
              <a:t>目录</a:t>
            </a:r>
          </a:p>
        </p:txBody>
      </p:sp>
      <p:sp>
        <p:nvSpPr>
          <p:cNvPr id="6" name="文本框 5">
            <a:extLst>
              <a:ext uri="{FF2B5EF4-FFF2-40B4-BE49-F238E27FC236}">
                <a16:creationId xmlns:a16="http://schemas.microsoft.com/office/drawing/2014/main" id="{BE74B87F-E3EC-8005-1475-2B209EF9D2B9}"/>
              </a:ext>
            </a:extLst>
          </p:cNvPr>
          <p:cNvSpPr txBox="1"/>
          <p:nvPr/>
        </p:nvSpPr>
        <p:spPr>
          <a:xfrm>
            <a:off x="664210" y="1491615"/>
            <a:ext cx="1868805" cy="398780"/>
          </a:xfrm>
          <a:prstGeom prst="rect">
            <a:avLst/>
          </a:prstGeom>
          <a:noFill/>
        </p:spPr>
        <p:txBody>
          <a:bodyPr wrap="square" rtlCol="0">
            <a:spAutoFit/>
          </a:bodyPr>
          <a:lstStyle/>
          <a:p>
            <a:r>
              <a:rPr lang="en-US" altLang="zh-CN" sz="2000" b="1">
                <a:solidFill>
                  <a:schemeClr val="bg1">
                    <a:alpha val="50000"/>
                  </a:schemeClr>
                </a:solidFill>
                <a:latin typeface="微软雅黑" panose="020B0503020204020204" pitchFamily="34" charset="-122"/>
                <a:ea typeface="微软雅黑" panose="020B0503020204020204" pitchFamily="34" charset="-122"/>
              </a:rPr>
              <a:t>CONTENTS</a:t>
            </a:r>
          </a:p>
        </p:txBody>
      </p:sp>
      <p:grpSp>
        <p:nvGrpSpPr>
          <p:cNvPr id="23" name="组合 22">
            <a:extLst>
              <a:ext uri="{FF2B5EF4-FFF2-40B4-BE49-F238E27FC236}">
                <a16:creationId xmlns:a16="http://schemas.microsoft.com/office/drawing/2014/main" id="{93748C43-153E-AEDB-98BE-355AF25DB9E5}"/>
              </a:ext>
            </a:extLst>
          </p:cNvPr>
          <p:cNvGrpSpPr/>
          <p:nvPr/>
        </p:nvGrpSpPr>
        <p:grpSpPr>
          <a:xfrm>
            <a:off x="4491990" y="417994"/>
            <a:ext cx="3060065" cy="709930"/>
            <a:chOff x="4613" y="892"/>
            <a:chExt cx="4819" cy="1118"/>
          </a:xfrm>
        </p:grpSpPr>
        <p:sp>
          <p:nvSpPr>
            <p:cNvPr id="7" name="圆角矩形 6">
              <a:extLst>
                <a:ext uri="{FF2B5EF4-FFF2-40B4-BE49-F238E27FC236}">
                  <a16:creationId xmlns:a16="http://schemas.microsoft.com/office/drawing/2014/main" id="{12D5F6FB-9583-5517-6BB1-0920D18B27C6}"/>
                </a:ext>
              </a:extLst>
            </p:cNvPr>
            <p:cNvSpPr/>
            <p:nvPr/>
          </p:nvSpPr>
          <p:spPr>
            <a:xfrm>
              <a:off x="4932" y="1017"/>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政策背景</a:t>
              </a:r>
            </a:p>
          </p:txBody>
        </p:sp>
        <p:sp>
          <p:nvSpPr>
            <p:cNvPr id="4" name="椭圆 3">
              <a:extLst>
                <a:ext uri="{FF2B5EF4-FFF2-40B4-BE49-F238E27FC236}">
                  <a16:creationId xmlns:a16="http://schemas.microsoft.com/office/drawing/2014/main" id="{DC9E1DB0-B051-BF36-11F5-2998433D11EB}"/>
                </a:ext>
              </a:extLst>
            </p:cNvPr>
            <p:cNvSpPr/>
            <p:nvPr/>
          </p:nvSpPr>
          <p:spPr>
            <a:xfrm>
              <a:off x="4613" y="892"/>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1</a:t>
              </a:r>
            </a:p>
          </p:txBody>
        </p:sp>
      </p:grpSp>
      <p:grpSp>
        <p:nvGrpSpPr>
          <p:cNvPr id="22" name="组合 21">
            <a:extLst>
              <a:ext uri="{FF2B5EF4-FFF2-40B4-BE49-F238E27FC236}">
                <a16:creationId xmlns:a16="http://schemas.microsoft.com/office/drawing/2014/main" id="{A819E845-F88D-2AAE-0981-91F92CFA692F}"/>
              </a:ext>
            </a:extLst>
          </p:cNvPr>
          <p:cNvGrpSpPr/>
          <p:nvPr/>
        </p:nvGrpSpPr>
        <p:grpSpPr>
          <a:xfrm>
            <a:off x="4491990" y="1336040"/>
            <a:ext cx="3060700" cy="709930"/>
            <a:chOff x="4613" y="2763"/>
            <a:chExt cx="4820" cy="1118"/>
          </a:xfrm>
        </p:grpSpPr>
        <p:sp>
          <p:nvSpPr>
            <p:cNvPr id="8" name="圆角矩形 7">
              <a:extLst>
                <a:ext uri="{FF2B5EF4-FFF2-40B4-BE49-F238E27FC236}">
                  <a16:creationId xmlns:a16="http://schemas.microsoft.com/office/drawing/2014/main" id="{3C14E735-E1FE-B217-FA4E-065680891C8C}"/>
                </a:ext>
              </a:extLst>
            </p:cNvPr>
            <p:cNvSpPr/>
            <p:nvPr/>
          </p:nvSpPr>
          <p:spPr>
            <a:xfrm>
              <a:off x="4932" y="2888"/>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需求分析</a:t>
              </a:r>
            </a:p>
          </p:txBody>
        </p:sp>
        <p:sp>
          <p:nvSpPr>
            <p:cNvPr id="9" name="椭圆 8">
              <a:extLst>
                <a:ext uri="{FF2B5EF4-FFF2-40B4-BE49-F238E27FC236}">
                  <a16:creationId xmlns:a16="http://schemas.microsoft.com/office/drawing/2014/main" id="{330BEE0F-8203-E06C-1B23-4A7D4315024B}"/>
                </a:ext>
              </a:extLst>
            </p:cNvPr>
            <p:cNvSpPr/>
            <p:nvPr/>
          </p:nvSpPr>
          <p:spPr>
            <a:xfrm>
              <a:off x="4613" y="2763"/>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2</a:t>
              </a:r>
            </a:p>
          </p:txBody>
        </p:sp>
      </p:grpSp>
      <p:grpSp>
        <p:nvGrpSpPr>
          <p:cNvPr id="20" name="组合 19">
            <a:extLst>
              <a:ext uri="{FF2B5EF4-FFF2-40B4-BE49-F238E27FC236}">
                <a16:creationId xmlns:a16="http://schemas.microsoft.com/office/drawing/2014/main" id="{8CAFFE9A-B75A-B77D-FDEB-6040ECD48575}"/>
              </a:ext>
            </a:extLst>
          </p:cNvPr>
          <p:cNvGrpSpPr/>
          <p:nvPr/>
        </p:nvGrpSpPr>
        <p:grpSpPr>
          <a:xfrm>
            <a:off x="4491990" y="2268456"/>
            <a:ext cx="3060065" cy="709930"/>
            <a:chOff x="4613" y="6448"/>
            <a:chExt cx="4819" cy="1118"/>
          </a:xfrm>
        </p:grpSpPr>
        <p:sp>
          <p:nvSpPr>
            <p:cNvPr id="17" name="圆角矩形 16">
              <a:extLst>
                <a:ext uri="{FF2B5EF4-FFF2-40B4-BE49-F238E27FC236}">
                  <a16:creationId xmlns:a16="http://schemas.microsoft.com/office/drawing/2014/main" id="{E10ACA7F-8FEF-1AE0-4735-96E5108210A0}"/>
                </a:ext>
              </a:extLst>
            </p:cNvPr>
            <p:cNvSpPr/>
            <p:nvPr/>
          </p:nvSpPr>
          <p:spPr>
            <a:xfrm>
              <a:off x="4932" y="6573"/>
              <a:ext cx="4501" cy="869"/>
            </a:xfrm>
            <a:prstGeom prst="roundRect">
              <a:avLst>
                <a:gd name="adj" fmla="val 50000"/>
              </a:avLst>
            </a:prstGeom>
            <a:solidFill>
              <a:srgbClr val="2A86DC"/>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方案概述</a:t>
              </a:r>
            </a:p>
          </p:txBody>
        </p:sp>
        <p:sp>
          <p:nvSpPr>
            <p:cNvPr id="19" name="椭圆 18">
              <a:extLst>
                <a:ext uri="{FF2B5EF4-FFF2-40B4-BE49-F238E27FC236}">
                  <a16:creationId xmlns:a16="http://schemas.microsoft.com/office/drawing/2014/main" id="{6C053CA2-0438-17ED-5954-4E73AD6EC042}"/>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3</a:t>
              </a:r>
            </a:p>
          </p:txBody>
        </p:sp>
      </p:grpSp>
      <p:grpSp>
        <p:nvGrpSpPr>
          <p:cNvPr id="5" name="组合 19">
            <a:extLst>
              <a:ext uri="{FF2B5EF4-FFF2-40B4-BE49-F238E27FC236}">
                <a16:creationId xmlns:a16="http://schemas.microsoft.com/office/drawing/2014/main" id="{ABEE1686-AB27-359C-1CE4-3CC572622C55}"/>
              </a:ext>
            </a:extLst>
          </p:cNvPr>
          <p:cNvGrpSpPr/>
          <p:nvPr/>
        </p:nvGrpSpPr>
        <p:grpSpPr>
          <a:xfrm>
            <a:off x="4491990" y="3216746"/>
            <a:ext cx="3060700" cy="709930"/>
            <a:chOff x="4613" y="6448"/>
            <a:chExt cx="4820" cy="1118"/>
          </a:xfrm>
        </p:grpSpPr>
        <p:sp>
          <p:nvSpPr>
            <p:cNvPr id="10" name="圆角矩形 16">
              <a:extLst>
                <a:ext uri="{FF2B5EF4-FFF2-40B4-BE49-F238E27FC236}">
                  <a16:creationId xmlns:a16="http://schemas.microsoft.com/office/drawing/2014/main" id="{083DD00D-2F26-82F3-9953-E616D07BA484}"/>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应用场景</a:t>
              </a:r>
            </a:p>
          </p:txBody>
        </p:sp>
        <p:sp>
          <p:nvSpPr>
            <p:cNvPr id="11" name="椭圆 18">
              <a:extLst>
                <a:ext uri="{FF2B5EF4-FFF2-40B4-BE49-F238E27FC236}">
                  <a16:creationId xmlns:a16="http://schemas.microsoft.com/office/drawing/2014/main" id="{8FA1FA75-D9AA-4B75-2E41-AC0898DD5D52}"/>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4</a:t>
              </a:r>
            </a:p>
          </p:txBody>
        </p:sp>
      </p:grpSp>
      <p:grpSp>
        <p:nvGrpSpPr>
          <p:cNvPr id="13" name="组合 19">
            <a:extLst>
              <a:ext uri="{FF2B5EF4-FFF2-40B4-BE49-F238E27FC236}">
                <a16:creationId xmlns:a16="http://schemas.microsoft.com/office/drawing/2014/main" id="{A0A0270C-A189-7544-1F26-4F0E28BB8C28}"/>
              </a:ext>
            </a:extLst>
          </p:cNvPr>
          <p:cNvGrpSpPr/>
          <p:nvPr/>
        </p:nvGrpSpPr>
        <p:grpSpPr>
          <a:xfrm>
            <a:off x="4491990" y="4154465"/>
            <a:ext cx="3060065" cy="709930"/>
            <a:chOff x="4613" y="6448"/>
            <a:chExt cx="4819" cy="1118"/>
          </a:xfrm>
        </p:grpSpPr>
        <p:sp>
          <p:nvSpPr>
            <p:cNvPr id="14" name="圆角矩形 16">
              <a:extLst>
                <a:ext uri="{FF2B5EF4-FFF2-40B4-BE49-F238E27FC236}">
                  <a16:creationId xmlns:a16="http://schemas.microsoft.com/office/drawing/2014/main" id="{10747173-B0CB-D116-B8DA-9BA6E11FCDC7}"/>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应用案例</a:t>
              </a:r>
            </a:p>
          </p:txBody>
        </p:sp>
        <p:sp>
          <p:nvSpPr>
            <p:cNvPr id="15" name="椭圆 18">
              <a:extLst>
                <a:ext uri="{FF2B5EF4-FFF2-40B4-BE49-F238E27FC236}">
                  <a16:creationId xmlns:a16="http://schemas.microsoft.com/office/drawing/2014/main" id="{89C9D633-4FA3-622F-5678-135E470092E4}"/>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5</a:t>
              </a:r>
            </a:p>
          </p:txBody>
        </p:sp>
      </p:grpSp>
    </p:spTree>
    <p:extLst>
      <p:ext uri="{BB962C8B-B14F-4D97-AF65-F5344CB8AC3E}">
        <p14:creationId xmlns:p14="http://schemas.microsoft.com/office/powerpoint/2010/main" val="1830899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B6EC0-5396-64B7-4257-980F94C4CA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D0A206-3966-D05E-46B0-2E1BC2A2CCB5}"/>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产品架构</a:t>
            </a:r>
          </a:p>
        </p:txBody>
      </p:sp>
      <p:sp>
        <p:nvSpPr>
          <p:cNvPr id="3" name="圆角矩形 96">
            <a:extLst>
              <a:ext uri="{FF2B5EF4-FFF2-40B4-BE49-F238E27FC236}">
                <a16:creationId xmlns:a16="http://schemas.microsoft.com/office/drawing/2014/main" id="{4A7D6954-DA0B-E624-D177-143DEFD68DA6}"/>
              </a:ext>
            </a:extLst>
          </p:cNvPr>
          <p:cNvSpPr/>
          <p:nvPr>
            <p:custDataLst>
              <p:tags r:id="rId1"/>
            </p:custDataLst>
          </p:nvPr>
        </p:nvSpPr>
        <p:spPr>
          <a:xfrm>
            <a:off x="1002840" y="3864271"/>
            <a:ext cx="6061030" cy="295694"/>
          </a:xfrm>
          <a:prstGeom prst="roundRect">
            <a:avLst>
              <a:gd name="adj" fmla="val 2397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vert="horz" lIns="91434" tIns="45717" rIns="91434" bIns="45717" anchor="b"/>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数据交换层</a:t>
            </a:r>
          </a:p>
        </p:txBody>
      </p:sp>
      <p:sp>
        <p:nvSpPr>
          <p:cNvPr id="4" name="圆角矩形 1">
            <a:extLst>
              <a:ext uri="{FF2B5EF4-FFF2-40B4-BE49-F238E27FC236}">
                <a16:creationId xmlns:a16="http://schemas.microsoft.com/office/drawing/2014/main" id="{1FFB41B9-8CD6-A42F-02A7-75C4367BD03A}"/>
              </a:ext>
            </a:extLst>
          </p:cNvPr>
          <p:cNvSpPr/>
          <p:nvPr>
            <p:custDataLst>
              <p:tags r:id="rId2"/>
            </p:custDataLst>
          </p:nvPr>
        </p:nvSpPr>
        <p:spPr>
          <a:xfrm>
            <a:off x="997506" y="1927366"/>
            <a:ext cx="6067165" cy="1913147"/>
          </a:xfrm>
          <a:prstGeom prst="roundRect">
            <a:avLst>
              <a:gd name="adj" fmla="val 5039"/>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vert="eaVert" lIns="91434" tIns="45717" rIns="91434" bIns="45717" anchor="b"/>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业务功能</a:t>
            </a:r>
          </a:p>
        </p:txBody>
      </p:sp>
      <p:sp>
        <p:nvSpPr>
          <p:cNvPr id="5" name="AutoShape 17">
            <a:extLst>
              <a:ext uri="{FF2B5EF4-FFF2-40B4-BE49-F238E27FC236}">
                <a16:creationId xmlns:a16="http://schemas.microsoft.com/office/drawing/2014/main" id="{0C7ADA70-FA75-8176-2119-7816D535C19D}"/>
              </a:ext>
            </a:extLst>
          </p:cNvPr>
          <p:cNvSpPr>
            <a:spLocks noChangeArrowheads="1"/>
          </p:cNvSpPr>
          <p:nvPr>
            <p:custDataLst>
              <p:tags r:id="rId3"/>
            </p:custDataLst>
          </p:nvPr>
        </p:nvSpPr>
        <p:spPr bwMode="auto">
          <a:xfrm>
            <a:off x="5370725" y="2056521"/>
            <a:ext cx="730062" cy="1710086"/>
          </a:xfrm>
          <a:prstGeom prst="roundRect">
            <a:avLst>
              <a:gd name="adj" fmla="val 8467"/>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900" b="1" dirty="0">
                <a:solidFill>
                  <a:schemeClr val="bg1"/>
                </a:solidFill>
                <a:latin typeface="微软雅黑" panose="020B0503020204020204" pitchFamily="34" charset="-122"/>
                <a:ea typeface="微软雅黑" panose="020B0503020204020204" pitchFamily="34" charset="-122"/>
              </a:rPr>
              <a:t>医疗质控</a:t>
            </a:r>
          </a:p>
        </p:txBody>
      </p:sp>
      <p:sp>
        <p:nvSpPr>
          <p:cNvPr id="6" name="AutoShape 17">
            <a:extLst>
              <a:ext uri="{FF2B5EF4-FFF2-40B4-BE49-F238E27FC236}">
                <a16:creationId xmlns:a16="http://schemas.microsoft.com/office/drawing/2014/main" id="{D8DD94BA-D567-7552-8D58-203C2AF0F04B}"/>
              </a:ext>
            </a:extLst>
          </p:cNvPr>
          <p:cNvSpPr>
            <a:spLocks noChangeArrowheads="1"/>
          </p:cNvSpPr>
          <p:nvPr>
            <p:custDataLst>
              <p:tags r:id="rId4"/>
            </p:custDataLst>
          </p:nvPr>
        </p:nvSpPr>
        <p:spPr bwMode="auto">
          <a:xfrm>
            <a:off x="3708196" y="2056521"/>
            <a:ext cx="730062" cy="1710235"/>
          </a:xfrm>
          <a:prstGeom prst="roundRect">
            <a:avLst>
              <a:gd name="adj" fmla="val 8443"/>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900" b="1" dirty="0">
                <a:solidFill>
                  <a:schemeClr val="bg1"/>
                </a:solidFill>
                <a:latin typeface="微软雅黑" panose="020B0503020204020204" pitchFamily="34" charset="-122"/>
                <a:ea typeface="微软雅黑" panose="020B0503020204020204" pitchFamily="34" charset="-122"/>
              </a:rPr>
              <a:t>移动业务</a:t>
            </a:r>
          </a:p>
        </p:txBody>
      </p:sp>
      <p:sp>
        <p:nvSpPr>
          <p:cNvPr id="22" name="AutoShape 17">
            <a:extLst>
              <a:ext uri="{FF2B5EF4-FFF2-40B4-BE49-F238E27FC236}">
                <a16:creationId xmlns:a16="http://schemas.microsoft.com/office/drawing/2014/main" id="{2DF1CB2B-3C14-B115-CC51-CB83C1A6DEFF}"/>
              </a:ext>
            </a:extLst>
          </p:cNvPr>
          <p:cNvSpPr>
            <a:spLocks noChangeArrowheads="1"/>
          </p:cNvSpPr>
          <p:nvPr>
            <p:custDataLst>
              <p:tags r:id="rId5"/>
            </p:custDataLst>
          </p:nvPr>
        </p:nvSpPr>
        <p:spPr bwMode="auto">
          <a:xfrm>
            <a:off x="1350504" y="2060012"/>
            <a:ext cx="2277087" cy="1706745"/>
          </a:xfrm>
          <a:prstGeom prst="roundRect">
            <a:avLst>
              <a:gd name="adj" fmla="val 7295"/>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900" b="1" dirty="0">
                <a:solidFill>
                  <a:schemeClr val="bg1"/>
                </a:solidFill>
                <a:latin typeface="微软雅黑" panose="020B0503020204020204" pitchFamily="34" charset="-122"/>
                <a:ea typeface="微软雅黑" panose="020B0503020204020204" pitchFamily="34" charset="-122"/>
              </a:rPr>
              <a:t>心电云业务平台</a:t>
            </a:r>
          </a:p>
        </p:txBody>
      </p:sp>
      <p:sp>
        <p:nvSpPr>
          <p:cNvPr id="23" name="圆角矩形 9">
            <a:extLst>
              <a:ext uri="{FF2B5EF4-FFF2-40B4-BE49-F238E27FC236}">
                <a16:creationId xmlns:a16="http://schemas.microsoft.com/office/drawing/2014/main" id="{41205A07-FF8C-862C-9A6A-25FE7F14DD1A}"/>
              </a:ext>
            </a:extLst>
          </p:cNvPr>
          <p:cNvSpPr/>
          <p:nvPr>
            <p:custDataLst>
              <p:tags r:id="rId6"/>
            </p:custDataLst>
          </p:nvPr>
        </p:nvSpPr>
        <p:spPr>
          <a:xfrm>
            <a:off x="997507" y="4207802"/>
            <a:ext cx="6066361" cy="70154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34" tIns="45717" rIns="91434" bIns="45717" anchor="ct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基础</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平台</a:t>
            </a:r>
          </a:p>
        </p:txBody>
      </p:sp>
      <p:sp>
        <p:nvSpPr>
          <p:cNvPr id="24" name="圆角矩形 10">
            <a:extLst>
              <a:ext uri="{FF2B5EF4-FFF2-40B4-BE49-F238E27FC236}">
                <a16:creationId xmlns:a16="http://schemas.microsoft.com/office/drawing/2014/main" id="{74E409D7-8F6C-254F-06E3-5CA669441002}"/>
              </a:ext>
            </a:extLst>
          </p:cNvPr>
          <p:cNvSpPr/>
          <p:nvPr>
            <p:custDataLst>
              <p:tags r:id="rId7"/>
            </p:custDataLst>
          </p:nvPr>
        </p:nvSpPr>
        <p:spPr>
          <a:xfrm>
            <a:off x="997373" y="1396742"/>
            <a:ext cx="6066764" cy="50200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34" tIns="45717" rIns="91434" bIns="45717" anchor="ctr"/>
          <a:lstStyle/>
          <a:p>
            <a:pPr defTabSz="1414145">
              <a:buClr>
                <a:srgbClr val="CC9900"/>
              </a:buClr>
            </a:pPr>
            <a:r>
              <a:rPr lang="en-US" altLang="zh-CN" sz="1350" b="1"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应用层</a:t>
            </a:r>
          </a:p>
        </p:txBody>
      </p:sp>
      <p:sp>
        <p:nvSpPr>
          <p:cNvPr id="25" name="AutoShape 17">
            <a:extLst>
              <a:ext uri="{FF2B5EF4-FFF2-40B4-BE49-F238E27FC236}">
                <a16:creationId xmlns:a16="http://schemas.microsoft.com/office/drawing/2014/main" id="{7D59763A-10D4-2C25-8763-2AB66EA0042D}"/>
              </a:ext>
            </a:extLst>
          </p:cNvPr>
          <p:cNvSpPr>
            <a:spLocks noChangeArrowheads="1"/>
          </p:cNvSpPr>
          <p:nvPr>
            <p:custDataLst>
              <p:tags r:id="rId8"/>
            </p:custDataLst>
          </p:nvPr>
        </p:nvSpPr>
        <p:spPr bwMode="auto">
          <a:xfrm>
            <a:off x="3377772" y="1473149"/>
            <a:ext cx="1099206"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医生端移动</a:t>
            </a:r>
            <a:r>
              <a:rPr lang="en-US" altLang="zh-CN"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APP</a:t>
            </a:r>
          </a:p>
        </p:txBody>
      </p:sp>
      <p:sp>
        <p:nvSpPr>
          <p:cNvPr id="26" name="圆角矩形 14">
            <a:extLst>
              <a:ext uri="{FF2B5EF4-FFF2-40B4-BE49-F238E27FC236}">
                <a16:creationId xmlns:a16="http://schemas.microsoft.com/office/drawing/2014/main" id="{29CE0E5D-9CA2-A3CE-7DFB-38ECD907DD4C}"/>
              </a:ext>
            </a:extLst>
          </p:cNvPr>
          <p:cNvSpPr/>
          <p:nvPr>
            <p:custDataLst>
              <p:tags r:id="rId9"/>
            </p:custDataLst>
          </p:nvPr>
        </p:nvSpPr>
        <p:spPr>
          <a:xfrm>
            <a:off x="1468250" y="2332425"/>
            <a:ext cx="63479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工作概况</a:t>
            </a:r>
          </a:p>
        </p:txBody>
      </p:sp>
      <p:sp>
        <p:nvSpPr>
          <p:cNvPr id="27" name="圆角矩形 15">
            <a:extLst>
              <a:ext uri="{FF2B5EF4-FFF2-40B4-BE49-F238E27FC236}">
                <a16:creationId xmlns:a16="http://schemas.microsoft.com/office/drawing/2014/main" id="{FB6A1B05-7877-4F7E-18AF-91B39799A551}"/>
              </a:ext>
            </a:extLst>
          </p:cNvPr>
          <p:cNvSpPr/>
          <p:nvPr>
            <p:custDataLst>
              <p:tags r:id="rId10"/>
            </p:custDataLst>
          </p:nvPr>
        </p:nvSpPr>
        <p:spPr>
          <a:xfrm>
            <a:off x="1468250" y="2673316"/>
            <a:ext cx="63300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检查管理</a:t>
            </a:r>
          </a:p>
        </p:txBody>
      </p:sp>
      <p:sp>
        <p:nvSpPr>
          <p:cNvPr id="28" name="圆角矩形 16">
            <a:extLst>
              <a:ext uri="{FF2B5EF4-FFF2-40B4-BE49-F238E27FC236}">
                <a16:creationId xmlns:a16="http://schemas.microsoft.com/office/drawing/2014/main" id="{FE20AC0B-4F55-DBBA-24F3-D00770A694F6}"/>
              </a:ext>
            </a:extLst>
          </p:cNvPr>
          <p:cNvSpPr/>
          <p:nvPr>
            <p:custDataLst>
              <p:tags r:id="rId11"/>
            </p:custDataLst>
          </p:nvPr>
        </p:nvSpPr>
        <p:spPr>
          <a:xfrm>
            <a:off x="1468250" y="3014206"/>
            <a:ext cx="620158"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审核管理</a:t>
            </a:r>
          </a:p>
        </p:txBody>
      </p:sp>
      <p:sp>
        <p:nvSpPr>
          <p:cNvPr id="29" name="圆角矩形 17">
            <a:extLst>
              <a:ext uri="{FF2B5EF4-FFF2-40B4-BE49-F238E27FC236}">
                <a16:creationId xmlns:a16="http://schemas.microsoft.com/office/drawing/2014/main" id="{305D6C74-9162-3257-57FB-32D34A951CC6}"/>
              </a:ext>
            </a:extLst>
          </p:cNvPr>
          <p:cNvSpPr/>
          <p:nvPr>
            <p:custDataLst>
              <p:tags r:id="rId12"/>
            </p:custDataLst>
          </p:nvPr>
        </p:nvSpPr>
        <p:spPr>
          <a:xfrm>
            <a:off x="2206796" y="2332425"/>
            <a:ext cx="655841"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设备管理</a:t>
            </a:r>
          </a:p>
        </p:txBody>
      </p:sp>
      <p:sp>
        <p:nvSpPr>
          <p:cNvPr id="30" name="圆角矩形 18">
            <a:extLst>
              <a:ext uri="{FF2B5EF4-FFF2-40B4-BE49-F238E27FC236}">
                <a16:creationId xmlns:a16="http://schemas.microsoft.com/office/drawing/2014/main" id="{49BD420D-0E6C-1246-598B-0AF52310F24E}"/>
              </a:ext>
            </a:extLst>
          </p:cNvPr>
          <p:cNvSpPr/>
          <p:nvPr>
            <p:custDataLst>
              <p:tags r:id="rId13"/>
            </p:custDataLst>
          </p:nvPr>
        </p:nvSpPr>
        <p:spPr>
          <a:xfrm>
            <a:off x="2212150" y="2673315"/>
            <a:ext cx="63911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数据采集</a:t>
            </a:r>
          </a:p>
        </p:txBody>
      </p:sp>
      <p:sp>
        <p:nvSpPr>
          <p:cNvPr id="31" name="圆角矩形 19">
            <a:extLst>
              <a:ext uri="{FF2B5EF4-FFF2-40B4-BE49-F238E27FC236}">
                <a16:creationId xmlns:a16="http://schemas.microsoft.com/office/drawing/2014/main" id="{253B2998-6A40-358C-7ADA-152279674587}"/>
              </a:ext>
            </a:extLst>
          </p:cNvPr>
          <p:cNvSpPr/>
          <p:nvPr>
            <p:custDataLst>
              <p:tags r:id="rId14"/>
            </p:custDataLst>
          </p:nvPr>
        </p:nvSpPr>
        <p:spPr>
          <a:xfrm>
            <a:off x="2212150" y="3014204"/>
            <a:ext cx="628491"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分析历史</a:t>
            </a:r>
          </a:p>
        </p:txBody>
      </p:sp>
      <p:sp>
        <p:nvSpPr>
          <p:cNvPr id="32" name="圆角矩形 20">
            <a:extLst>
              <a:ext uri="{FF2B5EF4-FFF2-40B4-BE49-F238E27FC236}">
                <a16:creationId xmlns:a16="http://schemas.microsoft.com/office/drawing/2014/main" id="{8DC8D56B-D1F1-3CD1-F373-CDED2B467EE0}"/>
              </a:ext>
            </a:extLst>
          </p:cNvPr>
          <p:cNvSpPr/>
          <p:nvPr>
            <p:custDataLst>
              <p:tags r:id="rId15"/>
            </p:custDataLst>
          </p:nvPr>
        </p:nvSpPr>
        <p:spPr>
          <a:xfrm>
            <a:off x="2945341" y="2332425"/>
            <a:ext cx="629169"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患者管理</a:t>
            </a:r>
          </a:p>
        </p:txBody>
      </p:sp>
      <p:sp>
        <p:nvSpPr>
          <p:cNvPr id="33" name="圆角矩形 21">
            <a:extLst>
              <a:ext uri="{FF2B5EF4-FFF2-40B4-BE49-F238E27FC236}">
                <a16:creationId xmlns:a16="http://schemas.microsoft.com/office/drawing/2014/main" id="{D0B5403A-938F-B651-BA0F-F792345F212F}"/>
              </a:ext>
            </a:extLst>
          </p:cNvPr>
          <p:cNvSpPr/>
          <p:nvPr>
            <p:custDataLst>
              <p:tags r:id="rId16"/>
            </p:custDataLst>
          </p:nvPr>
        </p:nvSpPr>
        <p:spPr>
          <a:xfrm>
            <a:off x="2945341" y="2673315"/>
            <a:ext cx="629169"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分析管理</a:t>
            </a:r>
          </a:p>
        </p:txBody>
      </p:sp>
      <p:sp>
        <p:nvSpPr>
          <p:cNvPr id="34" name="圆角矩形 23">
            <a:extLst>
              <a:ext uri="{FF2B5EF4-FFF2-40B4-BE49-F238E27FC236}">
                <a16:creationId xmlns:a16="http://schemas.microsoft.com/office/drawing/2014/main" id="{B0D90BA8-B971-2873-ACA4-9A6D78798169}"/>
              </a:ext>
            </a:extLst>
          </p:cNvPr>
          <p:cNvSpPr/>
          <p:nvPr>
            <p:custDataLst>
              <p:tags r:id="rId17"/>
            </p:custDataLst>
          </p:nvPr>
        </p:nvSpPr>
        <p:spPr>
          <a:xfrm>
            <a:off x="2945341" y="3014204"/>
            <a:ext cx="629169"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本院统计</a:t>
            </a:r>
          </a:p>
        </p:txBody>
      </p:sp>
      <p:sp>
        <p:nvSpPr>
          <p:cNvPr id="35" name="圆角矩形 24">
            <a:extLst>
              <a:ext uri="{FF2B5EF4-FFF2-40B4-BE49-F238E27FC236}">
                <a16:creationId xmlns:a16="http://schemas.microsoft.com/office/drawing/2014/main" id="{94BFD03F-3B6F-488C-81EC-FF17D19E90BC}"/>
              </a:ext>
            </a:extLst>
          </p:cNvPr>
          <p:cNvSpPr/>
          <p:nvPr>
            <p:custDataLst>
              <p:tags r:id="rId18"/>
            </p:custDataLst>
          </p:nvPr>
        </p:nvSpPr>
        <p:spPr>
          <a:xfrm>
            <a:off x="2945341" y="3355095"/>
            <a:ext cx="629169"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远程分析</a:t>
            </a:r>
          </a:p>
        </p:txBody>
      </p:sp>
      <p:sp>
        <p:nvSpPr>
          <p:cNvPr id="36" name="圆角矩形 25">
            <a:extLst>
              <a:ext uri="{FF2B5EF4-FFF2-40B4-BE49-F238E27FC236}">
                <a16:creationId xmlns:a16="http://schemas.microsoft.com/office/drawing/2014/main" id="{E08E43CF-12C6-4CC9-491F-F3D34C8E8C72}"/>
              </a:ext>
            </a:extLst>
          </p:cNvPr>
          <p:cNvSpPr/>
          <p:nvPr>
            <p:custDataLst>
              <p:tags r:id="rId19"/>
            </p:custDataLst>
          </p:nvPr>
        </p:nvSpPr>
        <p:spPr>
          <a:xfrm>
            <a:off x="3748159" y="2339179"/>
            <a:ext cx="64368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移动下单</a:t>
            </a:r>
          </a:p>
        </p:txBody>
      </p:sp>
      <p:sp>
        <p:nvSpPr>
          <p:cNvPr id="37" name="圆角矩形 26">
            <a:extLst>
              <a:ext uri="{FF2B5EF4-FFF2-40B4-BE49-F238E27FC236}">
                <a16:creationId xmlns:a16="http://schemas.microsoft.com/office/drawing/2014/main" id="{C5463B20-379B-F053-EFCD-7DDD88D067BB}"/>
              </a:ext>
            </a:extLst>
          </p:cNvPr>
          <p:cNvSpPr/>
          <p:nvPr>
            <p:custDataLst>
              <p:tags r:id="rId20"/>
            </p:custDataLst>
          </p:nvPr>
        </p:nvSpPr>
        <p:spPr>
          <a:xfrm>
            <a:off x="3748159" y="2677775"/>
            <a:ext cx="654359"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查阅报告</a:t>
            </a:r>
          </a:p>
        </p:txBody>
      </p:sp>
      <p:sp>
        <p:nvSpPr>
          <p:cNvPr id="38" name="圆角矩形 27">
            <a:extLst>
              <a:ext uri="{FF2B5EF4-FFF2-40B4-BE49-F238E27FC236}">
                <a16:creationId xmlns:a16="http://schemas.microsoft.com/office/drawing/2014/main" id="{49E10F26-9818-7A68-3546-3E54369D5BA2}"/>
              </a:ext>
            </a:extLst>
          </p:cNvPr>
          <p:cNvSpPr/>
          <p:nvPr>
            <p:custDataLst>
              <p:tags r:id="rId21"/>
            </p:custDataLst>
          </p:nvPr>
        </p:nvSpPr>
        <p:spPr>
          <a:xfrm>
            <a:off x="3748159" y="3016370"/>
            <a:ext cx="64368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心电测量</a:t>
            </a:r>
          </a:p>
        </p:txBody>
      </p:sp>
      <p:sp>
        <p:nvSpPr>
          <p:cNvPr id="39" name="圆角矩形 28">
            <a:extLst>
              <a:ext uri="{FF2B5EF4-FFF2-40B4-BE49-F238E27FC236}">
                <a16:creationId xmlns:a16="http://schemas.microsoft.com/office/drawing/2014/main" id="{6617F441-A9F9-D94B-0F51-302BDB8D66F4}"/>
              </a:ext>
            </a:extLst>
          </p:cNvPr>
          <p:cNvSpPr/>
          <p:nvPr>
            <p:custDataLst>
              <p:tags r:id="rId22"/>
            </p:custDataLst>
          </p:nvPr>
        </p:nvSpPr>
        <p:spPr>
          <a:xfrm>
            <a:off x="3757954" y="3353174"/>
            <a:ext cx="64368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消息中心</a:t>
            </a:r>
          </a:p>
        </p:txBody>
      </p:sp>
      <p:sp>
        <p:nvSpPr>
          <p:cNvPr id="40" name="圆角矩形 29">
            <a:extLst>
              <a:ext uri="{FF2B5EF4-FFF2-40B4-BE49-F238E27FC236}">
                <a16:creationId xmlns:a16="http://schemas.microsoft.com/office/drawing/2014/main" id="{E3AE313A-C2C1-5468-13A7-251F5B9C8EEF}"/>
              </a:ext>
            </a:extLst>
          </p:cNvPr>
          <p:cNvSpPr/>
          <p:nvPr>
            <p:custDataLst>
              <p:tags r:id="rId23"/>
            </p:custDataLst>
          </p:nvPr>
        </p:nvSpPr>
        <p:spPr>
          <a:xfrm>
            <a:off x="5446730" y="2327842"/>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700" dirty="0">
                <a:solidFill>
                  <a:schemeClr val="bg1"/>
                </a:solidFill>
                <a:latin typeface="微软雅黑" panose="020B0503020204020204" pitchFamily="34" charset="-122"/>
                <a:ea typeface="微软雅黑" panose="020B0503020204020204" pitchFamily="34" charset="-122"/>
                <a:sym typeface="+mn-ea"/>
              </a:rPr>
              <a:t>判图不规范分析</a:t>
            </a:r>
            <a:endParaRPr lang="zh-CN" altLang="en-US" sz="700" dirty="0">
              <a:solidFill>
                <a:schemeClr val="bg1"/>
              </a:solidFill>
              <a:latin typeface="微软雅黑" panose="020B0503020204020204" pitchFamily="34" charset="-122"/>
              <a:ea typeface="微软雅黑" panose="020B0503020204020204" pitchFamily="34" charset="-122"/>
            </a:endParaRPr>
          </a:p>
        </p:txBody>
      </p:sp>
      <p:sp>
        <p:nvSpPr>
          <p:cNvPr id="41" name="圆角矩形 30">
            <a:extLst>
              <a:ext uri="{FF2B5EF4-FFF2-40B4-BE49-F238E27FC236}">
                <a16:creationId xmlns:a16="http://schemas.microsoft.com/office/drawing/2014/main" id="{6692FF72-D98F-053E-FF66-363A98B48941}"/>
              </a:ext>
            </a:extLst>
          </p:cNvPr>
          <p:cNvSpPr/>
          <p:nvPr>
            <p:custDataLst>
              <p:tags r:id="rId24"/>
            </p:custDataLst>
          </p:nvPr>
        </p:nvSpPr>
        <p:spPr>
          <a:xfrm>
            <a:off x="5446730" y="2664572"/>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判图时效分析</a:t>
            </a:r>
          </a:p>
        </p:txBody>
      </p:sp>
      <p:sp>
        <p:nvSpPr>
          <p:cNvPr id="42" name="圆角矩形 31">
            <a:extLst>
              <a:ext uri="{FF2B5EF4-FFF2-40B4-BE49-F238E27FC236}">
                <a16:creationId xmlns:a16="http://schemas.microsoft.com/office/drawing/2014/main" id="{6C01C73E-7400-A9A4-8182-A6C9D6F6D05F}"/>
              </a:ext>
            </a:extLst>
          </p:cNvPr>
          <p:cNvSpPr/>
          <p:nvPr>
            <p:custDataLst>
              <p:tags r:id="rId25"/>
            </p:custDataLst>
          </p:nvPr>
        </p:nvSpPr>
        <p:spPr>
          <a:xfrm>
            <a:off x="5446730" y="3002213"/>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心电来源分析</a:t>
            </a:r>
          </a:p>
        </p:txBody>
      </p:sp>
      <p:sp>
        <p:nvSpPr>
          <p:cNvPr id="43" name="圆角矩形 32">
            <a:extLst>
              <a:ext uri="{FF2B5EF4-FFF2-40B4-BE49-F238E27FC236}">
                <a16:creationId xmlns:a16="http://schemas.microsoft.com/office/drawing/2014/main" id="{B23CB856-C613-5EA9-E343-5B97BB0EBE73}"/>
              </a:ext>
            </a:extLst>
          </p:cNvPr>
          <p:cNvSpPr/>
          <p:nvPr>
            <p:custDataLst>
              <p:tags r:id="rId26"/>
            </p:custDataLst>
          </p:nvPr>
        </p:nvSpPr>
        <p:spPr>
          <a:xfrm>
            <a:off x="5446730" y="3343628"/>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医保违规统计分析</a:t>
            </a:r>
          </a:p>
        </p:txBody>
      </p:sp>
      <p:sp>
        <p:nvSpPr>
          <p:cNvPr id="44" name="圆角矩形 33">
            <a:extLst>
              <a:ext uri="{FF2B5EF4-FFF2-40B4-BE49-F238E27FC236}">
                <a16:creationId xmlns:a16="http://schemas.microsoft.com/office/drawing/2014/main" id="{47883022-4C8F-1F1A-BDA6-9F14BDC60B4C}"/>
              </a:ext>
            </a:extLst>
          </p:cNvPr>
          <p:cNvSpPr/>
          <p:nvPr>
            <p:custDataLst>
              <p:tags r:id="rId27"/>
            </p:custDataLst>
          </p:nvPr>
        </p:nvSpPr>
        <p:spPr>
          <a:xfrm>
            <a:off x="2212440" y="3355095"/>
            <a:ext cx="618246"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本院分析</a:t>
            </a:r>
          </a:p>
        </p:txBody>
      </p:sp>
      <p:sp>
        <p:nvSpPr>
          <p:cNvPr id="45" name="AutoShape 17">
            <a:extLst>
              <a:ext uri="{FF2B5EF4-FFF2-40B4-BE49-F238E27FC236}">
                <a16:creationId xmlns:a16="http://schemas.microsoft.com/office/drawing/2014/main" id="{941E3CFF-036F-7D0B-0B11-82843558672D}"/>
              </a:ext>
            </a:extLst>
          </p:cNvPr>
          <p:cNvSpPr>
            <a:spLocks noChangeArrowheads="1"/>
          </p:cNvSpPr>
          <p:nvPr>
            <p:custDataLst>
              <p:tags r:id="rId28"/>
            </p:custDataLst>
          </p:nvPr>
        </p:nvSpPr>
        <p:spPr bwMode="auto">
          <a:xfrm>
            <a:off x="4539460" y="2056521"/>
            <a:ext cx="730062" cy="1710235"/>
          </a:xfrm>
          <a:prstGeom prst="roundRect">
            <a:avLst>
              <a:gd name="adj" fmla="val 8467"/>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900" b="1" dirty="0">
                <a:solidFill>
                  <a:schemeClr val="bg1"/>
                </a:solidFill>
                <a:latin typeface="微软雅黑" panose="020B0503020204020204" pitchFamily="34" charset="-122"/>
                <a:ea typeface="微软雅黑" panose="020B0503020204020204" pitchFamily="34" charset="-122"/>
              </a:rPr>
              <a:t>可视大屏</a:t>
            </a:r>
          </a:p>
        </p:txBody>
      </p:sp>
      <p:sp>
        <p:nvSpPr>
          <p:cNvPr id="46" name="圆角矩形 35">
            <a:extLst>
              <a:ext uri="{FF2B5EF4-FFF2-40B4-BE49-F238E27FC236}">
                <a16:creationId xmlns:a16="http://schemas.microsoft.com/office/drawing/2014/main" id="{94713BE5-3879-F35C-C0A8-D154D10BFF1C}"/>
              </a:ext>
            </a:extLst>
          </p:cNvPr>
          <p:cNvSpPr/>
          <p:nvPr>
            <p:custDataLst>
              <p:tags r:id="rId29"/>
            </p:custDataLst>
          </p:nvPr>
        </p:nvSpPr>
        <p:spPr>
          <a:xfrm>
            <a:off x="4623797" y="2334894"/>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700" dirty="0">
                <a:solidFill>
                  <a:schemeClr val="bg1"/>
                </a:solidFill>
                <a:latin typeface="微软雅黑" panose="020B0503020204020204" pitchFamily="34" charset="-122"/>
                <a:ea typeface="微软雅黑" panose="020B0503020204020204" pitchFamily="34" charset="-122"/>
              </a:rPr>
              <a:t>判图统计</a:t>
            </a:r>
          </a:p>
        </p:txBody>
      </p:sp>
      <p:sp>
        <p:nvSpPr>
          <p:cNvPr id="47" name="圆角矩形 36">
            <a:extLst>
              <a:ext uri="{FF2B5EF4-FFF2-40B4-BE49-F238E27FC236}">
                <a16:creationId xmlns:a16="http://schemas.microsoft.com/office/drawing/2014/main" id="{7119268C-DE97-EDFC-FC9B-883061EDD23F}"/>
              </a:ext>
            </a:extLst>
          </p:cNvPr>
          <p:cNvSpPr/>
          <p:nvPr>
            <p:custDataLst>
              <p:tags r:id="rId30"/>
            </p:custDataLst>
          </p:nvPr>
        </p:nvSpPr>
        <p:spPr>
          <a:xfrm>
            <a:off x="4623797" y="2673489"/>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700" dirty="0">
                <a:solidFill>
                  <a:schemeClr val="bg1"/>
                </a:solidFill>
                <a:latin typeface="微软雅黑" panose="020B0503020204020204" pitchFamily="34" charset="-122"/>
                <a:ea typeface="微软雅黑" panose="020B0503020204020204" pitchFamily="34" charset="-122"/>
              </a:rPr>
              <a:t>心电来源统计</a:t>
            </a:r>
          </a:p>
        </p:txBody>
      </p:sp>
      <p:sp>
        <p:nvSpPr>
          <p:cNvPr id="48" name="圆角矩形 37">
            <a:extLst>
              <a:ext uri="{FF2B5EF4-FFF2-40B4-BE49-F238E27FC236}">
                <a16:creationId xmlns:a16="http://schemas.microsoft.com/office/drawing/2014/main" id="{DFA315A9-0A5E-0494-1B4E-2538D0FE6555}"/>
              </a:ext>
            </a:extLst>
          </p:cNvPr>
          <p:cNvSpPr/>
          <p:nvPr>
            <p:custDataLst>
              <p:tags r:id="rId31"/>
            </p:custDataLst>
          </p:nvPr>
        </p:nvSpPr>
        <p:spPr>
          <a:xfrm>
            <a:off x="4623797" y="3012087"/>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700" dirty="0">
                <a:solidFill>
                  <a:schemeClr val="bg1"/>
                </a:solidFill>
                <a:latin typeface="微软雅黑" panose="020B0503020204020204" pitchFamily="34" charset="-122"/>
                <a:ea typeface="微软雅黑" panose="020B0503020204020204" pitchFamily="34" charset="-122"/>
              </a:rPr>
              <a:t>判图进展统计</a:t>
            </a:r>
          </a:p>
        </p:txBody>
      </p:sp>
      <p:sp>
        <p:nvSpPr>
          <p:cNvPr id="49" name="圆角矩形 38">
            <a:extLst>
              <a:ext uri="{FF2B5EF4-FFF2-40B4-BE49-F238E27FC236}">
                <a16:creationId xmlns:a16="http://schemas.microsoft.com/office/drawing/2014/main" id="{5B38C6D2-984C-D5B7-8FB3-18F0C22C64FD}"/>
              </a:ext>
            </a:extLst>
          </p:cNvPr>
          <p:cNvSpPr/>
          <p:nvPr>
            <p:custDataLst>
              <p:tags r:id="rId32"/>
            </p:custDataLst>
          </p:nvPr>
        </p:nvSpPr>
        <p:spPr>
          <a:xfrm>
            <a:off x="4623797" y="3350681"/>
            <a:ext cx="57135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700" dirty="0">
                <a:solidFill>
                  <a:schemeClr val="bg1"/>
                </a:solidFill>
                <a:latin typeface="微软雅黑" panose="020B0503020204020204" pitchFamily="34" charset="-122"/>
                <a:ea typeface="微软雅黑" panose="020B0503020204020204" pitchFamily="34" charset="-122"/>
              </a:rPr>
              <a:t>判图绩效展示</a:t>
            </a:r>
          </a:p>
        </p:txBody>
      </p:sp>
      <p:sp>
        <p:nvSpPr>
          <p:cNvPr id="50" name="圆角矩形 39">
            <a:extLst>
              <a:ext uri="{FF2B5EF4-FFF2-40B4-BE49-F238E27FC236}">
                <a16:creationId xmlns:a16="http://schemas.microsoft.com/office/drawing/2014/main" id="{B8C8D5BF-DF2D-01AA-E3C9-159C99FE46E2}"/>
              </a:ext>
            </a:extLst>
          </p:cNvPr>
          <p:cNvSpPr/>
          <p:nvPr>
            <p:custDataLst>
              <p:tags r:id="rId33"/>
            </p:custDataLst>
          </p:nvPr>
        </p:nvSpPr>
        <p:spPr>
          <a:xfrm>
            <a:off x="1468250" y="3355097"/>
            <a:ext cx="633003"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远程统计</a:t>
            </a:r>
          </a:p>
        </p:txBody>
      </p:sp>
      <p:sp>
        <p:nvSpPr>
          <p:cNvPr id="51" name="AutoShape 17">
            <a:extLst>
              <a:ext uri="{FF2B5EF4-FFF2-40B4-BE49-F238E27FC236}">
                <a16:creationId xmlns:a16="http://schemas.microsoft.com/office/drawing/2014/main" id="{486E5CA7-49C9-C98B-A2FC-A791940DF66F}"/>
              </a:ext>
            </a:extLst>
          </p:cNvPr>
          <p:cNvSpPr>
            <a:spLocks noChangeArrowheads="1"/>
          </p:cNvSpPr>
          <p:nvPr>
            <p:custDataLst>
              <p:tags r:id="rId34"/>
            </p:custDataLst>
          </p:nvPr>
        </p:nvSpPr>
        <p:spPr bwMode="auto">
          <a:xfrm>
            <a:off x="2473295" y="1474232"/>
            <a:ext cx="837333"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sz="900" dirty="0">
                <a:solidFill>
                  <a:schemeClr val="bg1"/>
                </a:solidFill>
                <a:latin typeface="微软雅黑" panose="020B0503020204020204" pitchFamily="34" charset="-122"/>
                <a:ea typeface="微软雅黑" panose="020B0503020204020204" pitchFamily="34" charset="-122"/>
              </a:rPr>
              <a:t>医生工作站</a:t>
            </a:r>
          </a:p>
        </p:txBody>
      </p:sp>
      <p:sp>
        <p:nvSpPr>
          <p:cNvPr id="52" name="圆角矩形 5">
            <a:extLst>
              <a:ext uri="{FF2B5EF4-FFF2-40B4-BE49-F238E27FC236}">
                <a16:creationId xmlns:a16="http://schemas.microsoft.com/office/drawing/2014/main" id="{84BE4E68-DDA1-6E0C-56FD-714378394E2E}"/>
              </a:ext>
            </a:extLst>
          </p:cNvPr>
          <p:cNvSpPr/>
          <p:nvPr>
            <p:custDataLst>
              <p:tags r:id="rId35"/>
            </p:custDataLst>
          </p:nvPr>
        </p:nvSpPr>
        <p:spPr>
          <a:xfrm>
            <a:off x="995133" y="876044"/>
            <a:ext cx="6068736" cy="50200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34" tIns="45717" rIns="91434" bIns="45717" anchor="ctr"/>
          <a:lstStyle/>
          <a:p>
            <a:pPr defTabSz="1414145">
              <a:buClr>
                <a:srgbClr val="CC9900"/>
              </a:buClr>
            </a:pPr>
            <a:r>
              <a:rPr lang="en-US" altLang="zh-CN" sz="1200" b="1"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用户层</a:t>
            </a:r>
          </a:p>
        </p:txBody>
      </p:sp>
      <p:sp>
        <p:nvSpPr>
          <p:cNvPr id="53" name="AutoShape 17">
            <a:extLst>
              <a:ext uri="{FF2B5EF4-FFF2-40B4-BE49-F238E27FC236}">
                <a16:creationId xmlns:a16="http://schemas.microsoft.com/office/drawing/2014/main" id="{B2641239-6399-3DA9-67EC-D5B4995DE0BB}"/>
              </a:ext>
            </a:extLst>
          </p:cNvPr>
          <p:cNvSpPr>
            <a:spLocks noChangeArrowheads="1"/>
          </p:cNvSpPr>
          <p:nvPr>
            <p:custDataLst>
              <p:tags r:id="rId36"/>
            </p:custDataLst>
          </p:nvPr>
        </p:nvSpPr>
        <p:spPr bwMode="auto">
          <a:xfrm>
            <a:off x="1763688" y="954206"/>
            <a:ext cx="857617"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rPr>
              <a:t>患者</a:t>
            </a:r>
          </a:p>
        </p:txBody>
      </p:sp>
      <p:sp>
        <p:nvSpPr>
          <p:cNvPr id="54" name="AutoShape 17">
            <a:extLst>
              <a:ext uri="{FF2B5EF4-FFF2-40B4-BE49-F238E27FC236}">
                <a16:creationId xmlns:a16="http://schemas.microsoft.com/office/drawing/2014/main" id="{75998440-F106-0752-ADEB-BBF13F9D4CEF}"/>
              </a:ext>
            </a:extLst>
          </p:cNvPr>
          <p:cNvSpPr>
            <a:spLocks noChangeArrowheads="1"/>
          </p:cNvSpPr>
          <p:nvPr>
            <p:custDataLst>
              <p:tags r:id="rId37"/>
            </p:custDataLst>
          </p:nvPr>
        </p:nvSpPr>
        <p:spPr bwMode="auto">
          <a:xfrm>
            <a:off x="3927356" y="954206"/>
            <a:ext cx="857617"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rPr>
              <a:t>临床医生</a:t>
            </a:r>
          </a:p>
        </p:txBody>
      </p:sp>
      <p:sp>
        <p:nvSpPr>
          <p:cNvPr id="55" name="AutoShape 17">
            <a:extLst>
              <a:ext uri="{FF2B5EF4-FFF2-40B4-BE49-F238E27FC236}">
                <a16:creationId xmlns:a16="http://schemas.microsoft.com/office/drawing/2014/main" id="{680FA515-4DB4-AE65-A403-6EFAF467AACB}"/>
              </a:ext>
            </a:extLst>
          </p:cNvPr>
          <p:cNvSpPr>
            <a:spLocks noChangeArrowheads="1"/>
          </p:cNvSpPr>
          <p:nvPr>
            <p:custDataLst>
              <p:tags r:id="rId38"/>
            </p:custDataLst>
          </p:nvPr>
        </p:nvSpPr>
        <p:spPr bwMode="auto">
          <a:xfrm>
            <a:off x="4881269" y="954976"/>
            <a:ext cx="1090007"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rPr>
              <a:t>医疗、</a:t>
            </a:r>
            <a:r>
              <a:rPr lang="zh-CN" altLang="en-US" sz="900" dirty="0">
                <a:solidFill>
                  <a:schemeClr val="bg1"/>
                </a:solidFill>
                <a:latin typeface="微软雅黑" panose="020B0503020204020204" pitchFamily="34" charset="-122"/>
                <a:ea typeface="微软雅黑" panose="020B0503020204020204" pitchFamily="34" charset="-122"/>
                <a:sym typeface="+mn-ea"/>
              </a:rPr>
              <a:t>颐养</a:t>
            </a:r>
            <a:r>
              <a:rPr lang="zh-CN" altLang="en-US" sz="900" dirty="0">
                <a:solidFill>
                  <a:schemeClr val="bg1"/>
                </a:solidFill>
                <a:latin typeface="微软雅黑" panose="020B0503020204020204" pitchFamily="34" charset="-122"/>
                <a:ea typeface="微软雅黑" panose="020B0503020204020204" pitchFamily="34" charset="-122"/>
              </a:rPr>
              <a:t>机构</a:t>
            </a:r>
          </a:p>
        </p:txBody>
      </p:sp>
      <p:sp>
        <p:nvSpPr>
          <p:cNvPr id="56" name="AutoShape 17">
            <a:extLst>
              <a:ext uri="{FF2B5EF4-FFF2-40B4-BE49-F238E27FC236}">
                <a16:creationId xmlns:a16="http://schemas.microsoft.com/office/drawing/2014/main" id="{E707CB0E-5EB9-08F1-FFC7-5529FEA3EBB5}"/>
              </a:ext>
            </a:extLst>
          </p:cNvPr>
          <p:cNvSpPr>
            <a:spLocks noChangeArrowheads="1"/>
          </p:cNvSpPr>
          <p:nvPr>
            <p:custDataLst>
              <p:tags r:id="rId39"/>
            </p:custDataLst>
          </p:nvPr>
        </p:nvSpPr>
        <p:spPr bwMode="auto">
          <a:xfrm>
            <a:off x="6100787" y="954206"/>
            <a:ext cx="857617"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卫健</a:t>
            </a:r>
            <a:r>
              <a:rPr lang="en-US" altLang="zh-CN"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医保</a:t>
            </a:r>
          </a:p>
        </p:txBody>
      </p:sp>
      <p:sp>
        <p:nvSpPr>
          <p:cNvPr id="57" name="AutoShape 17">
            <a:extLst>
              <a:ext uri="{FF2B5EF4-FFF2-40B4-BE49-F238E27FC236}">
                <a16:creationId xmlns:a16="http://schemas.microsoft.com/office/drawing/2014/main" id="{109F5755-92B0-51F6-2FAF-34097B846911}"/>
              </a:ext>
            </a:extLst>
          </p:cNvPr>
          <p:cNvSpPr>
            <a:spLocks noChangeArrowheads="1"/>
          </p:cNvSpPr>
          <p:nvPr>
            <p:custDataLst>
              <p:tags r:id="rId40"/>
            </p:custDataLst>
          </p:nvPr>
        </p:nvSpPr>
        <p:spPr bwMode="auto">
          <a:xfrm>
            <a:off x="2840641" y="954206"/>
            <a:ext cx="857617"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rPr>
              <a:t>心电技师</a:t>
            </a:r>
          </a:p>
        </p:txBody>
      </p:sp>
      <p:sp>
        <p:nvSpPr>
          <p:cNvPr id="58" name="矩形 57">
            <a:extLst>
              <a:ext uri="{FF2B5EF4-FFF2-40B4-BE49-F238E27FC236}">
                <a16:creationId xmlns:a16="http://schemas.microsoft.com/office/drawing/2014/main" id="{848B1FE9-1E50-F4ED-EC30-FC614C025C05}"/>
              </a:ext>
            </a:extLst>
          </p:cNvPr>
          <p:cNvSpPr/>
          <p:nvPr>
            <p:custDataLst>
              <p:tags r:id="rId41"/>
            </p:custDataLst>
          </p:nvPr>
        </p:nvSpPr>
        <p:spPr>
          <a:xfrm>
            <a:off x="1737574" y="4244117"/>
            <a:ext cx="1744962" cy="631795"/>
          </a:xfrm>
          <a:prstGeom prst="rect">
            <a:avLst/>
          </a:prstGeom>
          <a:noFill/>
          <a:ln w="6350" cap="flat" cmpd="sng" algn="ctr">
            <a:solidFill>
              <a:sysClr val="window" lastClr="FFFFFF">
                <a:lumMod val="50000"/>
              </a:sysClr>
            </a:solidFill>
            <a:prstDash val="dash"/>
          </a:ln>
          <a:effectLst/>
        </p:spPr>
        <p:txBody>
          <a:bodyPr rtlCol="0" anchor="t" anchorCtr="0"/>
          <a:lstStyle/>
          <a:p>
            <a:pPr algn="ctr" defTabSz="913130">
              <a:defRPr/>
            </a:pPr>
            <a:endParaRPr lang="zh-CN" altLang="en-US" sz="7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9" name="图片 58">
            <a:extLst>
              <a:ext uri="{FF2B5EF4-FFF2-40B4-BE49-F238E27FC236}">
                <a16:creationId xmlns:a16="http://schemas.microsoft.com/office/drawing/2014/main" id="{6F27F89C-E4EA-0EF1-BCB6-526BE01F784E}"/>
              </a:ext>
            </a:extLst>
          </p:cNvPr>
          <p:cNvPicPr>
            <a:picLocks noChangeAspect="1"/>
          </p:cNvPicPr>
          <p:nvPr>
            <p:custDataLst>
              <p:tags r:id="rId42"/>
            </p:custDataLst>
          </p:nvPr>
        </p:nvPicPr>
        <p:blipFill>
          <a:blip r:embed="rId62" cstate="print">
            <a:extLst>
              <a:ext uri="{28A0092B-C50C-407E-A947-70E740481C1C}">
                <a14:useLocalDpi xmlns:a14="http://schemas.microsoft.com/office/drawing/2010/main" val="0"/>
              </a:ext>
            </a:extLst>
          </a:blip>
          <a:stretch>
            <a:fillRect/>
          </a:stretch>
        </p:blipFill>
        <p:spPr>
          <a:xfrm>
            <a:off x="5035551" y="4502390"/>
            <a:ext cx="321810" cy="234640"/>
          </a:xfrm>
          <a:prstGeom prst="rect">
            <a:avLst/>
          </a:prstGeom>
        </p:spPr>
      </p:pic>
      <p:sp>
        <p:nvSpPr>
          <p:cNvPr id="60" name="圆柱形 64">
            <a:extLst>
              <a:ext uri="{FF2B5EF4-FFF2-40B4-BE49-F238E27FC236}">
                <a16:creationId xmlns:a16="http://schemas.microsoft.com/office/drawing/2014/main" id="{1AB4E0EF-1075-A3B4-ACA9-9B561749741C}"/>
              </a:ext>
            </a:extLst>
          </p:cNvPr>
          <p:cNvSpPr/>
          <p:nvPr/>
        </p:nvSpPr>
        <p:spPr>
          <a:xfrm>
            <a:off x="5540893" y="4284785"/>
            <a:ext cx="660681" cy="27011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微软雅黑" panose="020B0503020204020204" pitchFamily="34" charset="-122"/>
                <a:ea typeface="微软雅黑" panose="020B0503020204020204" pitchFamily="34" charset="-122"/>
              </a:rPr>
              <a:t>医疗机构信息化平台</a:t>
            </a:r>
          </a:p>
        </p:txBody>
      </p:sp>
      <p:sp>
        <p:nvSpPr>
          <p:cNvPr id="61" name="圆柱形 65">
            <a:extLst>
              <a:ext uri="{FF2B5EF4-FFF2-40B4-BE49-F238E27FC236}">
                <a16:creationId xmlns:a16="http://schemas.microsoft.com/office/drawing/2014/main" id="{E096B5C8-D6A3-68E1-A8BE-095E7682A694}"/>
              </a:ext>
            </a:extLst>
          </p:cNvPr>
          <p:cNvSpPr/>
          <p:nvPr>
            <p:custDataLst>
              <p:tags r:id="rId43"/>
            </p:custDataLst>
          </p:nvPr>
        </p:nvSpPr>
        <p:spPr>
          <a:xfrm>
            <a:off x="6450644" y="4469075"/>
            <a:ext cx="576539" cy="23317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微软雅黑" panose="020B0503020204020204" pitchFamily="34" charset="-122"/>
                <a:ea typeface="微软雅黑" panose="020B0503020204020204" pitchFamily="34" charset="-122"/>
              </a:rPr>
              <a:t>心电数据库</a:t>
            </a:r>
          </a:p>
        </p:txBody>
      </p:sp>
      <p:sp>
        <p:nvSpPr>
          <p:cNvPr id="62" name="圆柱形 66">
            <a:extLst>
              <a:ext uri="{FF2B5EF4-FFF2-40B4-BE49-F238E27FC236}">
                <a16:creationId xmlns:a16="http://schemas.microsoft.com/office/drawing/2014/main" id="{E9B84FEF-C5C1-CD30-C109-61FB0EBFA9AE}"/>
              </a:ext>
            </a:extLst>
          </p:cNvPr>
          <p:cNvSpPr/>
          <p:nvPr>
            <p:custDataLst>
              <p:tags r:id="rId44"/>
            </p:custDataLst>
          </p:nvPr>
        </p:nvSpPr>
        <p:spPr>
          <a:xfrm>
            <a:off x="5543132" y="4565537"/>
            <a:ext cx="658442" cy="26298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latin typeface="微软雅黑" panose="020B0503020204020204" pitchFamily="34" charset="-122"/>
                <a:ea typeface="微软雅黑" panose="020B0503020204020204" pitchFamily="34" charset="-122"/>
              </a:rPr>
              <a:t>临床数据库</a:t>
            </a:r>
          </a:p>
        </p:txBody>
      </p:sp>
      <p:sp>
        <p:nvSpPr>
          <p:cNvPr id="63" name="右箭头 67">
            <a:extLst>
              <a:ext uri="{FF2B5EF4-FFF2-40B4-BE49-F238E27FC236}">
                <a16:creationId xmlns:a16="http://schemas.microsoft.com/office/drawing/2014/main" id="{ED781BA0-2F5E-4EAF-A772-A3C67DD673F7}"/>
              </a:ext>
            </a:extLst>
          </p:cNvPr>
          <p:cNvSpPr/>
          <p:nvPr/>
        </p:nvSpPr>
        <p:spPr>
          <a:xfrm>
            <a:off x="6232006" y="4504886"/>
            <a:ext cx="204217" cy="145539"/>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4" name="上下箭头 69">
            <a:extLst>
              <a:ext uri="{FF2B5EF4-FFF2-40B4-BE49-F238E27FC236}">
                <a16:creationId xmlns:a16="http://schemas.microsoft.com/office/drawing/2014/main" id="{A2CD95F9-53B3-0A63-8E70-CC30F5DC65FD}"/>
              </a:ext>
            </a:extLst>
          </p:cNvPr>
          <p:cNvSpPr/>
          <p:nvPr>
            <p:custDataLst>
              <p:tags r:id="rId45"/>
            </p:custDataLst>
          </p:nvPr>
        </p:nvSpPr>
        <p:spPr>
          <a:xfrm>
            <a:off x="3377772" y="3873655"/>
            <a:ext cx="192449" cy="257216"/>
          </a:xfrm>
          <a:prstGeom prst="upDownArrow">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5" name="AutoShape 17">
            <a:extLst>
              <a:ext uri="{FF2B5EF4-FFF2-40B4-BE49-F238E27FC236}">
                <a16:creationId xmlns:a16="http://schemas.microsoft.com/office/drawing/2014/main" id="{04525155-97A1-E57F-2FC5-376B7760D9DC}"/>
              </a:ext>
            </a:extLst>
          </p:cNvPr>
          <p:cNvSpPr>
            <a:spLocks noChangeArrowheads="1"/>
          </p:cNvSpPr>
          <p:nvPr>
            <p:custDataLst>
              <p:tags r:id="rId46"/>
            </p:custDataLst>
          </p:nvPr>
        </p:nvSpPr>
        <p:spPr bwMode="auto">
          <a:xfrm>
            <a:off x="6201988" y="2056521"/>
            <a:ext cx="730062" cy="1710086"/>
          </a:xfrm>
          <a:prstGeom prst="roundRect">
            <a:avLst>
              <a:gd name="adj" fmla="val 8467"/>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900" b="1" dirty="0">
                <a:solidFill>
                  <a:schemeClr val="bg1"/>
                </a:solidFill>
                <a:latin typeface="微软雅黑" panose="020B0503020204020204" pitchFamily="34" charset="-122"/>
                <a:ea typeface="微软雅黑" panose="020B0503020204020204" pitchFamily="34" charset="-122"/>
              </a:rPr>
              <a:t>系统管理</a:t>
            </a:r>
          </a:p>
        </p:txBody>
      </p:sp>
      <p:sp>
        <p:nvSpPr>
          <p:cNvPr id="66" name="圆角矩形 78">
            <a:extLst>
              <a:ext uri="{FF2B5EF4-FFF2-40B4-BE49-F238E27FC236}">
                <a16:creationId xmlns:a16="http://schemas.microsoft.com/office/drawing/2014/main" id="{490EF02E-0254-7F02-BE6F-86B47B9F1DC1}"/>
              </a:ext>
            </a:extLst>
          </p:cNvPr>
          <p:cNvSpPr/>
          <p:nvPr>
            <p:custDataLst>
              <p:tags r:id="rId47"/>
            </p:custDataLst>
          </p:nvPr>
        </p:nvSpPr>
        <p:spPr>
          <a:xfrm>
            <a:off x="6249357" y="2313837"/>
            <a:ext cx="63587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系统设置</a:t>
            </a:r>
          </a:p>
        </p:txBody>
      </p:sp>
      <p:sp>
        <p:nvSpPr>
          <p:cNvPr id="67" name="圆角矩形 79">
            <a:extLst>
              <a:ext uri="{FF2B5EF4-FFF2-40B4-BE49-F238E27FC236}">
                <a16:creationId xmlns:a16="http://schemas.microsoft.com/office/drawing/2014/main" id="{2FA9DAD2-4F15-36CE-B448-687F766B7B88}"/>
              </a:ext>
            </a:extLst>
          </p:cNvPr>
          <p:cNvSpPr/>
          <p:nvPr>
            <p:custDataLst>
              <p:tags r:id="rId48"/>
            </p:custDataLst>
          </p:nvPr>
        </p:nvSpPr>
        <p:spPr>
          <a:xfrm>
            <a:off x="6249357" y="2650568"/>
            <a:ext cx="63587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设备管理</a:t>
            </a:r>
          </a:p>
        </p:txBody>
      </p:sp>
      <p:sp>
        <p:nvSpPr>
          <p:cNvPr id="68" name="圆角矩形 80">
            <a:extLst>
              <a:ext uri="{FF2B5EF4-FFF2-40B4-BE49-F238E27FC236}">
                <a16:creationId xmlns:a16="http://schemas.microsoft.com/office/drawing/2014/main" id="{043AA391-5FE3-C00A-6062-EF1E69A6E5D3}"/>
              </a:ext>
            </a:extLst>
          </p:cNvPr>
          <p:cNvSpPr/>
          <p:nvPr>
            <p:custDataLst>
              <p:tags r:id="rId49"/>
            </p:custDataLst>
          </p:nvPr>
        </p:nvSpPr>
        <p:spPr>
          <a:xfrm>
            <a:off x="6249357" y="2988209"/>
            <a:ext cx="63587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dirty="0">
                <a:solidFill>
                  <a:schemeClr val="bg1"/>
                </a:solidFill>
                <a:latin typeface="微软雅黑" panose="020B0503020204020204" pitchFamily="34" charset="-122"/>
                <a:ea typeface="微软雅黑" panose="020B0503020204020204" pitchFamily="34" charset="-122"/>
              </a:rPr>
              <a:t>监护管理</a:t>
            </a:r>
          </a:p>
        </p:txBody>
      </p:sp>
      <p:sp>
        <p:nvSpPr>
          <p:cNvPr id="69" name="圆角矩形 81">
            <a:extLst>
              <a:ext uri="{FF2B5EF4-FFF2-40B4-BE49-F238E27FC236}">
                <a16:creationId xmlns:a16="http://schemas.microsoft.com/office/drawing/2014/main" id="{DBAB93FB-7995-73F3-470C-934DD365E9C4}"/>
              </a:ext>
            </a:extLst>
          </p:cNvPr>
          <p:cNvSpPr/>
          <p:nvPr>
            <p:custDataLst>
              <p:tags r:id="rId50"/>
            </p:custDataLst>
          </p:nvPr>
        </p:nvSpPr>
        <p:spPr>
          <a:xfrm>
            <a:off x="6249357" y="3329624"/>
            <a:ext cx="635877" cy="29298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800" dirty="0">
                <a:solidFill>
                  <a:schemeClr val="bg1"/>
                </a:solidFill>
                <a:latin typeface="微软雅黑" panose="020B0503020204020204" pitchFamily="34" charset="-122"/>
                <a:ea typeface="微软雅黑" panose="020B0503020204020204" pitchFamily="34" charset="-122"/>
              </a:rPr>
              <a:t>……</a:t>
            </a:r>
          </a:p>
        </p:txBody>
      </p:sp>
      <p:sp>
        <p:nvSpPr>
          <p:cNvPr id="70" name="圆角矩形 7">
            <a:extLst>
              <a:ext uri="{FF2B5EF4-FFF2-40B4-BE49-F238E27FC236}">
                <a16:creationId xmlns:a16="http://schemas.microsoft.com/office/drawing/2014/main" id="{D5EBF361-C074-5242-858C-015983EEC469}"/>
              </a:ext>
            </a:extLst>
          </p:cNvPr>
          <p:cNvSpPr/>
          <p:nvPr/>
        </p:nvSpPr>
        <p:spPr>
          <a:xfrm>
            <a:off x="601087" y="843558"/>
            <a:ext cx="319673" cy="4051625"/>
          </a:xfrm>
          <a:prstGeom prst="roundRect">
            <a:avLst/>
          </a:prstGeom>
          <a:solidFill>
            <a:schemeClr val="tx2">
              <a:lumMod val="40000"/>
              <a:lumOff val="60000"/>
            </a:schemeClr>
          </a:solidFill>
          <a:ln w="95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远程医疗法规</a:t>
            </a:r>
          </a:p>
          <a:p>
            <a:pPr algn="ctr"/>
            <a:r>
              <a:rPr lang="zh-CN" altLang="en-US" sz="1200" b="1" dirty="0">
                <a:solidFill>
                  <a:schemeClr val="bg1"/>
                </a:solidFill>
                <a:latin typeface="微软雅黑" panose="020B0503020204020204" pitchFamily="34" charset="-122"/>
                <a:ea typeface="微软雅黑" panose="020B0503020204020204" pitchFamily="34" charset="-122"/>
              </a:rPr>
              <a:t>、政策</a:t>
            </a:r>
          </a:p>
          <a:p>
            <a:pPr algn="ctr"/>
            <a:r>
              <a:rPr lang="zh-CN" altLang="en-US" sz="1200" b="1" dirty="0">
                <a:solidFill>
                  <a:schemeClr val="bg1"/>
                </a:solidFill>
                <a:latin typeface="微软雅黑" panose="020B0503020204020204" pitchFamily="34" charset="-122"/>
                <a:ea typeface="微软雅黑" panose="020B0503020204020204" pitchFamily="34" charset="-122"/>
              </a:rPr>
              <a:t>、规范</a:t>
            </a:r>
          </a:p>
        </p:txBody>
      </p:sp>
      <p:sp>
        <p:nvSpPr>
          <p:cNvPr id="71" name="圆角矩形 83">
            <a:extLst>
              <a:ext uri="{FF2B5EF4-FFF2-40B4-BE49-F238E27FC236}">
                <a16:creationId xmlns:a16="http://schemas.microsoft.com/office/drawing/2014/main" id="{13F804B6-CF1B-3B3F-3AE7-282F8D80695C}"/>
              </a:ext>
            </a:extLst>
          </p:cNvPr>
          <p:cNvSpPr/>
          <p:nvPr/>
        </p:nvSpPr>
        <p:spPr>
          <a:xfrm>
            <a:off x="7733194" y="876044"/>
            <a:ext cx="588306" cy="4019139"/>
          </a:xfrm>
          <a:prstGeom prst="roundRect">
            <a:avLst/>
          </a:prstGeom>
          <a:solidFill>
            <a:schemeClr val="tx2">
              <a:lumMod val="40000"/>
              <a:lumOff val="60000"/>
            </a:schemeClr>
          </a:solidFill>
          <a:ln w="95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2" name="AutoShape 17">
            <a:extLst>
              <a:ext uri="{FF2B5EF4-FFF2-40B4-BE49-F238E27FC236}">
                <a16:creationId xmlns:a16="http://schemas.microsoft.com/office/drawing/2014/main" id="{5F7376D5-FC03-F3CD-C600-BC1B3289EB7C}"/>
              </a:ext>
            </a:extLst>
          </p:cNvPr>
          <p:cNvSpPr>
            <a:spLocks noChangeArrowheads="1"/>
          </p:cNvSpPr>
          <p:nvPr>
            <p:custDataLst>
              <p:tags r:id="rId51"/>
            </p:custDataLst>
          </p:nvPr>
        </p:nvSpPr>
        <p:spPr bwMode="auto">
          <a:xfrm>
            <a:off x="7790802" y="1040515"/>
            <a:ext cx="489077" cy="1238261"/>
          </a:xfrm>
          <a:prstGeom prst="roundRect">
            <a:avLst/>
          </a:prstGeom>
          <a:solidFill>
            <a:srgbClr val="7BA1CE"/>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等</a:t>
            </a:r>
            <a:endParaRPr lang="en-US" altLang="zh-CN"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p>
            <a:pPr algn="ctr">
              <a:defRPr/>
            </a:pPr>
            <a:r>
              <a:rPr lang="zh-CN" altLang="en-US"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保</a:t>
            </a:r>
            <a:endParaRPr lang="en-US" altLang="zh-CN"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p>
            <a:pPr algn="ctr">
              <a:defRPr/>
            </a:pPr>
            <a:r>
              <a:rPr lang="zh-CN" altLang="en-US"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三</a:t>
            </a:r>
            <a:endParaRPr lang="en-US" altLang="zh-CN"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p>
            <a:pPr algn="ctr">
              <a:defRPr/>
            </a:pPr>
            <a:r>
              <a:rPr lang="zh-CN" altLang="en-US" sz="1000" b="1"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级</a:t>
            </a:r>
          </a:p>
        </p:txBody>
      </p:sp>
      <p:sp>
        <p:nvSpPr>
          <p:cNvPr id="73" name="AutoShape 17">
            <a:extLst>
              <a:ext uri="{FF2B5EF4-FFF2-40B4-BE49-F238E27FC236}">
                <a16:creationId xmlns:a16="http://schemas.microsoft.com/office/drawing/2014/main" id="{64057193-4ACE-25E0-DA15-AB09A63D0D9C}"/>
              </a:ext>
            </a:extLst>
          </p:cNvPr>
          <p:cNvSpPr>
            <a:spLocks noChangeArrowheads="1"/>
          </p:cNvSpPr>
          <p:nvPr>
            <p:custDataLst>
              <p:tags r:id="rId52"/>
            </p:custDataLst>
          </p:nvPr>
        </p:nvSpPr>
        <p:spPr bwMode="auto">
          <a:xfrm>
            <a:off x="7806427" y="2386547"/>
            <a:ext cx="457825" cy="2115843"/>
          </a:xfrm>
          <a:prstGeom prst="roundRect">
            <a:avLst/>
          </a:prstGeom>
          <a:solidFill>
            <a:srgbClr val="7BA1CE"/>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00" b="1" dirty="0">
                <a:solidFill>
                  <a:schemeClr val="bg1"/>
                </a:solidFill>
                <a:latin typeface="微软雅黑" panose="020B0503020204020204" pitchFamily="34" charset="-122"/>
                <a:ea typeface="微软雅黑" panose="020B0503020204020204" pitchFamily="34" charset="-122"/>
              </a:rPr>
              <a:t>安全管理中心和制度</a:t>
            </a:r>
          </a:p>
        </p:txBody>
      </p:sp>
      <p:sp>
        <p:nvSpPr>
          <p:cNvPr id="74" name="AutoShape 17">
            <a:extLst>
              <a:ext uri="{FF2B5EF4-FFF2-40B4-BE49-F238E27FC236}">
                <a16:creationId xmlns:a16="http://schemas.microsoft.com/office/drawing/2014/main" id="{EF6A3262-1A1B-2AB6-B5F8-B74B5B5CFBE2}"/>
              </a:ext>
            </a:extLst>
          </p:cNvPr>
          <p:cNvSpPr>
            <a:spLocks noChangeArrowheads="1"/>
          </p:cNvSpPr>
          <p:nvPr>
            <p:custDataLst>
              <p:tags r:id="rId53"/>
            </p:custDataLst>
          </p:nvPr>
        </p:nvSpPr>
        <p:spPr bwMode="auto">
          <a:xfrm>
            <a:off x="4539460" y="1473149"/>
            <a:ext cx="683618"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运营大屏</a:t>
            </a:r>
            <a:endParaRPr lang="en-US" altLang="zh-CN"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75" name="矩形 74">
            <a:extLst>
              <a:ext uri="{FF2B5EF4-FFF2-40B4-BE49-F238E27FC236}">
                <a16:creationId xmlns:a16="http://schemas.microsoft.com/office/drawing/2014/main" id="{F518A731-2541-7DA1-EEDA-3075D36F3D19}"/>
              </a:ext>
            </a:extLst>
          </p:cNvPr>
          <p:cNvSpPr/>
          <p:nvPr>
            <p:custDataLst>
              <p:tags r:id="rId54"/>
            </p:custDataLst>
          </p:nvPr>
        </p:nvSpPr>
        <p:spPr>
          <a:xfrm>
            <a:off x="3581631" y="4244117"/>
            <a:ext cx="1854498" cy="620167"/>
          </a:xfrm>
          <a:prstGeom prst="rect">
            <a:avLst/>
          </a:prstGeom>
          <a:noFill/>
          <a:ln w="6350" cap="flat" cmpd="sng" algn="ctr">
            <a:solidFill>
              <a:sysClr val="window" lastClr="FFFFFF">
                <a:lumMod val="50000"/>
              </a:sysClr>
            </a:solidFill>
            <a:prstDash val="dash"/>
          </a:ln>
          <a:effectLst/>
        </p:spPr>
        <p:txBody>
          <a:bodyPr rtlCol="0" anchor="t" anchorCtr="0"/>
          <a:lstStyle/>
          <a:p>
            <a:pPr algn="ctr" defTabSz="913130">
              <a:defRPr/>
            </a:pPr>
            <a:endParaRPr lang="zh-CN" altLang="en-US" sz="700" b="1" kern="0" dirty="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76" name="图片 75" descr="正面609">
            <a:extLst>
              <a:ext uri="{FF2B5EF4-FFF2-40B4-BE49-F238E27FC236}">
                <a16:creationId xmlns:a16="http://schemas.microsoft.com/office/drawing/2014/main" id="{0CB618E3-1300-8D9C-E1D9-DCE4DB2BCADD}"/>
              </a:ext>
            </a:extLst>
          </p:cNvPr>
          <p:cNvPicPr>
            <a:picLocks noChangeAspect="1"/>
          </p:cNvPicPr>
          <p:nvPr/>
        </p:nvPicPr>
        <p:blipFill>
          <a:blip r:embed="rId63" cstate="print"/>
          <a:stretch>
            <a:fillRect/>
          </a:stretch>
        </p:blipFill>
        <p:spPr>
          <a:xfrm>
            <a:off x="1850986" y="4577656"/>
            <a:ext cx="446296" cy="225187"/>
          </a:xfrm>
          <a:prstGeom prst="rect">
            <a:avLst/>
          </a:prstGeom>
        </p:spPr>
      </p:pic>
      <p:pic>
        <p:nvPicPr>
          <p:cNvPr id="77" name="图片 76" descr="123DA516-2E0B-4D86-BDA8-E5542DB50017-1282-00000028CFB320BF">
            <a:extLst>
              <a:ext uri="{FF2B5EF4-FFF2-40B4-BE49-F238E27FC236}">
                <a16:creationId xmlns:a16="http://schemas.microsoft.com/office/drawing/2014/main" id="{6029A2EF-D2B3-78B3-0364-96385743586F}"/>
              </a:ext>
            </a:extLst>
          </p:cNvPr>
          <p:cNvPicPr>
            <a:picLocks noChangeAspect="1"/>
          </p:cNvPicPr>
          <p:nvPr/>
        </p:nvPicPr>
        <p:blipFill>
          <a:blip r:embed="rId64" cstate="print"/>
          <a:stretch>
            <a:fillRect/>
          </a:stretch>
        </p:blipFill>
        <p:spPr>
          <a:xfrm rot="16200000">
            <a:off x="2438649" y="4404587"/>
            <a:ext cx="305220" cy="542656"/>
          </a:xfrm>
          <a:prstGeom prst="rect">
            <a:avLst/>
          </a:prstGeom>
        </p:spPr>
      </p:pic>
      <p:pic>
        <p:nvPicPr>
          <p:cNvPr id="78" name="图片 77">
            <a:extLst>
              <a:ext uri="{FF2B5EF4-FFF2-40B4-BE49-F238E27FC236}">
                <a16:creationId xmlns:a16="http://schemas.microsoft.com/office/drawing/2014/main" id="{B72C8B78-F638-B8E8-A794-AA86CBA66B5A}"/>
              </a:ext>
            </a:extLst>
          </p:cNvPr>
          <p:cNvPicPr>
            <a:picLocks noChangeAspect="1"/>
          </p:cNvPicPr>
          <p:nvPr/>
        </p:nvPicPr>
        <p:blipFill>
          <a:blip r:embed="rId65" cstate="print">
            <a:extLst>
              <a:ext uri="{28A0092B-C50C-407E-A947-70E740481C1C}">
                <a14:useLocalDpi xmlns:a14="http://schemas.microsoft.com/office/drawing/2010/main" val="0"/>
              </a:ext>
            </a:extLst>
          </a:blip>
          <a:stretch>
            <a:fillRect/>
          </a:stretch>
        </p:blipFill>
        <p:spPr>
          <a:xfrm>
            <a:off x="2869236" y="4534475"/>
            <a:ext cx="508536" cy="254268"/>
          </a:xfrm>
          <a:prstGeom prst="rect">
            <a:avLst/>
          </a:prstGeom>
        </p:spPr>
      </p:pic>
      <p:pic>
        <p:nvPicPr>
          <p:cNvPr id="79" name="图片 78">
            <a:extLst>
              <a:ext uri="{FF2B5EF4-FFF2-40B4-BE49-F238E27FC236}">
                <a16:creationId xmlns:a16="http://schemas.microsoft.com/office/drawing/2014/main" id="{A084DDD6-190D-48F3-21A0-0A6F18B614E2}"/>
              </a:ext>
            </a:extLst>
          </p:cNvPr>
          <p:cNvPicPr>
            <a:picLocks noChangeAspect="1"/>
          </p:cNvPicPr>
          <p:nvPr/>
        </p:nvPicPr>
        <p:blipFill rotWithShape="1">
          <a:blip r:embed="rId66" cstate="print">
            <a:extLst>
              <a:ext uri="{28A0092B-C50C-407E-A947-70E740481C1C}">
                <a14:useLocalDpi xmlns:a14="http://schemas.microsoft.com/office/drawing/2010/main" val="0"/>
              </a:ext>
            </a:extLst>
          </a:blip>
          <a:srcRect l="9154" t="32485" r="6847" b="35315"/>
          <a:stretch>
            <a:fillRect/>
          </a:stretch>
        </p:blipFill>
        <p:spPr>
          <a:xfrm>
            <a:off x="3627591" y="4494482"/>
            <a:ext cx="521533" cy="199921"/>
          </a:xfrm>
          <a:prstGeom prst="rect">
            <a:avLst/>
          </a:prstGeom>
        </p:spPr>
      </p:pic>
      <p:pic>
        <p:nvPicPr>
          <p:cNvPr id="80" name="图片 79">
            <a:extLst>
              <a:ext uri="{FF2B5EF4-FFF2-40B4-BE49-F238E27FC236}">
                <a16:creationId xmlns:a16="http://schemas.microsoft.com/office/drawing/2014/main" id="{46203BA9-8B13-4E2D-75EC-F0571EE99042}"/>
              </a:ext>
            </a:extLst>
          </p:cNvPr>
          <p:cNvPicPr>
            <a:picLocks noChangeAspect="1"/>
          </p:cNvPicPr>
          <p:nvPr/>
        </p:nvPicPr>
        <p:blipFill rotWithShape="1">
          <a:blip r:embed="rId67" cstate="print">
            <a:extLst>
              <a:ext uri="{28A0092B-C50C-407E-A947-70E740481C1C}">
                <a14:useLocalDpi xmlns:a14="http://schemas.microsoft.com/office/drawing/2010/main" val="0"/>
              </a:ext>
            </a:extLst>
          </a:blip>
          <a:srcRect l="32121" t="423" r="32838" b="-423"/>
          <a:stretch>
            <a:fillRect/>
          </a:stretch>
        </p:blipFill>
        <p:spPr>
          <a:xfrm>
            <a:off x="4231010" y="4453821"/>
            <a:ext cx="173589" cy="328774"/>
          </a:xfrm>
          <a:prstGeom prst="rect">
            <a:avLst/>
          </a:prstGeom>
        </p:spPr>
      </p:pic>
      <p:pic>
        <p:nvPicPr>
          <p:cNvPr id="81" name="图片 80">
            <a:extLst>
              <a:ext uri="{FF2B5EF4-FFF2-40B4-BE49-F238E27FC236}">
                <a16:creationId xmlns:a16="http://schemas.microsoft.com/office/drawing/2014/main" id="{FEF6C5F1-01AA-888E-FB73-DD6BB74EBD59}"/>
              </a:ext>
            </a:extLst>
          </p:cNvPr>
          <p:cNvPicPr>
            <a:picLocks noChangeAspect="1"/>
          </p:cNvPicPr>
          <p:nvPr/>
        </p:nvPicPr>
        <p:blipFill>
          <a:blip r:embed="rId68" cstate="print">
            <a:extLst>
              <a:ext uri="{28A0092B-C50C-407E-A947-70E740481C1C}">
                <a14:useLocalDpi xmlns:a14="http://schemas.microsoft.com/office/drawing/2010/main" val="0"/>
              </a:ext>
            </a:extLst>
          </a:blip>
          <a:stretch>
            <a:fillRect/>
          </a:stretch>
        </p:blipFill>
        <p:spPr>
          <a:xfrm>
            <a:off x="4486817" y="4460637"/>
            <a:ext cx="512201" cy="288113"/>
          </a:xfrm>
          <a:prstGeom prst="rect">
            <a:avLst/>
          </a:prstGeom>
        </p:spPr>
      </p:pic>
      <p:sp>
        <p:nvSpPr>
          <p:cNvPr id="82" name="文本框 81">
            <a:extLst>
              <a:ext uri="{FF2B5EF4-FFF2-40B4-BE49-F238E27FC236}">
                <a16:creationId xmlns:a16="http://schemas.microsoft.com/office/drawing/2014/main" id="{B09838BF-E7F7-FB38-17E3-401BDCD6D0BD}"/>
              </a:ext>
            </a:extLst>
          </p:cNvPr>
          <p:cNvSpPr txBox="1"/>
          <p:nvPr/>
        </p:nvSpPr>
        <p:spPr>
          <a:xfrm>
            <a:off x="2230137" y="4284786"/>
            <a:ext cx="1005403" cy="215444"/>
          </a:xfrm>
          <a:prstGeom prst="rect">
            <a:avLst/>
          </a:prstGeom>
          <a:noFill/>
        </p:spPr>
        <p:txBody>
          <a:bodyPr wrap="none" rtlCol="0">
            <a:spAutoFit/>
          </a:bodyPr>
          <a:lstStyle/>
          <a:p>
            <a:r>
              <a:rPr lang="zh-CN" altLang="en-US" sz="800" dirty="0">
                <a:latin typeface="微软雅黑" panose="020B0503020204020204" pitchFamily="34" charset="-122"/>
                <a:ea typeface="微软雅黑" panose="020B0503020204020204" pitchFamily="34" charset="-122"/>
              </a:rPr>
              <a:t>医疗级便携式设备</a:t>
            </a:r>
          </a:p>
        </p:txBody>
      </p:sp>
      <p:sp>
        <p:nvSpPr>
          <p:cNvPr id="83" name="文本框 82">
            <a:extLst>
              <a:ext uri="{FF2B5EF4-FFF2-40B4-BE49-F238E27FC236}">
                <a16:creationId xmlns:a16="http://schemas.microsoft.com/office/drawing/2014/main" id="{778E49BC-938D-E611-BE3E-F9FDA2A700DE}"/>
              </a:ext>
            </a:extLst>
          </p:cNvPr>
          <p:cNvSpPr txBox="1"/>
          <p:nvPr/>
        </p:nvSpPr>
        <p:spPr>
          <a:xfrm>
            <a:off x="4015020" y="4268763"/>
            <a:ext cx="1005403" cy="215444"/>
          </a:xfrm>
          <a:prstGeom prst="rect">
            <a:avLst/>
          </a:prstGeom>
          <a:noFill/>
        </p:spPr>
        <p:txBody>
          <a:bodyPr wrap="none" rtlCol="0">
            <a:spAutoFit/>
          </a:bodyPr>
          <a:lstStyle/>
          <a:p>
            <a:r>
              <a:rPr lang="zh-CN" altLang="en-US" sz="800" dirty="0">
                <a:latin typeface="微软雅黑" panose="020B0503020204020204" pitchFamily="34" charset="-122"/>
                <a:ea typeface="微软雅黑" panose="020B0503020204020204" pitchFamily="34" charset="-122"/>
              </a:rPr>
              <a:t>医疗级可穿戴设备</a:t>
            </a:r>
          </a:p>
        </p:txBody>
      </p:sp>
      <p:sp>
        <p:nvSpPr>
          <p:cNvPr id="84" name="圆角矩形 82">
            <a:extLst>
              <a:ext uri="{FF2B5EF4-FFF2-40B4-BE49-F238E27FC236}">
                <a16:creationId xmlns:a16="http://schemas.microsoft.com/office/drawing/2014/main" id="{56C0AD68-9754-DE37-2F23-CB6570F56473}"/>
              </a:ext>
            </a:extLst>
          </p:cNvPr>
          <p:cNvSpPr/>
          <p:nvPr/>
        </p:nvSpPr>
        <p:spPr>
          <a:xfrm>
            <a:off x="7110581" y="876044"/>
            <a:ext cx="545861" cy="4019139"/>
          </a:xfrm>
          <a:prstGeom prst="roundRect">
            <a:avLst>
              <a:gd name="adj" fmla="val 5163"/>
            </a:avLst>
          </a:prstGeom>
          <a:solidFill>
            <a:schemeClr val="tx2">
              <a:lumMod val="40000"/>
              <a:lumOff val="60000"/>
            </a:schemeClr>
          </a:solidFill>
          <a:ln w="95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对接</a:t>
            </a:r>
          </a:p>
        </p:txBody>
      </p:sp>
      <p:sp>
        <p:nvSpPr>
          <p:cNvPr id="85" name="AutoShape 17">
            <a:extLst>
              <a:ext uri="{FF2B5EF4-FFF2-40B4-BE49-F238E27FC236}">
                <a16:creationId xmlns:a16="http://schemas.microsoft.com/office/drawing/2014/main" id="{1CF2A0D6-7911-6E03-BD5F-B00F73E384B1}"/>
              </a:ext>
            </a:extLst>
          </p:cNvPr>
          <p:cNvSpPr>
            <a:spLocks noChangeArrowheads="1"/>
          </p:cNvSpPr>
          <p:nvPr>
            <p:custDataLst>
              <p:tags r:id="rId55"/>
            </p:custDataLst>
          </p:nvPr>
        </p:nvSpPr>
        <p:spPr bwMode="auto">
          <a:xfrm>
            <a:off x="7144475" y="1040516"/>
            <a:ext cx="482588" cy="1219398"/>
          </a:xfrm>
          <a:prstGeom prst="roundRect">
            <a:avLst/>
          </a:prstGeom>
          <a:solidFill>
            <a:srgbClr val="7BA1CE"/>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800" dirty="0">
                <a:solidFill>
                  <a:schemeClr val="bg1"/>
                </a:solidFill>
                <a:latin typeface="微软雅黑" panose="020B0503020204020204" pitchFamily="34" charset="-122"/>
                <a:ea typeface="微软雅黑" panose="020B0503020204020204" pitchFamily="34" charset="-122"/>
              </a:rPr>
              <a:t>院内系统</a:t>
            </a:r>
            <a:r>
              <a:rPr lang="en-US" altLang="zh-CN" sz="800" dirty="0">
                <a:solidFill>
                  <a:schemeClr val="bg1"/>
                </a:solidFill>
                <a:latin typeface="微软雅黑" panose="020B0503020204020204" pitchFamily="34" charset="-122"/>
                <a:ea typeface="微软雅黑" panose="020B0503020204020204" pitchFamily="34" charset="-122"/>
              </a:rPr>
              <a:t>HIS</a:t>
            </a:r>
            <a:br>
              <a:rPr lang="en-US" altLang="zh-CN" sz="800" dirty="0">
                <a:solidFill>
                  <a:schemeClr val="bg1"/>
                </a:solidFill>
                <a:latin typeface="微软雅黑" panose="020B0503020204020204" pitchFamily="34" charset="-122"/>
                <a:ea typeface="微软雅黑" panose="020B0503020204020204" pitchFamily="34" charset="-122"/>
              </a:rPr>
            </a:br>
            <a:r>
              <a:rPr lang="en-US" altLang="zh-CN" sz="700" dirty="0">
                <a:solidFill>
                  <a:schemeClr val="bg1"/>
                </a:solidFill>
                <a:latin typeface="微软雅黑" panose="020B0503020204020204" pitchFamily="34" charset="-122"/>
                <a:ea typeface="微软雅黑" panose="020B0503020204020204" pitchFamily="34" charset="-122"/>
              </a:rPr>
              <a:t>PACS</a:t>
            </a:r>
          </a:p>
          <a:p>
            <a:pPr algn="ctr">
              <a:defRPr/>
            </a:pPr>
            <a:r>
              <a:rPr lang="en-US" altLang="zh-CN" sz="700" dirty="0">
                <a:solidFill>
                  <a:schemeClr val="bg1"/>
                </a:solidFill>
                <a:latin typeface="微软雅黑" panose="020B0503020204020204" pitchFamily="34" charset="-122"/>
                <a:ea typeface="微软雅黑" panose="020B0503020204020204" pitchFamily="34" charset="-122"/>
              </a:rPr>
              <a:t>LIS</a:t>
            </a:r>
            <a:endParaRPr lang="zh-CN" altLang="en-US" sz="700" dirty="0">
              <a:solidFill>
                <a:schemeClr val="bg1"/>
              </a:solidFill>
              <a:latin typeface="微软雅黑" panose="020B0503020204020204" pitchFamily="34" charset="-122"/>
              <a:ea typeface="微软雅黑" panose="020B0503020204020204" pitchFamily="34" charset="-122"/>
            </a:endParaRPr>
          </a:p>
          <a:p>
            <a:pPr algn="ctr">
              <a:defRPr/>
            </a:pPr>
            <a:endParaRPr lang="zh-CN" altLang="en-US" sz="700" dirty="0">
              <a:solidFill>
                <a:schemeClr val="bg1"/>
              </a:solidFill>
              <a:latin typeface="微软雅黑" panose="020B0503020204020204" pitchFamily="34" charset="-122"/>
              <a:ea typeface="微软雅黑" panose="020B0503020204020204" pitchFamily="34" charset="-122"/>
            </a:endParaRPr>
          </a:p>
        </p:txBody>
      </p:sp>
      <p:sp>
        <p:nvSpPr>
          <p:cNvPr id="86" name="AutoShape 17">
            <a:extLst>
              <a:ext uri="{FF2B5EF4-FFF2-40B4-BE49-F238E27FC236}">
                <a16:creationId xmlns:a16="http://schemas.microsoft.com/office/drawing/2014/main" id="{14B20FAC-8676-1EE3-837E-844C651FF2D2}"/>
              </a:ext>
            </a:extLst>
          </p:cNvPr>
          <p:cNvSpPr>
            <a:spLocks noChangeArrowheads="1"/>
          </p:cNvSpPr>
          <p:nvPr>
            <p:custDataLst>
              <p:tags r:id="rId56"/>
            </p:custDataLst>
          </p:nvPr>
        </p:nvSpPr>
        <p:spPr bwMode="auto">
          <a:xfrm>
            <a:off x="5269522" y="1477744"/>
            <a:ext cx="1598004"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采集</a:t>
            </a:r>
            <a:r>
              <a:rPr lang="en-US" altLang="zh-CN"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分析</a:t>
            </a:r>
            <a:r>
              <a:rPr lang="en-US" altLang="zh-CN"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监护客户端软件</a:t>
            </a:r>
            <a:endParaRPr lang="en-US" altLang="zh-CN" sz="900"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87" name="AutoShape 17">
            <a:extLst>
              <a:ext uri="{FF2B5EF4-FFF2-40B4-BE49-F238E27FC236}">
                <a16:creationId xmlns:a16="http://schemas.microsoft.com/office/drawing/2014/main" id="{B745EEB0-C2CD-582B-316C-F47AD7CD9347}"/>
              </a:ext>
            </a:extLst>
          </p:cNvPr>
          <p:cNvSpPr>
            <a:spLocks noChangeArrowheads="1"/>
          </p:cNvSpPr>
          <p:nvPr>
            <p:custDataLst>
              <p:tags r:id="rId57"/>
            </p:custDataLst>
          </p:nvPr>
        </p:nvSpPr>
        <p:spPr bwMode="auto">
          <a:xfrm>
            <a:off x="7164002" y="2386547"/>
            <a:ext cx="436707" cy="1080125"/>
          </a:xfrm>
          <a:prstGeom prst="roundRect">
            <a:avLst/>
          </a:prstGeom>
          <a:solidFill>
            <a:srgbClr val="7BA1CE"/>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800" dirty="0">
                <a:solidFill>
                  <a:schemeClr val="bg1"/>
                </a:solidFill>
                <a:latin typeface="微软雅黑" panose="020B0503020204020204" pitchFamily="34" charset="-122"/>
                <a:ea typeface="微软雅黑" panose="020B0503020204020204" pitchFamily="34" charset="-122"/>
              </a:rPr>
              <a:t>第三方设备</a:t>
            </a:r>
          </a:p>
        </p:txBody>
      </p:sp>
      <p:sp>
        <p:nvSpPr>
          <p:cNvPr id="88" name="AutoShape 17">
            <a:extLst>
              <a:ext uri="{FF2B5EF4-FFF2-40B4-BE49-F238E27FC236}">
                <a16:creationId xmlns:a16="http://schemas.microsoft.com/office/drawing/2014/main" id="{FF00F1F7-4779-2F7B-A0B0-28A6B1B72508}"/>
              </a:ext>
            </a:extLst>
          </p:cNvPr>
          <p:cNvSpPr>
            <a:spLocks noChangeArrowheads="1"/>
          </p:cNvSpPr>
          <p:nvPr>
            <p:custDataLst>
              <p:tags r:id="rId58"/>
            </p:custDataLst>
          </p:nvPr>
        </p:nvSpPr>
        <p:spPr bwMode="auto">
          <a:xfrm>
            <a:off x="7170177" y="3581220"/>
            <a:ext cx="424355" cy="989838"/>
          </a:xfrm>
          <a:prstGeom prst="roundRect">
            <a:avLst/>
          </a:prstGeom>
          <a:solidFill>
            <a:srgbClr val="7BA1CE"/>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800" dirty="0">
                <a:solidFill>
                  <a:schemeClr val="bg1"/>
                </a:solidFill>
                <a:latin typeface="微软雅黑" panose="020B0503020204020204" pitchFamily="34" charset="-122"/>
                <a:ea typeface="微软雅黑" panose="020B0503020204020204" pitchFamily="34" charset="-122"/>
              </a:rPr>
              <a:t>心电网络</a:t>
            </a:r>
          </a:p>
        </p:txBody>
      </p:sp>
      <p:sp>
        <p:nvSpPr>
          <p:cNvPr id="89" name="AutoShape 17">
            <a:extLst>
              <a:ext uri="{FF2B5EF4-FFF2-40B4-BE49-F238E27FC236}">
                <a16:creationId xmlns:a16="http://schemas.microsoft.com/office/drawing/2014/main" id="{579901A0-33F2-AF9A-C82D-7BA01B61C6EF}"/>
              </a:ext>
            </a:extLst>
          </p:cNvPr>
          <p:cNvSpPr>
            <a:spLocks noChangeArrowheads="1"/>
          </p:cNvSpPr>
          <p:nvPr>
            <p:custDataLst>
              <p:tags r:id="rId59"/>
            </p:custDataLst>
          </p:nvPr>
        </p:nvSpPr>
        <p:spPr bwMode="auto">
          <a:xfrm>
            <a:off x="1748673" y="1473149"/>
            <a:ext cx="705159" cy="35695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900" dirty="0">
                <a:solidFill>
                  <a:schemeClr val="bg1"/>
                </a:solidFill>
                <a:latin typeface="微软雅黑" panose="020B0503020204020204" pitchFamily="34" charset="-122"/>
                <a:ea typeface="微软雅黑" panose="020B0503020204020204" pitchFamily="34" charset="-122"/>
              </a:rPr>
              <a:t>用户</a:t>
            </a:r>
            <a:r>
              <a:rPr lang="en-US" altLang="zh-CN" sz="900" dirty="0">
                <a:solidFill>
                  <a:schemeClr val="bg1"/>
                </a:solidFill>
                <a:latin typeface="微软雅黑" panose="020B0503020204020204" pitchFamily="34" charset="-122"/>
                <a:ea typeface="微软雅黑" panose="020B0503020204020204" pitchFamily="34" charset="-122"/>
              </a:rPr>
              <a:t>APP</a:t>
            </a:r>
            <a:endParaRPr lang="zh-CN" sz="9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6418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DD4B0-F113-0E64-2FB6-4DE7BA5348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D2A223D-3FA5-FADC-92FC-B41466C47563}"/>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运行模式</a:t>
            </a:r>
          </a:p>
        </p:txBody>
      </p:sp>
      <p:pic>
        <p:nvPicPr>
          <p:cNvPr id="61" name="图片 60">
            <a:extLst>
              <a:ext uri="{FF2B5EF4-FFF2-40B4-BE49-F238E27FC236}">
                <a16:creationId xmlns:a16="http://schemas.microsoft.com/office/drawing/2014/main" id="{76E07DED-1CC7-9D4F-108F-7D1A74F23ABD}"/>
              </a:ext>
            </a:extLst>
          </p:cNvPr>
          <p:cNvPicPr/>
          <p:nvPr>
            <p:custDataLst>
              <p:tags r:id="rId1"/>
            </p:custDataLst>
          </p:nvPr>
        </p:nvPicPr>
        <p:blipFill>
          <a:blip r:embed="rId22">
            <a:clrChange>
              <a:clrFrom>
                <a:srgbClr val="FFFFFF">
                  <a:alpha val="100000"/>
                </a:srgbClr>
              </a:clrFrom>
              <a:clrTo>
                <a:srgbClr val="FFFFFF">
                  <a:alpha val="100000"/>
                  <a:alpha val="0"/>
                </a:srgbClr>
              </a:clrTo>
            </a:clrChange>
          </a:blip>
          <a:stretch>
            <a:fillRect/>
          </a:stretch>
        </p:blipFill>
        <p:spPr>
          <a:xfrm>
            <a:off x="2512883" y="2604378"/>
            <a:ext cx="1865630" cy="1865630"/>
          </a:xfrm>
          <a:prstGeom prst="rect">
            <a:avLst/>
          </a:prstGeom>
        </p:spPr>
      </p:pic>
      <p:sp>
        <p:nvSpPr>
          <p:cNvPr id="62" name="文本框 61">
            <a:extLst>
              <a:ext uri="{FF2B5EF4-FFF2-40B4-BE49-F238E27FC236}">
                <a16:creationId xmlns:a16="http://schemas.microsoft.com/office/drawing/2014/main" id="{DEED7AB9-610F-9E07-20D3-1AF52617CEE1}"/>
              </a:ext>
            </a:extLst>
          </p:cNvPr>
          <p:cNvSpPr txBox="1"/>
          <p:nvPr/>
        </p:nvSpPr>
        <p:spPr>
          <a:xfrm>
            <a:off x="866466" y="2999107"/>
            <a:ext cx="452897" cy="300082"/>
          </a:xfrm>
          <a:prstGeom prst="rect">
            <a:avLst/>
          </a:prstGeom>
          <a:noFill/>
        </p:spPr>
        <p:txBody>
          <a:bodyPr wrap="square" rtlCol="0">
            <a:spAutoFit/>
          </a:bodyPr>
          <a:lstStyle/>
          <a:p>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体检</a:t>
            </a:r>
            <a:r>
              <a:rPr kumimoji="1" lang="en-US" altLang="zh-CN" sz="675" dirty="0">
                <a:solidFill>
                  <a:schemeClr val="tx1">
                    <a:lumMod val="75000"/>
                    <a:lumOff val="25000"/>
                  </a:schemeClr>
                </a:solidFill>
                <a:latin typeface="微软雅黑" panose="020B0503020204020204" pitchFamily="34" charset="-122"/>
                <a:ea typeface="微软雅黑" panose="020B0503020204020204" pitchFamily="34" charset="-122"/>
              </a:rPr>
              <a:t>/</a:t>
            </a: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筛查</a:t>
            </a:r>
          </a:p>
        </p:txBody>
      </p:sp>
      <p:sp>
        <p:nvSpPr>
          <p:cNvPr id="63" name="文本框 62">
            <a:extLst>
              <a:ext uri="{FF2B5EF4-FFF2-40B4-BE49-F238E27FC236}">
                <a16:creationId xmlns:a16="http://schemas.microsoft.com/office/drawing/2014/main" id="{71F37383-FB84-3D52-D932-454F2F1C0E07}"/>
              </a:ext>
            </a:extLst>
          </p:cNvPr>
          <p:cNvSpPr txBox="1"/>
          <p:nvPr/>
        </p:nvSpPr>
        <p:spPr>
          <a:xfrm>
            <a:off x="863688" y="3688211"/>
            <a:ext cx="371515" cy="92075"/>
          </a:xfrm>
          <a:prstGeom prst="rect">
            <a:avLst/>
          </a:prstGeom>
          <a:noFill/>
        </p:spPr>
        <p:txBody>
          <a:bodyPr wrap="square" lIns="0" tIns="0" rIns="0" bIns="0" rtlCol="0">
            <a:spAutoFit/>
          </a:bodyPr>
          <a:lstStyle/>
          <a:p>
            <a:pPr algn="ctr"/>
            <a:r>
              <a:rPr kumimoji="1" lang="zh-CN" altLang="en-US" sz="600" dirty="0">
                <a:solidFill>
                  <a:schemeClr val="tx1">
                    <a:lumMod val="75000"/>
                    <a:lumOff val="25000"/>
                  </a:schemeClr>
                </a:solidFill>
                <a:latin typeface="微软雅黑" panose="020B0503020204020204" pitchFamily="34" charset="-122"/>
                <a:ea typeface="微软雅黑" panose="020B0503020204020204" pitchFamily="34" charset="-122"/>
              </a:rPr>
              <a:t>心电设备</a:t>
            </a:r>
          </a:p>
        </p:txBody>
      </p:sp>
      <p:pic>
        <p:nvPicPr>
          <p:cNvPr id="64" name="图片 63">
            <a:extLst>
              <a:ext uri="{FF2B5EF4-FFF2-40B4-BE49-F238E27FC236}">
                <a16:creationId xmlns:a16="http://schemas.microsoft.com/office/drawing/2014/main" id="{CAD1C025-D50A-49FB-5BC4-F93B974483B4}"/>
              </a:ext>
            </a:extLst>
          </p:cNvPr>
          <p:cNvPicPr/>
          <p:nvPr>
            <p:custDataLst>
              <p:tags r:id="rId2"/>
            </p:custDataLst>
          </p:nvPr>
        </p:nvPicPr>
        <p:blipFill>
          <a:blip r:embed="rId23">
            <a:clrChange>
              <a:clrFrom>
                <a:srgbClr val="F5F5F5">
                  <a:alpha val="100000"/>
                </a:srgbClr>
              </a:clrFrom>
              <a:clrTo>
                <a:srgbClr val="F5F5F5">
                  <a:alpha val="100000"/>
                  <a:alpha val="0"/>
                </a:srgbClr>
              </a:clrTo>
            </a:clrChange>
          </a:blip>
          <a:stretch>
            <a:fillRect/>
          </a:stretch>
        </p:blipFill>
        <p:spPr>
          <a:xfrm flipH="1">
            <a:off x="411909" y="3476187"/>
            <a:ext cx="572770" cy="579755"/>
          </a:xfrm>
          <a:prstGeom prst="rect">
            <a:avLst/>
          </a:prstGeom>
        </p:spPr>
      </p:pic>
      <p:sp>
        <p:nvSpPr>
          <p:cNvPr id="65" name="圆角矩形 72">
            <a:extLst>
              <a:ext uri="{FF2B5EF4-FFF2-40B4-BE49-F238E27FC236}">
                <a16:creationId xmlns:a16="http://schemas.microsoft.com/office/drawing/2014/main" id="{4FF39824-33C7-B341-53A7-E45EC7819CF0}"/>
              </a:ext>
            </a:extLst>
          </p:cNvPr>
          <p:cNvSpPr/>
          <p:nvPr/>
        </p:nvSpPr>
        <p:spPr>
          <a:xfrm>
            <a:off x="1267277" y="2977923"/>
            <a:ext cx="716422" cy="1190646"/>
          </a:xfrm>
          <a:prstGeom prst="roundRect">
            <a:avLst>
              <a:gd name="adj" fmla="val 7443"/>
            </a:avLst>
          </a:prstGeom>
          <a:solidFill>
            <a:srgbClr val="2A86DC">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900" b="1" dirty="0">
                <a:solidFill>
                  <a:srgbClr val="2A86DC"/>
                </a:solidFill>
                <a:latin typeface="微软雅黑" panose="020B0503020204020204" pitchFamily="34" charset="-122"/>
                <a:ea typeface="微软雅黑" panose="020B0503020204020204" pitchFamily="34" charset="-122"/>
              </a:rPr>
              <a:t>基层医院</a:t>
            </a:r>
          </a:p>
        </p:txBody>
      </p:sp>
      <p:sp>
        <p:nvSpPr>
          <p:cNvPr id="66" name="文本框 65">
            <a:extLst>
              <a:ext uri="{FF2B5EF4-FFF2-40B4-BE49-F238E27FC236}">
                <a16:creationId xmlns:a16="http://schemas.microsoft.com/office/drawing/2014/main" id="{02B23FD2-7934-79C5-CD6A-6E8957B720E1}"/>
              </a:ext>
            </a:extLst>
          </p:cNvPr>
          <p:cNvSpPr txBox="1"/>
          <p:nvPr/>
        </p:nvSpPr>
        <p:spPr>
          <a:xfrm>
            <a:off x="4611848" y="2316101"/>
            <a:ext cx="536371" cy="215444"/>
          </a:xfrm>
          <a:prstGeom prst="rect">
            <a:avLst/>
          </a:prstGeom>
          <a:noFill/>
        </p:spPr>
        <p:txBody>
          <a:bodyPr wrap="square" rtlCol="0">
            <a:spAutoFit/>
          </a:bodyPr>
          <a:lstStyle/>
          <a:p>
            <a:r>
              <a:rPr kumimoji="1"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指导</a:t>
            </a:r>
          </a:p>
        </p:txBody>
      </p:sp>
      <p:sp>
        <p:nvSpPr>
          <p:cNvPr id="67" name="文本框 66">
            <a:extLst>
              <a:ext uri="{FF2B5EF4-FFF2-40B4-BE49-F238E27FC236}">
                <a16:creationId xmlns:a16="http://schemas.microsoft.com/office/drawing/2014/main" id="{A2471A55-92F7-5437-1CCA-E4AA1B7E7F9F}"/>
              </a:ext>
            </a:extLst>
          </p:cNvPr>
          <p:cNvSpPr txBox="1"/>
          <p:nvPr/>
        </p:nvSpPr>
        <p:spPr>
          <a:xfrm rot="16200000">
            <a:off x="2500401" y="2776856"/>
            <a:ext cx="198120" cy="279862"/>
          </a:xfrm>
          <a:prstGeom prst="rect">
            <a:avLst/>
          </a:prstGeom>
          <a:noFill/>
        </p:spPr>
        <p:txBody>
          <a:bodyPr vert="eaVert" wrap="square" lIns="46990" tIns="46990" rIns="46990" bIns="46990" rtlCol="0">
            <a:spAutoFit/>
          </a:bodyPr>
          <a:lstStyle/>
          <a:p>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服务</a:t>
            </a:r>
          </a:p>
        </p:txBody>
      </p:sp>
      <p:sp>
        <p:nvSpPr>
          <p:cNvPr id="68" name="文本框 67">
            <a:extLst>
              <a:ext uri="{FF2B5EF4-FFF2-40B4-BE49-F238E27FC236}">
                <a16:creationId xmlns:a16="http://schemas.microsoft.com/office/drawing/2014/main" id="{5A7D6EF1-B474-AE81-CE81-67A61975B5B1}"/>
              </a:ext>
            </a:extLst>
          </p:cNvPr>
          <p:cNvSpPr txBox="1"/>
          <p:nvPr/>
        </p:nvSpPr>
        <p:spPr>
          <a:xfrm rot="16200000">
            <a:off x="3209928" y="2758689"/>
            <a:ext cx="198120" cy="316196"/>
          </a:xfrm>
          <a:prstGeom prst="rect">
            <a:avLst/>
          </a:prstGeom>
          <a:noFill/>
        </p:spPr>
        <p:txBody>
          <a:bodyPr vert="eaVert" wrap="square" lIns="46990" tIns="46990" rIns="46990" bIns="46990" rtlCol="0">
            <a:spAutoFit/>
          </a:bodyPr>
          <a:lstStyle/>
          <a:p>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服务</a:t>
            </a:r>
          </a:p>
        </p:txBody>
      </p:sp>
      <p:sp>
        <p:nvSpPr>
          <p:cNvPr id="69" name="文本框 68">
            <a:extLst>
              <a:ext uri="{FF2B5EF4-FFF2-40B4-BE49-F238E27FC236}">
                <a16:creationId xmlns:a16="http://schemas.microsoft.com/office/drawing/2014/main" id="{7FBC3CD2-6CF8-1295-8752-46C5764F0E56}"/>
              </a:ext>
            </a:extLst>
          </p:cNvPr>
          <p:cNvSpPr txBox="1"/>
          <p:nvPr/>
        </p:nvSpPr>
        <p:spPr>
          <a:xfrm rot="16200000">
            <a:off x="3919121" y="2778272"/>
            <a:ext cx="198120" cy="277028"/>
          </a:xfrm>
          <a:prstGeom prst="rect">
            <a:avLst/>
          </a:prstGeom>
          <a:noFill/>
        </p:spPr>
        <p:txBody>
          <a:bodyPr vert="eaVert" wrap="square" lIns="46990" tIns="46990" rIns="46990" bIns="46990" rtlCol="0">
            <a:spAutoFit/>
          </a:bodyPr>
          <a:lstStyle/>
          <a:p>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服务</a:t>
            </a:r>
          </a:p>
        </p:txBody>
      </p:sp>
      <p:sp>
        <p:nvSpPr>
          <p:cNvPr id="70" name="圆角矩形 73">
            <a:extLst>
              <a:ext uri="{FF2B5EF4-FFF2-40B4-BE49-F238E27FC236}">
                <a16:creationId xmlns:a16="http://schemas.microsoft.com/office/drawing/2014/main" id="{DC8AA00D-E894-65CD-7FF4-500DDEE8E0E4}"/>
              </a:ext>
            </a:extLst>
          </p:cNvPr>
          <p:cNvSpPr/>
          <p:nvPr/>
        </p:nvSpPr>
        <p:spPr>
          <a:xfrm>
            <a:off x="2154743" y="1822058"/>
            <a:ext cx="2456815" cy="950595"/>
          </a:xfrm>
          <a:prstGeom prst="roundRect">
            <a:avLst>
              <a:gd name="adj" fmla="val 7443"/>
            </a:avLst>
          </a:prstGeom>
          <a:solidFill>
            <a:schemeClr val="accent1">
              <a:lumMod val="20000"/>
              <a:lumOff val="8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200" b="1" dirty="0">
                <a:solidFill>
                  <a:schemeClr val="accent1"/>
                </a:solidFill>
                <a:latin typeface="微软雅黑" panose="020B0503020204020204" pitchFamily="34" charset="-122"/>
                <a:ea typeface="微软雅黑" panose="020B0503020204020204" pitchFamily="34" charset="-122"/>
              </a:rPr>
              <a:t>国家远程医疗与互联网医学中心</a:t>
            </a:r>
          </a:p>
        </p:txBody>
      </p:sp>
      <p:sp>
        <p:nvSpPr>
          <p:cNvPr id="71" name="圆角矩形 2">
            <a:extLst>
              <a:ext uri="{FF2B5EF4-FFF2-40B4-BE49-F238E27FC236}">
                <a16:creationId xmlns:a16="http://schemas.microsoft.com/office/drawing/2014/main" id="{061A5312-B040-367C-4DDF-972B25F26C81}"/>
              </a:ext>
            </a:extLst>
          </p:cNvPr>
          <p:cNvSpPr/>
          <p:nvPr/>
        </p:nvSpPr>
        <p:spPr>
          <a:xfrm>
            <a:off x="6930205" y="1605523"/>
            <a:ext cx="1662925" cy="3107690"/>
          </a:xfrm>
          <a:prstGeom prst="roundRect">
            <a:avLst>
              <a:gd name="adj" fmla="val 8186"/>
            </a:avLst>
          </a:prstGeom>
          <a:solidFill>
            <a:schemeClr val="bg1"/>
          </a:solidFill>
          <a:ln w="3175">
            <a:solidFill>
              <a:srgbClr val="2A86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2" name="圆角矩形 13">
            <a:extLst>
              <a:ext uri="{FF2B5EF4-FFF2-40B4-BE49-F238E27FC236}">
                <a16:creationId xmlns:a16="http://schemas.microsoft.com/office/drawing/2014/main" id="{2ECD49D1-AA50-93DB-F250-DDB463F34BB8}"/>
              </a:ext>
            </a:extLst>
          </p:cNvPr>
          <p:cNvSpPr/>
          <p:nvPr/>
        </p:nvSpPr>
        <p:spPr>
          <a:xfrm>
            <a:off x="7176658" y="1462013"/>
            <a:ext cx="1147445" cy="360045"/>
          </a:xfrm>
          <a:prstGeom prst="roundRect">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建设内容</a:t>
            </a:r>
          </a:p>
        </p:txBody>
      </p:sp>
      <p:sp>
        <p:nvSpPr>
          <p:cNvPr id="73" name="圆角矩形 44">
            <a:extLst>
              <a:ext uri="{FF2B5EF4-FFF2-40B4-BE49-F238E27FC236}">
                <a16:creationId xmlns:a16="http://schemas.microsoft.com/office/drawing/2014/main" id="{60BA9B51-D0F0-C4DD-A0A5-55B2BCE80735}"/>
              </a:ext>
            </a:extLst>
          </p:cNvPr>
          <p:cNvSpPr/>
          <p:nvPr/>
        </p:nvSpPr>
        <p:spPr>
          <a:xfrm>
            <a:off x="5100508" y="3006333"/>
            <a:ext cx="1683385" cy="1269365"/>
          </a:xfrm>
          <a:prstGeom prst="roundRect">
            <a:avLst>
              <a:gd name="adj" fmla="val 7443"/>
            </a:avLst>
          </a:prstGeom>
          <a:solidFill>
            <a:srgbClr val="2A86DC">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200" b="1" dirty="0">
                <a:solidFill>
                  <a:srgbClr val="2A86DC"/>
                </a:solidFill>
                <a:latin typeface="微软雅黑" panose="020B0503020204020204" pitchFamily="34" charset="-122"/>
                <a:ea typeface="微软雅黑" panose="020B0503020204020204" pitchFamily="34" charset="-122"/>
              </a:rPr>
              <a:t>        </a:t>
            </a:r>
            <a:r>
              <a:rPr kumimoji="1" lang="zh-CN" altLang="en-US" sz="1200" b="1" dirty="0">
                <a:solidFill>
                  <a:srgbClr val="2A86DC"/>
                </a:solidFill>
                <a:latin typeface="微软雅黑" panose="020B0503020204020204" pitchFamily="34" charset="-122"/>
                <a:ea typeface="微软雅黑" panose="020B0503020204020204" pitchFamily="34" charset="-122"/>
              </a:rPr>
              <a:t>县级医院</a:t>
            </a:r>
          </a:p>
        </p:txBody>
      </p:sp>
      <p:sp>
        <p:nvSpPr>
          <p:cNvPr id="74" name="文本框 73">
            <a:extLst>
              <a:ext uri="{FF2B5EF4-FFF2-40B4-BE49-F238E27FC236}">
                <a16:creationId xmlns:a16="http://schemas.microsoft.com/office/drawing/2014/main" id="{C3F7A909-75A4-CF56-3E92-28DCC7F0707E}"/>
              </a:ext>
            </a:extLst>
          </p:cNvPr>
          <p:cNvSpPr txBox="1"/>
          <p:nvPr/>
        </p:nvSpPr>
        <p:spPr>
          <a:xfrm>
            <a:off x="484674" y="3356626"/>
            <a:ext cx="429158"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居民</a:t>
            </a:r>
          </a:p>
        </p:txBody>
      </p:sp>
      <p:sp>
        <p:nvSpPr>
          <p:cNvPr id="75" name="文本框 74">
            <a:extLst>
              <a:ext uri="{FF2B5EF4-FFF2-40B4-BE49-F238E27FC236}">
                <a16:creationId xmlns:a16="http://schemas.microsoft.com/office/drawing/2014/main" id="{E96955EC-CB2D-32D4-8BED-6AA5952258CD}"/>
              </a:ext>
            </a:extLst>
          </p:cNvPr>
          <p:cNvSpPr txBox="1"/>
          <p:nvPr/>
        </p:nvSpPr>
        <p:spPr>
          <a:xfrm>
            <a:off x="1432199" y="3520707"/>
            <a:ext cx="376068"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村站</a:t>
            </a:r>
          </a:p>
        </p:txBody>
      </p:sp>
      <p:sp>
        <p:nvSpPr>
          <p:cNvPr id="76" name="文本框 75">
            <a:extLst>
              <a:ext uri="{FF2B5EF4-FFF2-40B4-BE49-F238E27FC236}">
                <a16:creationId xmlns:a16="http://schemas.microsoft.com/office/drawing/2014/main" id="{C1CDFB62-1708-B27E-C8F7-6D19EB40928B}"/>
              </a:ext>
            </a:extLst>
          </p:cNvPr>
          <p:cNvSpPr txBox="1"/>
          <p:nvPr/>
        </p:nvSpPr>
        <p:spPr>
          <a:xfrm>
            <a:off x="1310346" y="3985156"/>
            <a:ext cx="607383"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基层医院</a:t>
            </a:r>
          </a:p>
        </p:txBody>
      </p:sp>
      <p:sp>
        <p:nvSpPr>
          <p:cNvPr id="77" name="文本框 76">
            <a:extLst>
              <a:ext uri="{FF2B5EF4-FFF2-40B4-BE49-F238E27FC236}">
                <a16:creationId xmlns:a16="http://schemas.microsoft.com/office/drawing/2014/main" id="{EAF3F737-DA2A-D312-EC2B-2B2D0E4DB8FC}"/>
              </a:ext>
            </a:extLst>
          </p:cNvPr>
          <p:cNvSpPr txBox="1"/>
          <p:nvPr/>
        </p:nvSpPr>
        <p:spPr>
          <a:xfrm>
            <a:off x="5669577" y="3584729"/>
            <a:ext cx="533151"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县医院</a:t>
            </a:r>
          </a:p>
        </p:txBody>
      </p:sp>
      <p:sp>
        <p:nvSpPr>
          <p:cNvPr id="78" name="文本框 77">
            <a:extLst>
              <a:ext uri="{FF2B5EF4-FFF2-40B4-BE49-F238E27FC236}">
                <a16:creationId xmlns:a16="http://schemas.microsoft.com/office/drawing/2014/main" id="{F69F01C4-157C-1346-29D0-E650901BAB99}"/>
              </a:ext>
            </a:extLst>
          </p:cNvPr>
          <p:cNvSpPr txBox="1"/>
          <p:nvPr/>
        </p:nvSpPr>
        <p:spPr>
          <a:xfrm>
            <a:off x="2858398" y="3745516"/>
            <a:ext cx="1264034" cy="229870"/>
          </a:xfrm>
          <a:prstGeom prst="rect">
            <a:avLst/>
          </a:prstGeom>
          <a:noFill/>
        </p:spPr>
        <p:txBody>
          <a:bodyPr wrap="square" rtlCol="0">
            <a:spAutoFit/>
          </a:bodyPr>
          <a:lstStyle/>
          <a:p>
            <a:pPr algn="ctr"/>
            <a:endParaRPr kumimoji="1"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9" name="右箭头 25">
            <a:extLst>
              <a:ext uri="{FF2B5EF4-FFF2-40B4-BE49-F238E27FC236}">
                <a16:creationId xmlns:a16="http://schemas.microsoft.com/office/drawing/2014/main" id="{E5F5A202-76E2-EB9D-A591-F61C326A275D}"/>
              </a:ext>
            </a:extLst>
          </p:cNvPr>
          <p:cNvSpPr/>
          <p:nvPr/>
        </p:nvSpPr>
        <p:spPr>
          <a:xfrm>
            <a:off x="890255" y="3251821"/>
            <a:ext cx="372800" cy="82571"/>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0" name="右箭头 26">
            <a:extLst>
              <a:ext uri="{FF2B5EF4-FFF2-40B4-BE49-F238E27FC236}">
                <a16:creationId xmlns:a16="http://schemas.microsoft.com/office/drawing/2014/main" id="{0447A64E-9121-509E-BB0E-FA5657EBD4F8}"/>
              </a:ext>
            </a:extLst>
          </p:cNvPr>
          <p:cNvSpPr/>
          <p:nvPr/>
        </p:nvSpPr>
        <p:spPr>
          <a:xfrm>
            <a:off x="890255" y="3804377"/>
            <a:ext cx="372800" cy="82571"/>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1" name="文本框 80">
            <a:extLst>
              <a:ext uri="{FF2B5EF4-FFF2-40B4-BE49-F238E27FC236}">
                <a16:creationId xmlns:a16="http://schemas.microsoft.com/office/drawing/2014/main" id="{16A9D66B-4B24-2B28-1AB0-0AC9362B901C}"/>
              </a:ext>
            </a:extLst>
          </p:cNvPr>
          <p:cNvSpPr txBox="1"/>
          <p:nvPr/>
        </p:nvSpPr>
        <p:spPr>
          <a:xfrm>
            <a:off x="869925" y="3866373"/>
            <a:ext cx="452898" cy="300082"/>
          </a:xfrm>
          <a:prstGeom prst="rect">
            <a:avLst/>
          </a:prstGeom>
          <a:noFill/>
        </p:spPr>
        <p:txBody>
          <a:bodyPr wrap="square" rtlCol="0">
            <a:spAutoFit/>
          </a:bodyPr>
          <a:lstStyle/>
          <a:p>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门诊</a:t>
            </a:r>
            <a:r>
              <a:rPr kumimoji="1" lang="en-US" altLang="zh-CN" sz="675" dirty="0">
                <a:solidFill>
                  <a:schemeClr val="tx1">
                    <a:lumMod val="75000"/>
                    <a:lumOff val="25000"/>
                  </a:schemeClr>
                </a:solidFill>
                <a:latin typeface="微软雅黑" panose="020B0503020204020204" pitchFamily="34" charset="-122"/>
                <a:ea typeface="微软雅黑" panose="020B0503020204020204" pitchFamily="34" charset="-122"/>
              </a:rPr>
              <a:t>/</a:t>
            </a: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住院</a:t>
            </a:r>
          </a:p>
        </p:txBody>
      </p:sp>
      <p:sp>
        <p:nvSpPr>
          <p:cNvPr id="82" name="右箭头 31">
            <a:extLst>
              <a:ext uri="{FF2B5EF4-FFF2-40B4-BE49-F238E27FC236}">
                <a16:creationId xmlns:a16="http://schemas.microsoft.com/office/drawing/2014/main" id="{15B40F19-6060-4B5C-7596-AEEF9C13D79D}"/>
              </a:ext>
            </a:extLst>
          </p:cNvPr>
          <p:cNvSpPr/>
          <p:nvPr/>
        </p:nvSpPr>
        <p:spPr>
          <a:xfrm>
            <a:off x="2008399" y="3249517"/>
            <a:ext cx="639380" cy="82571"/>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0C2B7BA5-3313-DE98-5C9B-79439626AE90}"/>
              </a:ext>
            </a:extLst>
          </p:cNvPr>
          <p:cNvSpPr txBox="1"/>
          <p:nvPr/>
        </p:nvSpPr>
        <p:spPr>
          <a:xfrm>
            <a:off x="1894610" y="3093142"/>
            <a:ext cx="867907"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静态</a:t>
            </a:r>
            <a:r>
              <a:rPr kumimoji="1" lang="en-US" altLang="zh-CN" sz="675" dirty="0">
                <a:solidFill>
                  <a:schemeClr val="tx1">
                    <a:lumMod val="75000"/>
                    <a:lumOff val="25000"/>
                  </a:schemeClr>
                </a:solidFill>
                <a:latin typeface="微软雅黑" panose="020B0503020204020204" pitchFamily="34" charset="-122"/>
                <a:ea typeface="微软雅黑" panose="020B0503020204020204" pitchFamily="34" charset="-122"/>
              </a:rPr>
              <a:t>/</a:t>
            </a: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动态心电图</a:t>
            </a:r>
          </a:p>
        </p:txBody>
      </p:sp>
      <p:sp>
        <p:nvSpPr>
          <p:cNvPr id="84" name="文本框 83">
            <a:extLst>
              <a:ext uri="{FF2B5EF4-FFF2-40B4-BE49-F238E27FC236}">
                <a16:creationId xmlns:a16="http://schemas.microsoft.com/office/drawing/2014/main" id="{DEF96054-0612-33AE-D5F7-DF0BE8C3DCCB}"/>
              </a:ext>
            </a:extLst>
          </p:cNvPr>
          <p:cNvSpPr txBox="1"/>
          <p:nvPr/>
        </p:nvSpPr>
        <p:spPr>
          <a:xfrm>
            <a:off x="1894338" y="3688137"/>
            <a:ext cx="795797"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多参实时监测</a:t>
            </a:r>
          </a:p>
        </p:txBody>
      </p:sp>
      <p:sp>
        <p:nvSpPr>
          <p:cNvPr id="85" name="文本框 84">
            <a:extLst>
              <a:ext uri="{FF2B5EF4-FFF2-40B4-BE49-F238E27FC236}">
                <a16:creationId xmlns:a16="http://schemas.microsoft.com/office/drawing/2014/main" id="{2B9AB93C-DF77-2773-FA02-2D770A9AA150}"/>
              </a:ext>
            </a:extLst>
          </p:cNvPr>
          <p:cNvSpPr txBox="1"/>
          <p:nvPr/>
        </p:nvSpPr>
        <p:spPr>
          <a:xfrm>
            <a:off x="5130434" y="3975323"/>
            <a:ext cx="568796" cy="300082"/>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远程心电</a:t>
            </a:r>
            <a:endParaRPr kumimoji="1" lang="en-US" altLang="zh-CN" sz="675"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诊断中心</a:t>
            </a:r>
          </a:p>
        </p:txBody>
      </p:sp>
      <p:sp>
        <p:nvSpPr>
          <p:cNvPr id="86" name="文本框 85">
            <a:extLst>
              <a:ext uri="{FF2B5EF4-FFF2-40B4-BE49-F238E27FC236}">
                <a16:creationId xmlns:a16="http://schemas.microsoft.com/office/drawing/2014/main" id="{26F06169-2C63-CFB4-88EC-1C033DC7B433}"/>
              </a:ext>
            </a:extLst>
          </p:cNvPr>
          <p:cNvSpPr txBox="1"/>
          <p:nvPr/>
        </p:nvSpPr>
        <p:spPr>
          <a:xfrm>
            <a:off x="5142940" y="3407442"/>
            <a:ext cx="537976" cy="300082"/>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远程心电</a:t>
            </a:r>
            <a:endParaRPr kumimoji="1" lang="en-US" altLang="zh-CN" sz="675"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监测中心</a:t>
            </a:r>
          </a:p>
        </p:txBody>
      </p:sp>
      <p:sp>
        <p:nvSpPr>
          <p:cNvPr id="87" name="右箭头 41">
            <a:extLst>
              <a:ext uri="{FF2B5EF4-FFF2-40B4-BE49-F238E27FC236}">
                <a16:creationId xmlns:a16="http://schemas.microsoft.com/office/drawing/2014/main" id="{3BC49BCA-F8D7-A01A-BD87-5F0DF67159BD}"/>
              </a:ext>
            </a:extLst>
          </p:cNvPr>
          <p:cNvSpPr/>
          <p:nvPr/>
        </p:nvSpPr>
        <p:spPr>
          <a:xfrm>
            <a:off x="4562798" y="3280442"/>
            <a:ext cx="537976" cy="82571"/>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8" name="右箭头 42">
            <a:extLst>
              <a:ext uri="{FF2B5EF4-FFF2-40B4-BE49-F238E27FC236}">
                <a16:creationId xmlns:a16="http://schemas.microsoft.com/office/drawing/2014/main" id="{A26F5D87-B9E1-8424-C205-E1BB31D58CE5}"/>
              </a:ext>
            </a:extLst>
          </p:cNvPr>
          <p:cNvSpPr/>
          <p:nvPr/>
        </p:nvSpPr>
        <p:spPr>
          <a:xfrm>
            <a:off x="4562798" y="3844330"/>
            <a:ext cx="537976" cy="82571"/>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9" name="右箭头 45">
            <a:extLst>
              <a:ext uri="{FF2B5EF4-FFF2-40B4-BE49-F238E27FC236}">
                <a16:creationId xmlns:a16="http://schemas.microsoft.com/office/drawing/2014/main" id="{EDBBEAC7-107B-CF34-4D15-350090FD971A}"/>
              </a:ext>
            </a:extLst>
          </p:cNvPr>
          <p:cNvSpPr/>
          <p:nvPr/>
        </p:nvSpPr>
        <p:spPr>
          <a:xfrm>
            <a:off x="2015340" y="3816156"/>
            <a:ext cx="618296" cy="82571"/>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0" name="文本框 89">
            <a:extLst>
              <a:ext uri="{FF2B5EF4-FFF2-40B4-BE49-F238E27FC236}">
                <a16:creationId xmlns:a16="http://schemas.microsoft.com/office/drawing/2014/main" id="{90289D13-8CCC-A4FF-EAAA-7A0CACADC399}"/>
              </a:ext>
            </a:extLst>
          </p:cNvPr>
          <p:cNvSpPr txBox="1"/>
          <p:nvPr/>
        </p:nvSpPr>
        <p:spPr>
          <a:xfrm>
            <a:off x="3082478" y="4664318"/>
            <a:ext cx="797560" cy="230832"/>
          </a:xfrm>
          <a:prstGeom prst="rect">
            <a:avLst/>
          </a:prstGeom>
          <a:noFill/>
        </p:spPr>
        <p:txBody>
          <a:bodyPr wrap="square" rtlCol="0">
            <a:spAutoFit/>
          </a:bodyPr>
          <a:lstStyle/>
          <a:p>
            <a:pPr algn="ctr"/>
            <a:r>
              <a:rPr kumimoji="1"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120</a:t>
            </a:r>
            <a:r>
              <a:rPr kumimoji="1"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救护车</a:t>
            </a:r>
          </a:p>
        </p:txBody>
      </p:sp>
      <p:sp>
        <p:nvSpPr>
          <p:cNvPr id="91" name="右箭头 49">
            <a:extLst>
              <a:ext uri="{FF2B5EF4-FFF2-40B4-BE49-F238E27FC236}">
                <a16:creationId xmlns:a16="http://schemas.microsoft.com/office/drawing/2014/main" id="{DA09D02A-82E3-8352-952B-9D500DDAEB06}"/>
              </a:ext>
            </a:extLst>
          </p:cNvPr>
          <p:cNvSpPr/>
          <p:nvPr/>
        </p:nvSpPr>
        <p:spPr>
          <a:xfrm rot="16200000">
            <a:off x="3303895" y="4089237"/>
            <a:ext cx="311546" cy="114846"/>
          </a:xfrm>
          <a:prstGeom prst="rightArrow">
            <a:avLst/>
          </a:prstGeom>
          <a:solidFill>
            <a:srgbClr val="2A8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2" name="文本框 91">
            <a:extLst>
              <a:ext uri="{FF2B5EF4-FFF2-40B4-BE49-F238E27FC236}">
                <a16:creationId xmlns:a16="http://schemas.microsoft.com/office/drawing/2014/main" id="{CB155727-1B6C-E08C-7DFA-BE4289A5F08D}"/>
              </a:ext>
            </a:extLst>
          </p:cNvPr>
          <p:cNvSpPr txBox="1"/>
          <p:nvPr/>
        </p:nvSpPr>
        <p:spPr>
          <a:xfrm rot="16200000">
            <a:off x="3721597" y="3921837"/>
            <a:ext cx="288541" cy="550090"/>
          </a:xfrm>
          <a:prstGeom prst="rect">
            <a:avLst/>
          </a:prstGeom>
          <a:noFill/>
        </p:spPr>
        <p:txBody>
          <a:bodyPr vert="eaVert" wrap="square" rtlCol="0">
            <a:spAutoFit/>
          </a:bodyPr>
          <a:lstStyle/>
          <a:p>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实时监测</a:t>
            </a:r>
          </a:p>
        </p:txBody>
      </p:sp>
      <p:pic>
        <p:nvPicPr>
          <p:cNvPr id="93" name="图形 92">
            <a:extLst>
              <a:ext uri="{FF2B5EF4-FFF2-40B4-BE49-F238E27FC236}">
                <a16:creationId xmlns:a16="http://schemas.microsoft.com/office/drawing/2014/main" id="{4F21F512-1043-B8E6-8575-A879EF33D8C0}"/>
              </a:ext>
            </a:extLst>
          </p:cNvPr>
          <p:cNvPicPr>
            <a:picLocks noChangeAspect="1"/>
          </p:cNvPicPr>
          <p:nvPr>
            <p:custDataLst>
              <p:tags r:id="rId3"/>
            </p:custDataLst>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81130" y="3220548"/>
            <a:ext cx="400274" cy="319367"/>
          </a:xfrm>
          <a:prstGeom prst="rect">
            <a:avLst/>
          </a:prstGeom>
        </p:spPr>
      </p:pic>
      <p:sp>
        <p:nvSpPr>
          <p:cNvPr id="94" name="文本框 93">
            <a:extLst>
              <a:ext uri="{FF2B5EF4-FFF2-40B4-BE49-F238E27FC236}">
                <a16:creationId xmlns:a16="http://schemas.microsoft.com/office/drawing/2014/main" id="{5BB1BEC0-064A-4484-1CAD-E8316FAF131D}"/>
              </a:ext>
            </a:extLst>
          </p:cNvPr>
          <p:cNvSpPr txBox="1"/>
          <p:nvPr/>
        </p:nvSpPr>
        <p:spPr>
          <a:xfrm>
            <a:off x="2739578" y="3504808"/>
            <a:ext cx="1421130" cy="589280"/>
          </a:xfrm>
          <a:prstGeom prst="rect">
            <a:avLst/>
          </a:prstGeom>
          <a:noFill/>
        </p:spPr>
        <p:txBody>
          <a:bodyPr wrap="square" rtlCol="0">
            <a:spAutoFit/>
          </a:bodyPr>
          <a:lstStyle/>
          <a:p>
            <a:pPr algn="ctr">
              <a:lnSpc>
                <a:spcPct val="120000"/>
              </a:lnSpc>
            </a:pPr>
            <a:r>
              <a:rPr kumimoji="1" lang="zh-CN" altLang="en-US" sz="900" b="1" dirty="0">
                <a:solidFill>
                  <a:schemeClr val="bg1"/>
                </a:solidFill>
                <a:latin typeface="微软雅黑" panose="020B0503020204020204" pitchFamily="34" charset="-122"/>
                <a:ea typeface="微软雅黑" panose="020B0503020204020204" pitchFamily="34" charset="-122"/>
              </a:rPr>
              <a:t>心电人工智能</a:t>
            </a:r>
          </a:p>
          <a:p>
            <a:pPr algn="ctr">
              <a:lnSpc>
                <a:spcPct val="120000"/>
              </a:lnSpc>
            </a:pPr>
            <a:r>
              <a:rPr kumimoji="1" lang="zh-CN" altLang="en-US" sz="900" b="1" dirty="0">
                <a:solidFill>
                  <a:schemeClr val="bg1"/>
                </a:solidFill>
                <a:latin typeface="微软雅黑" panose="020B0503020204020204" pitchFamily="34" charset="-122"/>
                <a:ea typeface="微软雅黑" panose="020B0503020204020204" pitchFamily="34" charset="-122"/>
                <a:sym typeface="+mn-ea"/>
              </a:rPr>
              <a:t>远程心电一张网平台</a:t>
            </a:r>
            <a:endParaRPr kumimoji="1" lang="zh-CN" altLang="en-US" sz="900" b="1" dirty="0">
              <a:solidFill>
                <a:schemeClr val="bg1"/>
              </a:solidFill>
              <a:latin typeface="微软雅黑" panose="020B0503020204020204" pitchFamily="34" charset="-122"/>
              <a:ea typeface="微软雅黑" panose="020B0503020204020204" pitchFamily="34" charset="-122"/>
            </a:endParaRPr>
          </a:p>
          <a:p>
            <a:pPr algn="ctr">
              <a:lnSpc>
                <a:spcPct val="120000"/>
              </a:lnSpc>
            </a:pPr>
            <a:endParaRPr kumimoji="1" lang="zh-CN" altLang="en-US" sz="900" b="1" dirty="0">
              <a:solidFill>
                <a:schemeClr val="bg1"/>
              </a:solidFill>
              <a:latin typeface="微软雅黑" panose="020B0503020204020204" pitchFamily="34" charset="-122"/>
              <a:ea typeface="微软雅黑" panose="020B0503020204020204" pitchFamily="34" charset="-122"/>
            </a:endParaRPr>
          </a:p>
        </p:txBody>
      </p:sp>
      <p:sp>
        <p:nvSpPr>
          <p:cNvPr id="95" name="文本框 94">
            <a:extLst>
              <a:ext uri="{FF2B5EF4-FFF2-40B4-BE49-F238E27FC236}">
                <a16:creationId xmlns:a16="http://schemas.microsoft.com/office/drawing/2014/main" id="{229860A1-BA45-D740-0F4E-FBB99B4A041F}"/>
              </a:ext>
            </a:extLst>
          </p:cNvPr>
          <p:cNvSpPr txBox="1"/>
          <p:nvPr/>
        </p:nvSpPr>
        <p:spPr>
          <a:xfrm>
            <a:off x="6182594" y="3735574"/>
            <a:ext cx="634654" cy="300082"/>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胸痛中心</a:t>
            </a:r>
            <a:endParaRPr kumimoji="1" lang="en-US" altLang="zh-CN" sz="675"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急诊中心</a:t>
            </a:r>
          </a:p>
        </p:txBody>
      </p:sp>
      <p:cxnSp>
        <p:nvCxnSpPr>
          <p:cNvPr id="96" name="肘形连接符 60">
            <a:extLst>
              <a:ext uri="{FF2B5EF4-FFF2-40B4-BE49-F238E27FC236}">
                <a16:creationId xmlns:a16="http://schemas.microsoft.com/office/drawing/2014/main" id="{0CA2C076-C968-6232-046E-FAF1CD49E659}"/>
              </a:ext>
            </a:extLst>
          </p:cNvPr>
          <p:cNvCxnSpPr>
            <a:stCxn id="120" idx="1"/>
            <a:endCxn id="95" idx="2"/>
          </p:cNvCxnSpPr>
          <p:nvPr/>
        </p:nvCxnSpPr>
        <p:spPr>
          <a:xfrm flipV="1">
            <a:off x="3835588" y="4035668"/>
            <a:ext cx="2664460" cy="448945"/>
          </a:xfrm>
          <a:prstGeom prst="bent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肘形连接符 62">
            <a:extLst>
              <a:ext uri="{FF2B5EF4-FFF2-40B4-BE49-F238E27FC236}">
                <a16:creationId xmlns:a16="http://schemas.microsoft.com/office/drawing/2014/main" id="{A1A58198-7373-28F5-61E5-90598F4B3265}"/>
              </a:ext>
            </a:extLst>
          </p:cNvPr>
          <p:cNvCxnSpPr>
            <a:stCxn id="98" idx="2"/>
            <a:endCxn id="120" idx="3"/>
          </p:cNvCxnSpPr>
          <p:nvPr/>
        </p:nvCxnSpPr>
        <p:spPr>
          <a:xfrm rot="16200000" flipH="1">
            <a:off x="1778988" y="3084602"/>
            <a:ext cx="326735" cy="2473285"/>
          </a:xfrm>
          <a:prstGeom prst="bent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26E71BB9-3A69-C0BD-2977-9FA7F15B4390}"/>
              </a:ext>
            </a:extLst>
          </p:cNvPr>
          <p:cNvSpPr txBox="1"/>
          <p:nvPr/>
        </p:nvSpPr>
        <p:spPr>
          <a:xfrm>
            <a:off x="503530" y="3961670"/>
            <a:ext cx="404365"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患者</a:t>
            </a:r>
          </a:p>
        </p:txBody>
      </p:sp>
      <p:sp>
        <p:nvSpPr>
          <p:cNvPr id="99" name="文本框 98">
            <a:extLst>
              <a:ext uri="{FF2B5EF4-FFF2-40B4-BE49-F238E27FC236}">
                <a16:creationId xmlns:a16="http://schemas.microsoft.com/office/drawing/2014/main" id="{C78F2F87-933F-50BB-D6C7-6F146C3515DA}"/>
              </a:ext>
            </a:extLst>
          </p:cNvPr>
          <p:cNvSpPr txBox="1"/>
          <p:nvPr/>
        </p:nvSpPr>
        <p:spPr>
          <a:xfrm>
            <a:off x="3137698" y="2588091"/>
            <a:ext cx="591580" cy="184666"/>
          </a:xfrm>
          <a:prstGeom prst="rect">
            <a:avLst/>
          </a:prstGeom>
          <a:noFill/>
        </p:spPr>
        <p:txBody>
          <a:bodyPr wrap="square" rtlCol="0">
            <a:spAutoFit/>
          </a:bodyPr>
          <a:lstStyle/>
          <a:p>
            <a:pPr algn="ctr"/>
            <a:r>
              <a:rPr kumimoji="1" lang="zh-CN" altLang="en-US" sz="600" dirty="0">
                <a:solidFill>
                  <a:schemeClr val="tx1">
                    <a:lumMod val="75000"/>
                    <a:lumOff val="25000"/>
                  </a:schemeClr>
                </a:solidFill>
                <a:latin typeface="微软雅黑" panose="020B0503020204020204" pitchFamily="34" charset="-122"/>
                <a:ea typeface="微软雅黑" panose="020B0503020204020204" pitchFamily="34" charset="-122"/>
              </a:rPr>
              <a:t>远程会诊</a:t>
            </a:r>
          </a:p>
        </p:txBody>
      </p:sp>
      <p:pic>
        <p:nvPicPr>
          <p:cNvPr id="100" name="图形 99">
            <a:extLst>
              <a:ext uri="{FF2B5EF4-FFF2-40B4-BE49-F238E27FC236}">
                <a16:creationId xmlns:a16="http://schemas.microsoft.com/office/drawing/2014/main" id="{48722DFB-6CA7-F551-B169-9FEA0FA9B3CA}"/>
              </a:ext>
            </a:extLst>
          </p:cNvPr>
          <p:cNvPicPr>
            <a:picLocks noChangeAspect="1"/>
          </p:cNvPicPr>
          <p:nvPr>
            <p:custDataLst>
              <p:tags r:id="rId4"/>
            </p:custDataLst>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69263" y="3475903"/>
            <a:ext cx="178310" cy="178309"/>
          </a:xfrm>
          <a:prstGeom prst="rect">
            <a:avLst/>
          </a:prstGeom>
        </p:spPr>
      </p:pic>
      <p:sp>
        <p:nvSpPr>
          <p:cNvPr id="101" name="文本框 100">
            <a:extLst>
              <a:ext uri="{FF2B5EF4-FFF2-40B4-BE49-F238E27FC236}">
                <a16:creationId xmlns:a16="http://schemas.microsoft.com/office/drawing/2014/main" id="{2E0AE062-E37C-3BAC-E00A-20410E0A39B1}"/>
              </a:ext>
            </a:extLst>
          </p:cNvPr>
          <p:cNvSpPr txBox="1"/>
          <p:nvPr/>
        </p:nvSpPr>
        <p:spPr>
          <a:xfrm>
            <a:off x="2291627" y="2588091"/>
            <a:ext cx="800718" cy="184666"/>
          </a:xfrm>
          <a:prstGeom prst="rect">
            <a:avLst/>
          </a:prstGeom>
          <a:noFill/>
        </p:spPr>
        <p:txBody>
          <a:bodyPr wrap="square" rtlCol="0">
            <a:spAutoFit/>
          </a:bodyPr>
          <a:lstStyle/>
          <a:p>
            <a:pPr algn="ctr"/>
            <a:r>
              <a:rPr kumimoji="1" lang="zh-CN" altLang="en-US" sz="600" dirty="0">
                <a:solidFill>
                  <a:schemeClr val="tx1">
                    <a:lumMod val="75000"/>
                    <a:lumOff val="25000"/>
                  </a:schemeClr>
                </a:solidFill>
                <a:latin typeface="微软雅黑" panose="020B0503020204020204" pitchFamily="34" charset="-122"/>
                <a:ea typeface="微软雅黑" panose="020B0503020204020204" pitchFamily="34" charset="-122"/>
              </a:rPr>
              <a:t>远程心电判读</a:t>
            </a:r>
          </a:p>
        </p:txBody>
      </p:sp>
      <p:sp>
        <p:nvSpPr>
          <p:cNvPr id="102" name="文本框 101">
            <a:extLst>
              <a:ext uri="{FF2B5EF4-FFF2-40B4-BE49-F238E27FC236}">
                <a16:creationId xmlns:a16="http://schemas.microsoft.com/office/drawing/2014/main" id="{D15FE950-9ABA-94DC-0441-D218AFB0F658}"/>
              </a:ext>
            </a:extLst>
          </p:cNvPr>
          <p:cNvSpPr txBox="1"/>
          <p:nvPr/>
        </p:nvSpPr>
        <p:spPr>
          <a:xfrm>
            <a:off x="3842819" y="2588091"/>
            <a:ext cx="611661" cy="184666"/>
          </a:xfrm>
          <a:prstGeom prst="rect">
            <a:avLst/>
          </a:prstGeom>
          <a:noFill/>
        </p:spPr>
        <p:txBody>
          <a:bodyPr wrap="square" rtlCol="0">
            <a:spAutoFit/>
          </a:bodyPr>
          <a:lstStyle/>
          <a:p>
            <a:pPr algn="ctr"/>
            <a:r>
              <a:rPr kumimoji="1" lang="zh-CN" altLang="en-US" sz="600" dirty="0">
                <a:solidFill>
                  <a:schemeClr val="tx1">
                    <a:lumMod val="75000"/>
                    <a:lumOff val="25000"/>
                  </a:schemeClr>
                </a:solidFill>
                <a:latin typeface="微软雅黑" panose="020B0503020204020204" pitchFamily="34" charset="-122"/>
                <a:ea typeface="微软雅黑" panose="020B0503020204020204" pitchFamily="34" charset="-122"/>
              </a:rPr>
              <a:t>远程咨询</a:t>
            </a:r>
          </a:p>
        </p:txBody>
      </p:sp>
      <p:sp>
        <p:nvSpPr>
          <p:cNvPr id="103" name="右箭头 78">
            <a:extLst>
              <a:ext uri="{FF2B5EF4-FFF2-40B4-BE49-F238E27FC236}">
                <a16:creationId xmlns:a16="http://schemas.microsoft.com/office/drawing/2014/main" id="{5E841336-0079-D0AD-C541-058CE279F27D}"/>
              </a:ext>
            </a:extLst>
          </p:cNvPr>
          <p:cNvSpPr/>
          <p:nvPr/>
        </p:nvSpPr>
        <p:spPr>
          <a:xfrm rot="5400000">
            <a:off x="2652267" y="2881705"/>
            <a:ext cx="173441" cy="82571"/>
          </a:xfrm>
          <a:prstGeom prst="rightArrow">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4" name="右箭头 79">
            <a:extLst>
              <a:ext uri="{FF2B5EF4-FFF2-40B4-BE49-F238E27FC236}">
                <a16:creationId xmlns:a16="http://schemas.microsoft.com/office/drawing/2014/main" id="{0F3C7ADA-19D0-B62C-E338-9CE7BB47D00E}"/>
              </a:ext>
            </a:extLst>
          </p:cNvPr>
          <p:cNvSpPr/>
          <p:nvPr/>
        </p:nvSpPr>
        <p:spPr>
          <a:xfrm rot="5400000">
            <a:off x="3335156" y="2881705"/>
            <a:ext cx="173441" cy="82571"/>
          </a:xfrm>
          <a:prstGeom prst="rightArrow">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5" name="右箭头 80">
            <a:extLst>
              <a:ext uri="{FF2B5EF4-FFF2-40B4-BE49-F238E27FC236}">
                <a16:creationId xmlns:a16="http://schemas.microsoft.com/office/drawing/2014/main" id="{6B73C36E-2A0F-21B7-8033-7C7E11964BD9}"/>
              </a:ext>
            </a:extLst>
          </p:cNvPr>
          <p:cNvSpPr/>
          <p:nvPr/>
        </p:nvSpPr>
        <p:spPr>
          <a:xfrm rot="5400000">
            <a:off x="4076991" y="2881705"/>
            <a:ext cx="173441" cy="82571"/>
          </a:xfrm>
          <a:prstGeom prst="rightArrow">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6" name="文本框 105">
            <a:extLst>
              <a:ext uri="{FF2B5EF4-FFF2-40B4-BE49-F238E27FC236}">
                <a16:creationId xmlns:a16="http://schemas.microsoft.com/office/drawing/2014/main" id="{4900A5F0-A573-A48D-7009-62CC24FD33D6}"/>
              </a:ext>
            </a:extLst>
          </p:cNvPr>
          <p:cNvSpPr txBox="1"/>
          <p:nvPr/>
        </p:nvSpPr>
        <p:spPr>
          <a:xfrm>
            <a:off x="4523011" y="3121225"/>
            <a:ext cx="618296"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监测报警</a:t>
            </a:r>
          </a:p>
        </p:txBody>
      </p:sp>
      <p:sp>
        <p:nvSpPr>
          <p:cNvPr id="107" name="文本框 106">
            <a:extLst>
              <a:ext uri="{FF2B5EF4-FFF2-40B4-BE49-F238E27FC236}">
                <a16:creationId xmlns:a16="http://schemas.microsoft.com/office/drawing/2014/main" id="{8569F132-B645-A2B6-2B41-1EF174AECC78}"/>
              </a:ext>
            </a:extLst>
          </p:cNvPr>
          <p:cNvSpPr txBox="1"/>
          <p:nvPr/>
        </p:nvSpPr>
        <p:spPr>
          <a:xfrm>
            <a:off x="4523011" y="3688322"/>
            <a:ext cx="618296"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远程诊断</a:t>
            </a:r>
          </a:p>
        </p:txBody>
      </p:sp>
      <p:sp>
        <p:nvSpPr>
          <p:cNvPr id="108" name="圆角矩形 9">
            <a:extLst>
              <a:ext uri="{FF2B5EF4-FFF2-40B4-BE49-F238E27FC236}">
                <a16:creationId xmlns:a16="http://schemas.microsoft.com/office/drawing/2014/main" id="{FA614BEF-301F-D42E-F88A-203C17495644}"/>
              </a:ext>
            </a:extLst>
          </p:cNvPr>
          <p:cNvSpPr/>
          <p:nvPr/>
        </p:nvSpPr>
        <p:spPr>
          <a:xfrm>
            <a:off x="5100773" y="1990384"/>
            <a:ext cx="1683318" cy="613928"/>
          </a:xfrm>
          <a:prstGeom prst="roundRect">
            <a:avLst>
              <a:gd name="adj" fmla="val 7443"/>
            </a:avLst>
          </a:prstGeom>
          <a:solidFill>
            <a:srgbClr val="2A86DC">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solidFill>
                  <a:srgbClr val="2A86DC"/>
                </a:solidFill>
                <a:latin typeface="微软雅黑" panose="020B0503020204020204" pitchFamily="34" charset="-122"/>
                <a:ea typeface="微软雅黑" panose="020B0503020204020204" pitchFamily="34" charset="-122"/>
              </a:rPr>
              <a:t>        </a:t>
            </a:r>
            <a:r>
              <a:rPr kumimoji="1" lang="zh-CN" altLang="en-US" sz="1400" b="1" dirty="0">
                <a:solidFill>
                  <a:srgbClr val="2A86DC"/>
                </a:solidFill>
                <a:latin typeface="微软雅黑" panose="020B0503020204020204" pitchFamily="34" charset="-122"/>
                <a:ea typeface="微软雅黑" panose="020B0503020204020204" pitchFamily="34" charset="-122"/>
              </a:rPr>
              <a:t>市级医院</a:t>
            </a:r>
          </a:p>
        </p:txBody>
      </p:sp>
      <p:cxnSp>
        <p:nvCxnSpPr>
          <p:cNvPr id="109" name="直线箭头连接符 12">
            <a:extLst>
              <a:ext uri="{FF2B5EF4-FFF2-40B4-BE49-F238E27FC236}">
                <a16:creationId xmlns:a16="http://schemas.microsoft.com/office/drawing/2014/main" id="{660849A9-F06F-E3ED-E58A-AAC676E8C5B1}"/>
              </a:ext>
            </a:extLst>
          </p:cNvPr>
          <p:cNvCxnSpPr>
            <a:stCxn id="70" idx="3"/>
            <a:endCxn id="108" idx="1"/>
          </p:cNvCxnSpPr>
          <p:nvPr/>
        </p:nvCxnSpPr>
        <p:spPr>
          <a:xfrm>
            <a:off x="4611693" y="2297805"/>
            <a:ext cx="488950" cy="0"/>
          </a:xfrm>
          <a:prstGeom prst="straightConnector1">
            <a:avLst/>
          </a:prstGeom>
          <a:ln w="38100">
            <a:solidFill>
              <a:srgbClr val="2A86DC"/>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线箭头连接符 22">
            <a:extLst>
              <a:ext uri="{FF2B5EF4-FFF2-40B4-BE49-F238E27FC236}">
                <a16:creationId xmlns:a16="http://schemas.microsoft.com/office/drawing/2014/main" id="{3EA50929-EEB6-EC77-C8A6-424C0E1FDABC}"/>
              </a:ext>
            </a:extLst>
          </p:cNvPr>
          <p:cNvCxnSpPr>
            <a:stCxn id="108" idx="2"/>
            <a:endCxn id="73" idx="0"/>
          </p:cNvCxnSpPr>
          <p:nvPr/>
        </p:nvCxnSpPr>
        <p:spPr>
          <a:xfrm>
            <a:off x="5942433" y="2604312"/>
            <a:ext cx="0" cy="401955"/>
          </a:xfrm>
          <a:prstGeom prst="straightConnector1">
            <a:avLst/>
          </a:prstGeom>
          <a:ln w="38100">
            <a:solidFill>
              <a:srgbClr val="2A86DC"/>
            </a:solidFill>
            <a:tailEnd type="triangle"/>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DE1C8F6E-7048-0AB8-51DB-B7D2F1628E20}"/>
              </a:ext>
            </a:extLst>
          </p:cNvPr>
          <p:cNvSpPr txBox="1"/>
          <p:nvPr/>
        </p:nvSpPr>
        <p:spPr>
          <a:xfrm>
            <a:off x="5468749" y="2684787"/>
            <a:ext cx="432497" cy="215444"/>
          </a:xfrm>
          <a:prstGeom prst="rect">
            <a:avLst/>
          </a:prstGeom>
          <a:noFill/>
        </p:spPr>
        <p:txBody>
          <a:bodyPr wrap="square" rtlCol="0">
            <a:spAutoFit/>
          </a:bodyPr>
          <a:lstStyle/>
          <a:p>
            <a:r>
              <a:rPr kumimoji="1"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指导</a:t>
            </a:r>
          </a:p>
        </p:txBody>
      </p:sp>
      <p:sp>
        <p:nvSpPr>
          <p:cNvPr id="112" name="文本框 111">
            <a:extLst>
              <a:ext uri="{FF2B5EF4-FFF2-40B4-BE49-F238E27FC236}">
                <a16:creationId xmlns:a16="http://schemas.microsoft.com/office/drawing/2014/main" id="{E5F5B42D-46BA-4B41-E5FE-6656B4501AC3}"/>
              </a:ext>
            </a:extLst>
          </p:cNvPr>
          <p:cNvSpPr txBox="1"/>
          <p:nvPr/>
        </p:nvSpPr>
        <p:spPr>
          <a:xfrm>
            <a:off x="5769596" y="2648385"/>
            <a:ext cx="872958" cy="338554"/>
          </a:xfrm>
          <a:prstGeom prst="rect">
            <a:avLst/>
          </a:prstGeom>
          <a:noFill/>
        </p:spPr>
        <p:txBody>
          <a:bodyPr wrap="square" rtlCol="0">
            <a:spAutoFit/>
          </a:bodyPr>
          <a:lstStyle/>
          <a:p>
            <a:r>
              <a:rPr kumimoji="1"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质控</a:t>
            </a:r>
            <a:endParaRPr kumimoji="1"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r>
              <a:rPr kumimoji="1"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疑难心电诊断</a:t>
            </a:r>
          </a:p>
        </p:txBody>
      </p:sp>
      <p:sp>
        <p:nvSpPr>
          <p:cNvPr id="113" name="文本框 112">
            <a:extLst>
              <a:ext uri="{FF2B5EF4-FFF2-40B4-BE49-F238E27FC236}">
                <a16:creationId xmlns:a16="http://schemas.microsoft.com/office/drawing/2014/main" id="{95D3EF09-F9D3-82AE-405B-03B064BAFEBF}"/>
              </a:ext>
            </a:extLst>
          </p:cNvPr>
          <p:cNvSpPr txBox="1"/>
          <p:nvPr/>
        </p:nvSpPr>
        <p:spPr>
          <a:xfrm>
            <a:off x="4613944" y="2032053"/>
            <a:ext cx="537213" cy="215444"/>
          </a:xfrm>
          <a:prstGeom prst="rect">
            <a:avLst/>
          </a:prstGeom>
          <a:noFill/>
        </p:spPr>
        <p:txBody>
          <a:bodyPr wrap="square" rtlCol="0">
            <a:spAutoFit/>
          </a:bodyPr>
          <a:lstStyle/>
          <a:p>
            <a:r>
              <a:rPr kumimoji="1"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教育</a:t>
            </a:r>
          </a:p>
        </p:txBody>
      </p:sp>
      <p:sp>
        <p:nvSpPr>
          <p:cNvPr id="114" name="文本框 113">
            <a:extLst>
              <a:ext uri="{FF2B5EF4-FFF2-40B4-BE49-F238E27FC236}">
                <a16:creationId xmlns:a16="http://schemas.microsoft.com/office/drawing/2014/main" id="{D9966BF0-5E82-2A6A-116D-A63130931563}"/>
              </a:ext>
            </a:extLst>
          </p:cNvPr>
          <p:cNvSpPr txBox="1"/>
          <p:nvPr/>
        </p:nvSpPr>
        <p:spPr>
          <a:xfrm>
            <a:off x="5688741" y="4007118"/>
            <a:ext cx="533151" cy="196208"/>
          </a:xfrm>
          <a:prstGeom prst="rect">
            <a:avLst/>
          </a:prstGeom>
          <a:noFill/>
        </p:spPr>
        <p:txBody>
          <a:bodyPr wrap="square" rtlCol="0">
            <a:spAutoFit/>
          </a:bodyPr>
          <a:lstStyle/>
          <a:p>
            <a:pPr algn="ctr"/>
            <a:r>
              <a:rPr kumimoji="1" lang="zh-CN" altLang="en-US" sz="675" dirty="0">
                <a:solidFill>
                  <a:schemeClr val="tx1">
                    <a:lumMod val="75000"/>
                    <a:lumOff val="25000"/>
                  </a:schemeClr>
                </a:solidFill>
                <a:latin typeface="微软雅黑" panose="020B0503020204020204" pitchFamily="34" charset="-122"/>
                <a:ea typeface="微软雅黑" panose="020B0503020204020204" pitchFamily="34" charset="-122"/>
              </a:rPr>
              <a:t>民营医院</a:t>
            </a:r>
          </a:p>
        </p:txBody>
      </p:sp>
      <p:sp>
        <p:nvSpPr>
          <p:cNvPr id="115" name="文本框 114">
            <a:extLst>
              <a:ext uri="{FF2B5EF4-FFF2-40B4-BE49-F238E27FC236}">
                <a16:creationId xmlns:a16="http://schemas.microsoft.com/office/drawing/2014/main" id="{D8E01BB2-047B-B81F-E797-4BB9E95543B5}"/>
              </a:ext>
            </a:extLst>
          </p:cNvPr>
          <p:cNvSpPr txBox="1"/>
          <p:nvPr/>
        </p:nvSpPr>
        <p:spPr>
          <a:xfrm>
            <a:off x="7058355" y="1821091"/>
            <a:ext cx="1577265" cy="2713355"/>
          </a:xfrm>
          <a:prstGeom prst="rect">
            <a:avLst/>
          </a:prstGeom>
          <a:noFill/>
        </p:spPr>
        <p:txBody>
          <a:bodyPr wrap="square" lIns="46990" tIns="46990" rIns="46990" bIns="46990" rtlCol="0">
            <a:noAutofit/>
          </a:bodyPr>
          <a:lstStyle/>
          <a:p>
            <a:pPr indent="0" algn="l" fontAlgn="auto">
              <a:lnSpc>
                <a:spcPct val="160000"/>
              </a:lnSpc>
              <a:buClrTx/>
              <a:buSzTx/>
              <a:buFont typeface="Arial" panose="020B0604020202020204" pitchFamily="34" charse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心电业务</a:t>
            </a:r>
          </a:p>
          <a:p>
            <a:pPr marL="171450" indent="-171450" algn="l" fontAlgn="auto">
              <a:lnSpc>
                <a:spcPct val="160000"/>
              </a:lnSpc>
              <a:buClr>
                <a:srgbClr val="2A86DC"/>
              </a:buClr>
              <a:buSzTx/>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远程心电判读</a:t>
            </a:r>
          </a:p>
          <a:p>
            <a:pPr marL="171450" indent="-171450" algn="l" fontAlgn="auto">
              <a:lnSpc>
                <a:spcPct val="160000"/>
              </a:lnSpc>
              <a:buClr>
                <a:srgbClr val="2A86DC"/>
              </a:buClr>
              <a:buSzTx/>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远程心电会诊</a:t>
            </a:r>
          </a:p>
          <a:p>
            <a:pPr marL="171450" indent="-171450" algn="l" fontAlgn="auto">
              <a:lnSpc>
                <a:spcPct val="160000"/>
              </a:lnSpc>
              <a:buClr>
                <a:srgbClr val="2A86DC"/>
              </a:buClr>
              <a:buSzTx/>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远程实时监护</a:t>
            </a:r>
          </a:p>
          <a:p>
            <a:pPr marL="171450" indent="-171450" algn="l" fontAlgn="auto">
              <a:lnSpc>
                <a:spcPct val="160000"/>
              </a:lnSpc>
              <a:buClr>
                <a:srgbClr val="2A86DC"/>
              </a:buClr>
              <a:buSzTx/>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120急救监护</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gn="l" fontAlgn="auto">
              <a:lnSpc>
                <a:spcPct val="160000"/>
              </a:lnSpc>
              <a:buClr>
                <a:srgbClr val="2A86DC"/>
              </a:buClr>
              <a:buSzTx/>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院后康复管理</a:t>
            </a:r>
          </a:p>
          <a:p>
            <a:pPr indent="0" fontAlgn="auto">
              <a:lnSpc>
                <a:spcPct val="180000"/>
              </a:lnSpc>
              <a:buFont typeface="Arial" panose="020B0604020202020204" pitchFamily="34" charse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教育指导</a:t>
            </a:r>
          </a:p>
          <a:p>
            <a:pPr marL="171450" indent="-171450" fontAlgn="auto">
              <a:lnSpc>
                <a:spcPct val="160000"/>
              </a:lnSpc>
              <a:buClr>
                <a:srgbClr val="2A86DC"/>
              </a:buClr>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上级医院对下教育培训</a:t>
            </a:r>
          </a:p>
          <a:p>
            <a:pPr marL="171450" indent="-171450" fontAlgn="auto">
              <a:lnSpc>
                <a:spcPct val="160000"/>
              </a:lnSpc>
              <a:buClr>
                <a:srgbClr val="2A86DC"/>
              </a:buClr>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上级医院对下业务指导</a:t>
            </a:r>
          </a:p>
          <a:p>
            <a:pPr indent="0" fontAlgn="auto">
              <a:lnSpc>
                <a:spcPct val="180000"/>
              </a:lnSpc>
              <a:buFont typeface="Arial" panose="020B0604020202020204" pitchFamily="34" charse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监督质控</a:t>
            </a:r>
          </a:p>
          <a:p>
            <a:pPr marL="171450" indent="-171450" fontAlgn="auto">
              <a:lnSpc>
                <a:spcPct val="160000"/>
              </a:lnSpc>
              <a:buClr>
                <a:srgbClr val="2A86DC"/>
              </a:buClr>
              <a:buFont typeface="Wingdings" panose="05000000000000000000" charset="0"/>
              <a:buChar char="Ø"/>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市级医院对下数据、</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auto">
              <a:lnSpc>
                <a:spcPct val="160000"/>
              </a:lnSpc>
              <a:buClr>
                <a:srgbClr val="2A86DC"/>
              </a:buClr>
            </a:pP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业务质控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60000"/>
              </a:lnSpc>
              <a:buFont typeface="Arial" panose="020B0604020202020204" pitchFamily="34" charset="0"/>
              <a:buChar char="•"/>
            </a:pP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6" name="矩形 115">
            <a:extLst>
              <a:ext uri="{FF2B5EF4-FFF2-40B4-BE49-F238E27FC236}">
                <a16:creationId xmlns:a16="http://schemas.microsoft.com/office/drawing/2014/main" id="{E5165BA4-579F-27CA-CDDF-BE829DC13CC6}"/>
              </a:ext>
            </a:extLst>
          </p:cNvPr>
          <p:cNvSpPr/>
          <p:nvPr/>
        </p:nvSpPr>
        <p:spPr>
          <a:xfrm>
            <a:off x="349626" y="885140"/>
            <a:ext cx="6828155" cy="245110"/>
          </a:xfrm>
          <a:prstGeom prst="rect">
            <a:avLst/>
          </a:prstGeom>
        </p:spPr>
        <p:txBody>
          <a:bodyPr wrap="square">
            <a:spAutoFit/>
          </a:bodyPr>
          <a:lstStyle/>
          <a:p>
            <a:r>
              <a:rPr kumimoji="1"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静态心电一张网、动态心电一张网、远程监护一张网、居家监测一张网</a:t>
            </a:r>
            <a:r>
              <a:rPr kumimoji="1"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，四网合一，覆盖区域心电网络建设的核心业务。</a:t>
            </a:r>
            <a:endParaRPr lang="zh-CN" altLang="en-US" sz="1000" dirty="0">
              <a:solidFill>
                <a:schemeClr val="tx1">
                  <a:lumMod val="75000"/>
                  <a:lumOff val="25000"/>
                </a:schemeClr>
              </a:solidFill>
            </a:endParaRPr>
          </a:p>
        </p:txBody>
      </p:sp>
      <p:pic>
        <p:nvPicPr>
          <p:cNvPr id="117" name="图片 116">
            <a:extLst>
              <a:ext uri="{FF2B5EF4-FFF2-40B4-BE49-F238E27FC236}">
                <a16:creationId xmlns:a16="http://schemas.microsoft.com/office/drawing/2014/main" id="{6CBC577A-D75D-5452-FD3E-058BFC878DCD}"/>
              </a:ext>
            </a:extLst>
          </p:cNvPr>
          <p:cNvPicPr/>
          <p:nvPr>
            <p:custDataLst>
              <p:tags r:id="rId5"/>
            </p:custDataLst>
          </p:nvPr>
        </p:nvPicPr>
        <p:blipFill>
          <a:blip r:embed="rId28"/>
          <a:stretch>
            <a:fillRect/>
          </a:stretch>
        </p:blipFill>
        <p:spPr>
          <a:xfrm>
            <a:off x="2470973" y="2135113"/>
            <a:ext cx="434975" cy="434975"/>
          </a:xfrm>
          <a:prstGeom prst="rect">
            <a:avLst/>
          </a:prstGeom>
        </p:spPr>
      </p:pic>
      <p:pic>
        <p:nvPicPr>
          <p:cNvPr id="118" name="图片 117">
            <a:extLst>
              <a:ext uri="{FF2B5EF4-FFF2-40B4-BE49-F238E27FC236}">
                <a16:creationId xmlns:a16="http://schemas.microsoft.com/office/drawing/2014/main" id="{496DA674-1C9C-C179-57F8-E8B91A5DA476}"/>
              </a:ext>
            </a:extLst>
          </p:cNvPr>
          <p:cNvPicPr/>
          <p:nvPr>
            <p:custDataLst>
              <p:tags r:id="rId6"/>
            </p:custDataLst>
          </p:nvPr>
        </p:nvPicPr>
        <p:blipFill>
          <a:blip r:embed="rId29"/>
          <a:stretch>
            <a:fillRect/>
          </a:stretch>
        </p:blipFill>
        <p:spPr>
          <a:xfrm>
            <a:off x="3204398" y="2129398"/>
            <a:ext cx="440690" cy="440690"/>
          </a:xfrm>
          <a:prstGeom prst="rect">
            <a:avLst/>
          </a:prstGeom>
        </p:spPr>
      </p:pic>
      <p:pic>
        <p:nvPicPr>
          <p:cNvPr id="119" name="图片 118">
            <a:extLst>
              <a:ext uri="{FF2B5EF4-FFF2-40B4-BE49-F238E27FC236}">
                <a16:creationId xmlns:a16="http://schemas.microsoft.com/office/drawing/2014/main" id="{AA25131B-58B4-09E9-D970-3B166C131F3D}"/>
              </a:ext>
            </a:extLst>
          </p:cNvPr>
          <p:cNvPicPr/>
          <p:nvPr>
            <p:custDataLst>
              <p:tags r:id="rId7"/>
            </p:custDataLst>
          </p:nvPr>
        </p:nvPicPr>
        <p:blipFill>
          <a:blip r:embed="rId30"/>
          <a:stretch>
            <a:fillRect/>
          </a:stretch>
        </p:blipFill>
        <p:spPr>
          <a:xfrm>
            <a:off x="3925758" y="2148448"/>
            <a:ext cx="421640" cy="421640"/>
          </a:xfrm>
          <a:prstGeom prst="rect">
            <a:avLst/>
          </a:prstGeom>
        </p:spPr>
      </p:pic>
      <p:pic>
        <p:nvPicPr>
          <p:cNvPr id="120" name="图片 119">
            <a:extLst>
              <a:ext uri="{FF2B5EF4-FFF2-40B4-BE49-F238E27FC236}">
                <a16:creationId xmlns:a16="http://schemas.microsoft.com/office/drawing/2014/main" id="{37024BA4-F91D-953C-E4C1-A4EBEC0E096E}"/>
              </a:ext>
            </a:extLst>
          </p:cNvPr>
          <p:cNvPicPr>
            <a:picLocks noChangeAspect="1"/>
          </p:cNvPicPr>
          <p:nvPr>
            <p:custDataLst>
              <p:tags r:id="rId8"/>
            </p:custDataLst>
          </p:nvPr>
        </p:nvPicPr>
        <p:blipFill>
          <a:blip r:embed="rId31">
            <a:clrChange>
              <a:clrFrom>
                <a:srgbClr val="FFFFFF">
                  <a:alpha val="100000"/>
                </a:srgbClr>
              </a:clrFrom>
              <a:clrTo>
                <a:srgbClr val="FFFFFF">
                  <a:alpha val="100000"/>
                  <a:alpha val="0"/>
                </a:srgbClr>
              </a:clrTo>
            </a:clrChange>
          </a:blip>
          <a:stretch>
            <a:fillRect/>
          </a:stretch>
        </p:blipFill>
        <p:spPr>
          <a:xfrm flipH="1">
            <a:off x="3178998" y="4256013"/>
            <a:ext cx="656590" cy="457200"/>
          </a:xfrm>
          <a:prstGeom prst="rect">
            <a:avLst/>
          </a:prstGeom>
        </p:spPr>
      </p:pic>
      <p:pic>
        <p:nvPicPr>
          <p:cNvPr id="121" name="图片 120">
            <a:extLst>
              <a:ext uri="{FF2B5EF4-FFF2-40B4-BE49-F238E27FC236}">
                <a16:creationId xmlns:a16="http://schemas.microsoft.com/office/drawing/2014/main" id="{EBFF9D16-C927-8F95-1984-E7F0C1E2F540}"/>
              </a:ext>
            </a:extLst>
          </p:cNvPr>
          <p:cNvPicPr/>
          <p:nvPr>
            <p:custDataLst>
              <p:tags r:id="rId9"/>
            </p:custDataLst>
          </p:nvPr>
        </p:nvPicPr>
        <p:blipFill>
          <a:blip r:embed="rId32">
            <a:lum bright="6000"/>
          </a:blip>
          <a:stretch>
            <a:fillRect/>
          </a:stretch>
        </p:blipFill>
        <p:spPr>
          <a:xfrm>
            <a:off x="5807263" y="3332088"/>
            <a:ext cx="270510" cy="270510"/>
          </a:xfrm>
          <a:prstGeom prst="rect">
            <a:avLst/>
          </a:prstGeom>
        </p:spPr>
      </p:pic>
      <p:pic>
        <p:nvPicPr>
          <p:cNvPr id="122" name="图片 121">
            <a:extLst>
              <a:ext uri="{FF2B5EF4-FFF2-40B4-BE49-F238E27FC236}">
                <a16:creationId xmlns:a16="http://schemas.microsoft.com/office/drawing/2014/main" id="{ACEEC064-0F75-703C-7057-F4A78F1B37CD}"/>
              </a:ext>
            </a:extLst>
          </p:cNvPr>
          <p:cNvPicPr/>
          <p:nvPr>
            <p:custDataLst>
              <p:tags r:id="rId10"/>
            </p:custDataLst>
          </p:nvPr>
        </p:nvPicPr>
        <p:blipFill>
          <a:blip r:embed="rId32">
            <a:lum bright="6000"/>
          </a:blip>
          <a:stretch>
            <a:fillRect/>
          </a:stretch>
        </p:blipFill>
        <p:spPr>
          <a:xfrm>
            <a:off x="5807263" y="3770238"/>
            <a:ext cx="270510" cy="270510"/>
          </a:xfrm>
          <a:prstGeom prst="rect">
            <a:avLst/>
          </a:prstGeom>
        </p:spPr>
      </p:pic>
      <p:pic>
        <p:nvPicPr>
          <p:cNvPr id="123" name="图片 122">
            <a:extLst>
              <a:ext uri="{FF2B5EF4-FFF2-40B4-BE49-F238E27FC236}">
                <a16:creationId xmlns:a16="http://schemas.microsoft.com/office/drawing/2014/main" id="{D3AC3517-14D9-B620-F518-D63E73B4BDC4}"/>
              </a:ext>
            </a:extLst>
          </p:cNvPr>
          <p:cNvPicPr/>
          <p:nvPr>
            <p:custDataLst>
              <p:tags r:id="rId11"/>
            </p:custDataLst>
          </p:nvPr>
        </p:nvPicPr>
        <p:blipFill>
          <a:blip r:embed="rId33">
            <a:clrChange>
              <a:clrFrom>
                <a:srgbClr val="F3F3F3">
                  <a:alpha val="100000"/>
                </a:srgbClr>
              </a:clrFrom>
              <a:clrTo>
                <a:srgbClr val="F3F3F3">
                  <a:alpha val="100000"/>
                  <a:alpha val="0"/>
                </a:srgbClr>
              </a:clrTo>
            </a:clrChange>
          </a:blip>
          <a:stretch>
            <a:fillRect/>
          </a:stretch>
        </p:blipFill>
        <p:spPr>
          <a:xfrm>
            <a:off x="5212903" y="2028433"/>
            <a:ext cx="518160" cy="518160"/>
          </a:xfrm>
          <a:prstGeom prst="rect">
            <a:avLst/>
          </a:prstGeom>
        </p:spPr>
      </p:pic>
      <p:pic>
        <p:nvPicPr>
          <p:cNvPr id="124" name="图片 123">
            <a:extLst>
              <a:ext uri="{FF2B5EF4-FFF2-40B4-BE49-F238E27FC236}">
                <a16:creationId xmlns:a16="http://schemas.microsoft.com/office/drawing/2014/main" id="{CB8D74BA-8726-3744-7EFE-3F500167A71C}"/>
              </a:ext>
            </a:extLst>
          </p:cNvPr>
          <p:cNvPicPr/>
          <p:nvPr>
            <p:custDataLst>
              <p:tags r:id="rId12"/>
            </p:custDataLst>
          </p:nvPr>
        </p:nvPicPr>
        <p:blipFill>
          <a:blip r:embed="rId34"/>
          <a:stretch>
            <a:fillRect/>
          </a:stretch>
        </p:blipFill>
        <p:spPr>
          <a:xfrm>
            <a:off x="1460929" y="3205042"/>
            <a:ext cx="306070" cy="306070"/>
          </a:xfrm>
          <a:prstGeom prst="rect">
            <a:avLst/>
          </a:prstGeom>
        </p:spPr>
      </p:pic>
      <p:pic>
        <p:nvPicPr>
          <p:cNvPr id="125" name="图片 124">
            <a:extLst>
              <a:ext uri="{FF2B5EF4-FFF2-40B4-BE49-F238E27FC236}">
                <a16:creationId xmlns:a16="http://schemas.microsoft.com/office/drawing/2014/main" id="{5A6D57BC-9446-78C6-CF0B-3977AEC8B0C6}"/>
              </a:ext>
            </a:extLst>
          </p:cNvPr>
          <p:cNvPicPr/>
          <p:nvPr>
            <p:custDataLst>
              <p:tags r:id="rId13"/>
            </p:custDataLst>
          </p:nvPr>
        </p:nvPicPr>
        <p:blipFill>
          <a:blip r:embed="rId34"/>
          <a:stretch>
            <a:fillRect/>
          </a:stretch>
        </p:blipFill>
        <p:spPr>
          <a:xfrm>
            <a:off x="1460929" y="3696532"/>
            <a:ext cx="306070" cy="306070"/>
          </a:xfrm>
          <a:prstGeom prst="rect">
            <a:avLst/>
          </a:prstGeom>
        </p:spPr>
      </p:pic>
      <p:pic>
        <p:nvPicPr>
          <p:cNvPr id="126" name="图片 125">
            <a:extLst>
              <a:ext uri="{FF2B5EF4-FFF2-40B4-BE49-F238E27FC236}">
                <a16:creationId xmlns:a16="http://schemas.microsoft.com/office/drawing/2014/main" id="{13094816-7C78-EC3E-C24E-B6B951B35CF6}"/>
              </a:ext>
            </a:extLst>
          </p:cNvPr>
          <p:cNvPicPr/>
          <p:nvPr>
            <p:custDataLst>
              <p:tags r:id="rId14"/>
            </p:custDataLst>
          </p:nvPr>
        </p:nvPicPr>
        <p:blipFill>
          <a:blip r:embed="rId35">
            <a:lum bright="6000" contrast="6000"/>
          </a:blip>
          <a:stretch>
            <a:fillRect/>
          </a:stretch>
        </p:blipFill>
        <p:spPr>
          <a:xfrm>
            <a:off x="6282878" y="3346058"/>
            <a:ext cx="399415" cy="399415"/>
          </a:xfrm>
          <a:prstGeom prst="rect">
            <a:avLst/>
          </a:prstGeom>
        </p:spPr>
      </p:pic>
      <p:pic>
        <p:nvPicPr>
          <p:cNvPr id="127" name="图片 126">
            <a:extLst>
              <a:ext uri="{FF2B5EF4-FFF2-40B4-BE49-F238E27FC236}">
                <a16:creationId xmlns:a16="http://schemas.microsoft.com/office/drawing/2014/main" id="{2ABA4C75-9DB8-B9DD-724E-76912F2EA0FE}"/>
              </a:ext>
            </a:extLst>
          </p:cNvPr>
          <p:cNvPicPr/>
          <p:nvPr>
            <p:custDataLst>
              <p:tags r:id="rId15"/>
            </p:custDataLst>
          </p:nvPr>
        </p:nvPicPr>
        <p:blipFill>
          <a:blip r:embed="rId36"/>
          <a:stretch>
            <a:fillRect/>
          </a:stretch>
        </p:blipFill>
        <p:spPr>
          <a:xfrm>
            <a:off x="544624" y="3092647"/>
            <a:ext cx="313690" cy="313690"/>
          </a:xfrm>
          <a:prstGeom prst="rect">
            <a:avLst/>
          </a:prstGeom>
        </p:spPr>
      </p:pic>
      <p:pic>
        <p:nvPicPr>
          <p:cNvPr id="128" name="图片 127">
            <a:extLst>
              <a:ext uri="{FF2B5EF4-FFF2-40B4-BE49-F238E27FC236}">
                <a16:creationId xmlns:a16="http://schemas.microsoft.com/office/drawing/2014/main" id="{A676C4FA-DDE5-D460-C6E2-AC77DB4C4656}"/>
              </a:ext>
            </a:extLst>
          </p:cNvPr>
          <p:cNvPicPr/>
          <p:nvPr>
            <p:custDataLst>
              <p:tags r:id="rId16"/>
            </p:custDataLst>
          </p:nvPr>
        </p:nvPicPr>
        <p:blipFill>
          <a:blip r:embed="rId37">
            <a:clrChange>
              <a:clrFrom>
                <a:srgbClr val="F5F5F5">
                  <a:alpha val="100000"/>
                </a:srgbClr>
              </a:clrFrom>
              <a:clrTo>
                <a:srgbClr val="F5F5F5">
                  <a:alpha val="100000"/>
                  <a:alpha val="0"/>
                </a:srgbClr>
              </a:clrTo>
            </a:clrChange>
          </a:blip>
          <a:stretch>
            <a:fillRect/>
          </a:stretch>
        </p:blipFill>
        <p:spPr>
          <a:xfrm>
            <a:off x="5204648" y="3079358"/>
            <a:ext cx="396240" cy="396240"/>
          </a:xfrm>
          <a:prstGeom prst="rect">
            <a:avLst/>
          </a:prstGeom>
        </p:spPr>
      </p:pic>
      <p:pic>
        <p:nvPicPr>
          <p:cNvPr id="129" name="图片 128">
            <a:extLst>
              <a:ext uri="{FF2B5EF4-FFF2-40B4-BE49-F238E27FC236}">
                <a16:creationId xmlns:a16="http://schemas.microsoft.com/office/drawing/2014/main" id="{ABA061FA-5B7C-9B54-FBB8-9A6E63D3DFF7}"/>
              </a:ext>
            </a:extLst>
          </p:cNvPr>
          <p:cNvPicPr/>
          <p:nvPr>
            <p:custDataLst>
              <p:tags r:id="rId17"/>
            </p:custDataLst>
          </p:nvPr>
        </p:nvPicPr>
        <p:blipFill>
          <a:blip r:embed="rId38">
            <a:clrChange>
              <a:clrFrom>
                <a:srgbClr val="F5F5F5">
                  <a:alpha val="100000"/>
                </a:srgbClr>
              </a:clrFrom>
              <a:clrTo>
                <a:srgbClr val="F5F5F5">
                  <a:alpha val="100000"/>
                  <a:alpha val="0"/>
                </a:srgbClr>
              </a:clrTo>
            </a:clrChange>
          </a:blip>
          <a:stretch>
            <a:fillRect/>
          </a:stretch>
        </p:blipFill>
        <p:spPr>
          <a:xfrm>
            <a:off x="5415468" y="3216518"/>
            <a:ext cx="218440" cy="218440"/>
          </a:xfrm>
          <a:prstGeom prst="rect">
            <a:avLst/>
          </a:prstGeom>
        </p:spPr>
      </p:pic>
      <p:pic>
        <p:nvPicPr>
          <p:cNvPr id="130" name="图片 129">
            <a:extLst>
              <a:ext uri="{FF2B5EF4-FFF2-40B4-BE49-F238E27FC236}">
                <a16:creationId xmlns:a16="http://schemas.microsoft.com/office/drawing/2014/main" id="{42B29588-3911-1E64-2F96-38F02413ADC3}"/>
              </a:ext>
            </a:extLst>
          </p:cNvPr>
          <p:cNvPicPr/>
          <p:nvPr>
            <p:custDataLst>
              <p:tags r:id="rId18"/>
            </p:custDataLst>
          </p:nvPr>
        </p:nvPicPr>
        <p:blipFill>
          <a:blip r:embed="rId37">
            <a:clrChange>
              <a:clrFrom>
                <a:srgbClr val="F5F5F5">
                  <a:alpha val="100000"/>
                </a:srgbClr>
              </a:clrFrom>
              <a:clrTo>
                <a:srgbClr val="F5F5F5">
                  <a:alpha val="100000"/>
                  <a:alpha val="0"/>
                </a:srgbClr>
              </a:clrTo>
            </a:clrChange>
          </a:blip>
          <a:stretch>
            <a:fillRect/>
          </a:stretch>
        </p:blipFill>
        <p:spPr>
          <a:xfrm>
            <a:off x="5204648" y="3639428"/>
            <a:ext cx="396240" cy="396240"/>
          </a:xfrm>
          <a:prstGeom prst="rect">
            <a:avLst/>
          </a:prstGeom>
        </p:spPr>
      </p:pic>
      <p:pic>
        <p:nvPicPr>
          <p:cNvPr id="131" name="图片 130">
            <a:extLst>
              <a:ext uri="{FF2B5EF4-FFF2-40B4-BE49-F238E27FC236}">
                <a16:creationId xmlns:a16="http://schemas.microsoft.com/office/drawing/2014/main" id="{A91C2475-B4F5-19D7-6373-3C2FED50972C}"/>
              </a:ext>
            </a:extLst>
          </p:cNvPr>
          <p:cNvPicPr/>
          <p:nvPr>
            <p:custDataLst>
              <p:tags r:id="rId19"/>
            </p:custDataLst>
          </p:nvPr>
        </p:nvPicPr>
        <p:blipFill>
          <a:blip r:embed="rId39"/>
          <a:srcRect l="11081" t="8226" r="10651" b="1797"/>
          <a:stretch>
            <a:fillRect/>
          </a:stretch>
        </p:blipFill>
        <p:spPr>
          <a:xfrm>
            <a:off x="5471348" y="3826753"/>
            <a:ext cx="177800" cy="204470"/>
          </a:xfrm>
          <a:prstGeom prst="roundRect">
            <a:avLst/>
          </a:prstGeom>
        </p:spPr>
      </p:pic>
      <p:pic>
        <p:nvPicPr>
          <p:cNvPr id="132" name="图片 131">
            <a:extLst>
              <a:ext uri="{FF2B5EF4-FFF2-40B4-BE49-F238E27FC236}">
                <a16:creationId xmlns:a16="http://schemas.microsoft.com/office/drawing/2014/main" id="{6AA5E403-D17A-3BC3-B513-60749903D29E}"/>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505815" y="1821210"/>
            <a:ext cx="492354" cy="492354"/>
          </a:xfrm>
          <a:prstGeom prst="rect">
            <a:avLst/>
          </a:prstGeom>
        </p:spPr>
      </p:pic>
      <p:sp>
        <p:nvSpPr>
          <p:cNvPr id="133" name="文本框 132">
            <a:extLst>
              <a:ext uri="{FF2B5EF4-FFF2-40B4-BE49-F238E27FC236}">
                <a16:creationId xmlns:a16="http://schemas.microsoft.com/office/drawing/2014/main" id="{9484BB6A-7CCF-DDEB-70FF-FE0C6A791484}"/>
              </a:ext>
            </a:extLst>
          </p:cNvPr>
          <p:cNvSpPr txBox="1"/>
          <p:nvPr/>
        </p:nvSpPr>
        <p:spPr>
          <a:xfrm>
            <a:off x="515368" y="2361975"/>
            <a:ext cx="51279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CN" altLang="en-US" sz="800" dirty="0">
                <a:latin typeface="微软雅黑" panose="020B0503020204020204" pitchFamily="34" charset="-122"/>
                <a:ea typeface="微软雅黑" panose="020B0503020204020204" pitchFamily="34" charset="-122"/>
              </a:rPr>
              <a:t>卫健委</a:t>
            </a:r>
          </a:p>
        </p:txBody>
      </p:sp>
      <p:sp>
        <p:nvSpPr>
          <p:cNvPr id="134" name="文本框 133">
            <a:extLst>
              <a:ext uri="{FF2B5EF4-FFF2-40B4-BE49-F238E27FC236}">
                <a16:creationId xmlns:a16="http://schemas.microsoft.com/office/drawing/2014/main" id="{73A31B3E-AFC4-8E60-EA97-1099B83FAEF3}"/>
              </a:ext>
            </a:extLst>
          </p:cNvPr>
          <p:cNvSpPr txBox="1"/>
          <p:nvPr/>
        </p:nvSpPr>
        <p:spPr>
          <a:xfrm>
            <a:off x="959855" y="1858860"/>
            <a:ext cx="595035" cy="461665"/>
          </a:xfrm>
          <a:prstGeom prst="rect">
            <a:avLst/>
          </a:prstGeom>
          <a:noFill/>
        </p:spPr>
        <p:txBody>
          <a:bodyPr wrap="none" rtlCol="0">
            <a:spAutoFit/>
          </a:bodyPr>
          <a:lstStyle/>
          <a:p>
            <a:r>
              <a:rPr lang="zh-CN" altLang="en-US" sz="800" dirty="0">
                <a:latin typeface="微软雅黑" panose="020B0503020204020204" pitchFamily="34" charset="-122"/>
                <a:ea typeface="微软雅黑" panose="020B0503020204020204" pitchFamily="34" charset="-122"/>
              </a:rPr>
              <a:t>监督</a:t>
            </a:r>
            <a:endParaRPr lang="en-US" altLang="zh-CN" sz="800" dirty="0">
              <a:latin typeface="微软雅黑" panose="020B0503020204020204" pitchFamily="34" charset="-122"/>
              <a:ea typeface="微软雅黑" panose="020B0503020204020204" pitchFamily="34" charset="-122"/>
            </a:endParaRPr>
          </a:p>
          <a:p>
            <a:r>
              <a:rPr lang="zh-CN" altLang="en-US" sz="800" dirty="0">
                <a:latin typeface="微软雅黑" panose="020B0503020204020204" pitchFamily="34" charset="-122"/>
                <a:ea typeface="微软雅黑" panose="020B0503020204020204" pitchFamily="34" charset="-122"/>
              </a:rPr>
              <a:t>指导</a:t>
            </a:r>
            <a:endParaRPr lang="en-US" altLang="zh-CN" sz="800" dirty="0">
              <a:latin typeface="微软雅黑" panose="020B0503020204020204" pitchFamily="34" charset="-122"/>
              <a:ea typeface="微软雅黑" panose="020B0503020204020204" pitchFamily="34" charset="-122"/>
            </a:endParaRPr>
          </a:p>
          <a:p>
            <a:r>
              <a:rPr lang="zh-CN" altLang="en-US" sz="800" dirty="0">
                <a:latin typeface="微软雅黑" panose="020B0503020204020204" pitchFamily="34" charset="-122"/>
                <a:ea typeface="微软雅黑" panose="020B0503020204020204" pitchFamily="34" charset="-122"/>
              </a:rPr>
              <a:t>运营监控</a:t>
            </a:r>
            <a:endParaRPr lang="en-US" altLang="zh-CN" sz="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0387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A4B54-5956-CFFB-644B-EFBA18446CC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42B8F0-692E-30DD-6777-A69BD779AB97}"/>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心电数据解读一键审核</a:t>
            </a:r>
          </a:p>
        </p:txBody>
      </p:sp>
      <p:sp>
        <p:nvSpPr>
          <p:cNvPr id="3" name="圆角矩形 213">
            <a:extLst>
              <a:ext uri="{FF2B5EF4-FFF2-40B4-BE49-F238E27FC236}">
                <a16:creationId xmlns:a16="http://schemas.microsoft.com/office/drawing/2014/main" id="{F3F93083-4747-EA42-8E20-0F316B8E80EF}"/>
              </a:ext>
            </a:extLst>
          </p:cNvPr>
          <p:cNvSpPr/>
          <p:nvPr>
            <p:custDataLst>
              <p:tags r:id="rId1"/>
            </p:custDataLst>
          </p:nvPr>
        </p:nvSpPr>
        <p:spPr>
          <a:xfrm>
            <a:off x="3072090" y="1826103"/>
            <a:ext cx="2150745" cy="2665571"/>
          </a:xfrm>
          <a:prstGeom prst="roundRect">
            <a:avLst>
              <a:gd name="adj" fmla="val 8817"/>
            </a:avLst>
          </a:prstGeom>
          <a:gradFill>
            <a:gsLst>
              <a:gs pos="0">
                <a:srgbClr val="2A86DC"/>
              </a:gs>
              <a:gs pos="100000">
                <a:srgbClr val="2A86DC">
                  <a:alpha val="46000"/>
                </a:srgbClr>
              </a:gs>
              <a:gs pos="0">
                <a:srgbClr val="29B6DC">
                  <a:alpha val="94000"/>
                </a:srgbClr>
              </a:gs>
            </a:gsLst>
            <a:lin ang="16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a:endParaRPr lang="zh-CN" altLang="en-US" sz="1500">
              <a:solidFill>
                <a:schemeClr val="bg1"/>
              </a:solidFill>
            </a:endParaRPr>
          </a:p>
        </p:txBody>
      </p:sp>
      <p:sp>
        <p:nvSpPr>
          <p:cNvPr id="4" name="圆角矩形 214">
            <a:extLst>
              <a:ext uri="{FF2B5EF4-FFF2-40B4-BE49-F238E27FC236}">
                <a16:creationId xmlns:a16="http://schemas.microsoft.com/office/drawing/2014/main" id="{84AAA02A-8395-683B-AD0A-5EE14BC0EDB6}"/>
              </a:ext>
            </a:extLst>
          </p:cNvPr>
          <p:cNvSpPr/>
          <p:nvPr>
            <p:custDataLst>
              <p:tags r:id="rId2"/>
            </p:custDataLst>
          </p:nvPr>
        </p:nvSpPr>
        <p:spPr>
          <a:xfrm>
            <a:off x="547965" y="1826103"/>
            <a:ext cx="1238250" cy="2665571"/>
          </a:xfrm>
          <a:prstGeom prst="roundRect">
            <a:avLst>
              <a:gd name="adj" fmla="val 11288"/>
            </a:avLst>
          </a:prstGeom>
          <a:solidFill>
            <a:srgbClr val="4F80BD">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a:endParaRPr lang="zh-CN" altLang="en-US" sz="1500">
              <a:solidFill>
                <a:schemeClr val="bg1"/>
              </a:solidFill>
            </a:endParaRPr>
          </a:p>
        </p:txBody>
      </p:sp>
      <p:sp>
        <p:nvSpPr>
          <p:cNvPr id="5" name="TextBox 28">
            <a:extLst>
              <a:ext uri="{FF2B5EF4-FFF2-40B4-BE49-F238E27FC236}">
                <a16:creationId xmlns:a16="http://schemas.microsoft.com/office/drawing/2014/main" id="{EEE41F83-2F69-3BAB-B15D-405635D653E5}"/>
              </a:ext>
            </a:extLst>
          </p:cNvPr>
          <p:cNvSpPr txBox="1"/>
          <p:nvPr>
            <p:custDataLst>
              <p:tags r:id="rId3"/>
            </p:custDataLst>
          </p:nvPr>
        </p:nvSpPr>
        <p:spPr>
          <a:xfrm>
            <a:off x="793473" y="4587974"/>
            <a:ext cx="800219" cy="276999"/>
          </a:xfrm>
          <a:prstGeom prst="rect">
            <a:avLst/>
          </a:prstGeom>
          <a:noFill/>
        </p:spPr>
        <p:txBody>
          <a:bodyPr wrap="none"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心电设备</a:t>
            </a:r>
          </a:p>
        </p:txBody>
      </p:sp>
      <p:sp>
        <p:nvSpPr>
          <p:cNvPr id="6" name="TextBox 30">
            <a:extLst>
              <a:ext uri="{FF2B5EF4-FFF2-40B4-BE49-F238E27FC236}">
                <a16:creationId xmlns:a16="http://schemas.microsoft.com/office/drawing/2014/main" id="{456F9FEC-33CC-722A-1105-7FD074C35504}"/>
              </a:ext>
            </a:extLst>
          </p:cNvPr>
          <p:cNvSpPr txBox="1"/>
          <p:nvPr>
            <p:custDataLst>
              <p:tags r:id="rId4"/>
            </p:custDataLst>
          </p:nvPr>
        </p:nvSpPr>
        <p:spPr>
          <a:xfrm>
            <a:off x="3532992" y="4577428"/>
            <a:ext cx="1274708" cy="276999"/>
          </a:xfrm>
          <a:prstGeom prst="rect">
            <a:avLst/>
          </a:prstGeom>
          <a:noFill/>
        </p:spPr>
        <p:txBody>
          <a:bodyPr wrap="none"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心电大脑</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解读</a:t>
            </a:r>
          </a:p>
        </p:txBody>
      </p:sp>
      <p:cxnSp>
        <p:nvCxnSpPr>
          <p:cNvPr id="7" name="直接箭头连接符 6">
            <a:extLst>
              <a:ext uri="{FF2B5EF4-FFF2-40B4-BE49-F238E27FC236}">
                <a16:creationId xmlns:a16="http://schemas.microsoft.com/office/drawing/2014/main" id="{1FC3178B-7872-027A-832A-5C89D252E4DC}"/>
              </a:ext>
            </a:extLst>
          </p:cNvPr>
          <p:cNvCxnSpPr/>
          <p:nvPr>
            <p:custDataLst>
              <p:tags r:id="rId5"/>
            </p:custDataLst>
          </p:nvPr>
        </p:nvCxnSpPr>
        <p:spPr>
          <a:xfrm>
            <a:off x="1947189" y="2923859"/>
            <a:ext cx="995363" cy="13335"/>
          </a:xfrm>
          <a:prstGeom prst="straightConnector1">
            <a:avLst/>
          </a:prstGeom>
          <a:ln w="4127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D70709B1-5ECF-86A8-3242-E9CC2E4BEBE7}"/>
              </a:ext>
            </a:extLst>
          </p:cNvPr>
          <p:cNvCxnSpPr/>
          <p:nvPr>
            <p:custDataLst>
              <p:tags r:id="rId6"/>
            </p:custDataLst>
          </p:nvPr>
        </p:nvCxnSpPr>
        <p:spPr>
          <a:xfrm>
            <a:off x="1932900" y="3207705"/>
            <a:ext cx="1009650" cy="2381"/>
          </a:xfrm>
          <a:prstGeom prst="straightConnector1">
            <a:avLst/>
          </a:prstGeom>
          <a:ln w="4127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1280000" scaled="1"/>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35">
            <a:extLst>
              <a:ext uri="{FF2B5EF4-FFF2-40B4-BE49-F238E27FC236}">
                <a16:creationId xmlns:a16="http://schemas.microsoft.com/office/drawing/2014/main" id="{8377936B-706D-6D78-CCFE-ED4F033EA172}"/>
              </a:ext>
            </a:extLst>
          </p:cNvPr>
          <p:cNvSpPr txBox="1"/>
          <p:nvPr>
            <p:custDataLst>
              <p:tags r:id="rId7"/>
            </p:custDataLst>
          </p:nvPr>
        </p:nvSpPr>
        <p:spPr>
          <a:xfrm>
            <a:off x="2102922" y="2602867"/>
            <a:ext cx="723275" cy="253916"/>
          </a:xfrm>
          <a:prstGeom prst="rect">
            <a:avLst/>
          </a:prstGeom>
          <a:noFill/>
        </p:spPr>
        <p:txBody>
          <a:bodyPr wrap="none" rtlCol="0">
            <a:spAutoFit/>
          </a:bodyPr>
          <a:lstStyle/>
          <a:p>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数据上传</a:t>
            </a:r>
          </a:p>
        </p:txBody>
      </p:sp>
      <p:sp>
        <p:nvSpPr>
          <p:cNvPr id="10" name="TextBox 37">
            <a:extLst>
              <a:ext uri="{FF2B5EF4-FFF2-40B4-BE49-F238E27FC236}">
                <a16:creationId xmlns:a16="http://schemas.microsoft.com/office/drawing/2014/main" id="{EDBDAB47-C830-D289-E9F5-AF71107AF557}"/>
              </a:ext>
            </a:extLst>
          </p:cNvPr>
          <p:cNvSpPr txBox="1"/>
          <p:nvPr>
            <p:custDataLst>
              <p:tags r:id="rId8"/>
            </p:custDataLst>
          </p:nvPr>
        </p:nvSpPr>
        <p:spPr>
          <a:xfrm>
            <a:off x="2106256" y="3332481"/>
            <a:ext cx="723275" cy="269817"/>
          </a:xfrm>
          <a:prstGeom prst="rect">
            <a:avLst/>
          </a:prstGeom>
          <a:noFill/>
        </p:spPr>
        <p:txBody>
          <a:bodyPr wrap="none" rtlCol="0">
            <a:spAutoFit/>
          </a:bodyPr>
          <a:lstStyle/>
          <a:p>
            <a:pPr>
              <a:lnSpc>
                <a:spcPct val="120000"/>
              </a:lnSpc>
            </a:pP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分析结果</a:t>
            </a:r>
          </a:p>
        </p:txBody>
      </p:sp>
      <p:pic>
        <p:nvPicPr>
          <p:cNvPr id="11" name="图片 10" descr="device_115">
            <a:extLst>
              <a:ext uri="{FF2B5EF4-FFF2-40B4-BE49-F238E27FC236}">
                <a16:creationId xmlns:a16="http://schemas.microsoft.com/office/drawing/2014/main" id="{0C89F84D-4F6B-485D-BF73-5C7D9D644CE8}"/>
              </a:ext>
            </a:extLst>
          </p:cNvPr>
          <p:cNvPicPr>
            <a:picLocks noChangeAspect="1"/>
          </p:cNvPicPr>
          <p:nvPr>
            <p:custDataLst>
              <p:tags r:id="rId9"/>
            </p:custDataLst>
          </p:nvPr>
        </p:nvPicPr>
        <p:blipFill>
          <a:blip r:embed="rId39"/>
          <a:stretch>
            <a:fillRect/>
          </a:stretch>
        </p:blipFill>
        <p:spPr>
          <a:xfrm>
            <a:off x="845861" y="2936717"/>
            <a:ext cx="641985" cy="327660"/>
          </a:xfrm>
          <a:prstGeom prst="rect">
            <a:avLst/>
          </a:prstGeom>
        </p:spPr>
      </p:pic>
      <p:grpSp>
        <p:nvGrpSpPr>
          <p:cNvPr id="12" name="组合 11">
            <a:extLst>
              <a:ext uri="{FF2B5EF4-FFF2-40B4-BE49-F238E27FC236}">
                <a16:creationId xmlns:a16="http://schemas.microsoft.com/office/drawing/2014/main" id="{1656FDFF-F2F1-B1EC-DF51-FCB7BF212EFF}"/>
              </a:ext>
            </a:extLst>
          </p:cNvPr>
          <p:cNvGrpSpPr/>
          <p:nvPr/>
        </p:nvGrpSpPr>
        <p:grpSpPr>
          <a:xfrm>
            <a:off x="1089462" y="3522981"/>
            <a:ext cx="154781" cy="205740"/>
            <a:chOff x="9333" y="6460"/>
            <a:chExt cx="440" cy="585"/>
          </a:xfrm>
        </p:grpSpPr>
        <p:sp>
          <p:nvSpPr>
            <p:cNvPr id="13" name="燕尾形 225">
              <a:extLst>
                <a:ext uri="{FF2B5EF4-FFF2-40B4-BE49-F238E27FC236}">
                  <a16:creationId xmlns:a16="http://schemas.microsoft.com/office/drawing/2014/main" id="{1D1CDA46-7E7D-83D4-7BDD-54F31A6E3E28}"/>
                </a:ext>
              </a:extLst>
            </p:cNvPr>
            <p:cNvSpPr/>
            <p:nvPr>
              <p:custDataLst>
                <p:tags r:id="rId35"/>
              </p:custDataLst>
            </p:nvPr>
          </p:nvSpPr>
          <p:spPr>
            <a:xfrm rot="16200000">
              <a:off x="9391" y="6402"/>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燕尾形 226">
              <a:extLst>
                <a:ext uri="{FF2B5EF4-FFF2-40B4-BE49-F238E27FC236}">
                  <a16:creationId xmlns:a16="http://schemas.microsoft.com/office/drawing/2014/main" id="{ABA9FCA6-832F-5B3D-70F6-8D087CB6C427}"/>
                </a:ext>
              </a:extLst>
            </p:cNvPr>
            <p:cNvSpPr/>
            <p:nvPr>
              <p:custDataLst>
                <p:tags r:id="rId36"/>
              </p:custDataLst>
            </p:nvPr>
          </p:nvSpPr>
          <p:spPr>
            <a:xfrm rot="16200000">
              <a:off x="9391" y="6663"/>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5" name="组合 14">
            <a:extLst>
              <a:ext uri="{FF2B5EF4-FFF2-40B4-BE49-F238E27FC236}">
                <a16:creationId xmlns:a16="http://schemas.microsoft.com/office/drawing/2014/main" id="{461928B4-B9B1-2E34-BAA1-E3812CA3DCC9}"/>
              </a:ext>
            </a:extLst>
          </p:cNvPr>
          <p:cNvGrpSpPr/>
          <p:nvPr/>
        </p:nvGrpSpPr>
        <p:grpSpPr>
          <a:xfrm rot="10800000">
            <a:off x="1089462" y="2574291"/>
            <a:ext cx="154781" cy="205740"/>
            <a:chOff x="9333" y="6460"/>
            <a:chExt cx="440" cy="585"/>
          </a:xfrm>
        </p:grpSpPr>
        <p:sp>
          <p:nvSpPr>
            <p:cNvPr id="16" name="燕尾形 229">
              <a:extLst>
                <a:ext uri="{FF2B5EF4-FFF2-40B4-BE49-F238E27FC236}">
                  <a16:creationId xmlns:a16="http://schemas.microsoft.com/office/drawing/2014/main" id="{9DF7D624-303C-8814-E7A2-4589314CE796}"/>
                </a:ext>
              </a:extLst>
            </p:cNvPr>
            <p:cNvSpPr/>
            <p:nvPr>
              <p:custDataLst>
                <p:tags r:id="rId33"/>
              </p:custDataLst>
            </p:nvPr>
          </p:nvSpPr>
          <p:spPr>
            <a:xfrm rot="16200000">
              <a:off x="9391" y="6402"/>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燕尾形 230">
              <a:extLst>
                <a:ext uri="{FF2B5EF4-FFF2-40B4-BE49-F238E27FC236}">
                  <a16:creationId xmlns:a16="http://schemas.microsoft.com/office/drawing/2014/main" id="{D4F9F9D1-3241-CA5F-E976-DDEF59B2F264}"/>
                </a:ext>
              </a:extLst>
            </p:cNvPr>
            <p:cNvSpPr/>
            <p:nvPr>
              <p:custDataLst>
                <p:tags r:id="rId34"/>
              </p:custDataLst>
            </p:nvPr>
          </p:nvSpPr>
          <p:spPr>
            <a:xfrm rot="16200000">
              <a:off x="9391" y="6663"/>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8" name="文本框 17">
            <a:extLst>
              <a:ext uri="{FF2B5EF4-FFF2-40B4-BE49-F238E27FC236}">
                <a16:creationId xmlns:a16="http://schemas.microsoft.com/office/drawing/2014/main" id="{83A17121-1C34-7EAD-F94C-3FDEF6C1F4E7}"/>
              </a:ext>
            </a:extLst>
          </p:cNvPr>
          <p:cNvSpPr txBox="1"/>
          <p:nvPr>
            <p:custDataLst>
              <p:tags r:id="rId10"/>
            </p:custDataLst>
          </p:nvPr>
        </p:nvSpPr>
        <p:spPr>
          <a:xfrm>
            <a:off x="3228619" y="2415381"/>
            <a:ext cx="530915" cy="300082"/>
          </a:xfrm>
          <a:prstGeom prst="rect">
            <a:avLst/>
          </a:prstGeom>
          <a:noFill/>
        </p:spPr>
        <p:txBody>
          <a:bodyPr wrap="none" rtlCol="0">
            <a:spAutoFit/>
          </a:bodyPr>
          <a:lstStyle/>
          <a:p>
            <a:r>
              <a:rPr lang="zh-CN" altLang="en-US" sz="1350">
                <a:solidFill>
                  <a:srgbClr val="29B6DC"/>
                </a:solidFill>
                <a:latin typeface="微软雅黑" panose="020B0503020204020204" pitchFamily="34" charset="-122"/>
                <a:ea typeface="微软雅黑" panose="020B0503020204020204" pitchFamily="34" charset="-122"/>
              </a:rPr>
              <a:t>房颤</a:t>
            </a:r>
          </a:p>
        </p:txBody>
      </p:sp>
      <p:sp>
        <p:nvSpPr>
          <p:cNvPr id="19" name="文本框 18">
            <a:extLst>
              <a:ext uri="{FF2B5EF4-FFF2-40B4-BE49-F238E27FC236}">
                <a16:creationId xmlns:a16="http://schemas.microsoft.com/office/drawing/2014/main" id="{2CDB1B0C-9932-77FB-FB2D-E9978329D96D}"/>
              </a:ext>
            </a:extLst>
          </p:cNvPr>
          <p:cNvSpPr txBox="1"/>
          <p:nvPr>
            <p:custDataLst>
              <p:tags r:id="rId11"/>
            </p:custDataLst>
          </p:nvPr>
        </p:nvSpPr>
        <p:spPr>
          <a:xfrm>
            <a:off x="3325774" y="1980726"/>
            <a:ext cx="639919" cy="230832"/>
          </a:xfrm>
          <a:prstGeom prst="rect">
            <a:avLst/>
          </a:prstGeom>
          <a:noFill/>
        </p:spPr>
        <p:txBody>
          <a:bodyPr wrap="none" rtlCol="0">
            <a:spAutoFit/>
          </a:bodyPr>
          <a:lstStyle/>
          <a:p>
            <a:r>
              <a:rPr lang="en-US" altLang="zh-CN"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ST</a:t>
            </a:r>
            <a:r>
              <a:rPr lang="zh-CN" altLang="en-US"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段抬高</a:t>
            </a:r>
          </a:p>
        </p:txBody>
      </p:sp>
      <p:sp>
        <p:nvSpPr>
          <p:cNvPr id="20" name="文本框 19">
            <a:extLst>
              <a:ext uri="{FF2B5EF4-FFF2-40B4-BE49-F238E27FC236}">
                <a16:creationId xmlns:a16="http://schemas.microsoft.com/office/drawing/2014/main" id="{5D025638-BB6A-4A55-A01A-EA3DA3897F02}"/>
              </a:ext>
            </a:extLst>
          </p:cNvPr>
          <p:cNvSpPr txBox="1"/>
          <p:nvPr>
            <p:custDataLst>
              <p:tags r:id="rId12"/>
            </p:custDataLst>
          </p:nvPr>
        </p:nvSpPr>
        <p:spPr>
          <a:xfrm>
            <a:off x="3851553" y="2387601"/>
            <a:ext cx="995680" cy="337185"/>
          </a:xfrm>
          <a:prstGeom prst="rect">
            <a:avLst/>
          </a:prstGeom>
          <a:noFill/>
        </p:spPr>
        <p:txBody>
          <a:bodyPr wrap="none" rtlCol="0">
            <a:spAutoFit/>
          </a:bodyPr>
          <a:lstStyle/>
          <a:p>
            <a:r>
              <a:rPr lang="zh-CN" altLang="en-US" sz="1600">
                <a:solidFill>
                  <a:srgbClr val="5A85E7"/>
                </a:solidFill>
                <a:latin typeface="微软雅黑" panose="020B0503020204020204" pitchFamily="34" charset="-122"/>
                <a:ea typeface="微软雅黑" panose="020B0503020204020204" pitchFamily="34" charset="-122"/>
              </a:rPr>
              <a:t>窦性心律</a:t>
            </a:r>
          </a:p>
        </p:txBody>
      </p:sp>
      <p:sp>
        <p:nvSpPr>
          <p:cNvPr id="21" name="文本框 20">
            <a:extLst>
              <a:ext uri="{FF2B5EF4-FFF2-40B4-BE49-F238E27FC236}">
                <a16:creationId xmlns:a16="http://schemas.microsoft.com/office/drawing/2014/main" id="{F26BD04B-1D67-8CEE-E685-1DF6A69D6B0C}"/>
              </a:ext>
            </a:extLst>
          </p:cNvPr>
          <p:cNvSpPr txBox="1"/>
          <p:nvPr>
            <p:custDataLst>
              <p:tags r:id="rId13"/>
            </p:custDataLst>
          </p:nvPr>
        </p:nvSpPr>
        <p:spPr>
          <a:xfrm>
            <a:off x="4058721" y="3108485"/>
            <a:ext cx="995680" cy="337185"/>
          </a:xfrm>
          <a:prstGeom prst="rect">
            <a:avLst/>
          </a:prstGeom>
          <a:noFill/>
        </p:spPr>
        <p:txBody>
          <a:bodyPr wrap="none" rtlCol="0">
            <a:spAutoFit/>
          </a:bodyPr>
          <a:lstStyle/>
          <a:p>
            <a:pPr algn="l"/>
            <a:r>
              <a:rPr lang="zh-CN" altLang="en-US" sz="1600">
                <a:solidFill>
                  <a:srgbClr val="5A85E7"/>
                </a:solidFill>
                <a:latin typeface="微软雅黑" panose="020B0503020204020204" pitchFamily="34" charset="-122"/>
                <a:ea typeface="微软雅黑" panose="020B0503020204020204" pitchFamily="34" charset="-122"/>
                <a:sym typeface="+mn-ea"/>
              </a:rPr>
              <a:t>房性早搏</a:t>
            </a:r>
          </a:p>
        </p:txBody>
      </p:sp>
      <p:sp>
        <p:nvSpPr>
          <p:cNvPr id="22" name="文本框 21">
            <a:extLst>
              <a:ext uri="{FF2B5EF4-FFF2-40B4-BE49-F238E27FC236}">
                <a16:creationId xmlns:a16="http://schemas.microsoft.com/office/drawing/2014/main" id="{EAEF406F-EDBE-7924-63DD-7192A0343D9F}"/>
              </a:ext>
            </a:extLst>
          </p:cNvPr>
          <p:cNvSpPr txBox="1"/>
          <p:nvPr>
            <p:custDataLst>
              <p:tags r:id="rId14"/>
            </p:custDataLst>
          </p:nvPr>
        </p:nvSpPr>
        <p:spPr>
          <a:xfrm>
            <a:off x="3267036" y="2729231"/>
            <a:ext cx="954107" cy="207749"/>
          </a:xfrm>
          <a:prstGeom prst="rect">
            <a:avLst/>
          </a:prstGeom>
          <a:noFill/>
        </p:spPr>
        <p:txBody>
          <a:bodyPr wrap="none" rtlCol="0">
            <a:spAutoFit/>
          </a:bodyPr>
          <a:lstStyle/>
          <a:p>
            <a:pPr algn="l"/>
            <a:r>
              <a:rPr lang="zh-CN" altLang="en-US" sz="750">
                <a:solidFill>
                  <a:schemeClr val="bg1"/>
                </a:solidFill>
                <a:latin typeface="微软雅黑" panose="020B0503020204020204" pitchFamily="34" charset="-122"/>
                <a:ea typeface="微软雅黑" panose="020B0503020204020204" pitchFamily="34" charset="-122"/>
                <a:sym typeface="+mn-ea"/>
              </a:rPr>
              <a:t>短阵室性心动过速</a:t>
            </a:r>
          </a:p>
        </p:txBody>
      </p:sp>
      <p:sp>
        <p:nvSpPr>
          <p:cNvPr id="23" name="文本框 22">
            <a:extLst>
              <a:ext uri="{FF2B5EF4-FFF2-40B4-BE49-F238E27FC236}">
                <a16:creationId xmlns:a16="http://schemas.microsoft.com/office/drawing/2014/main" id="{9DD502A9-A512-79F5-F090-8607F7104FF1}"/>
              </a:ext>
            </a:extLst>
          </p:cNvPr>
          <p:cNvSpPr txBox="1"/>
          <p:nvPr>
            <p:custDataLst>
              <p:tags r:id="rId15"/>
            </p:custDataLst>
          </p:nvPr>
        </p:nvSpPr>
        <p:spPr>
          <a:xfrm>
            <a:off x="3147339" y="3434399"/>
            <a:ext cx="1249680" cy="252730"/>
          </a:xfrm>
          <a:prstGeom prst="rect">
            <a:avLst/>
          </a:prstGeom>
          <a:noFill/>
        </p:spPr>
        <p:txBody>
          <a:bodyPr wrap="none" rtlCol="0">
            <a:spAutoFit/>
          </a:bodyPr>
          <a:lstStyle/>
          <a:p>
            <a:pPr algn="l"/>
            <a:r>
              <a:rPr lang="zh-CN" altLang="en-US" sz="1050">
                <a:solidFill>
                  <a:schemeClr val="accent5">
                    <a:lumMod val="40000"/>
                    <a:lumOff val="60000"/>
                  </a:schemeClr>
                </a:solidFill>
                <a:latin typeface="微软雅黑" panose="020B0503020204020204" pitchFamily="34" charset="-122"/>
                <a:ea typeface="微软雅黑" panose="020B0503020204020204" pitchFamily="34" charset="-122"/>
              </a:rPr>
              <a:t>短阵房性心动过速</a:t>
            </a:r>
          </a:p>
        </p:txBody>
      </p:sp>
      <p:sp>
        <p:nvSpPr>
          <p:cNvPr id="24" name="文本框 23">
            <a:extLst>
              <a:ext uri="{FF2B5EF4-FFF2-40B4-BE49-F238E27FC236}">
                <a16:creationId xmlns:a16="http://schemas.microsoft.com/office/drawing/2014/main" id="{AD6E5F89-7F3E-2B12-0D03-C55D304A6B37}"/>
              </a:ext>
            </a:extLst>
          </p:cNvPr>
          <p:cNvSpPr txBox="1"/>
          <p:nvPr>
            <p:custDataLst>
              <p:tags r:id="rId16"/>
            </p:custDataLst>
          </p:nvPr>
        </p:nvSpPr>
        <p:spPr>
          <a:xfrm>
            <a:off x="3326250" y="2988471"/>
            <a:ext cx="723275" cy="253916"/>
          </a:xfrm>
          <a:prstGeom prst="rect">
            <a:avLst/>
          </a:prstGeom>
          <a:noFill/>
        </p:spPr>
        <p:txBody>
          <a:bodyPr wrap="none" rtlCol="0">
            <a:spAutoFit/>
          </a:bodyPr>
          <a:lstStyle/>
          <a:p>
            <a:r>
              <a:rPr lang="zh-CN" altLang="en-US" sz="1050">
                <a:solidFill>
                  <a:srgbClr val="C2EAF4"/>
                </a:solidFill>
                <a:latin typeface="微软雅黑" panose="020B0503020204020204" pitchFamily="34" charset="-122"/>
                <a:ea typeface="微软雅黑" panose="020B0503020204020204" pitchFamily="34" charset="-122"/>
              </a:rPr>
              <a:t>室内阻滞</a:t>
            </a:r>
          </a:p>
        </p:txBody>
      </p:sp>
      <p:sp>
        <p:nvSpPr>
          <p:cNvPr id="25" name="文本框 24">
            <a:extLst>
              <a:ext uri="{FF2B5EF4-FFF2-40B4-BE49-F238E27FC236}">
                <a16:creationId xmlns:a16="http://schemas.microsoft.com/office/drawing/2014/main" id="{78E138AF-50A4-5802-694E-939D90C2F6D3}"/>
              </a:ext>
            </a:extLst>
          </p:cNvPr>
          <p:cNvSpPr txBox="1"/>
          <p:nvPr>
            <p:custDataLst>
              <p:tags r:id="rId17"/>
            </p:custDataLst>
          </p:nvPr>
        </p:nvSpPr>
        <p:spPr>
          <a:xfrm>
            <a:off x="3483571" y="2184561"/>
            <a:ext cx="877163" cy="230832"/>
          </a:xfrm>
          <a:prstGeom prst="rect">
            <a:avLst/>
          </a:prstGeom>
          <a:noFill/>
        </p:spPr>
        <p:txBody>
          <a:bodyPr wrap="none" rtlCol="0">
            <a:spAutoFit/>
          </a:bodyPr>
          <a:lstStyle/>
          <a:p>
            <a:pPr algn="l"/>
            <a:r>
              <a:rPr sz="900">
                <a:solidFill>
                  <a:schemeClr val="accent5">
                    <a:lumMod val="40000"/>
                    <a:lumOff val="60000"/>
                  </a:schemeClr>
                </a:solidFill>
                <a:latin typeface="微软雅黑" panose="020B0503020204020204" pitchFamily="34" charset="-122"/>
                <a:ea typeface="微软雅黑" panose="020B0503020204020204" pitchFamily="34" charset="-122"/>
              </a:rPr>
              <a:t>成对房性早搏</a:t>
            </a:r>
          </a:p>
        </p:txBody>
      </p:sp>
      <p:sp>
        <p:nvSpPr>
          <p:cNvPr id="26" name="文本框 25">
            <a:extLst>
              <a:ext uri="{FF2B5EF4-FFF2-40B4-BE49-F238E27FC236}">
                <a16:creationId xmlns:a16="http://schemas.microsoft.com/office/drawing/2014/main" id="{073C2F72-F021-54F6-1417-595BE13FB574}"/>
              </a:ext>
            </a:extLst>
          </p:cNvPr>
          <p:cNvSpPr txBox="1"/>
          <p:nvPr>
            <p:custDataLst>
              <p:tags r:id="rId18"/>
            </p:custDataLst>
          </p:nvPr>
        </p:nvSpPr>
        <p:spPr>
          <a:xfrm>
            <a:off x="4181119" y="1923733"/>
            <a:ext cx="788999" cy="300082"/>
          </a:xfrm>
          <a:prstGeom prst="rect">
            <a:avLst/>
          </a:prstGeom>
          <a:noFill/>
        </p:spPr>
        <p:txBody>
          <a:bodyPr wrap="none" rtlCol="0">
            <a:spAutoFit/>
          </a:bodyPr>
          <a:lstStyle/>
          <a:p>
            <a:pPr algn="l"/>
            <a:r>
              <a:rPr lang="zh-CN" altLang="en-US" sz="1350">
                <a:solidFill>
                  <a:srgbClr val="C2EAF4"/>
                </a:solidFill>
                <a:latin typeface="微软雅黑" panose="020B0503020204020204" pitchFamily="34" charset="-122"/>
                <a:ea typeface="微软雅黑" panose="020B0503020204020204" pitchFamily="34" charset="-122"/>
                <a:cs typeface="微软雅黑" panose="020B0503020204020204" pitchFamily="34" charset="-122"/>
              </a:rPr>
              <a:t>T波改变</a:t>
            </a:r>
          </a:p>
        </p:txBody>
      </p:sp>
      <p:sp>
        <p:nvSpPr>
          <p:cNvPr id="27" name="文本框 26">
            <a:extLst>
              <a:ext uri="{FF2B5EF4-FFF2-40B4-BE49-F238E27FC236}">
                <a16:creationId xmlns:a16="http://schemas.microsoft.com/office/drawing/2014/main" id="{F8C1656A-7D8E-EB3B-1C1D-A9D0CAC6971E}"/>
              </a:ext>
            </a:extLst>
          </p:cNvPr>
          <p:cNvSpPr txBox="1"/>
          <p:nvPr>
            <p:custDataLst>
              <p:tags r:id="rId19"/>
            </p:custDataLst>
          </p:nvPr>
        </p:nvSpPr>
        <p:spPr>
          <a:xfrm>
            <a:off x="3986174" y="2888457"/>
            <a:ext cx="1005403" cy="230832"/>
          </a:xfrm>
          <a:prstGeom prst="rect">
            <a:avLst/>
          </a:prstGeom>
          <a:noFill/>
        </p:spPr>
        <p:txBody>
          <a:bodyPr wrap="none" rtlCol="0">
            <a:spAutoFit/>
          </a:bodyPr>
          <a:lstStyle/>
          <a:p>
            <a:pPr algn="l"/>
            <a:r>
              <a:rPr lang="zh-CN" altLang="en-US"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QT/QTc间期延长</a:t>
            </a:r>
          </a:p>
        </p:txBody>
      </p:sp>
      <p:sp>
        <p:nvSpPr>
          <p:cNvPr id="28" name="文本框 27">
            <a:extLst>
              <a:ext uri="{FF2B5EF4-FFF2-40B4-BE49-F238E27FC236}">
                <a16:creationId xmlns:a16="http://schemas.microsoft.com/office/drawing/2014/main" id="{5C877178-CFE6-60B4-B201-A19A6859D557}"/>
              </a:ext>
            </a:extLst>
          </p:cNvPr>
          <p:cNvSpPr txBox="1"/>
          <p:nvPr>
            <p:custDataLst>
              <p:tags r:id="rId20"/>
            </p:custDataLst>
          </p:nvPr>
        </p:nvSpPr>
        <p:spPr>
          <a:xfrm>
            <a:off x="4494174" y="2211866"/>
            <a:ext cx="646331" cy="230832"/>
          </a:xfrm>
          <a:prstGeom prst="rect">
            <a:avLst/>
          </a:prstGeom>
          <a:noFill/>
        </p:spPr>
        <p:txBody>
          <a:bodyPr wrap="none" rtlCol="0">
            <a:spAutoFit/>
          </a:bodyPr>
          <a:lstStyle/>
          <a:p>
            <a:pPr algn="l"/>
            <a:r>
              <a:rPr lang="zh-CN" altLang="en-US" sz="900">
                <a:solidFill>
                  <a:schemeClr val="bg1"/>
                </a:solidFill>
                <a:latin typeface="微软雅黑" panose="020B0503020204020204" pitchFamily="34" charset="-122"/>
                <a:ea typeface="微软雅黑" panose="020B0503020204020204" pitchFamily="34" charset="-122"/>
              </a:rPr>
              <a:t>室</a:t>
            </a:r>
            <a:r>
              <a:rPr sz="900">
                <a:solidFill>
                  <a:schemeClr val="bg1"/>
                </a:solidFill>
                <a:latin typeface="微软雅黑" panose="020B0503020204020204" pitchFamily="34" charset="-122"/>
                <a:ea typeface="微软雅黑" panose="020B0503020204020204" pitchFamily="34" charset="-122"/>
              </a:rPr>
              <a:t>性早搏</a:t>
            </a:r>
          </a:p>
        </p:txBody>
      </p:sp>
      <p:sp>
        <p:nvSpPr>
          <p:cNvPr id="29" name="文本框 28">
            <a:extLst>
              <a:ext uri="{FF2B5EF4-FFF2-40B4-BE49-F238E27FC236}">
                <a16:creationId xmlns:a16="http://schemas.microsoft.com/office/drawing/2014/main" id="{13ACE63A-1B65-8E17-1329-EFB59E15AFF1}"/>
              </a:ext>
            </a:extLst>
          </p:cNvPr>
          <p:cNvSpPr txBox="1"/>
          <p:nvPr>
            <p:custDataLst>
              <p:tags r:id="rId21"/>
            </p:custDataLst>
          </p:nvPr>
        </p:nvSpPr>
        <p:spPr>
          <a:xfrm>
            <a:off x="4397177" y="2688751"/>
            <a:ext cx="708848" cy="230832"/>
          </a:xfrm>
          <a:prstGeom prst="rect">
            <a:avLst/>
          </a:prstGeom>
          <a:noFill/>
        </p:spPr>
        <p:txBody>
          <a:bodyPr wrap="none" rtlCol="0">
            <a:spAutoFit/>
          </a:bodyPr>
          <a:lstStyle/>
          <a:p>
            <a:pPr algn="l"/>
            <a:r>
              <a:rPr sz="900">
                <a:solidFill>
                  <a:schemeClr val="accent5">
                    <a:lumMod val="40000"/>
                    <a:lumOff val="60000"/>
                  </a:schemeClr>
                </a:solidFill>
                <a:latin typeface="微软雅黑" panose="020B0503020204020204" pitchFamily="34" charset="-122"/>
                <a:ea typeface="微软雅黑" panose="020B0503020204020204" pitchFamily="34" charset="-122"/>
                <a:cs typeface="微软雅黑" panose="020B0503020204020204" pitchFamily="34" charset="-122"/>
              </a:rPr>
              <a:t>R波电压高</a:t>
            </a:r>
          </a:p>
        </p:txBody>
      </p:sp>
      <p:sp>
        <p:nvSpPr>
          <p:cNvPr id="30" name="文本框 29">
            <a:extLst>
              <a:ext uri="{FF2B5EF4-FFF2-40B4-BE49-F238E27FC236}">
                <a16:creationId xmlns:a16="http://schemas.microsoft.com/office/drawing/2014/main" id="{B8C831A3-DC91-B687-4105-C734BA06F314}"/>
              </a:ext>
            </a:extLst>
          </p:cNvPr>
          <p:cNvSpPr txBox="1"/>
          <p:nvPr>
            <p:custDataLst>
              <p:tags r:id="rId22"/>
            </p:custDataLst>
          </p:nvPr>
        </p:nvSpPr>
        <p:spPr>
          <a:xfrm>
            <a:off x="3529767" y="3242311"/>
            <a:ext cx="569387" cy="207749"/>
          </a:xfrm>
          <a:prstGeom prst="rect">
            <a:avLst/>
          </a:prstGeom>
          <a:noFill/>
        </p:spPr>
        <p:txBody>
          <a:bodyPr wrap="none" rtlCol="0">
            <a:spAutoFit/>
          </a:bodyPr>
          <a:lstStyle/>
          <a:p>
            <a:pPr algn="l"/>
            <a:r>
              <a:rPr lang="zh-CN" altLang="en-US" sz="750">
                <a:solidFill>
                  <a:srgbClr val="E8F0F9"/>
                </a:solidFill>
                <a:latin typeface="微软雅黑" panose="020B0503020204020204" pitchFamily="34" charset="-122"/>
                <a:ea typeface="微软雅黑" panose="020B0503020204020204" pitchFamily="34" charset="-122"/>
                <a:sym typeface="+mn-ea"/>
              </a:rPr>
              <a:t>心房扑动</a:t>
            </a:r>
          </a:p>
        </p:txBody>
      </p:sp>
      <p:sp>
        <p:nvSpPr>
          <p:cNvPr id="31" name="文本框 30">
            <a:extLst>
              <a:ext uri="{FF2B5EF4-FFF2-40B4-BE49-F238E27FC236}">
                <a16:creationId xmlns:a16="http://schemas.microsoft.com/office/drawing/2014/main" id="{F3AF66F0-BCC9-0239-6492-7D33DD2DBBAE}"/>
              </a:ext>
            </a:extLst>
          </p:cNvPr>
          <p:cNvSpPr txBox="1"/>
          <p:nvPr>
            <p:custDataLst>
              <p:tags r:id="rId23"/>
            </p:custDataLst>
          </p:nvPr>
        </p:nvSpPr>
        <p:spPr>
          <a:xfrm>
            <a:off x="4336217" y="3434399"/>
            <a:ext cx="723275" cy="253916"/>
          </a:xfrm>
          <a:prstGeom prst="rect">
            <a:avLst/>
          </a:prstGeom>
          <a:noFill/>
        </p:spPr>
        <p:txBody>
          <a:bodyPr wrap="none" rtlCol="0">
            <a:spAutoFit/>
          </a:bodyPr>
          <a:lstStyle/>
          <a:p>
            <a:pPr algn="l"/>
            <a:r>
              <a:rPr lang="zh-CN" altLang="en-US" sz="1050">
                <a:solidFill>
                  <a:schemeClr val="bg1"/>
                </a:solidFill>
                <a:latin typeface="微软雅黑" panose="020B0503020204020204" pitchFamily="34" charset="-122"/>
                <a:ea typeface="微软雅黑" panose="020B0503020204020204" pitchFamily="34" charset="-122"/>
              </a:rPr>
              <a:t>心室颤动</a:t>
            </a:r>
          </a:p>
        </p:txBody>
      </p:sp>
      <p:cxnSp>
        <p:nvCxnSpPr>
          <p:cNvPr id="32" name="直接箭头连接符 31">
            <a:extLst>
              <a:ext uri="{FF2B5EF4-FFF2-40B4-BE49-F238E27FC236}">
                <a16:creationId xmlns:a16="http://schemas.microsoft.com/office/drawing/2014/main" id="{5ACB66B6-8A71-B3D7-A124-9D8953AE4E4A}"/>
              </a:ext>
            </a:extLst>
          </p:cNvPr>
          <p:cNvCxnSpPr/>
          <p:nvPr>
            <p:custDataLst>
              <p:tags r:id="rId24"/>
            </p:custDataLst>
          </p:nvPr>
        </p:nvCxnSpPr>
        <p:spPr>
          <a:xfrm>
            <a:off x="5332908" y="2833700"/>
            <a:ext cx="995363" cy="13335"/>
          </a:xfrm>
          <a:prstGeom prst="straightConnector1">
            <a:avLst/>
          </a:prstGeom>
          <a:ln w="41275">
            <a:gradFill>
              <a:gsLst>
                <a:gs pos="0">
                  <a:schemeClr val="accent1">
                    <a:lumMod val="5000"/>
                    <a:lumOff val="95000"/>
                  </a:schemeClr>
                </a:gs>
                <a:gs pos="100000">
                  <a:srgbClr val="2A86DC"/>
                </a:gs>
              </a:gsLst>
              <a:lin ang="180000" scaled="1"/>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58660E3-DBDF-23D7-3A22-DFFDD7C063B0}"/>
              </a:ext>
            </a:extLst>
          </p:cNvPr>
          <p:cNvCxnSpPr/>
          <p:nvPr>
            <p:custDataLst>
              <p:tags r:id="rId25"/>
            </p:custDataLst>
          </p:nvPr>
        </p:nvCxnSpPr>
        <p:spPr>
          <a:xfrm>
            <a:off x="5318619" y="3117545"/>
            <a:ext cx="1009650" cy="2381"/>
          </a:xfrm>
          <a:prstGeom prst="straightConnector1">
            <a:avLst/>
          </a:prstGeom>
          <a:ln w="41275">
            <a:gradFill>
              <a:gsLst>
                <a:gs pos="0">
                  <a:schemeClr val="accent1">
                    <a:lumMod val="5000"/>
                    <a:lumOff val="95000"/>
                  </a:schemeClr>
                </a:gs>
                <a:gs pos="100000">
                  <a:srgbClr val="2A86DC"/>
                </a:gs>
              </a:gsLst>
              <a:lin ang="10860000" scaled="1"/>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TextBox 35">
            <a:extLst>
              <a:ext uri="{FF2B5EF4-FFF2-40B4-BE49-F238E27FC236}">
                <a16:creationId xmlns:a16="http://schemas.microsoft.com/office/drawing/2014/main" id="{6E7F2AF7-F73D-6263-C060-8FF725DCBF1D}"/>
              </a:ext>
            </a:extLst>
          </p:cNvPr>
          <p:cNvSpPr txBox="1"/>
          <p:nvPr>
            <p:custDataLst>
              <p:tags r:id="rId26"/>
            </p:custDataLst>
          </p:nvPr>
        </p:nvSpPr>
        <p:spPr>
          <a:xfrm>
            <a:off x="5427166" y="2512707"/>
            <a:ext cx="857927" cy="253916"/>
          </a:xfrm>
          <a:prstGeom prst="rect">
            <a:avLst/>
          </a:prstGeom>
          <a:noFill/>
        </p:spPr>
        <p:txBody>
          <a:bodyPr wrap="none" rtlCol="0">
            <a:spAutoFit/>
          </a:bodyPr>
          <a:lstStyle/>
          <a:p>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置性度分级</a:t>
            </a:r>
          </a:p>
        </p:txBody>
      </p:sp>
      <p:sp>
        <p:nvSpPr>
          <p:cNvPr id="35" name="TextBox 37">
            <a:extLst>
              <a:ext uri="{FF2B5EF4-FFF2-40B4-BE49-F238E27FC236}">
                <a16:creationId xmlns:a16="http://schemas.microsoft.com/office/drawing/2014/main" id="{CA31BB36-9159-7F46-8DBC-7355114898DE}"/>
              </a:ext>
            </a:extLst>
          </p:cNvPr>
          <p:cNvSpPr txBox="1"/>
          <p:nvPr>
            <p:custDataLst>
              <p:tags r:id="rId27"/>
            </p:custDataLst>
          </p:nvPr>
        </p:nvSpPr>
        <p:spPr>
          <a:xfrm>
            <a:off x="5491975" y="3242322"/>
            <a:ext cx="723275" cy="269817"/>
          </a:xfrm>
          <a:prstGeom prst="rect">
            <a:avLst/>
          </a:prstGeom>
          <a:noFill/>
        </p:spPr>
        <p:txBody>
          <a:bodyPr wrap="none" rtlCol="0">
            <a:spAutoFit/>
          </a:bodyPr>
          <a:lstStyle/>
          <a:p>
            <a:pPr>
              <a:lnSpc>
                <a:spcPct val="120000"/>
              </a:lnSpc>
            </a:pP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分析结果</a:t>
            </a:r>
          </a:p>
        </p:txBody>
      </p:sp>
      <p:sp>
        <p:nvSpPr>
          <p:cNvPr id="36" name="矩形: 圆角 53">
            <a:extLst>
              <a:ext uri="{FF2B5EF4-FFF2-40B4-BE49-F238E27FC236}">
                <a16:creationId xmlns:a16="http://schemas.microsoft.com/office/drawing/2014/main" id="{F8596BED-3B58-B04D-3D2B-D4587E1ACDCF}"/>
              </a:ext>
            </a:extLst>
          </p:cNvPr>
          <p:cNvSpPr/>
          <p:nvPr/>
        </p:nvSpPr>
        <p:spPr>
          <a:xfrm>
            <a:off x="6504900" y="3079750"/>
            <a:ext cx="2002155" cy="721995"/>
          </a:xfrm>
          <a:prstGeom prst="round2SameRect">
            <a:avLst>
              <a:gd name="adj1" fmla="val 0"/>
              <a:gd name="adj2" fmla="val 16319"/>
            </a:avLst>
          </a:prstGeom>
          <a:solidFill>
            <a:srgbClr val="2A86DC"/>
          </a:solidFill>
          <a:ln>
            <a:noFill/>
          </a:ln>
        </p:spPr>
        <p:style>
          <a:lnRef idx="0">
            <a:scrgbClr r="0" g="0" b="0"/>
          </a:lnRef>
          <a:fillRef idx="0">
            <a:scrgbClr r="0" g="0" b="0"/>
          </a:fillRef>
          <a:effectRef idx="0">
            <a:scrgbClr r="0" g="0" b="0"/>
          </a:effectRef>
          <a:fontRef idx="minor">
            <a:schemeClr val="lt1"/>
          </a:fontRef>
        </p:style>
        <p:txBody>
          <a:bodyPr tIns="107950" rtlCol="0" anchor="t"/>
          <a:lstStyle/>
          <a:p>
            <a:r>
              <a:rPr lang="zh-CN" altLang="en-US" sz="1050" b="1" dirty="0">
                <a:solidFill>
                  <a:schemeClr val="bg1"/>
                </a:solidFill>
                <a:latin typeface="微软雅黑" panose="020B0503020204020204" pitchFamily="34" charset="-122"/>
                <a:ea typeface="微软雅黑" panose="020B0503020204020204" pitchFamily="34" charset="-122"/>
              </a:rPr>
              <a:t>          中、低置信度医生解读</a:t>
            </a:r>
            <a:endParaRPr lang="zh-CN" altLang="en-US" sz="1050" b="1" dirty="0">
              <a:solidFill>
                <a:schemeClr val="bg1"/>
              </a:solidFill>
              <a:latin typeface="微软雅黑" panose="020B0503020204020204" pitchFamily="34" charset="-122"/>
              <a:ea typeface="微软雅黑" panose="020B0503020204020204" pitchFamily="34" charset="-122"/>
              <a:hlinkClick r:id="rId40"/>
            </a:endParaRPr>
          </a:p>
        </p:txBody>
      </p:sp>
      <p:sp>
        <p:nvSpPr>
          <p:cNvPr id="37" name="矩形: 圆角 25">
            <a:extLst>
              <a:ext uri="{FF2B5EF4-FFF2-40B4-BE49-F238E27FC236}">
                <a16:creationId xmlns:a16="http://schemas.microsoft.com/office/drawing/2014/main" id="{53BE0016-E253-2D9D-A781-1B3BB9279BCC}"/>
              </a:ext>
            </a:extLst>
          </p:cNvPr>
          <p:cNvSpPr/>
          <p:nvPr/>
        </p:nvSpPr>
        <p:spPr>
          <a:xfrm>
            <a:off x="7114906" y="3436092"/>
            <a:ext cx="1241369" cy="213310"/>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rgbClr val="2A86DC"/>
                </a:solidFill>
                <a:latin typeface="微软雅黑" panose="020B0503020204020204" pitchFamily="34" charset="-122"/>
                <a:ea typeface="微软雅黑" panose="020B0503020204020204" pitchFamily="34" charset="-122"/>
              </a:rPr>
              <a:t>桌面终端</a:t>
            </a:r>
            <a:r>
              <a:rPr lang="en-US" altLang="zh-CN" sz="900" dirty="0">
                <a:solidFill>
                  <a:srgbClr val="2A86DC"/>
                </a:solidFill>
                <a:latin typeface="微软雅黑" panose="020B0503020204020204" pitchFamily="34" charset="-122"/>
                <a:ea typeface="微软雅黑" panose="020B0503020204020204" pitchFamily="34" charset="-122"/>
              </a:rPr>
              <a:t>+</a:t>
            </a:r>
            <a:r>
              <a:rPr lang="zh-CN" altLang="en-US" sz="900" dirty="0">
                <a:solidFill>
                  <a:srgbClr val="2A86DC"/>
                </a:solidFill>
                <a:latin typeface="微软雅黑" panose="020B0503020204020204" pitchFamily="34" charset="-122"/>
                <a:ea typeface="微软雅黑" panose="020B0503020204020204" pitchFamily="34" charset="-122"/>
              </a:rPr>
              <a:t>医生服务</a:t>
            </a:r>
          </a:p>
        </p:txBody>
      </p:sp>
      <p:pic>
        <p:nvPicPr>
          <p:cNvPr id="38" name="图片 37">
            <a:extLst>
              <a:ext uri="{FF2B5EF4-FFF2-40B4-BE49-F238E27FC236}">
                <a16:creationId xmlns:a16="http://schemas.microsoft.com/office/drawing/2014/main" id="{5CFD44E8-4385-E76A-7B8F-1CB8086C6682}"/>
              </a:ext>
            </a:extLst>
          </p:cNvPr>
          <p:cNvPicPr>
            <a:picLocks noChangeAspect="1"/>
          </p:cNvPicPr>
          <p:nvPr>
            <p:custDataLst>
              <p:tags r:id="rId28"/>
            </p:custDataLst>
          </p:nvPr>
        </p:nvPicPr>
        <p:blipFill>
          <a:blip r:embed="rId41" cstate="print">
            <a:biLevel thresh="25000"/>
            <a:extLst>
              <a:ext uri="{28A0092B-C50C-407E-A947-70E740481C1C}">
                <a14:useLocalDpi xmlns:a14="http://schemas.microsoft.com/office/drawing/2010/main" val="0"/>
              </a:ext>
            </a:extLst>
          </a:blip>
          <a:stretch>
            <a:fillRect/>
          </a:stretch>
        </p:blipFill>
        <p:spPr>
          <a:xfrm>
            <a:off x="6611800" y="3241627"/>
            <a:ext cx="396215" cy="396215"/>
          </a:xfrm>
          <a:prstGeom prst="rect">
            <a:avLst/>
          </a:prstGeom>
        </p:spPr>
      </p:pic>
      <p:sp>
        <p:nvSpPr>
          <p:cNvPr id="39" name="矩形: 圆角 31">
            <a:extLst>
              <a:ext uri="{FF2B5EF4-FFF2-40B4-BE49-F238E27FC236}">
                <a16:creationId xmlns:a16="http://schemas.microsoft.com/office/drawing/2014/main" id="{26702563-1D6D-4AF9-03E0-29FD86A89160}"/>
              </a:ext>
            </a:extLst>
          </p:cNvPr>
          <p:cNvSpPr/>
          <p:nvPr/>
        </p:nvSpPr>
        <p:spPr>
          <a:xfrm>
            <a:off x="6506805" y="2254250"/>
            <a:ext cx="1995170" cy="733425"/>
          </a:xfrm>
          <a:prstGeom prst="round2SameRect">
            <a:avLst>
              <a:gd name="adj1" fmla="val 27832"/>
              <a:gd name="adj2" fmla="val 0"/>
            </a:avLst>
          </a:prstGeom>
          <a:solidFill>
            <a:srgbClr val="29B6DC"/>
          </a:solidFill>
          <a:ln w="6350" cap="flat" cmpd="sng" algn="ctr">
            <a:noFill/>
            <a:prstDash val="solid"/>
            <a:miter lim="800000"/>
          </a:ln>
          <a:effectLst/>
        </p:spPr>
        <p:txBody>
          <a:bodyPr rtlCol="0" anchor="ctr"/>
          <a:lstStyle/>
          <a:p>
            <a:r>
              <a:rPr lang="zh-CN" altLang="en-US" sz="900" b="1" kern="0" dirty="0">
                <a:solidFill>
                  <a:prstClr val="white"/>
                </a:solidFill>
                <a:latin typeface="微软雅黑" panose="020B0503020204020204" pitchFamily="34" charset="-122"/>
                <a:ea typeface="等线" panose="02010600030101010101" charset="-122"/>
              </a:rPr>
              <a:t>              </a:t>
            </a:r>
            <a:r>
              <a:rPr lang="zh-CN" altLang="en-US" sz="900" b="1" kern="0" dirty="0">
                <a:solidFill>
                  <a:schemeClr val="bg1"/>
                </a:solidFill>
                <a:latin typeface="微软雅黑" panose="020B0503020204020204" pitchFamily="34" charset="-122"/>
                <a:ea typeface="等线" panose="02010600030101010101" charset="-122"/>
              </a:rPr>
              <a:t>  </a:t>
            </a:r>
            <a:r>
              <a:rPr lang="zh-CN" altLang="en-US" sz="1050" b="1" kern="0" dirty="0">
                <a:solidFill>
                  <a:schemeClr val="bg1"/>
                </a:solidFill>
                <a:latin typeface="微软雅黑" panose="020B0503020204020204" pitchFamily="34" charset="-122"/>
                <a:ea typeface="微软雅黑" panose="020B0503020204020204" pitchFamily="34" charset="-122"/>
              </a:rPr>
              <a:t>高</a:t>
            </a:r>
            <a:r>
              <a:rPr lang="zh-CN" altLang="en-US" sz="1050" b="1" dirty="0">
                <a:solidFill>
                  <a:schemeClr val="bg1"/>
                </a:solidFill>
                <a:latin typeface="微软雅黑" panose="020B0503020204020204" pitchFamily="34" charset="-122"/>
                <a:ea typeface="微软雅黑" panose="020B0503020204020204" pitchFamily="34" charset="-122"/>
              </a:rPr>
              <a:t>置信度</a:t>
            </a:r>
            <a:r>
              <a:rPr lang="zh-CN" altLang="en-US" sz="1050" b="1" dirty="0">
                <a:solidFill>
                  <a:srgbClr val="FFC000"/>
                </a:solidFill>
                <a:latin typeface="微软雅黑" panose="020B0503020204020204" pitchFamily="34" charset="-122"/>
                <a:ea typeface="微软雅黑" panose="020B0503020204020204" pitchFamily="34" charset="-122"/>
              </a:rPr>
              <a:t>一键审核</a:t>
            </a:r>
            <a:endParaRPr lang="en-US" altLang="zh-CN" sz="1050" b="1" dirty="0">
              <a:solidFill>
                <a:srgbClr val="FF0000"/>
              </a:solidFill>
              <a:latin typeface="微软雅黑" panose="020B0503020204020204" pitchFamily="34" charset="-122"/>
              <a:ea typeface="微软雅黑" panose="020B0503020204020204" pitchFamily="34" charset="-122"/>
            </a:endParaRPr>
          </a:p>
          <a:p>
            <a:r>
              <a:rPr lang="zh-CN" altLang="en-US" sz="1050" kern="0" dirty="0">
                <a:latin typeface="+mj-ea"/>
                <a:ea typeface="+mj-ea"/>
              </a:rPr>
              <a:t>           </a:t>
            </a:r>
            <a:endParaRPr lang="en-US" altLang="zh-CN" sz="1050" kern="0" dirty="0">
              <a:latin typeface="+mj-ea"/>
              <a:ea typeface="+mj-ea"/>
            </a:endParaRPr>
          </a:p>
          <a:p>
            <a:r>
              <a:rPr lang="en-US" altLang="zh-CN" sz="825" kern="0" dirty="0">
                <a:solidFill>
                  <a:prstClr val="white"/>
                </a:solidFill>
                <a:latin typeface="微软雅黑" panose="020B0503020204020204" pitchFamily="34" charset="-122"/>
                <a:ea typeface="等线" panose="02010600030101010101" charset="-122"/>
              </a:rPr>
              <a:t>           </a:t>
            </a:r>
            <a:endParaRPr lang="zh-CN" altLang="en-US" sz="1350" kern="0" dirty="0">
              <a:solidFill>
                <a:prstClr val="white"/>
              </a:solidFill>
              <a:latin typeface="微软雅黑" panose="020B0503020204020204" pitchFamily="34" charset="-122"/>
              <a:ea typeface="等线" panose="02010600030101010101" charset="-122"/>
              <a:hlinkClick r:id="rId40"/>
            </a:endParaRPr>
          </a:p>
        </p:txBody>
      </p:sp>
      <p:pic>
        <p:nvPicPr>
          <p:cNvPr id="40" name="图片 39">
            <a:extLst>
              <a:ext uri="{FF2B5EF4-FFF2-40B4-BE49-F238E27FC236}">
                <a16:creationId xmlns:a16="http://schemas.microsoft.com/office/drawing/2014/main" id="{A9221219-99C4-A058-757E-7873903C9EE9}"/>
              </a:ext>
            </a:extLst>
          </p:cNvPr>
          <p:cNvPicPr>
            <a:picLocks noChangeAspect="1"/>
          </p:cNvPicPr>
          <p:nvPr>
            <p:custDataLst>
              <p:tags r:id="rId29"/>
            </p:custDataLst>
          </p:nvPr>
        </p:nvPicPr>
        <p:blipFill>
          <a:blip r:embed="rId42" cstate="print">
            <a:extLst>
              <a:ext uri="{28A0092B-C50C-407E-A947-70E740481C1C}">
                <a14:useLocalDpi xmlns:a14="http://schemas.microsoft.com/office/drawing/2010/main" val="0"/>
              </a:ext>
            </a:extLst>
          </a:blip>
          <a:stretch>
            <a:fillRect/>
          </a:stretch>
        </p:blipFill>
        <p:spPr>
          <a:xfrm>
            <a:off x="6611735" y="2386012"/>
            <a:ext cx="396345" cy="396345"/>
          </a:xfrm>
          <a:prstGeom prst="rect">
            <a:avLst/>
          </a:prstGeom>
        </p:spPr>
      </p:pic>
      <p:sp>
        <p:nvSpPr>
          <p:cNvPr id="41" name="矩形: 圆角 25">
            <a:extLst>
              <a:ext uri="{FF2B5EF4-FFF2-40B4-BE49-F238E27FC236}">
                <a16:creationId xmlns:a16="http://schemas.microsoft.com/office/drawing/2014/main" id="{30B19C68-2C9C-63CF-CA1E-77C2BA6339C9}"/>
              </a:ext>
            </a:extLst>
          </p:cNvPr>
          <p:cNvSpPr/>
          <p:nvPr/>
        </p:nvSpPr>
        <p:spPr>
          <a:xfrm>
            <a:off x="7097272" y="2620822"/>
            <a:ext cx="1241369" cy="213310"/>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rgbClr val="29B6DC"/>
                </a:solidFill>
                <a:latin typeface="微软雅黑" panose="020B0503020204020204" pitchFamily="34" charset="-122"/>
                <a:ea typeface="微软雅黑" panose="020B0503020204020204" pitchFamily="34" charset="-122"/>
              </a:rPr>
              <a:t>桌面终端</a:t>
            </a:r>
            <a:r>
              <a:rPr lang="en-US" altLang="zh-CN" sz="900" dirty="0">
                <a:solidFill>
                  <a:srgbClr val="29B6DC"/>
                </a:solidFill>
                <a:latin typeface="微软雅黑" panose="020B0503020204020204" pitchFamily="34" charset="-122"/>
                <a:ea typeface="微软雅黑" panose="020B0503020204020204" pitchFamily="34" charset="-122"/>
              </a:rPr>
              <a:t>+</a:t>
            </a:r>
            <a:r>
              <a:rPr lang="zh-CN" altLang="en-US" sz="900" dirty="0">
                <a:solidFill>
                  <a:srgbClr val="29B6DC"/>
                </a:solidFill>
                <a:latin typeface="微软雅黑" panose="020B0503020204020204" pitchFamily="34" charset="-122"/>
                <a:ea typeface="微软雅黑" panose="020B0503020204020204" pitchFamily="34" charset="-122"/>
              </a:rPr>
              <a:t>医生服务</a:t>
            </a:r>
          </a:p>
        </p:txBody>
      </p:sp>
      <p:sp>
        <p:nvSpPr>
          <p:cNvPr id="42" name="文本框 41">
            <a:extLst>
              <a:ext uri="{FF2B5EF4-FFF2-40B4-BE49-F238E27FC236}">
                <a16:creationId xmlns:a16="http://schemas.microsoft.com/office/drawing/2014/main" id="{92272A3F-02F0-6369-CACF-E82F3B2E0298}"/>
              </a:ext>
            </a:extLst>
          </p:cNvPr>
          <p:cNvSpPr txBox="1"/>
          <p:nvPr/>
        </p:nvSpPr>
        <p:spPr>
          <a:xfrm>
            <a:off x="328306" y="1064133"/>
            <a:ext cx="8444219" cy="516745"/>
          </a:xfrm>
          <a:prstGeom prst="rect">
            <a:avLst/>
          </a:prstGeom>
          <a:noFill/>
        </p:spPr>
        <p:txBody>
          <a:bodyPr wrap="square" rtlCol="0" anchor="t">
            <a:spAutoFit/>
          </a:bodyPr>
          <a:lstStyle/>
          <a:p>
            <a:pPr>
              <a:lnSpc>
                <a:spcPct val="120000"/>
              </a:lnSpc>
              <a:defRPr/>
            </a:pPr>
            <a:r>
              <a:rPr kumimoji="1"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心电设备数据上传后，通过心电大脑</a:t>
            </a:r>
            <a:r>
              <a:rPr kumimoji="1"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kumimoji="1"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解读后，进行置信度分级，高置信度的检查单可由医生一键审核通过，动态心电也可快速出结论，提高工作效率，中低置信度检查单由医生判断分析后，心电大脑进行总结，提升完善后续建设能力。</a:t>
            </a:r>
            <a:endParaRPr kumimoji="1"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3" name="图片 42" descr="123DA516-2E0B-4D86-BDA8-E5542DB50017-1282-00000028CFB320BF">
            <a:extLst>
              <a:ext uri="{FF2B5EF4-FFF2-40B4-BE49-F238E27FC236}">
                <a16:creationId xmlns:a16="http://schemas.microsoft.com/office/drawing/2014/main" id="{B88F7E92-50E1-B46A-3CF3-EBED414095B9}"/>
              </a:ext>
            </a:extLst>
          </p:cNvPr>
          <p:cNvPicPr>
            <a:picLocks noChangeAspect="1"/>
          </p:cNvPicPr>
          <p:nvPr>
            <p:custDataLst>
              <p:tags r:id="rId30"/>
            </p:custDataLst>
          </p:nvPr>
        </p:nvPicPr>
        <p:blipFill>
          <a:blip r:embed="rId43"/>
          <a:stretch>
            <a:fillRect/>
          </a:stretch>
        </p:blipFill>
        <p:spPr>
          <a:xfrm rot="16200000">
            <a:off x="985414" y="1902921"/>
            <a:ext cx="413903" cy="735884"/>
          </a:xfrm>
          <a:prstGeom prst="rect">
            <a:avLst/>
          </a:prstGeom>
        </p:spPr>
      </p:pic>
      <p:pic>
        <p:nvPicPr>
          <p:cNvPr id="44" name="Picture 3" descr="C:\Users\Administrator\Desktop\609不带音插.png">
            <a:extLst>
              <a:ext uri="{FF2B5EF4-FFF2-40B4-BE49-F238E27FC236}">
                <a16:creationId xmlns:a16="http://schemas.microsoft.com/office/drawing/2014/main" id="{FBA9A065-8ED2-447C-423C-AB60E2E39C8B}"/>
              </a:ext>
            </a:extLst>
          </p:cNvPr>
          <p:cNvPicPr>
            <a:picLocks noChangeAspect="1" noChangeArrowheads="1"/>
          </p:cNvPicPr>
          <p:nvPr>
            <p:custDataLst>
              <p:tags r:id="rId31"/>
            </p:custDataLst>
          </p:nvPr>
        </p:nvPicPr>
        <p:blipFill>
          <a:blip r:embed="rId44" cstate="print"/>
          <a:srcRect l="15348" t="9864" r="3506" b="12574"/>
          <a:stretch>
            <a:fillRect/>
          </a:stretch>
        </p:blipFill>
        <p:spPr bwMode="auto">
          <a:xfrm rot="240000">
            <a:off x="845116" y="3803281"/>
            <a:ext cx="797904" cy="492921"/>
          </a:xfrm>
          <a:prstGeom prst="rect">
            <a:avLst/>
          </a:prstGeom>
          <a:noFill/>
        </p:spPr>
      </p:pic>
      <p:pic>
        <p:nvPicPr>
          <p:cNvPr id="45" name="图片 44">
            <a:extLst>
              <a:ext uri="{FF2B5EF4-FFF2-40B4-BE49-F238E27FC236}">
                <a16:creationId xmlns:a16="http://schemas.microsoft.com/office/drawing/2014/main" id="{DF15057F-9EAE-E15A-0CF1-94B470CCB95B}"/>
              </a:ext>
            </a:extLst>
          </p:cNvPr>
          <p:cNvPicPr/>
          <p:nvPr>
            <p:custDataLst>
              <p:tags r:id="rId32"/>
            </p:custDataLst>
          </p:nvPr>
        </p:nvPicPr>
        <p:blipFill>
          <a:blip r:embed="rId45"/>
          <a:stretch>
            <a:fillRect/>
          </a:stretch>
        </p:blipFill>
        <p:spPr>
          <a:xfrm>
            <a:off x="3845520" y="3747770"/>
            <a:ext cx="651510" cy="651510"/>
          </a:xfrm>
          <a:prstGeom prst="rect">
            <a:avLst/>
          </a:prstGeom>
          <a:noFill/>
          <a:ln w="9525">
            <a:noFill/>
          </a:ln>
        </p:spPr>
      </p:pic>
    </p:spTree>
    <p:extLst>
      <p:ext uri="{BB962C8B-B14F-4D97-AF65-F5344CB8AC3E}">
        <p14:creationId xmlns:p14="http://schemas.microsoft.com/office/powerpoint/2010/main" val="2668938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54A4B-DAF8-1C06-5F14-2FA0316FA4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AA2D7D7-9579-B29A-670A-5B426C057FD7}"/>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预警服务中心</a:t>
            </a:r>
          </a:p>
        </p:txBody>
      </p:sp>
      <p:sp>
        <p:nvSpPr>
          <p:cNvPr id="3" name="圆角矩形 21">
            <a:extLst>
              <a:ext uri="{FF2B5EF4-FFF2-40B4-BE49-F238E27FC236}">
                <a16:creationId xmlns:a16="http://schemas.microsoft.com/office/drawing/2014/main" id="{7C1BBF55-9478-8416-87E4-EE7FBF271286}"/>
              </a:ext>
            </a:extLst>
          </p:cNvPr>
          <p:cNvSpPr/>
          <p:nvPr/>
        </p:nvSpPr>
        <p:spPr>
          <a:xfrm>
            <a:off x="531495" y="902970"/>
            <a:ext cx="3814445" cy="1894205"/>
          </a:xfrm>
          <a:prstGeom prst="roundRect">
            <a:avLst>
              <a:gd name="adj" fmla="val 13476"/>
            </a:avLst>
          </a:prstGeom>
          <a:solidFill>
            <a:srgbClr val="2A86DC">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4" name="圆角矩形 62">
            <a:extLst>
              <a:ext uri="{FF2B5EF4-FFF2-40B4-BE49-F238E27FC236}">
                <a16:creationId xmlns:a16="http://schemas.microsoft.com/office/drawing/2014/main" id="{D97617FC-9CD2-5F03-53D9-D472B20939C2}"/>
              </a:ext>
            </a:extLst>
          </p:cNvPr>
          <p:cNvSpPr/>
          <p:nvPr/>
        </p:nvSpPr>
        <p:spPr>
          <a:xfrm>
            <a:off x="738505" y="1588770"/>
            <a:ext cx="1046480" cy="9886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圆角矩形 59">
            <a:extLst>
              <a:ext uri="{FF2B5EF4-FFF2-40B4-BE49-F238E27FC236}">
                <a16:creationId xmlns:a16="http://schemas.microsoft.com/office/drawing/2014/main" id="{B0160659-61D4-BFA3-996B-BEDE7526E77A}"/>
              </a:ext>
            </a:extLst>
          </p:cNvPr>
          <p:cNvSpPr/>
          <p:nvPr/>
        </p:nvSpPr>
        <p:spPr>
          <a:xfrm>
            <a:off x="3161665" y="1588770"/>
            <a:ext cx="1046480" cy="9886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圆角矩形 57">
            <a:extLst>
              <a:ext uri="{FF2B5EF4-FFF2-40B4-BE49-F238E27FC236}">
                <a16:creationId xmlns:a16="http://schemas.microsoft.com/office/drawing/2014/main" id="{6BD2A6CA-F230-D3BE-B371-D43EFBE77D56}"/>
              </a:ext>
            </a:extLst>
          </p:cNvPr>
          <p:cNvSpPr/>
          <p:nvPr/>
        </p:nvSpPr>
        <p:spPr>
          <a:xfrm>
            <a:off x="1932940" y="1588770"/>
            <a:ext cx="1046480" cy="9886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D63BD4DD-5AFD-4DAA-BC74-D4EE0DB2262E}"/>
              </a:ext>
            </a:extLst>
          </p:cNvPr>
          <p:cNvSpPr/>
          <p:nvPr/>
        </p:nvSpPr>
        <p:spPr>
          <a:xfrm>
            <a:off x="2193290" y="1635125"/>
            <a:ext cx="525780" cy="525780"/>
          </a:xfrm>
          <a:prstGeom prst="ellipse">
            <a:avLst/>
          </a:prstGeom>
          <a:solidFill>
            <a:srgbClr val="29B6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圆角矩形 84">
            <a:extLst>
              <a:ext uri="{FF2B5EF4-FFF2-40B4-BE49-F238E27FC236}">
                <a16:creationId xmlns:a16="http://schemas.microsoft.com/office/drawing/2014/main" id="{C4BF3BE6-D84C-E2A7-A98B-53A095B75001}"/>
              </a:ext>
            </a:extLst>
          </p:cNvPr>
          <p:cNvSpPr/>
          <p:nvPr/>
        </p:nvSpPr>
        <p:spPr>
          <a:xfrm>
            <a:off x="531495" y="3223260"/>
            <a:ext cx="3814445" cy="1696720"/>
          </a:xfrm>
          <a:prstGeom prst="roundRect">
            <a:avLst>
              <a:gd name="adj" fmla="val 9730"/>
            </a:avLst>
          </a:prstGeom>
          <a:solidFill>
            <a:srgbClr val="C2EA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9" name="圆角矩形 13">
            <a:extLst>
              <a:ext uri="{FF2B5EF4-FFF2-40B4-BE49-F238E27FC236}">
                <a16:creationId xmlns:a16="http://schemas.microsoft.com/office/drawing/2014/main" id="{7DADFA0F-B93E-8EC8-65B8-8C7D4DFA256F}"/>
              </a:ext>
            </a:extLst>
          </p:cNvPr>
          <p:cNvSpPr/>
          <p:nvPr/>
        </p:nvSpPr>
        <p:spPr>
          <a:xfrm>
            <a:off x="1374775" y="3642360"/>
            <a:ext cx="2870835" cy="316865"/>
          </a:xfrm>
          <a:prstGeom prst="roundRect">
            <a:avLst/>
          </a:prstGeom>
          <a:solidFill>
            <a:schemeClr val="bg1"/>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a:p>
        </p:txBody>
      </p:sp>
      <p:sp>
        <p:nvSpPr>
          <p:cNvPr id="10" name="圆角矩形 110">
            <a:extLst>
              <a:ext uri="{FF2B5EF4-FFF2-40B4-BE49-F238E27FC236}">
                <a16:creationId xmlns:a16="http://schemas.microsoft.com/office/drawing/2014/main" id="{90878888-1900-032E-9826-7600FE664CFC}"/>
              </a:ext>
            </a:extLst>
          </p:cNvPr>
          <p:cNvSpPr/>
          <p:nvPr/>
        </p:nvSpPr>
        <p:spPr>
          <a:xfrm>
            <a:off x="4764405" y="906145"/>
            <a:ext cx="1739265" cy="4027805"/>
          </a:xfrm>
          <a:prstGeom prst="roundRect">
            <a:avLst>
              <a:gd name="adj" fmla="val 7796"/>
            </a:avLst>
          </a:prstGeom>
          <a:solidFill>
            <a:srgbClr val="5A85E7">
              <a:alpha val="25000"/>
            </a:srgb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圆角矩形 6">
            <a:extLst>
              <a:ext uri="{FF2B5EF4-FFF2-40B4-BE49-F238E27FC236}">
                <a16:creationId xmlns:a16="http://schemas.microsoft.com/office/drawing/2014/main" id="{C7262F7B-AC74-1F6A-BA55-AC2FEAB45DB2}"/>
              </a:ext>
            </a:extLst>
          </p:cNvPr>
          <p:cNvSpPr/>
          <p:nvPr/>
        </p:nvSpPr>
        <p:spPr>
          <a:xfrm>
            <a:off x="4838700" y="1236345"/>
            <a:ext cx="1611630" cy="568960"/>
          </a:xfrm>
          <a:prstGeom prst="roundRect">
            <a:avLst>
              <a:gd name="adj" fmla="val 10602"/>
            </a:avLst>
          </a:prstGeom>
          <a:solidFill>
            <a:schemeClr val="bg1"/>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FF0000"/>
                </a:solidFill>
                <a:latin typeface="微软雅黑" panose="020B0503020204020204" pitchFamily="34" charset="-122"/>
                <a:ea typeface="微软雅黑" panose="020B0503020204020204" pitchFamily="34" charset="-122"/>
              </a:rPr>
              <a:t>病情预警</a:t>
            </a:r>
          </a:p>
        </p:txBody>
      </p:sp>
      <p:sp>
        <p:nvSpPr>
          <p:cNvPr id="12" name="文本框 11">
            <a:extLst>
              <a:ext uri="{FF2B5EF4-FFF2-40B4-BE49-F238E27FC236}">
                <a16:creationId xmlns:a16="http://schemas.microsoft.com/office/drawing/2014/main" id="{D2DA74A8-4E8C-2CFA-C6D4-47A0C51CD526}"/>
              </a:ext>
            </a:extLst>
          </p:cNvPr>
          <p:cNvSpPr txBox="1"/>
          <p:nvPr/>
        </p:nvSpPr>
        <p:spPr>
          <a:xfrm>
            <a:off x="4788535" y="1533525"/>
            <a:ext cx="1661795" cy="213995"/>
          </a:xfrm>
          <a:prstGeom prst="rect">
            <a:avLst/>
          </a:prstGeom>
          <a:noFill/>
        </p:spPr>
        <p:txBody>
          <a:bodyPr wrap="square" rtlCol="0">
            <a:spAutoFit/>
          </a:bodyPr>
          <a:lstStyle/>
          <a:p>
            <a:pPr algn="ctr"/>
            <a:r>
              <a:rPr lang="zh-CN" altLang="en-US" sz="800" dirty="0">
                <a:solidFill>
                  <a:srgbClr val="4877AA"/>
                </a:solidFill>
                <a:latin typeface="微软雅黑" panose="020B0503020204020204" pitchFamily="34" charset="-122"/>
                <a:ea typeface="微软雅黑" panose="020B0503020204020204" pitchFamily="34" charset="-122"/>
              </a:rPr>
              <a:t>心率失常、房颤预警、心梗预警</a:t>
            </a:r>
          </a:p>
        </p:txBody>
      </p:sp>
      <p:sp>
        <p:nvSpPr>
          <p:cNvPr id="13" name="圆角矩形 6">
            <a:extLst>
              <a:ext uri="{FF2B5EF4-FFF2-40B4-BE49-F238E27FC236}">
                <a16:creationId xmlns:a16="http://schemas.microsoft.com/office/drawing/2014/main" id="{FDFDCF55-CE88-EB4A-2B48-C0D23964651A}"/>
              </a:ext>
            </a:extLst>
          </p:cNvPr>
          <p:cNvSpPr/>
          <p:nvPr/>
        </p:nvSpPr>
        <p:spPr>
          <a:xfrm>
            <a:off x="4858703" y="1878330"/>
            <a:ext cx="1609090" cy="878840"/>
          </a:xfrm>
          <a:prstGeom prst="roundRect">
            <a:avLst>
              <a:gd name="adj" fmla="val 8273"/>
            </a:avLst>
          </a:prstGeom>
          <a:solidFill>
            <a:schemeClr val="bg1"/>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050" b="1" dirty="0">
                <a:solidFill>
                  <a:srgbClr val="FF0000"/>
                </a:solidFill>
                <a:latin typeface="微软雅黑" panose="020B0503020204020204" pitchFamily="34" charset="-122"/>
                <a:ea typeface="微软雅黑" panose="020B0503020204020204" pitchFamily="34" charset="-122"/>
              </a:rPr>
              <a:t>AI</a:t>
            </a:r>
            <a:r>
              <a:rPr lang="zh-CN" altLang="en-US" sz="1050" b="1" dirty="0">
                <a:solidFill>
                  <a:srgbClr val="FF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危急预警</a:t>
            </a:r>
            <a:endParaRPr lang="en-US" altLang="zh-CN" sz="1050" b="1" dirty="0">
              <a:solidFill>
                <a:srgbClr val="FF00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0A57ACC8-341C-FB2F-1566-6318E973412C}"/>
              </a:ext>
            </a:extLst>
          </p:cNvPr>
          <p:cNvSpPr txBox="1"/>
          <p:nvPr/>
        </p:nvSpPr>
        <p:spPr>
          <a:xfrm>
            <a:off x="4883785" y="2057400"/>
            <a:ext cx="1558925" cy="645160"/>
          </a:xfrm>
          <a:prstGeom prst="rect">
            <a:avLst/>
          </a:prstGeom>
          <a:noFill/>
        </p:spPr>
        <p:txBody>
          <a:bodyPr wrap="square" rtlCol="0">
            <a:spAutoFit/>
          </a:bodyPr>
          <a:lstStyle/>
          <a:p>
            <a:pPr algn="ct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常规静态心电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endPar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单导动态</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静态心电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endPar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动态心电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p>
        </p:txBody>
      </p:sp>
      <p:sp>
        <p:nvSpPr>
          <p:cNvPr id="15" name="圆角矩形 6">
            <a:extLst>
              <a:ext uri="{FF2B5EF4-FFF2-40B4-BE49-F238E27FC236}">
                <a16:creationId xmlns:a16="http://schemas.microsoft.com/office/drawing/2014/main" id="{324C8D8C-7F83-1EB8-719C-261AAA8418C0}"/>
              </a:ext>
            </a:extLst>
          </p:cNvPr>
          <p:cNvSpPr/>
          <p:nvPr/>
        </p:nvSpPr>
        <p:spPr>
          <a:xfrm>
            <a:off x="4848860" y="2830195"/>
            <a:ext cx="1611630" cy="654685"/>
          </a:xfrm>
          <a:prstGeom prst="roundRect">
            <a:avLst>
              <a:gd name="adj" fmla="val 8729"/>
            </a:avLst>
          </a:prstGeom>
          <a:solidFill>
            <a:schemeClr val="bg1"/>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脱落报警</a:t>
            </a:r>
          </a:p>
        </p:txBody>
      </p:sp>
      <p:sp>
        <p:nvSpPr>
          <p:cNvPr id="16" name="文本框 15">
            <a:extLst>
              <a:ext uri="{FF2B5EF4-FFF2-40B4-BE49-F238E27FC236}">
                <a16:creationId xmlns:a16="http://schemas.microsoft.com/office/drawing/2014/main" id="{D032B0C0-9C8D-97B5-BA78-73E0EEA9A053}"/>
              </a:ext>
            </a:extLst>
          </p:cNvPr>
          <p:cNvSpPr txBox="1"/>
          <p:nvPr/>
        </p:nvSpPr>
        <p:spPr>
          <a:xfrm>
            <a:off x="5015230" y="3015615"/>
            <a:ext cx="1278890" cy="460375"/>
          </a:xfrm>
          <a:prstGeom prst="rect">
            <a:avLst/>
          </a:prstGeom>
          <a:noFill/>
        </p:spPr>
        <p:txBody>
          <a:bodyPr wrap="square" rtlCol="0">
            <a:spAutoFit/>
          </a:bodyPr>
          <a:lstStyle/>
          <a:p>
            <a:pPr algn="ct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rPr>
              <a:t>导联脱落报警</a:t>
            </a:r>
            <a:endParaRPr lang="en-US" altLang="zh-CN" sz="800" dirty="0">
              <a:solidFill>
                <a:srgbClr val="4877AA"/>
              </a:solidFill>
              <a:latin typeface="微软雅黑" panose="020B0503020204020204" pitchFamily="34" charset="-122"/>
              <a:ea typeface="微软雅黑" panose="020B0503020204020204" pitchFamily="34" charset="-122"/>
            </a:endParaRPr>
          </a:p>
          <a:p>
            <a:pPr algn="ct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rPr>
              <a:t>电极片脱落报警</a:t>
            </a:r>
          </a:p>
        </p:txBody>
      </p:sp>
      <p:sp>
        <p:nvSpPr>
          <p:cNvPr id="17" name="圆角矩形 6">
            <a:extLst>
              <a:ext uri="{FF2B5EF4-FFF2-40B4-BE49-F238E27FC236}">
                <a16:creationId xmlns:a16="http://schemas.microsoft.com/office/drawing/2014/main" id="{36E14907-51B8-A913-F25F-D0D6966046AB}"/>
              </a:ext>
            </a:extLst>
          </p:cNvPr>
          <p:cNvSpPr/>
          <p:nvPr/>
        </p:nvSpPr>
        <p:spPr>
          <a:xfrm>
            <a:off x="4848860" y="3557905"/>
            <a:ext cx="1611630" cy="654685"/>
          </a:xfrm>
          <a:prstGeom prst="roundRect">
            <a:avLst>
              <a:gd name="adj" fmla="val 10669"/>
            </a:avLst>
          </a:prstGeom>
          <a:solidFill>
            <a:schemeClr val="bg1"/>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监护预警</a:t>
            </a:r>
          </a:p>
        </p:txBody>
      </p:sp>
      <p:sp>
        <p:nvSpPr>
          <p:cNvPr id="18" name="文本框 17">
            <a:extLst>
              <a:ext uri="{FF2B5EF4-FFF2-40B4-BE49-F238E27FC236}">
                <a16:creationId xmlns:a16="http://schemas.microsoft.com/office/drawing/2014/main" id="{F95D40B5-6F98-7AE7-0E82-4098EDDEF431}"/>
              </a:ext>
            </a:extLst>
          </p:cNvPr>
          <p:cNvSpPr txBox="1"/>
          <p:nvPr/>
        </p:nvSpPr>
        <p:spPr>
          <a:xfrm>
            <a:off x="4838700" y="3796030"/>
            <a:ext cx="1610995" cy="278130"/>
          </a:xfrm>
          <a:prstGeom prst="rect">
            <a:avLst/>
          </a:prstGeom>
          <a:noFill/>
        </p:spPr>
        <p:txBody>
          <a:bodyPr wrap="square" lIns="46990" tIns="46990" rIns="46990" bIns="46990" rtlCol="0">
            <a:spAutoFit/>
          </a:bodyPr>
          <a:lstStyle/>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红色报警</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黄色报警</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蓝色报警</a:t>
            </a:r>
          </a:p>
        </p:txBody>
      </p:sp>
      <p:sp>
        <p:nvSpPr>
          <p:cNvPr id="19" name="圆角矩形 6">
            <a:extLst>
              <a:ext uri="{FF2B5EF4-FFF2-40B4-BE49-F238E27FC236}">
                <a16:creationId xmlns:a16="http://schemas.microsoft.com/office/drawing/2014/main" id="{3B165819-B795-418E-0272-98148BF8BD51}"/>
              </a:ext>
            </a:extLst>
          </p:cNvPr>
          <p:cNvSpPr/>
          <p:nvPr/>
        </p:nvSpPr>
        <p:spPr>
          <a:xfrm>
            <a:off x="4850765" y="4285615"/>
            <a:ext cx="1611630" cy="517525"/>
          </a:xfrm>
          <a:prstGeom prst="roundRect">
            <a:avLst>
              <a:gd name="adj" fmla="val 11288"/>
            </a:avLst>
          </a:prstGeom>
          <a:solidFill>
            <a:schemeClr val="bg1"/>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其他预警</a:t>
            </a:r>
          </a:p>
        </p:txBody>
      </p:sp>
      <p:sp>
        <p:nvSpPr>
          <p:cNvPr id="20" name="文本框 19">
            <a:extLst>
              <a:ext uri="{FF2B5EF4-FFF2-40B4-BE49-F238E27FC236}">
                <a16:creationId xmlns:a16="http://schemas.microsoft.com/office/drawing/2014/main" id="{FF16AC6B-8428-E2ED-F295-A8AF6BA8F340}"/>
              </a:ext>
            </a:extLst>
          </p:cNvPr>
          <p:cNvSpPr txBox="1"/>
          <p:nvPr/>
        </p:nvSpPr>
        <p:spPr>
          <a:xfrm>
            <a:off x="4859655" y="4556125"/>
            <a:ext cx="1609090" cy="213995"/>
          </a:xfrm>
          <a:prstGeom prst="rect">
            <a:avLst/>
          </a:prstGeom>
          <a:noFill/>
        </p:spPr>
        <p:txBody>
          <a:bodyPr wrap="square" rtlCol="0">
            <a:spAutoFit/>
          </a:bodyPr>
          <a:lstStyle/>
          <a:p>
            <a:pPr algn="ct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SOS</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、低功耗预警等</a:t>
            </a:r>
          </a:p>
        </p:txBody>
      </p:sp>
      <p:sp>
        <p:nvSpPr>
          <p:cNvPr id="21" name="右箭头 136">
            <a:extLst>
              <a:ext uri="{FF2B5EF4-FFF2-40B4-BE49-F238E27FC236}">
                <a16:creationId xmlns:a16="http://schemas.microsoft.com/office/drawing/2014/main" id="{2958D1F0-DAB6-505B-D879-BAAD5FAD1038}"/>
              </a:ext>
            </a:extLst>
          </p:cNvPr>
          <p:cNvSpPr/>
          <p:nvPr/>
        </p:nvSpPr>
        <p:spPr>
          <a:xfrm>
            <a:off x="4427620" y="1828122"/>
            <a:ext cx="276779" cy="275753"/>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22" name="图片 21">
            <a:extLst>
              <a:ext uri="{FF2B5EF4-FFF2-40B4-BE49-F238E27FC236}">
                <a16:creationId xmlns:a16="http://schemas.microsoft.com/office/drawing/2014/main" id="{CA47E167-7B83-6790-4CB2-1F03E3C06E81}"/>
              </a:ext>
            </a:extLst>
          </p:cNvPr>
          <p:cNvPicPr>
            <a:picLocks noChangeAspect="1"/>
          </p:cNvPicPr>
          <p:nvPr>
            <p:custDataLst>
              <p:tags r:id="rId1"/>
            </p:custDataLst>
          </p:nvPr>
        </p:nvPicPr>
        <p:blipFill>
          <a:blip r:embed="rId7" cstate="print">
            <a:biLevel thresh="50000"/>
            <a:lum bright="100000"/>
            <a:extLst>
              <a:ext uri="{28A0092B-C50C-407E-A947-70E740481C1C}">
                <a14:useLocalDpi xmlns:a14="http://schemas.microsoft.com/office/drawing/2010/main" val="0"/>
              </a:ext>
            </a:extLst>
          </a:blip>
          <a:stretch>
            <a:fillRect/>
          </a:stretch>
        </p:blipFill>
        <p:spPr>
          <a:xfrm>
            <a:off x="1656715" y="1022350"/>
            <a:ext cx="451485" cy="443230"/>
          </a:xfrm>
          <a:prstGeom prst="rect">
            <a:avLst/>
          </a:prstGeom>
        </p:spPr>
      </p:pic>
      <p:sp>
        <p:nvSpPr>
          <p:cNvPr id="23" name="文本框 22">
            <a:extLst>
              <a:ext uri="{FF2B5EF4-FFF2-40B4-BE49-F238E27FC236}">
                <a16:creationId xmlns:a16="http://schemas.microsoft.com/office/drawing/2014/main" id="{70019E76-2EA4-CA40-2425-07965757B02E}"/>
              </a:ext>
            </a:extLst>
          </p:cNvPr>
          <p:cNvSpPr txBox="1"/>
          <p:nvPr/>
        </p:nvSpPr>
        <p:spPr>
          <a:xfrm>
            <a:off x="2064385" y="1113155"/>
            <a:ext cx="1211580" cy="299085"/>
          </a:xfrm>
          <a:prstGeom prst="rect">
            <a:avLst/>
          </a:prstGeom>
          <a:noFill/>
        </p:spPr>
        <p:txBody>
          <a:bodyPr wrap="none" rtlCol="0">
            <a:spAutoFit/>
          </a:bodyPr>
          <a:lstStyle/>
          <a:p>
            <a:r>
              <a:rPr lang="zh-CN" altLang="en-US" sz="1350" dirty="0">
                <a:solidFill>
                  <a:schemeClr val="bg1"/>
                </a:solidFill>
                <a:latin typeface="微软雅黑" panose="020B0503020204020204" pitchFamily="34" charset="-122"/>
                <a:ea typeface="微软雅黑" panose="020B0503020204020204" pitchFamily="34" charset="-122"/>
              </a:rPr>
              <a:t>预警服务中心</a:t>
            </a:r>
          </a:p>
        </p:txBody>
      </p:sp>
      <p:sp>
        <p:nvSpPr>
          <p:cNvPr id="24" name="文本框 23">
            <a:extLst>
              <a:ext uri="{FF2B5EF4-FFF2-40B4-BE49-F238E27FC236}">
                <a16:creationId xmlns:a16="http://schemas.microsoft.com/office/drawing/2014/main" id="{D91B5008-07BA-83A4-8277-F26C34B97B21}"/>
              </a:ext>
            </a:extLst>
          </p:cNvPr>
          <p:cNvSpPr txBox="1"/>
          <p:nvPr/>
        </p:nvSpPr>
        <p:spPr>
          <a:xfrm>
            <a:off x="916305" y="2195195"/>
            <a:ext cx="690880" cy="245110"/>
          </a:xfrm>
          <a:prstGeom prst="rect">
            <a:avLst/>
          </a:prstGeom>
          <a:noFill/>
        </p:spPr>
        <p:txBody>
          <a:bodyPr wrap="none" rtlCol="0">
            <a:spAutoFit/>
          </a:bodyPr>
          <a:lstStyle/>
          <a:p>
            <a:r>
              <a:rPr lang="zh-CN" altLang="en-US" sz="1000" dirty="0">
                <a:solidFill>
                  <a:srgbClr val="2A86DC"/>
                </a:solidFill>
                <a:latin typeface="微软雅黑" panose="020B0503020204020204" pitchFamily="34" charset="-122"/>
                <a:ea typeface="微软雅黑" panose="020B0503020204020204" pitchFamily="34" charset="-122"/>
              </a:rPr>
              <a:t>客服人员</a:t>
            </a:r>
          </a:p>
        </p:txBody>
      </p:sp>
      <p:sp>
        <p:nvSpPr>
          <p:cNvPr id="25" name="文本框 24">
            <a:extLst>
              <a:ext uri="{FF2B5EF4-FFF2-40B4-BE49-F238E27FC236}">
                <a16:creationId xmlns:a16="http://schemas.microsoft.com/office/drawing/2014/main" id="{B0D0888E-0FE5-0F01-A42A-00E26130E360}"/>
              </a:ext>
            </a:extLst>
          </p:cNvPr>
          <p:cNvSpPr txBox="1"/>
          <p:nvPr/>
        </p:nvSpPr>
        <p:spPr>
          <a:xfrm>
            <a:off x="3275965" y="2160905"/>
            <a:ext cx="817880" cy="398780"/>
          </a:xfrm>
          <a:prstGeom prst="rect">
            <a:avLst/>
          </a:prstGeom>
          <a:noFill/>
        </p:spPr>
        <p:txBody>
          <a:bodyPr wrap="none" rtlCol="0">
            <a:spAutoFit/>
          </a:bodyPr>
          <a:lstStyle/>
          <a:p>
            <a:pPr algn="ctr"/>
            <a:r>
              <a:rPr lang="zh-CN" altLang="en-US" sz="1000" dirty="0">
                <a:solidFill>
                  <a:srgbClr val="5A85E7"/>
                </a:solidFill>
                <a:latin typeface="微软雅黑" panose="020B0503020204020204" pitchFamily="34" charset="-122"/>
                <a:ea typeface="微软雅黑" panose="020B0503020204020204" pitchFamily="34" charset="-122"/>
              </a:rPr>
              <a:t>心电云平台</a:t>
            </a:r>
          </a:p>
          <a:p>
            <a:pPr algn="ctr"/>
            <a:r>
              <a:rPr lang="zh-CN" altLang="en-US" sz="1000" dirty="0">
                <a:solidFill>
                  <a:srgbClr val="5A85E7"/>
                </a:solidFill>
                <a:latin typeface="微软雅黑" panose="020B0503020204020204" pitchFamily="34" charset="-122"/>
                <a:ea typeface="微软雅黑" panose="020B0503020204020204" pitchFamily="34" charset="-122"/>
              </a:rPr>
              <a:t>预警业务</a:t>
            </a:r>
          </a:p>
        </p:txBody>
      </p:sp>
      <p:sp>
        <p:nvSpPr>
          <p:cNvPr id="26" name="文本框 25">
            <a:extLst>
              <a:ext uri="{FF2B5EF4-FFF2-40B4-BE49-F238E27FC236}">
                <a16:creationId xmlns:a16="http://schemas.microsoft.com/office/drawing/2014/main" id="{671628AA-A0E1-643B-5E48-A596823B83EA}"/>
              </a:ext>
            </a:extLst>
          </p:cNvPr>
          <p:cNvSpPr txBox="1"/>
          <p:nvPr/>
        </p:nvSpPr>
        <p:spPr>
          <a:xfrm>
            <a:off x="1983740" y="2195195"/>
            <a:ext cx="944880" cy="245110"/>
          </a:xfrm>
          <a:prstGeom prst="rect">
            <a:avLst/>
          </a:prstGeom>
          <a:noFill/>
        </p:spPr>
        <p:txBody>
          <a:bodyPr wrap="none" rtlCol="0">
            <a:spAutoFit/>
          </a:bodyPr>
          <a:lstStyle/>
          <a:p>
            <a:r>
              <a:rPr lang="zh-CN" altLang="en-US" sz="1000" dirty="0">
                <a:solidFill>
                  <a:srgbClr val="29B6DC"/>
                </a:solidFill>
                <a:latin typeface="微软雅黑" panose="020B0503020204020204" pitchFamily="34" charset="-122"/>
                <a:ea typeface="微软雅黑" panose="020B0503020204020204" pitchFamily="34" charset="-122"/>
              </a:rPr>
              <a:t>预警坐席平台</a:t>
            </a:r>
          </a:p>
        </p:txBody>
      </p:sp>
      <p:pic>
        <p:nvPicPr>
          <p:cNvPr id="27" name="图片 26">
            <a:extLst>
              <a:ext uri="{FF2B5EF4-FFF2-40B4-BE49-F238E27FC236}">
                <a16:creationId xmlns:a16="http://schemas.microsoft.com/office/drawing/2014/main" id="{8A2C6D7D-FC24-A033-E25D-D7362DE380D7}"/>
              </a:ext>
            </a:extLst>
          </p:cNvPr>
          <p:cNvPicPr>
            <a:picLocks noChangeAspect="1"/>
          </p:cNvPicPr>
          <p:nvPr>
            <p:custDataLst>
              <p:tags r:id="rId2"/>
            </p:custDataLst>
          </p:nvPr>
        </p:nvPicPr>
        <p:blipFill>
          <a:blip r:embed="rId8" cstate="print">
            <a:biLevel thresh="50000"/>
            <a:lum bright="100000"/>
            <a:extLst>
              <a:ext uri="{28A0092B-C50C-407E-A947-70E740481C1C}">
                <a14:useLocalDpi xmlns:a14="http://schemas.microsoft.com/office/drawing/2010/main" val="0"/>
              </a:ext>
            </a:extLst>
          </a:blip>
          <a:stretch>
            <a:fillRect/>
          </a:stretch>
        </p:blipFill>
        <p:spPr>
          <a:xfrm>
            <a:off x="2310765" y="1755140"/>
            <a:ext cx="290830" cy="285750"/>
          </a:xfrm>
          <a:prstGeom prst="rect">
            <a:avLst/>
          </a:prstGeom>
        </p:spPr>
      </p:pic>
      <p:sp>
        <p:nvSpPr>
          <p:cNvPr id="28" name="文本框 27">
            <a:extLst>
              <a:ext uri="{FF2B5EF4-FFF2-40B4-BE49-F238E27FC236}">
                <a16:creationId xmlns:a16="http://schemas.microsoft.com/office/drawing/2014/main" id="{E5954A8B-3BC1-5FC4-CAEB-8110FDA6E21D}"/>
              </a:ext>
            </a:extLst>
          </p:cNvPr>
          <p:cNvSpPr txBox="1"/>
          <p:nvPr/>
        </p:nvSpPr>
        <p:spPr>
          <a:xfrm>
            <a:off x="1823720" y="3244850"/>
            <a:ext cx="1223645" cy="300355"/>
          </a:xfrm>
          <a:prstGeom prst="rect">
            <a:avLst/>
          </a:prstGeom>
          <a:noFill/>
        </p:spPr>
        <p:txBody>
          <a:bodyPr wrap="none" rtlCol="0">
            <a:spAutoFit/>
          </a:bodyPr>
          <a:lstStyle/>
          <a:p>
            <a:pPr algn="ctr"/>
            <a:r>
              <a:rPr lang="zh-CN" altLang="en-US" sz="1350" dirty="0">
                <a:solidFill>
                  <a:srgbClr val="29B6DC"/>
                </a:solidFill>
                <a:latin typeface="微软雅黑" panose="020B0503020204020204" pitchFamily="34" charset="-122"/>
                <a:ea typeface="微软雅黑" panose="020B0503020204020204" pitchFamily="34" charset="-122"/>
              </a:rPr>
              <a:t>预警坐席平台</a:t>
            </a:r>
          </a:p>
        </p:txBody>
      </p:sp>
      <p:sp>
        <p:nvSpPr>
          <p:cNvPr id="29" name="文本框 28">
            <a:extLst>
              <a:ext uri="{FF2B5EF4-FFF2-40B4-BE49-F238E27FC236}">
                <a16:creationId xmlns:a16="http://schemas.microsoft.com/office/drawing/2014/main" id="{14DDBEC0-5FCC-E6FA-6474-3638DFDD6F92}"/>
              </a:ext>
            </a:extLst>
          </p:cNvPr>
          <p:cNvSpPr txBox="1"/>
          <p:nvPr/>
        </p:nvSpPr>
        <p:spPr>
          <a:xfrm>
            <a:off x="5237798" y="914400"/>
            <a:ext cx="792480" cy="275590"/>
          </a:xfrm>
          <a:prstGeom prst="rect">
            <a:avLst/>
          </a:prstGeom>
          <a:noFill/>
        </p:spPr>
        <p:txBody>
          <a:bodyPr wrap="none" rtlCol="0">
            <a:spAutoFit/>
          </a:bodyPr>
          <a:lstStyle/>
          <a:p>
            <a:r>
              <a:rPr lang="zh-CN" altLang="en-US" sz="1200" b="1" dirty="0">
                <a:solidFill>
                  <a:srgbClr val="5A85E7"/>
                </a:solidFill>
                <a:latin typeface="微软雅黑" panose="020B0503020204020204" pitchFamily="34" charset="-122"/>
                <a:ea typeface="微软雅黑" panose="020B0503020204020204" pitchFamily="34" charset="-122"/>
              </a:rPr>
              <a:t>预警业务</a:t>
            </a:r>
          </a:p>
        </p:txBody>
      </p:sp>
      <p:sp>
        <p:nvSpPr>
          <p:cNvPr id="30" name="圆角矩形 11">
            <a:extLst>
              <a:ext uri="{FF2B5EF4-FFF2-40B4-BE49-F238E27FC236}">
                <a16:creationId xmlns:a16="http://schemas.microsoft.com/office/drawing/2014/main" id="{F1E95841-4419-A5F7-F4FC-A9833747F0F1}"/>
              </a:ext>
            </a:extLst>
          </p:cNvPr>
          <p:cNvSpPr/>
          <p:nvPr/>
        </p:nvSpPr>
        <p:spPr>
          <a:xfrm>
            <a:off x="679586" y="3683775"/>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电话客服</a:t>
            </a:r>
          </a:p>
        </p:txBody>
      </p:sp>
      <p:sp>
        <p:nvSpPr>
          <p:cNvPr id="31" name="圆角矩形 112">
            <a:extLst>
              <a:ext uri="{FF2B5EF4-FFF2-40B4-BE49-F238E27FC236}">
                <a16:creationId xmlns:a16="http://schemas.microsoft.com/office/drawing/2014/main" id="{FC41FF33-7192-372E-E2CB-FAFF66CB2CE4}"/>
              </a:ext>
            </a:extLst>
          </p:cNvPr>
          <p:cNvSpPr/>
          <p:nvPr/>
        </p:nvSpPr>
        <p:spPr>
          <a:xfrm>
            <a:off x="3563667" y="3692308"/>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00" dirty="0"/>
              <a:t>APP</a:t>
            </a:r>
            <a:r>
              <a:rPr lang="zh-CN" altLang="en-US" sz="700" dirty="0"/>
              <a:t>客服</a:t>
            </a:r>
          </a:p>
        </p:txBody>
      </p:sp>
      <p:sp>
        <p:nvSpPr>
          <p:cNvPr id="32" name="圆角矩形 115">
            <a:extLst>
              <a:ext uri="{FF2B5EF4-FFF2-40B4-BE49-F238E27FC236}">
                <a16:creationId xmlns:a16="http://schemas.microsoft.com/office/drawing/2014/main" id="{6053F8F8-A28B-AE62-B9E8-14E05F197FE1}"/>
              </a:ext>
            </a:extLst>
          </p:cNvPr>
          <p:cNvSpPr/>
          <p:nvPr/>
        </p:nvSpPr>
        <p:spPr>
          <a:xfrm>
            <a:off x="2845836" y="3692308"/>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微信客服</a:t>
            </a:r>
          </a:p>
        </p:txBody>
      </p:sp>
      <p:sp>
        <p:nvSpPr>
          <p:cNvPr id="33" name="圆角矩形 116">
            <a:extLst>
              <a:ext uri="{FF2B5EF4-FFF2-40B4-BE49-F238E27FC236}">
                <a16:creationId xmlns:a16="http://schemas.microsoft.com/office/drawing/2014/main" id="{F5A6CD85-37D9-70D3-B5B7-7C53B0109169}"/>
              </a:ext>
            </a:extLst>
          </p:cNvPr>
          <p:cNvSpPr/>
          <p:nvPr/>
        </p:nvSpPr>
        <p:spPr>
          <a:xfrm>
            <a:off x="2124359" y="3692308"/>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700" dirty="0"/>
              <a:t>Web</a:t>
            </a:r>
            <a:r>
              <a:rPr lang="zh-CN" altLang="en-US" sz="700" dirty="0"/>
              <a:t>在线客服</a:t>
            </a:r>
          </a:p>
        </p:txBody>
      </p:sp>
      <p:sp>
        <p:nvSpPr>
          <p:cNvPr id="34" name="圆角矩形 117">
            <a:extLst>
              <a:ext uri="{FF2B5EF4-FFF2-40B4-BE49-F238E27FC236}">
                <a16:creationId xmlns:a16="http://schemas.microsoft.com/office/drawing/2014/main" id="{A9193A1C-336E-61B4-9F4B-1AA95644947F}"/>
              </a:ext>
            </a:extLst>
          </p:cNvPr>
          <p:cNvSpPr/>
          <p:nvPr/>
        </p:nvSpPr>
        <p:spPr>
          <a:xfrm>
            <a:off x="1365761" y="3683775"/>
            <a:ext cx="737887" cy="21380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rgbClr val="29B6DC"/>
                </a:solidFill>
              </a:rPr>
              <a:t>互联网客服</a:t>
            </a:r>
          </a:p>
        </p:txBody>
      </p:sp>
      <p:sp>
        <p:nvSpPr>
          <p:cNvPr id="35" name="圆角矩形 118">
            <a:extLst>
              <a:ext uri="{FF2B5EF4-FFF2-40B4-BE49-F238E27FC236}">
                <a16:creationId xmlns:a16="http://schemas.microsoft.com/office/drawing/2014/main" id="{49D5267C-FE8E-7E12-355C-39F7267FBBB3}"/>
              </a:ext>
            </a:extLst>
          </p:cNvPr>
          <p:cNvSpPr/>
          <p:nvPr/>
        </p:nvSpPr>
        <p:spPr>
          <a:xfrm>
            <a:off x="673172" y="4116003"/>
            <a:ext cx="628849" cy="213360"/>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00" dirty="0"/>
              <a:t>ACD</a:t>
            </a:r>
            <a:r>
              <a:rPr lang="zh-CN" altLang="en-US" sz="700" dirty="0"/>
              <a:t>排队</a:t>
            </a:r>
          </a:p>
        </p:txBody>
      </p:sp>
      <p:sp>
        <p:nvSpPr>
          <p:cNvPr id="36" name="圆角矩形 119">
            <a:extLst>
              <a:ext uri="{FF2B5EF4-FFF2-40B4-BE49-F238E27FC236}">
                <a16:creationId xmlns:a16="http://schemas.microsoft.com/office/drawing/2014/main" id="{E48C1FA1-8BC4-0B46-884F-4A7713A8CACC}"/>
              </a:ext>
            </a:extLst>
          </p:cNvPr>
          <p:cNvSpPr/>
          <p:nvPr/>
        </p:nvSpPr>
        <p:spPr>
          <a:xfrm>
            <a:off x="1397393" y="411577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知识库</a:t>
            </a:r>
          </a:p>
        </p:txBody>
      </p:sp>
      <p:sp>
        <p:nvSpPr>
          <p:cNvPr id="37" name="圆角矩形 120">
            <a:extLst>
              <a:ext uri="{FF2B5EF4-FFF2-40B4-BE49-F238E27FC236}">
                <a16:creationId xmlns:a16="http://schemas.microsoft.com/office/drawing/2014/main" id="{5AD0E495-43D4-BE89-4D42-C4C158879004}"/>
              </a:ext>
            </a:extLst>
          </p:cNvPr>
          <p:cNvSpPr/>
          <p:nvPr/>
        </p:nvSpPr>
        <p:spPr>
          <a:xfrm>
            <a:off x="2121615" y="411577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视频教学</a:t>
            </a:r>
          </a:p>
        </p:txBody>
      </p:sp>
      <p:sp>
        <p:nvSpPr>
          <p:cNvPr id="38" name="圆角矩形 121">
            <a:extLst>
              <a:ext uri="{FF2B5EF4-FFF2-40B4-BE49-F238E27FC236}">
                <a16:creationId xmlns:a16="http://schemas.microsoft.com/office/drawing/2014/main" id="{449AEB9A-EFB8-2823-3BC5-5EE196F63087}"/>
              </a:ext>
            </a:extLst>
          </p:cNvPr>
          <p:cNvSpPr/>
          <p:nvPr/>
        </p:nvSpPr>
        <p:spPr>
          <a:xfrm>
            <a:off x="2845837" y="411577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业务培训</a:t>
            </a:r>
          </a:p>
        </p:txBody>
      </p:sp>
      <p:sp>
        <p:nvSpPr>
          <p:cNvPr id="39" name="圆角矩形 122">
            <a:extLst>
              <a:ext uri="{FF2B5EF4-FFF2-40B4-BE49-F238E27FC236}">
                <a16:creationId xmlns:a16="http://schemas.microsoft.com/office/drawing/2014/main" id="{1FA03D2F-FEA2-4401-E977-E60A8A66A07B}"/>
              </a:ext>
            </a:extLst>
          </p:cNvPr>
          <p:cNvSpPr/>
          <p:nvPr/>
        </p:nvSpPr>
        <p:spPr>
          <a:xfrm>
            <a:off x="3570059" y="411577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医生教育</a:t>
            </a:r>
          </a:p>
        </p:txBody>
      </p:sp>
      <p:sp>
        <p:nvSpPr>
          <p:cNvPr id="40" name="圆角矩形 133">
            <a:extLst>
              <a:ext uri="{FF2B5EF4-FFF2-40B4-BE49-F238E27FC236}">
                <a16:creationId xmlns:a16="http://schemas.microsoft.com/office/drawing/2014/main" id="{44B50320-7491-BFE2-FA19-E1D4B9BE504A}"/>
              </a:ext>
            </a:extLst>
          </p:cNvPr>
          <p:cNvSpPr/>
          <p:nvPr/>
        </p:nvSpPr>
        <p:spPr>
          <a:xfrm>
            <a:off x="674987" y="4500133"/>
            <a:ext cx="628849" cy="213360"/>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信息弹屏</a:t>
            </a:r>
          </a:p>
        </p:txBody>
      </p:sp>
      <p:sp>
        <p:nvSpPr>
          <p:cNvPr id="41" name="圆角矩形 135">
            <a:extLst>
              <a:ext uri="{FF2B5EF4-FFF2-40B4-BE49-F238E27FC236}">
                <a16:creationId xmlns:a16="http://schemas.microsoft.com/office/drawing/2014/main" id="{5090FBD0-B6DE-8DDD-E477-D082965D4C8E}"/>
              </a:ext>
            </a:extLst>
          </p:cNvPr>
          <p:cNvSpPr/>
          <p:nvPr/>
        </p:nvSpPr>
        <p:spPr>
          <a:xfrm>
            <a:off x="1399091" y="449990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售后维护</a:t>
            </a:r>
          </a:p>
        </p:txBody>
      </p:sp>
      <p:sp>
        <p:nvSpPr>
          <p:cNvPr id="42" name="圆角矩形 141">
            <a:extLst>
              <a:ext uri="{FF2B5EF4-FFF2-40B4-BE49-F238E27FC236}">
                <a16:creationId xmlns:a16="http://schemas.microsoft.com/office/drawing/2014/main" id="{DA29EC0E-CC21-39E7-3BCE-DF5E619324BD}"/>
              </a:ext>
            </a:extLst>
          </p:cNvPr>
          <p:cNvSpPr/>
          <p:nvPr/>
        </p:nvSpPr>
        <p:spPr>
          <a:xfrm>
            <a:off x="2123196" y="449990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定期回访</a:t>
            </a:r>
          </a:p>
        </p:txBody>
      </p:sp>
      <p:sp>
        <p:nvSpPr>
          <p:cNvPr id="43" name="圆角矩形 142">
            <a:extLst>
              <a:ext uri="{FF2B5EF4-FFF2-40B4-BE49-F238E27FC236}">
                <a16:creationId xmlns:a16="http://schemas.microsoft.com/office/drawing/2014/main" id="{FE1F1074-D32C-DAC5-8EBE-406442F5D101}"/>
              </a:ext>
            </a:extLst>
          </p:cNvPr>
          <p:cNvSpPr/>
          <p:nvPr/>
        </p:nvSpPr>
        <p:spPr>
          <a:xfrm>
            <a:off x="2847301" y="449990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历史记录</a:t>
            </a:r>
          </a:p>
        </p:txBody>
      </p:sp>
      <p:sp>
        <p:nvSpPr>
          <p:cNvPr id="44" name="圆角矩形 143">
            <a:extLst>
              <a:ext uri="{FF2B5EF4-FFF2-40B4-BE49-F238E27FC236}">
                <a16:creationId xmlns:a16="http://schemas.microsoft.com/office/drawing/2014/main" id="{2BB6EDA3-E1E8-30DB-0803-2C65226274ED}"/>
              </a:ext>
            </a:extLst>
          </p:cNvPr>
          <p:cNvSpPr/>
          <p:nvPr/>
        </p:nvSpPr>
        <p:spPr>
          <a:xfrm>
            <a:off x="3571407" y="4499909"/>
            <a:ext cx="628849" cy="213809"/>
          </a:xfrm>
          <a:prstGeom prst="roundRect">
            <a:avLst/>
          </a:prstGeom>
          <a:solidFill>
            <a:srgbClr val="29B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t>定位监控</a:t>
            </a:r>
          </a:p>
        </p:txBody>
      </p:sp>
      <p:sp>
        <p:nvSpPr>
          <p:cNvPr id="45" name="右箭头 144">
            <a:extLst>
              <a:ext uri="{FF2B5EF4-FFF2-40B4-BE49-F238E27FC236}">
                <a16:creationId xmlns:a16="http://schemas.microsoft.com/office/drawing/2014/main" id="{D797B444-1673-18BA-679D-2C6DDD00B544}"/>
              </a:ext>
            </a:extLst>
          </p:cNvPr>
          <p:cNvSpPr/>
          <p:nvPr/>
        </p:nvSpPr>
        <p:spPr>
          <a:xfrm rot="5400000">
            <a:off x="2339255" y="2860265"/>
            <a:ext cx="276779" cy="275753"/>
          </a:xfrm>
          <a:prstGeom prst="rightArrow">
            <a:avLst/>
          </a:prstGeom>
          <a:gradFill flip="none" rotWithShape="1">
            <a:gsLst>
              <a:gs pos="0">
                <a:srgbClr val="73D0E8"/>
              </a:gs>
              <a:gs pos="100000">
                <a:srgbClr val="C2EAF4"/>
              </a:gs>
            </a:gsLst>
            <a:lin ang="11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6" name="圆角矩形 59">
            <a:extLst>
              <a:ext uri="{FF2B5EF4-FFF2-40B4-BE49-F238E27FC236}">
                <a16:creationId xmlns:a16="http://schemas.microsoft.com/office/drawing/2014/main" id="{9FF06DEC-4359-DCD1-5A2F-2626494223D7}"/>
              </a:ext>
            </a:extLst>
          </p:cNvPr>
          <p:cNvSpPr/>
          <p:nvPr/>
        </p:nvSpPr>
        <p:spPr>
          <a:xfrm>
            <a:off x="6660515" y="981075"/>
            <a:ext cx="2015490" cy="3874770"/>
          </a:xfrm>
          <a:prstGeom prst="roundRect">
            <a:avLst>
              <a:gd name="adj" fmla="val 6017"/>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7" name="矩形 46">
            <a:extLst>
              <a:ext uri="{FF2B5EF4-FFF2-40B4-BE49-F238E27FC236}">
                <a16:creationId xmlns:a16="http://schemas.microsoft.com/office/drawing/2014/main" id="{1F48A7B6-B6B5-B6FB-E7AC-25FA9E06D253}"/>
              </a:ext>
            </a:extLst>
          </p:cNvPr>
          <p:cNvSpPr/>
          <p:nvPr/>
        </p:nvSpPr>
        <p:spPr>
          <a:xfrm>
            <a:off x="6660515" y="1090295"/>
            <a:ext cx="1957705" cy="3622675"/>
          </a:xfrm>
          <a:prstGeom prst="rect">
            <a:avLst/>
          </a:prstGeom>
        </p:spPr>
        <p:txBody>
          <a:bodyPr wrap="square">
            <a:spAutoFit/>
          </a:bodyPr>
          <a:lstStyle/>
          <a:p>
            <a:pPr marL="257175" indent="-257175" algn="just">
              <a:lnSpc>
                <a:spcPct val="150000"/>
              </a:lnSpc>
              <a:buSzPts val="1200"/>
              <a:buFont typeface="Wingdings" panose="05000000000000000000" charset="0"/>
              <a:buChar char="ü"/>
            </a:pP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区域心电网络支持预警中心服务，支持动态心电</a:t>
            </a:r>
            <a:r>
              <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心电监护同时开单，预警中心提醒医生有病情预警、</a:t>
            </a:r>
            <a:r>
              <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AI</a:t>
            </a: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危急预警、导联脱落、心电监护、</a:t>
            </a:r>
            <a:r>
              <a:rPr lang="en-US" altLang="zh-CN" sz="900" dirty="0" err="1">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sos</a:t>
            </a: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、低功耗等预警</a:t>
            </a:r>
            <a:endPar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charset="0"/>
              <a:buChar char="ü"/>
            </a:pP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预警坐席平台同时可与平台业务深度结合，查看心电解读历史记录，查看所属设备位置、忙闲、使用频率等</a:t>
            </a:r>
            <a:endPar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charset="0"/>
              <a:buChar char="ü"/>
            </a:pP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预警坐席平台支持定期回访，完善设备、平台功能，促进设备</a:t>
            </a:r>
            <a:r>
              <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平台售卖</a:t>
            </a:r>
            <a:r>
              <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投放服务能力的提升</a:t>
            </a:r>
            <a:endParaRPr lang="en-US" altLang="zh-CN"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charset="0"/>
              <a:buChar char="ü"/>
            </a:pPr>
            <a:r>
              <a:rPr lang="zh-CN" altLang="en-US" sz="9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预警坐席平台支持业务流程培训，医生分析软件培训，促进医生业务能力的增长</a:t>
            </a:r>
          </a:p>
        </p:txBody>
      </p:sp>
      <p:sp>
        <p:nvSpPr>
          <p:cNvPr id="48" name="椭圆 47">
            <a:extLst>
              <a:ext uri="{FF2B5EF4-FFF2-40B4-BE49-F238E27FC236}">
                <a16:creationId xmlns:a16="http://schemas.microsoft.com/office/drawing/2014/main" id="{D74A0B10-05EE-AF04-E159-1D5BBA368863}"/>
              </a:ext>
            </a:extLst>
          </p:cNvPr>
          <p:cNvSpPr/>
          <p:nvPr/>
        </p:nvSpPr>
        <p:spPr>
          <a:xfrm>
            <a:off x="3422015" y="1635125"/>
            <a:ext cx="525780" cy="525780"/>
          </a:xfrm>
          <a:prstGeom prst="ellipse">
            <a:avLst/>
          </a:prstGeom>
          <a:solidFill>
            <a:srgbClr val="5A85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49" name="图片 48">
            <a:extLst>
              <a:ext uri="{FF2B5EF4-FFF2-40B4-BE49-F238E27FC236}">
                <a16:creationId xmlns:a16="http://schemas.microsoft.com/office/drawing/2014/main" id="{37F91621-40FA-2140-1EAC-865796E9124B}"/>
              </a:ext>
            </a:extLst>
          </p:cNvPr>
          <p:cNvPicPr>
            <a:picLocks noChangeAspect="1"/>
          </p:cNvPicPr>
          <p:nvPr>
            <p:custDataLst>
              <p:tags r:id="rId3"/>
            </p:custDataLst>
          </p:nvPr>
        </p:nvPicPr>
        <p:blipFill>
          <a:blip r:embed="rId9" cstate="print">
            <a:biLevel thresh="50000"/>
            <a:lum bright="100000"/>
            <a:extLst>
              <a:ext uri="{28A0092B-C50C-407E-A947-70E740481C1C}">
                <a14:useLocalDpi xmlns:a14="http://schemas.microsoft.com/office/drawing/2010/main" val="0"/>
              </a:ext>
            </a:extLst>
          </a:blip>
          <a:stretch>
            <a:fillRect/>
          </a:stretch>
        </p:blipFill>
        <p:spPr>
          <a:xfrm>
            <a:off x="3545205" y="1760855"/>
            <a:ext cx="279400" cy="274320"/>
          </a:xfrm>
          <a:prstGeom prst="rect">
            <a:avLst/>
          </a:prstGeom>
        </p:spPr>
      </p:pic>
      <p:sp>
        <p:nvSpPr>
          <p:cNvPr id="50" name="椭圆 49">
            <a:extLst>
              <a:ext uri="{FF2B5EF4-FFF2-40B4-BE49-F238E27FC236}">
                <a16:creationId xmlns:a16="http://schemas.microsoft.com/office/drawing/2014/main" id="{64CAB01A-5C3B-215D-2D53-2AA864C4A573}"/>
              </a:ext>
            </a:extLst>
          </p:cNvPr>
          <p:cNvSpPr/>
          <p:nvPr/>
        </p:nvSpPr>
        <p:spPr>
          <a:xfrm>
            <a:off x="998855" y="1635125"/>
            <a:ext cx="525780" cy="525780"/>
          </a:xfrm>
          <a:prstGeom prst="ellipse">
            <a:avLst/>
          </a:prstGeom>
          <a:solidFill>
            <a:srgbClr val="2A86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1" name="图片 50">
            <a:extLst>
              <a:ext uri="{FF2B5EF4-FFF2-40B4-BE49-F238E27FC236}">
                <a16:creationId xmlns:a16="http://schemas.microsoft.com/office/drawing/2014/main" id="{5ED3DD09-93FB-C529-07E8-4892BD853872}"/>
              </a:ext>
            </a:extLst>
          </p:cNvPr>
          <p:cNvPicPr>
            <a:picLocks noChangeAspect="1"/>
          </p:cNvPicPr>
          <p:nvPr>
            <p:custDataLst>
              <p:tags r:id="rId4"/>
            </p:custDataLst>
          </p:nvPr>
        </p:nvPicPr>
        <p:blipFill>
          <a:blip r:embed="rId10" cstate="print">
            <a:biLevel thresh="50000"/>
            <a:lum bright="100000"/>
            <a:extLst>
              <a:ext uri="{28A0092B-C50C-407E-A947-70E740481C1C}">
                <a14:useLocalDpi xmlns:a14="http://schemas.microsoft.com/office/drawing/2010/main" val="0"/>
              </a:ext>
            </a:extLst>
          </a:blip>
          <a:stretch>
            <a:fillRect/>
          </a:stretch>
        </p:blipFill>
        <p:spPr>
          <a:xfrm>
            <a:off x="1090930" y="1730375"/>
            <a:ext cx="341630" cy="335280"/>
          </a:xfrm>
          <a:prstGeom prst="rect">
            <a:avLst/>
          </a:prstGeom>
        </p:spPr>
      </p:pic>
    </p:spTree>
    <p:extLst>
      <p:ext uri="{BB962C8B-B14F-4D97-AF65-F5344CB8AC3E}">
        <p14:creationId xmlns:p14="http://schemas.microsoft.com/office/powerpoint/2010/main" val="1822670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DACD4-A2BB-0762-0E43-5AA67033A0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7D783E-B7D5-C23A-D8BD-5451D1CCAB42}"/>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数据质控</a:t>
            </a:r>
          </a:p>
        </p:txBody>
      </p:sp>
      <p:grpSp>
        <p:nvGrpSpPr>
          <p:cNvPr id="3" name="组合 2">
            <a:extLst>
              <a:ext uri="{FF2B5EF4-FFF2-40B4-BE49-F238E27FC236}">
                <a16:creationId xmlns:a16="http://schemas.microsoft.com/office/drawing/2014/main" id="{A4976F93-B2EF-A39B-CF49-5682DAA76719}"/>
              </a:ext>
            </a:extLst>
          </p:cNvPr>
          <p:cNvGrpSpPr/>
          <p:nvPr/>
        </p:nvGrpSpPr>
        <p:grpSpPr>
          <a:xfrm>
            <a:off x="2618656" y="2151464"/>
            <a:ext cx="3933611" cy="2569141"/>
            <a:chOff x="1506008" y="1850430"/>
            <a:chExt cx="4874209" cy="3183470"/>
          </a:xfrm>
        </p:grpSpPr>
        <p:sp>
          <p:nvSpPr>
            <p:cNvPr id="4" name="等腰三角形 3">
              <a:extLst>
                <a:ext uri="{FF2B5EF4-FFF2-40B4-BE49-F238E27FC236}">
                  <a16:creationId xmlns:a16="http://schemas.microsoft.com/office/drawing/2014/main" id="{156203C9-0FD3-557F-1654-298BCB92D04B}"/>
                </a:ext>
              </a:extLst>
            </p:cNvPr>
            <p:cNvSpPr/>
            <p:nvPr/>
          </p:nvSpPr>
          <p:spPr>
            <a:xfrm>
              <a:off x="1506008" y="1850430"/>
              <a:ext cx="4874209" cy="3183470"/>
            </a:xfrm>
            <a:prstGeom prst="triangle">
              <a:avLst/>
            </a:prstGeom>
            <a:solidFill>
              <a:schemeClr val="accent4">
                <a:lumMod val="60000"/>
                <a:lumOff val="40000"/>
                <a:alpha val="39000"/>
              </a:schemeClr>
            </a:solidFill>
            <a:ln w="12700" cap="rnd">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等腰三角形 12">
              <a:extLst>
                <a:ext uri="{FF2B5EF4-FFF2-40B4-BE49-F238E27FC236}">
                  <a16:creationId xmlns:a16="http://schemas.microsoft.com/office/drawing/2014/main" id="{CAC7A0D8-B115-9E31-D178-FAC3C2587232}"/>
                </a:ext>
              </a:extLst>
            </p:cNvPr>
            <p:cNvSpPr/>
            <p:nvPr/>
          </p:nvSpPr>
          <p:spPr>
            <a:xfrm>
              <a:off x="2278366" y="2330850"/>
              <a:ext cx="3467733" cy="2497108"/>
            </a:xfrm>
            <a:custGeom>
              <a:avLst/>
              <a:gdLst>
                <a:gd name="connsiteX0" fmla="*/ 9829 w 4699132"/>
                <a:gd name="connsiteY0" fmla="*/ 3962487 h 4070610"/>
                <a:gd name="connsiteX1" fmla="*/ 2287285 w 4699132"/>
                <a:gd name="connsiteY1" fmla="*/ 35839 h 4070610"/>
                <a:gd name="connsiteX2" fmla="*/ 2411849 w 4699132"/>
                <a:gd name="connsiteY2" fmla="*/ 35839 h 4070610"/>
                <a:gd name="connsiteX3" fmla="*/ 4689304 w 4699132"/>
                <a:gd name="connsiteY3" fmla="*/ 3962487 h 4070610"/>
                <a:gd name="connsiteX4" fmla="*/ 4627022 w 4699132"/>
                <a:gd name="connsiteY4" fmla="*/ 4070610 h 4070610"/>
                <a:gd name="connsiteX5" fmla="*/ 72111 w 4699132"/>
                <a:gd name="connsiteY5" fmla="*/ 4070610 h 4070610"/>
                <a:gd name="connsiteX6" fmla="*/ 9829 w 4699132"/>
                <a:gd name="connsiteY6" fmla="*/ 3962487 h 4070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9132" h="4070610">
                  <a:moveTo>
                    <a:pt x="9829" y="3962487"/>
                  </a:moveTo>
                  <a:lnTo>
                    <a:pt x="2287285" y="35839"/>
                  </a:lnTo>
                  <a:cubicBezTo>
                    <a:pt x="2315001" y="-11946"/>
                    <a:pt x="2384133" y="-11946"/>
                    <a:pt x="2411849" y="35839"/>
                  </a:cubicBezTo>
                  <a:lnTo>
                    <a:pt x="4689304" y="3962487"/>
                  </a:lnTo>
                  <a:cubicBezTo>
                    <a:pt x="4717148" y="4010493"/>
                    <a:pt x="4682519" y="4070610"/>
                    <a:pt x="4627022" y="4070610"/>
                  </a:cubicBezTo>
                  <a:lnTo>
                    <a:pt x="72111" y="4070610"/>
                  </a:lnTo>
                  <a:cubicBezTo>
                    <a:pt x="16614" y="4070610"/>
                    <a:pt x="-18015" y="4010493"/>
                    <a:pt x="9829" y="3962487"/>
                  </a:cubicBezTo>
                </a:path>
              </a:pathLst>
            </a:custGeom>
            <a:gradFill flip="none" rotWithShape="1">
              <a:gsLst>
                <a:gs pos="0">
                  <a:schemeClr val="bg1">
                    <a:alpha val="0"/>
                  </a:schemeClr>
                </a:gs>
                <a:gs pos="100000">
                  <a:schemeClr val="bg1"/>
                </a:gs>
              </a:gsLst>
              <a:lin ang="5400000" scaled="1"/>
              <a:tileRect/>
            </a:gradFill>
            <a:ln w="12700" cap="rnd">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6" name="组合 5">
              <a:extLst>
                <a:ext uri="{FF2B5EF4-FFF2-40B4-BE49-F238E27FC236}">
                  <a16:creationId xmlns:a16="http://schemas.microsoft.com/office/drawing/2014/main" id="{E43BB8FE-8173-B2BA-38FB-92C76390F2BE}"/>
                </a:ext>
              </a:extLst>
            </p:cNvPr>
            <p:cNvGrpSpPr/>
            <p:nvPr/>
          </p:nvGrpSpPr>
          <p:grpSpPr>
            <a:xfrm>
              <a:off x="2766086" y="3021180"/>
              <a:ext cx="2243312" cy="1612976"/>
              <a:chOff x="4568797" y="2352166"/>
              <a:chExt cx="3054406" cy="2637760"/>
            </a:xfrm>
            <a:effectLst>
              <a:outerShdw blurRad="292100" dist="139700" dir="5400000" sx="98000" sy="98000" algn="t" rotWithShape="0">
                <a:schemeClr val="accent1">
                  <a:alpha val="40000"/>
                </a:schemeClr>
              </a:outerShdw>
            </a:effectLst>
          </p:grpSpPr>
          <p:sp>
            <p:nvSpPr>
              <p:cNvPr id="7" name="任意多边形: 形状 6">
                <a:extLst>
                  <a:ext uri="{FF2B5EF4-FFF2-40B4-BE49-F238E27FC236}">
                    <a16:creationId xmlns:a16="http://schemas.microsoft.com/office/drawing/2014/main" id="{A7A649AE-D3B7-38A4-AA8F-0A2C58B0EA70}"/>
                  </a:ext>
                </a:extLst>
              </p:cNvPr>
              <p:cNvSpPr/>
              <p:nvPr/>
            </p:nvSpPr>
            <p:spPr>
              <a:xfrm rot="16200000">
                <a:off x="4442079" y="2480912"/>
                <a:ext cx="2635732" cy="2382295"/>
              </a:xfrm>
              <a:custGeom>
                <a:avLst/>
                <a:gdLst>
                  <a:gd name="connsiteX0" fmla="*/ 447596 w 3214779"/>
                  <a:gd name="connsiteY0" fmla="*/ 0 h 2905665"/>
                  <a:gd name="connsiteX1" fmla="*/ 3222198 w 3214779"/>
                  <a:gd name="connsiteY1" fmla="*/ 1601207 h 2905665"/>
                  <a:gd name="connsiteX2" fmla="*/ 919922 w 3214779"/>
                  <a:gd name="connsiteY2" fmla="*/ 2916794 h 2905665"/>
                  <a:gd name="connsiteX3" fmla="*/ 917449 w 3214779"/>
                  <a:gd name="connsiteY3" fmla="*/ 2402429 h 2905665"/>
                  <a:gd name="connsiteX4" fmla="*/ 2297331 w 3214779"/>
                  <a:gd name="connsiteY4" fmla="*/ 1616045 h 2905665"/>
                  <a:gd name="connsiteX5" fmla="*/ 0 w 3214779"/>
                  <a:gd name="connsiteY5" fmla="*/ 275729 h 290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4779" h="2905665">
                    <a:moveTo>
                      <a:pt x="447596" y="0"/>
                    </a:moveTo>
                    <a:lnTo>
                      <a:pt x="3222198" y="1601207"/>
                    </a:lnTo>
                    <a:lnTo>
                      <a:pt x="919922" y="2916794"/>
                    </a:lnTo>
                    <a:lnTo>
                      <a:pt x="917449" y="2402429"/>
                    </a:lnTo>
                    <a:lnTo>
                      <a:pt x="2297331" y="1616045"/>
                    </a:lnTo>
                    <a:lnTo>
                      <a:pt x="0" y="275729"/>
                    </a:lnTo>
                    <a:close/>
                  </a:path>
                </a:pathLst>
              </a:custGeom>
              <a:gradFill flip="none" rotWithShape="1">
                <a:gsLst>
                  <a:gs pos="0">
                    <a:schemeClr val="accent1">
                      <a:lumMod val="40000"/>
                      <a:lumOff val="60000"/>
                    </a:schemeClr>
                  </a:gs>
                  <a:gs pos="74000">
                    <a:schemeClr val="accent1"/>
                  </a:gs>
                </a:gsLst>
                <a:lin ang="13500000" scaled="1"/>
                <a:tileRect/>
              </a:gradFill>
              <a:ln w="6350" cap="flat">
                <a:noFill/>
                <a:prstDash val="solid"/>
                <a:miter/>
              </a:ln>
            </p:spPr>
            <p:txBody>
              <a:bodyPr rtlCol="0" anchor="ctr"/>
              <a:lstStyle/>
              <a:p>
                <a:endParaRPr lang="zh-CN" altLang="en-US" sz="1350">
                  <a:solidFill>
                    <a:srgbClr val="89DAF4"/>
                  </a:solidFill>
                </a:endParaRPr>
              </a:p>
            </p:txBody>
          </p:sp>
          <p:sp>
            <p:nvSpPr>
              <p:cNvPr id="8" name="任意多边形: 形状 7">
                <a:extLst>
                  <a:ext uri="{FF2B5EF4-FFF2-40B4-BE49-F238E27FC236}">
                    <a16:creationId xmlns:a16="http://schemas.microsoft.com/office/drawing/2014/main" id="{76783D0B-B9B3-290C-3E82-C24C5A2C3012}"/>
                  </a:ext>
                </a:extLst>
              </p:cNvPr>
              <p:cNvSpPr/>
              <p:nvPr/>
            </p:nvSpPr>
            <p:spPr>
              <a:xfrm rot="16200000">
                <a:off x="5271319" y="2636454"/>
                <a:ext cx="1875426" cy="2828342"/>
              </a:xfrm>
              <a:custGeom>
                <a:avLst/>
                <a:gdLst>
                  <a:gd name="connsiteX0" fmla="*/ 1236 w 2287439"/>
                  <a:gd name="connsiteY0" fmla="*/ 3203651 h 3449705"/>
                  <a:gd name="connsiteX1" fmla="*/ 0 w 2287439"/>
                  <a:gd name="connsiteY1" fmla="*/ 0 h 3449705"/>
                  <a:gd name="connsiteX2" fmla="*/ 2297331 w 2287439"/>
                  <a:gd name="connsiteY2" fmla="*/ 1340316 h 3449705"/>
                  <a:gd name="connsiteX3" fmla="*/ 1844789 w 2287439"/>
                  <a:gd name="connsiteY3" fmla="*/ 1597498 h 3449705"/>
                  <a:gd name="connsiteX4" fmla="*/ 474798 w 2287439"/>
                  <a:gd name="connsiteY4" fmla="*/ 792567 h 3449705"/>
                  <a:gd name="connsiteX5" fmla="*/ 472325 w 2287439"/>
                  <a:gd name="connsiteY5" fmla="*/ 3450942 h 34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7439" h="3449705">
                    <a:moveTo>
                      <a:pt x="1236" y="3203651"/>
                    </a:moveTo>
                    <a:lnTo>
                      <a:pt x="0" y="0"/>
                    </a:lnTo>
                    <a:lnTo>
                      <a:pt x="2297331" y="1340316"/>
                    </a:lnTo>
                    <a:lnTo>
                      <a:pt x="1844789" y="1597498"/>
                    </a:lnTo>
                    <a:lnTo>
                      <a:pt x="474798" y="792567"/>
                    </a:lnTo>
                    <a:lnTo>
                      <a:pt x="472325" y="3450942"/>
                    </a:lnTo>
                    <a:close/>
                  </a:path>
                </a:pathLst>
              </a:custGeom>
              <a:gradFill>
                <a:gsLst>
                  <a:gs pos="100000">
                    <a:schemeClr val="accent1"/>
                  </a:gs>
                  <a:gs pos="0">
                    <a:schemeClr val="accent1">
                      <a:lumMod val="75000"/>
                    </a:schemeClr>
                  </a:gs>
                </a:gsLst>
                <a:lin ang="0" scaled="1"/>
              </a:gradFill>
              <a:ln w="6350"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rgbClr val="89DAF4"/>
                  </a:solidFill>
                </a:endParaRPr>
              </a:p>
            </p:txBody>
          </p:sp>
          <p:sp>
            <p:nvSpPr>
              <p:cNvPr id="9" name="任意多边形: 形状 9">
                <a:extLst>
                  <a:ext uri="{FF2B5EF4-FFF2-40B4-BE49-F238E27FC236}">
                    <a16:creationId xmlns:a16="http://schemas.microsoft.com/office/drawing/2014/main" id="{1EA4FEE2-4CDB-67B4-E66D-D7212F97FFC6}"/>
                  </a:ext>
                </a:extLst>
              </p:cNvPr>
              <p:cNvSpPr/>
              <p:nvPr/>
            </p:nvSpPr>
            <p:spPr>
              <a:xfrm rot="16200000">
                <a:off x="5403545" y="2392717"/>
                <a:ext cx="2250511" cy="2169409"/>
              </a:xfrm>
              <a:custGeom>
                <a:avLst/>
                <a:gdLst>
                  <a:gd name="connsiteX0" fmla="*/ 2749873 w 2744927"/>
                  <a:gd name="connsiteY0" fmla="*/ 1065823 h 2646010"/>
                  <a:gd name="connsiteX1" fmla="*/ 0 w 2744927"/>
                  <a:gd name="connsiteY1" fmla="*/ 2657139 h 2646010"/>
                  <a:gd name="connsiteX2" fmla="*/ 3709 w 2744927"/>
                  <a:gd name="connsiteY2" fmla="*/ 0 h 2646010"/>
                  <a:gd name="connsiteX3" fmla="*/ 456251 w 2744927"/>
                  <a:gd name="connsiteY3" fmla="*/ 260892 h 2646010"/>
                  <a:gd name="connsiteX4" fmla="*/ 447596 w 2744927"/>
                  <a:gd name="connsiteY4" fmla="*/ 1847261 h 2646010"/>
                  <a:gd name="connsiteX5" fmla="*/ 2749873 w 2744927"/>
                  <a:gd name="connsiteY5" fmla="*/ 531675 h 264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927" h="2646010">
                    <a:moveTo>
                      <a:pt x="2749873" y="1065823"/>
                    </a:moveTo>
                    <a:lnTo>
                      <a:pt x="0" y="2657139"/>
                    </a:lnTo>
                    <a:lnTo>
                      <a:pt x="3709" y="0"/>
                    </a:lnTo>
                    <a:lnTo>
                      <a:pt x="456251" y="260892"/>
                    </a:lnTo>
                    <a:lnTo>
                      <a:pt x="447596" y="1847261"/>
                    </a:lnTo>
                    <a:lnTo>
                      <a:pt x="2749873" y="531675"/>
                    </a:lnTo>
                    <a:close/>
                  </a:path>
                </a:pathLst>
              </a:custGeom>
              <a:gradFill>
                <a:gsLst>
                  <a:gs pos="100000">
                    <a:schemeClr val="accent1">
                      <a:lumMod val="85000"/>
                      <a:lumOff val="15000"/>
                    </a:schemeClr>
                  </a:gs>
                  <a:gs pos="0">
                    <a:schemeClr val="accent1"/>
                  </a:gs>
                </a:gsLst>
                <a:lin ang="4800000" scaled="0"/>
              </a:gradFill>
              <a:ln w="6350"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rgbClr val="89DAF4"/>
                  </a:solidFill>
                </a:endParaRPr>
              </a:p>
            </p:txBody>
          </p:sp>
        </p:grpSp>
      </p:grpSp>
      <p:sp>
        <p:nvSpPr>
          <p:cNvPr id="10" name="圆角矩形 59">
            <a:extLst>
              <a:ext uri="{FF2B5EF4-FFF2-40B4-BE49-F238E27FC236}">
                <a16:creationId xmlns:a16="http://schemas.microsoft.com/office/drawing/2014/main" id="{48DB096A-B20B-48CF-37A3-2BD0D6214EE6}"/>
              </a:ext>
            </a:extLst>
          </p:cNvPr>
          <p:cNvSpPr/>
          <p:nvPr/>
        </p:nvSpPr>
        <p:spPr>
          <a:xfrm>
            <a:off x="5615744" y="2914912"/>
            <a:ext cx="2900990" cy="1926682"/>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圆角矩形 59">
            <a:extLst>
              <a:ext uri="{FF2B5EF4-FFF2-40B4-BE49-F238E27FC236}">
                <a16:creationId xmlns:a16="http://schemas.microsoft.com/office/drawing/2014/main" id="{FC0DA6B5-421F-DF6A-DACC-9FFEE01731D6}"/>
              </a:ext>
            </a:extLst>
          </p:cNvPr>
          <p:cNvSpPr/>
          <p:nvPr/>
        </p:nvSpPr>
        <p:spPr>
          <a:xfrm>
            <a:off x="2910205" y="1596016"/>
            <a:ext cx="3597910" cy="1151890"/>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圆角矩形 59">
            <a:extLst>
              <a:ext uri="{FF2B5EF4-FFF2-40B4-BE49-F238E27FC236}">
                <a16:creationId xmlns:a16="http://schemas.microsoft.com/office/drawing/2014/main" id="{9886CBFF-5128-55B8-C364-45740F432053}"/>
              </a:ext>
            </a:extLst>
          </p:cNvPr>
          <p:cNvSpPr/>
          <p:nvPr/>
        </p:nvSpPr>
        <p:spPr>
          <a:xfrm>
            <a:off x="469189" y="2914912"/>
            <a:ext cx="3014978" cy="1926682"/>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文本框 12">
            <a:extLst>
              <a:ext uri="{FF2B5EF4-FFF2-40B4-BE49-F238E27FC236}">
                <a16:creationId xmlns:a16="http://schemas.microsoft.com/office/drawing/2014/main" id="{E9D0A5F2-3C07-6BF8-BE61-EF000E0D281A}"/>
              </a:ext>
            </a:extLst>
          </p:cNvPr>
          <p:cNvSpPr txBox="1"/>
          <p:nvPr/>
        </p:nvSpPr>
        <p:spPr>
          <a:xfrm>
            <a:off x="3029224" y="1771406"/>
            <a:ext cx="3547631" cy="922020"/>
          </a:xfrm>
          <a:prstGeom prst="rect">
            <a:avLst/>
          </a:prstGeom>
          <a:noFill/>
        </p:spPr>
        <p:txBody>
          <a:bodyPr wrap="square" rtlCol="0">
            <a:spAutoFit/>
          </a:bodyPr>
          <a:lstStyle/>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高质量、精标注、病种覆盖全面的海量心电数据库</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领先的AI心电算法</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适合院端用户复杂使用场景下造成各种类型干扰的AI算法优化</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中国顶级心电专家持续指导与支持</a:t>
            </a:r>
          </a:p>
        </p:txBody>
      </p:sp>
      <p:sp>
        <p:nvSpPr>
          <p:cNvPr id="14" name="文本框 13">
            <a:extLst>
              <a:ext uri="{FF2B5EF4-FFF2-40B4-BE49-F238E27FC236}">
                <a16:creationId xmlns:a16="http://schemas.microsoft.com/office/drawing/2014/main" id="{7E2B9437-CBAA-D353-7B9A-3DD4178B92B5}"/>
              </a:ext>
            </a:extLst>
          </p:cNvPr>
          <p:cNvSpPr txBox="1"/>
          <p:nvPr/>
        </p:nvSpPr>
        <p:spPr>
          <a:xfrm>
            <a:off x="5652448" y="3111761"/>
            <a:ext cx="2949953" cy="1729833"/>
          </a:xfrm>
          <a:prstGeom prst="rect">
            <a:avLst/>
          </a:prstGeom>
          <a:noFill/>
        </p:spPr>
        <p:txBody>
          <a:bodyPr wrap="square" rtlCol="0">
            <a:spAutoFit/>
          </a:bodyPr>
          <a:lstStyle/>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平台集成算法</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数据验证，比较数据与预期结果或标准，检查数据是否符合预先设定的规则和条件</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算法检测数据中的异常值，并根据业务逻辑确定是否需要进行处理</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数据清洗：清理数据中的错误、不一致或无效的内容，确保数据的质量和可信度</a:t>
            </a:r>
          </a:p>
          <a:p>
            <a:pPr marL="171450" indent="-171450" algn="l">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数据标准化：数据质控为统一标准的格式、规则等</a:t>
            </a:r>
          </a:p>
        </p:txBody>
      </p:sp>
      <p:sp>
        <p:nvSpPr>
          <p:cNvPr id="15" name="文本框 14">
            <a:extLst>
              <a:ext uri="{FF2B5EF4-FFF2-40B4-BE49-F238E27FC236}">
                <a16:creationId xmlns:a16="http://schemas.microsoft.com/office/drawing/2014/main" id="{85803667-5E4C-61C0-7E62-00BC8612794B}"/>
              </a:ext>
            </a:extLst>
          </p:cNvPr>
          <p:cNvSpPr txBox="1"/>
          <p:nvPr/>
        </p:nvSpPr>
        <p:spPr>
          <a:xfrm>
            <a:off x="498563" y="3111761"/>
            <a:ext cx="2948899" cy="1729833"/>
          </a:xfrm>
          <a:prstGeom prst="rect">
            <a:avLst/>
          </a:prstGeom>
          <a:noFill/>
        </p:spPr>
        <p:txBody>
          <a:bodyPr wrap="square" rtlCol="0">
            <a:spAutoFit/>
          </a:bodyPr>
          <a:lstStyle/>
          <a:p>
            <a:pPr marL="171450" indent="-171450">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设备集成算法</a:t>
            </a:r>
          </a:p>
          <a:p>
            <a:pPr marL="171450" indent="-171450">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数据验证，比较数据与预期结果或标准，检查数据是否符合预先设定的规则和条件</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算法检测数据中的异常值，并根据业务逻辑确定是否需要进行处理</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数据清洗：清理数据中的错误、不一致或无效的内容，确保数据的质量和可信度</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Clr>
                <a:srgbClr val="2A86DC"/>
              </a:buClr>
              <a:buSzPct val="80000"/>
              <a:buFont typeface="Wingdings" panose="05000000000000000000" charset="0"/>
              <a:buChar char="u"/>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数据标准化：数据质控为统一标准的格式、规则等</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圆角 14">
            <a:extLst>
              <a:ext uri="{FF2B5EF4-FFF2-40B4-BE49-F238E27FC236}">
                <a16:creationId xmlns:a16="http://schemas.microsoft.com/office/drawing/2014/main" id="{6A3E5A8B-3384-F337-615B-38DAA5D32929}"/>
              </a:ext>
            </a:extLst>
          </p:cNvPr>
          <p:cNvSpPr/>
          <p:nvPr/>
        </p:nvSpPr>
        <p:spPr>
          <a:xfrm>
            <a:off x="1069340" y="2688216"/>
            <a:ext cx="1740535" cy="413385"/>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设备数据质控</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7" name="矩形: 圆角 17">
            <a:extLst>
              <a:ext uri="{FF2B5EF4-FFF2-40B4-BE49-F238E27FC236}">
                <a16:creationId xmlns:a16="http://schemas.microsoft.com/office/drawing/2014/main" id="{173FA068-F763-818B-6F47-FFA7B1DC1B07}"/>
              </a:ext>
            </a:extLst>
          </p:cNvPr>
          <p:cNvSpPr/>
          <p:nvPr/>
        </p:nvSpPr>
        <p:spPr>
          <a:xfrm>
            <a:off x="3976926" y="1425336"/>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400" b="1" dirty="0">
                <a:solidFill>
                  <a:schemeClr val="bg1"/>
                </a:solidFill>
                <a:latin typeface="微软雅黑" panose="020B0503020204020204" pitchFamily="34" charset="-122"/>
                <a:ea typeface="微软雅黑" panose="020B0503020204020204" pitchFamily="34" charset="-122"/>
              </a:rPr>
              <a:t>AI</a:t>
            </a:r>
            <a:r>
              <a:rPr lang="zh-CN" altLang="en-US" sz="1400" b="1" dirty="0">
                <a:solidFill>
                  <a:schemeClr val="bg1"/>
                </a:solidFill>
                <a:latin typeface="微软雅黑" panose="020B0503020204020204" pitchFamily="34" charset="-122"/>
                <a:ea typeface="微软雅黑" panose="020B0503020204020204" pitchFamily="34" charset="-122"/>
              </a:rPr>
              <a:t>算法</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8" name="矩形: 圆角 20">
            <a:extLst>
              <a:ext uri="{FF2B5EF4-FFF2-40B4-BE49-F238E27FC236}">
                <a16:creationId xmlns:a16="http://schemas.microsoft.com/office/drawing/2014/main" id="{DE2BAC0A-BDD6-4675-77FF-909B4F68EEDB}"/>
              </a:ext>
            </a:extLst>
          </p:cNvPr>
          <p:cNvSpPr/>
          <p:nvPr/>
        </p:nvSpPr>
        <p:spPr>
          <a:xfrm>
            <a:off x="6245973" y="2687581"/>
            <a:ext cx="1852295" cy="415925"/>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平台数据质控</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D7E742A2-8A7C-5C44-87D7-1005369C5021}"/>
              </a:ext>
            </a:extLst>
          </p:cNvPr>
          <p:cNvSpPr/>
          <p:nvPr/>
        </p:nvSpPr>
        <p:spPr>
          <a:xfrm>
            <a:off x="311972" y="842647"/>
            <a:ext cx="8181321" cy="613694"/>
          </a:xfrm>
          <a:prstGeom prst="rect">
            <a:avLst/>
          </a:prstGeom>
        </p:spPr>
        <p:txBody>
          <a:bodyPr wrap="square">
            <a:spAutoFit/>
          </a:bodyPr>
          <a:lstStyle/>
          <a:p>
            <a:pPr algn="just">
              <a:lnSpc>
                <a:spcPct val="150000"/>
              </a:lnSpc>
              <a:buSzPts val="1200"/>
            </a:pPr>
            <a:r>
              <a:rPr lang="zh-CN" altLang="en-US" sz="12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远程心电一张网算法提供设备及平台数据质控用于完成数据的处理，使得设备采集的数据质量更好，提高分析效率，便于医生解读。</a:t>
            </a:r>
            <a:endParaRPr lang="en-US" altLang="zh-CN" sz="1200" dirty="0">
              <a:solidFill>
                <a:schemeClr val="tx1">
                  <a:lumMod val="75000"/>
                  <a:lumOff val="25000"/>
                </a:schemeClr>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532759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CE0C8-6841-84BF-D6F0-EDD1828776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F2144F-700C-575E-CFCE-3425349C56F4}"/>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跨平台应用能力强</a:t>
            </a:r>
          </a:p>
        </p:txBody>
      </p:sp>
      <p:sp>
        <p:nvSpPr>
          <p:cNvPr id="3" name="圆角矩形 13">
            <a:extLst>
              <a:ext uri="{FF2B5EF4-FFF2-40B4-BE49-F238E27FC236}">
                <a16:creationId xmlns:a16="http://schemas.microsoft.com/office/drawing/2014/main" id="{29520F4F-0ADB-C509-2A27-6B6DFEA80F59}"/>
              </a:ext>
            </a:extLst>
          </p:cNvPr>
          <p:cNvSpPr/>
          <p:nvPr/>
        </p:nvSpPr>
        <p:spPr>
          <a:xfrm>
            <a:off x="5132740" y="3745234"/>
            <a:ext cx="3059208" cy="70445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FE0F1FE-4D52-4DEC-37F7-CD62F944F097}"/>
              </a:ext>
            </a:extLst>
          </p:cNvPr>
          <p:cNvSpPr/>
          <p:nvPr/>
        </p:nvSpPr>
        <p:spPr>
          <a:xfrm>
            <a:off x="323528" y="867431"/>
            <a:ext cx="8397875" cy="613694"/>
          </a:xfrm>
          <a:prstGeom prst="rect">
            <a:avLst/>
          </a:prstGeom>
        </p:spPr>
        <p:txBody>
          <a:bodyPr wrap="square" rtlCol="0">
            <a:spAutoFit/>
          </a:bodyPr>
          <a:lstStyle/>
          <a:p>
            <a:pPr lvl="0" algn="l">
              <a:lnSpc>
                <a:spcPct val="150000"/>
              </a:lnSpc>
              <a:buClrTx/>
              <a:buSzTx/>
              <a:buFontTx/>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mn-ea"/>
              </a:rPr>
              <a:t>支持用户在移动端、PC客户端、PC网页端等跨平台开展心电数据的进行分析、查阅和管理。特别是手机端APP更适合基层医生的应用场景，高效、移动 。</a:t>
            </a:r>
          </a:p>
        </p:txBody>
      </p:sp>
      <p:sp>
        <p:nvSpPr>
          <p:cNvPr id="5" name="椭圆 4">
            <a:extLst>
              <a:ext uri="{FF2B5EF4-FFF2-40B4-BE49-F238E27FC236}">
                <a16:creationId xmlns:a16="http://schemas.microsoft.com/office/drawing/2014/main" id="{BBD8399C-0D22-8108-AE62-ADB453866FC8}"/>
              </a:ext>
            </a:extLst>
          </p:cNvPr>
          <p:cNvSpPr/>
          <p:nvPr/>
        </p:nvSpPr>
        <p:spPr>
          <a:xfrm>
            <a:off x="818334" y="1577257"/>
            <a:ext cx="3365056" cy="3096344"/>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0EC76276-3218-8FF3-5CE5-6DB588B3B863}"/>
              </a:ext>
            </a:extLst>
          </p:cNvPr>
          <p:cNvCxnSpPr/>
          <p:nvPr/>
        </p:nvCxnSpPr>
        <p:spPr>
          <a:xfrm>
            <a:off x="2614841" y="1839247"/>
            <a:ext cx="0" cy="30151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a:extLst>
              <a:ext uri="{FF2B5EF4-FFF2-40B4-BE49-F238E27FC236}">
                <a16:creationId xmlns:a16="http://schemas.microsoft.com/office/drawing/2014/main" id="{A61D3DA3-91D5-237D-1446-0AEDC2086434}"/>
              </a:ext>
            </a:extLst>
          </p:cNvPr>
          <p:cNvCxnSpPr/>
          <p:nvPr/>
        </p:nvCxnSpPr>
        <p:spPr>
          <a:xfrm flipV="1">
            <a:off x="1280221" y="3521320"/>
            <a:ext cx="211763" cy="29319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a:extLst>
              <a:ext uri="{FF2B5EF4-FFF2-40B4-BE49-F238E27FC236}">
                <a16:creationId xmlns:a16="http://schemas.microsoft.com/office/drawing/2014/main" id="{C420A7C4-CA4D-0C13-CAF8-0FE4D0AC2B03}"/>
              </a:ext>
            </a:extLst>
          </p:cNvPr>
          <p:cNvCxnSpPr/>
          <p:nvPr/>
        </p:nvCxnSpPr>
        <p:spPr>
          <a:xfrm flipH="1" flipV="1">
            <a:off x="3142626" y="3421193"/>
            <a:ext cx="183457" cy="22503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矩形 8">
            <a:extLst>
              <a:ext uri="{FF2B5EF4-FFF2-40B4-BE49-F238E27FC236}">
                <a16:creationId xmlns:a16="http://schemas.microsoft.com/office/drawing/2014/main" id="{0A60B574-FA38-BFE2-11D3-C9AFCBE9D33C}"/>
              </a:ext>
            </a:extLst>
          </p:cNvPr>
          <p:cNvSpPr/>
          <p:nvPr/>
        </p:nvSpPr>
        <p:spPr>
          <a:xfrm>
            <a:off x="5245809" y="3795111"/>
            <a:ext cx="2731381" cy="526811"/>
          </a:xfrm>
          <a:prstGeom prst="rect">
            <a:avLst/>
          </a:prstGeom>
        </p:spPr>
        <p:txBody>
          <a:bodyPr wrap="square" rtlCol="0">
            <a:spAutoFit/>
          </a:bodyPr>
          <a:lstStyle/>
          <a:p>
            <a:pPr lvl="0" algn="l">
              <a:lnSpc>
                <a:spcPct val="150000"/>
              </a:lnSpc>
              <a:buClrTx/>
              <a:buSzTx/>
              <a:buFontTx/>
            </a:pPr>
            <a:r>
              <a:rPr lang="zh-CN" altLang="en-US" sz="1000" b="1" dirty="0">
                <a:solidFill>
                  <a:schemeClr val="bg1"/>
                </a:solidFill>
                <a:latin typeface="微软雅黑" panose="020B0503020204020204" pitchFamily="34" charset="-122"/>
                <a:ea typeface="微软雅黑" panose="020B0503020204020204" pitchFamily="34" charset="-122"/>
                <a:sym typeface="+mn-ea"/>
              </a:rPr>
              <a:t>方便医生随时随地的管理</a:t>
            </a:r>
          </a:p>
          <a:p>
            <a:pPr lvl="0" algn="l">
              <a:lnSpc>
                <a:spcPct val="150000"/>
              </a:lnSpc>
              <a:buClrTx/>
              <a:buSzTx/>
              <a:buFontTx/>
            </a:pPr>
            <a:r>
              <a:rPr lang="zh-CN" altLang="en-US" sz="1000" b="1" dirty="0">
                <a:solidFill>
                  <a:schemeClr val="bg1"/>
                </a:solidFill>
                <a:latin typeface="微软雅黑" panose="020B0503020204020204" pitchFamily="34" charset="-122"/>
                <a:ea typeface="微软雅黑" panose="020B0503020204020204" pitchFamily="34" charset="-122"/>
                <a:sym typeface="+mn-ea"/>
              </a:rPr>
              <a:t>特别满足了基层医生日常的工作管理的需要</a:t>
            </a:r>
          </a:p>
        </p:txBody>
      </p:sp>
      <p:sp>
        <p:nvSpPr>
          <p:cNvPr id="10" name="矩形 9">
            <a:extLst>
              <a:ext uri="{FF2B5EF4-FFF2-40B4-BE49-F238E27FC236}">
                <a16:creationId xmlns:a16="http://schemas.microsoft.com/office/drawing/2014/main" id="{EC0E10FC-F75C-7368-CD98-77CCE55824FC}"/>
              </a:ext>
            </a:extLst>
          </p:cNvPr>
          <p:cNvSpPr/>
          <p:nvPr/>
        </p:nvSpPr>
        <p:spPr>
          <a:xfrm>
            <a:off x="2098403" y="2900799"/>
            <a:ext cx="875030" cy="34163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区域心电云平台</a:t>
            </a:r>
          </a:p>
        </p:txBody>
      </p:sp>
      <p:sp>
        <p:nvSpPr>
          <p:cNvPr id="11" name="矩形: 圆角 10">
            <a:extLst>
              <a:ext uri="{FF2B5EF4-FFF2-40B4-BE49-F238E27FC236}">
                <a16:creationId xmlns:a16="http://schemas.microsoft.com/office/drawing/2014/main" id="{CBBEC01A-D4D6-7029-257E-755B4B8C14EE}"/>
              </a:ext>
            </a:extLst>
          </p:cNvPr>
          <p:cNvSpPr/>
          <p:nvPr/>
        </p:nvSpPr>
        <p:spPr>
          <a:xfrm>
            <a:off x="1952535" y="1487568"/>
            <a:ext cx="1300090" cy="38965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400" b="1" dirty="0">
                <a:solidFill>
                  <a:schemeClr val="bg1"/>
                </a:solidFill>
                <a:latin typeface="微软雅黑" panose="020B0503020204020204" pitchFamily="34" charset="-122"/>
                <a:ea typeface="微软雅黑" panose="020B0503020204020204" pitchFamily="34" charset="-122"/>
              </a:rPr>
              <a:t>WEB</a:t>
            </a:r>
            <a:r>
              <a:rPr lang="zh-CN" altLang="en-US" sz="1400" b="1" dirty="0">
                <a:solidFill>
                  <a:schemeClr val="bg1"/>
                </a:solidFill>
                <a:latin typeface="微软雅黑" panose="020B0503020204020204" pitchFamily="34" charset="-122"/>
                <a:ea typeface="微软雅黑" panose="020B0503020204020204" pitchFamily="34" charset="-122"/>
              </a:rPr>
              <a:t>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2" name="矩形: 圆角 17">
            <a:extLst>
              <a:ext uri="{FF2B5EF4-FFF2-40B4-BE49-F238E27FC236}">
                <a16:creationId xmlns:a16="http://schemas.microsoft.com/office/drawing/2014/main" id="{83559DB0-246E-3820-CADC-47CC09DD0B17}"/>
              </a:ext>
            </a:extLst>
          </p:cNvPr>
          <p:cNvSpPr/>
          <p:nvPr/>
        </p:nvSpPr>
        <p:spPr>
          <a:xfrm>
            <a:off x="474547" y="3872999"/>
            <a:ext cx="1464469" cy="448923"/>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400" b="1" dirty="0">
                <a:solidFill>
                  <a:schemeClr val="bg1"/>
                </a:solidFill>
                <a:latin typeface="微软雅黑" panose="020B0503020204020204" pitchFamily="34" charset="-122"/>
                <a:ea typeface="微软雅黑" panose="020B0503020204020204" pitchFamily="34" charset="-122"/>
              </a:rPr>
              <a:t>PC</a:t>
            </a:r>
            <a:r>
              <a:rPr lang="zh-CN" altLang="en-US" sz="1400" b="1" dirty="0">
                <a:solidFill>
                  <a:schemeClr val="bg1"/>
                </a:solidFill>
                <a:latin typeface="微软雅黑" panose="020B0503020204020204" pitchFamily="34" charset="-122"/>
                <a:ea typeface="微软雅黑" panose="020B0503020204020204" pitchFamily="34" charset="-122"/>
              </a:rPr>
              <a:t>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3" name="矩形: 圆角 17">
            <a:extLst>
              <a:ext uri="{FF2B5EF4-FFF2-40B4-BE49-F238E27FC236}">
                <a16:creationId xmlns:a16="http://schemas.microsoft.com/office/drawing/2014/main" id="{C70E8AE6-C4AF-82A0-2B35-8278262A5579}"/>
              </a:ext>
            </a:extLst>
          </p:cNvPr>
          <p:cNvSpPr/>
          <p:nvPr/>
        </p:nvSpPr>
        <p:spPr>
          <a:xfrm>
            <a:off x="2985432" y="3872999"/>
            <a:ext cx="1464469" cy="448923"/>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400" b="1" dirty="0">
                <a:solidFill>
                  <a:schemeClr val="bg1"/>
                </a:solidFill>
                <a:latin typeface="微软雅黑" panose="020B0503020204020204" pitchFamily="34" charset="-122"/>
                <a:ea typeface="微软雅黑" panose="020B0503020204020204" pitchFamily="34" charset="-122"/>
              </a:rPr>
              <a:t>APP</a:t>
            </a:r>
            <a:r>
              <a:rPr lang="zh-CN" altLang="en-US" sz="1400" b="1" dirty="0">
                <a:solidFill>
                  <a:schemeClr val="bg1"/>
                </a:solidFill>
                <a:latin typeface="微软雅黑" panose="020B0503020204020204" pitchFamily="34" charset="-122"/>
                <a:ea typeface="微软雅黑" panose="020B0503020204020204" pitchFamily="34" charset="-122"/>
              </a:rPr>
              <a:t>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pic>
        <p:nvPicPr>
          <p:cNvPr id="14" name="Picture 5" descr="C:\Users\pc2222\Desktop\圆角矩形 1.png">
            <a:extLst>
              <a:ext uri="{FF2B5EF4-FFF2-40B4-BE49-F238E27FC236}">
                <a16:creationId xmlns:a16="http://schemas.microsoft.com/office/drawing/2014/main" id="{12DE5A92-7C70-04C1-D0C6-54F446E4FBA6}"/>
              </a:ext>
            </a:extLst>
          </p:cNvPr>
          <p:cNvPicPr>
            <a:picLocks noChangeAspect="1" noChangeArrowheads="1"/>
          </p:cNvPicPr>
          <p:nvPr/>
        </p:nvPicPr>
        <p:blipFill>
          <a:blip r:embed="rId10" cstate="print">
            <a:lum bright="18000" contrast="24000"/>
          </a:blip>
          <a:srcRect/>
          <a:stretch>
            <a:fillRect/>
          </a:stretch>
        </p:blipFill>
        <p:spPr bwMode="auto">
          <a:xfrm>
            <a:off x="1400183" y="2140763"/>
            <a:ext cx="2173936" cy="1199366"/>
          </a:xfrm>
          <a:prstGeom prst="rect">
            <a:avLst/>
          </a:prstGeom>
          <a:noFill/>
        </p:spPr>
      </p:pic>
      <p:sp>
        <p:nvSpPr>
          <p:cNvPr id="15" name="矩形 14">
            <a:extLst>
              <a:ext uri="{FF2B5EF4-FFF2-40B4-BE49-F238E27FC236}">
                <a16:creationId xmlns:a16="http://schemas.microsoft.com/office/drawing/2014/main" id="{5E9ADD3D-7BD6-02EB-5F2D-2D4B04664999}"/>
              </a:ext>
            </a:extLst>
          </p:cNvPr>
          <p:cNvSpPr/>
          <p:nvPr/>
        </p:nvSpPr>
        <p:spPr>
          <a:xfrm>
            <a:off x="1870271" y="2483672"/>
            <a:ext cx="1301669" cy="293448"/>
          </a:xfrm>
          <a:prstGeom prst="rect">
            <a:avLst/>
          </a:prstGeom>
        </p:spPr>
        <p:txBody>
          <a:bodyPr wrap="square">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业务平台</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16" name="同侧圆角矩形 27">
            <a:extLst>
              <a:ext uri="{FF2B5EF4-FFF2-40B4-BE49-F238E27FC236}">
                <a16:creationId xmlns:a16="http://schemas.microsoft.com/office/drawing/2014/main" id="{5150DE25-681A-6AFF-C6A5-3A81CEA283B9}"/>
              </a:ext>
            </a:extLst>
          </p:cNvPr>
          <p:cNvSpPr/>
          <p:nvPr/>
        </p:nvSpPr>
        <p:spPr>
          <a:xfrm rot="16200000">
            <a:off x="1366640" y="2917841"/>
            <a:ext cx="836117" cy="652780"/>
          </a:xfrm>
          <a:prstGeom prst="round2SameRect">
            <a:avLst>
              <a:gd name="adj1" fmla="val 50000"/>
              <a:gd name="adj2" fmla="val 0"/>
            </a:avLst>
          </a:prstGeom>
          <a:solidFill>
            <a:srgbClr val="29B6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文本框 44">
            <a:extLst>
              <a:ext uri="{FF2B5EF4-FFF2-40B4-BE49-F238E27FC236}">
                <a16:creationId xmlns:a16="http://schemas.microsoft.com/office/drawing/2014/main" id="{24D061A7-EE56-3708-4581-1D68B3371007}"/>
              </a:ext>
            </a:extLst>
          </p:cNvPr>
          <p:cNvSpPr txBox="1"/>
          <p:nvPr>
            <p:custDataLst>
              <p:tags r:id="rId1"/>
            </p:custDataLst>
          </p:nvPr>
        </p:nvSpPr>
        <p:spPr>
          <a:xfrm>
            <a:off x="1561087" y="3282708"/>
            <a:ext cx="499201" cy="307777"/>
          </a:xfrm>
          <a:prstGeom prst="rect">
            <a:avLst/>
          </a:prstGeom>
          <a:noFill/>
        </p:spPr>
        <p:txBody>
          <a:bodyPr wrap="square">
            <a:spAutoFit/>
          </a:bodyPr>
          <a:lstStyle/>
          <a:p>
            <a:pPr algn="ctr"/>
            <a:r>
              <a:rPr lang="zh-CN" altLang="en-US" sz="700" dirty="0">
                <a:solidFill>
                  <a:schemeClr val="bg1"/>
                </a:solidFill>
                <a:latin typeface="微软雅黑" panose="020B0503020204020204" pitchFamily="34" charset="-122"/>
                <a:ea typeface="微软雅黑" panose="020B0503020204020204" pitchFamily="34" charset="-122"/>
              </a:rPr>
              <a:t>存储</a:t>
            </a:r>
            <a:endParaRPr lang="en-US" altLang="zh-CN" sz="700" dirty="0">
              <a:solidFill>
                <a:schemeClr val="bg1"/>
              </a:solidFill>
              <a:latin typeface="微软雅黑" panose="020B0503020204020204" pitchFamily="34" charset="-122"/>
              <a:ea typeface="微软雅黑" panose="020B0503020204020204" pitchFamily="34" charset="-122"/>
            </a:endParaRPr>
          </a:p>
          <a:p>
            <a:pPr algn="ctr"/>
            <a:r>
              <a:rPr lang="zh-CN" altLang="en-US" sz="700" dirty="0">
                <a:solidFill>
                  <a:schemeClr val="bg1"/>
                </a:solidFill>
                <a:latin typeface="微软雅黑" panose="020B0503020204020204" pitchFamily="34" charset="-122"/>
                <a:ea typeface="微软雅黑" panose="020B0503020204020204" pitchFamily="34" charset="-122"/>
              </a:rPr>
              <a:t>共享</a:t>
            </a:r>
            <a:endParaRPr lang="en-US" altLang="zh-CN" sz="700" dirty="0">
              <a:solidFill>
                <a:schemeClr val="bg1"/>
              </a:solidFill>
              <a:latin typeface="微软雅黑" panose="020B0503020204020204" pitchFamily="34" charset="-122"/>
              <a:ea typeface="微软雅黑" panose="020B0503020204020204" pitchFamily="34" charset="-122"/>
            </a:endParaRPr>
          </a:p>
        </p:txBody>
      </p:sp>
      <p:pic>
        <p:nvPicPr>
          <p:cNvPr id="18" name="图形 35" descr="数据库 轮廓">
            <a:extLst>
              <a:ext uri="{FF2B5EF4-FFF2-40B4-BE49-F238E27FC236}">
                <a16:creationId xmlns:a16="http://schemas.microsoft.com/office/drawing/2014/main" id="{27F327D7-DDB7-04DC-22EA-528887359A44}"/>
              </a:ext>
            </a:extLst>
          </p:cNvPr>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609957" y="2899198"/>
            <a:ext cx="406400" cy="343535"/>
          </a:xfrm>
          <a:prstGeom prst="rect">
            <a:avLst/>
          </a:prstGeom>
        </p:spPr>
      </p:pic>
      <p:sp>
        <p:nvSpPr>
          <p:cNvPr id="19" name="同侧圆角矩形 30">
            <a:extLst>
              <a:ext uri="{FF2B5EF4-FFF2-40B4-BE49-F238E27FC236}">
                <a16:creationId xmlns:a16="http://schemas.microsoft.com/office/drawing/2014/main" id="{56929FB1-CD37-1A70-9759-711081BC72B7}"/>
              </a:ext>
            </a:extLst>
          </p:cNvPr>
          <p:cNvSpPr/>
          <p:nvPr/>
        </p:nvSpPr>
        <p:spPr>
          <a:xfrm rot="5400000">
            <a:off x="2816345" y="2926731"/>
            <a:ext cx="836117" cy="635000"/>
          </a:xfrm>
          <a:prstGeom prst="round2SameRect">
            <a:avLst>
              <a:gd name="adj1" fmla="val 50000"/>
              <a:gd name="adj2" fmla="val 0"/>
            </a:avLst>
          </a:prstGeom>
          <a:solidFill>
            <a:srgbClr val="295F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73A78136-67C1-2083-37E9-072799DF03FE}"/>
              </a:ext>
            </a:extLst>
          </p:cNvPr>
          <p:cNvSpPr/>
          <p:nvPr/>
        </p:nvSpPr>
        <p:spPr>
          <a:xfrm rot="16200000">
            <a:off x="2096258" y="2841641"/>
            <a:ext cx="836116" cy="805815"/>
          </a:xfrm>
          <a:prstGeom prst="rect">
            <a:avLst/>
          </a:prstGeom>
          <a:solidFill>
            <a:srgbClr val="2A86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文本框 42">
            <a:extLst>
              <a:ext uri="{FF2B5EF4-FFF2-40B4-BE49-F238E27FC236}">
                <a16:creationId xmlns:a16="http://schemas.microsoft.com/office/drawing/2014/main" id="{D5D75E78-4C2E-9DCD-5957-EB30D390092C}"/>
              </a:ext>
            </a:extLst>
          </p:cNvPr>
          <p:cNvSpPr txBox="1"/>
          <p:nvPr>
            <p:custDataLst>
              <p:tags r:id="rId3"/>
            </p:custDataLst>
          </p:nvPr>
        </p:nvSpPr>
        <p:spPr>
          <a:xfrm>
            <a:off x="2483536" y="2971854"/>
            <a:ext cx="370991" cy="227489"/>
          </a:xfrm>
          <a:prstGeom prst="rect">
            <a:avLst/>
          </a:prstGeom>
          <a:noFill/>
        </p:spPr>
        <p:txBody>
          <a:bodyPr wrap="square">
            <a:noAutofit/>
          </a:bodyPr>
          <a:lstStyle/>
          <a:p>
            <a:pPr algn="ctr"/>
            <a:r>
              <a:rPr lang="en-US" altLang="zh-CN" sz="1000" dirty="0">
                <a:solidFill>
                  <a:schemeClr val="bg1"/>
                </a:solidFill>
                <a:latin typeface="微软雅黑" panose="020B0503020204020204" pitchFamily="34" charset="-122"/>
                <a:ea typeface="微软雅黑" panose="020B0503020204020204" pitchFamily="34" charset="-122"/>
              </a:rPr>
              <a:t>AI</a:t>
            </a:r>
            <a:br>
              <a:rPr lang="en-US" altLang="zh-CN" sz="1000" dirty="0">
                <a:solidFill>
                  <a:schemeClr val="bg1"/>
                </a:solidFill>
                <a:latin typeface="微软雅黑" panose="020B0503020204020204" pitchFamily="34" charset="-122"/>
                <a:ea typeface="微软雅黑" panose="020B0503020204020204" pitchFamily="34" charset="-122"/>
              </a:rPr>
            </a:br>
            <a:endParaRPr lang="en-US" altLang="zh-CN" sz="1000" dirty="0">
              <a:solidFill>
                <a:schemeClr val="bg1"/>
              </a:solidFill>
              <a:latin typeface="微软雅黑" panose="020B0503020204020204" pitchFamily="34" charset="-122"/>
              <a:ea typeface="微软雅黑" panose="020B0503020204020204" pitchFamily="34" charset="-122"/>
            </a:endParaRPr>
          </a:p>
        </p:txBody>
      </p:sp>
      <p:pic>
        <p:nvPicPr>
          <p:cNvPr id="22" name="图形 38" descr="人工智能 轮廓">
            <a:extLst>
              <a:ext uri="{FF2B5EF4-FFF2-40B4-BE49-F238E27FC236}">
                <a16:creationId xmlns:a16="http://schemas.microsoft.com/office/drawing/2014/main" id="{5F7D51D7-1FC2-6CF8-E349-5D0630C15937}"/>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2288889" y="2901421"/>
            <a:ext cx="337820" cy="339090"/>
          </a:xfrm>
          <a:prstGeom prst="rect">
            <a:avLst/>
          </a:prstGeom>
        </p:spPr>
      </p:pic>
      <p:sp>
        <p:nvSpPr>
          <p:cNvPr id="23" name="文本框 44">
            <a:extLst>
              <a:ext uri="{FF2B5EF4-FFF2-40B4-BE49-F238E27FC236}">
                <a16:creationId xmlns:a16="http://schemas.microsoft.com/office/drawing/2014/main" id="{57D1CDB9-88E2-3B66-3C72-1CDAD4017192}"/>
              </a:ext>
            </a:extLst>
          </p:cNvPr>
          <p:cNvSpPr txBox="1"/>
          <p:nvPr>
            <p:custDataLst>
              <p:tags r:id="rId5"/>
            </p:custDataLst>
          </p:nvPr>
        </p:nvSpPr>
        <p:spPr>
          <a:xfrm>
            <a:off x="2137627" y="3217472"/>
            <a:ext cx="754484" cy="445135"/>
          </a:xfrm>
          <a:prstGeom prst="rect">
            <a:avLst/>
          </a:prstGeom>
          <a:noFill/>
        </p:spPr>
        <p:txBody>
          <a:bodyPr wrap="square">
            <a:spAutoFit/>
          </a:bodyPr>
          <a:lstStyle/>
          <a:p>
            <a:pPr algn="ctr">
              <a:lnSpc>
                <a:spcPct val="110000"/>
              </a:lnSpc>
            </a:pPr>
            <a:r>
              <a:rPr lang="zh-CN" altLang="en-US" sz="700" dirty="0">
                <a:solidFill>
                  <a:schemeClr val="bg1"/>
                </a:solidFill>
                <a:latin typeface="微软雅黑" panose="020B0503020204020204" pitchFamily="34" charset="-122"/>
                <a:ea typeface="微软雅黑" panose="020B0503020204020204" pitchFamily="34" charset="-122"/>
              </a:rPr>
              <a:t>心电辅助诊断</a:t>
            </a:r>
            <a:endParaRPr lang="en-US" altLang="zh-CN" sz="700"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zh-CN" altLang="en-US" sz="700" dirty="0">
                <a:solidFill>
                  <a:schemeClr val="bg1"/>
                </a:solidFill>
                <a:latin typeface="微软雅黑" panose="020B0503020204020204" pitchFamily="34" charset="-122"/>
                <a:ea typeface="微软雅黑" panose="020B0503020204020204" pitchFamily="34" charset="-122"/>
              </a:rPr>
              <a:t>慢病风险评估</a:t>
            </a:r>
            <a:endParaRPr lang="en-US" altLang="zh-CN" sz="700" dirty="0">
              <a:solidFill>
                <a:schemeClr val="bg1"/>
              </a:solidFill>
              <a:latin typeface="微软雅黑" panose="020B0503020204020204" pitchFamily="34" charset="-122"/>
              <a:ea typeface="微软雅黑" panose="020B0503020204020204" pitchFamily="34" charset="-122"/>
            </a:endParaRPr>
          </a:p>
          <a:p>
            <a:pPr algn="ctr">
              <a:lnSpc>
                <a:spcPct val="110000"/>
              </a:lnSpc>
            </a:pPr>
            <a:r>
              <a:rPr lang="en-US" altLang="zh-CN" sz="700" dirty="0">
                <a:solidFill>
                  <a:schemeClr val="bg1"/>
                </a:solidFill>
                <a:latin typeface="微软雅黑" panose="020B0503020204020204" pitchFamily="34" charset="-122"/>
                <a:ea typeface="微软雅黑" panose="020B0503020204020204" pitchFamily="34" charset="-122"/>
              </a:rPr>
              <a:t>HRV</a:t>
            </a:r>
          </a:p>
        </p:txBody>
      </p:sp>
      <p:sp>
        <p:nvSpPr>
          <p:cNvPr id="24" name="文本框 47">
            <a:extLst>
              <a:ext uri="{FF2B5EF4-FFF2-40B4-BE49-F238E27FC236}">
                <a16:creationId xmlns:a16="http://schemas.microsoft.com/office/drawing/2014/main" id="{36A6E564-1534-CC9F-666E-D43B9A0418A9}"/>
              </a:ext>
            </a:extLst>
          </p:cNvPr>
          <p:cNvSpPr txBox="1"/>
          <p:nvPr>
            <p:custDataLst>
              <p:tags r:id="rId6"/>
            </p:custDataLst>
          </p:nvPr>
        </p:nvSpPr>
        <p:spPr>
          <a:xfrm>
            <a:off x="2865540" y="3243348"/>
            <a:ext cx="652853" cy="307777"/>
          </a:xfrm>
          <a:prstGeom prst="rect">
            <a:avLst/>
          </a:prstGeom>
          <a:noFill/>
        </p:spPr>
        <p:txBody>
          <a:bodyPr wrap="square">
            <a:spAutoFit/>
          </a:bodyPr>
          <a:lstStyle/>
          <a:p>
            <a:pPr algn="ctr"/>
            <a:r>
              <a:rPr lang="zh-CN" altLang="en-US" sz="700" dirty="0">
                <a:solidFill>
                  <a:schemeClr val="bg1"/>
                </a:solidFill>
                <a:latin typeface="微软雅黑" panose="020B0503020204020204" pitchFamily="34" charset="-122"/>
                <a:ea typeface="微软雅黑" panose="020B0503020204020204" pitchFamily="34" charset="-122"/>
              </a:rPr>
              <a:t>安全</a:t>
            </a:r>
            <a:endParaRPr lang="en-US" altLang="zh-CN" sz="700" dirty="0">
              <a:solidFill>
                <a:schemeClr val="bg1"/>
              </a:solidFill>
              <a:latin typeface="微软雅黑" panose="020B0503020204020204" pitchFamily="34" charset="-122"/>
              <a:ea typeface="微软雅黑" panose="020B0503020204020204" pitchFamily="34" charset="-122"/>
            </a:endParaRPr>
          </a:p>
          <a:p>
            <a:pPr algn="ctr"/>
            <a:r>
              <a:rPr lang="zh-CN" altLang="en-US" sz="700" dirty="0">
                <a:solidFill>
                  <a:schemeClr val="bg1"/>
                </a:solidFill>
                <a:latin typeface="微软雅黑" panose="020B0503020204020204" pitchFamily="34" charset="-122"/>
                <a:ea typeface="微软雅黑" panose="020B0503020204020204" pitchFamily="34" charset="-122"/>
              </a:rPr>
              <a:t>接口</a:t>
            </a:r>
            <a:endParaRPr lang="en-US" altLang="zh-CN" sz="700" dirty="0">
              <a:solidFill>
                <a:schemeClr val="bg1"/>
              </a:solidFill>
              <a:latin typeface="微软雅黑" panose="020B0503020204020204" pitchFamily="34" charset="-122"/>
              <a:ea typeface="微软雅黑" panose="020B0503020204020204" pitchFamily="34" charset="-122"/>
            </a:endParaRPr>
          </a:p>
        </p:txBody>
      </p:sp>
      <p:pic>
        <p:nvPicPr>
          <p:cNvPr id="25" name="图形 47" descr="层次结构 轮廓">
            <a:extLst>
              <a:ext uri="{FF2B5EF4-FFF2-40B4-BE49-F238E27FC236}">
                <a16:creationId xmlns:a16="http://schemas.microsoft.com/office/drawing/2014/main" id="{7B906C1D-A4EF-CE48-0FBB-78CAE95AC11E}"/>
              </a:ext>
            </a:extLst>
          </p:cNvPr>
          <p:cNvPicPr>
            <a:picLocks noChangeAspect="1"/>
          </p:cNvPicPr>
          <p:nvPr>
            <p:custDataLst>
              <p:tags r:id="rId7"/>
            </p:custDataLst>
          </p:nvPr>
        </p:nvPicPr>
        <p:blipFill>
          <a:blip r:embed="rId13" cstate="print">
            <a:extLst>
              <a:ext uri="{28A0092B-C50C-407E-A947-70E740481C1C}">
                <a14:useLocalDpi xmlns:a14="http://schemas.microsoft.com/office/drawing/2010/main" val="0"/>
              </a:ext>
            </a:extLst>
          </a:blip>
          <a:stretch>
            <a:fillRect/>
          </a:stretch>
        </p:blipFill>
        <p:spPr>
          <a:xfrm>
            <a:off x="3035926" y="2915391"/>
            <a:ext cx="311150" cy="311150"/>
          </a:xfrm>
          <a:prstGeom prst="rect">
            <a:avLst/>
          </a:prstGeom>
        </p:spPr>
      </p:pic>
      <p:cxnSp>
        <p:nvCxnSpPr>
          <p:cNvPr id="26" name="直接箭头连接符 25">
            <a:extLst>
              <a:ext uri="{FF2B5EF4-FFF2-40B4-BE49-F238E27FC236}">
                <a16:creationId xmlns:a16="http://schemas.microsoft.com/office/drawing/2014/main" id="{14156CF0-3657-7746-E941-CB3977CC2254}"/>
              </a:ext>
            </a:extLst>
          </p:cNvPr>
          <p:cNvCxnSpPr/>
          <p:nvPr/>
        </p:nvCxnSpPr>
        <p:spPr>
          <a:xfrm flipH="1" flipV="1">
            <a:off x="3553179" y="3592939"/>
            <a:ext cx="250596" cy="2751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a:extLst>
              <a:ext uri="{FF2B5EF4-FFF2-40B4-BE49-F238E27FC236}">
                <a16:creationId xmlns:a16="http://schemas.microsoft.com/office/drawing/2014/main" id="{2AA608D4-CF15-6C11-988A-EAE44550CF60}"/>
              </a:ext>
            </a:extLst>
          </p:cNvPr>
          <p:cNvSpPr txBox="1"/>
          <p:nvPr/>
        </p:nvSpPr>
        <p:spPr>
          <a:xfrm>
            <a:off x="442552" y="2833353"/>
            <a:ext cx="1076552" cy="215444"/>
          </a:xfrm>
          <a:prstGeom prst="rect">
            <a:avLst/>
          </a:prstGeom>
          <a:noFill/>
        </p:spPr>
        <p:txBody>
          <a:bodyPr wrap="squar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区域心电网络</a:t>
            </a:r>
          </a:p>
        </p:txBody>
      </p:sp>
      <p:pic>
        <p:nvPicPr>
          <p:cNvPr id="28" name="图片 27" descr="14">
            <a:extLst>
              <a:ext uri="{FF2B5EF4-FFF2-40B4-BE49-F238E27FC236}">
                <a16:creationId xmlns:a16="http://schemas.microsoft.com/office/drawing/2014/main" id="{149B4F37-7ED2-A77F-61BE-3F0A3629568A}"/>
              </a:ext>
            </a:extLst>
          </p:cNvPr>
          <p:cNvPicPr>
            <a:picLocks noChangeAspect="1"/>
          </p:cNvPicPr>
          <p:nvPr/>
        </p:nvPicPr>
        <p:blipFill>
          <a:blip r:embed="rId14"/>
          <a:stretch>
            <a:fillRect/>
          </a:stretch>
        </p:blipFill>
        <p:spPr>
          <a:xfrm>
            <a:off x="642299" y="3110021"/>
            <a:ext cx="430495" cy="430494"/>
          </a:xfrm>
          <a:prstGeom prst="rect">
            <a:avLst/>
          </a:prstGeom>
        </p:spPr>
      </p:pic>
      <p:pic>
        <p:nvPicPr>
          <p:cNvPr id="29" name="图片 28">
            <a:extLst>
              <a:ext uri="{FF2B5EF4-FFF2-40B4-BE49-F238E27FC236}">
                <a16:creationId xmlns:a16="http://schemas.microsoft.com/office/drawing/2014/main" id="{D6CE81ED-63C0-3B07-F729-6E02A946F7C7}"/>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65747" y="3237338"/>
            <a:ext cx="176254" cy="176254"/>
          </a:xfrm>
          <a:prstGeom prst="rect">
            <a:avLst/>
          </a:prstGeom>
        </p:spPr>
      </p:pic>
      <p:sp>
        <p:nvSpPr>
          <p:cNvPr id="30" name="文本框 29">
            <a:extLst>
              <a:ext uri="{FF2B5EF4-FFF2-40B4-BE49-F238E27FC236}">
                <a16:creationId xmlns:a16="http://schemas.microsoft.com/office/drawing/2014/main" id="{40BBE613-5B1A-929B-8953-4F6A25A9988F}"/>
              </a:ext>
            </a:extLst>
          </p:cNvPr>
          <p:cNvSpPr txBox="1"/>
          <p:nvPr/>
        </p:nvSpPr>
        <p:spPr>
          <a:xfrm>
            <a:off x="804414" y="1707876"/>
            <a:ext cx="800219"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远程中央监护</a:t>
            </a:r>
          </a:p>
        </p:txBody>
      </p:sp>
      <p:grpSp>
        <p:nvGrpSpPr>
          <p:cNvPr id="31" name="组合 30">
            <a:extLst>
              <a:ext uri="{FF2B5EF4-FFF2-40B4-BE49-F238E27FC236}">
                <a16:creationId xmlns:a16="http://schemas.microsoft.com/office/drawing/2014/main" id="{B7081C05-68FF-E93D-1DC1-881561CFFBEE}"/>
              </a:ext>
            </a:extLst>
          </p:cNvPr>
          <p:cNvGrpSpPr/>
          <p:nvPr/>
        </p:nvGrpSpPr>
        <p:grpSpPr>
          <a:xfrm>
            <a:off x="936215" y="1915142"/>
            <a:ext cx="430495" cy="430494"/>
            <a:chOff x="1649342" y="1460712"/>
            <a:chExt cx="430495" cy="430494"/>
          </a:xfrm>
        </p:grpSpPr>
        <p:pic>
          <p:nvPicPr>
            <p:cNvPr id="32" name="图片 31" descr="14">
              <a:extLst>
                <a:ext uri="{FF2B5EF4-FFF2-40B4-BE49-F238E27FC236}">
                  <a16:creationId xmlns:a16="http://schemas.microsoft.com/office/drawing/2014/main" id="{FAF5C862-5D63-7D9F-9F84-915E6BE04CE9}"/>
                </a:ext>
              </a:extLst>
            </p:cNvPr>
            <p:cNvPicPr>
              <a:picLocks noChangeAspect="1"/>
            </p:cNvPicPr>
            <p:nvPr/>
          </p:nvPicPr>
          <p:blipFill>
            <a:blip r:embed="rId14"/>
            <a:stretch>
              <a:fillRect/>
            </a:stretch>
          </p:blipFill>
          <p:spPr>
            <a:xfrm>
              <a:off x="1649342" y="1460712"/>
              <a:ext cx="430495" cy="430494"/>
            </a:xfrm>
            <a:prstGeom prst="rect">
              <a:avLst/>
            </a:prstGeom>
          </p:spPr>
        </p:pic>
        <p:pic>
          <p:nvPicPr>
            <p:cNvPr id="33" name="图片 32">
              <a:extLst>
                <a:ext uri="{FF2B5EF4-FFF2-40B4-BE49-F238E27FC236}">
                  <a16:creationId xmlns:a16="http://schemas.microsoft.com/office/drawing/2014/main" id="{F9CC7782-A610-30D3-4EBC-C98913877E7F}"/>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83468" y="1588208"/>
              <a:ext cx="166939" cy="166939"/>
            </a:xfrm>
            <a:prstGeom prst="rect">
              <a:avLst/>
            </a:prstGeom>
          </p:spPr>
        </p:pic>
      </p:grpSp>
      <p:sp>
        <p:nvSpPr>
          <p:cNvPr id="34" name="文本框 33">
            <a:extLst>
              <a:ext uri="{FF2B5EF4-FFF2-40B4-BE49-F238E27FC236}">
                <a16:creationId xmlns:a16="http://schemas.microsoft.com/office/drawing/2014/main" id="{90162523-06E0-EAB3-39C7-19F17796DB9C}"/>
              </a:ext>
            </a:extLst>
          </p:cNvPr>
          <p:cNvSpPr txBox="1"/>
          <p:nvPr/>
        </p:nvSpPr>
        <p:spPr>
          <a:xfrm>
            <a:off x="3866329" y="2941075"/>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移动应用</a:t>
            </a:r>
          </a:p>
        </p:txBody>
      </p:sp>
      <p:pic>
        <p:nvPicPr>
          <p:cNvPr id="35" name="图片 34" descr="14">
            <a:extLst>
              <a:ext uri="{FF2B5EF4-FFF2-40B4-BE49-F238E27FC236}">
                <a16:creationId xmlns:a16="http://schemas.microsoft.com/office/drawing/2014/main" id="{E405AE78-B57E-17EB-F892-E6256A36A063}"/>
              </a:ext>
            </a:extLst>
          </p:cNvPr>
          <p:cNvPicPr>
            <a:picLocks noChangeAspect="1"/>
          </p:cNvPicPr>
          <p:nvPr/>
        </p:nvPicPr>
        <p:blipFill>
          <a:blip r:embed="rId14"/>
          <a:stretch>
            <a:fillRect/>
          </a:stretch>
        </p:blipFill>
        <p:spPr>
          <a:xfrm>
            <a:off x="3935850" y="3159991"/>
            <a:ext cx="430495" cy="430494"/>
          </a:xfrm>
          <a:prstGeom prst="rect">
            <a:avLst/>
          </a:prstGeom>
        </p:spPr>
      </p:pic>
      <p:pic>
        <p:nvPicPr>
          <p:cNvPr id="36" name="图片 35">
            <a:extLst>
              <a:ext uri="{FF2B5EF4-FFF2-40B4-BE49-F238E27FC236}">
                <a16:creationId xmlns:a16="http://schemas.microsoft.com/office/drawing/2014/main" id="{D1417428-03B6-2D3D-3524-410B10598D6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068087" y="3292279"/>
            <a:ext cx="167008" cy="167008"/>
          </a:xfrm>
          <a:prstGeom prst="rect">
            <a:avLst/>
          </a:prstGeom>
        </p:spPr>
      </p:pic>
      <p:sp>
        <p:nvSpPr>
          <p:cNvPr id="37" name="文本框 36">
            <a:extLst>
              <a:ext uri="{FF2B5EF4-FFF2-40B4-BE49-F238E27FC236}">
                <a16:creationId xmlns:a16="http://schemas.microsoft.com/office/drawing/2014/main" id="{D08E1F7F-DEF1-A1A4-BF26-82ECDB949870}"/>
              </a:ext>
            </a:extLst>
          </p:cNvPr>
          <p:cNvSpPr txBox="1"/>
          <p:nvPr/>
        </p:nvSpPr>
        <p:spPr>
          <a:xfrm>
            <a:off x="3502213" y="1772042"/>
            <a:ext cx="800219"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院内心电网络</a:t>
            </a:r>
          </a:p>
        </p:txBody>
      </p:sp>
      <p:pic>
        <p:nvPicPr>
          <p:cNvPr id="38" name="图片 37" descr="14">
            <a:extLst>
              <a:ext uri="{FF2B5EF4-FFF2-40B4-BE49-F238E27FC236}">
                <a16:creationId xmlns:a16="http://schemas.microsoft.com/office/drawing/2014/main" id="{02C22BC6-0CE0-0BDA-15BB-4A0C618FE3AB}"/>
              </a:ext>
            </a:extLst>
          </p:cNvPr>
          <p:cNvPicPr>
            <a:picLocks noChangeAspect="1"/>
          </p:cNvPicPr>
          <p:nvPr/>
        </p:nvPicPr>
        <p:blipFill>
          <a:blip r:embed="rId14"/>
          <a:stretch>
            <a:fillRect/>
          </a:stretch>
        </p:blipFill>
        <p:spPr>
          <a:xfrm>
            <a:off x="3571734" y="1990958"/>
            <a:ext cx="430495" cy="430494"/>
          </a:xfrm>
          <a:prstGeom prst="rect">
            <a:avLst/>
          </a:prstGeom>
        </p:spPr>
      </p:pic>
      <p:sp>
        <p:nvSpPr>
          <p:cNvPr id="39" name="文本框 38">
            <a:extLst>
              <a:ext uri="{FF2B5EF4-FFF2-40B4-BE49-F238E27FC236}">
                <a16:creationId xmlns:a16="http://schemas.microsoft.com/office/drawing/2014/main" id="{A7FABCF8-D4E3-E606-2DED-5664447FACBF}"/>
              </a:ext>
            </a:extLst>
          </p:cNvPr>
          <p:cNvSpPr txBox="1"/>
          <p:nvPr/>
        </p:nvSpPr>
        <p:spPr>
          <a:xfrm>
            <a:off x="2020142" y="4239977"/>
            <a:ext cx="800219"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院后康复服务</a:t>
            </a:r>
          </a:p>
        </p:txBody>
      </p:sp>
      <p:pic>
        <p:nvPicPr>
          <p:cNvPr id="40" name="图片 39" descr="14">
            <a:extLst>
              <a:ext uri="{FF2B5EF4-FFF2-40B4-BE49-F238E27FC236}">
                <a16:creationId xmlns:a16="http://schemas.microsoft.com/office/drawing/2014/main" id="{51DA0928-F76E-6A66-9A6E-960228464101}"/>
              </a:ext>
            </a:extLst>
          </p:cNvPr>
          <p:cNvPicPr>
            <a:picLocks noChangeAspect="1"/>
          </p:cNvPicPr>
          <p:nvPr/>
        </p:nvPicPr>
        <p:blipFill>
          <a:blip r:embed="rId14"/>
          <a:stretch>
            <a:fillRect/>
          </a:stretch>
        </p:blipFill>
        <p:spPr>
          <a:xfrm>
            <a:off x="2227923" y="4438928"/>
            <a:ext cx="430495" cy="430494"/>
          </a:xfrm>
          <a:prstGeom prst="rect">
            <a:avLst/>
          </a:prstGeom>
        </p:spPr>
      </p:pic>
      <p:pic>
        <p:nvPicPr>
          <p:cNvPr id="41" name="图片 40">
            <a:extLst>
              <a:ext uri="{FF2B5EF4-FFF2-40B4-BE49-F238E27FC236}">
                <a16:creationId xmlns:a16="http://schemas.microsoft.com/office/drawing/2014/main" id="{D7A66276-9E4C-26BA-88DF-82C11383507F}"/>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489200" y="4626488"/>
            <a:ext cx="169218" cy="169218"/>
          </a:xfrm>
          <a:prstGeom prst="rect">
            <a:avLst/>
          </a:prstGeom>
        </p:spPr>
      </p:pic>
      <p:pic>
        <p:nvPicPr>
          <p:cNvPr id="42" name="图片 41">
            <a:extLst>
              <a:ext uri="{FF2B5EF4-FFF2-40B4-BE49-F238E27FC236}">
                <a16:creationId xmlns:a16="http://schemas.microsoft.com/office/drawing/2014/main" id="{5ECE141C-B188-1017-1D35-EEE15217F788}"/>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699969" y="2120789"/>
            <a:ext cx="170831" cy="170831"/>
          </a:xfrm>
          <a:prstGeom prst="rect">
            <a:avLst/>
          </a:prstGeom>
        </p:spPr>
      </p:pic>
      <p:pic>
        <p:nvPicPr>
          <p:cNvPr id="43" name="图片 42">
            <a:extLst>
              <a:ext uri="{FF2B5EF4-FFF2-40B4-BE49-F238E27FC236}">
                <a16:creationId xmlns:a16="http://schemas.microsoft.com/office/drawing/2014/main" id="{3A5C8440-3F1A-A18F-C0D6-0EB3EFCEE615}"/>
              </a:ext>
            </a:extLst>
          </p:cNvPr>
          <p:cNvPicPr>
            <a:picLocks noChangeAspect="1"/>
          </p:cNvPicPr>
          <p:nvPr/>
        </p:nvPicPr>
        <p:blipFill>
          <a:blip r:embed="rId20"/>
          <a:stretch>
            <a:fillRect/>
          </a:stretch>
        </p:blipFill>
        <p:spPr>
          <a:xfrm>
            <a:off x="7237761" y="1502410"/>
            <a:ext cx="829684" cy="1825040"/>
          </a:xfrm>
          <a:prstGeom prst="rect">
            <a:avLst/>
          </a:prstGeom>
        </p:spPr>
      </p:pic>
      <p:grpSp>
        <p:nvGrpSpPr>
          <p:cNvPr id="44" name="组合 43">
            <a:extLst>
              <a:ext uri="{FF2B5EF4-FFF2-40B4-BE49-F238E27FC236}">
                <a16:creationId xmlns:a16="http://schemas.microsoft.com/office/drawing/2014/main" id="{813B5CC5-4784-7036-167F-6AAE2FD06CF3}"/>
              </a:ext>
            </a:extLst>
          </p:cNvPr>
          <p:cNvGrpSpPr/>
          <p:nvPr/>
        </p:nvGrpSpPr>
        <p:grpSpPr>
          <a:xfrm>
            <a:off x="5416835" y="2485170"/>
            <a:ext cx="1437184" cy="1041139"/>
            <a:chOff x="4285339" y="1176997"/>
            <a:chExt cx="4160571" cy="3014041"/>
          </a:xfrm>
        </p:grpSpPr>
        <p:pic>
          <p:nvPicPr>
            <p:cNvPr id="45" name="图片 44" descr="图片包含 形状&#10;&#10;描述已自动生成">
              <a:extLst>
                <a:ext uri="{FF2B5EF4-FFF2-40B4-BE49-F238E27FC236}">
                  <a16:creationId xmlns:a16="http://schemas.microsoft.com/office/drawing/2014/main" id="{1006CC1B-2911-4565-33C5-FDBE5E594A3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285339" y="1176997"/>
              <a:ext cx="4160571" cy="3014041"/>
            </a:xfrm>
            <a:prstGeom prst="rect">
              <a:avLst/>
            </a:prstGeom>
          </p:spPr>
        </p:pic>
        <p:pic>
          <p:nvPicPr>
            <p:cNvPr id="46" name="图片 45" descr="中央站">
              <a:extLst>
                <a:ext uri="{FF2B5EF4-FFF2-40B4-BE49-F238E27FC236}">
                  <a16:creationId xmlns:a16="http://schemas.microsoft.com/office/drawing/2014/main" id="{EFA7AC26-C164-12E5-84A4-986374524EB7}"/>
                </a:ext>
              </a:extLst>
            </p:cNvPr>
            <p:cNvPicPr>
              <a:picLocks noChangeAspect="1"/>
            </p:cNvPicPr>
            <p:nvPr/>
          </p:nvPicPr>
          <p:blipFill>
            <a:blip r:embed="rId22"/>
            <a:stretch>
              <a:fillRect/>
            </a:stretch>
          </p:blipFill>
          <p:spPr>
            <a:xfrm>
              <a:off x="4772243" y="1486482"/>
              <a:ext cx="3201115" cy="1840849"/>
            </a:xfrm>
            <a:prstGeom prst="rect">
              <a:avLst/>
            </a:prstGeom>
          </p:spPr>
        </p:pic>
      </p:grpSp>
      <p:pic>
        <p:nvPicPr>
          <p:cNvPr id="47" name="图片 46">
            <a:extLst>
              <a:ext uri="{FF2B5EF4-FFF2-40B4-BE49-F238E27FC236}">
                <a16:creationId xmlns:a16="http://schemas.microsoft.com/office/drawing/2014/main" id="{F17BC8BF-D5E4-F0F2-77A1-1710675CF3B4}"/>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5210921" y="1464199"/>
            <a:ext cx="1763629" cy="836805"/>
          </a:xfrm>
          <a:prstGeom prst="rect">
            <a:avLst/>
          </a:prstGeom>
        </p:spPr>
      </p:pic>
      <p:sp>
        <p:nvSpPr>
          <p:cNvPr id="48" name="文本框 47">
            <a:extLst>
              <a:ext uri="{FF2B5EF4-FFF2-40B4-BE49-F238E27FC236}">
                <a16:creationId xmlns:a16="http://schemas.microsoft.com/office/drawing/2014/main" id="{6EDEBF5E-C7E9-E743-E542-C8EC1DFDF1C7}"/>
              </a:ext>
            </a:extLst>
          </p:cNvPr>
          <p:cNvSpPr txBox="1"/>
          <p:nvPr/>
        </p:nvSpPr>
        <p:spPr>
          <a:xfrm>
            <a:off x="5863051" y="2284548"/>
            <a:ext cx="646331" cy="230832"/>
          </a:xfrm>
          <a:prstGeom prst="rect">
            <a:avLst/>
          </a:prstGeom>
          <a:noFill/>
        </p:spPr>
        <p:txBody>
          <a:bodyPr wrap="none" rtlCol="0">
            <a:spAutoFit/>
          </a:bodyPr>
          <a:lstStyle/>
          <a:p>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业务平台</a:t>
            </a:r>
          </a:p>
        </p:txBody>
      </p:sp>
      <p:sp>
        <p:nvSpPr>
          <p:cNvPr id="49" name="文本框 48">
            <a:extLst>
              <a:ext uri="{FF2B5EF4-FFF2-40B4-BE49-F238E27FC236}">
                <a16:creationId xmlns:a16="http://schemas.microsoft.com/office/drawing/2014/main" id="{A2952E2E-7D05-DA01-5D87-EA9F4E352B26}"/>
              </a:ext>
            </a:extLst>
          </p:cNvPr>
          <p:cNvSpPr txBox="1"/>
          <p:nvPr/>
        </p:nvSpPr>
        <p:spPr>
          <a:xfrm>
            <a:off x="5662380" y="3454223"/>
            <a:ext cx="1042273" cy="230832"/>
          </a:xfrm>
          <a:prstGeom prst="rect">
            <a:avLst/>
          </a:prstGeom>
          <a:noFill/>
        </p:spPr>
        <p:txBody>
          <a:bodyPr wrap="none" rtlCol="0">
            <a:spAutoFit/>
          </a:bodyPr>
          <a:lstStyle/>
          <a:p>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采集</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分析客户端</a:t>
            </a:r>
          </a:p>
        </p:txBody>
      </p:sp>
      <p:sp>
        <p:nvSpPr>
          <p:cNvPr id="50" name="文本框 49">
            <a:extLst>
              <a:ext uri="{FF2B5EF4-FFF2-40B4-BE49-F238E27FC236}">
                <a16:creationId xmlns:a16="http://schemas.microsoft.com/office/drawing/2014/main" id="{3611CDD7-6F57-C75D-8F28-A3E3ED194E89}"/>
              </a:ext>
            </a:extLst>
          </p:cNvPr>
          <p:cNvSpPr txBox="1"/>
          <p:nvPr/>
        </p:nvSpPr>
        <p:spPr>
          <a:xfrm>
            <a:off x="7308187" y="3381932"/>
            <a:ext cx="869149" cy="230832"/>
          </a:xfrm>
          <a:prstGeom prst="rect">
            <a:avLst/>
          </a:prstGeom>
          <a:noFill/>
        </p:spPr>
        <p:txBody>
          <a:bodyPr wrap="none" rtlCol="0">
            <a:spAutoFit/>
          </a:bodyPr>
          <a:lstStyle/>
          <a:p>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移动</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APP</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应用</a:t>
            </a:r>
          </a:p>
        </p:txBody>
      </p:sp>
    </p:spTree>
    <p:extLst>
      <p:ext uri="{BB962C8B-B14F-4D97-AF65-F5344CB8AC3E}">
        <p14:creationId xmlns:p14="http://schemas.microsoft.com/office/powerpoint/2010/main" val="3443612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8EB76-BDC4-1B0C-FA2A-DE4A203062B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BC93896-9329-E742-5EE7-FB8C540D500F}"/>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平台的生态融合性好</a:t>
            </a:r>
          </a:p>
        </p:txBody>
      </p:sp>
      <p:sp>
        <p:nvSpPr>
          <p:cNvPr id="3" name="对角圆角矩形 38">
            <a:extLst>
              <a:ext uri="{FF2B5EF4-FFF2-40B4-BE49-F238E27FC236}">
                <a16:creationId xmlns:a16="http://schemas.microsoft.com/office/drawing/2014/main" id="{6970EA2E-9ACE-F23F-3BF1-F3AFFB0D8CA2}"/>
              </a:ext>
            </a:extLst>
          </p:cNvPr>
          <p:cNvSpPr/>
          <p:nvPr/>
        </p:nvSpPr>
        <p:spPr>
          <a:xfrm>
            <a:off x="2958409" y="2228985"/>
            <a:ext cx="2252573" cy="2434404"/>
          </a:xfrm>
          <a:prstGeom prst="round2DiagRect">
            <a:avLst>
              <a:gd name="adj1" fmla="val 2901"/>
              <a:gd name="adj2" fmla="val 3151"/>
            </a:avLst>
          </a:prstGeom>
          <a:solidFill>
            <a:schemeClr val="bg1"/>
          </a:soli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4BD29799-5DFF-32B2-11D0-8CE1BB2B8C4B}"/>
              </a:ext>
            </a:extLst>
          </p:cNvPr>
          <p:cNvGrpSpPr/>
          <p:nvPr/>
        </p:nvGrpSpPr>
        <p:grpSpPr>
          <a:xfrm>
            <a:off x="493689" y="3083044"/>
            <a:ext cx="2355850" cy="742315"/>
            <a:chOff x="3334116" y="4043628"/>
            <a:chExt cx="2355850" cy="742315"/>
          </a:xfrm>
        </p:grpSpPr>
        <p:sp>
          <p:nvSpPr>
            <p:cNvPr id="5" name="对角圆角矩形 36">
              <a:extLst>
                <a:ext uri="{FF2B5EF4-FFF2-40B4-BE49-F238E27FC236}">
                  <a16:creationId xmlns:a16="http://schemas.microsoft.com/office/drawing/2014/main" id="{89523A49-21CE-BFBC-E716-4E30415EE321}"/>
                </a:ext>
              </a:extLst>
            </p:cNvPr>
            <p:cNvSpPr/>
            <p:nvPr/>
          </p:nvSpPr>
          <p:spPr>
            <a:xfrm>
              <a:off x="3334116" y="4043628"/>
              <a:ext cx="271780" cy="740410"/>
            </a:xfrm>
            <a:prstGeom prst="round2DiagRect">
              <a:avLst>
                <a:gd name="adj1" fmla="val 44626"/>
                <a:gd name="adj2" fmla="val 7804"/>
              </a:avLst>
            </a:prstGeom>
            <a:gradFill>
              <a:gsLst>
                <a:gs pos="100000">
                  <a:srgbClr val="2A86DC"/>
                </a:gs>
                <a:gs pos="0">
                  <a:srgbClr val="1B5FA3"/>
                </a:gs>
              </a:gsLst>
              <a:lin ang="13800000" scaled="0"/>
            </a:gra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sz="1000"/>
            </a:p>
          </p:txBody>
        </p:sp>
        <p:sp>
          <p:nvSpPr>
            <p:cNvPr id="6" name="对角圆角矩形 37">
              <a:extLst>
                <a:ext uri="{FF2B5EF4-FFF2-40B4-BE49-F238E27FC236}">
                  <a16:creationId xmlns:a16="http://schemas.microsoft.com/office/drawing/2014/main" id="{75CEA4BA-01B4-7E95-75C8-143676FBDDAC}"/>
                </a:ext>
              </a:extLst>
            </p:cNvPr>
            <p:cNvSpPr/>
            <p:nvPr/>
          </p:nvSpPr>
          <p:spPr>
            <a:xfrm>
              <a:off x="3457941" y="4045533"/>
              <a:ext cx="2232025" cy="740410"/>
            </a:xfrm>
            <a:prstGeom prst="round2DiagRect">
              <a:avLst>
                <a:gd name="adj1" fmla="val 15931"/>
                <a:gd name="adj2" fmla="val 9246"/>
              </a:avLst>
            </a:prstGeom>
            <a:solidFill>
              <a:schemeClr val="bg1"/>
            </a:soli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grpSp>
      <p:grpSp>
        <p:nvGrpSpPr>
          <p:cNvPr id="7" name="组合 6">
            <a:extLst>
              <a:ext uri="{FF2B5EF4-FFF2-40B4-BE49-F238E27FC236}">
                <a16:creationId xmlns:a16="http://schemas.microsoft.com/office/drawing/2014/main" id="{CA150CD3-A7FC-B65E-060A-F580AFB0E205}"/>
              </a:ext>
            </a:extLst>
          </p:cNvPr>
          <p:cNvGrpSpPr/>
          <p:nvPr/>
        </p:nvGrpSpPr>
        <p:grpSpPr>
          <a:xfrm>
            <a:off x="493689" y="2228985"/>
            <a:ext cx="2355850" cy="742315"/>
            <a:chOff x="3334116" y="4043628"/>
            <a:chExt cx="2355850" cy="742315"/>
          </a:xfrm>
        </p:grpSpPr>
        <p:sp>
          <p:nvSpPr>
            <p:cNvPr id="8" name="对角圆角矩形 33">
              <a:extLst>
                <a:ext uri="{FF2B5EF4-FFF2-40B4-BE49-F238E27FC236}">
                  <a16:creationId xmlns:a16="http://schemas.microsoft.com/office/drawing/2014/main" id="{414B6D65-7E88-E5C3-D46D-D3B1EBD0BD8E}"/>
                </a:ext>
              </a:extLst>
            </p:cNvPr>
            <p:cNvSpPr/>
            <p:nvPr/>
          </p:nvSpPr>
          <p:spPr>
            <a:xfrm>
              <a:off x="3334116" y="4043628"/>
              <a:ext cx="271780" cy="740410"/>
            </a:xfrm>
            <a:prstGeom prst="round2DiagRect">
              <a:avLst>
                <a:gd name="adj1" fmla="val 44626"/>
                <a:gd name="adj2" fmla="val 7804"/>
              </a:avLst>
            </a:prstGeom>
            <a:gradFill>
              <a:gsLst>
                <a:gs pos="100000">
                  <a:srgbClr val="2A86DC"/>
                </a:gs>
                <a:gs pos="0">
                  <a:srgbClr val="1B5FA3"/>
                </a:gs>
              </a:gsLst>
              <a:lin ang="13800000" scaled="0"/>
            </a:gra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sz="1000"/>
            </a:p>
          </p:txBody>
        </p:sp>
        <p:sp>
          <p:nvSpPr>
            <p:cNvPr id="9" name="对角圆角矩形 34">
              <a:extLst>
                <a:ext uri="{FF2B5EF4-FFF2-40B4-BE49-F238E27FC236}">
                  <a16:creationId xmlns:a16="http://schemas.microsoft.com/office/drawing/2014/main" id="{B4CFD018-1DB8-FB90-E205-51B2929EECC7}"/>
                </a:ext>
              </a:extLst>
            </p:cNvPr>
            <p:cNvSpPr/>
            <p:nvPr/>
          </p:nvSpPr>
          <p:spPr>
            <a:xfrm>
              <a:off x="3457941" y="4045533"/>
              <a:ext cx="2232025" cy="740410"/>
            </a:xfrm>
            <a:prstGeom prst="round2DiagRect">
              <a:avLst>
                <a:gd name="adj1" fmla="val 15931"/>
                <a:gd name="adj2" fmla="val 9246"/>
              </a:avLst>
            </a:prstGeom>
            <a:solidFill>
              <a:schemeClr val="bg1"/>
            </a:soli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grpSp>
      <p:sp>
        <p:nvSpPr>
          <p:cNvPr id="10" name="矩形 9">
            <a:extLst>
              <a:ext uri="{FF2B5EF4-FFF2-40B4-BE49-F238E27FC236}">
                <a16:creationId xmlns:a16="http://schemas.microsoft.com/office/drawing/2014/main" id="{568B913A-87F7-EBEB-5284-E4790BFFF2D3}"/>
              </a:ext>
            </a:extLst>
          </p:cNvPr>
          <p:cNvSpPr/>
          <p:nvPr/>
        </p:nvSpPr>
        <p:spPr>
          <a:xfrm>
            <a:off x="349626" y="843280"/>
            <a:ext cx="8466714" cy="1167692"/>
          </a:xfrm>
          <a:prstGeom prst="rect">
            <a:avLst/>
          </a:prstGeom>
        </p:spPr>
        <p:txBody>
          <a:bodyPr wrap="square" rtlCol="0">
            <a:spAutoFit/>
          </a:bodyPr>
          <a:lstStyle/>
          <a:p>
            <a:pPr lvl="0">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mn-ea"/>
              </a:rPr>
              <a:t>心血管疾病是当前我国发病及致死的主要疾病，而心电图检查只是其中发现疾病的关键环节之一。心血管疾病的防治体系还涉及预防、治疗和康复等多个环节，是一个复杂的生态体系。本平台充分考虑了上下游多生态的融合，功能模块化，数据结构和接口的标准化的设计，有助于提升区域现有系统软件的综合应用能力，</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消除数据孤岛</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sym typeface="+mn-ea"/>
              </a:rPr>
              <a:t>。同时</a:t>
            </a:r>
            <a:r>
              <a:rPr lang="zh-CN" altLang="en-US" sz="1200" b="1" kern="0" dirty="0">
                <a:solidFill>
                  <a:srgbClr val="2179B1">
                    <a:alpha val="100000"/>
                  </a:srgbClr>
                </a:solidFill>
                <a:latin typeface="微软雅黑" panose="020B0503020204020204" charset="-122"/>
                <a:ea typeface="微软雅黑" panose="020B0503020204020204" charset="-122"/>
              </a:rPr>
              <a:t>拓展院外使用场景，形成院前</a:t>
            </a:r>
            <a:r>
              <a:rPr lang="en-US" altLang="zh-CN" sz="1200" b="1" kern="0" dirty="0">
                <a:solidFill>
                  <a:srgbClr val="2179B1">
                    <a:alpha val="100000"/>
                  </a:srgbClr>
                </a:solidFill>
                <a:latin typeface="微软雅黑" panose="020B0503020204020204" charset="-122"/>
                <a:ea typeface="微软雅黑" panose="020B0503020204020204" charset="-122"/>
              </a:rPr>
              <a:t>-</a:t>
            </a:r>
            <a:r>
              <a:rPr lang="zh-CN" altLang="en-US" sz="1200" b="1" kern="0" dirty="0">
                <a:solidFill>
                  <a:srgbClr val="2179B1">
                    <a:alpha val="100000"/>
                  </a:srgbClr>
                </a:solidFill>
                <a:latin typeface="微软雅黑" panose="020B0503020204020204" charset="-122"/>
                <a:ea typeface="微软雅黑" panose="020B0503020204020204" charset="-122"/>
              </a:rPr>
              <a:t>院中</a:t>
            </a:r>
            <a:r>
              <a:rPr lang="en-US" altLang="zh-CN" sz="1200" b="1" kern="0" dirty="0">
                <a:solidFill>
                  <a:srgbClr val="2179B1">
                    <a:alpha val="100000"/>
                  </a:srgbClr>
                </a:solidFill>
                <a:latin typeface="微软雅黑" panose="020B0503020204020204" charset="-122"/>
                <a:ea typeface="微软雅黑" panose="020B0503020204020204" charset="-122"/>
              </a:rPr>
              <a:t>-</a:t>
            </a:r>
            <a:r>
              <a:rPr lang="zh-CN" altLang="en-US" sz="1200" b="1" kern="0" dirty="0">
                <a:solidFill>
                  <a:srgbClr val="2179B1">
                    <a:alpha val="100000"/>
                  </a:srgbClr>
                </a:solidFill>
                <a:latin typeface="微软雅黑" panose="020B0503020204020204" charset="-122"/>
                <a:ea typeface="微软雅黑" panose="020B0503020204020204" charset="-122"/>
              </a:rPr>
              <a:t>院后完整的业务闭环</a:t>
            </a:r>
            <a:r>
              <a:rPr lang="zh-CN" altLang="en-US" sz="1200" b="1" kern="0" dirty="0">
                <a:solidFill>
                  <a:srgbClr val="2179B1">
                    <a:alpha val="100000"/>
                  </a:srgbClr>
                </a:solidFill>
                <a:latin typeface="微软雅黑" panose="020B0503020204020204" charset="-122"/>
                <a:ea typeface="微软雅黑" panose="020B0503020204020204" charset="-122"/>
                <a:sym typeface="+mn-ea"/>
              </a:rPr>
              <a:t>。</a:t>
            </a:r>
          </a:p>
        </p:txBody>
      </p:sp>
      <p:pic>
        <p:nvPicPr>
          <p:cNvPr id="11" name="图片 10" descr="123DA516-2E0B-4D86-BDA8-E5542DB50017-1282-00000028CFB320BF">
            <a:extLst>
              <a:ext uri="{FF2B5EF4-FFF2-40B4-BE49-F238E27FC236}">
                <a16:creationId xmlns:a16="http://schemas.microsoft.com/office/drawing/2014/main" id="{167F244B-C4B3-6AF9-E9F6-3C3F39D77605}"/>
              </a:ext>
            </a:extLst>
          </p:cNvPr>
          <p:cNvPicPr>
            <a:picLocks noChangeAspect="1"/>
          </p:cNvPicPr>
          <p:nvPr/>
        </p:nvPicPr>
        <p:blipFill>
          <a:blip r:embed="rId7" cstate="print"/>
          <a:stretch>
            <a:fillRect/>
          </a:stretch>
        </p:blipFill>
        <p:spPr>
          <a:xfrm rot="16200000">
            <a:off x="877866" y="2139276"/>
            <a:ext cx="405538" cy="720957"/>
          </a:xfrm>
          <a:prstGeom prst="rect">
            <a:avLst/>
          </a:prstGeom>
        </p:spPr>
      </p:pic>
      <p:pic>
        <p:nvPicPr>
          <p:cNvPr id="12" name="Picture 2" descr="E:\BSJ\E\工作资料\公司及产品介绍\产品效果图\HM117A1-不带线.png">
            <a:extLst>
              <a:ext uri="{FF2B5EF4-FFF2-40B4-BE49-F238E27FC236}">
                <a16:creationId xmlns:a16="http://schemas.microsoft.com/office/drawing/2014/main" id="{F9855FAF-1F4F-3FAB-9FBC-C589C5222609}"/>
              </a:ext>
            </a:extLst>
          </p:cNvPr>
          <p:cNvPicPr>
            <a:picLocks noChangeAspect="1" noChangeArrowheads="1"/>
          </p:cNvPicPr>
          <p:nvPr>
            <p:custDataLst>
              <p:tags r:id="rId1"/>
            </p:custDataLst>
          </p:nvPr>
        </p:nvPicPr>
        <p:blipFill>
          <a:blip r:embed="rId8" cstate="print"/>
          <a:srcRect/>
          <a:stretch>
            <a:fillRect/>
          </a:stretch>
        </p:blipFill>
        <p:spPr bwMode="auto">
          <a:xfrm rot="300000">
            <a:off x="1044845" y="3399373"/>
            <a:ext cx="353063" cy="257498"/>
          </a:xfrm>
          <a:prstGeom prst="rect">
            <a:avLst/>
          </a:prstGeom>
          <a:noFill/>
        </p:spPr>
      </p:pic>
      <p:pic>
        <p:nvPicPr>
          <p:cNvPr id="13" name="Picture 3" descr="C:\Users\Administrator\Desktop\609不带音插.png">
            <a:extLst>
              <a:ext uri="{FF2B5EF4-FFF2-40B4-BE49-F238E27FC236}">
                <a16:creationId xmlns:a16="http://schemas.microsoft.com/office/drawing/2014/main" id="{04A3FFC2-DF68-0383-0044-56B1148D9747}"/>
              </a:ext>
            </a:extLst>
          </p:cNvPr>
          <p:cNvPicPr>
            <a:picLocks noChangeAspect="1" noChangeArrowheads="1"/>
          </p:cNvPicPr>
          <p:nvPr>
            <p:custDataLst>
              <p:tags r:id="rId2"/>
            </p:custDataLst>
          </p:nvPr>
        </p:nvPicPr>
        <p:blipFill>
          <a:blip r:embed="rId9" cstate="print"/>
          <a:srcRect l="15348" t="9864" r="3506" b="12574"/>
          <a:stretch>
            <a:fillRect/>
          </a:stretch>
        </p:blipFill>
        <p:spPr bwMode="auto">
          <a:xfrm rot="240000">
            <a:off x="701675" y="3166788"/>
            <a:ext cx="665241" cy="410966"/>
          </a:xfrm>
          <a:prstGeom prst="rect">
            <a:avLst/>
          </a:prstGeom>
          <a:noFill/>
        </p:spPr>
      </p:pic>
      <p:sp>
        <p:nvSpPr>
          <p:cNvPr id="14" name="对角圆角矩形 21">
            <a:extLst>
              <a:ext uri="{FF2B5EF4-FFF2-40B4-BE49-F238E27FC236}">
                <a16:creationId xmlns:a16="http://schemas.microsoft.com/office/drawing/2014/main" id="{640C4BD6-BFF4-B650-6DFE-78EE8A2C7EC9}"/>
              </a:ext>
            </a:extLst>
          </p:cNvPr>
          <p:cNvSpPr/>
          <p:nvPr/>
        </p:nvSpPr>
        <p:spPr>
          <a:xfrm>
            <a:off x="480283" y="3922980"/>
            <a:ext cx="271780" cy="740410"/>
          </a:xfrm>
          <a:prstGeom prst="round2DiagRect">
            <a:avLst>
              <a:gd name="adj1" fmla="val 44626"/>
              <a:gd name="adj2" fmla="val 7804"/>
            </a:avLst>
          </a:prstGeom>
          <a:gradFill>
            <a:gsLst>
              <a:gs pos="100000">
                <a:srgbClr val="2A86DC"/>
              </a:gs>
              <a:gs pos="0">
                <a:srgbClr val="1B5FA3"/>
              </a:gs>
            </a:gsLst>
            <a:lin ang="13800000" scaled="0"/>
          </a:gra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sz="1000"/>
          </a:p>
        </p:txBody>
      </p:sp>
      <p:sp>
        <p:nvSpPr>
          <p:cNvPr id="15" name="对角圆角矩形 25">
            <a:extLst>
              <a:ext uri="{FF2B5EF4-FFF2-40B4-BE49-F238E27FC236}">
                <a16:creationId xmlns:a16="http://schemas.microsoft.com/office/drawing/2014/main" id="{E8D7484F-B89D-0EC1-EDB0-87386D587110}"/>
              </a:ext>
            </a:extLst>
          </p:cNvPr>
          <p:cNvSpPr/>
          <p:nvPr/>
        </p:nvSpPr>
        <p:spPr>
          <a:xfrm>
            <a:off x="604108" y="3922980"/>
            <a:ext cx="2232025" cy="740410"/>
          </a:xfrm>
          <a:prstGeom prst="round2DiagRect">
            <a:avLst>
              <a:gd name="adj1" fmla="val 16667"/>
              <a:gd name="adj2" fmla="val 7804"/>
            </a:avLst>
          </a:prstGeom>
          <a:solidFill>
            <a:schemeClr val="bg1"/>
          </a:solid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497D6B37-02BD-95DE-2D42-1C38426BA0A0}"/>
              </a:ext>
            </a:extLst>
          </p:cNvPr>
          <p:cNvPicPr>
            <a:picLocks noChangeAspect="1"/>
          </p:cNvPicPr>
          <p:nvPr>
            <p:custDataLst>
              <p:tags r:id="rId3"/>
            </p:custDataLst>
          </p:nvPr>
        </p:nvPicPr>
        <p:blipFill rotWithShape="1">
          <a:blip r:embed="rId10" cstate="print">
            <a:extLst>
              <a:ext uri="{28A0092B-C50C-407E-A947-70E740481C1C}">
                <a14:useLocalDpi xmlns:a14="http://schemas.microsoft.com/office/drawing/2010/main" val="0"/>
              </a:ext>
            </a:extLst>
          </a:blip>
          <a:srcRect t="32807" b="26594"/>
          <a:stretch>
            <a:fillRect/>
          </a:stretch>
        </p:blipFill>
        <p:spPr>
          <a:xfrm>
            <a:off x="3053383" y="3155243"/>
            <a:ext cx="832594" cy="338029"/>
          </a:xfrm>
          <a:prstGeom prst="rect">
            <a:avLst/>
          </a:prstGeom>
        </p:spPr>
      </p:pic>
      <p:sp>
        <p:nvSpPr>
          <p:cNvPr id="17" name="TextBox 24">
            <a:extLst>
              <a:ext uri="{FF2B5EF4-FFF2-40B4-BE49-F238E27FC236}">
                <a16:creationId xmlns:a16="http://schemas.microsoft.com/office/drawing/2014/main" id="{93555FC4-A9BA-03D7-91C8-5745BF42023D}"/>
              </a:ext>
            </a:extLst>
          </p:cNvPr>
          <p:cNvSpPr txBox="1"/>
          <p:nvPr/>
        </p:nvSpPr>
        <p:spPr>
          <a:xfrm>
            <a:off x="3938462" y="4104564"/>
            <a:ext cx="1381390" cy="307777"/>
          </a:xfrm>
          <a:prstGeom prst="rect">
            <a:avLst/>
          </a:prstGeom>
          <a:noFill/>
        </p:spPr>
        <p:txBody>
          <a:bodyPr wrap="square" rtlCol="0">
            <a:spAutoFit/>
          </a:bodyPr>
          <a:lstStyle/>
          <a:p>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采集医疗级心电，监测心率、血氧、体温等数据。</a:t>
            </a:r>
          </a:p>
        </p:txBody>
      </p:sp>
      <p:sp>
        <p:nvSpPr>
          <p:cNvPr id="18" name="TextBox 37">
            <a:extLst>
              <a:ext uri="{FF2B5EF4-FFF2-40B4-BE49-F238E27FC236}">
                <a16:creationId xmlns:a16="http://schemas.microsoft.com/office/drawing/2014/main" id="{0C3114DD-67F7-9245-4AFC-D615E61F1159}"/>
              </a:ext>
            </a:extLst>
          </p:cNvPr>
          <p:cNvSpPr txBox="1"/>
          <p:nvPr/>
        </p:nvSpPr>
        <p:spPr>
          <a:xfrm>
            <a:off x="3953984" y="3114695"/>
            <a:ext cx="1215764" cy="338554"/>
          </a:xfrm>
          <a:prstGeom prst="rect">
            <a:avLst/>
          </a:prstGeom>
          <a:noFill/>
        </p:spPr>
        <p:txBody>
          <a:bodyPr wrap="square" rtlCol="0">
            <a:spAutoFit/>
          </a:bodyPr>
          <a:lstStyle/>
          <a:p>
            <a:pPr algn="l">
              <a:buClrTx/>
              <a:buSzTx/>
              <a:buFontTx/>
              <a:buNone/>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实时监测动态心电、HRV</a:t>
            </a:r>
          </a:p>
        </p:txBody>
      </p:sp>
      <p:sp>
        <p:nvSpPr>
          <p:cNvPr id="19" name="TextBox 24">
            <a:extLst>
              <a:ext uri="{FF2B5EF4-FFF2-40B4-BE49-F238E27FC236}">
                <a16:creationId xmlns:a16="http://schemas.microsoft.com/office/drawing/2014/main" id="{BCA44341-97BD-BE7C-42E2-8EA9BA895159}"/>
              </a:ext>
            </a:extLst>
          </p:cNvPr>
          <p:cNvSpPr txBox="1"/>
          <p:nvPr/>
        </p:nvSpPr>
        <p:spPr>
          <a:xfrm>
            <a:off x="1517328" y="3988239"/>
            <a:ext cx="1350486" cy="761747"/>
          </a:xfrm>
          <a:prstGeom prst="rect">
            <a:avLst/>
          </a:prstGeom>
          <a:noFill/>
        </p:spPr>
        <p:txBody>
          <a:bodyPr wrap="square" rtlCol="0">
            <a:spAutoFit/>
          </a:bodyPr>
          <a:lstStyle/>
          <a:p>
            <a:pPr>
              <a:spcBef>
                <a:spcPts val="300"/>
              </a:spcBef>
              <a:spcAft>
                <a:spcPts val="300"/>
              </a:spcAft>
            </a:pPr>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rPr>
              <a:t>基层心血管疾病筛查</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刷卡快速建档，检测心电、心率、血压、脉率，可拓展</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20</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项生理参数</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0" name="图片 19">
            <a:extLst>
              <a:ext uri="{FF2B5EF4-FFF2-40B4-BE49-F238E27FC236}">
                <a16:creationId xmlns:a16="http://schemas.microsoft.com/office/drawing/2014/main" id="{8B3675ED-5F14-2AAF-5A4C-7C3757BC5B76}"/>
              </a:ext>
            </a:extLst>
          </p:cNvPr>
          <p:cNvPicPr>
            <a:picLocks noChangeAspect="1"/>
          </p:cNvPicPr>
          <p:nvPr>
            <p:custDataLst>
              <p:tags r:id="rId4"/>
            </p:custDataLst>
          </p:nvPr>
        </p:nvPicPr>
        <p:blipFill>
          <a:blip r:embed="rId11" cstate="print">
            <a:lum bright="-6000"/>
            <a:extLst>
              <a:ext uri="{28A0092B-C50C-407E-A947-70E740481C1C}">
                <a14:useLocalDpi xmlns:a14="http://schemas.microsoft.com/office/drawing/2010/main" val="0"/>
              </a:ext>
            </a:extLst>
          </a:blip>
          <a:stretch>
            <a:fillRect/>
          </a:stretch>
        </p:blipFill>
        <p:spPr>
          <a:xfrm>
            <a:off x="754523" y="4053872"/>
            <a:ext cx="625917" cy="315601"/>
          </a:xfrm>
          <a:prstGeom prst="rect">
            <a:avLst/>
          </a:prstGeom>
        </p:spPr>
      </p:pic>
      <p:pic>
        <p:nvPicPr>
          <p:cNvPr id="21" name="图片 20">
            <a:extLst>
              <a:ext uri="{FF2B5EF4-FFF2-40B4-BE49-F238E27FC236}">
                <a16:creationId xmlns:a16="http://schemas.microsoft.com/office/drawing/2014/main" id="{F1357C51-808A-EE3B-C46F-7A7128A81671}"/>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7620" t="8657" r="30642" b="10143"/>
          <a:stretch/>
        </p:blipFill>
        <p:spPr>
          <a:xfrm>
            <a:off x="3280634" y="4037024"/>
            <a:ext cx="378092" cy="413761"/>
          </a:xfrm>
          <a:prstGeom prst="rect">
            <a:avLst/>
          </a:prstGeom>
        </p:spPr>
      </p:pic>
      <p:sp>
        <p:nvSpPr>
          <p:cNvPr id="22" name="TextBox 37">
            <a:extLst>
              <a:ext uri="{FF2B5EF4-FFF2-40B4-BE49-F238E27FC236}">
                <a16:creationId xmlns:a16="http://schemas.microsoft.com/office/drawing/2014/main" id="{19686639-BF19-C8C2-9F03-B8F03F798100}"/>
              </a:ext>
            </a:extLst>
          </p:cNvPr>
          <p:cNvSpPr txBox="1"/>
          <p:nvPr/>
        </p:nvSpPr>
        <p:spPr>
          <a:xfrm>
            <a:off x="1517328" y="2347183"/>
            <a:ext cx="1354916" cy="407804"/>
          </a:xfrm>
          <a:prstGeom prst="rect">
            <a:avLst/>
          </a:prstGeom>
          <a:noFill/>
        </p:spPr>
        <p:txBody>
          <a:bodyPr wrap="square" rtlCol="0">
            <a:spAutoFit/>
          </a:bodyPr>
          <a:lstStyle/>
          <a:p>
            <a:pPr indent="0">
              <a:spcAft>
                <a:spcPts val="300"/>
              </a:spcAft>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病房巡诊，院外随访</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buClrTx/>
              <a:buSzTx/>
              <a:buFontTx/>
              <a:buNone/>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常规十二导心电图机，</a:t>
            </a:r>
          </a:p>
        </p:txBody>
      </p:sp>
      <p:sp>
        <p:nvSpPr>
          <p:cNvPr id="23" name="TextBox 37">
            <a:extLst>
              <a:ext uri="{FF2B5EF4-FFF2-40B4-BE49-F238E27FC236}">
                <a16:creationId xmlns:a16="http://schemas.microsoft.com/office/drawing/2014/main" id="{F2156DD1-C9E0-F1E8-04E5-C93BF3A799B7}"/>
              </a:ext>
            </a:extLst>
          </p:cNvPr>
          <p:cNvSpPr txBox="1"/>
          <p:nvPr/>
        </p:nvSpPr>
        <p:spPr>
          <a:xfrm>
            <a:off x="741886" y="2657085"/>
            <a:ext cx="635681" cy="200055"/>
          </a:xfrm>
          <a:prstGeom prst="rect">
            <a:avLst/>
          </a:prstGeom>
          <a:noFill/>
        </p:spPr>
        <p:txBody>
          <a:bodyPr wrap="square" rtlCol="0">
            <a:spAutoFit/>
          </a:bodyPr>
          <a:lstStyle/>
          <a:p>
            <a:pPr indent="0" algn="l">
              <a:spcAft>
                <a:spcPts val="300"/>
              </a:spcAft>
              <a:buNone/>
            </a:pP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心电图机</a:t>
            </a:r>
          </a:p>
        </p:txBody>
      </p:sp>
      <p:sp>
        <p:nvSpPr>
          <p:cNvPr id="24" name="TextBox 37">
            <a:extLst>
              <a:ext uri="{FF2B5EF4-FFF2-40B4-BE49-F238E27FC236}">
                <a16:creationId xmlns:a16="http://schemas.microsoft.com/office/drawing/2014/main" id="{5FD0B636-DEAB-7C2D-68FE-104986885921}"/>
              </a:ext>
            </a:extLst>
          </p:cNvPr>
          <p:cNvSpPr txBox="1"/>
          <p:nvPr/>
        </p:nvSpPr>
        <p:spPr>
          <a:xfrm>
            <a:off x="675806" y="3624351"/>
            <a:ext cx="802804" cy="200055"/>
          </a:xfrm>
          <a:prstGeom prst="rect">
            <a:avLst/>
          </a:prstGeom>
          <a:noFill/>
        </p:spPr>
        <p:txBody>
          <a:bodyPr wrap="square" rtlCol="0">
            <a:spAutoFit/>
          </a:bodyPr>
          <a:lstStyle/>
          <a:p>
            <a:pPr indent="0" algn="l">
              <a:spcAft>
                <a:spcPts val="300"/>
              </a:spcAft>
              <a:buNone/>
            </a:pP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多参数监测仪</a:t>
            </a:r>
          </a:p>
        </p:txBody>
      </p:sp>
      <p:sp>
        <p:nvSpPr>
          <p:cNvPr id="25" name="TextBox 37">
            <a:extLst>
              <a:ext uri="{FF2B5EF4-FFF2-40B4-BE49-F238E27FC236}">
                <a16:creationId xmlns:a16="http://schemas.microsoft.com/office/drawing/2014/main" id="{498E1492-7B90-CD4E-5745-025BB267EE0E}"/>
              </a:ext>
            </a:extLst>
          </p:cNvPr>
          <p:cNvSpPr txBox="1"/>
          <p:nvPr/>
        </p:nvSpPr>
        <p:spPr>
          <a:xfrm>
            <a:off x="661921" y="4412341"/>
            <a:ext cx="802804" cy="200055"/>
          </a:xfrm>
          <a:prstGeom prst="rect">
            <a:avLst/>
          </a:prstGeom>
          <a:noFill/>
        </p:spPr>
        <p:txBody>
          <a:bodyPr wrap="square" rtlCol="0">
            <a:spAutoFit/>
          </a:bodyPr>
          <a:lstStyle/>
          <a:p>
            <a:pPr indent="0" algn="l">
              <a:spcAft>
                <a:spcPts val="300"/>
              </a:spcAft>
              <a:buNone/>
            </a:pP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多参数检测仪</a:t>
            </a:r>
          </a:p>
        </p:txBody>
      </p:sp>
      <p:sp>
        <p:nvSpPr>
          <p:cNvPr id="26" name="TextBox 24">
            <a:extLst>
              <a:ext uri="{FF2B5EF4-FFF2-40B4-BE49-F238E27FC236}">
                <a16:creationId xmlns:a16="http://schemas.microsoft.com/office/drawing/2014/main" id="{DC6A25C6-C98A-05F7-48EB-E1CC23DB66A6}"/>
              </a:ext>
            </a:extLst>
          </p:cNvPr>
          <p:cNvSpPr txBox="1"/>
          <p:nvPr/>
        </p:nvSpPr>
        <p:spPr>
          <a:xfrm>
            <a:off x="1517328" y="3195486"/>
            <a:ext cx="1350486" cy="515526"/>
          </a:xfrm>
          <a:prstGeom prst="rect">
            <a:avLst/>
          </a:prstGeom>
          <a:noFill/>
        </p:spPr>
        <p:txBody>
          <a:bodyPr wrap="square" rtlCol="0">
            <a:spAutoFit/>
          </a:bodyPr>
          <a:lstStyle/>
          <a:p>
            <a:pPr>
              <a:spcBef>
                <a:spcPts val="300"/>
              </a:spcBef>
              <a:spcAft>
                <a:spcPts val="300"/>
              </a:spcAft>
            </a:pPr>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rPr>
              <a:t>智慧病房中央监护</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用于搭建病房远程中央监护系统，替代床旁监护仪</a:t>
            </a:r>
          </a:p>
        </p:txBody>
      </p:sp>
      <p:sp>
        <p:nvSpPr>
          <p:cNvPr id="27" name="TextBox 37">
            <a:extLst>
              <a:ext uri="{FF2B5EF4-FFF2-40B4-BE49-F238E27FC236}">
                <a16:creationId xmlns:a16="http://schemas.microsoft.com/office/drawing/2014/main" id="{C73D66E3-F1B1-53C2-F03D-90A8613B9095}"/>
              </a:ext>
            </a:extLst>
          </p:cNvPr>
          <p:cNvSpPr txBox="1"/>
          <p:nvPr/>
        </p:nvSpPr>
        <p:spPr>
          <a:xfrm>
            <a:off x="3658138" y="2262049"/>
            <a:ext cx="1215764" cy="261610"/>
          </a:xfrm>
          <a:prstGeom prst="rect">
            <a:avLst/>
          </a:prstGeom>
          <a:noFill/>
        </p:spPr>
        <p:txBody>
          <a:bodyPr wrap="square" rtlCol="0">
            <a:spAutoFit/>
          </a:bodyPr>
          <a:lstStyle/>
          <a:p>
            <a:pPr indent="0" algn="l">
              <a:spcAft>
                <a:spcPts val="300"/>
              </a:spcAft>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院外康复管理</a:t>
            </a:r>
          </a:p>
        </p:txBody>
      </p:sp>
      <p:pic>
        <p:nvPicPr>
          <p:cNvPr id="28" name="图片 27">
            <a:extLst>
              <a:ext uri="{FF2B5EF4-FFF2-40B4-BE49-F238E27FC236}">
                <a16:creationId xmlns:a16="http://schemas.microsoft.com/office/drawing/2014/main" id="{685C90F2-F343-42C1-2FF3-DD6EA0C6EF9B}"/>
              </a:ext>
            </a:extLst>
          </p:cNvPr>
          <p:cNvPicPr>
            <a:picLocks noChangeAspect="1"/>
          </p:cNvPicPr>
          <p:nvPr/>
        </p:nvPicPr>
        <p:blipFill>
          <a:blip r:embed="rId13" cstate="print">
            <a:extLst>
              <a:ext uri="{BEBA8EAE-BF5A-486C-A8C5-ECC9F3942E4B}">
                <a14:imgProps xmlns:a14="http://schemas.microsoft.com/office/drawing/2010/main">
                  <a14:imgLayer r:embed="rId14">
                    <a14:imgEffect>
                      <a14:sharpenSoften amount="16000"/>
                    </a14:imgEffect>
                  </a14:imgLayer>
                </a14:imgProps>
              </a:ext>
              <a:ext uri="{28A0092B-C50C-407E-A947-70E740481C1C}">
                <a14:useLocalDpi xmlns:a14="http://schemas.microsoft.com/office/drawing/2010/main" val="0"/>
              </a:ext>
            </a:extLst>
          </a:blip>
          <a:stretch>
            <a:fillRect/>
          </a:stretch>
        </p:blipFill>
        <p:spPr>
          <a:xfrm>
            <a:off x="3162580" y="3591182"/>
            <a:ext cx="702929" cy="397057"/>
          </a:xfrm>
          <a:prstGeom prst="rect">
            <a:avLst/>
          </a:prstGeom>
        </p:spPr>
      </p:pic>
      <p:pic>
        <p:nvPicPr>
          <p:cNvPr id="29" name="图片 28">
            <a:extLst>
              <a:ext uri="{FF2B5EF4-FFF2-40B4-BE49-F238E27FC236}">
                <a16:creationId xmlns:a16="http://schemas.microsoft.com/office/drawing/2014/main" id="{9E7FFA51-61C2-9173-47C5-F018ED9D98E6}"/>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7087" r="3927" b="12315"/>
          <a:stretch/>
        </p:blipFill>
        <p:spPr>
          <a:xfrm>
            <a:off x="3244618" y="2687195"/>
            <a:ext cx="598720" cy="275474"/>
          </a:xfrm>
          <a:prstGeom prst="rect">
            <a:avLst/>
          </a:prstGeom>
        </p:spPr>
      </p:pic>
      <p:sp>
        <p:nvSpPr>
          <p:cNvPr id="30" name="TextBox 37">
            <a:extLst>
              <a:ext uri="{FF2B5EF4-FFF2-40B4-BE49-F238E27FC236}">
                <a16:creationId xmlns:a16="http://schemas.microsoft.com/office/drawing/2014/main" id="{429E9FF0-A5EE-0C97-3E14-7F021E52DD80}"/>
              </a:ext>
            </a:extLst>
          </p:cNvPr>
          <p:cNvSpPr txBox="1"/>
          <p:nvPr/>
        </p:nvSpPr>
        <p:spPr>
          <a:xfrm>
            <a:off x="3951674" y="3591182"/>
            <a:ext cx="1195369" cy="338554"/>
          </a:xfrm>
          <a:prstGeom prst="rect">
            <a:avLst/>
          </a:prstGeom>
          <a:noFill/>
        </p:spPr>
        <p:txBody>
          <a:bodyPr wrap="square" rtlCol="0">
            <a:spAutoFit/>
          </a:bodyPr>
          <a:lstStyle/>
          <a:p>
            <a:pPr algn="l">
              <a:buClrTx/>
              <a:buSzTx/>
              <a:buFontTx/>
              <a:buNone/>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监测长程心电，续航可达</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24H</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7</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TextBox 37">
            <a:extLst>
              <a:ext uri="{FF2B5EF4-FFF2-40B4-BE49-F238E27FC236}">
                <a16:creationId xmlns:a16="http://schemas.microsoft.com/office/drawing/2014/main" id="{03E7530E-66A3-DE89-E915-83485B8AA614}"/>
              </a:ext>
            </a:extLst>
          </p:cNvPr>
          <p:cNvSpPr txBox="1"/>
          <p:nvPr/>
        </p:nvSpPr>
        <p:spPr>
          <a:xfrm>
            <a:off x="3995218" y="2619761"/>
            <a:ext cx="1215764" cy="215444"/>
          </a:xfrm>
          <a:prstGeom prst="rect">
            <a:avLst/>
          </a:prstGeom>
          <a:noFill/>
        </p:spPr>
        <p:txBody>
          <a:bodyPr wrap="square" rtlCol="0">
            <a:spAutoFit/>
          </a:bodyPr>
          <a:lstStyle/>
          <a:p>
            <a:pPr algn="l">
              <a:buClrTx/>
              <a:buSzTx/>
              <a:buFontTx/>
              <a:buNone/>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心脏疾病初筛</a:t>
            </a:r>
          </a:p>
        </p:txBody>
      </p:sp>
      <p:sp>
        <p:nvSpPr>
          <p:cNvPr id="32" name="对角圆角矩形 50">
            <a:extLst>
              <a:ext uri="{FF2B5EF4-FFF2-40B4-BE49-F238E27FC236}">
                <a16:creationId xmlns:a16="http://schemas.microsoft.com/office/drawing/2014/main" id="{3ED9E3E6-949E-FB5A-8102-12304B6041DE}"/>
              </a:ext>
            </a:extLst>
          </p:cNvPr>
          <p:cNvSpPr/>
          <p:nvPr/>
        </p:nvSpPr>
        <p:spPr>
          <a:xfrm>
            <a:off x="5453096" y="2228985"/>
            <a:ext cx="3131506" cy="2434404"/>
          </a:xfrm>
          <a:prstGeom prst="round2DiagRect">
            <a:avLst>
              <a:gd name="adj1" fmla="val 2901"/>
              <a:gd name="adj2" fmla="val 3151"/>
            </a:avLst>
          </a:prstGeom>
          <a:solidFill>
            <a:schemeClr val="bg1"/>
          </a:solidFill>
          <a:ln w="19050"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E5711B72-BCC5-61E9-1FF8-A9526BA67DE7}"/>
              </a:ext>
            </a:extLst>
          </p:cNvPr>
          <p:cNvSpPr/>
          <p:nvPr/>
        </p:nvSpPr>
        <p:spPr>
          <a:xfrm>
            <a:off x="5668197" y="2471437"/>
            <a:ext cx="2823012" cy="2169825"/>
          </a:xfrm>
          <a:prstGeom prst="rect">
            <a:avLst/>
          </a:prstGeom>
        </p:spPr>
        <p:txBody>
          <a:bodyPr wrap="square">
            <a:spAutoFit/>
          </a:bodyPr>
          <a:lstStyle/>
          <a:p>
            <a:pPr marL="171450" indent="-171450">
              <a:lnSpc>
                <a:spcPct val="150000"/>
              </a:lnSpc>
              <a:buClr>
                <a:srgbClr val="2A86DC"/>
              </a:buClr>
              <a:buFont typeface="Wingdings" panose="05000000000000000000" charset="0"/>
              <a:buChar char="ü"/>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微服务架构，自动容错</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Clr>
                <a:srgbClr val="2A86DC"/>
              </a:buClr>
              <a:buFont typeface="Wingdings" panose="05000000000000000000" charset="0"/>
              <a:buChar char="ü"/>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多网融合，兼容院内外网络</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Clr>
                <a:srgbClr val="2A86DC"/>
              </a:buClr>
              <a:buFont typeface="Wingdings" panose="05000000000000000000" charset="0"/>
              <a:buChar char="ü"/>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通过头部安全公司漏洞扫描评测</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Clr>
                <a:srgbClr val="2A86DC"/>
              </a:buClr>
              <a:buFont typeface="Wingdings" panose="05000000000000000000" charset="0"/>
              <a:buChar char="ü"/>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即支持本地部署也支持云部署</a:t>
            </a:r>
          </a:p>
          <a:p>
            <a:pPr marL="171450" indent="-171450">
              <a:lnSpc>
                <a:spcPct val="150000"/>
              </a:lnSpc>
              <a:buClr>
                <a:srgbClr val="2A86DC"/>
              </a:buClr>
              <a:buFont typeface="Wingdings" panose="05000000000000000000" charset="0"/>
              <a:buChar char="ü"/>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系统兼容：标准数据通讯接口，提供数据和报告等，无缝对接第三方平台、医院医疗信息化系统</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171450" indent="-171450">
              <a:lnSpc>
                <a:spcPct val="150000"/>
              </a:lnSpc>
              <a:buClr>
                <a:srgbClr val="2A86DC"/>
              </a:buClr>
              <a:buFont typeface="Wingdings" panose="05000000000000000000" charset="0"/>
              <a:buChar char="ü"/>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设备兼容：支持通用国际标准，无缝连接第三方设备</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圆角矩形 54">
            <a:extLst>
              <a:ext uri="{FF2B5EF4-FFF2-40B4-BE49-F238E27FC236}">
                <a16:creationId xmlns:a16="http://schemas.microsoft.com/office/drawing/2014/main" id="{9FB738F7-967C-8401-C79F-75BFB183F37F}"/>
              </a:ext>
            </a:extLst>
          </p:cNvPr>
          <p:cNvSpPr/>
          <p:nvPr/>
        </p:nvSpPr>
        <p:spPr>
          <a:xfrm>
            <a:off x="6229898" y="2109498"/>
            <a:ext cx="1566366" cy="293770"/>
          </a:xfrm>
          <a:prstGeom prst="roundRect">
            <a:avLst/>
          </a:prstGeom>
          <a:gradFill>
            <a:gsLst>
              <a:gs pos="0">
                <a:srgbClr val="1B5FA3"/>
              </a:gs>
              <a:gs pos="100000">
                <a:srgbClr val="2A86DC"/>
              </a:gs>
            </a:gsLst>
            <a:lin ang="15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1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平台生态同和优势</a:t>
            </a:r>
          </a:p>
        </p:txBody>
      </p:sp>
    </p:spTree>
    <p:extLst>
      <p:ext uri="{BB962C8B-B14F-4D97-AF65-F5344CB8AC3E}">
        <p14:creationId xmlns:p14="http://schemas.microsoft.com/office/powerpoint/2010/main" val="57431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D94E-9FB7-5B59-890D-76DB5A18C1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326125D-458B-F16B-FCEC-EC20627B933B}"/>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区域心血管健康大数据中心建设</a:t>
            </a:r>
            <a:r>
              <a:rPr kumimoji="1" lang="en-US" altLang="zh-CN" dirty="0">
                <a:solidFill>
                  <a:srgbClr val="196494"/>
                </a:solidFill>
              </a:rPr>
              <a:t>——</a:t>
            </a:r>
            <a:r>
              <a:rPr kumimoji="1" lang="zh-CN" altLang="en-US" dirty="0">
                <a:solidFill>
                  <a:srgbClr val="196494"/>
                </a:solidFill>
              </a:rPr>
              <a:t>运营、监管、质控</a:t>
            </a:r>
          </a:p>
        </p:txBody>
      </p:sp>
      <p:pic>
        <p:nvPicPr>
          <p:cNvPr id="3" name="picture 792">
            <a:extLst>
              <a:ext uri="{FF2B5EF4-FFF2-40B4-BE49-F238E27FC236}">
                <a16:creationId xmlns:a16="http://schemas.microsoft.com/office/drawing/2014/main" id="{841A323B-9621-7E29-4685-3E364C0E6C66}"/>
              </a:ext>
            </a:extLst>
          </p:cNvPr>
          <p:cNvPicPr>
            <a:picLocks noChangeAspect="1"/>
          </p:cNvPicPr>
          <p:nvPr/>
        </p:nvPicPr>
        <p:blipFill>
          <a:blip r:embed="rId3"/>
          <a:stretch>
            <a:fillRect/>
          </a:stretch>
        </p:blipFill>
        <p:spPr>
          <a:xfrm rot="21600000">
            <a:off x="568350" y="1929317"/>
            <a:ext cx="4420971" cy="2692387"/>
          </a:xfrm>
          <a:prstGeom prst="rect">
            <a:avLst/>
          </a:prstGeom>
        </p:spPr>
      </p:pic>
      <p:sp>
        <p:nvSpPr>
          <p:cNvPr id="4" name="textbox 794">
            <a:extLst>
              <a:ext uri="{FF2B5EF4-FFF2-40B4-BE49-F238E27FC236}">
                <a16:creationId xmlns:a16="http://schemas.microsoft.com/office/drawing/2014/main" id="{3E96A611-452C-216F-62DE-818F2BCBAAC1}"/>
              </a:ext>
            </a:extLst>
          </p:cNvPr>
          <p:cNvSpPr/>
          <p:nvPr/>
        </p:nvSpPr>
        <p:spPr>
          <a:xfrm>
            <a:off x="382072" y="891063"/>
            <a:ext cx="8525193" cy="773712"/>
          </a:xfrm>
          <a:prstGeom prst="rect">
            <a:avLst/>
          </a:prstGeom>
          <a:noFill/>
          <a:ln w="0" cap="flat">
            <a:noFill/>
            <a:prstDash val="solid"/>
            <a:miter lim="0"/>
          </a:ln>
        </p:spPr>
        <p:txBody>
          <a:bodyPr vert="horz" wrap="square" lIns="0" tIns="0" rIns="0" bIns="0"/>
          <a:lstStyle/>
          <a:p>
            <a:pPr algn="l" rtl="0" eaLnBrk="0">
              <a:lnSpc>
                <a:spcPct val="26000"/>
              </a:lnSpc>
              <a:tabLst>
                <a:tab pos="2241550" algn="l"/>
              </a:tabLst>
            </a:pPr>
            <a:endParaRPr sz="1000" dirty="0">
              <a:latin typeface="Arial" panose="020B0604020202020204"/>
              <a:ea typeface="Arial" panose="020B0604020202020204"/>
              <a:cs typeface="Arial" panose="020B0604020202020204"/>
            </a:endParaRPr>
          </a:p>
          <a:p>
            <a:pPr marL="12700" indent="4445" algn="l" rtl="0" eaLnBrk="0">
              <a:lnSpc>
                <a:spcPct val="148000"/>
              </a:lnSpc>
              <a:tabLst>
                <a:tab pos="2241550" algn="l"/>
              </a:tabLst>
            </a:pPr>
            <a:r>
              <a:rPr sz="1000" dirty="0" err="1">
                <a:solidFill>
                  <a:schemeClr val="tx1">
                    <a:lumMod val="75000"/>
                    <a:lumOff val="25000"/>
                  </a:schemeClr>
                </a:solidFill>
                <a:latin typeface="微软雅黑" panose="020B0503020204020204" pitchFamily="34" charset="-122"/>
                <a:ea typeface="微软雅黑" panose="020B0503020204020204" pitchFamily="34" charset="-122"/>
              </a:rPr>
              <a:t>以用户心血管健康为中心的基础数据，支撑建设大数据中心，为区域医共体心血管健康管理服务提供运营支持</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a:t>
            </a:r>
            <a:r>
              <a:rPr sz="1000" dirty="0" err="1">
                <a:solidFill>
                  <a:schemeClr val="tx1">
                    <a:lumMod val="75000"/>
                    <a:lumOff val="25000"/>
                  </a:schemeClr>
                </a:solidFill>
                <a:latin typeface="微软雅黑" panose="020B0503020204020204" pitchFamily="34" charset="-122"/>
                <a:ea typeface="微软雅黑" panose="020B0503020204020204" pitchFamily="34" charset="-122"/>
              </a:rPr>
              <a:t>同时为监管部门提供各类监管数据看板，如心血管健康指数、心电分析与解读质量分析</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a:t>
            </a:r>
            <a:r>
              <a:rPr sz="1000" dirty="0" err="1">
                <a:solidFill>
                  <a:schemeClr val="tx1">
                    <a:lumMod val="75000"/>
                    <a:lumOff val="25000"/>
                  </a:schemeClr>
                </a:solidFill>
                <a:latin typeface="微软雅黑" panose="020B0503020204020204" pitchFamily="34" charset="-122"/>
                <a:ea typeface="微软雅黑" panose="020B0503020204020204" pitchFamily="34" charset="-122"/>
              </a:rPr>
              <a:t>心电资源共享指数分析、医保基金支出构成分析等</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a:t>
            </a:r>
            <a:r>
              <a:rPr sz="1000" dirty="0" err="1">
                <a:solidFill>
                  <a:schemeClr val="tx1">
                    <a:lumMod val="75000"/>
                    <a:lumOff val="25000"/>
                  </a:schemeClr>
                </a:solidFill>
                <a:latin typeface="微软雅黑" panose="020B0503020204020204" pitchFamily="34" charset="-122"/>
                <a:ea typeface="微软雅黑" panose="020B0503020204020204" pitchFamily="34" charset="-122"/>
              </a:rPr>
              <a:t>与全民健康信息平台互联互通</a:t>
            </a:r>
            <a:r>
              <a:rPr sz="1000" dirty="0">
                <a:solidFill>
                  <a:schemeClr val="tx1">
                    <a:lumMod val="75000"/>
                    <a:lumOff val="25000"/>
                  </a:schemeClr>
                </a:solidFill>
                <a:latin typeface="微软雅黑" panose="020B0503020204020204" pitchFamily="34" charset="-122"/>
                <a:ea typeface="微软雅黑" panose="020B0503020204020204" pitchFamily="34" charset="-122"/>
              </a:rPr>
              <a:t> ，</a:t>
            </a:r>
            <a:r>
              <a:rPr sz="1000" dirty="0" err="1">
                <a:solidFill>
                  <a:schemeClr val="tx1">
                    <a:lumMod val="75000"/>
                    <a:lumOff val="25000"/>
                  </a:schemeClr>
                </a:solidFill>
                <a:latin typeface="微软雅黑" panose="020B0503020204020204" pitchFamily="34" charset="-122"/>
                <a:ea typeface="微软雅黑" panose="020B0503020204020204" pitchFamily="34" charset="-122"/>
              </a:rPr>
              <a:t>确保居民健康档案完整和有效应用</a:t>
            </a:r>
            <a:r>
              <a:rPr sz="10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5" name="rect 796">
            <a:extLst>
              <a:ext uri="{FF2B5EF4-FFF2-40B4-BE49-F238E27FC236}">
                <a16:creationId xmlns:a16="http://schemas.microsoft.com/office/drawing/2014/main" id="{DF9F6873-AB16-E8C0-43CE-63499372547F}"/>
              </a:ext>
            </a:extLst>
          </p:cNvPr>
          <p:cNvSpPr/>
          <p:nvPr/>
        </p:nvSpPr>
        <p:spPr>
          <a:xfrm>
            <a:off x="5946394" y="3868316"/>
            <a:ext cx="2361819" cy="1011072"/>
          </a:xfrm>
          <a:prstGeom prst="rect">
            <a:avLst/>
          </a:prstGeom>
          <a:solidFill>
            <a:srgbClr val="4F81BD">
              <a:alpha val="49803"/>
            </a:srgbClr>
          </a:solidFill>
          <a:ln w="0" cap="flat">
            <a:noFill/>
            <a:prstDash val="solid"/>
            <a:miter lim="0"/>
          </a:ln>
        </p:spPr>
        <p:txBody>
          <a:bodyPr rtlCol="0"/>
          <a:lstStyle/>
          <a:p>
            <a:pPr algn="ctr"/>
            <a:endParaRPr lang="zh-CN" altLang="en-US"/>
          </a:p>
        </p:txBody>
      </p:sp>
      <p:sp>
        <p:nvSpPr>
          <p:cNvPr id="6" name="rect 798">
            <a:extLst>
              <a:ext uri="{FF2B5EF4-FFF2-40B4-BE49-F238E27FC236}">
                <a16:creationId xmlns:a16="http://schemas.microsoft.com/office/drawing/2014/main" id="{7D38F8D5-42FF-A158-4E6A-ACFC50E98BA1}"/>
              </a:ext>
            </a:extLst>
          </p:cNvPr>
          <p:cNvSpPr/>
          <p:nvPr/>
        </p:nvSpPr>
        <p:spPr>
          <a:xfrm>
            <a:off x="5946648" y="2839767"/>
            <a:ext cx="2361946" cy="966825"/>
          </a:xfrm>
          <a:prstGeom prst="rect">
            <a:avLst/>
          </a:prstGeom>
          <a:solidFill>
            <a:srgbClr val="4F81BD">
              <a:alpha val="49803"/>
            </a:srgbClr>
          </a:solidFill>
          <a:ln w="0" cap="flat">
            <a:noFill/>
            <a:prstDash val="solid"/>
            <a:miter lim="0"/>
          </a:ln>
        </p:spPr>
        <p:txBody>
          <a:bodyPr rtlCol="0"/>
          <a:lstStyle/>
          <a:p>
            <a:pPr algn="ctr"/>
            <a:endParaRPr lang="zh-CN" altLang="en-US"/>
          </a:p>
        </p:txBody>
      </p:sp>
      <p:sp>
        <p:nvSpPr>
          <p:cNvPr id="7" name="rect 800">
            <a:extLst>
              <a:ext uri="{FF2B5EF4-FFF2-40B4-BE49-F238E27FC236}">
                <a16:creationId xmlns:a16="http://schemas.microsoft.com/office/drawing/2014/main" id="{84284450-378C-7A52-5786-278281DD59D7}"/>
              </a:ext>
            </a:extLst>
          </p:cNvPr>
          <p:cNvSpPr/>
          <p:nvPr/>
        </p:nvSpPr>
        <p:spPr>
          <a:xfrm>
            <a:off x="5946394" y="1819957"/>
            <a:ext cx="2361946" cy="966825"/>
          </a:xfrm>
          <a:prstGeom prst="rect">
            <a:avLst/>
          </a:prstGeom>
          <a:solidFill>
            <a:srgbClr val="4F81BD">
              <a:alpha val="49803"/>
            </a:srgbClr>
          </a:solidFill>
          <a:ln w="0" cap="flat">
            <a:noFill/>
            <a:prstDash val="solid"/>
            <a:miter lim="0"/>
          </a:ln>
        </p:spPr>
        <p:txBody>
          <a:bodyPr rtlCol="0"/>
          <a:lstStyle/>
          <a:p>
            <a:pPr algn="ctr"/>
            <a:endParaRPr lang="zh-CN" altLang="en-US"/>
          </a:p>
        </p:txBody>
      </p:sp>
      <p:sp>
        <p:nvSpPr>
          <p:cNvPr id="8" name="textbox 806">
            <a:extLst>
              <a:ext uri="{FF2B5EF4-FFF2-40B4-BE49-F238E27FC236}">
                <a16:creationId xmlns:a16="http://schemas.microsoft.com/office/drawing/2014/main" id="{9B0E00FF-443F-B4A6-F5C8-E49DAC5D2644}"/>
              </a:ext>
            </a:extLst>
          </p:cNvPr>
          <p:cNvSpPr/>
          <p:nvPr/>
        </p:nvSpPr>
        <p:spPr>
          <a:xfrm>
            <a:off x="6660291" y="1890112"/>
            <a:ext cx="1366519" cy="7899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7000"/>
              </a:lnSpc>
            </a:pP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数字化健康</a:t>
            </a:r>
            <a:endParaRPr sz="1200" dirty="0">
              <a:latin typeface="微软雅黑" panose="020B0503020204020204" charset="-122"/>
              <a:ea typeface="微软雅黑" panose="020B0503020204020204" charset="-122"/>
              <a:cs typeface="微软雅黑" panose="020B0503020204020204" charset="-122"/>
            </a:endParaRPr>
          </a:p>
          <a:p>
            <a:pPr marL="12700" algn="l" rtl="0" eaLnBrk="0">
              <a:lnSpc>
                <a:spcPct val="89000"/>
              </a:lnSpc>
              <a:spcBef>
                <a:spcPts val="890"/>
              </a:spcBef>
            </a:pPr>
            <a:r>
              <a:rPr sz="8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健康筛查  |</a:t>
            </a:r>
            <a:r>
              <a:rPr sz="8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8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健康</a:t>
            </a:r>
            <a:r>
              <a:rPr sz="8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档案</a:t>
            </a:r>
            <a:endParaRPr sz="800" dirty="0">
              <a:latin typeface="微软雅黑" panose="020B0503020204020204" charset="-122"/>
              <a:ea typeface="微软雅黑" panose="020B0503020204020204" charset="-122"/>
              <a:cs typeface="微软雅黑" panose="020B0503020204020204" charset="-122"/>
            </a:endParaRPr>
          </a:p>
          <a:p>
            <a:pPr algn="l" rtl="0" eaLnBrk="0">
              <a:lnSpc>
                <a:spcPct val="120000"/>
              </a:lnSpc>
            </a:pPr>
            <a:endParaRPr sz="200" dirty="0">
              <a:latin typeface="Arial" panose="020B0604020202020204"/>
              <a:ea typeface="Arial" panose="020B0604020202020204"/>
              <a:cs typeface="Arial" panose="020B0604020202020204"/>
            </a:endParaRPr>
          </a:p>
          <a:p>
            <a:pPr marL="12700" algn="l" rtl="0" eaLnBrk="0">
              <a:lnSpc>
                <a:spcPct val="135000"/>
              </a:lnSpc>
              <a:spcBef>
                <a:spcPts val="0"/>
              </a:spcBef>
            </a:pPr>
            <a:r>
              <a:rPr sz="8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健康评估  | 重大风险疾病预警</a:t>
            </a:r>
            <a:r>
              <a:rPr sz="8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8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科学研究  |</a:t>
            </a:r>
            <a:r>
              <a:rPr sz="8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8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健康</a:t>
            </a:r>
            <a:r>
              <a:rPr sz="8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科普</a:t>
            </a:r>
            <a:endParaRPr sz="800" dirty="0">
              <a:latin typeface="微软雅黑" panose="020B0503020204020204" charset="-122"/>
              <a:ea typeface="微软雅黑" panose="020B0503020204020204" charset="-122"/>
              <a:cs typeface="微软雅黑" panose="020B0503020204020204" charset="-122"/>
            </a:endParaRPr>
          </a:p>
        </p:txBody>
      </p:sp>
      <p:sp>
        <p:nvSpPr>
          <p:cNvPr id="9" name="textbox 808">
            <a:extLst>
              <a:ext uri="{FF2B5EF4-FFF2-40B4-BE49-F238E27FC236}">
                <a16:creationId xmlns:a16="http://schemas.microsoft.com/office/drawing/2014/main" id="{6265DD86-6CBA-3ABB-E5F9-5E2D9F1FF35C}"/>
              </a:ext>
            </a:extLst>
          </p:cNvPr>
          <p:cNvSpPr/>
          <p:nvPr/>
        </p:nvSpPr>
        <p:spPr>
          <a:xfrm>
            <a:off x="6660291" y="3944845"/>
            <a:ext cx="1036319" cy="85471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7000"/>
              </a:lnSpc>
            </a:pP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数字化监管</a:t>
            </a:r>
            <a:endParaRPr sz="1200" dirty="0">
              <a:latin typeface="微软雅黑" panose="020B0503020204020204" charset="-122"/>
              <a:ea typeface="微软雅黑" panose="020B0503020204020204" charset="-122"/>
              <a:cs typeface="微软雅黑" panose="020B0503020204020204" charset="-122"/>
            </a:endParaRPr>
          </a:p>
          <a:p>
            <a:pPr marL="12700" algn="l" rtl="0" eaLnBrk="0">
              <a:lnSpc>
                <a:spcPct val="134000"/>
              </a:lnSpc>
              <a:spcBef>
                <a:spcPts val="625"/>
              </a:spcBef>
            </a:pPr>
            <a:r>
              <a:rPr sz="9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业务监管</a:t>
            </a:r>
            <a:r>
              <a:rPr sz="900" kern="0" spc="14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9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|统计报表</a:t>
            </a:r>
            <a:r>
              <a:rPr sz="9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9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溯源跟踪</a:t>
            </a:r>
            <a:r>
              <a:rPr sz="900" kern="0" spc="14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9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|绩效考核</a:t>
            </a:r>
            <a:endParaRPr sz="900" dirty="0">
              <a:latin typeface="微软雅黑" panose="020B0503020204020204" charset="-122"/>
              <a:ea typeface="微软雅黑" panose="020B0503020204020204" charset="-122"/>
              <a:cs typeface="微软雅黑" panose="020B0503020204020204" charset="-122"/>
            </a:endParaRPr>
          </a:p>
          <a:p>
            <a:pPr algn="l" rtl="0" eaLnBrk="0">
              <a:lnSpc>
                <a:spcPct val="109000"/>
              </a:lnSpc>
            </a:pPr>
            <a:endParaRPr sz="500" dirty="0">
              <a:latin typeface="Arial" panose="020B0604020202020204"/>
              <a:ea typeface="Arial" panose="020B0604020202020204"/>
              <a:cs typeface="Arial" panose="020B0604020202020204"/>
            </a:endParaRPr>
          </a:p>
          <a:p>
            <a:pPr marL="21590" algn="l" rtl="0" eaLnBrk="0">
              <a:lnSpc>
                <a:spcPct val="89000"/>
              </a:lnSpc>
              <a:spcBef>
                <a:spcPts val="5"/>
              </a:spcBef>
            </a:pPr>
            <a:r>
              <a:rPr sz="900" kern="0" spc="-30" dirty="0">
                <a:solidFill>
                  <a:srgbClr val="262626">
                    <a:alpha val="100000"/>
                  </a:srgbClr>
                </a:solidFill>
                <a:latin typeface="微软雅黑" panose="020B0503020204020204" charset="-122"/>
                <a:ea typeface="微软雅黑" panose="020B0503020204020204" charset="-122"/>
                <a:cs typeface="微软雅黑" panose="020B0503020204020204" charset="-122"/>
              </a:rPr>
              <a:t>医疗质控</a:t>
            </a:r>
            <a:r>
              <a:rPr sz="900" kern="0" spc="11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900" kern="0" spc="-30" dirty="0">
                <a:solidFill>
                  <a:srgbClr val="262626">
                    <a:alpha val="100000"/>
                  </a:srgbClr>
                </a:solidFill>
                <a:latin typeface="微软雅黑" panose="020B0503020204020204" charset="-122"/>
                <a:ea typeface="微软雅黑" panose="020B0503020204020204" charset="-122"/>
                <a:cs typeface="微软雅黑" panose="020B0503020204020204" charset="-122"/>
              </a:rPr>
              <a:t>|</a:t>
            </a:r>
            <a:r>
              <a:rPr sz="900" kern="0" spc="8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900" kern="0" spc="-30" dirty="0">
                <a:solidFill>
                  <a:srgbClr val="262626">
                    <a:alpha val="100000"/>
                  </a:srgbClr>
                </a:solidFill>
                <a:latin typeface="微软雅黑" panose="020B0503020204020204" charset="-122"/>
                <a:ea typeface="微软雅黑" panose="020B0503020204020204" charset="-122"/>
                <a:cs typeface="微软雅黑" panose="020B0503020204020204" charset="-122"/>
              </a:rPr>
              <a:t>医保监督</a:t>
            </a:r>
            <a:endParaRPr sz="900" dirty="0">
              <a:latin typeface="微软雅黑" panose="020B0503020204020204" charset="-122"/>
              <a:ea typeface="微软雅黑" panose="020B0503020204020204" charset="-122"/>
              <a:cs typeface="微软雅黑" panose="020B0503020204020204" charset="-122"/>
            </a:endParaRPr>
          </a:p>
        </p:txBody>
      </p:sp>
      <p:sp>
        <p:nvSpPr>
          <p:cNvPr id="10" name="textbox 810">
            <a:extLst>
              <a:ext uri="{FF2B5EF4-FFF2-40B4-BE49-F238E27FC236}">
                <a16:creationId xmlns:a16="http://schemas.microsoft.com/office/drawing/2014/main" id="{D44903DB-5696-FD53-3426-749EFF98B08F}"/>
              </a:ext>
            </a:extLst>
          </p:cNvPr>
          <p:cNvSpPr/>
          <p:nvPr/>
        </p:nvSpPr>
        <p:spPr>
          <a:xfrm>
            <a:off x="6648805" y="2929734"/>
            <a:ext cx="1029335" cy="78930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97000"/>
              </a:lnSpc>
            </a:pP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数字化运营</a:t>
            </a:r>
            <a:endParaRPr sz="1200" dirty="0">
              <a:latin typeface="微软雅黑" panose="020B0503020204020204" charset="-122"/>
              <a:ea typeface="微软雅黑" panose="020B0503020204020204" charset="-122"/>
              <a:cs typeface="微软雅黑" panose="020B0503020204020204" charset="-122"/>
            </a:endParaRPr>
          </a:p>
          <a:p>
            <a:pPr marL="13335" algn="l" rtl="0" eaLnBrk="0">
              <a:lnSpc>
                <a:spcPct val="89000"/>
              </a:lnSpc>
              <a:spcBef>
                <a:spcPts val="890"/>
              </a:spcBef>
            </a:pPr>
            <a:r>
              <a:rPr sz="8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用户标签 |运营报表</a:t>
            </a:r>
            <a:endParaRPr sz="800" dirty="0">
              <a:latin typeface="微软雅黑" panose="020B0503020204020204" charset="-122"/>
              <a:ea typeface="微软雅黑" panose="020B0503020204020204" charset="-122"/>
              <a:cs typeface="微软雅黑" panose="020B0503020204020204" charset="-122"/>
            </a:endParaRPr>
          </a:p>
          <a:p>
            <a:pPr marL="13335" algn="l" rtl="0" eaLnBrk="0">
              <a:lnSpc>
                <a:spcPct val="89000"/>
              </a:lnSpc>
              <a:spcBef>
                <a:spcPts val="585"/>
              </a:spcBef>
            </a:pPr>
            <a:r>
              <a:rPr sz="8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用户画像 |辅助决策</a:t>
            </a:r>
            <a:endParaRPr sz="800" dirty="0">
              <a:latin typeface="微软雅黑" panose="020B0503020204020204" charset="-122"/>
              <a:ea typeface="微软雅黑" panose="020B0503020204020204" charset="-122"/>
              <a:cs typeface="微软雅黑" panose="020B0503020204020204" charset="-122"/>
            </a:endParaRPr>
          </a:p>
          <a:p>
            <a:pPr algn="l" rtl="0" eaLnBrk="0">
              <a:lnSpc>
                <a:spcPct val="122000"/>
              </a:lnSpc>
            </a:pPr>
            <a:endParaRPr sz="400" dirty="0">
              <a:latin typeface="Arial" panose="020B0604020202020204"/>
              <a:ea typeface="Arial" panose="020B0604020202020204"/>
              <a:cs typeface="Arial" panose="020B0604020202020204"/>
            </a:endParaRPr>
          </a:p>
          <a:p>
            <a:pPr marL="12700" algn="l" rtl="0" eaLnBrk="0">
              <a:lnSpc>
                <a:spcPct val="89000"/>
              </a:lnSpc>
            </a:pPr>
            <a:r>
              <a:rPr sz="8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服务包运营 |科研支持</a:t>
            </a:r>
            <a:endParaRPr sz="800" dirty="0">
              <a:latin typeface="微软雅黑" panose="020B0503020204020204" charset="-122"/>
              <a:ea typeface="微软雅黑" panose="020B0503020204020204" charset="-122"/>
              <a:cs typeface="微软雅黑" panose="020B0503020204020204" charset="-122"/>
            </a:endParaRPr>
          </a:p>
        </p:txBody>
      </p:sp>
      <p:pic>
        <p:nvPicPr>
          <p:cNvPr id="11" name="picture 816">
            <a:extLst>
              <a:ext uri="{FF2B5EF4-FFF2-40B4-BE49-F238E27FC236}">
                <a16:creationId xmlns:a16="http://schemas.microsoft.com/office/drawing/2014/main" id="{47C3CA75-66E6-0AA3-3990-3505D5A191EF}"/>
              </a:ext>
            </a:extLst>
          </p:cNvPr>
          <p:cNvPicPr>
            <a:picLocks noChangeAspect="1"/>
          </p:cNvPicPr>
          <p:nvPr/>
        </p:nvPicPr>
        <p:blipFill>
          <a:blip r:embed="rId4"/>
          <a:stretch>
            <a:fillRect/>
          </a:stretch>
        </p:blipFill>
        <p:spPr>
          <a:xfrm rot="21600000">
            <a:off x="6089141" y="2040658"/>
            <a:ext cx="398271" cy="388874"/>
          </a:xfrm>
          <a:prstGeom prst="rect">
            <a:avLst/>
          </a:prstGeom>
        </p:spPr>
      </p:pic>
      <p:pic>
        <p:nvPicPr>
          <p:cNvPr id="12" name="picture 818">
            <a:extLst>
              <a:ext uri="{FF2B5EF4-FFF2-40B4-BE49-F238E27FC236}">
                <a16:creationId xmlns:a16="http://schemas.microsoft.com/office/drawing/2014/main" id="{1AE47570-B288-59B0-E095-F043AE6C655A}"/>
              </a:ext>
            </a:extLst>
          </p:cNvPr>
          <p:cNvPicPr>
            <a:picLocks noChangeAspect="1"/>
          </p:cNvPicPr>
          <p:nvPr/>
        </p:nvPicPr>
        <p:blipFill>
          <a:blip r:embed="rId5"/>
          <a:stretch>
            <a:fillRect/>
          </a:stretch>
        </p:blipFill>
        <p:spPr>
          <a:xfrm rot="21600000">
            <a:off x="6089141" y="3038624"/>
            <a:ext cx="398271" cy="388873"/>
          </a:xfrm>
          <a:prstGeom prst="rect">
            <a:avLst/>
          </a:prstGeom>
        </p:spPr>
      </p:pic>
      <p:pic>
        <p:nvPicPr>
          <p:cNvPr id="13" name="picture 820">
            <a:extLst>
              <a:ext uri="{FF2B5EF4-FFF2-40B4-BE49-F238E27FC236}">
                <a16:creationId xmlns:a16="http://schemas.microsoft.com/office/drawing/2014/main" id="{642ABD35-5FAC-B121-2F2D-D47FC240D983}"/>
              </a:ext>
            </a:extLst>
          </p:cNvPr>
          <p:cNvPicPr>
            <a:picLocks noChangeAspect="1"/>
          </p:cNvPicPr>
          <p:nvPr/>
        </p:nvPicPr>
        <p:blipFill>
          <a:blip r:embed="rId6"/>
          <a:stretch>
            <a:fillRect/>
          </a:stretch>
        </p:blipFill>
        <p:spPr>
          <a:xfrm rot="21600000">
            <a:off x="6089141" y="4177776"/>
            <a:ext cx="398271" cy="388848"/>
          </a:xfrm>
          <a:prstGeom prst="rect">
            <a:avLst/>
          </a:prstGeom>
        </p:spPr>
      </p:pic>
    </p:spTree>
    <p:extLst>
      <p:ext uri="{BB962C8B-B14F-4D97-AF65-F5344CB8AC3E}">
        <p14:creationId xmlns:p14="http://schemas.microsoft.com/office/powerpoint/2010/main" val="2394781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90415-4D59-8AFA-37CB-61215D8079A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261023D-66FA-389F-FF30-FE661FBBAC39}"/>
              </a:ext>
            </a:extLst>
          </p:cNvPr>
          <p:cNvSpPr/>
          <p:nvPr/>
        </p:nvSpPr>
        <p:spPr>
          <a:xfrm flipH="1">
            <a:off x="-36830" y="0"/>
            <a:ext cx="4895850" cy="5152390"/>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102" name="图片 101">
            <a:extLst>
              <a:ext uri="{FF2B5EF4-FFF2-40B4-BE49-F238E27FC236}">
                <a16:creationId xmlns:a16="http://schemas.microsoft.com/office/drawing/2014/main" id="{A773711F-0294-F344-9D19-9CABA25BA9DA}"/>
              </a:ext>
            </a:extLst>
          </p:cNvPr>
          <p:cNvPicPr/>
          <p:nvPr/>
        </p:nvPicPr>
        <p:blipFill>
          <a:blip r:embed="rId3">
            <a:alphaModFix amt="20000"/>
          </a:blip>
          <a:srcRect r="37055"/>
          <a:stretch>
            <a:fillRect/>
          </a:stretch>
        </p:blipFill>
        <p:spPr>
          <a:xfrm>
            <a:off x="-36195" y="0"/>
            <a:ext cx="4896485" cy="5143500"/>
          </a:xfrm>
          <a:prstGeom prst="rect">
            <a:avLst/>
          </a:prstGeom>
          <a:noFill/>
          <a:ln w="9525">
            <a:noFill/>
          </a:ln>
        </p:spPr>
      </p:pic>
      <p:sp>
        <p:nvSpPr>
          <p:cNvPr id="3" name="文本框 2">
            <a:extLst>
              <a:ext uri="{FF2B5EF4-FFF2-40B4-BE49-F238E27FC236}">
                <a16:creationId xmlns:a16="http://schemas.microsoft.com/office/drawing/2014/main" id="{4DBA92E3-1212-9292-0CF9-8E253E96D93C}"/>
              </a:ext>
            </a:extLst>
          </p:cNvPr>
          <p:cNvSpPr txBox="1"/>
          <p:nvPr/>
        </p:nvSpPr>
        <p:spPr>
          <a:xfrm>
            <a:off x="611505" y="699770"/>
            <a:ext cx="1868805" cy="768350"/>
          </a:xfrm>
          <a:prstGeom prst="rect">
            <a:avLst/>
          </a:prstGeom>
          <a:noFill/>
        </p:spPr>
        <p:txBody>
          <a:bodyPr wrap="square" rtlCol="0">
            <a:spAutoFit/>
          </a:bodyPr>
          <a:lstStyle/>
          <a:p>
            <a:r>
              <a:rPr lang="zh-CN" altLang="en-US" sz="4400" b="1">
                <a:solidFill>
                  <a:schemeClr val="bg1"/>
                </a:solidFill>
                <a:latin typeface="微软雅黑" panose="020B0503020204020204" pitchFamily="34" charset="-122"/>
                <a:ea typeface="微软雅黑" panose="020B0503020204020204" pitchFamily="34" charset="-122"/>
              </a:rPr>
              <a:t>目录</a:t>
            </a:r>
          </a:p>
        </p:txBody>
      </p:sp>
      <p:sp>
        <p:nvSpPr>
          <p:cNvPr id="6" name="文本框 5">
            <a:extLst>
              <a:ext uri="{FF2B5EF4-FFF2-40B4-BE49-F238E27FC236}">
                <a16:creationId xmlns:a16="http://schemas.microsoft.com/office/drawing/2014/main" id="{1DE46B10-EB9D-C839-BD56-8FC3ED9586C6}"/>
              </a:ext>
            </a:extLst>
          </p:cNvPr>
          <p:cNvSpPr txBox="1"/>
          <p:nvPr/>
        </p:nvSpPr>
        <p:spPr>
          <a:xfrm>
            <a:off x="664210" y="1491615"/>
            <a:ext cx="1868805" cy="398780"/>
          </a:xfrm>
          <a:prstGeom prst="rect">
            <a:avLst/>
          </a:prstGeom>
          <a:noFill/>
        </p:spPr>
        <p:txBody>
          <a:bodyPr wrap="square" rtlCol="0">
            <a:spAutoFit/>
          </a:bodyPr>
          <a:lstStyle/>
          <a:p>
            <a:r>
              <a:rPr lang="en-US" altLang="zh-CN" sz="2000" b="1">
                <a:solidFill>
                  <a:schemeClr val="bg1">
                    <a:alpha val="50000"/>
                  </a:schemeClr>
                </a:solidFill>
                <a:latin typeface="微软雅黑" panose="020B0503020204020204" pitchFamily="34" charset="-122"/>
                <a:ea typeface="微软雅黑" panose="020B0503020204020204" pitchFamily="34" charset="-122"/>
              </a:rPr>
              <a:t>CONTENTS</a:t>
            </a:r>
          </a:p>
        </p:txBody>
      </p:sp>
      <p:grpSp>
        <p:nvGrpSpPr>
          <p:cNvPr id="23" name="组合 22">
            <a:extLst>
              <a:ext uri="{FF2B5EF4-FFF2-40B4-BE49-F238E27FC236}">
                <a16:creationId xmlns:a16="http://schemas.microsoft.com/office/drawing/2014/main" id="{B4D5C8D6-34D8-216A-FD31-066210FBD577}"/>
              </a:ext>
            </a:extLst>
          </p:cNvPr>
          <p:cNvGrpSpPr/>
          <p:nvPr/>
        </p:nvGrpSpPr>
        <p:grpSpPr>
          <a:xfrm>
            <a:off x="4491990" y="417994"/>
            <a:ext cx="3060065" cy="709930"/>
            <a:chOff x="4613" y="892"/>
            <a:chExt cx="4819" cy="1118"/>
          </a:xfrm>
        </p:grpSpPr>
        <p:sp>
          <p:nvSpPr>
            <p:cNvPr id="7" name="圆角矩形 6">
              <a:extLst>
                <a:ext uri="{FF2B5EF4-FFF2-40B4-BE49-F238E27FC236}">
                  <a16:creationId xmlns:a16="http://schemas.microsoft.com/office/drawing/2014/main" id="{8CA4B23E-C1C2-2A3E-C779-8A23400A2765}"/>
                </a:ext>
              </a:extLst>
            </p:cNvPr>
            <p:cNvSpPr/>
            <p:nvPr/>
          </p:nvSpPr>
          <p:spPr>
            <a:xfrm>
              <a:off x="4932" y="1017"/>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政策背景</a:t>
              </a:r>
            </a:p>
          </p:txBody>
        </p:sp>
        <p:sp>
          <p:nvSpPr>
            <p:cNvPr id="4" name="椭圆 3">
              <a:extLst>
                <a:ext uri="{FF2B5EF4-FFF2-40B4-BE49-F238E27FC236}">
                  <a16:creationId xmlns:a16="http://schemas.microsoft.com/office/drawing/2014/main" id="{BB6872C7-F66F-E727-A67F-200AF68D7FD3}"/>
                </a:ext>
              </a:extLst>
            </p:cNvPr>
            <p:cNvSpPr/>
            <p:nvPr/>
          </p:nvSpPr>
          <p:spPr>
            <a:xfrm>
              <a:off x="4613" y="892"/>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1</a:t>
              </a:r>
            </a:p>
          </p:txBody>
        </p:sp>
      </p:grpSp>
      <p:grpSp>
        <p:nvGrpSpPr>
          <p:cNvPr id="22" name="组合 21">
            <a:extLst>
              <a:ext uri="{FF2B5EF4-FFF2-40B4-BE49-F238E27FC236}">
                <a16:creationId xmlns:a16="http://schemas.microsoft.com/office/drawing/2014/main" id="{35546A4B-B6F7-ECBF-948E-7978B260B180}"/>
              </a:ext>
            </a:extLst>
          </p:cNvPr>
          <p:cNvGrpSpPr/>
          <p:nvPr/>
        </p:nvGrpSpPr>
        <p:grpSpPr>
          <a:xfrm>
            <a:off x="4491990" y="1336040"/>
            <a:ext cx="3060700" cy="709930"/>
            <a:chOff x="4613" y="2763"/>
            <a:chExt cx="4820" cy="1118"/>
          </a:xfrm>
        </p:grpSpPr>
        <p:sp>
          <p:nvSpPr>
            <p:cNvPr id="8" name="圆角矩形 7">
              <a:extLst>
                <a:ext uri="{FF2B5EF4-FFF2-40B4-BE49-F238E27FC236}">
                  <a16:creationId xmlns:a16="http://schemas.microsoft.com/office/drawing/2014/main" id="{217EEAB2-C63F-B289-1637-D5DEAC6E8792}"/>
                </a:ext>
              </a:extLst>
            </p:cNvPr>
            <p:cNvSpPr/>
            <p:nvPr/>
          </p:nvSpPr>
          <p:spPr>
            <a:xfrm>
              <a:off x="4932" y="2888"/>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需求分析</a:t>
              </a:r>
            </a:p>
          </p:txBody>
        </p:sp>
        <p:sp>
          <p:nvSpPr>
            <p:cNvPr id="9" name="椭圆 8">
              <a:extLst>
                <a:ext uri="{FF2B5EF4-FFF2-40B4-BE49-F238E27FC236}">
                  <a16:creationId xmlns:a16="http://schemas.microsoft.com/office/drawing/2014/main" id="{572057D6-AEE8-B27D-FD1E-5005DF46DCC9}"/>
                </a:ext>
              </a:extLst>
            </p:cNvPr>
            <p:cNvSpPr/>
            <p:nvPr/>
          </p:nvSpPr>
          <p:spPr>
            <a:xfrm>
              <a:off x="4613" y="2763"/>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2</a:t>
              </a:r>
            </a:p>
          </p:txBody>
        </p:sp>
      </p:grpSp>
      <p:grpSp>
        <p:nvGrpSpPr>
          <p:cNvPr id="20" name="组合 19">
            <a:extLst>
              <a:ext uri="{FF2B5EF4-FFF2-40B4-BE49-F238E27FC236}">
                <a16:creationId xmlns:a16="http://schemas.microsoft.com/office/drawing/2014/main" id="{1D8062A6-01A1-E991-43C3-004D78A912F2}"/>
              </a:ext>
            </a:extLst>
          </p:cNvPr>
          <p:cNvGrpSpPr/>
          <p:nvPr/>
        </p:nvGrpSpPr>
        <p:grpSpPr>
          <a:xfrm>
            <a:off x="4491990" y="2268456"/>
            <a:ext cx="3060065" cy="709930"/>
            <a:chOff x="4613" y="6448"/>
            <a:chExt cx="4819" cy="1118"/>
          </a:xfrm>
        </p:grpSpPr>
        <p:sp>
          <p:nvSpPr>
            <p:cNvPr id="17" name="圆角矩形 16">
              <a:extLst>
                <a:ext uri="{FF2B5EF4-FFF2-40B4-BE49-F238E27FC236}">
                  <a16:creationId xmlns:a16="http://schemas.microsoft.com/office/drawing/2014/main" id="{9F8D91C7-7377-7EF1-072A-77A1690E121C}"/>
                </a:ext>
              </a:extLst>
            </p:cNvPr>
            <p:cNvSpPr/>
            <p:nvPr/>
          </p:nvSpPr>
          <p:spPr>
            <a:xfrm>
              <a:off x="4932" y="6573"/>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方案概述</a:t>
              </a:r>
            </a:p>
          </p:txBody>
        </p:sp>
        <p:sp>
          <p:nvSpPr>
            <p:cNvPr id="19" name="椭圆 18">
              <a:extLst>
                <a:ext uri="{FF2B5EF4-FFF2-40B4-BE49-F238E27FC236}">
                  <a16:creationId xmlns:a16="http://schemas.microsoft.com/office/drawing/2014/main" id="{31BBB57F-1A91-9D79-ABBA-6C9046D60566}"/>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3</a:t>
              </a:r>
            </a:p>
          </p:txBody>
        </p:sp>
      </p:grpSp>
      <p:grpSp>
        <p:nvGrpSpPr>
          <p:cNvPr id="5" name="组合 19">
            <a:extLst>
              <a:ext uri="{FF2B5EF4-FFF2-40B4-BE49-F238E27FC236}">
                <a16:creationId xmlns:a16="http://schemas.microsoft.com/office/drawing/2014/main" id="{75978DA3-AD0C-1AD3-A56A-F8162DFCB7F8}"/>
              </a:ext>
            </a:extLst>
          </p:cNvPr>
          <p:cNvGrpSpPr/>
          <p:nvPr/>
        </p:nvGrpSpPr>
        <p:grpSpPr>
          <a:xfrm>
            <a:off x="4491990" y="3216746"/>
            <a:ext cx="3060700" cy="709930"/>
            <a:chOff x="4613" y="6448"/>
            <a:chExt cx="4820" cy="1118"/>
          </a:xfrm>
        </p:grpSpPr>
        <p:sp>
          <p:nvSpPr>
            <p:cNvPr id="10" name="圆角矩形 16">
              <a:extLst>
                <a:ext uri="{FF2B5EF4-FFF2-40B4-BE49-F238E27FC236}">
                  <a16:creationId xmlns:a16="http://schemas.microsoft.com/office/drawing/2014/main" id="{FF60179C-DEF0-DD49-0104-7B24E1912A78}"/>
                </a:ext>
              </a:extLst>
            </p:cNvPr>
            <p:cNvSpPr/>
            <p:nvPr/>
          </p:nvSpPr>
          <p:spPr>
            <a:xfrm>
              <a:off x="4932" y="6573"/>
              <a:ext cx="4501" cy="869"/>
            </a:xfrm>
            <a:prstGeom prst="roundRect">
              <a:avLst>
                <a:gd name="adj" fmla="val 50000"/>
              </a:avLst>
            </a:prstGeom>
            <a:solidFill>
              <a:srgbClr val="2A86DC"/>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应用场景</a:t>
              </a:r>
            </a:p>
          </p:txBody>
        </p:sp>
        <p:sp>
          <p:nvSpPr>
            <p:cNvPr id="11" name="椭圆 18">
              <a:extLst>
                <a:ext uri="{FF2B5EF4-FFF2-40B4-BE49-F238E27FC236}">
                  <a16:creationId xmlns:a16="http://schemas.microsoft.com/office/drawing/2014/main" id="{E854AF7D-CD46-5CEC-68D7-DD897C75F4A5}"/>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4</a:t>
              </a:r>
            </a:p>
          </p:txBody>
        </p:sp>
      </p:grpSp>
      <p:grpSp>
        <p:nvGrpSpPr>
          <p:cNvPr id="13" name="组合 19">
            <a:extLst>
              <a:ext uri="{FF2B5EF4-FFF2-40B4-BE49-F238E27FC236}">
                <a16:creationId xmlns:a16="http://schemas.microsoft.com/office/drawing/2014/main" id="{3B231B81-4883-5579-9CBC-82B39CEDDDD0}"/>
              </a:ext>
            </a:extLst>
          </p:cNvPr>
          <p:cNvGrpSpPr/>
          <p:nvPr/>
        </p:nvGrpSpPr>
        <p:grpSpPr>
          <a:xfrm>
            <a:off x="4491990" y="4154465"/>
            <a:ext cx="3060065" cy="709930"/>
            <a:chOff x="4613" y="6448"/>
            <a:chExt cx="4819" cy="1118"/>
          </a:xfrm>
        </p:grpSpPr>
        <p:sp>
          <p:nvSpPr>
            <p:cNvPr id="14" name="圆角矩形 16">
              <a:extLst>
                <a:ext uri="{FF2B5EF4-FFF2-40B4-BE49-F238E27FC236}">
                  <a16:creationId xmlns:a16="http://schemas.microsoft.com/office/drawing/2014/main" id="{9AEA7B5D-E2C4-9416-9BED-5C1381C47A6D}"/>
                </a:ext>
              </a:extLst>
            </p:cNvPr>
            <p:cNvSpPr/>
            <p:nvPr/>
          </p:nvSpPr>
          <p:spPr>
            <a:xfrm>
              <a:off x="4932" y="6573"/>
              <a:ext cx="4501" cy="869"/>
            </a:xfrm>
            <a:prstGeom prst="roundRect">
              <a:avLst>
                <a:gd name="adj" fmla="val 50000"/>
              </a:avLst>
            </a:prstGeom>
            <a:solidFill>
              <a:schemeClr val="tx2">
                <a:lumMod val="20000"/>
                <a:lumOff val="80000"/>
              </a:schemeClr>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应用案例</a:t>
              </a:r>
            </a:p>
          </p:txBody>
        </p:sp>
        <p:sp>
          <p:nvSpPr>
            <p:cNvPr id="15" name="椭圆 18">
              <a:extLst>
                <a:ext uri="{FF2B5EF4-FFF2-40B4-BE49-F238E27FC236}">
                  <a16:creationId xmlns:a16="http://schemas.microsoft.com/office/drawing/2014/main" id="{22FC1EFD-CAE2-2A68-53F2-A07415DF3E54}"/>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5</a:t>
              </a:r>
            </a:p>
          </p:txBody>
        </p:sp>
      </p:grpSp>
    </p:spTree>
    <p:extLst>
      <p:ext uri="{BB962C8B-B14F-4D97-AF65-F5344CB8AC3E}">
        <p14:creationId xmlns:p14="http://schemas.microsoft.com/office/powerpoint/2010/main" val="2625223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E5415-AADE-8F02-666A-206E13535B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F1C0A1-3568-0C6B-F628-2B6BE6265435}"/>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区域心电一张网</a:t>
            </a:r>
          </a:p>
        </p:txBody>
      </p:sp>
      <p:sp>
        <p:nvSpPr>
          <p:cNvPr id="7" name="圆角矩形 59">
            <a:extLst>
              <a:ext uri="{FF2B5EF4-FFF2-40B4-BE49-F238E27FC236}">
                <a16:creationId xmlns:a16="http://schemas.microsoft.com/office/drawing/2014/main" id="{BE592F77-4411-9A77-3886-EB4A7B156F59}"/>
              </a:ext>
            </a:extLst>
          </p:cNvPr>
          <p:cNvSpPr/>
          <p:nvPr/>
        </p:nvSpPr>
        <p:spPr>
          <a:xfrm>
            <a:off x="1202055" y="1461996"/>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圆角 17">
            <a:extLst>
              <a:ext uri="{FF2B5EF4-FFF2-40B4-BE49-F238E27FC236}">
                <a16:creationId xmlns:a16="http://schemas.microsoft.com/office/drawing/2014/main" id="{EC3D0B42-21A2-D0A6-3493-3E704FEB97A1}"/>
              </a:ext>
            </a:extLst>
          </p:cNvPr>
          <p:cNvSpPr/>
          <p:nvPr/>
        </p:nvSpPr>
        <p:spPr>
          <a:xfrm>
            <a:off x="1813162" y="1293209"/>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应用场景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E0F016CD-5082-F3CB-E589-26102CCC2629}"/>
              </a:ext>
            </a:extLst>
          </p:cNvPr>
          <p:cNvSpPr txBox="1"/>
          <p:nvPr/>
        </p:nvSpPr>
        <p:spPr>
          <a:xfrm>
            <a:off x="1352548" y="1832850"/>
            <a:ext cx="2385695" cy="1444691"/>
          </a:xfrm>
          <a:prstGeom prst="rect">
            <a:avLst/>
          </a:prstGeom>
          <a:noFill/>
        </p:spPr>
        <p:txBody>
          <a:bodyPr wrap="square">
            <a:spAutoFit/>
          </a:bodyPr>
          <a:lstStyle/>
          <a:p>
            <a:pPr>
              <a:lnSpc>
                <a:spcPct val="150000"/>
              </a:lnSpc>
            </a:pP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基层医疗机构为患者完成心电图检查后，通过系统实时上传心电数据至区域心电诊断中心分析。实现分级诊疗、优质资源下沉、数据和报告共享。</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圆角矩形 59">
            <a:extLst>
              <a:ext uri="{FF2B5EF4-FFF2-40B4-BE49-F238E27FC236}">
                <a16:creationId xmlns:a16="http://schemas.microsoft.com/office/drawing/2014/main" id="{E80D68B9-0AD8-2F2E-F18E-AD98B04E6641}"/>
              </a:ext>
            </a:extLst>
          </p:cNvPr>
          <p:cNvSpPr/>
          <p:nvPr/>
        </p:nvSpPr>
        <p:spPr>
          <a:xfrm>
            <a:off x="4651641" y="1429079"/>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lnSpc>
                <a:spcPts val="2100"/>
              </a:lnSpc>
              <a:spcBef>
                <a:spcPts val="300"/>
              </a:spcBef>
              <a:buFont typeface="Arial" panose="020B0604020202020204" pitchFamily="34" charset="0"/>
              <a:buChar char="•"/>
            </a:pPr>
            <a:r>
              <a:rPr lang="zh-CN" altLang="en-US" dirty="0">
                <a:latin typeface="Inter"/>
              </a:rPr>
              <a:t>解决基层缺乏专业心电诊断医师的问题，实现 “基层检查、上级诊断” 模式，缩短患者等待时间。</a:t>
            </a:r>
          </a:p>
          <a:p>
            <a:pPr marL="742950" lvl="1" indent="-285750">
              <a:lnSpc>
                <a:spcPts val="2100"/>
              </a:lnSpc>
              <a:spcBef>
                <a:spcPts val="300"/>
              </a:spcBef>
              <a:buFont typeface="Arial" panose="020B0604020202020204" pitchFamily="34" charset="0"/>
              <a:buChar char="•"/>
            </a:pPr>
            <a:r>
              <a:rPr lang="zh-CN" altLang="en-US" dirty="0">
                <a:latin typeface="Inter"/>
              </a:rPr>
              <a:t>适用于常规体检、门诊初筛、慢性病随访等场景，例如高血压、糖尿病患者的定期心电监测。</a:t>
            </a:r>
          </a:p>
        </p:txBody>
      </p:sp>
      <p:sp>
        <p:nvSpPr>
          <p:cNvPr id="11" name="矩形: 圆角 17">
            <a:extLst>
              <a:ext uri="{FF2B5EF4-FFF2-40B4-BE49-F238E27FC236}">
                <a16:creationId xmlns:a16="http://schemas.microsoft.com/office/drawing/2014/main" id="{B72962E7-1CEC-2163-7C55-536EFEB90312}"/>
              </a:ext>
            </a:extLst>
          </p:cNvPr>
          <p:cNvSpPr/>
          <p:nvPr/>
        </p:nvSpPr>
        <p:spPr>
          <a:xfrm>
            <a:off x="5262748" y="1260292"/>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应用价值</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210A153-EE98-9A8D-274E-E5019CF284F3}"/>
              </a:ext>
            </a:extLst>
          </p:cNvPr>
          <p:cNvSpPr txBox="1"/>
          <p:nvPr/>
        </p:nvSpPr>
        <p:spPr>
          <a:xfrm>
            <a:off x="4864100" y="1766653"/>
            <a:ext cx="2508249" cy="1721690"/>
          </a:xfrm>
          <a:prstGeom prst="rect">
            <a:avLst/>
          </a:prstGeom>
          <a:noFill/>
        </p:spPr>
        <p:txBody>
          <a:bodyPr wrap="square">
            <a:spAutoFit/>
          </a:bodyPr>
          <a:lstStyle/>
          <a:p>
            <a:pPr marL="0" lvl="1" algn="l">
              <a:lnSpc>
                <a:spcPct val="150000"/>
              </a:lnSpc>
            </a:pP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 解决基层缺乏专业心电诊断医师的问题，实现 “基层检查、上级诊断” 模式，缩短患者等待时间。</a:t>
            </a:r>
            <a:endParaRPr lang="en-US" altLang="zh-CN" sz="1200" b="0" i="0" dirty="0">
              <a:solidFill>
                <a:schemeClr val="tx1">
                  <a:lumMod val="75000"/>
                  <a:lumOff val="25000"/>
                </a:schemeClr>
              </a:solidFill>
              <a:effectLst/>
              <a:latin typeface="微软雅黑" panose="020B0503020204020204" pitchFamily="34" charset="-122"/>
              <a:ea typeface="微软雅黑" panose="020B0503020204020204" pitchFamily="34" charset="-122"/>
            </a:endParaRPr>
          </a:p>
          <a:p>
            <a:pPr marL="0" lvl="1">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适用于常规体检、门诊初筛、慢性病随访等场景，例如高血压、糖尿病患者的定期心电监测。</a:t>
            </a:r>
          </a:p>
        </p:txBody>
      </p:sp>
    </p:spTree>
    <p:extLst>
      <p:ext uri="{BB962C8B-B14F-4D97-AF65-F5344CB8AC3E}">
        <p14:creationId xmlns:p14="http://schemas.microsoft.com/office/powerpoint/2010/main" val="1393586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CFBF5-F0A6-4811-78A3-7B1BE00944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C35823-0434-0417-8DF1-4DA41727419C}"/>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急诊急救与胸痛中心协同</a:t>
            </a:r>
          </a:p>
        </p:txBody>
      </p:sp>
      <p:sp>
        <p:nvSpPr>
          <p:cNvPr id="9" name="圆角矩形 59">
            <a:extLst>
              <a:ext uri="{FF2B5EF4-FFF2-40B4-BE49-F238E27FC236}">
                <a16:creationId xmlns:a16="http://schemas.microsoft.com/office/drawing/2014/main" id="{67698C93-DE46-E4B1-BA2B-9090EC81ACBF}"/>
              </a:ext>
            </a:extLst>
          </p:cNvPr>
          <p:cNvSpPr/>
          <p:nvPr/>
        </p:nvSpPr>
        <p:spPr>
          <a:xfrm>
            <a:off x="1163955" y="1411196"/>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圆角 17">
            <a:extLst>
              <a:ext uri="{FF2B5EF4-FFF2-40B4-BE49-F238E27FC236}">
                <a16:creationId xmlns:a16="http://schemas.microsoft.com/office/drawing/2014/main" id="{2F3B449E-6F9E-71A0-61FC-2953675A6A30}"/>
              </a:ext>
            </a:extLst>
          </p:cNvPr>
          <p:cNvSpPr/>
          <p:nvPr/>
        </p:nvSpPr>
        <p:spPr>
          <a:xfrm>
            <a:off x="1775062" y="1242409"/>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应用场景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5EC047E-C761-1394-CD91-6349D42F39D7}"/>
              </a:ext>
            </a:extLst>
          </p:cNvPr>
          <p:cNvSpPr txBox="1"/>
          <p:nvPr/>
        </p:nvSpPr>
        <p:spPr>
          <a:xfrm>
            <a:off x="1314448" y="1782050"/>
            <a:ext cx="2385695" cy="1444691"/>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Inter"/>
              </a:rPr>
              <a:t>基层医疗机构或急救车在现场完成心电图采集后，通过系统第一时间将数据同步至区域胸痛中心，专家提前介入评估，指导现场急救措施或优先开通导管室。</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圆角矩形 59">
            <a:extLst>
              <a:ext uri="{FF2B5EF4-FFF2-40B4-BE49-F238E27FC236}">
                <a16:creationId xmlns:a16="http://schemas.microsoft.com/office/drawing/2014/main" id="{5623CCD6-C101-C7B5-12B7-88F14FD57800}"/>
              </a:ext>
            </a:extLst>
          </p:cNvPr>
          <p:cNvSpPr/>
          <p:nvPr/>
        </p:nvSpPr>
        <p:spPr>
          <a:xfrm>
            <a:off x="4613541" y="1378279"/>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lnSpc>
                <a:spcPts val="2100"/>
              </a:lnSpc>
              <a:spcBef>
                <a:spcPts val="300"/>
              </a:spcBef>
              <a:buFont typeface="Arial" panose="020B0604020202020204" pitchFamily="34" charset="0"/>
              <a:buChar char="•"/>
            </a:pPr>
            <a:r>
              <a:rPr lang="zh-CN" altLang="en-US" dirty="0">
                <a:latin typeface="Inter"/>
              </a:rPr>
              <a:t>解决基层缺乏专业心电诊断医师的问题，实现 “基层检查、上级诊断” 模式，缩短患者等待时间。</a:t>
            </a:r>
          </a:p>
          <a:p>
            <a:pPr marL="742950" lvl="1" indent="-285750">
              <a:lnSpc>
                <a:spcPts val="2100"/>
              </a:lnSpc>
              <a:spcBef>
                <a:spcPts val="300"/>
              </a:spcBef>
              <a:buFont typeface="Arial" panose="020B0604020202020204" pitchFamily="34" charset="0"/>
              <a:buChar char="•"/>
            </a:pPr>
            <a:r>
              <a:rPr lang="zh-CN" altLang="en-US" dirty="0">
                <a:latin typeface="Inter"/>
              </a:rPr>
              <a:t>适用于常规体检、门诊初筛、慢性病随访等场景，例如高血压、糖尿病患者的定期心电监测。</a:t>
            </a:r>
          </a:p>
        </p:txBody>
      </p:sp>
      <p:sp>
        <p:nvSpPr>
          <p:cNvPr id="13" name="矩形: 圆角 17">
            <a:extLst>
              <a:ext uri="{FF2B5EF4-FFF2-40B4-BE49-F238E27FC236}">
                <a16:creationId xmlns:a16="http://schemas.microsoft.com/office/drawing/2014/main" id="{FD710291-8DF4-3B4A-B98D-026913DD4CF2}"/>
              </a:ext>
            </a:extLst>
          </p:cNvPr>
          <p:cNvSpPr/>
          <p:nvPr/>
        </p:nvSpPr>
        <p:spPr>
          <a:xfrm>
            <a:off x="5224648" y="1209492"/>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应用价值</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2141A1C6-BF08-35DA-B379-64B72E0EE378}"/>
              </a:ext>
            </a:extLst>
          </p:cNvPr>
          <p:cNvSpPr txBox="1"/>
          <p:nvPr/>
        </p:nvSpPr>
        <p:spPr>
          <a:xfrm>
            <a:off x="4826000" y="1715853"/>
            <a:ext cx="2508249" cy="2001830"/>
          </a:xfrm>
          <a:prstGeom prst="rect">
            <a:avLst/>
          </a:prstGeom>
          <a:noFill/>
        </p:spPr>
        <p:txBody>
          <a:bodyPr wrap="square">
            <a:spAutoFit/>
          </a:bodyPr>
          <a:lstStyle/>
          <a:p>
            <a:pPr marL="0" lvl="1">
              <a:lnSpc>
                <a:spcPct val="150000"/>
              </a:lnSpc>
            </a:pP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Inter"/>
              </a:rPr>
              <a:t>缩短急性心肌梗死等危重症的确诊时间，为抢救 “黄金时间”（如 </a:t>
            </a:r>
            <a:r>
              <a:rPr lang="en-US" altLang="zh-CN" sz="1200" dirty="0">
                <a:solidFill>
                  <a:schemeClr val="tx1">
                    <a:lumMod val="75000"/>
                    <a:lumOff val="25000"/>
                  </a:schemeClr>
                </a:solidFill>
                <a:latin typeface="Inter"/>
              </a:rPr>
              <a:t>STEMI </a:t>
            </a:r>
            <a:r>
              <a:rPr lang="zh-CN" altLang="en-US" sz="1200" dirty="0">
                <a:solidFill>
                  <a:schemeClr val="tx1">
                    <a:lumMod val="75000"/>
                    <a:lumOff val="25000"/>
                  </a:schemeClr>
                </a:solidFill>
                <a:latin typeface="Inter"/>
              </a:rPr>
              <a:t>患者需在 </a:t>
            </a:r>
            <a:r>
              <a:rPr lang="en-US" altLang="zh-CN" sz="1200" dirty="0">
                <a:solidFill>
                  <a:schemeClr val="tx1">
                    <a:lumMod val="75000"/>
                    <a:lumOff val="25000"/>
                  </a:schemeClr>
                </a:solidFill>
                <a:latin typeface="Inter"/>
              </a:rPr>
              <a:t>120 </a:t>
            </a:r>
            <a:r>
              <a:rPr lang="zh-CN" altLang="en-US" sz="1200" dirty="0">
                <a:solidFill>
                  <a:schemeClr val="tx1">
                    <a:lumMod val="75000"/>
                    <a:lumOff val="25000"/>
                  </a:schemeClr>
                </a:solidFill>
                <a:latin typeface="Inter"/>
              </a:rPr>
              <a:t>分钟内完成血管再通）争取先机。</a:t>
            </a:r>
          </a:p>
          <a:p>
            <a:pPr marL="0" lvl="1">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Inter"/>
              </a:rPr>
              <a:t>实现区域内急救资源的高效联动，例如急救车在转运途中完成心电数据上传，医院提前做好手术准备。</a:t>
            </a:r>
          </a:p>
        </p:txBody>
      </p:sp>
    </p:spTree>
    <p:extLst>
      <p:ext uri="{BB962C8B-B14F-4D97-AF65-F5344CB8AC3E}">
        <p14:creationId xmlns:p14="http://schemas.microsoft.com/office/powerpoint/2010/main" val="34060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3A7E-E777-01DF-C463-53DD32B5752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1166A7-AD33-70AE-D80F-8F999EF541BC}"/>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公共卫生与人群筛查</a:t>
            </a:r>
          </a:p>
        </p:txBody>
      </p:sp>
      <p:sp>
        <p:nvSpPr>
          <p:cNvPr id="7" name="圆角矩形 59">
            <a:extLst>
              <a:ext uri="{FF2B5EF4-FFF2-40B4-BE49-F238E27FC236}">
                <a16:creationId xmlns:a16="http://schemas.microsoft.com/office/drawing/2014/main" id="{0C7F46CE-EB45-F4B7-604B-3DED1B8FD270}"/>
              </a:ext>
            </a:extLst>
          </p:cNvPr>
          <p:cNvSpPr/>
          <p:nvPr/>
        </p:nvSpPr>
        <p:spPr>
          <a:xfrm>
            <a:off x="1170305" y="1423896"/>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圆角 17">
            <a:extLst>
              <a:ext uri="{FF2B5EF4-FFF2-40B4-BE49-F238E27FC236}">
                <a16:creationId xmlns:a16="http://schemas.microsoft.com/office/drawing/2014/main" id="{B982E5A2-A0BC-7E93-6EA5-20B578792A57}"/>
              </a:ext>
            </a:extLst>
          </p:cNvPr>
          <p:cNvSpPr/>
          <p:nvPr/>
        </p:nvSpPr>
        <p:spPr>
          <a:xfrm>
            <a:off x="1781412" y="1255109"/>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应用场景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E114C882-CFEF-BEBF-DCC3-FB9FABF297C8}"/>
              </a:ext>
            </a:extLst>
          </p:cNvPr>
          <p:cNvSpPr txBox="1"/>
          <p:nvPr/>
        </p:nvSpPr>
        <p:spPr>
          <a:xfrm>
            <a:off x="1320798" y="1794750"/>
            <a:ext cx="2385695" cy="1998689"/>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Inter"/>
              </a:rPr>
              <a:t>在区域内开展大规模人群心血管健康筛查（如社区老年人体检、职业人群健康普查），通过移动心电图设备或基层网点采集数据，系统批量分析后生成健康报告，并对高危人群进行标记和随访。</a:t>
            </a:r>
            <a:endParaRPr lang="zh-CN" altLang="en-US" sz="1200" dirty="0">
              <a:solidFill>
                <a:schemeClr val="tx1">
                  <a:lumMod val="75000"/>
                  <a:lumOff val="25000"/>
                </a:schemeClr>
              </a:solidFill>
            </a:endParaRPr>
          </a:p>
          <a:p>
            <a:pPr>
              <a:lnSpc>
                <a:spcPct val="150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圆角矩形 59">
            <a:extLst>
              <a:ext uri="{FF2B5EF4-FFF2-40B4-BE49-F238E27FC236}">
                <a16:creationId xmlns:a16="http://schemas.microsoft.com/office/drawing/2014/main" id="{918C480D-0936-F134-276A-86DABDFFB2C2}"/>
              </a:ext>
            </a:extLst>
          </p:cNvPr>
          <p:cNvSpPr/>
          <p:nvPr/>
        </p:nvSpPr>
        <p:spPr>
          <a:xfrm>
            <a:off x="4619891" y="1390979"/>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lnSpc>
                <a:spcPts val="2100"/>
              </a:lnSpc>
              <a:spcBef>
                <a:spcPts val="300"/>
              </a:spcBef>
              <a:buFont typeface="Arial" panose="020B0604020202020204" pitchFamily="34" charset="0"/>
              <a:buChar char="•"/>
            </a:pPr>
            <a:r>
              <a:rPr lang="zh-CN" altLang="en-US" dirty="0">
                <a:latin typeface="Inter"/>
              </a:rPr>
              <a:t>解决基层缺乏专业心电诊断医师的问题，实现 “基层检查、上级诊断” 模式，缩短患者等待时间。</a:t>
            </a:r>
          </a:p>
          <a:p>
            <a:pPr marL="742950" lvl="1" indent="-285750">
              <a:lnSpc>
                <a:spcPts val="2100"/>
              </a:lnSpc>
              <a:spcBef>
                <a:spcPts val="300"/>
              </a:spcBef>
              <a:buFont typeface="Arial" panose="020B0604020202020204" pitchFamily="34" charset="0"/>
              <a:buChar char="•"/>
            </a:pPr>
            <a:r>
              <a:rPr lang="zh-CN" altLang="en-US" dirty="0">
                <a:latin typeface="Inter"/>
              </a:rPr>
              <a:t>适用于常规体检、门诊初筛、慢性病随访等场景，例如高血压、糖尿病患者的定期心电监测。</a:t>
            </a:r>
          </a:p>
        </p:txBody>
      </p:sp>
      <p:sp>
        <p:nvSpPr>
          <p:cNvPr id="11" name="矩形: 圆角 17">
            <a:extLst>
              <a:ext uri="{FF2B5EF4-FFF2-40B4-BE49-F238E27FC236}">
                <a16:creationId xmlns:a16="http://schemas.microsoft.com/office/drawing/2014/main" id="{EE5E4FA8-3A3A-C9D4-8D1F-46734D59303D}"/>
              </a:ext>
            </a:extLst>
          </p:cNvPr>
          <p:cNvSpPr/>
          <p:nvPr/>
        </p:nvSpPr>
        <p:spPr>
          <a:xfrm>
            <a:off x="5230998" y="1222192"/>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应用价值</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003C98A2-2E9C-B484-2920-5EAADF1DEAA6}"/>
              </a:ext>
            </a:extLst>
          </p:cNvPr>
          <p:cNvSpPr txBox="1"/>
          <p:nvPr/>
        </p:nvSpPr>
        <p:spPr>
          <a:xfrm>
            <a:off x="4832350" y="1728553"/>
            <a:ext cx="2508249" cy="2278829"/>
          </a:xfrm>
          <a:prstGeom prst="rect">
            <a:avLst/>
          </a:prstGeom>
          <a:noFill/>
        </p:spPr>
        <p:txBody>
          <a:bodyPr wrap="square">
            <a:spAutoFit/>
          </a:bodyPr>
          <a:lstStyle/>
          <a:p>
            <a:pPr marL="0" lvl="1">
              <a:lnSpc>
                <a:spcPct val="150000"/>
              </a:lnSpc>
            </a:pP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Inter"/>
              </a:rPr>
              <a:t>早期发现无症状心血管疾病（如隐匿性冠心病、心律失常），推动 “以治疗为中心” 向 “以健康为中心” 转变</a:t>
            </a: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a:t>
            </a:r>
            <a:endParaRPr lang="en-US" altLang="zh-CN" sz="1200" b="0" i="0" dirty="0">
              <a:solidFill>
                <a:schemeClr val="tx1">
                  <a:lumMod val="75000"/>
                  <a:lumOff val="25000"/>
                </a:schemeClr>
              </a:solidFill>
              <a:effectLst/>
              <a:latin typeface="微软雅黑" panose="020B0503020204020204" pitchFamily="34" charset="-122"/>
              <a:ea typeface="微软雅黑" panose="020B0503020204020204" pitchFamily="34" charset="-122"/>
            </a:endParaRPr>
          </a:p>
          <a:p>
            <a:pPr marL="0" lvl="1">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Inter"/>
              </a:rPr>
              <a:t>为区域公共卫生政策制定提供数据支撑，例如分析不同年龄段、性别的心电异常分布特征，针对性开展干预措施。</a:t>
            </a:r>
          </a:p>
        </p:txBody>
      </p:sp>
    </p:spTree>
    <p:extLst>
      <p:ext uri="{BB962C8B-B14F-4D97-AF65-F5344CB8AC3E}">
        <p14:creationId xmlns:p14="http://schemas.microsoft.com/office/powerpoint/2010/main" val="258139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0CF27-0F3F-646A-A779-3FB929EBF5B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D55A5C-E261-2A0C-C186-2E27497FBB29}"/>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慢病管理与健康监测</a:t>
            </a:r>
          </a:p>
        </p:txBody>
      </p:sp>
      <p:sp>
        <p:nvSpPr>
          <p:cNvPr id="7" name="圆角矩形 59">
            <a:extLst>
              <a:ext uri="{FF2B5EF4-FFF2-40B4-BE49-F238E27FC236}">
                <a16:creationId xmlns:a16="http://schemas.microsoft.com/office/drawing/2014/main" id="{4A745EF3-EAEB-782B-413E-D3BD67FA88E7}"/>
              </a:ext>
            </a:extLst>
          </p:cNvPr>
          <p:cNvSpPr/>
          <p:nvPr/>
        </p:nvSpPr>
        <p:spPr>
          <a:xfrm>
            <a:off x="1170305" y="1423896"/>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圆角 17">
            <a:extLst>
              <a:ext uri="{FF2B5EF4-FFF2-40B4-BE49-F238E27FC236}">
                <a16:creationId xmlns:a16="http://schemas.microsoft.com/office/drawing/2014/main" id="{0945FD15-13C1-DD88-AD27-6D137AA3D174}"/>
              </a:ext>
            </a:extLst>
          </p:cNvPr>
          <p:cNvSpPr/>
          <p:nvPr/>
        </p:nvSpPr>
        <p:spPr>
          <a:xfrm>
            <a:off x="1781412" y="1255109"/>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应用场景</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7E6BEC82-9AC5-8EAF-ECB1-291CDD1F29DD}"/>
              </a:ext>
            </a:extLst>
          </p:cNvPr>
          <p:cNvSpPr txBox="1"/>
          <p:nvPr/>
        </p:nvSpPr>
        <p:spPr>
          <a:xfrm>
            <a:off x="1320798" y="1794750"/>
            <a:ext cx="2385695" cy="2552686"/>
          </a:xfrm>
          <a:prstGeom prst="rect">
            <a:avLst/>
          </a:prstGeom>
          <a:noFill/>
        </p:spPr>
        <p:txBody>
          <a:bodyPr wrap="square">
            <a:spAutoFit/>
          </a:bodyPr>
          <a:lstStyle/>
          <a:p>
            <a:pPr>
              <a:lnSpc>
                <a:spcPct val="150000"/>
              </a:lnSpc>
            </a:pPr>
            <a:r>
              <a:rPr lang="zh-CN" altLang="en-US" sz="1200" dirty="0">
                <a:solidFill>
                  <a:schemeClr val="tx1">
                    <a:lumMod val="75000"/>
                    <a:lumOff val="25000"/>
                  </a:schemeClr>
                </a:solidFill>
                <a:latin typeface="Inter"/>
              </a:rPr>
              <a:t>针对高血压、冠心病、心力衰竭等慢性病患者，在基层医疗机构或居家通过可穿戴设备（如智能手表、动态心电图仪）持续采集心电数据，系统自动分析并预警异常指标，联动家庭医生或专科医师调整治疗方案。</a:t>
            </a:r>
            <a:endParaRPr lang="zh-CN" altLang="en-US" sz="1200" dirty="0">
              <a:solidFill>
                <a:schemeClr val="tx1">
                  <a:lumMod val="75000"/>
                  <a:lumOff val="25000"/>
                </a:schemeClr>
              </a:solidFill>
            </a:endParaRPr>
          </a:p>
          <a:p>
            <a:pPr>
              <a:lnSpc>
                <a:spcPct val="150000"/>
              </a:lnSpc>
            </a:pPr>
            <a:endParaRPr lang="zh-CN" altLang="en-US" sz="1200" dirty="0">
              <a:solidFill>
                <a:schemeClr val="tx1">
                  <a:lumMod val="75000"/>
                  <a:lumOff val="25000"/>
                </a:schemeClr>
              </a:solidFill>
            </a:endParaRPr>
          </a:p>
          <a:p>
            <a:pPr>
              <a:lnSpc>
                <a:spcPct val="150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圆角矩形 59">
            <a:extLst>
              <a:ext uri="{FF2B5EF4-FFF2-40B4-BE49-F238E27FC236}">
                <a16:creationId xmlns:a16="http://schemas.microsoft.com/office/drawing/2014/main" id="{E378F6D8-15E3-BBAC-8E48-162046DE9C42}"/>
              </a:ext>
            </a:extLst>
          </p:cNvPr>
          <p:cNvSpPr/>
          <p:nvPr/>
        </p:nvSpPr>
        <p:spPr>
          <a:xfrm>
            <a:off x="4619891" y="1390979"/>
            <a:ext cx="2815287" cy="2779804"/>
          </a:xfrm>
          <a:prstGeom prst="roundRect">
            <a:avLst>
              <a:gd name="adj" fmla="val 6017"/>
            </a:avLst>
          </a:prstGeom>
          <a:solidFill>
            <a:schemeClr val="bg1">
              <a:alpha val="71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a:lnSpc>
                <a:spcPts val="2100"/>
              </a:lnSpc>
              <a:spcBef>
                <a:spcPts val="300"/>
              </a:spcBef>
              <a:buFont typeface="Arial" panose="020B0604020202020204" pitchFamily="34" charset="0"/>
              <a:buChar char="•"/>
            </a:pPr>
            <a:r>
              <a:rPr lang="zh-CN" altLang="en-US" dirty="0">
                <a:latin typeface="Inter"/>
              </a:rPr>
              <a:t>解决基层缺乏专业心电诊断医师的问题，实现 “基层检查、上级诊断” 模式，缩短患者等待时间。</a:t>
            </a:r>
          </a:p>
          <a:p>
            <a:pPr marL="742950" lvl="1" indent="-285750">
              <a:lnSpc>
                <a:spcPts val="2100"/>
              </a:lnSpc>
              <a:spcBef>
                <a:spcPts val="300"/>
              </a:spcBef>
              <a:buFont typeface="Arial" panose="020B0604020202020204" pitchFamily="34" charset="0"/>
              <a:buChar char="•"/>
            </a:pPr>
            <a:r>
              <a:rPr lang="zh-CN" altLang="en-US" dirty="0">
                <a:latin typeface="Inter"/>
              </a:rPr>
              <a:t>适用于常规体检、门诊初筛、慢性病随访等场景，例如高血压、糖尿病患者的定期心电监测。</a:t>
            </a:r>
          </a:p>
        </p:txBody>
      </p:sp>
      <p:sp>
        <p:nvSpPr>
          <p:cNvPr id="11" name="矩形: 圆角 17">
            <a:extLst>
              <a:ext uri="{FF2B5EF4-FFF2-40B4-BE49-F238E27FC236}">
                <a16:creationId xmlns:a16="http://schemas.microsoft.com/office/drawing/2014/main" id="{03401E92-2AB4-EB18-5B4E-AB4629E24A6A}"/>
              </a:ext>
            </a:extLst>
          </p:cNvPr>
          <p:cNvSpPr/>
          <p:nvPr/>
        </p:nvSpPr>
        <p:spPr>
          <a:xfrm>
            <a:off x="5230998" y="1222192"/>
            <a:ext cx="1464469" cy="337574"/>
          </a:xfrm>
          <a:prstGeom prst="roundRect">
            <a:avLst>
              <a:gd name="adj" fmla="val 50000"/>
            </a:avLst>
          </a:prstGeom>
          <a:solidFill>
            <a:srgbClr val="0070C0"/>
          </a:soli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b="1" dirty="0">
                <a:solidFill>
                  <a:schemeClr val="bg1"/>
                </a:solidFill>
                <a:latin typeface="微软雅黑" panose="020B0503020204020204" pitchFamily="34" charset="-122"/>
                <a:ea typeface="微软雅黑" panose="020B0503020204020204" pitchFamily="34" charset="-122"/>
              </a:rPr>
              <a:t>应用价值</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E8EF68D7-282A-AA8D-AA4B-350F13E56485}"/>
              </a:ext>
            </a:extLst>
          </p:cNvPr>
          <p:cNvSpPr txBox="1"/>
          <p:nvPr/>
        </p:nvSpPr>
        <p:spPr>
          <a:xfrm>
            <a:off x="4832350" y="1728553"/>
            <a:ext cx="2508249" cy="1447832"/>
          </a:xfrm>
          <a:prstGeom prst="rect">
            <a:avLst/>
          </a:prstGeom>
          <a:noFill/>
        </p:spPr>
        <p:txBody>
          <a:bodyPr wrap="square">
            <a:spAutoFit/>
          </a:bodyPr>
          <a:lstStyle/>
          <a:p>
            <a:pPr marL="0" lvl="1">
              <a:lnSpc>
                <a:spcPct val="150000"/>
              </a:lnSpc>
            </a:pPr>
            <a:r>
              <a:rPr lang="zh-CN" altLang="en-US" sz="1200" b="0" i="0"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Inter"/>
              </a:rPr>
              <a:t>实现心血管疾病的早期干预和全程管理，降低急性事件发生率。</a:t>
            </a:r>
            <a:endParaRPr lang="en-US" altLang="zh-CN" sz="1200" b="0" i="0" dirty="0">
              <a:solidFill>
                <a:schemeClr val="tx1">
                  <a:lumMod val="75000"/>
                  <a:lumOff val="25000"/>
                </a:schemeClr>
              </a:solidFill>
              <a:effectLst/>
              <a:latin typeface="微软雅黑" panose="020B0503020204020204" pitchFamily="34" charset="-122"/>
              <a:ea typeface="微软雅黑" panose="020B0503020204020204" pitchFamily="34" charset="-122"/>
            </a:endParaRPr>
          </a:p>
          <a:p>
            <a:pPr marL="0" lvl="1">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Inter"/>
              </a:rPr>
              <a:t>减少患者往返医院的频次，提升就医便利性，尤其适用于老年、行动不便患者。</a:t>
            </a:r>
          </a:p>
        </p:txBody>
      </p:sp>
    </p:spTree>
    <p:extLst>
      <p:ext uri="{BB962C8B-B14F-4D97-AF65-F5344CB8AC3E}">
        <p14:creationId xmlns:p14="http://schemas.microsoft.com/office/powerpoint/2010/main" val="2587896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AB885-0685-EB2D-744B-85730D6771B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31C1C8E-A28E-3F71-FB33-E66A69CD6BDF}"/>
              </a:ext>
            </a:extLst>
          </p:cNvPr>
          <p:cNvSpPr/>
          <p:nvPr/>
        </p:nvSpPr>
        <p:spPr>
          <a:xfrm flipH="1">
            <a:off x="-36830" y="0"/>
            <a:ext cx="4895850" cy="5152390"/>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102" name="图片 101">
            <a:extLst>
              <a:ext uri="{FF2B5EF4-FFF2-40B4-BE49-F238E27FC236}">
                <a16:creationId xmlns:a16="http://schemas.microsoft.com/office/drawing/2014/main" id="{0ABFDD7B-8815-B7D9-6A0C-9BE7A17914A9}"/>
              </a:ext>
            </a:extLst>
          </p:cNvPr>
          <p:cNvPicPr/>
          <p:nvPr/>
        </p:nvPicPr>
        <p:blipFill>
          <a:blip r:embed="rId3">
            <a:alphaModFix amt="20000"/>
          </a:blip>
          <a:srcRect r="37055"/>
          <a:stretch>
            <a:fillRect/>
          </a:stretch>
        </p:blipFill>
        <p:spPr>
          <a:xfrm>
            <a:off x="-36195" y="0"/>
            <a:ext cx="4896485" cy="5143500"/>
          </a:xfrm>
          <a:prstGeom prst="rect">
            <a:avLst/>
          </a:prstGeom>
          <a:noFill/>
          <a:ln w="9525">
            <a:noFill/>
          </a:ln>
        </p:spPr>
      </p:pic>
      <p:sp>
        <p:nvSpPr>
          <p:cNvPr id="3" name="文本框 2">
            <a:extLst>
              <a:ext uri="{FF2B5EF4-FFF2-40B4-BE49-F238E27FC236}">
                <a16:creationId xmlns:a16="http://schemas.microsoft.com/office/drawing/2014/main" id="{CC57BAA6-E544-D1A9-9091-A8EF9C9E5DAF}"/>
              </a:ext>
            </a:extLst>
          </p:cNvPr>
          <p:cNvSpPr txBox="1"/>
          <p:nvPr/>
        </p:nvSpPr>
        <p:spPr>
          <a:xfrm>
            <a:off x="611505" y="699770"/>
            <a:ext cx="1868805" cy="768350"/>
          </a:xfrm>
          <a:prstGeom prst="rect">
            <a:avLst/>
          </a:prstGeom>
          <a:noFill/>
        </p:spPr>
        <p:txBody>
          <a:bodyPr wrap="square" rtlCol="0">
            <a:spAutoFit/>
          </a:bodyPr>
          <a:lstStyle/>
          <a:p>
            <a:r>
              <a:rPr lang="zh-CN" altLang="en-US" sz="4400" b="1">
                <a:solidFill>
                  <a:schemeClr val="bg1"/>
                </a:solidFill>
                <a:latin typeface="微软雅黑" panose="020B0503020204020204" pitchFamily="34" charset="-122"/>
                <a:ea typeface="微软雅黑" panose="020B0503020204020204" pitchFamily="34" charset="-122"/>
              </a:rPr>
              <a:t>目录</a:t>
            </a:r>
          </a:p>
        </p:txBody>
      </p:sp>
      <p:sp>
        <p:nvSpPr>
          <p:cNvPr id="6" name="文本框 5">
            <a:extLst>
              <a:ext uri="{FF2B5EF4-FFF2-40B4-BE49-F238E27FC236}">
                <a16:creationId xmlns:a16="http://schemas.microsoft.com/office/drawing/2014/main" id="{F83C6DFF-1F33-2003-0F95-87DAE9D3BEAC}"/>
              </a:ext>
            </a:extLst>
          </p:cNvPr>
          <p:cNvSpPr txBox="1"/>
          <p:nvPr/>
        </p:nvSpPr>
        <p:spPr>
          <a:xfrm>
            <a:off x="664210" y="1491615"/>
            <a:ext cx="1868805" cy="398780"/>
          </a:xfrm>
          <a:prstGeom prst="rect">
            <a:avLst/>
          </a:prstGeom>
          <a:noFill/>
        </p:spPr>
        <p:txBody>
          <a:bodyPr wrap="square" rtlCol="0">
            <a:spAutoFit/>
          </a:bodyPr>
          <a:lstStyle/>
          <a:p>
            <a:r>
              <a:rPr lang="en-US" altLang="zh-CN" sz="2000" b="1">
                <a:solidFill>
                  <a:schemeClr val="bg1">
                    <a:alpha val="50000"/>
                  </a:schemeClr>
                </a:solidFill>
                <a:latin typeface="微软雅黑" panose="020B0503020204020204" pitchFamily="34" charset="-122"/>
                <a:ea typeface="微软雅黑" panose="020B0503020204020204" pitchFamily="34" charset="-122"/>
              </a:rPr>
              <a:t>CONTENTS</a:t>
            </a:r>
          </a:p>
        </p:txBody>
      </p:sp>
      <p:grpSp>
        <p:nvGrpSpPr>
          <p:cNvPr id="23" name="组合 22">
            <a:extLst>
              <a:ext uri="{FF2B5EF4-FFF2-40B4-BE49-F238E27FC236}">
                <a16:creationId xmlns:a16="http://schemas.microsoft.com/office/drawing/2014/main" id="{92AA300F-6240-9B17-159F-2032036E77B0}"/>
              </a:ext>
            </a:extLst>
          </p:cNvPr>
          <p:cNvGrpSpPr/>
          <p:nvPr/>
        </p:nvGrpSpPr>
        <p:grpSpPr>
          <a:xfrm>
            <a:off x="4491990" y="417994"/>
            <a:ext cx="3060065" cy="709930"/>
            <a:chOff x="4613" y="892"/>
            <a:chExt cx="4819" cy="1118"/>
          </a:xfrm>
        </p:grpSpPr>
        <p:sp>
          <p:nvSpPr>
            <p:cNvPr id="7" name="圆角矩形 6">
              <a:extLst>
                <a:ext uri="{FF2B5EF4-FFF2-40B4-BE49-F238E27FC236}">
                  <a16:creationId xmlns:a16="http://schemas.microsoft.com/office/drawing/2014/main" id="{931827D9-AB0D-2A2A-7DF5-F7C8E3D0CC5B}"/>
                </a:ext>
              </a:extLst>
            </p:cNvPr>
            <p:cNvSpPr/>
            <p:nvPr/>
          </p:nvSpPr>
          <p:spPr>
            <a:xfrm>
              <a:off x="4932" y="1017"/>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政策背景</a:t>
              </a:r>
            </a:p>
          </p:txBody>
        </p:sp>
        <p:sp>
          <p:nvSpPr>
            <p:cNvPr id="4" name="椭圆 3">
              <a:extLst>
                <a:ext uri="{FF2B5EF4-FFF2-40B4-BE49-F238E27FC236}">
                  <a16:creationId xmlns:a16="http://schemas.microsoft.com/office/drawing/2014/main" id="{EC7B1610-C613-9A17-5729-D94FA61BD146}"/>
                </a:ext>
              </a:extLst>
            </p:cNvPr>
            <p:cNvSpPr/>
            <p:nvPr/>
          </p:nvSpPr>
          <p:spPr>
            <a:xfrm>
              <a:off x="4613" y="892"/>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1</a:t>
              </a:r>
            </a:p>
          </p:txBody>
        </p:sp>
      </p:grpSp>
      <p:grpSp>
        <p:nvGrpSpPr>
          <p:cNvPr id="22" name="组合 21">
            <a:extLst>
              <a:ext uri="{FF2B5EF4-FFF2-40B4-BE49-F238E27FC236}">
                <a16:creationId xmlns:a16="http://schemas.microsoft.com/office/drawing/2014/main" id="{077283C6-3A27-EF9F-F637-70BA00901810}"/>
              </a:ext>
            </a:extLst>
          </p:cNvPr>
          <p:cNvGrpSpPr/>
          <p:nvPr/>
        </p:nvGrpSpPr>
        <p:grpSpPr>
          <a:xfrm>
            <a:off x="4491990" y="1336040"/>
            <a:ext cx="3060700" cy="709930"/>
            <a:chOff x="4613" y="2763"/>
            <a:chExt cx="4820" cy="1118"/>
          </a:xfrm>
        </p:grpSpPr>
        <p:sp>
          <p:nvSpPr>
            <p:cNvPr id="8" name="圆角矩形 7">
              <a:extLst>
                <a:ext uri="{FF2B5EF4-FFF2-40B4-BE49-F238E27FC236}">
                  <a16:creationId xmlns:a16="http://schemas.microsoft.com/office/drawing/2014/main" id="{E92A1C09-2FDB-B8D1-E0BD-10B4DBFDCC9E}"/>
                </a:ext>
              </a:extLst>
            </p:cNvPr>
            <p:cNvSpPr/>
            <p:nvPr/>
          </p:nvSpPr>
          <p:spPr>
            <a:xfrm>
              <a:off x="4932" y="2888"/>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需求分析</a:t>
              </a:r>
            </a:p>
          </p:txBody>
        </p:sp>
        <p:sp>
          <p:nvSpPr>
            <p:cNvPr id="9" name="椭圆 8">
              <a:extLst>
                <a:ext uri="{FF2B5EF4-FFF2-40B4-BE49-F238E27FC236}">
                  <a16:creationId xmlns:a16="http://schemas.microsoft.com/office/drawing/2014/main" id="{15A1FBD8-7D45-35C0-8843-BC4546DC4C83}"/>
                </a:ext>
              </a:extLst>
            </p:cNvPr>
            <p:cNvSpPr/>
            <p:nvPr/>
          </p:nvSpPr>
          <p:spPr>
            <a:xfrm>
              <a:off x="4613" y="2763"/>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2</a:t>
              </a:r>
            </a:p>
          </p:txBody>
        </p:sp>
      </p:grpSp>
      <p:grpSp>
        <p:nvGrpSpPr>
          <p:cNvPr id="20" name="组合 19">
            <a:extLst>
              <a:ext uri="{FF2B5EF4-FFF2-40B4-BE49-F238E27FC236}">
                <a16:creationId xmlns:a16="http://schemas.microsoft.com/office/drawing/2014/main" id="{D112C19E-47A7-5E3D-87C4-4132EF0B9A67}"/>
              </a:ext>
            </a:extLst>
          </p:cNvPr>
          <p:cNvGrpSpPr/>
          <p:nvPr/>
        </p:nvGrpSpPr>
        <p:grpSpPr>
          <a:xfrm>
            <a:off x="4491990" y="2268456"/>
            <a:ext cx="3060065" cy="709930"/>
            <a:chOff x="4613" y="6448"/>
            <a:chExt cx="4819" cy="1118"/>
          </a:xfrm>
        </p:grpSpPr>
        <p:sp>
          <p:nvSpPr>
            <p:cNvPr id="17" name="圆角矩形 16">
              <a:extLst>
                <a:ext uri="{FF2B5EF4-FFF2-40B4-BE49-F238E27FC236}">
                  <a16:creationId xmlns:a16="http://schemas.microsoft.com/office/drawing/2014/main" id="{C5F3F61D-6BB8-10B3-7FBC-478BEA56BDE0}"/>
                </a:ext>
              </a:extLst>
            </p:cNvPr>
            <p:cNvSpPr/>
            <p:nvPr/>
          </p:nvSpPr>
          <p:spPr>
            <a:xfrm>
              <a:off x="4932" y="6573"/>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方案概述</a:t>
              </a:r>
            </a:p>
          </p:txBody>
        </p:sp>
        <p:sp>
          <p:nvSpPr>
            <p:cNvPr id="19" name="椭圆 18">
              <a:extLst>
                <a:ext uri="{FF2B5EF4-FFF2-40B4-BE49-F238E27FC236}">
                  <a16:creationId xmlns:a16="http://schemas.microsoft.com/office/drawing/2014/main" id="{5D9F1BD4-77CC-5A0E-C547-274EFD78F636}"/>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3</a:t>
              </a:r>
            </a:p>
          </p:txBody>
        </p:sp>
      </p:grpSp>
      <p:grpSp>
        <p:nvGrpSpPr>
          <p:cNvPr id="5" name="组合 19">
            <a:extLst>
              <a:ext uri="{FF2B5EF4-FFF2-40B4-BE49-F238E27FC236}">
                <a16:creationId xmlns:a16="http://schemas.microsoft.com/office/drawing/2014/main" id="{94B73E03-D6BA-A1DB-A069-76BA8769FBC1}"/>
              </a:ext>
            </a:extLst>
          </p:cNvPr>
          <p:cNvGrpSpPr/>
          <p:nvPr/>
        </p:nvGrpSpPr>
        <p:grpSpPr>
          <a:xfrm>
            <a:off x="4491990" y="3216746"/>
            <a:ext cx="3060700" cy="709930"/>
            <a:chOff x="4613" y="6448"/>
            <a:chExt cx="4820" cy="1118"/>
          </a:xfrm>
        </p:grpSpPr>
        <p:sp>
          <p:nvSpPr>
            <p:cNvPr id="10" name="圆角矩形 16">
              <a:extLst>
                <a:ext uri="{FF2B5EF4-FFF2-40B4-BE49-F238E27FC236}">
                  <a16:creationId xmlns:a16="http://schemas.microsoft.com/office/drawing/2014/main" id="{4DD2E08B-01DA-F9BB-702D-CF6142ECB05E}"/>
                </a:ext>
              </a:extLst>
            </p:cNvPr>
            <p:cNvSpPr/>
            <p:nvPr/>
          </p:nvSpPr>
          <p:spPr>
            <a:xfrm>
              <a:off x="4932" y="6573"/>
              <a:ext cx="4501" cy="869"/>
            </a:xfrm>
            <a:prstGeom prst="roundRect">
              <a:avLst>
                <a:gd name="adj" fmla="val 50000"/>
              </a:avLst>
            </a:prstGeom>
            <a:solidFill>
              <a:srgbClr val="D6DCE5"/>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应用场景</a:t>
              </a:r>
            </a:p>
          </p:txBody>
        </p:sp>
        <p:sp>
          <p:nvSpPr>
            <p:cNvPr id="11" name="椭圆 18">
              <a:extLst>
                <a:ext uri="{FF2B5EF4-FFF2-40B4-BE49-F238E27FC236}">
                  <a16:creationId xmlns:a16="http://schemas.microsoft.com/office/drawing/2014/main" id="{8AA6D50E-7AD4-9F39-F91C-1AA6635FCEC0}"/>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4</a:t>
              </a:r>
            </a:p>
          </p:txBody>
        </p:sp>
      </p:grpSp>
      <p:grpSp>
        <p:nvGrpSpPr>
          <p:cNvPr id="13" name="组合 19">
            <a:extLst>
              <a:ext uri="{FF2B5EF4-FFF2-40B4-BE49-F238E27FC236}">
                <a16:creationId xmlns:a16="http://schemas.microsoft.com/office/drawing/2014/main" id="{87478F8C-8FF7-AFAD-79B0-2DCBDFB7D98E}"/>
              </a:ext>
            </a:extLst>
          </p:cNvPr>
          <p:cNvGrpSpPr/>
          <p:nvPr/>
        </p:nvGrpSpPr>
        <p:grpSpPr>
          <a:xfrm>
            <a:off x="4491990" y="4154465"/>
            <a:ext cx="3060065" cy="709930"/>
            <a:chOff x="4613" y="6448"/>
            <a:chExt cx="4819" cy="1118"/>
          </a:xfrm>
        </p:grpSpPr>
        <p:sp>
          <p:nvSpPr>
            <p:cNvPr id="14" name="圆角矩形 16">
              <a:extLst>
                <a:ext uri="{FF2B5EF4-FFF2-40B4-BE49-F238E27FC236}">
                  <a16:creationId xmlns:a16="http://schemas.microsoft.com/office/drawing/2014/main" id="{355358CC-FF03-3B85-71C4-1A1F6A147617}"/>
                </a:ext>
              </a:extLst>
            </p:cNvPr>
            <p:cNvSpPr/>
            <p:nvPr/>
          </p:nvSpPr>
          <p:spPr>
            <a:xfrm>
              <a:off x="4932" y="6573"/>
              <a:ext cx="4501" cy="869"/>
            </a:xfrm>
            <a:prstGeom prst="roundRect">
              <a:avLst>
                <a:gd name="adj" fmla="val 50000"/>
              </a:avLst>
            </a:prstGeom>
            <a:solidFill>
              <a:srgbClr val="2A86DC"/>
            </a:solidFill>
            <a:ln w="38100">
              <a:noFill/>
            </a:ln>
            <a:effectLst>
              <a:outerShdw blurRad="63500" sx="102000" sy="102000" algn="ctr" rotWithShape="0">
                <a:srgbClr val="2A86D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应用案例</a:t>
              </a:r>
            </a:p>
          </p:txBody>
        </p:sp>
        <p:sp>
          <p:nvSpPr>
            <p:cNvPr id="15" name="椭圆 18">
              <a:extLst>
                <a:ext uri="{FF2B5EF4-FFF2-40B4-BE49-F238E27FC236}">
                  <a16:creationId xmlns:a16="http://schemas.microsoft.com/office/drawing/2014/main" id="{54E44BCB-1B67-8E93-E2AE-F4FCCA587E34}"/>
                </a:ext>
              </a:extLst>
            </p:cNvPr>
            <p:cNvSpPr/>
            <p:nvPr/>
          </p:nvSpPr>
          <p:spPr>
            <a:xfrm>
              <a:off x="4613" y="6448"/>
              <a:ext cx="1118" cy="1118"/>
            </a:xfrm>
            <a:prstGeom prst="ellipse">
              <a:avLst/>
            </a:prstGeom>
            <a:solidFill>
              <a:schemeClr val="bg1"/>
            </a:solidFill>
            <a:ln>
              <a:noFill/>
            </a:ln>
            <a:effectLst>
              <a:outerShdw blurRad="203200" sx="141000" sy="141000" algn="ctr" rotWithShape="0">
                <a:srgbClr val="1B5FA3">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2A86DC"/>
                  </a:solidFill>
                  <a:latin typeface="微软雅黑" panose="020B0503020204020204" pitchFamily="34" charset="-122"/>
                  <a:ea typeface="微软雅黑" panose="020B0503020204020204" pitchFamily="34" charset="-122"/>
                </a:rPr>
                <a:t>5</a:t>
              </a:r>
            </a:p>
          </p:txBody>
        </p:sp>
      </p:grpSp>
    </p:spTree>
    <p:extLst>
      <p:ext uri="{BB962C8B-B14F-4D97-AF65-F5344CB8AC3E}">
        <p14:creationId xmlns:p14="http://schemas.microsoft.com/office/powerpoint/2010/main" val="3080885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BAC5-1716-B158-D9C8-7EAF2EEAD7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F16DB7-8B8D-3A0F-AE25-EEF9CE128DB1}"/>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阿里健康区域心电一张网</a:t>
            </a:r>
          </a:p>
        </p:txBody>
      </p:sp>
      <p:pic>
        <p:nvPicPr>
          <p:cNvPr id="3" name="picture 964">
            <a:extLst>
              <a:ext uri="{FF2B5EF4-FFF2-40B4-BE49-F238E27FC236}">
                <a16:creationId xmlns:a16="http://schemas.microsoft.com/office/drawing/2014/main" id="{01C21F84-E20D-A23A-8294-45116DEF27B5}"/>
              </a:ext>
            </a:extLst>
          </p:cNvPr>
          <p:cNvPicPr>
            <a:picLocks noChangeAspect="1"/>
          </p:cNvPicPr>
          <p:nvPr/>
        </p:nvPicPr>
        <p:blipFill>
          <a:blip r:embed="rId3"/>
          <a:stretch>
            <a:fillRect/>
          </a:stretch>
        </p:blipFill>
        <p:spPr>
          <a:xfrm rot="21600000">
            <a:off x="465248" y="2170429"/>
            <a:ext cx="8138098" cy="1737954"/>
          </a:xfrm>
          <a:prstGeom prst="rect">
            <a:avLst/>
          </a:prstGeom>
        </p:spPr>
      </p:pic>
      <p:sp>
        <p:nvSpPr>
          <p:cNvPr id="4" name="textbox 966">
            <a:extLst>
              <a:ext uri="{FF2B5EF4-FFF2-40B4-BE49-F238E27FC236}">
                <a16:creationId xmlns:a16="http://schemas.microsoft.com/office/drawing/2014/main" id="{8E1533DD-4E50-36F5-5E49-6CBC7B0D6B74}"/>
              </a:ext>
            </a:extLst>
          </p:cNvPr>
          <p:cNvSpPr/>
          <p:nvPr/>
        </p:nvSpPr>
        <p:spPr>
          <a:xfrm>
            <a:off x="475979" y="4037352"/>
            <a:ext cx="8195309" cy="661034"/>
          </a:xfrm>
          <a:prstGeom prst="rect">
            <a:avLst/>
          </a:prstGeom>
          <a:noFill/>
          <a:ln w="0" cap="flat">
            <a:noFill/>
            <a:prstDash val="solid"/>
            <a:miter lim="0"/>
          </a:ln>
        </p:spPr>
        <p:txBody>
          <a:bodyPr vert="horz" wrap="square" lIns="0" tIns="0" rIns="0" bIns="0"/>
          <a:lstStyle/>
          <a:p>
            <a:pPr algn="l" rtl="0" eaLnBrk="0">
              <a:lnSpc>
                <a:spcPct val="24000"/>
              </a:lnSpc>
            </a:pPr>
            <a:endParaRPr sz="100" dirty="0">
              <a:latin typeface="微软雅黑" panose="020B0503020204020204" pitchFamily="34" charset="-122"/>
              <a:ea typeface="微软雅黑" panose="020B0503020204020204" pitchFamily="34" charset="-122"/>
              <a:cs typeface="Arial" panose="020B0604020202020204"/>
            </a:endParaRPr>
          </a:p>
          <a:p>
            <a:pPr marL="12700" algn="l" rtl="0" eaLnBrk="0">
              <a:lnSpc>
                <a:spcPct val="141000"/>
              </a:lnSpc>
            </a:pPr>
            <a:r>
              <a:rPr sz="1000" b="1" kern="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charset="-122"/>
              </a:rPr>
              <a:t>近23年5月～12月， 针对平谷、阜平、寻乌三县区域内重点人群，共计采集8563条心电数据，远程分析2367条，及时识别了早期心血管疾  病风险，让乡镇医生第一时间为患者提供县级诊断服务，并采取适当治疗措施。此外， 对该区域40多个机构的医生进行远程指导与在线教育 培训，极大的提升了县域基层医院的心血管疾病救治能力。</a:t>
            </a:r>
            <a:endParaRPr sz="1000" dirty="0">
              <a:latin typeface="微软雅黑" panose="020B0503020204020204" pitchFamily="34" charset="-122"/>
              <a:ea typeface="微软雅黑" panose="020B0503020204020204" pitchFamily="34" charset="-122"/>
              <a:cs typeface="微软雅黑" panose="020B0503020204020204" charset="-122"/>
            </a:endParaRPr>
          </a:p>
        </p:txBody>
      </p:sp>
      <p:sp>
        <p:nvSpPr>
          <p:cNvPr id="5" name="textbox 968">
            <a:extLst>
              <a:ext uri="{FF2B5EF4-FFF2-40B4-BE49-F238E27FC236}">
                <a16:creationId xmlns:a16="http://schemas.microsoft.com/office/drawing/2014/main" id="{4D047E00-FC9A-D5EA-E931-DDE21161BBE8}"/>
              </a:ext>
            </a:extLst>
          </p:cNvPr>
          <p:cNvSpPr/>
          <p:nvPr/>
        </p:nvSpPr>
        <p:spPr>
          <a:xfrm>
            <a:off x="476647" y="1049336"/>
            <a:ext cx="8194641" cy="628650"/>
          </a:xfrm>
          <a:prstGeom prst="rect">
            <a:avLst/>
          </a:prstGeom>
          <a:noFill/>
          <a:ln w="0" cap="flat">
            <a:noFill/>
            <a:prstDash val="solid"/>
            <a:miter lim="0"/>
          </a:ln>
        </p:spPr>
        <p:txBody>
          <a:bodyPr vert="horz" wrap="square" lIns="0" tIns="0" rIns="0" bIns="0"/>
          <a:lstStyle/>
          <a:p>
            <a:pPr algn="l" rtl="0" eaLnBrk="0">
              <a:lnSpc>
                <a:spcPct val="17000"/>
              </a:lnSpc>
            </a:pPr>
            <a:endParaRPr sz="1000" dirty="0">
              <a:latin typeface="微软雅黑" panose="020B0503020204020204" pitchFamily="34" charset="-122"/>
              <a:ea typeface="微软雅黑" panose="020B0503020204020204" pitchFamily="34" charset="-122"/>
              <a:cs typeface="Arial" panose="020B0604020202020204"/>
            </a:endParaRPr>
          </a:p>
          <a:p>
            <a:pPr marL="12700" indent="-635" algn="l" rtl="0" eaLnBrk="0">
              <a:lnSpc>
                <a:spcPct val="149000"/>
              </a:lnSpc>
            </a:pPr>
            <a:r>
              <a:rPr sz="1000" kern="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charset="-122"/>
              </a:rPr>
              <a:t>好络维联合阿里健康， 助力“基层心血管星火计划”医疗健康公益项目，在全国区域建设心电网络， </a:t>
            </a:r>
            <a:r>
              <a:rPr sz="1000" b="1" kern="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charset="-122"/>
              </a:rPr>
              <a:t>实现心电远程诊断、远程指导与在线教育培训， 实现上级医院心电诊断资源向更基层医疗机构下沉 </a:t>
            </a:r>
            <a:r>
              <a:rPr sz="1000" kern="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charset="-122"/>
              </a:rPr>
              <a:t>，帮助县域基层医院提升心血管疾病救治能力。 </a:t>
            </a:r>
            <a:r>
              <a:rPr sz="1000" b="1" kern="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charset="-122"/>
              </a:rPr>
              <a:t>2023年5月开始启动浙江的景宁、河北的阜平县、北京平平谷、 陕西清涧县、 江西省的寻乌县， 共计40多个基层医疗机构，覆盖人口超100万。</a:t>
            </a:r>
            <a:endParaRPr sz="1000" dirty="0">
              <a:latin typeface="微软雅黑" panose="020B0503020204020204" pitchFamily="34" charset="-122"/>
              <a:ea typeface="微软雅黑" panose="020B0503020204020204" pitchFamily="34" charset="-122"/>
              <a:cs typeface="微软雅黑" panose="020B0503020204020204" charset="-122"/>
            </a:endParaRPr>
          </a:p>
        </p:txBody>
      </p:sp>
    </p:spTree>
    <p:extLst>
      <p:ext uri="{BB962C8B-B14F-4D97-AF65-F5344CB8AC3E}">
        <p14:creationId xmlns:p14="http://schemas.microsoft.com/office/powerpoint/2010/main" val="498363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84911-7BD0-5460-F3B7-551BF9485F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3DCF543-5CDD-4879-9AF3-AC4C1F0D87D4}"/>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青岛城阳区域心电一张网</a:t>
            </a:r>
          </a:p>
        </p:txBody>
      </p:sp>
      <p:sp>
        <p:nvSpPr>
          <p:cNvPr id="3" name="rect 978">
            <a:extLst>
              <a:ext uri="{FF2B5EF4-FFF2-40B4-BE49-F238E27FC236}">
                <a16:creationId xmlns:a16="http://schemas.microsoft.com/office/drawing/2014/main" id="{1C288CCB-C7A2-32A1-3912-625D33A387F0}"/>
              </a:ext>
            </a:extLst>
          </p:cNvPr>
          <p:cNvSpPr/>
          <p:nvPr/>
        </p:nvSpPr>
        <p:spPr>
          <a:xfrm>
            <a:off x="5217921" y="2224201"/>
            <a:ext cx="682358" cy="159461"/>
          </a:xfrm>
          <a:prstGeom prst="rect">
            <a:avLst/>
          </a:prstGeom>
          <a:solidFill>
            <a:srgbClr val="4F81BD">
              <a:alpha val="49803"/>
            </a:srgbClr>
          </a:solidFill>
          <a:ln w="0" cap="flat">
            <a:noFill/>
            <a:prstDash val="solid"/>
            <a:miter lim="0"/>
          </a:ln>
        </p:spPr>
        <p:txBody>
          <a:bodyPr rtlCol="0"/>
          <a:lstStyle/>
          <a:p>
            <a:pPr algn="ctr"/>
            <a:endParaRPr lang="zh-CN" altLang="en-US"/>
          </a:p>
        </p:txBody>
      </p:sp>
      <p:graphicFrame>
        <p:nvGraphicFramePr>
          <p:cNvPr id="4" name="table 980">
            <a:extLst>
              <a:ext uri="{FF2B5EF4-FFF2-40B4-BE49-F238E27FC236}">
                <a16:creationId xmlns:a16="http://schemas.microsoft.com/office/drawing/2014/main" id="{C577224E-D6F5-7BE3-804F-9C4E68F8A76F}"/>
              </a:ext>
            </a:extLst>
          </p:cNvPr>
          <p:cNvGraphicFramePr>
            <a:graphicFrameLocks noGrp="1"/>
          </p:cNvGraphicFramePr>
          <p:nvPr/>
        </p:nvGraphicFramePr>
        <p:xfrm>
          <a:off x="4890706" y="1774253"/>
          <a:ext cx="3360418" cy="2096134"/>
        </p:xfrm>
        <a:graphic>
          <a:graphicData uri="http://schemas.openxmlformats.org/drawingml/2006/table">
            <a:tbl>
              <a:tblPr/>
              <a:tblGrid>
                <a:gridCol w="724534">
                  <a:extLst>
                    <a:ext uri="{9D8B030D-6E8A-4147-A177-3AD203B41FA5}">
                      <a16:colId xmlns:a16="http://schemas.microsoft.com/office/drawing/2014/main" val="20000"/>
                    </a:ext>
                  </a:extLst>
                </a:gridCol>
                <a:gridCol w="416559">
                  <a:extLst>
                    <a:ext uri="{9D8B030D-6E8A-4147-A177-3AD203B41FA5}">
                      <a16:colId xmlns:a16="http://schemas.microsoft.com/office/drawing/2014/main" val="20001"/>
                    </a:ext>
                  </a:extLst>
                </a:gridCol>
                <a:gridCol w="2219325">
                  <a:extLst>
                    <a:ext uri="{9D8B030D-6E8A-4147-A177-3AD203B41FA5}">
                      <a16:colId xmlns:a16="http://schemas.microsoft.com/office/drawing/2014/main" val="20002"/>
                    </a:ext>
                  </a:extLst>
                </a:gridCol>
              </a:tblGrid>
              <a:tr h="1049655">
                <a:tc gridSpan="2">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327025" algn="l" rtl="0" eaLnBrk="0">
                        <a:lnSpc>
                          <a:spcPts val="855"/>
                        </a:lnSpc>
                        <a:spcBef>
                          <a:spcPts val="5"/>
                        </a:spcBef>
                        <a:tabLst>
                          <a:tab pos="409575" algn="l"/>
                        </a:tabLst>
                      </a:pPr>
                      <a:r>
                        <a:rPr sz="7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700"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“三高”</a:t>
                      </a:r>
                      <a:r>
                        <a:rPr sz="700"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700"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中心</a:t>
                      </a:r>
                      <a:endParaRPr sz="700" dirty="0">
                        <a:latin typeface="微软雅黑" panose="020B0503020204020204" charset="-122"/>
                        <a:ea typeface="微软雅黑" panose="020B0503020204020204" charset="-122"/>
                        <a:cs typeface="微软雅黑" panose="020B0503020204020204" charset="-122"/>
                      </a:endParaRPr>
                    </a:p>
                  </a:txBody>
                  <a:tcPr marL="0" marR="0" marT="0" marB="0">
                    <a:lnL w="3175" cap="flat" cmpd="sng" algn="ctr">
                      <a:solidFill>
                        <a:srgbClr val="385D8A"/>
                      </a:solidFill>
                      <a:prstDash val="dot"/>
                      <a:round/>
                      <a:headEnd type="none" w="med" len="med"/>
                      <a:tailEnd type="none" w="med" len="med"/>
                    </a:lnL>
                    <a:lnR>
                      <a:noFill/>
                    </a:lnR>
                    <a:lnT w="3175" cap="flat" cmpd="sng" algn="ctr">
                      <a:solidFill>
                        <a:srgbClr val="385D8A"/>
                      </a:solidFill>
                      <a:prstDash val="dot"/>
                      <a:round/>
                      <a:headEnd type="none" w="med" len="med"/>
                      <a:tailEnd type="none" w="med" len="med"/>
                    </a:lnT>
                    <a:lnB>
                      <a:noFill/>
                    </a:lnB>
                  </a:tcPr>
                </a:tc>
                <a:tc hMerge="1">
                  <a:txBody>
                    <a:bodyPr/>
                    <a:lstStyle/>
                    <a:p>
                      <a:endParaRPr lang="zh-CN"/>
                    </a:p>
                  </a:txBody>
                  <a:tcPr marL="0" marR="0" marT="0" marB="0">
                    <a:lnL w="3175" cap="flat" cmpd="sng" algn="ctr">
                      <a:solidFill>
                        <a:srgbClr val="385D8A"/>
                      </a:solidFill>
                      <a:prstDash val="dot"/>
                      <a:round/>
                      <a:headEnd type="none" w="med" len="med"/>
                      <a:tailEnd type="none" w="med" len="med"/>
                    </a:lnL>
                    <a:lnR>
                      <a:noFill/>
                    </a:lnR>
                    <a:lnT w="3175" cap="flat" cmpd="sng" algn="ctr">
                      <a:solidFill>
                        <a:srgbClr val="385D8A"/>
                      </a:solidFill>
                      <a:prstDash val="dot"/>
                      <a:round/>
                      <a:headEnd type="none" w="med" len="med"/>
                      <a:tailEnd type="none" w="med" len="med"/>
                    </a:lnT>
                    <a:lnB>
                      <a:noFill/>
                    </a:lnB>
                  </a:tcPr>
                </a:tc>
                <a:tc rowSpan="4">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41605" algn="l" rtl="0" eaLnBrk="0">
                        <a:lnSpc>
                          <a:spcPct val="97000"/>
                        </a:lnSpc>
                        <a:spcBef>
                          <a:spcPts val="0"/>
                        </a:spcBef>
                      </a:pPr>
                      <a:r>
                        <a:rPr sz="900" kern="0" spc="-50" dirty="0">
                          <a:solidFill>
                            <a:srgbClr val="404040">
                              <a:alpha val="100000"/>
                            </a:srgbClr>
                          </a:solidFill>
                          <a:latin typeface="Arial" panose="020B0604020202020204"/>
                          <a:ea typeface="Arial" panose="020B0604020202020204"/>
                          <a:cs typeface="Arial" panose="020B0604020202020204"/>
                        </a:rPr>
                        <a:t>•</a:t>
                      </a:r>
                      <a:r>
                        <a:rPr sz="900" kern="0" spc="10" dirty="0">
                          <a:solidFill>
                            <a:srgbClr val="404040">
                              <a:alpha val="100000"/>
                            </a:srgbClr>
                          </a:solidFill>
                          <a:latin typeface="Arial" panose="020B0604020202020204"/>
                          <a:ea typeface="Arial" panose="020B0604020202020204"/>
                          <a:cs typeface="Arial" panose="020B0604020202020204"/>
                        </a:rPr>
                        <a:t>    </a:t>
                      </a:r>
                      <a:r>
                        <a:rPr sz="900" kern="0" spc="-50" dirty="0">
                          <a:solidFill>
                            <a:srgbClr val="404040">
                              <a:alpha val="100000"/>
                            </a:srgbClr>
                          </a:solidFill>
                          <a:latin typeface="微软雅黑" panose="020B0503020204020204" charset="-122"/>
                          <a:ea typeface="微软雅黑" panose="020B0503020204020204" charset="-122"/>
                          <a:cs typeface="微软雅黑" panose="020B0503020204020204" charset="-122"/>
                        </a:rPr>
                        <a:t>动态心电分析、解读；</a:t>
                      </a:r>
                      <a:endParaRPr sz="900" dirty="0">
                        <a:latin typeface="微软雅黑" panose="020B0503020204020204" charset="-122"/>
                        <a:ea typeface="微软雅黑" panose="020B0503020204020204" charset="-122"/>
                        <a:cs typeface="微软雅黑" panose="020B0503020204020204" charset="-122"/>
                      </a:endParaRPr>
                    </a:p>
                    <a:p>
                      <a:pPr marL="141605" algn="l" rtl="0" eaLnBrk="0">
                        <a:lnSpc>
                          <a:spcPct val="97000"/>
                        </a:lnSpc>
                        <a:spcBef>
                          <a:spcPts val="570"/>
                        </a:spcBef>
                      </a:pPr>
                      <a:r>
                        <a:rPr sz="900" kern="0" spc="-20" dirty="0">
                          <a:solidFill>
                            <a:srgbClr val="404040">
                              <a:alpha val="100000"/>
                            </a:srgbClr>
                          </a:solidFill>
                          <a:latin typeface="Arial" panose="020B0604020202020204"/>
                          <a:ea typeface="Arial" panose="020B0604020202020204"/>
                          <a:cs typeface="Arial" panose="020B0604020202020204"/>
                        </a:rPr>
                        <a:t>•</a:t>
                      </a:r>
                      <a:r>
                        <a:rPr sz="900" kern="0" spc="20" dirty="0">
                          <a:solidFill>
                            <a:srgbClr val="404040">
                              <a:alpha val="100000"/>
                            </a:srgbClr>
                          </a:solidFill>
                          <a:latin typeface="Arial" panose="020B0604020202020204"/>
                          <a:ea typeface="Arial" panose="020B0604020202020204"/>
                          <a:cs typeface="Arial" panose="020B0604020202020204"/>
                        </a:rPr>
                        <a:t>    </a:t>
                      </a:r>
                      <a:r>
                        <a:rPr sz="900" kern="0" spc="-20" dirty="0">
                          <a:solidFill>
                            <a:srgbClr val="404040">
                              <a:alpha val="100000"/>
                            </a:srgbClr>
                          </a:solidFill>
                          <a:latin typeface="微软雅黑" panose="020B0503020204020204" charset="-122"/>
                          <a:ea typeface="微软雅黑" panose="020B0503020204020204" charset="-122"/>
                          <a:cs typeface="微软雅黑" panose="020B0503020204020204" charset="-122"/>
                        </a:rPr>
                        <a:t>健康干预；</a:t>
                      </a:r>
                      <a:endParaRPr sz="900" dirty="0">
                        <a:latin typeface="微软雅黑" panose="020B0503020204020204" charset="-122"/>
                        <a:ea typeface="微软雅黑" panose="020B0503020204020204" charset="-122"/>
                        <a:cs typeface="微软雅黑" panose="020B0503020204020204" charset="-122"/>
                      </a:endParaRPr>
                    </a:p>
                    <a:p>
                      <a:pPr algn="l" rtl="0" eaLnBrk="0">
                        <a:lnSpc>
                          <a:spcPct val="161000"/>
                        </a:lnSpc>
                      </a:pPr>
                      <a:endParaRPr sz="1000" dirty="0">
                        <a:latin typeface="Arial" panose="020B0604020202020204"/>
                        <a:ea typeface="Arial" panose="020B0604020202020204"/>
                        <a:cs typeface="Arial" panose="020B0604020202020204"/>
                      </a:endParaRPr>
                    </a:p>
                    <a:p>
                      <a:pPr marL="131445" algn="l" rtl="0" eaLnBrk="0">
                        <a:lnSpc>
                          <a:spcPct val="97000"/>
                        </a:lnSpc>
                        <a:spcBef>
                          <a:spcPts val="270"/>
                        </a:spcBef>
                      </a:pPr>
                      <a:r>
                        <a:rPr sz="900" kern="0" spc="0" dirty="0">
                          <a:solidFill>
                            <a:srgbClr val="404040">
                              <a:alpha val="100000"/>
                            </a:srgbClr>
                          </a:solidFill>
                          <a:latin typeface="Arial" panose="020B0604020202020204"/>
                          <a:ea typeface="Arial" panose="020B0604020202020204"/>
                          <a:cs typeface="Arial" panose="020B0604020202020204"/>
                        </a:rPr>
                        <a:t>•    </a:t>
                      </a:r>
                      <a:r>
                        <a:rPr sz="900" kern="0" spc="0" dirty="0">
                          <a:solidFill>
                            <a:srgbClr val="404040">
                              <a:alpha val="100000"/>
                            </a:srgbClr>
                          </a:solidFill>
                          <a:latin typeface="微软雅黑" panose="020B0503020204020204" charset="-122"/>
                          <a:ea typeface="微软雅黑" panose="020B0503020204020204" charset="-122"/>
                          <a:cs typeface="微软雅黑" panose="020B0503020204020204" charset="-122"/>
                        </a:rPr>
                        <a:t>心电等数据分析和</a:t>
                      </a:r>
                      <a:r>
                        <a:rPr sz="9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诊断</a:t>
                      </a:r>
                      <a:endParaRPr sz="900" dirty="0">
                        <a:latin typeface="微软雅黑" panose="020B0503020204020204" charset="-122"/>
                        <a:ea typeface="微软雅黑" panose="020B0503020204020204" charset="-122"/>
                        <a:cs typeface="微软雅黑" panose="020B0503020204020204" charset="-122"/>
                      </a:endParaRPr>
                    </a:p>
                    <a:p>
                      <a:pPr marL="131445" algn="l" rtl="0" eaLnBrk="0">
                        <a:lnSpc>
                          <a:spcPct val="97000"/>
                        </a:lnSpc>
                        <a:spcBef>
                          <a:spcPts val="575"/>
                        </a:spcBef>
                      </a:pPr>
                      <a:r>
                        <a:rPr sz="900" kern="0" spc="0" dirty="0">
                          <a:solidFill>
                            <a:srgbClr val="404040">
                              <a:alpha val="100000"/>
                            </a:srgbClr>
                          </a:solidFill>
                          <a:latin typeface="Arial" panose="020B0604020202020204"/>
                          <a:ea typeface="Arial" panose="020B0604020202020204"/>
                          <a:cs typeface="Arial" panose="020B0604020202020204"/>
                        </a:rPr>
                        <a:t>•    </a:t>
                      </a:r>
                      <a:r>
                        <a:rPr sz="900" kern="0" spc="0" dirty="0">
                          <a:solidFill>
                            <a:srgbClr val="404040">
                              <a:alpha val="100000"/>
                            </a:srgbClr>
                          </a:solidFill>
                          <a:latin typeface="微软雅黑" panose="020B0503020204020204" charset="-122"/>
                          <a:ea typeface="微软雅黑" panose="020B0503020204020204" charset="-122"/>
                          <a:cs typeface="微软雅黑" panose="020B0503020204020204" charset="-122"/>
                        </a:rPr>
                        <a:t>个性化健康干</a:t>
                      </a:r>
                      <a:r>
                        <a:rPr sz="9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预；</a:t>
                      </a:r>
                      <a:endParaRPr sz="9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16000"/>
                        </a:lnSpc>
                      </a:pPr>
                      <a:endParaRPr sz="200" dirty="0">
                        <a:latin typeface="Arial" panose="020B0604020202020204"/>
                        <a:ea typeface="Arial" panose="020B0604020202020204"/>
                        <a:cs typeface="Arial" panose="020B0604020202020204"/>
                      </a:endParaRPr>
                    </a:p>
                    <a:p>
                      <a:pPr marL="140335" algn="l" rtl="0" eaLnBrk="0">
                        <a:lnSpc>
                          <a:spcPct val="100000"/>
                        </a:lnSpc>
                        <a:spcBef>
                          <a:spcPts val="0"/>
                        </a:spcBef>
                      </a:pPr>
                      <a:r>
                        <a:rPr sz="900" kern="0" spc="-10" dirty="0">
                          <a:solidFill>
                            <a:srgbClr val="404040">
                              <a:alpha val="100000"/>
                            </a:srgbClr>
                          </a:solidFill>
                          <a:latin typeface="Arial" panose="020B0604020202020204"/>
                          <a:ea typeface="Arial" panose="020B0604020202020204"/>
                          <a:cs typeface="Arial" panose="020B0604020202020204"/>
                        </a:rPr>
                        <a:t>•</a:t>
                      </a:r>
                      <a:r>
                        <a:rPr sz="900" kern="0" spc="10" dirty="0">
                          <a:solidFill>
                            <a:srgbClr val="404040">
                              <a:alpha val="100000"/>
                            </a:srgbClr>
                          </a:solidFill>
                          <a:latin typeface="Arial" panose="020B0604020202020204"/>
                          <a:ea typeface="Arial" panose="020B0604020202020204"/>
                          <a:cs typeface="Arial" panose="020B0604020202020204"/>
                        </a:rPr>
                        <a:t>    </a:t>
                      </a:r>
                      <a:r>
                        <a:rPr sz="900" kern="0" spc="-10" dirty="0">
                          <a:solidFill>
                            <a:srgbClr val="404040">
                              <a:alpha val="100000"/>
                            </a:srgbClr>
                          </a:solidFill>
                          <a:latin typeface="微软雅黑" panose="020B0503020204020204" charset="-122"/>
                          <a:ea typeface="微软雅黑" panose="020B0503020204020204" charset="-122"/>
                          <a:cs typeface="微软雅黑" panose="020B0503020204020204" charset="-122"/>
                        </a:rPr>
                        <a:t>心电数据采集</a:t>
                      </a:r>
                      <a:endParaRPr sz="900" dirty="0">
                        <a:latin typeface="微软雅黑" panose="020B0503020204020204" charset="-122"/>
                        <a:ea typeface="微软雅黑" panose="020B0503020204020204" charset="-122"/>
                        <a:cs typeface="微软雅黑" panose="020B0503020204020204" charset="-122"/>
                      </a:endParaRPr>
                    </a:p>
                  </a:txBody>
                  <a:tcPr marL="0" marR="0" marT="0" marB="0">
                    <a:lnL>
                      <a:noFill/>
                    </a:lnL>
                    <a:lnR w="3175" cap="flat" cmpd="sng" algn="ctr">
                      <a:solidFill>
                        <a:srgbClr val="385D8A"/>
                      </a:solidFill>
                      <a:prstDash val="dot"/>
                      <a:round/>
                      <a:headEnd type="none" w="med" len="med"/>
                      <a:tailEnd type="none" w="med" len="med"/>
                    </a:lnR>
                    <a:lnT w="3175" cap="flat" cmpd="sng" algn="ctr">
                      <a:solidFill>
                        <a:srgbClr val="385D8A"/>
                      </a:solidFill>
                      <a:prstDash val="dot"/>
                      <a:round/>
                      <a:headEnd type="none" w="med" len="med"/>
                      <a:tailEnd type="none" w="med" len="med"/>
                    </a:lnT>
                    <a:lnB w="3175" cap="flat" cmpd="sng" algn="ctr">
                      <a:solidFill>
                        <a:srgbClr val="385D8A"/>
                      </a:solidFill>
                      <a:prstDash val="dot"/>
                      <a:round/>
                      <a:headEnd type="none" w="med" len="med"/>
                      <a:tailEnd type="none" w="med" len="med"/>
                    </a:lnB>
                  </a:tcPr>
                </a:tc>
                <a:extLst>
                  <a:ext uri="{0D108BD9-81ED-4DB2-BD59-A6C34878D82A}">
                    <a16:rowId xmlns:a16="http://schemas.microsoft.com/office/drawing/2014/main" val="10000"/>
                  </a:ext>
                </a:extLst>
              </a:tr>
              <a:tr h="193675">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3175" cap="flat" cmpd="sng" algn="ctr">
                      <a:solidFill>
                        <a:srgbClr val="385D8A"/>
                      </a:solidFill>
                      <a:prstDash val="dot"/>
                      <a:round/>
                      <a:headEnd type="none" w="med" len="med"/>
                      <a:tailEnd type="none" w="med" len="med"/>
                    </a:lnL>
                    <a:lnR>
                      <a:noFill/>
                    </a:lnR>
                    <a:lnT>
                      <a:noFill/>
                    </a:lnT>
                    <a:lnB>
                      <a:noFill/>
                    </a:lnB>
                  </a:tcPr>
                </a:tc>
                <a:tc hMerge="1">
                  <a:txBody>
                    <a:bodyPr/>
                    <a:lstStyle/>
                    <a:p>
                      <a:endParaRPr lang="zh-CN"/>
                    </a:p>
                  </a:txBody>
                  <a:tcPr marL="0" marR="0" marT="0" marB="0">
                    <a:lnL w="3175" cap="flat" cmpd="sng" algn="ctr">
                      <a:solidFill>
                        <a:srgbClr val="385D8A"/>
                      </a:solidFill>
                      <a:prstDash val="dot"/>
                      <a:round/>
                      <a:headEnd type="none" w="med" len="med"/>
                      <a:tailEnd type="none" w="med" len="med"/>
                    </a:lnL>
                    <a:lnR>
                      <a:noFill/>
                    </a:lnR>
                    <a:lnT>
                      <a:noFill/>
                    </a:lnT>
                    <a:lnB>
                      <a:noFill/>
                    </a:lnB>
                  </a:tcPr>
                </a:tc>
                <a:tc vMerge="1">
                  <a:txBody>
                    <a:bodyPr/>
                    <a:lstStyle/>
                    <a:p>
                      <a:endParaRPr lang="zh-CN"/>
                    </a:p>
                  </a:txBody>
                  <a:tcPr marL="0" marR="0" marT="0" marB="0">
                    <a:lnL>
                      <a:noFill/>
                    </a:lnL>
                    <a:lnR w="3175" cap="flat" cmpd="sng" algn="ctr">
                      <a:solidFill>
                        <a:srgbClr val="385D8A"/>
                      </a:solidFill>
                      <a:prstDash val="dot"/>
                      <a:round/>
                      <a:headEnd type="none" w="med" len="med"/>
                      <a:tailEnd type="none" w="med" len="med"/>
                    </a:lnR>
                    <a:lnT w="3175" cap="flat" cmpd="sng" algn="ctr">
                      <a:solidFill>
                        <a:srgbClr val="385D8A"/>
                      </a:solidFill>
                      <a:prstDash val="dot"/>
                      <a:round/>
                      <a:headEnd type="none" w="med" len="med"/>
                      <a:tailEnd type="none" w="med" len="med"/>
                    </a:lnT>
                    <a:lnB w="3175" cap="flat" cmpd="sng" algn="ctr">
                      <a:solidFill>
                        <a:srgbClr val="385D8A"/>
                      </a:solidFill>
                      <a:prstDash val="dot"/>
                      <a:round/>
                      <a:headEnd type="none" w="med" len="med"/>
                      <a:tailEnd type="none" w="med" len="med"/>
                    </a:lnB>
                  </a:tcPr>
                </a:tc>
                <a:extLst>
                  <a:ext uri="{0D108BD9-81ED-4DB2-BD59-A6C34878D82A}">
                    <a16:rowId xmlns:a16="http://schemas.microsoft.com/office/drawing/2014/main" val="10001"/>
                  </a:ext>
                </a:extLst>
              </a:tr>
              <a:tr h="4381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3175" cap="flat" cmpd="sng" algn="ctr">
                      <a:solidFill>
                        <a:srgbClr val="385D8A"/>
                      </a:solidFill>
                      <a:prstDash val="dot"/>
                      <a:round/>
                      <a:headEnd type="none" w="med" len="med"/>
                      <a:tailEnd type="none" w="med" len="med"/>
                    </a:lnL>
                    <a:lnR>
                      <a:noFill/>
                    </a:lnR>
                    <a:lnT>
                      <a:noFill/>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a:noFill/>
                    </a:lnR>
                    <a:lnT>
                      <a:noFill/>
                    </a:lnT>
                    <a:lnB>
                      <a:noFill/>
                    </a:lnB>
                  </a:tcPr>
                </a:tc>
                <a:tc vMerge="1">
                  <a:txBody>
                    <a:bodyPr/>
                    <a:lstStyle/>
                    <a:p>
                      <a:endParaRPr lang="zh-CN"/>
                    </a:p>
                  </a:txBody>
                  <a:tcPr marL="0" marR="0" marT="0" marB="0">
                    <a:lnL>
                      <a:noFill/>
                    </a:lnL>
                    <a:lnR w="3175" cap="flat" cmpd="sng" algn="ctr">
                      <a:solidFill>
                        <a:srgbClr val="385D8A"/>
                      </a:solidFill>
                      <a:prstDash val="dot"/>
                      <a:round/>
                      <a:headEnd type="none" w="med" len="med"/>
                      <a:tailEnd type="none" w="med" len="med"/>
                    </a:lnR>
                    <a:lnT w="3175" cap="flat" cmpd="sng" algn="ctr">
                      <a:solidFill>
                        <a:srgbClr val="385D8A"/>
                      </a:solidFill>
                      <a:prstDash val="dot"/>
                      <a:round/>
                      <a:headEnd type="none" w="med" len="med"/>
                      <a:tailEnd type="none" w="med" len="med"/>
                    </a:lnT>
                    <a:lnB w="3175" cap="flat" cmpd="sng" algn="ctr">
                      <a:solidFill>
                        <a:srgbClr val="385D8A"/>
                      </a:solidFill>
                      <a:prstDash val="dot"/>
                      <a:round/>
                      <a:headEnd type="none" w="med" len="med"/>
                      <a:tailEnd type="none" w="med" len="med"/>
                    </a:lnB>
                  </a:tcPr>
                </a:tc>
                <a:extLst>
                  <a:ext uri="{0D108BD9-81ED-4DB2-BD59-A6C34878D82A}">
                    <a16:rowId xmlns:a16="http://schemas.microsoft.com/office/drawing/2014/main" val="10002"/>
                  </a:ext>
                </a:extLst>
              </a:tr>
              <a:tr h="414654">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3175" cap="flat" cmpd="sng" algn="ctr">
                      <a:solidFill>
                        <a:srgbClr val="385D8A"/>
                      </a:solidFill>
                      <a:prstDash val="dot"/>
                      <a:round/>
                      <a:headEnd type="none" w="med" len="med"/>
                      <a:tailEnd type="none" w="med" len="med"/>
                    </a:lnL>
                    <a:lnR>
                      <a:noFill/>
                    </a:lnR>
                    <a:lnT>
                      <a:noFill/>
                    </a:lnT>
                    <a:lnB w="3175" cap="flat" cmpd="sng" algn="ctr">
                      <a:solidFill>
                        <a:srgbClr val="385D8A"/>
                      </a:solidFill>
                      <a:prstDash val="dot"/>
                      <a:round/>
                      <a:headEnd type="none" w="med" len="med"/>
                      <a:tailEnd type="none" w="med" len="med"/>
                    </a:lnB>
                  </a:tcPr>
                </a:tc>
                <a:tc hMerge="1">
                  <a:txBody>
                    <a:bodyPr/>
                    <a:lstStyle/>
                    <a:p>
                      <a:endParaRPr lang="zh-CN"/>
                    </a:p>
                  </a:txBody>
                  <a:tcPr marL="0" marR="0" marT="0" marB="0">
                    <a:lnL w="3175" cap="flat" cmpd="sng" algn="ctr">
                      <a:solidFill>
                        <a:srgbClr val="385D8A"/>
                      </a:solidFill>
                      <a:prstDash val="dot"/>
                      <a:round/>
                      <a:headEnd type="none" w="med" len="med"/>
                      <a:tailEnd type="none" w="med" len="med"/>
                    </a:lnL>
                    <a:lnR>
                      <a:noFill/>
                    </a:lnR>
                    <a:lnT>
                      <a:noFill/>
                    </a:lnT>
                    <a:lnB w="3175" cap="flat" cmpd="sng" algn="ctr">
                      <a:solidFill>
                        <a:srgbClr val="385D8A"/>
                      </a:solidFill>
                      <a:prstDash val="dot"/>
                      <a:round/>
                      <a:headEnd type="none" w="med" len="med"/>
                      <a:tailEnd type="none" w="med" len="med"/>
                    </a:lnB>
                  </a:tcPr>
                </a:tc>
                <a:tc vMerge="1">
                  <a:txBody>
                    <a:bodyPr/>
                    <a:lstStyle/>
                    <a:p>
                      <a:endParaRPr lang="zh-CN"/>
                    </a:p>
                  </a:txBody>
                  <a:tcPr marL="0" marR="0" marT="0" marB="0">
                    <a:lnL>
                      <a:noFill/>
                    </a:lnL>
                    <a:lnR w="3175" cap="flat" cmpd="sng" algn="ctr">
                      <a:solidFill>
                        <a:srgbClr val="385D8A"/>
                      </a:solidFill>
                      <a:prstDash val="dot"/>
                      <a:round/>
                      <a:headEnd type="none" w="med" len="med"/>
                      <a:tailEnd type="none" w="med" len="med"/>
                    </a:lnR>
                    <a:lnT w="3175" cap="flat" cmpd="sng" algn="ctr">
                      <a:solidFill>
                        <a:srgbClr val="385D8A"/>
                      </a:solidFill>
                      <a:prstDash val="dot"/>
                      <a:round/>
                      <a:headEnd type="none" w="med" len="med"/>
                      <a:tailEnd type="none" w="med" len="med"/>
                    </a:lnT>
                    <a:lnB w="3175" cap="flat" cmpd="sng" algn="ctr">
                      <a:solidFill>
                        <a:srgbClr val="385D8A"/>
                      </a:solidFill>
                      <a:prstDash val="dot"/>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5" name="picture 982">
            <a:extLst>
              <a:ext uri="{FF2B5EF4-FFF2-40B4-BE49-F238E27FC236}">
                <a16:creationId xmlns:a16="http://schemas.microsoft.com/office/drawing/2014/main" id="{08254194-EFA9-776E-C8F7-07E83FEB12F6}"/>
              </a:ext>
            </a:extLst>
          </p:cNvPr>
          <p:cNvPicPr>
            <a:picLocks noChangeAspect="1"/>
          </p:cNvPicPr>
          <p:nvPr/>
        </p:nvPicPr>
        <p:blipFill>
          <a:blip r:embed="rId3"/>
          <a:stretch>
            <a:fillRect/>
          </a:stretch>
        </p:blipFill>
        <p:spPr>
          <a:xfrm rot="21600000">
            <a:off x="2422014" y="1726057"/>
            <a:ext cx="1779948" cy="2860677"/>
          </a:xfrm>
          <a:prstGeom prst="rect">
            <a:avLst/>
          </a:prstGeom>
        </p:spPr>
      </p:pic>
      <p:pic>
        <p:nvPicPr>
          <p:cNvPr id="6" name="picture 984">
            <a:extLst>
              <a:ext uri="{FF2B5EF4-FFF2-40B4-BE49-F238E27FC236}">
                <a16:creationId xmlns:a16="http://schemas.microsoft.com/office/drawing/2014/main" id="{BB921455-F69F-79A1-9E18-5B1F24ACD2C1}"/>
              </a:ext>
            </a:extLst>
          </p:cNvPr>
          <p:cNvPicPr>
            <a:picLocks noChangeAspect="1"/>
          </p:cNvPicPr>
          <p:nvPr/>
        </p:nvPicPr>
        <p:blipFill>
          <a:blip r:embed="rId4"/>
          <a:stretch>
            <a:fillRect/>
          </a:stretch>
        </p:blipFill>
        <p:spPr>
          <a:xfrm rot="21600000">
            <a:off x="730400" y="1726057"/>
            <a:ext cx="1621535" cy="2860677"/>
          </a:xfrm>
          <a:prstGeom prst="rect">
            <a:avLst/>
          </a:prstGeom>
        </p:spPr>
      </p:pic>
      <p:sp>
        <p:nvSpPr>
          <p:cNvPr id="7" name="textbox 986">
            <a:extLst>
              <a:ext uri="{FF2B5EF4-FFF2-40B4-BE49-F238E27FC236}">
                <a16:creationId xmlns:a16="http://schemas.microsoft.com/office/drawing/2014/main" id="{0DE03FD6-0532-BA68-7AF2-8AB04FA7F6F1}"/>
              </a:ext>
            </a:extLst>
          </p:cNvPr>
          <p:cNvSpPr/>
          <p:nvPr/>
        </p:nvSpPr>
        <p:spPr>
          <a:xfrm>
            <a:off x="420875" y="927113"/>
            <a:ext cx="8306565" cy="400684"/>
          </a:xfrm>
          <a:prstGeom prst="rect">
            <a:avLst/>
          </a:prstGeom>
          <a:noFill/>
          <a:ln w="0" cap="flat">
            <a:noFill/>
            <a:prstDash val="solid"/>
            <a:miter lim="0"/>
          </a:ln>
        </p:spPr>
        <p:txBody>
          <a:bodyPr vert="horz" wrap="square" lIns="0" tIns="636" rIns="0" bIns="0"/>
          <a:lstStyle/>
          <a:p>
            <a:pPr marL="12700" indent="5080" algn="l" rtl="0" eaLnBrk="0">
              <a:lnSpc>
                <a:spcPct val="141000"/>
              </a:lnSpc>
              <a:spcBef>
                <a:spcPts val="5"/>
              </a:spcBef>
            </a:pPr>
            <a:r>
              <a:rPr sz="1200" kern="0" dirty="0">
                <a:solidFill>
                  <a:srgbClr val="404040">
                    <a:alpha val="100000"/>
                  </a:srgbClr>
                </a:solidFill>
                <a:latin typeface="微软雅黑" panose="020B0503020204020204" charset="-122"/>
                <a:ea typeface="微软雅黑" panose="020B0503020204020204" charset="-122"/>
                <a:cs typeface="微软雅黑" panose="020B0503020204020204" charset="-122"/>
              </a:rPr>
              <a:t>2018年城阳区响应政策要求，以心脑血管疾病作为 “三高共管、三级协同”突破口 ， 由城阳区人民医院牵头， 建设区域心电中心项目试点 ， 以推动 优质医疗资源下沉至基层，提高区域医疗资源利用率，提高基层的诊疗水平。</a:t>
            </a:r>
            <a:endParaRPr sz="1200" dirty="0">
              <a:latin typeface="微软雅黑" panose="020B0503020204020204" charset="-122"/>
              <a:ea typeface="微软雅黑" panose="020B0503020204020204" charset="-122"/>
              <a:cs typeface="微软雅黑" panose="020B0503020204020204" charset="-122"/>
            </a:endParaRPr>
          </a:p>
        </p:txBody>
      </p:sp>
      <p:sp>
        <p:nvSpPr>
          <p:cNvPr id="8" name="textbox 988">
            <a:extLst>
              <a:ext uri="{FF2B5EF4-FFF2-40B4-BE49-F238E27FC236}">
                <a16:creationId xmlns:a16="http://schemas.microsoft.com/office/drawing/2014/main" id="{40E30EE2-D5BF-B789-3BE5-88DC6AF75249}"/>
              </a:ext>
            </a:extLst>
          </p:cNvPr>
          <p:cNvSpPr/>
          <p:nvPr/>
        </p:nvSpPr>
        <p:spPr>
          <a:xfrm>
            <a:off x="4874644" y="4095918"/>
            <a:ext cx="3522345" cy="590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225"/>
              </a:lnSpc>
            </a:pPr>
            <a:r>
              <a:rPr sz="1000" kern="0" spc="40" dirty="0">
                <a:solidFill>
                  <a:srgbClr val="404040">
                    <a:alpha val="100000"/>
                  </a:srgbClr>
                </a:solidFill>
                <a:latin typeface="微软雅黑" panose="020B0503020204020204" charset="-122"/>
                <a:ea typeface="微软雅黑" panose="020B0503020204020204" charset="-122"/>
                <a:cs typeface="微软雅黑" panose="020B0503020204020204" charset="-122"/>
              </a:rPr>
              <a:t>2019年初，健共体</a:t>
            </a:r>
            <a:r>
              <a:rPr sz="1000" b="1" kern="0" spc="40" dirty="0">
                <a:solidFill>
                  <a:srgbClr val="404040">
                    <a:alpha val="100000"/>
                  </a:srgbClr>
                </a:solidFill>
                <a:latin typeface="微软雅黑" panose="020B0503020204020204" charset="-122"/>
                <a:ea typeface="微软雅黑" panose="020B0503020204020204" charset="-122"/>
                <a:cs typeface="微软雅黑" panose="020B0503020204020204" charset="-122"/>
              </a:rPr>
              <a:t>180家</a:t>
            </a:r>
            <a:r>
              <a:rPr sz="1000" kern="0" spc="40" dirty="0">
                <a:solidFill>
                  <a:srgbClr val="404040">
                    <a:alpha val="100000"/>
                  </a:srgbClr>
                </a:solidFill>
                <a:latin typeface="微软雅黑" panose="020B0503020204020204" charset="-122"/>
                <a:ea typeface="微软雅黑" panose="020B0503020204020204" charset="-122"/>
                <a:cs typeface="微软雅黑" panose="020B0503020204020204" charset="-122"/>
              </a:rPr>
              <a:t>基层医疗机构接入。</a:t>
            </a:r>
            <a:endParaRPr sz="1000" dirty="0">
              <a:latin typeface="微软雅黑" panose="020B0503020204020204" charset="-122"/>
              <a:ea typeface="微软雅黑" panose="020B0503020204020204" charset="-122"/>
              <a:cs typeface="微软雅黑" panose="020B0503020204020204" charset="-122"/>
            </a:endParaRPr>
          </a:p>
          <a:p>
            <a:pPr marL="12700" algn="l" rtl="0" eaLnBrk="0">
              <a:lnSpc>
                <a:spcPct val="123000"/>
              </a:lnSpc>
              <a:spcBef>
                <a:spcPts val="270"/>
              </a:spcBef>
            </a:pPr>
            <a:r>
              <a:rPr sz="1000" kern="0" spc="40" dirty="0">
                <a:solidFill>
                  <a:srgbClr val="404040">
                    <a:alpha val="100000"/>
                  </a:srgbClr>
                </a:solidFill>
                <a:latin typeface="微软雅黑" panose="020B0503020204020204" charset="-122"/>
                <a:ea typeface="微软雅黑" panose="020B0503020204020204" charset="-122"/>
                <a:cs typeface="微软雅黑" panose="020B0503020204020204" charset="-122"/>
              </a:rPr>
              <a:t>2020年“共管”人群三高达标率较之前分别提高了</a:t>
            </a:r>
            <a:r>
              <a:rPr sz="1000" b="1" kern="0" spc="40" dirty="0">
                <a:solidFill>
                  <a:srgbClr val="196494">
                    <a:alpha val="100000"/>
                  </a:srgbClr>
                </a:solidFill>
                <a:latin typeface="微软雅黑" panose="020B0503020204020204" charset="-122"/>
                <a:ea typeface="微软雅黑" panose="020B0503020204020204" charset="-122"/>
                <a:cs typeface="微软雅黑" panose="020B0503020204020204" charset="-122"/>
              </a:rPr>
              <a:t>15.3%、</a:t>
            </a:r>
            <a:r>
              <a:rPr sz="1000" b="1" kern="0" spc="0" dirty="0">
                <a:solidFill>
                  <a:srgbClr val="196494">
                    <a:alpha val="100000"/>
                  </a:srgbClr>
                </a:solidFill>
                <a:latin typeface="微软雅黑" panose="020B0503020204020204" charset="-122"/>
                <a:ea typeface="微软雅黑" panose="020B0503020204020204" charset="-122"/>
                <a:cs typeface="微软雅黑" panose="020B0503020204020204" charset="-122"/>
              </a:rPr>
              <a:t> </a:t>
            </a:r>
            <a:r>
              <a:rPr sz="1000" b="1" kern="0" spc="20" dirty="0">
                <a:solidFill>
                  <a:srgbClr val="196494">
                    <a:alpha val="100000"/>
                  </a:srgbClr>
                </a:solidFill>
                <a:latin typeface="微软雅黑" panose="020B0503020204020204" charset="-122"/>
                <a:ea typeface="微软雅黑" panose="020B0503020204020204" charset="-122"/>
                <a:cs typeface="微软雅黑" panose="020B0503020204020204" charset="-122"/>
              </a:rPr>
              <a:t>6.2%和44.1%</a:t>
            </a:r>
            <a:r>
              <a:rPr sz="1000" kern="0" spc="20" dirty="0">
                <a:solidFill>
                  <a:srgbClr val="196494">
                    <a:alpha val="100000"/>
                  </a:srgbClr>
                </a:solidFill>
                <a:latin typeface="微软雅黑" panose="020B0503020204020204" charset="-122"/>
                <a:ea typeface="微软雅黑" panose="020B0503020204020204" charset="-122"/>
                <a:cs typeface="微软雅黑" panose="020B0503020204020204" charset="-122"/>
              </a:rPr>
              <a:t>。</a:t>
            </a:r>
            <a:endParaRPr sz="1000" dirty="0">
              <a:latin typeface="微软雅黑" panose="020B0503020204020204" charset="-122"/>
              <a:ea typeface="微软雅黑" panose="020B0503020204020204" charset="-122"/>
              <a:cs typeface="微软雅黑" panose="020B0503020204020204" charset="-122"/>
            </a:endParaRPr>
          </a:p>
        </p:txBody>
      </p:sp>
      <p:sp>
        <p:nvSpPr>
          <p:cNvPr id="10" name="textbox 998">
            <a:extLst>
              <a:ext uri="{FF2B5EF4-FFF2-40B4-BE49-F238E27FC236}">
                <a16:creationId xmlns:a16="http://schemas.microsoft.com/office/drawing/2014/main" id="{9D2447C3-FF22-BD16-9D8B-96A142F7552F}"/>
              </a:ext>
            </a:extLst>
          </p:cNvPr>
          <p:cNvSpPr/>
          <p:nvPr/>
        </p:nvSpPr>
        <p:spPr>
          <a:xfrm>
            <a:off x="5193029" y="3472230"/>
            <a:ext cx="682625" cy="160020"/>
          </a:xfrm>
          <a:prstGeom prst="rect">
            <a:avLst/>
          </a:prstGeom>
          <a:solidFill>
            <a:srgbClr val="4F81BD">
              <a:alpha val="49803"/>
            </a:srgbClr>
          </a:solidFill>
          <a:ln w="0" cap="flat">
            <a:noFill/>
            <a:prstDash val="solid"/>
            <a:miter lim="0"/>
          </a:ln>
        </p:spPr>
        <p:txBody>
          <a:bodyPr vert="horz" wrap="square" lIns="0" tIns="0" rIns="0" bIns="0"/>
          <a:lstStyle/>
          <a:p>
            <a:pPr algn="l" rtl="0" eaLnBrk="0">
              <a:lnSpc>
                <a:spcPct val="110000"/>
              </a:lnSpc>
            </a:pPr>
            <a:endParaRPr sz="200" dirty="0">
              <a:latin typeface="Arial" panose="020B0604020202020204"/>
              <a:ea typeface="Arial" panose="020B0604020202020204"/>
              <a:cs typeface="Arial" panose="020B0604020202020204"/>
            </a:endParaRPr>
          </a:p>
          <a:p>
            <a:pPr marL="83185" algn="l" rtl="0" eaLnBrk="0">
              <a:lnSpc>
                <a:spcPts val="855"/>
              </a:lnSpc>
              <a:spcBef>
                <a:spcPts val="0"/>
              </a:spcBef>
            </a:pPr>
            <a:r>
              <a:rPr sz="700"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“三高” 之家</a:t>
            </a:r>
            <a:endParaRPr sz="700" dirty="0">
              <a:latin typeface="微软雅黑" panose="020B0503020204020204" charset="-122"/>
              <a:ea typeface="微软雅黑" panose="020B0503020204020204" charset="-122"/>
              <a:cs typeface="微软雅黑" panose="020B0503020204020204" charset="-122"/>
            </a:endParaRPr>
          </a:p>
        </p:txBody>
      </p:sp>
      <p:sp>
        <p:nvSpPr>
          <p:cNvPr id="11" name="textbox 1000">
            <a:extLst>
              <a:ext uri="{FF2B5EF4-FFF2-40B4-BE49-F238E27FC236}">
                <a16:creationId xmlns:a16="http://schemas.microsoft.com/office/drawing/2014/main" id="{6ADB1EC6-0585-CF9B-A4CC-C06CB84D890A}"/>
              </a:ext>
            </a:extLst>
          </p:cNvPr>
          <p:cNvSpPr/>
          <p:nvPr/>
        </p:nvSpPr>
        <p:spPr>
          <a:xfrm>
            <a:off x="5193029" y="2830118"/>
            <a:ext cx="682625" cy="160020"/>
          </a:xfrm>
          <a:prstGeom prst="rect">
            <a:avLst/>
          </a:prstGeom>
          <a:solidFill>
            <a:srgbClr val="4F81BD">
              <a:alpha val="49803"/>
            </a:srgbClr>
          </a:solidFill>
          <a:ln w="0" cap="flat">
            <a:noFill/>
            <a:prstDash val="solid"/>
            <a:miter lim="0"/>
          </a:ln>
        </p:spPr>
        <p:txBody>
          <a:bodyPr vert="horz" wrap="square" lIns="0" tIns="0" rIns="0" bIns="0"/>
          <a:lstStyle/>
          <a:p>
            <a:pPr algn="l" rtl="0" eaLnBrk="0">
              <a:lnSpc>
                <a:spcPct val="197000"/>
              </a:lnSpc>
            </a:pPr>
            <a:endParaRPr sz="100" dirty="0">
              <a:latin typeface="Arial" panose="020B0604020202020204"/>
              <a:ea typeface="Arial" panose="020B0604020202020204"/>
              <a:cs typeface="Arial" panose="020B0604020202020204"/>
            </a:endParaRPr>
          </a:p>
          <a:p>
            <a:pPr marL="83185" algn="l" rtl="0" eaLnBrk="0">
              <a:lnSpc>
                <a:spcPts val="885"/>
              </a:lnSpc>
            </a:pPr>
            <a:r>
              <a:rPr sz="700"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“三高” 基地</a:t>
            </a:r>
            <a:endParaRPr sz="700" dirty="0">
              <a:latin typeface="微软雅黑" panose="020B0503020204020204" charset="-122"/>
              <a:ea typeface="微软雅黑" panose="020B0503020204020204" charset="-122"/>
              <a:cs typeface="微软雅黑" panose="020B0503020204020204" charset="-122"/>
            </a:endParaRPr>
          </a:p>
        </p:txBody>
      </p:sp>
      <p:pic>
        <p:nvPicPr>
          <p:cNvPr id="12" name="picture 1002">
            <a:extLst>
              <a:ext uri="{FF2B5EF4-FFF2-40B4-BE49-F238E27FC236}">
                <a16:creationId xmlns:a16="http://schemas.microsoft.com/office/drawing/2014/main" id="{0BA2A4B9-6A67-0D06-1523-422CBE9BC859}"/>
              </a:ext>
            </a:extLst>
          </p:cNvPr>
          <p:cNvPicPr>
            <a:picLocks noChangeAspect="1"/>
          </p:cNvPicPr>
          <p:nvPr/>
        </p:nvPicPr>
        <p:blipFill>
          <a:blip r:embed="rId5"/>
          <a:stretch>
            <a:fillRect/>
          </a:stretch>
        </p:blipFill>
        <p:spPr>
          <a:xfrm rot="21600000">
            <a:off x="5394627" y="2561102"/>
            <a:ext cx="281537" cy="257056"/>
          </a:xfrm>
          <a:prstGeom prst="rect">
            <a:avLst/>
          </a:prstGeom>
        </p:spPr>
      </p:pic>
      <p:pic>
        <p:nvPicPr>
          <p:cNvPr id="13" name="picture 1004">
            <a:extLst>
              <a:ext uri="{FF2B5EF4-FFF2-40B4-BE49-F238E27FC236}">
                <a16:creationId xmlns:a16="http://schemas.microsoft.com/office/drawing/2014/main" id="{8C8B5830-81AD-B98C-8F8E-CB35A9D040D2}"/>
              </a:ext>
            </a:extLst>
          </p:cNvPr>
          <p:cNvPicPr>
            <a:picLocks noChangeAspect="1"/>
          </p:cNvPicPr>
          <p:nvPr/>
        </p:nvPicPr>
        <p:blipFill>
          <a:blip r:embed="rId6"/>
          <a:stretch>
            <a:fillRect/>
          </a:stretch>
        </p:blipFill>
        <p:spPr>
          <a:xfrm rot="21600000">
            <a:off x="5410072" y="1970303"/>
            <a:ext cx="296405" cy="240004"/>
          </a:xfrm>
          <a:prstGeom prst="rect">
            <a:avLst/>
          </a:prstGeom>
        </p:spPr>
      </p:pic>
      <p:pic>
        <p:nvPicPr>
          <p:cNvPr id="14" name="picture 1006">
            <a:extLst>
              <a:ext uri="{FF2B5EF4-FFF2-40B4-BE49-F238E27FC236}">
                <a16:creationId xmlns:a16="http://schemas.microsoft.com/office/drawing/2014/main" id="{DD0D485B-E933-9C5C-E75F-E6229ADE6B5E}"/>
              </a:ext>
            </a:extLst>
          </p:cNvPr>
          <p:cNvPicPr>
            <a:picLocks noChangeAspect="1"/>
          </p:cNvPicPr>
          <p:nvPr/>
        </p:nvPicPr>
        <p:blipFill>
          <a:blip r:embed="rId7"/>
          <a:stretch>
            <a:fillRect/>
          </a:stretch>
        </p:blipFill>
        <p:spPr>
          <a:xfrm rot="21600000">
            <a:off x="5180457" y="3201035"/>
            <a:ext cx="238886" cy="238886"/>
          </a:xfrm>
          <a:prstGeom prst="rect">
            <a:avLst/>
          </a:prstGeom>
        </p:spPr>
      </p:pic>
      <p:pic>
        <p:nvPicPr>
          <p:cNvPr id="15" name="picture 1008">
            <a:extLst>
              <a:ext uri="{FF2B5EF4-FFF2-40B4-BE49-F238E27FC236}">
                <a16:creationId xmlns:a16="http://schemas.microsoft.com/office/drawing/2014/main" id="{260C0444-42A3-9BA8-48A7-738D561581D8}"/>
              </a:ext>
            </a:extLst>
          </p:cNvPr>
          <p:cNvPicPr>
            <a:picLocks noChangeAspect="1"/>
          </p:cNvPicPr>
          <p:nvPr/>
        </p:nvPicPr>
        <p:blipFill>
          <a:blip r:embed="rId8"/>
          <a:stretch>
            <a:fillRect/>
          </a:stretch>
        </p:blipFill>
        <p:spPr>
          <a:xfrm rot="21600000">
            <a:off x="5666359" y="3207550"/>
            <a:ext cx="232371" cy="232371"/>
          </a:xfrm>
          <a:prstGeom prst="rect">
            <a:avLst/>
          </a:prstGeom>
        </p:spPr>
      </p:pic>
      <p:grpSp>
        <p:nvGrpSpPr>
          <p:cNvPr id="16" name="group 58">
            <a:extLst>
              <a:ext uri="{FF2B5EF4-FFF2-40B4-BE49-F238E27FC236}">
                <a16:creationId xmlns:a16="http://schemas.microsoft.com/office/drawing/2014/main" id="{FDDAF79B-9A94-1C65-6D5B-728C13C280B9}"/>
              </a:ext>
            </a:extLst>
          </p:cNvPr>
          <p:cNvGrpSpPr/>
          <p:nvPr/>
        </p:nvGrpSpPr>
        <p:grpSpPr>
          <a:xfrm rot="21600000">
            <a:off x="5454395" y="3045840"/>
            <a:ext cx="109474" cy="98679"/>
            <a:chOff x="0" y="0"/>
            <a:chExt cx="109474" cy="98679"/>
          </a:xfrm>
        </p:grpSpPr>
        <p:sp>
          <p:nvSpPr>
            <p:cNvPr id="17" name="path 1010">
              <a:extLst>
                <a:ext uri="{FF2B5EF4-FFF2-40B4-BE49-F238E27FC236}">
                  <a16:creationId xmlns:a16="http://schemas.microsoft.com/office/drawing/2014/main" id="{FFA36F56-32C5-EE6B-2B4D-60D81D5C9184}"/>
                </a:ext>
              </a:extLst>
            </p:cNvPr>
            <p:cNvSpPr/>
            <p:nvPr/>
          </p:nvSpPr>
          <p:spPr>
            <a:xfrm>
              <a:off x="12700" y="12700"/>
              <a:ext cx="84074" cy="73279"/>
            </a:xfrm>
            <a:custGeom>
              <a:avLst/>
              <a:gdLst/>
              <a:ahLst/>
              <a:cxnLst/>
              <a:rect l="0" t="0" r="0" b="0"/>
              <a:pathLst>
                <a:path w="132" h="115">
                  <a:moveTo>
                    <a:pt x="0" y="57"/>
                  </a:moveTo>
                  <a:lnTo>
                    <a:pt x="66" y="0"/>
                  </a:lnTo>
                  <a:lnTo>
                    <a:pt x="132" y="57"/>
                  </a:lnTo>
                  <a:lnTo>
                    <a:pt x="99" y="57"/>
                  </a:lnTo>
                  <a:lnTo>
                    <a:pt x="99" y="115"/>
                  </a:lnTo>
                  <a:lnTo>
                    <a:pt x="33" y="115"/>
                  </a:lnTo>
                  <a:lnTo>
                    <a:pt x="33" y="57"/>
                  </a:lnTo>
                  <a:lnTo>
                    <a:pt x="0" y="57"/>
                  </a:lnTo>
                  <a:close/>
                </a:path>
              </a:pathLst>
            </a:custGeom>
            <a:solidFill>
              <a:srgbClr val="73A2BF">
                <a:alpha val="100000"/>
              </a:srgbClr>
            </a:solidFill>
            <a:ln w="0" cap="flat">
              <a:noFill/>
              <a:prstDash val="solid"/>
              <a:miter lim="0"/>
            </a:ln>
          </p:spPr>
          <p:txBody>
            <a:bodyPr rtlCol="0"/>
            <a:lstStyle/>
            <a:p>
              <a:pPr algn="ctr"/>
              <a:endParaRPr lang="zh-CN" altLang="en-US"/>
            </a:p>
          </p:txBody>
        </p:sp>
        <p:sp>
          <p:nvSpPr>
            <p:cNvPr id="18" name="path 1012">
              <a:extLst>
                <a:ext uri="{FF2B5EF4-FFF2-40B4-BE49-F238E27FC236}">
                  <a16:creationId xmlns:a16="http://schemas.microsoft.com/office/drawing/2014/main" id="{3F909288-7BFF-1D44-38EF-9E158C8712AE}"/>
                </a:ext>
              </a:extLst>
            </p:cNvPr>
            <p:cNvSpPr/>
            <p:nvPr/>
          </p:nvSpPr>
          <p:spPr>
            <a:xfrm>
              <a:off x="0" y="0"/>
              <a:ext cx="109474" cy="98679"/>
            </a:xfrm>
            <a:custGeom>
              <a:avLst/>
              <a:gdLst/>
              <a:ahLst/>
              <a:cxnLst/>
              <a:rect l="0" t="0" r="0" b="0"/>
              <a:pathLst>
                <a:path w="172" h="155">
                  <a:moveTo>
                    <a:pt x="20" y="77"/>
                  </a:moveTo>
                  <a:lnTo>
                    <a:pt x="86" y="20"/>
                  </a:lnTo>
                  <a:lnTo>
                    <a:pt x="152" y="77"/>
                  </a:lnTo>
                  <a:lnTo>
                    <a:pt x="119" y="77"/>
                  </a:lnTo>
                  <a:lnTo>
                    <a:pt x="119" y="135"/>
                  </a:lnTo>
                  <a:lnTo>
                    <a:pt x="53" y="135"/>
                  </a:lnTo>
                  <a:lnTo>
                    <a:pt x="53" y="77"/>
                  </a:lnTo>
                  <a:lnTo>
                    <a:pt x="20" y="77"/>
                  </a:lnTo>
                  <a:close/>
                </a:path>
              </a:pathLst>
            </a:custGeom>
            <a:noFill/>
            <a:ln w="25400" cap="flat">
              <a:solidFill>
                <a:srgbClr val="73A2BF"/>
              </a:solidFill>
              <a:prstDash val="solid"/>
              <a:miter lim="1000000"/>
            </a:ln>
          </p:spPr>
          <p:txBody>
            <a:bodyPr rtlCol="0"/>
            <a:lstStyle/>
            <a:p>
              <a:pPr algn="ctr"/>
              <a:endParaRPr lang="zh-CN" altLang="en-US"/>
            </a:p>
          </p:txBody>
        </p:sp>
      </p:grpSp>
      <p:grpSp>
        <p:nvGrpSpPr>
          <p:cNvPr id="19" name="group 60">
            <a:extLst>
              <a:ext uri="{FF2B5EF4-FFF2-40B4-BE49-F238E27FC236}">
                <a16:creationId xmlns:a16="http://schemas.microsoft.com/office/drawing/2014/main" id="{2263C185-0597-D735-6DD6-56D9FF273F69}"/>
              </a:ext>
            </a:extLst>
          </p:cNvPr>
          <p:cNvGrpSpPr/>
          <p:nvPr/>
        </p:nvGrpSpPr>
        <p:grpSpPr>
          <a:xfrm rot="21600000">
            <a:off x="5472175" y="2410967"/>
            <a:ext cx="109474" cy="98552"/>
            <a:chOff x="0" y="0"/>
            <a:chExt cx="109474" cy="98552"/>
          </a:xfrm>
        </p:grpSpPr>
        <p:sp>
          <p:nvSpPr>
            <p:cNvPr id="20" name="path 1014">
              <a:extLst>
                <a:ext uri="{FF2B5EF4-FFF2-40B4-BE49-F238E27FC236}">
                  <a16:creationId xmlns:a16="http://schemas.microsoft.com/office/drawing/2014/main" id="{7F2C50B1-817E-C757-7267-E42FBD2F0013}"/>
                </a:ext>
              </a:extLst>
            </p:cNvPr>
            <p:cNvSpPr/>
            <p:nvPr/>
          </p:nvSpPr>
          <p:spPr>
            <a:xfrm>
              <a:off x="12700" y="12700"/>
              <a:ext cx="84074" cy="73152"/>
            </a:xfrm>
            <a:custGeom>
              <a:avLst/>
              <a:gdLst/>
              <a:ahLst/>
              <a:cxnLst/>
              <a:rect l="0" t="0" r="0" b="0"/>
              <a:pathLst>
                <a:path w="132" h="115">
                  <a:moveTo>
                    <a:pt x="0" y="57"/>
                  </a:moveTo>
                  <a:lnTo>
                    <a:pt x="66" y="0"/>
                  </a:lnTo>
                  <a:lnTo>
                    <a:pt x="132" y="57"/>
                  </a:lnTo>
                  <a:lnTo>
                    <a:pt x="99" y="57"/>
                  </a:lnTo>
                  <a:lnTo>
                    <a:pt x="99" y="115"/>
                  </a:lnTo>
                  <a:lnTo>
                    <a:pt x="33" y="115"/>
                  </a:lnTo>
                  <a:lnTo>
                    <a:pt x="33" y="57"/>
                  </a:lnTo>
                  <a:lnTo>
                    <a:pt x="0" y="57"/>
                  </a:lnTo>
                  <a:close/>
                </a:path>
              </a:pathLst>
            </a:custGeom>
            <a:solidFill>
              <a:srgbClr val="73A2BF">
                <a:alpha val="100000"/>
              </a:srgbClr>
            </a:solidFill>
            <a:ln w="0" cap="flat">
              <a:noFill/>
              <a:prstDash val="solid"/>
              <a:miter lim="0"/>
            </a:ln>
          </p:spPr>
          <p:txBody>
            <a:bodyPr rtlCol="0"/>
            <a:lstStyle/>
            <a:p>
              <a:pPr algn="ctr"/>
              <a:endParaRPr lang="zh-CN" altLang="en-US"/>
            </a:p>
          </p:txBody>
        </p:sp>
        <p:sp>
          <p:nvSpPr>
            <p:cNvPr id="21" name="path 1016">
              <a:extLst>
                <a:ext uri="{FF2B5EF4-FFF2-40B4-BE49-F238E27FC236}">
                  <a16:creationId xmlns:a16="http://schemas.microsoft.com/office/drawing/2014/main" id="{2ABFA075-8139-3361-4B82-F40CC4F6164B}"/>
                </a:ext>
              </a:extLst>
            </p:cNvPr>
            <p:cNvSpPr/>
            <p:nvPr/>
          </p:nvSpPr>
          <p:spPr>
            <a:xfrm>
              <a:off x="0" y="0"/>
              <a:ext cx="109474" cy="98552"/>
            </a:xfrm>
            <a:custGeom>
              <a:avLst/>
              <a:gdLst/>
              <a:ahLst/>
              <a:cxnLst/>
              <a:rect l="0" t="0" r="0" b="0"/>
              <a:pathLst>
                <a:path w="172" h="155">
                  <a:moveTo>
                    <a:pt x="20" y="77"/>
                  </a:moveTo>
                  <a:lnTo>
                    <a:pt x="86" y="20"/>
                  </a:lnTo>
                  <a:lnTo>
                    <a:pt x="152" y="77"/>
                  </a:lnTo>
                  <a:lnTo>
                    <a:pt x="119" y="77"/>
                  </a:lnTo>
                  <a:lnTo>
                    <a:pt x="119" y="135"/>
                  </a:lnTo>
                  <a:lnTo>
                    <a:pt x="53" y="135"/>
                  </a:lnTo>
                  <a:lnTo>
                    <a:pt x="53" y="77"/>
                  </a:lnTo>
                  <a:lnTo>
                    <a:pt x="20" y="77"/>
                  </a:lnTo>
                  <a:close/>
                </a:path>
              </a:pathLst>
            </a:custGeom>
            <a:noFill/>
            <a:ln w="25400" cap="flat">
              <a:solidFill>
                <a:srgbClr val="73A2BF"/>
              </a:solidFill>
              <a:prstDash val="solid"/>
              <a:miter lim="1000000"/>
            </a:ln>
          </p:spPr>
          <p:txBody>
            <a:bodyPr rtlCol="0"/>
            <a:lstStyle/>
            <a:p>
              <a:pPr algn="ctr"/>
              <a:endParaRPr lang="zh-CN" altLang="en-US"/>
            </a:p>
          </p:txBody>
        </p:sp>
      </p:grpSp>
    </p:spTree>
    <p:extLst>
      <p:ext uri="{BB962C8B-B14F-4D97-AF65-F5344CB8AC3E}">
        <p14:creationId xmlns:p14="http://schemas.microsoft.com/office/powerpoint/2010/main" val="2755866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D2C28-0B4C-107B-C1A5-0B2DDB3F434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DC99E7-433A-4AA8-DE37-99712560BD6C}"/>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德清基层动态心电筛查</a:t>
            </a:r>
          </a:p>
        </p:txBody>
      </p:sp>
      <p:sp>
        <p:nvSpPr>
          <p:cNvPr id="22" name="矩形 21">
            <a:extLst>
              <a:ext uri="{FF2B5EF4-FFF2-40B4-BE49-F238E27FC236}">
                <a16:creationId xmlns:a16="http://schemas.microsoft.com/office/drawing/2014/main" id="{D52DE43C-38AA-B16E-9EF8-FE598D4B6B9F}"/>
              </a:ext>
            </a:extLst>
          </p:cNvPr>
          <p:cNvSpPr/>
          <p:nvPr/>
        </p:nvSpPr>
        <p:spPr>
          <a:xfrm>
            <a:off x="710565" y="1402715"/>
            <a:ext cx="3916680" cy="501650"/>
          </a:xfrm>
          <a:prstGeom prst="rect">
            <a:avLst/>
          </a:prstGeom>
          <a:solidFill>
            <a:srgbClr val="A1E0F0">
              <a:alpha val="42000"/>
            </a:srgbClr>
          </a:soli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1350" b="1" dirty="0">
              <a:solidFill>
                <a:schemeClr val="tx1"/>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8375FF55-97CC-E448-0EDF-92C5F6927479}"/>
              </a:ext>
            </a:extLst>
          </p:cNvPr>
          <p:cNvSpPr/>
          <p:nvPr/>
        </p:nvSpPr>
        <p:spPr>
          <a:xfrm>
            <a:off x="703580" y="1999615"/>
            <a:ext cx="2115820" cy="593090"/>
          </a:xfrm>
          <a:prstGeom prst="rect">
            <a:avLst/>
          </a:prstGeom>
          <a:solidFill>
            <a:srgbClr val="E9F3FC"/>
          </a:soli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1350" b="1" dirty="0">
              <a:solidFill>
                <a:schemeClr val="tx1"/>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A3192E7B-61E7-AFEA-493C-372CB3CBED72}"/>
              </a:ext>
            </a:extLst>
          </p:cNvPr>
          <p:cNvSpPr/>
          <p:nvPr/>
        </p:nvSpPr>
        <p:spPr>
          <a:xfrm>
            <a:off x="349626" y="843558"/>
            <a:ext cx="8326829" cy="526811"/>
          </a:xfrm>
          <a:prstGeom prst="rect">
            <a:avLst/>
          </a:prstGeom>
        </p:spPr>
        <p:txBody>
          <a:bodyPr wrap="square">
            <a:spAutoFit/>
          </a:bodyPr>
          <a:lstStyle/>
          <a:p>
            <a:pPr marL="9525">
              <a:lnSpc>
                <a:spcPct val="150000"/>
              </a:lnSpc>
              <a:spcBef>
                <a:spcPts val="470"/>
              </a:spcBef>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在浙江省湖州市德清县，继</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2021</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月份开始使用心电贴做基层体检诊断筛查后，</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2022</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月开始</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使用长程动态心电贴代替传统的常规十二导心电图机，</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配合全民体检做居民心脏健康筛查，覆盖了近</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万居民，实现了</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24</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种心律失常的筛查</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，极大提高了隐匿性房颤的检出率</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5" name="组合 24">
            <a:extLst>
              <a:ext uri="{FF2B5EF4-FFF2-40B4-BE49-F238E27FC236}">
                <a16:creationId xmlns:a16="http://schemas.microsoft.com/office/drawing/2014/main" id="{4067250E-62B0-5435-0DB7-C18D06A3CB4F}"/>
              </a:ext>
            </a:extLst>
          </p:cNvPr>
          <p:cNvGrpSpPr/>
          <p:nvPr/>
        </p:nvGrpSpPr>
        <p:grpSpPr>
          <a:xfrm>
            <a:off x="5377180" y="1469390"/>
            <a:ext cx="2959100" cy="2700020"/>
            <a:chOff x="8662" y="2775"/>
            <a:chExt cx="4660" cy="4252"/>
          </a:xfrm>
        </p:grpSpPr>
        <p:sp>
          <p:nvSpPr>
            <p:cNvPr id="26" name="圆角矩形 3">
              <a:extLst>
                <a:ext uri="{FF2B5EF4-FFF2-40B4-BE49-F238E27FC236}">
                  <a16:creationId xmlns:a16="http://schemas.microsoft.com/office/drawing/2014/main" id="{7DE5C154-4090-AE2C-A60E-2BD3D04DD4D2}"/>
                </a:ext>
              </a:extLst>
            </p:cNvPr>
            <p:cNvSpPr/>
            <p:nvPr/>
          </p:nvSpPr>
          <p:spPr>
            <a:xfrm>
              <a:off x="8674" y="6091"/>
              <a:ext cx="4649" cy="794"/>
            </a:xfrm>
            <a:prstGeom prst="roundRect">
              <a:avLst/>
            </a:prstGeom>
            <a:solidFill>
              <a:srgbClr val="2A86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C667B054-3C21-90F5-B2FA-A667A4B3B836}"/>
                </a:ext>
              </a:extLst>
            </p:cNvPr>
            <p:cNvPicPr>
              <a:picLocks noChangeAspect="1"/>
            </p:cNvPicPr>
            <p:nvPr/>
          </p:nvPicPr>
          <p:blipFill>
            <a:blip r:embed="rId3" cstate="print"/>
            <a:stretch>
              <a:fillRect/>
            </a:stretch>
          </p:blipFill>
          <p:spPr>
            <a:xfrm>
              <a:off x="8674" y="2775"/>
              <a:ext cx="1432" cy="1074"/>
            </a:xfrm>
            <a:prstGeom prst="roundRect">
              <a:avLst>
                <a:gd name="adj" fmla="val 8594"/>
              </a:avLst>
            </a:prstGeom>
            <a:solidFill>
              <a:srgbClr val="FFFFFF">
                <a:shade val="85000"/>
              </a:srgbClr>
            </a:solidFill>
            <a:ln>
              <a:noFill/>
            </a:ln>
            <a:effectLst/>
          </p:spPr>
        </p:pic>
        <p:pic>
          <p:nvPicPr>
            <p:cNvPr id="28" name="图片 27">
              <a:extLst>
                <a:ext uri="{FF2B5EF4-FFF2-40B4-BE49-F238E27FC236}">
                  <a16:creationId xmlns:a16="http://schemas.microsoft.com/office/drawing/2014/main" id="{2681466F-65A2-D236-4E27-A1912DB08E23}"/>
                </a:ext>
              </a:extLst>
            </p:cNvPr>
            <p:cNvPicPr>
              <a:picLocks noChangeAspect="1"/>
            </p:cNvPicPr>
            <p:nvPr/>
          </p:nvPicPr>
          <p:blipFill rotWithShape="1">
            <a:blip r:embed="rId4" cstate="print"/>
            <a:srcRect l="16364" t="5071" r="24293" b="4225"/>
            <a:stretch>
              <a:fillRect/>
            </a:stretch>
          </p:blipFill>
          <p:spPr>
            <a:xfrm>
              <a:off x="8662" y="3937"/>
              <a:ext cx="1013" cy="2066"/>
            </a:xfrm>
            <a:prstGeom prst="roundRect">
              <a:avLst>
                <a:gd name="adj" fmla="val 8594"/>
              </a:avLst>
            </a:prstGeom>
            <a:solidFill>
              <a:srgbClr val="FFFFFF">
                <a:shade val="85000"/>
              </a:srgbClr>
            </a:solidFill>
            <a:ln>
              <a:noFill/>
            </a:ln>
            <a:effectLst/>
          </p:spPr>
        </p:pic>
        <p:pic>
          <p:nvPicPr>
            <p:cNvPr id="29" name="图片 28">
              <a:extLst>
                <a:ext uri="{FF2B5EF4-FFF2-40B4-BE49-F238E27FC236}">
                  <a16:creationId xmlns:a16="http://schemas.microsoft.com/office/drawing/2014/main" id="{6FEC910F-0540-064E-0481-2F1199A21324}"/>
                </a:ext>
              </a:extLst>
            </p:cNvPr>
            <p:cNvPicPr>
              <a:picLocks noChangeAspect="1"/>
            </p:cNvPicPr>
            <p:nvPr/>
          </p:nvPicPr>
          <p:blipFill>
            <a:blip r:embed="rId5" cstate="print"/>
            <a:stretch>
              <a:fillRect/>
            </a:stretch>
          </p:blipFill>
          <p:spPr>
            <a:xfrm>
              <a:off x="11759" y="2775"/>
              <a:ext cx="1461" cy="1097"/>
            </a:xfrm>
            <a:prstGeom prst="roundRect">
              <a:avLst>
                <a:gd name="adj" fmla="val 8594"/>
              </a:avLst>
            </a:prstGeom>
            <a:solidFill>
              <a:srgbClr val="FFFFFF">
                <a:shade val="85000"/>
              </a:srgbClr>
            </a:solidFill>
            <a:ln>
              <a:noFill/>
            </a:ln>
            <a:effectLst/>
          </p:spPr>
        </p:pic>
        <p:pic>
          <p:nvPicPr>
            <p:cNvPr id="30" name="图片 29">
              <a:extLst>
                <a:ext uri="{FF2B5EF4-FFF2-40B4-BE49-F238E27FC236}">
                  <a16:creationId xmlns:a16="http://schemas.microsoft.com/office/drawing/2014/main" id="{277BFCAB-F2D7-E903-C9A8-433FAC42E5D8}"/>
                </a:ext>
              </a:extLst>
            </p:cNvPr>
            <p:cNvPicPr>
              <a:picLocks noChangeAspect="1"/>
            </p:cNvPicPr>
            <p:nvPr/>
          </p:nvPicPr>
          <p:blipFill>
            <a:blip r:embed="rId6" cstate="print"/>
            <a:stretch>
              <a:fillRect/>
            </a:stretch>
          </p:blipFill>
          <p:spPr>
            <a:xfrm>
              <a:off x="10219" y="2775"/>
              <a:ext cx="1427" cy="1071"/>
            </a:xfrm>
            <a:prstGeom prst="roundRect">
              <a:avLst>
                <a:gd name="adj" fmla="val 8594"/>
              </a:avLst>
            </a:prstGeom>
            <a:solidFill>
              <a:srgbClr val="FFFFFF">
                <a:shade val="85000"/>
              </a:srgbClr>
            </a:solidFill>
            <a:ln>
              <a:noFill/>
            </a:ln>
            <a:effectLst/>
          </p:spPr>
        </p:pic>
        <p:pic>
          <p:nvPicPr>
            <p:cNvPr id="31" name="图片 30" descr="桌子上的电脑和手机&#10;&#10;描述已自动生成">
              <a:extLst>
                <a:ext uri="{FF2B5EF4-FFF2-40B4-BE49-F238E27FC236}">
                  <a16:creationId xmlns:a16="http://schemas.microsoft.com/office/drawing/2014/main" id="{D629DEC0-08D0-2C9C-8C70-64253121D5A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2139" t="12394" r="2510" b="28014"/>
            <a:stretch>
              <a:fillRect/>
            </a:stretch>
          </p:blipFill>
          <p:spPr>
            <a:xfrm>
              <a:off x="9811" y="3937"/>
              <a:ext cx="1699" cy="2066"/>
            </a:xfrm>
            <a:prstGeom prst="roundRect">
              <a:avLst>
                <a:gd name="adj" fmla="val 8594"/>
              </a:avLst>
            </a:prstGeom>
            <a:solidFill>
              <a:srgbClr val="FFFFFF">
                <a:shade val="85000"/>
              </a:srgbClr>
            </a:solidFill>
            <a:ln>
              <a:noFill/>
            </a:ln>
            <a:effectLst/>
          </p:spPr>
        </p:pic>
        <p:pic>
          <p:nvPicPr>
            <p:cNvPr id="32" name="图片 31">
              <a:extLst>
                <a:ext uri="{FF2B5EF4-FFF2-40B4-BE49-F238E27FC236}">
                  <a16:creationId xmlns:a16="http://schemas.microsoft.com/office/drawing/2014/main" id="{CBD3D01A-E718-D888-65F3-268217C2DE05}"/>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11616" y="3944"/>
              <a:ext cx="1602" cy="2066"/>
            </a:xfrm>
            <a:prstGeom prst="roundRect">
              <a:avLst>
                <a:gd name="adj" fmla="val 8594"/>
              </a:avLst>
            </a:prstGeom>
            <a:solidFill>
              <a:srgbClr val="FFFFFF">
                <a:shade val="85000"/>
              </a:srgbClr>
            </a:solidFill>
            <a:ln>
              <a:noFill/>
            </a:ln>
            <a:effectLst/>
          </p:spPr>
        </p:pic>
        <p:sp>
          <p:nvSpPr>
            <p:cNvPr id="33" name="文本框 32">
              <a:extLst>
                <a:ext uri="{FF2B5EF4-FFF2-40B4-BE49-F238E27FC236}">
                  <a16:creationId xmlns:a16="http://schemas.microsoft.com/office/drawing/2014/main" id="{F6CBED38-082C-12CF-CC09-E4DDA3961EFF}"/>
                </a:ext>
              </a:extLst>
            </p:cNvPr>
            <p:cNvSpPr txBox="1"/>
            <p:nvPr/>
          </p:nvSpPr>
          <p:spPr>
            <a:xfrm>
              <a:off x="8864" y="6091"/>
              <a:ext cx="4346" cy="937"/>
            </a:xfrm>
            <a:prstGeom prst="rect">
              <a:avLst/>
            </a:prstGeom>
            <a:noFill/>
          </p:spPr>
          <p:txBody>
            <a:bodyPr wrap="square" rtlCol="0" anchor="t">
              <a:noAutofit/>
            </a:bodyPr>
            <a:lstStyle/>
            <a:p>
              <a:pPr algn="ctr">
                <a:lnSpc>
                  <a:spcPct val="120000"/>
                </a:lnSpc>
              </a:pPr>
              <a:r>
                <a:rPr kumimoji="1" lang="zh-CN" altLang="en-US" sz="1000" dirty="0">
                  <a:solidFill>
                    <a:schemeClr val="bg1"/>
                  </a:solidFill>
                  <a:latin typeface="微软雅黑" panose="020B0503020204020204" pitchFamily="34" charset="-122"/>
                  <a:ea typeface="微软雅黑" panose="020B0503020204020204" pitchFamily="34" charset="-122"/>
                  <a:sym typeface="+mn-ea"/>
                </a:rPr>
                <a:t>湖州市德清县的王母山社区卫生站</a:t>
              </a:r>
            </a:p>
            <a:p>
              <a:pPr algn="ctr">
                <a:lnSpc>
                  <a:spcPct val="120000"/>
                </a:lnSpc>
              </a:pPr>
              <a:r>
                <a:rPr kumimoji="1" lang="zh-CN" altLang="en-US" sz="1000" dirty="0">
                  <a:solidFill>
                    <a:schemeClr val="bg1"/>
                  </a:solidFill>
                  <a:latin typeface="微软雅黑" panose="020B0503020204020204" pitchFamily="34" charset="-122"/>
                  <a:ea typeface="微软雅黑" panose="020B0503020204020204" pitchFamily="34" charset="-122"/>
                  <a:sym typeface="+mn-ea"/>
                </a:rPr>
                <a:t>心电贴佩戴现场</a:t>
              </a:r>
            </a:p>
          </p:txBody>
        </p:sp>
      </p:grpSp>
      <p:graphicFrame>
        <p:nvGraphicFramePr>
          <p:cNvPr id="34" name="object 8">
            <a:extLst>
              <a:ext uri="{FF2B5EF4-FFF2-40B4-BE49-F238E27FC236}">
                <a16:creationId xmlns:a16="http://schemas.microsoft.com/office/drawing/2014/main" id="{AC5E9D6D-E66F-4592-8283-AF230A297907}"/>
              </a:ext>
            </a:extLst>
          </p:cNvPr>
          <p:cNvGraphicFramePr>
            <a:graphicFrameLocks noGrp="1"/>
          </p:cNvGraphicFramePr>
          <p:nvPr>
            <p:extLst>
              <p:ext uri="{D42A27DB-BD31-4B8C-83A1-F6EECF244321}">
                <p14:modId xmlns:p14="http://schemas.microsoft.com/office/powerpoint/2010/main" val="2548538041"/>
              </p:ext>
            </p:extLst>
          </p:nvPr>
        </p:nvGraphicFramePr>
        <p:xfrm>
          <a:off x="710286" y="2688224"/>
          <a:ext cx="2114824" cy="1445214"/>
        </p:xfrm>
        <a:graphic>
          <a:graphicData uri="http://schemas.openxmlformats.org/drawingml/2006/table">
            <a:tbl>
              <a:tblPr firstRow="1" bandRow="1">
                <a:tableStyleId>{2D5ABB26-0587-4C30-8999-92F81FD0307C}</a:tableStyleId>
              </a:tblPr>
              <a:tblGrid>
                <a:gridCol w="545761">
                  <a:extLst>
                    <a:ext uri="{9D8B030D-6E8A-4147-A177-3AD203B41FA5}">
                      <a16:colId xmlns:a16="http://schemas.microsoft.com/office/drawing/2014/main" val="20000"/>
                    </a:ext>
                  </a:extLst>
                </a:gridCol>
                <a:gridCol w="545761">
                  <a:extLst>
                    <a:ext uri="{9D8B030D-6E8A-4147-A177-3AD203B41FA5}">
                      <a16:colId xmlns:a16="http://schemas.microsoft.com/office/drawing/2014/main" val="20001"/>
                    </a:ext>
                  </a:extLst>
                </a:gridCol>
                <a:gridCol w="1023302">
                  <a:extLst>
                    <a:ext uri="{9D8B030D-6E8A-4147-A177-3AD203B41FA5}">
                      <a16:colId xmlns:a16="http://schemas.microsoft.com/office/drawing/2014/main" val="20002"/>
                    </a:ext>
                  </a:extLst>
                </a:gridCol>
              </a:tblGrid>
              <a:tr h="163164">
                <a:tc gridSpan="3">
                  <a:txBody>
                    <a:bodyPr/>
                    <a:lstStyle/>
                    <a:p>
                      <a:pPr marL="5715" algn="ctr">
                        <a:lnSpc>
                          <a:spcPct val="100000"/>
                        </a:lnSpc>
                        <a:spcBef>
                          <a:spcPts val="140"/>
                        </a:spcBef>
                      </a:pPr>
                      <a:r>
                        <a:rPr sz="800" b="1" kern="1200" dirty="0">
                          <a:solidFill>
                            <a:srgbClr val="166191"/>
                          </a:solidFill>
                          <a:latin typeface="微软雅黑" panose="020B0503020204020204" pitchFamily="34" charset="-122"/>
                          <a:ea typeface="+mn-ea"/>
                          <a:cs typeface="微软雅黑" panose="020B0503020204020204" pitchFamily="34" charset="-122"/>
                        </a:rPr>
                        <a:t>高龄房颤</a:t>
                      </a:r>
                    </a:p>
                  </a:txBody>
                  <a:tcPr marL="0" marR="0" marT="10892"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ADD1F2"/>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0"/>
                  </a:ext>
                </a:extLst>
              </a:tr>
              <a:tr h="142240">
                <a:tc gridSpan="3">
                  <a:txBody>
                    <a:bodyPr/>
                    <a:lstStyle/>
                    <a:p>
                      <a:pPr marL="705485">
                        <a:lnSpc>
                          <a:spcPct val="100000"/>
                        </a:lnSpc>
                        <a:spcBef>
                          <a:spcPts val="110"/>
                        </a:spcBef>
                      </a:pPr>
                      <a:r>
                        <a:rPr sz="700" b="1" spc="-1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rPr>
                        <a:t>60-69</a:t>
                      </a:r>
                      <a:r>
                        <a:rPr sz="700" b="1"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年龄段房颤</a:t>
                      </a:r>
                    </a:p>
                  </a:txBody>
                  <a:tcPr marL="0" marR="0" marT="855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E9F3FC"/>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1"/>
                  </a:ext>
                </a:extLst>
              </a:tr>
              <a:tr h="142240">
                <a:tc>
                  <a:txBody>
                    <a:bodyPr/>
                    <a:lstStyle/>
                    <a:p>
                      <a:pPr marL="5715" algn="ctr">
                        <a:lnSpc>
                          <a:spcPct val="100000"/>
                        </a:lnSpc>
                        <a:spcBef>
                          <a:spcPts val="10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查出量</a:t>
                      </a:r>
                    </a:p>
                  </a:txBody>
                  <a:tcPr marL="0" marR="0" marT="816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3505" algn="ctr">
                        <a:lnSpc>
                          <a:spcPct val="100000"/>
                        </a:lnSpc>
                        <a:spcBef>
                          <a:spcPts val="10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总人数</a:t>
                      </a:r>
                      <a:endParaRPr sz="70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816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5715" algn="ctr">
                        <a:lnSpc>
                          <a:spcPct val="100000"/>
                        </a:lnSpc>
                        <a:spcBef>
                          <a:spcPts val="10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比例</a:t>
                      </a:r>
                    </a:p>
                  </a:txBody>
                  <a:tcPr marL="0" marR="0" marT="816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2"/>
                  </a:ext>
                </a:extLst>
              </a:tr>
              <a:tr h="142555">
                <a:tc>
                  <a:txBody>
                    <a:bodyPr/>
                    <a:lstStyle/>
                    <a:p>
                      <a:pPr marL="5715" algn="ctr">
                        <a:lnSpc>
                          <a:spcPct val="100000"/>
                        </a:lnSpc>
                        <a:spcBef>
                          <a:spcPts val="10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414</a:t>
                      </a:r>
                    </a:p>
                  </a:txBody>
                  <a:tcPr marL="0" marR="0" marT="7780"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255" algn="ctr">
                        <a:lnSpc>
                          <a:spcPct val="100000"/>
                        </a:lnSpc>
                        <a:spcBef>
                          <a:spcPts val="10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36767</a:t>
                      </a:r>
                      <a:endParaRPr sz="70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7780"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5715" algn="ctr">
                        <a:lnSpc>
                          <a:spcPct val="100000"/>
                        </a:lnSpc>
                        <a:spcBef>
                          <a:spcPts val="10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1.13%</a:t>
                      </a:r>
                    </a:p>
                  </a:txBody>
                  <a:tcPr marL="0" marR="0" marT="7780"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3"/>
                  </a:ext>
                </a:extLst>
              </a:tr>
              <a:tr h="142555">
                <a:tc gridSpan="3">
                  <a:txBody>
                    <a:bodyPr/>
                    <a:lstStyle/>
                    <a:p>
                      <a:pPr marL="705485" algn="l">
                        <a:lnSpc>
                          <a:spcPct val="100000"/>
                        </a:lnSpc>
                        <a:spcBef>
                          <a:spcPts val="95"/>
                        </a:spcBef>
                      </a:pPr>
                      <a:r>
                        <a:rPr sz="700" b="1" spc="-1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rPr>
                        <a:t>70-79</a:t>
                      </a:r>
                      <a:r>
                        <a:rPr sz="700" b="1"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年龄段房颤</a:t>
                      </a:r>
                    </a:p>
                  </a:txBody>
                  <a:tcPr marL="0" marR="0" marT="7392"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E9F3FC"/>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4"/>
                  </a:ext>
                </a:extLst>
              </a:tr>
              <a:tr h="142555">
                <a:tc>
                  <a:txBody>
                    <a:bodyPr/>
                    <a:lstStyle/>
                    <a:p>
                      <a:pPr marL="5715" algn="ctr">
                        <a:lnSpc>
                          <a:spcPct val="100000"/>
                        </a:lnSpc>
                        <a:spcBef>
                          <a:spcPts val="9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查出量</a:t>
                      </a:r>
                    </a:p>
                  </a:txBody>
                  <a:tcPr marL="0" marR="0" marT="7392"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3505" algn="ctr">
                        <a:lnSpc>
                          <a:spcPct val="100000"/>
                        </a:lnSpc>
                        <a:spcBef>
                          <a:spcPts val="9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总人数</a:t>
                      </a:r>
                      <a:endParaRPr sz="70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7392"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5715" algn="ctr">
                        <a:lnSpc>
                          <a:spcPct val="100000"/>
                        </a:lnSpc>
                        <a:spcBef>
                          <a:spcPts val="9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比例</a:t>
                      </a:r>
                    </a:p>
                  </a:txBody>
                  <a:tcPr marL="0" marR="0" marT="7392"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5"/>
                  </a:ext>
                </a:extLst>
              </a:tr>
              <a:tr h="142555">
                <a:tc>
                  <a:txBody>
                    <a:bodyPr/>
                    <a:lstStyle/>
                    <a:p>
                      <a:pPr marL="5715" algn="ctr">
                        <a:lnSpc>
                          <a:spcPct val="100000"/>
                        </a:lnSpc>
                        <a:spcBef>
                          <a:spcPts val="9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859</a:t>
                      </a:r>
                    </a:p>
                  </a:txBody>
                  <a:tcPr marL="0" marR="0" marT="7003"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255" algn="ctr">
                        <a:lnSpc>
                          <a:spcPct val="100000"/>
                        </a:lnSpc>
                        <a:spcBef>
                          <a:spcPts val="9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26225</a:t>
                      </a:r>
                      <a:endParaRPr sz="70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7003"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5715" algn="ctr">
                        <a:lnSpc>
                          <a:spcPct val="100000"/>
                        </a:lnSpc>
                        <a:spcBef>
                          <a:spcPts val="9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3.28%</a:t>
                      </a:r>
                    </a:p>
                  </a:txBody>
                  <a:tcPr marL="0" marR="0" marT="7003"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6"/>
                  </a:ext>
                </a:extLst>
              </a:tr>
              <a:tr h="142240">
                <a:tc gridSpan="3">
                  <a:txBody>
                    <a:bodyPr/>
                    <a:lstStyle/>
                    <a:p>
                      <a:pPr marL="759460">
                        <a:lnSpc>
                          <a:spcPct val="100000"/>
                        </a:lnSpc>
                        <a:spcBef>
                          <a:spcPts val="110"/>
                        </a:spcBef>
                      </a:pPr>
                      <a:r>
                        <a:rPr sz="700" b="1" spc="-1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rPr>
                        <a:t>&gt;80</a:t>
                      </a:r>
                      <a:r>
                        <a:rPr sz="700" b="1"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年龄段房颤</a:t>
                      </a:r>
                    </a:p>
                  </a:txBody>
                  <a:tcPr marL="0" marR="0" marT="855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E9F3FC"/>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7"/>
                  </a:ext>
                </a:extLst>
              </a:tr>
              <a:tr h="142555">
                <a:tc>
                  <a:txBody>
                    <a:bodyPr/>
                    <a:lstStyle/>
                    <a:p>
                      <a:pPr marL="5715" algn="ctr">
                        <a:lnSpc>
                          <a:spcPct val="100000"/>
                        </a:lnSpc>
                        <a:spcBef>
                          <a:spcPts val="10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查出量</a:t>
                      </a:r>
                      <a:endParaRPr sz="70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816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3505" algn="ctr">
                        <a:lnSpc>
                          <a:spcPct val="100000"/>
                        </a:lnSpc>
                        <a:spcBef>
                          <a:spcPts val="10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总人数</a:t>
                      </a:r>
                    </a:p>
                  </a:txBody>
                  <a:tcPr marL="0" marR="0" marT="816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5715" algn="ctr">
                        <a:lnSpc>
                          <a:spcPct val="100000"/>
                        </a:lnSpc>
                        <a:spcBef>
                          <a:spcPts val="105"/>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比例</a:t>
                      </a:r>
                    </a:p>
                  </a:txBody>
                  <a:tcPr marL="0" marR="0" marT="8169"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8"/>
                  </a:ext>
                </a:extLst>
              </a:tr>
              <a:tr h="142555">
                <a:tc>
                  <a:txBody>
                    <a:bodyPr/>
                    <a:lstStyle/>
                    <a:p>
                      <a:pPr marL="5715" algn="ctr">
                        <a:lnSpc>
                          <a:spcPct val="100000"/>
                        </a:lnSpc>
                        <a:spcBef>
                          <a:spcPts val="10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467</a:t>
                      </a:r>
                    </a:p>
                  </a:txBody>
                  <a:tcPr marL="0" marR="0" marT="7780"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80340" algn="l">
                        <a:lnSpc>
                          <a:spcPct val="100000"/>
                        </a:lnSpc>
                        <a:spcBef>
                          <a:spcPts val="10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6653</a:t>
                      </a:r>
                      <a:endParaRPr sz="70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7780"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5715" algn="ctr">
                        <a:lnSpc>
                          <a:spcPct val="100000"/>
                        </a:lnSpc>
                        <a:spcBef>
                          <a:spcPts val="100"/>
                        </a:spcBef>
                      </a:pPr>
                      <a:r>
                        <a:rPr sz="70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7.02%</a:t>
                      </a:r>
                    </a:p>
                  </a:txBody>
                  <a:tcPr marL="0" marR="0" marT="7780"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9"/>
                  </a:ext>
                </a:extLst>
              </a:tr>
            </a:tbl>
          </a:graphicData>
        </a:graphic>
      </p:graphicFrame>
      <p:sp>
        <p:nvSpPr>
          <p:cNvPr id="35" name="object 9">
            <a:extLst>
              <a:ext uri="{FF2B5EF4-FFF2-40B4-BE49-F238E27FC236}">
                <a16:creationId xmlns:a16="http://schemas.microsoft.com/office/drawing/2014/main" id="{05A6B743-B8B1-597B-7A97-B0211B63DC2B}"/>
              </a:ext>
            </a:extLst>
          </p:cNvPr>
          <p:cNvSpPr txBox="1"/>
          <p:nvPr/>
        </p:nvSpPr>
        <p:spPr>
          <a:xfrm>
            <a:off x="710565" y="2036445"/>
            <a:ext cx="2109470" cy="490855"/>
          </a:xfrm>
          <a:prstGeom prst="rect">
            <a:avLst/>
          </a:prstGeom>
        </p:spPr>
        <p:txBody>
          <a:bodyPr vert="horz" wrap="square" lIns="0" tIns="9525" rIns="0" bIns="0" rtlCol="0">
            <a:spAutoFit/>
          </a:bodyPr>
          <a:lstStyle/>
          <a:p>
            <a:pPr indent="0" algn="ctr" fontAlgn="auto">
              <a:lnSpc>
                <a:spcPct val="130000"/>
              </a:lnSpc>
              <a:spcBef>
                <a:spcPts val="75"/>
              </a:spcBef>
            </a:pPr>
            <a:r>
              <a:rPr sz="900" b="1" dirty="0">
                <a:solidFill>
                  <a:srgbClr val="2A86DC"/>
                </a:solidFill>
                <a:latin typeface="微软雅黑" panose="020B0503020204020204" pitchFamily="34" charset="-122"/>
                <a:ea typeface="微软雅黑" panose="020B0503020204020204" pitchFamily="34" charset="-122"/>
                <a:cs typeface="微软雅黑" panose="020B0503020204020204" pitchFamily="34" charset="-122"/>
              </a:rPr>
              <a:t>心律失常的隐匿性分析</a:t>
            </a:r>
            <a:endParaRPr sz="900" dirty="0">
              <a:solidFill>
                <a:srgbClr val="166191"/>
              </a:solidFill>
              <a:latin typeface="微软雅黑" panose="020B0503020204020204" pitchFamily="34" charset="-122"/>
              <a:cs typeface="微软雅黑" panose="020B0503020204020204" pitchFamily="34" charset="-122"/>
            </a:endParaRPr>
          </a:p>
          <a:p>
            <a:pPr marR="3810" indent="0" algn="ctr" fontAlgn="auto">
              <a:lnSpc>
                <a:spcPct val="130000"/>
              </a:lnSpc>
              <a:spcBef>
                <a:spcPts val="15"/>
              </a:spcBef>
            </a:pPr>
            <a:r>
              <a:rPr lang="en-US" sz="750" dirty="0">
                <a:solidFill>
                  <a:schemeClr val="tx1">
                    <a:lumMod val="75000"/>
                    <a:lumOff val="25000"/>
                  </a:schemeClr>
                </a:solidFill>
                <a:latin typeface="微软雅黑" panose="020B0503020204020204" pitchFamily="34" charset="-122"/>
                <a:cs typeface="微软雅黑" panose="020B0503020204020204" pitchFamily="34" charset="-122"/>
              </a:rPr>
              <a:t>22</a:t>
            </a:r>
            <a:r>
              <a:rPr lang="zh-CN" altLang="en-US" sz="750" dirty="0">
                <a:solidFill>
                  <a:schemeClr val="tx1">
                    <a:lumMod val="75000"/>
                    <a:lumOff val="25000"/>
                  </a:schemeClr>
                </a:solidFill>
                <a:latin typeface="微软雅黑" panose="020B0503020204020204" pitchFamily="34" charset="-122"/>
                <a:cs typeface="微软雅黑" panose="020B0503020204020204" pitchFamily="34" charset="-122"/>
              </a:rPr>
              <a:t>年</a:t>
            </a:r>
            <a:r>
              <a:rPr sz="750" dirty="0">
                <a:solidFill>
                  <a:schemeClr val="tx1">
                    <a:lumMod val="75000"/>
                    <a:lumOff val="25000"/>
                  </a:schemeClr>
                </a:solidFill>
                <a:latin typeface="微软雅黑" panose="020B0503020204020204" pitchFamily="34" charset="-122"/>
                <a:cs typeface="微软雅黑" panose="020B0503020204020204" pitchFamily="34" charset="-122"/>
              </a:rPr>
              <a:t>近</a:t>
            </a:r>
            <a:r>
              <a:rPr sz="750" spc="-8" dirty="0">
                <a:solidFill>
                  <a:schemeClr val="tx1">
                    <a:lumMod val="75000"/>
                    <a:lumOff val="25000"/>
                  </a:schemeClr>
                </a:solidFill>
                <a:latin typeface="Arial" panose="020B0604020202020204"/>
                <a:cs typeface="Arial" panose="020B0604020202020204"/>
              </a:rPr>
              <a:t>10</a:t>
            </a:r>
            <a:r>
              <a:rPr sz="750" dirty="0">
                <a:solidFill>
                  <a:schemeClr val="tx1">
                    <a:lumMod val="75000"/>
                    <a:lumOff val="25000"/>
                  </a:schemeClr>
                </a:solidFill>
                <a:latin typeface="微软雅黑" panose="020B0503020204020204" pitchFamily="34" charset="-122"/>
                <a:cs typeface="微软雅黑" panose="020B0503020204020204" pitchFamily="34" charset="-122"/>
              </a:rPr>
              <a:t>万人动态查出房颤：</a:t>
            </a:r>
            <a:r>
              <a:rPr sz="750" spc="-8" dirty="0">
                <a:solidFill>
                  <a:schemeClr val="tx1">
                    <a:lumMod val="75000"/>
                    <a:lumOff val="25000"/>
                  </a:schemeClr>
                </a:solidFill>
                <a:latin typeface="Arial" panose="020B0604020202020204"/>
                <a:cs typeface="Arial" panose="020B0604020202020204"/>
              </a:rPr>
              <a:t>1850</a:t>
            </a:r>
            <a:r>
              <a:rPr sz="750" dirty="0">
                <a:solidFill>
                  <a:schemeClr val="tx1">
                    <a:lumMod val="75000"/>
                    <a:lumOff val="25000"/>
                  </a:schemeClr>
                </a:solidFill>
                <a:latin typeface="微软雅黑" panose="020B0503020204020204" pitchFamily="34" charset="-122"/>
                <a:cs typeface="微软雅黑" panose="020B0503020204020204" pitchFamily="34" charset="-122"/>
              </a:rPr>
              <a:t>例</a:t>
            </a:r>
            <a:endParaRPr sz="750" dirty="0">
              <a:solidFill>
                <a:schemeClr val="tx1">
                  <a:lumMod val="75000"/>
                  <a:lumOff val="25000"/>
                </a:schemeClr>
              </a:solidFill>
              <a:latin typeface="Arial" panose="020B0604020202020204"/>
              <a:cs typeface="Arial" panose="020B0604020202020204"/>
            </a:endParaRPr>
          </a:p>
          <a:p>
            <a:pPr indent="0" algn="ctr" fontAlgn="auto">
              <a:lnSpc>
                <a:spcPct val="130000"/>
              </a:lnSpc>
            </a:pPr>
            <a:r>
              <a:rPr sz="750" dirty="0">
                <a:solidFill>
                  <a:schemeClr val="tx1">
                    <a:lumMod val="75000"/>
                    <a:lumOff val="25000"/>
                  </a:schemeClr>
                </a:solidFill>
                <a:latin typeface="微软雅黑" panose="020B0503020204020204" pitchFamily="34" charset="-122"/>
                <a:cs typeface="微软雅黑" panose="020B0503020204020204" pitchFamily="34" charset="-122"/>
              </a:rPr>
              <a:t>导致原因：</a:t>
            </a:r>
            <a:r>
              <a:rPr sz="750" b="1" dirty="0">
                <a:solidFill>
                  <a:srgbClr val="2A86DC"/>
                </a:solidFill>
                <a:latin typeface="微软雅黑" panose="020B0503020204020204" pitchFamily="34" charset="-122"/>
                <a:cs typeface="微软雅黑" panose="020B0503020204020204" pitchFamily="34" charset="-122"/>
              </a:rPr>
              <a:t>心律失常的院外一过性和沉默隐匿性</a:t>
            </a:r>
          </a:p>
        </p:txBody>
      </p:sp>
      <p:graphicFrame>
        <p:nvGraphicFramePr>
          <p:cNvPr id="36" name="object 10">
            <a:extLst>
              <a:ext uri="{FF2B5EF4-FFF2-40B4-BE49-F238E27FC236}">
                <a16:creationId xmlns:a16="http://schemas.microsoft.com/office/drawing/2014/main" id="{02D854BF-440B-0189-32C5-83F1B5BF8C60}"/>
              </a:ext>
            </a:extLst>
          </p:cNvPr>
          <p:cNvGraphicFramePr>
            <a:graphicFrameLocks noGrp="1"/>
          </p:cNvGraphicFramePr>
          <p:nvPr>
            <p:extLst>
              <p:ext uri="{D42A27DB-BD31-4B8C-83A1-F6EECF244321}">
                <p14:modId xmlns:p14="http://schemas.microsoft.com/office/powerpoint/2010/main" val="272497651"/>
              </p:ext>
            </p:extLst>
          </p:nvPr>
        </p:nvGraphicFramePr>
        <p:xfrm>
          <a:off x="2998093" y="1995686"/>
          <a:ext cx="1629433" cy="2138512"/>
        </p:xfrm>
        <a:graphic>
          <a:graphicData uri="http://schemas.openxmlformats.org/drawingml/2006/table">
            <a:tbl>
              <a:tblPr firstRow="1" bandRow="1">
                <a:tableStyleId>{2D5ABB26-0587-4C30-8999-92F81FD0307C}</a:tableStyleId>
              </a:tblPr>
              <a:tblGrid>
                <a:gridCol w="542585">
                  <a:extLst>
                    <a:ext uri="{9D8B030D-6E8A-4147-A177-3AD203B41FA5}">
                      <a16:colId xmlns:a16="http://schemas.microsoft.com/office/drawing/2014/main" val="20000"/>
                    </a:ext>
                  </a:extLst>
                </a:gridCol>
                <a:gridCol w="544263">
                  <a:extLst>
                    <a:ext uri="{9D8B030D-6E8A-4147-A177-3AD203B41FA5}">
                      <a16:colId xmlns:a16="http://schemas.microsoft.com/office/drawing/2014/main" val="20001"/>
                    </a:ext>
                  </a:extLst>
                </a:gridCol>
                <a:gridCol w="542585">
                  <a:extLst>
                    <a:ext uri="{9D8B030D-6E8A-4147-A177-3AD203B41FA5}">
                      <a16:colId xmlns:a16="http://schemas.microsoft.com/office/drawing/2014/main" val="20002"/>
                    </a:ext>
                  </a:extLst>
                </a:gridCol>
              </a:tblGrid>
              <a:tr h="154978">
                <a:tc gridSpan="3">
                  <a:txBody>
                    <a:bodyPr/>
                    <a:lstStyle/>
                    <a:p>
                      <a:pPr marL="397510">
                        <a:lnSpc>
                          <a:spcPct val="100000"/>
                        </a:lnSpc>
                        <a:spcBef>
                          <a:spcPts val="100"/>
                        </a:spcBef>
                      </a:pPr>
                      <a:r>
                        <a:rPr sz="800" b="1" dirty="0">
                          <a:solidFill>
                            <a:schemeClr val="tx1">
                              <a:lumMod val="75000"/>
                              <a:lumOff val="25000"/>
                            </a:schemeClr>
                          </a:solidFill>
                          <a:latin typeface="微软雅黑" panose="020B0503020204020204" pitchFamily="34" charset="-122"/>
                          <a:cs typeface="微软雅黑" panose="020B0503020204020204" pitchFamily="34" charset="-122"/>
                        </a:rPr>
                        <a:t>多源性心律失常</a:t>
                      </a:r>
                      <a:endParaRPr sz="800" dirty="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ADD1F2"/>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0"/>
                  </a:ext>
                </a:extLst>
              </a:tr>
              <a:tr h="135402">
                <a:tc>
                  <a:txBody>
                    <a:bodyPr/>
                    <a:lstStyle/>
                    <a:p>
                      <a:pPr marL="12065"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查出量</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4140"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总人数</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比例</a:t>
                      </a:r>
                      <a:endParaRPr sz="70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1"/>
                  </a:ext>
                </a:extLst>
              </a:tr>
              <a:tr h="135402">
                <a:tc>
                  <a:txBody>
                    <a:bodyPr/>
                    <a:lstStyle/>
                    <a:p>
                      <a:pPr marL="12065" algn="ctr">
                        <a:lnSpc>
                          <a:spcPct val="100000"/>
                        </a:lnSpc>
                        <a:spcBef>
                          <a:spcPts val="100"/>
                        </a:spcBef>
                      </a:pPr>
                      <a:r>
                        <a:rPr sz="700" dirty="0">
                          <a:solidFill>
                            <a:schemeClr val="tx1">
                              <a:lumMod val="75000"/>
                              <a:lumOff val="25000"/>
                            </a:schemeClr>
                          </a:solidFill>
                          <a:latin typeface="宋体" panose="02010600030101010101" pitchFamily="2" charset="-122"/>
                          <a:cs typeface="宋体" panose="02010600030101010101" pitchFamily="2" charset="-122"/>
                        </a:rPr>
                        <a:t>220</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890" algn="ctr">
                        <a:lnSpc>
                          <a:spcPct val="100000"/>
                        </a:lnSpc>
                        <a:spcBef>
                          <a:spcPts val="100"/>
                        </a:spcBef>
                      </a:pPr>
                      <a:r>
                        <a:rPr sz="700" dirty="0">
                          <a:solidFill>
                            <a:schemeClr val="tx1">
                              <a:lumMod val="75000"/>
                              <a:lumOff val="25000"/>
                            </a:schemeClr>
                          </a:solidFill>
                          <a:latin typeface="宋体" panose="02010600030101010101" pitchFamily="2" charset="-122"/>
                          <a:cs typeface="宋体" panose="02010600030101010101" pitchFamily="2" charset="-122"/>
                        </a:rPr>
                        <a:t>97486</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00"/>
                        </a:spcBef>
                      </a:pPr>
                      <a:r>
                        <a:rPr sz="700" dirty="0">
                          <a:solidFill>
                            <a:schemeClr val="tx1">
                              <a:lumMod val="75000"/>
                              <a:lumOff val="25000"/>
                            </a:schemeClr>
                          </a:solidFill>
                          <a:latin typeface="宋体" panose="02010600030101010101" pitchFamily="2" charset="-122"/>
                          <a:cs typeface="宋体" panose="02010600030101010101" pitchFamily="2" charset="-122"/>
                        </a:rPr>
                        <a:t>0.23%</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2"/>
                  </a:ext>
                </a:extLst>
              </a:tr>
              <a:tr h="154978">
                <a:tc gridSpan="3">
                  <a:txBody>
                    <a:bodyPr/>
                    <a:lstStyle/>
                    <a:p>
                      <a:pPr marL="626110">
                        <a:lnSpc>
                          <a:spcPct val="100000"/>
                        </a:lnSpc>
                        <a:spcBef>
                          <a:spcPts val="110"/>
                        </a:spcBef>
                      </a:pPr>
                      <a:r>
                        <a:rPr sz="800" b="1" dirty="0">
                          <a:solidFill>
                            <a:schemeClr val="tx1">
                              <a:lumMod val="75000"/>
                              <a:lumOff val="25000"/>
                            </a:schemeClr>
                          </a:solidFill>
                          <a:latin typeface="微软雅黑" panose="020B0503020204020204" pitchFamily="34" charset="-122"/>
                          <a:cs typeface="微软雅黑" panose="020B0503020204020204" pitchFamily="34" charset="-122"/>
                        </a:rPr>
                        <a:t>室性早搏</a:t>
                      </a:r>
                      <a:endParaRPr sz="800" dirty="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ADD1F2"/>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3"/>
                  </a:ext>
                </a:extLst>
              </a:tr>
              <a:tr h="135402">
                <a:tc>
                  <a:txBody>
                    <a:bodyPr/>
                    <a:lstStyle/>
                    <a:p>
                      <a:pPr marL="12065" algn="ctr">
                        <a:lnSpc>
                          <a:spcPct val="100000"/>
                        </a:lnSpc>
                        <a:spcBef>
                          <a:spcPts val="9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查出量</a:t>
                      </a:r>
                    </a:p>
                  </a:txBody>
                  <a:tcPr marL="0" marR="0" marT="7818"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4140" algn="ctr">
                        <a:lnSpc>
                          <a:spcPct val="100000"/>
                        </a:lnSpc>
                        <a:spcBef>
                          <a:spcPts val="9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总人数</a:t>
                      </a:r>
                    </a:p>
                  </a:txBody>
                  <a:tcPr marL="0" marR="0" marT="7818"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9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比例</a:t>
                      </a:r>
                    </a:p>
                  </a:txBody>
                  <a:tcPr marL="0" marR="0" marT="7818"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4"/>
                  </a:ext>
                </a:extLst>
              </a:tr>
              <a:tr h="135402">
                <a:tc>
                  <a:txBody>
                    <a:bodyPr/>
                    <a:lstStyle/>
                    <a:p>
                      <a:pPr marL="12065" algn="ctr">
                        <a:lnSpc>
                          <a:spcPct val="100000"/>
                        </a:lnSpc>
                        <a:spcBef>
                          <a:spcPts val="110"/>
                        </a:spcBef>
                      </a:pPr>
                      <a:r>
                        <a:rPr sz="700" dirty="0">
                          <a:solidFill>
                            <a:schemeClr val="tx1">
                              <a:lumMod val="75000"/>
                              <a:lumOff val="25000"/>
                            </a:schemeClr>
                          </a:solidFill>
                          <a:latin typeface="宋体" panose="02010600030101010101" pitchFamily="2" charset="-122"/>
                          <a:cs typeface="宋体" panose="02010600030101010101" pitchFamily="2" charset="-122"/>
                        </a:rPr>
                        <a:t>32778</a:t>
                      </a: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890" algn="ctr">
                        <a:lnSpc>
                          <a:spcPct val="100000"/>
                        </a:lnSpc>
                        <a:spcBef>
                          <a:spcPts val="110"/>
                        </a:spcBef>
                      </a:pPr>
                      <a:r>
                        <a:rPr sz="700" dirty="0">
                          <a:solidFill>
                            <a:schemeClr val="tx1">
                              <a:lumMod val="75000"/>
                              <a:lumOff val="25000"/>
                            </a:schemeClr>
                          </a:solidFill>
                          <a:latin typeface="宋体" panose="02010600030101010101" pitchFamily="2" charset="-122"/>
                          <a:cs typeface="宋体" panose="02010600030101010101" pitchFamily="2" charset="-122"/>
                        </a:rPr>
                        <a:t>97486</a:t>
                      </a: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10"/>
                        </a:spcBef>
                      </a:pPr>
                      <a:r>
                        <a:rPr sz="700" dirty="0">
                          <a:solidFill>
                            <a:schemeClr val="tx1">
                              <a:lumMod val="75000"/>
                              <a:lumOff val="25000"/>
                            </a:schemeClr>
                          </a:solidFill>
                          <a:latin typeface="宋体" panose="02010600030101010101" pitchFamily="2" charset="-122"/>
                          <a:cs typeface="宋体" panose="02010600030101010101" pitchFamily="2" charset="-122"/>
                        </a:rPr>
                        <a:t>33.62%</a:t>
                      </a: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5"/>
                  </a:ext>
                </a:extLst>
              </a:tr>
              <a:tr h="154978">
                <a:tc gridSpan="3">
                  <a:txBody>
                    <a:bodyPr/>
                    <a:lstStyle/>
                    <a:p>
                      <a:pPr marL="626110">
                        <a:lnSpc>
                          <a:spcPct val="100000"/>
                        </a:lnSpc>
                        <a:spcBef>
                          <a:spcPts val="100"/>
                        </a:spcBef>
                      </a:pPr>
                      <a:r>
                        <a:rPr sz="800" b="1" dirty="0">
                          <a:solidFill>
                            <a:schemeClr val="tx1">
                              <a:lumMod val="75000"/>
                              <a:lumOff val="25000"/>
                            </a:schemeClr>
                          </a:solidFill>
                          <a:latin typeface="微软雅黑" panose="020B0503020204020204" pitchFamily="34" charset="-122"/>
                          <a:cs typeface="微软雅黑" panose="020B0503020204020204" pitchFamily="34" charset="-122"/>
                        </a:rPr>
                        <a:t>房性早搏</a:t>
                      </a:r>
                      <a:endParaRPr sz="800" dirty="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ADD1F2"/>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6"/>
                  </a:ext>
                </a:extLst>
              </a:tr>
              <a:tr h="135255">
                <a:tc>
                  <a:txBody>
                    <a:bodyPr/>
                    <a:lstStyle/>
                    <a:p>
                      <a:pPr marL="12065"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查出量</a:t>
                      </a:r>
                      <a:endParaRPr sz="70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4140"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总人数</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比例</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7"/>
                  </a:ext>
                </a:extLst>
              </a:tr>
              <a:tr h="145189">
                <a:tc>
                  <a:txBody>
                    <a:bodyPr/>
                    <a:lstStyle/>
                    <a:p>
                      <a:pPr marL="12065" algn="ctr">
                        <a:lnSpc>
                          <a:spcPct val="100000"/>
                        </a:lnSpc>
                        <a:spcBef>
                          <a:spcPts val="170"/>
                        </a:spcBef>
                      </a:pPr>
                      <a:r>
                        <a:rPr sz="700" dirty="0">
                          <a:solidFill>
                            <a:schemeClr val="tx1">
                              <a:lumMod val="75000"/>
                              <a:lumOff val="25000"/>
                            </a:schemeClr>
                          </a:solidFill>
                          <a:latin typeface="宋体" panose="02010600030101010101" pitchFamily="2" charset="-122"/>
                          <a:cs typeface="宋体" panose="02010600030101010101" pitchFamily="2" charset="-122"/>
                        </a:rPr>
                        <a:t>79373</a:t>
                      </a:r>
                    </a:p>
                  </a:txBody>
                  <a:tcPr marL="0" marR="0" marT="1476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890" algn="ctr">
                        <a:lnSpc>
                          <a:spcPct val="100000"/>
                        </a:lnSpc>
                        <a:spcBef>
                          <a:spcPts val="170"/>
                        </a:spcBef>
                      </a:pPr>
                      <a:r>
                        <a:rPr sz="700" dirty="0">
                          <a:solidFill>
                            <a:schemeClr val="tx1">
                              <a:lumMod val="75000"/>
                              <a:lumOff val="25000"/>
                            </a:schemeClr>
                          </a:solidFill>
                          <a:latin typeface="宋体" panose="02010600030101010101" pitchFamily="2" charset="-122"/>
                          <a:cs typeface="宋体" panose="02010600030101010101" pitchFamily="2" charset="-122"/>
                        </a:rPr>
                        <a:t>97486</a:t>
                      </a:r>
                    </a:p>
                  </a:txBody>
                  <a:tcPr marL="0" marR="0" marT="1476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95"/>
                        </a:spcBef>
                      </a:pPr>
                      <a:r>
                        <a:rPr sz="700" dirty="0">
                          <a:solidFill>
                            <a:schemeClr val="tx1">
                              <a:lumMod val="75000"/>
                              <a:lumOff val="25000"/>
                            </a:schemeClr>
                          </a:solidFill>
                          <a:latin typeface="宋体" panose="02010600030101010101" pitchFamily="2" charset="-122"/>
                          <a:cs typeface="宋体" panose="02010600030101010101" pitchFamily="2" charset="-122"/>
                        </a:rPr>
                        <a:t>81.42%</a:t>
                      </a:r>
                    </a:p>
                  </a:txBody>
                  <a:tcPr marL="0" marR="0" marT="8252"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8"/>
                  </a:ext>
                </a:extLst>
              </a:tr>
              <a:tr h="154940">
                <a:tc gridSpan="3">
                  <a:txBody>
                    <a:bodyPr/>
                    <a:lstStyle/>
                    <a:p>
                      <a:pPr marL="473710">
                        <a:lnSpc>
                          <a:spcPct val="100000"/>
                        </a:lnSpc>
                        <a:spcBef>
                          <a:spcPts val="110"/>
                        </a:spcBef>
                      </a:pPr>
                      <a:r>
                        <a:rPr sz="800" b="1" dirty="0">
                          <a:solidFill>
                            <a:schemeClr val="tx1">
                              <a:lumMod val="75000"/>
                              <a:lumOff val="25000"/>
                            </a:schemeClr>
                          </a:solidFill>
                          <a:latin typeface="微软雅黑" panose="020B0503020204020204" pitchFamily="34" charset="-122"/>
                          <a:cs typeface="微软雅黑" panose="020B0503020204020204" pitchFamily="34" charset="-122"/>
                        </a:rPr>
                        <a:t>室性心动过速</a:t>
                      </a:r>
                      <a:endParaRPr sz="800" dirty="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ADD1F2"/>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09"/>
                  </a:ext>
                </a:extLst>
              </a:tr>
              <a:tr h="135402">
                <a:tc>
                  <a:txBody>
                    <a:bodyPr/>
                    <a:lstStyle/>
                    <a:p>
                      <a:pPr marL="12065" algn="ctr">
                        <a:lnSpc>
                          <a:spcPct val="100000"/>
                        </a:lnSpc>
                        <a:spcBef>
                          <a:spcPts val="9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查出量</a:t>
                      </a:r>
                      <a:endParaRPr sz="70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7818"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4140" algn="ctr">
                        <a:lnSpc>
                          <a:spcPct val="100000"/>
                        </a:lnSpc>
                        <a:spcBef>
                          <a:spcPts val="9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总人数</a:t>
                      </a:r>
                      <a:endParaRPr sz="70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7818"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9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比例</a:t>
                      </a:r>
                    </a:p>
                  </a:txBody>
                  <a:tcPr marL="0" marR="0" marT="7818"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10"/>
                  </a:ext>
                </a:extLst>
              </a:tr>
              <a:tr h="135402">
                <a:tc>
                  <a:txBody>
                    <a:bodyPr/>
                    <a:lstStyle/>
                    <a:p>
                      <a:pPr marL="12065" algn="ctr">
                        <a:lnSpc>
                          <a:spcPct val="100000"/>
                        </a:lnSpc>
                        <a:spcBef>
                          <a:spcPts val="110"/>
                        </a:spcBef>
                      </a:pPr>
                      <a:r>
                        <a:rPr sz="700" dirty="0">
                          <a:solidFill>
                            <a:schemeClr val="tx1">
                              <a:lumMod val="75000"/>
                              <a:lumOff val="25000"/>
                            </a:schemeClr>
                          </a:solidFill>
                          <a:latin typeface="宋体" panose="02010600030101010101" pitchFamily="2" charset="-122"/>
                          <a:cs typeface="宋体" panose="02010600030101010101" pitchFamily="2" charset="-122"/>
                        </a:rPr>
                        <a:t>603</a:t>
                      </a:r>
                      <a:endParaRPr sz="700">
                        <a:solidFill>
                          <a:schemeClr val="tx1">
                            <a:lumMod val="75000"/>
                            <a:lumOff val="25000"/>
                          </a:schemeClr>
                        </a:solidFill>
                        <a:latin typeface="宋体" panose="02010600030101010101" pitchFamily="2" charset="-122"/>
                        <a:cs typeface="宋体" panose="02010600030101010101" pitchFamily="2" charset="-122"/>
                      </a:endParaRP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890" algn="ctr">
                        <a:lnSpc>
                          <a:spcPct val="100000"/>
                        </a:lnSpc>
                        <a:spcBef>
                          <a:spcPts val="110"/>
                        </a:spcBef>
                      </a:pPr>
                      <a:r>
                        <a:rPr sz="700" dirty="0">
                          <a:solidFill>
                            <a:schemeClr val="tx1">
                              <a:lumMod val="75000"/>
                              <a:lumOff val="25000"/>
                            </a:schemeClr>
                          </a:solidFill>
                          <a:latin typeface="宋体" panose="02010600030101010101" pitchFamily="2" charset="-122"/>
                          <a:cs typeface="宋体" panose="02010600030101010101" pitchFamily="2" charset="-122"/>
                        </a:rPr>
                        <a:t>97486</a:t>
                      </a: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10"/>
                        </a:spcBef>
                      </a:pPr>
                      <a:r>
                        <a:rPr sz="700" dirty="0">
                          <a:solidFill>
                            <a:schemeClr val="tx1">
                              <a:lumMod val="75000"/>
                              <a:lumOff val="25000"/>
                            </a:schemeClr>
                          </a:solidFill>
                          <a:latin typeface="宋体" panose="02010600030101010101" pitchFamily="2" charset="-122"/>
                          <a:cs typeface="宋体" panose="02010600030101010101" pitchFamily="2" charset="-122"/>
                        </a:rPr>
                        <a:t>0.62%</a:t>
                      </a:r>
                    </a:p>
                  </a:txBody>
                  <a:tcPr marL="0" marR="0" marT="9555"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11"/>
                  </a:ext>
                </a:extLst>
              </a:tr>
              <a:tr h="154978">
                <a:tc gridSpan="3">
                  <a:txBody>
                    <a:bodyPr/>
                    <a:lstStyle/>
                    <a:p>
                      <a:pPr marL="567690">
                        <a:lnSpc>
                          <a:spcPct val="100000"/>
                        </a:lnSpc>
                        <a:spcBef>
                          <a:spcPts val="100"/>
                        </a:spcBef>
                      </a:pPr>
                      <a:r>
                        <a:rPr sz="800" b="1" spc="-5" dirty="0">
                          <a:solidFill>
                            <a:schemeClr val="tx1">
                              <a:lumMod val="75000"/>
                              <a:lumOff val="25000"/>
                            </a:schemeClr>
                          </a:solidFill>
                          <a:latin typeface="Arial" panose="020B0604020202020204"/>
                          <a:cs typeface="Arial" panose="020B0604020202020204"/>
                        </a:rPr>
                        <a:t>R-R</a:t>
                      </a:r>
                      <a:r>
                        <a:rPr sz="800" b="1" dirty="0">
                          <a:solidFill>
                            <a:schemeClr val="tx1">
                              <a:lumMod val="75000"/>
                              <a:lumOff val="25000"/>
                            </a:schemeClr>
                          </a:solidFill>
                          <a:latin typeface="微软雅黑" panose="020B0503020204020204" pitchFamily="34" charset="-122"/>
                          <a:cs typeface="微软雅黑" panose="020B0503020204020204" pitchFamily="34" charset="-122"/>
                        </a:rPr>
                        <a:t>长间期</a:t>
                      </a:r>
                      <a:endParaRPr sz="800" dirty="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solidFill>
                      <a:srgbClr val="ADD1F2"/>
                    </a:solidFill>
                  </a:tcPr>
                </a:tc>
                <a:tc hMerge="1">
                  <a:txBody>
                    <a:bodyPr/>
                    <a:lstStyle/>
                    <a:p>
                      <a:endParaRPr lang="zh-CN"/>
                    </a:p>
                  </a:txBody>
                  <a:tcPr marL="0" marR="0" marT="0" marB="0">
                    <a:lnT w="6350">
                      <a:solidFill>
                        <a:srgbClr val="6DACE7"/>
                      </a:solidFill>
                      <a:prstDash val="solid"/>
                    </a:lnT>
                    <a:lnB w="6350">
                      <a:solidFill>
                        <a:srgbClr val="6DACE7"/>
                      </a:solidFill>
                      <a:prstDash val="solid"/>
                    </a:lnB>
                  </a:tcPr>
                </a:tc>
                <a:tc hMerge="1">
                  <a:txBody>
                    <a:bodyPr/>
                    <a:lstStyle/>
                    <a:p>
                      <a:endParaRPr lang="zh-CN"/>
                    </a:p>
                  </a:txBody>
                  <a:tcPr marL="0" marR="0" marT="0" marB="0">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12"/>
                  </a:ext>
                </a:extLst>
              </a:tr>
              <a:tr h="135402">
                <a:tc>
                  <a:txBody>
                    <a:bodyPr/>
                    <a:lstStyle/>
                    <a:p>
                      <a:pPr marL="12065"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查出量</a:t>
                      </a:r>
                      <a:endParaRPr sz="70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04140"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总人数</a:t>
                      </a:r>
                      <a:endParaRPr sz="700">
                        <a:solidFill>
                          <a:schemeClr val="tx1">
                            <a:lumMod val="75000"/>
                            <a:lumOff val="25000"/>
                          </a:schemeClr>
                        </a:solidFill>
                        <a:latin typeface="微软雅黑" panose="020B0503020204020204" pitchFamily="34" charset="-122"/>
                        <a:cs typeface="微软雅黑" panose="020B0503020204020204" pitchFamily="34"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00"/>
                        </a:spcBef>
                      </a:pPr>
                      <a:r>
                        <a:rPr sz="700" dirty="0">
                          <a:solidFill>
                            <a:schemeClr val="tx1">
                              <a:lumMod val="75000"/>
                              <a:lumOff val="25000"/>
                            </a:schemeClr>
                          </a:solidFill>
                          <a:latin typeface="微软雅黑" panose="020B0503020204020204" pitchFamily="34" charset="-122"/>
                          <a:cs typeface="微软雅黑" panose="020B0503020204020204" pitchFamily="34" charset="-122"/>
                        </a:rPr>
                        <a:t>比例</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13"/>
                  </a:ext>
                </a:extLst>
              </a:tr>
              <a:tr h="135402">
                <a:tc>
                  <a:txBody>
                    <a:bodyPr/>
                    <a:lstStyle/>
                    <a:p>
                      <a:pPr marL="12065" algn="ctr">
                        <a:lnSpc>
                          <a:spcPct val="100000"/>
                        </a:lnSpc>
                        <a:spcBef>
                          <a:spcPts val="100"/>
                        </a:spcBef>
                      </a:pPr>
                      <a:r>
                        <a:rPr sz="700" dirty="0">
                          <a:solidFill>
                            <a:schemeClr val="tx1">
                              <a:lumMod val="75000"/>
                              <a:lumOff val="25000"/>
                            </a:schemeClr>
                          </a:solidFill>
                          <a:latin typeface="宋体" panose="02010600030101010101" pitchFamily="2" charset="-122"/>
                          <a:cs typeface="宋体" panose="02010600030101010101" pitchFamily="2" charset="-122"/>
                        </a:rPr>
                        <a:t>29</a:t>
                      </a:r>
                      <a:endParaRPr sz="700">
                        <a:solidFill>
                          <a:schemeClr val="tx1">
                            <a:lumMod val="75000"/>
                            <a:lumOff val="25000"/>
                          </a:schemeClr>
                        </a:solidFill>
                        <a:latin typeface="宋体" panose="02010600030101010101" pitchFamily="2" charset="-122"/>
                        <a:cs typeface="宋体" panose="02010600030101010101" pitchFamily="2"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R="135890" algn="ctr">
                        <a:lnSpc>
                          <a:spcPct val="100000"/>
                        </a:lnSpc>
                        <a:spcBef>
                          <a:spcPts val="100"/>
                        </a:spcBef>
                      </a:pPr>
                      <a:r>
                        <a:rPr sz="700" dirty="0">
                          <a:solidFill>
                            <a:schemeClr val="tx1">
                              <a:lumMod val="75000"/>
                              <a:lumOff val="25000"/>
                            </a:schemeClr>
                          </a:solidFill>
                          <a:latin typeface="宋体" panose="02010600030101010101" pitchFamily="2" charset="-122"/>
                          <a:cs typeface="宋体" panose="02010600030101010101" pitchFamily="2" charset="-122"/>
                        </a:rPr>
                        <a:t>97486</a:t>
                      </a:r>
                      <a:endParaRPr sz="700">
                        <a:solidFill>
                          <a:schemeClr val="tx1">
                            <a:lumMod val="75000"/>
                            <a:lumOff val="25000"/>
                          </a:schemeClr>
                        </a:solidFill>
                        <a:latin typeface="宋体" panose="02010600030101010101" pitchFamily="2" charset="-122"/>
                        <a:cs typeface="宋体" panose="02010600030101010101" pitchFamily="2" charset="-122"/>
                      </a:endParaRP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tc>
                  <a:txBody>
                    <a:bodyPr/>
                    <a:lstStyle/>
                    <a:p>
                      <a:pPr marL="12065" algn="ctr">
                        <a:lnSpc>
                          <a:spcPct val="100000"/>
                        </a:lnSpc>
                        <a:spcBef>
                          <a:spcPts val="100"/>
                        </a:spcBef>
                      </a:pPr>
                      <a:r>
                        <a:rPr sz="700" dirty="0">
                          <a:solidFill>
                            <a:schemeClr val="tx1">
                              <a:lumMod val="75000"/>
                              <a:lumOff val="25000"/>
                            </a:schemeClr>
                          </a:solidFill>
                          <a:latin typeface="宋体" panose="02010600030101010101" pitchFamily="2" charset="-122"/>
                          <a:cs typeface="宋体" panose="02010600030101010101" pitchFamily="2" charset="-122"/>
                        </a:rPr>
                        <a:t>0.03%</a:t>
                      </a:r>
                    </a:p>
                  </a:txBody>
                  <a:tcPr marL="0" marR="0" marT="8686" marB="0">
                    <a:lnL w="6350">
                      <a:solidFill>
                        <a:srgbClr val="6DACE7"/>
                      </a:solidFill>
                      <a:prstDash val="solid"/>
                    </a:lnL>
                    <a:lnR w="6350">
                      <a:solidFill>
                        <a:srgbClr val="6DACE7"/>
                      </a:solidFill>
                      <a:prstDash val="solid"/>
                    </a:lnR>
                    <a:lnT w="6350">
                      <a:solidFill>
                        <a:srgbClr val="6DACE7"/>
                      </a:solidFill>
                      <a:prstDash val="solid"/>
                    </a:lnT>
                    <a:lnB w="6350">
                      <a:solidFill>
                        <a:srgbClr val="6DACE7"/>
                      </a:solidFill>
                      <a:prstDash val="solid"/>
                    </a:lnB>
                  </a:tcPr>
                </a:tc>
                <a:extLst>
                  <a:ext uri="{0D108BD9-81ED-4DB2-BD59-A6C34878D82A}">
                    <a16:rowId xmlns:a16="http://schemas.microsoft.com/office/drawing/2014/main" val="10014"/>
                  </a:ext>
                </a:extLst>
              </a:tr>
            </a:tbl>
          </a:graphicData>
        </a:graphic>
      </p:graphicFrame>
      <p:sp>
        <p:nvSpPr>
          <p:cNvPr id="37" name="矩形 36">
            <a:extLst>
              <a:ext uri="{FF2B5EF4-FFF2-40B4-BE49-F238E27FC236}">
                <a16:creationId xmlns:a16="http://schemas.microsoft.com/office/drawing/2014/main" id="{0EDA5700-5EBF-D026-40A0-1F8DAC78C1D9}"/>
              </a:ext>
            </a:extLst>
          </p:cNvPr>
          <p:cNvSpPr/>
          <p:nvPr/>
        </p:nvSpPr>
        <p:spPr>
          <a:xfrm>
            <a:off x="755015" y="1472565"/>
            <a:ext cx="3858260" cy="368300"/>
          </a:xfrm>
          <a:prstGeom prst="rect">
            <a:avLst/>
          </a:prstGeom>
        </p:spPr>
        <p:txBody>
          <a:bodyPr wrap="square">
            <a:spAutoFit/>
          </a:bodyPr>
          <a:lstStyle/>
          <a:p>
            <a:pPr marL="9525">
              <a:spcBef>
                <a:spcPts val="470"/>
              </a:spcBef>
            </a:pPr>
            <a:r>
              <a:rPr lang="zh-CN" altLang="en-US" sz="900" b="1" spc="-4"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本轮筛查，</a:t>
            </a:r>
            <a:r>
              <a:rPr lang="en-US" altLang="zh-CN" sz="900" b="1" spc="-4"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rPr>
              <a:t>6</a:t>
            </a:r>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个月内完成了</a:t>
            </a:r>
            <a:r>
              <a:rPr lang="en-US" altLang="zh-CN" sz="900" b="1" spc="-4"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rPr>
              <a:t>97486</a:t>
            </a:r>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人次动态心电服务</a:t>
            </a:r>
            <a:r>
              <a:rPr lang="zh-CN" altLang="en-US" sz="900" b="1" spc="-4"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实现了几十种心律失常的筛查。 以下为部分多发和罕见疾病的检出情况和其意义</a:t>
            </a:r>
            <a:r>
              <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rPr>
              <a:t>:</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a:endParaRPr>
          </a:p>
        </p:txBody>
      </p:sp>
      <p:sp>
        <p:nvSpPr>
          <p:cNvPr id="38" name="矩形 37">
            <a:extLst>
              <a:ext uri="{FF2B5EF4-FFF2-40B4-BE49-F238E27FC236}">
                <a16:creationId xmlns:a16="http://schemas.microsoft.com/office/drawing/2014/main" id="{CEB1C8AA-6F0E-F864-2C4D-CC04611459CB}"/>
              </a:ext>
            </a:extLst>
          </p:cNvPr>
          <p:cNvSpPr/>
          <p:nvPr/>
        </p:nvSpPr>
        <p:spPr>
          <a:xfrm>
            <a:off x="530225" y="4228465"/>
            <a:ext cx="7896225" cy="553085"/>
          </a:xfrm>
          <a:prstGeom prst="rect">
            <a:avLst/>
          </a:prstGeom>
        </p:spPr>
        <p:txBody>
          <a:bodyPr wrap="square">
            <a:spAutoFit/>
          </a:bodyPr>
          <a:lstStyle/>
          <a:p>
            <a:pPr>
              <a:lnSpc>
                <a:spcPct val="150000"/>
              </a:lnSpc>
            </a:pPr>
            <a:r>
              <a:rPr lang="zh-CN" altLang="zh-CN" sz="1000" dirty="0">
                <a:solidFill>
                  <a:schemeClr val="tx1">
                    <a:lumMod val="75000"/>
                    <a:lumOff val="25000"/>
                  </a:schemeClr>
                </a:solidFill>
                <a:ea typeface="微软雅黑" panose="020B0503020204020204" pitchFamily="34" charset="-122"/>
              </a:rPr>
              <a:t>本项目让</a:t>
            </a:r>
            <a:r>
              <a:rPr lang="zh-CN" altLang="zh-CN" sz="1000" b="1" dirty="0">
                <a:solidFill>
                  <a:schemeClr val="tx1">
                    <a:lumMod val="75000"/>
                    <a:lumOff val="25000"/>
                  </a:schemeClr>
                </a:solidFill>
                <a:ea typeface="微软雅黑" panose="020B0503020204020204" pitchFamily="34" charset="-122"/>
              </a:rPr>
              <a:t>区域化大范围的基层动态心电筛查</a:t>
            </a:r>
            <a:r>
              <a:rPr lang="zh-CN" altLang="zh-CN" sz="1000" dirty="0">
                <a:solidFill>
                  <a:schemeClr val="tx1">
                    <a:lumMod val="75000"/>
                    <a:lumOff val="25000"/>
                  </a:schemeClr>
                </a:solidFill>
                <a:ea typeface="微软雅黑" panose="020B0503020204020204" pitchFamily="34" charset="-122"/>
              </a:rPr>
              <a:t>成为可能，</a:t>
            </a:r>
            <a:r>
              <a:rPr lang="zh-CN" altLang="zh-CN" sz="1000" b="1" dirty="0">
                <a:solidFill>
                  <a:schemeClr val="tx1">
                    <a:lumMod val="75000"/>
                    <a:lumOff val="25000"/>
                  </a:schemeClr>
                </a:solidFill>
                <a:ea typeface="微软雅黑" panose="020B0503020204020204" pitchFamily="34" charset="-122"/>
              </a:rPr>
              <a:t>降低了实施成本，避免了</a:t>
            </a:r>
            <a:r>
              <a:rPr lang="zh-CN" altLang="en-US" sz="1000" b="1" dirty="0">
                <a:solidFill>
                  <a:schemeClr val="tx1">
                    <a:lumMod val="75000"/>
                    <a:lumOff val="25000"/>
                  </a:schemeClr>
                </a:solidFill>
                <a:ea typeface="微软雅黑" panose="020B0503020204020204" pitchFamily="34" charset="-122"/>
              </a:rPr>
              <a:t>上</a:t>
            </a:r>
            <a:r>
              <a:rPr lang="en-US" altLang="zh-CN" sz="1000" b="1" dirty="0" err="1">
                <a:solidFill>
                  <a:schemeClr val="tx1">
                    <a:lumMod val="75000"/>
                    <a:lumOff val="25000"/>
                  </a:schemeClr>
                </a:solidFill>
                <a:ea typeface="微软雅黑" panose="020B0503020204020204" pitchFamily="34" charset="-122"/>
              </a:rPr>
              <a:t>万人的心电</a:t>
            </a:r>
            <a:r>
              <a:rPr lang="zh-CN" altLang="en-US" sz="1000" b="1" dirty="0">
                <a:solidFill>
                  <a:schemeClr val="tx1">
                    <a:lumMod val="75000"/>
                    <a:lumOff val="25000"/>
                  </a:schemeClr>
                </a:solidFill>
                <a:ea typeface="微软雅黑" panose="020B0503020204020204" pitchFamily="34" charset="-122"/>
              </a:rPr>
              <a:t>检查</a:t>
            </a:r>
            <a:r>
              <a:rPr lang="en-US" altLang="zh-CN" sz="1000" b="1" dirty="0" err="1">
                <a:solidFill>
                  <a:schemeClr val="tx1">
                    <a:lumMod val="75000"/>
                    <a:lumOff val="25000"/>
                  </a:schemeClr>
                </a:solidFill>
                <a:ea typeface="微软雅黑" panose="020B0503020204020204" pitchFamily="34" charset="-122"/>
              </a:rPr>
              <a:t>排队</a:t>
            </a:r>
            <a:r>
              <a:rPr lang="zh-CN" altLang="zh-CN" sz="1000" dirty="0">
                <a:solidFill>
                  <a:schemeClr val="tx1">
                    <a:lumMod val="75000"/>
                    <a:lumOff val="25000"/>
                  </a:schemeClr>
                </a:solidFill>
                <a:ea typeface="微软雅黑" panose="020B0503020204020204" pitchFamily="34" charset="-122"/>
              </a:rPr>
              <a:t>，提升了心电采集依从性，也让县医疗资源下沉至基层。</a:t>
            </a:r>
            <a:endParaRPr lang="zh-CN" altLang="en-US" sz="1000" dirty="0">
              <a:solidFill>
                <a:schemeClr val="tx1">
                  <a:lumMod val="75000"/>
                  <a:lumOff val="25000"/>
                </a:schemeClr>
              </a:solidFill>
            </a:endParaRPr>
          </a:p>
        </p:txBody>
      </p:sp>
    </p:spTree>
    <p:extLst>
      <p:ext uri="{BB962C8B-B14F-4D97-AF65-F5344CB8AC3E}">
        <p14:creationId xmlns:p14="http://schemas.microsoft.com/office/powerpoint/2010/main" val="84254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0073-C4DC-CC3B-78FB-8CA554DC69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492A93-13C3-2693-52FA-DA0C19979CD1}"/>
              </a:ext>
            </a:extLst>
          </p:cNvPr>
          <p:cNvSpPr>
            <a:spLocks noGrp="1"/>
          </p:cNvSpPr>
          <p:nvPr>
            <p:ph type="title"/>
          </p:nvPr>
        </p:nvSpPr>
        <p:spPr>
          <a:xfrm>
            <a:off x="349626" y="0"/>
            <a:ext cx="7750766" cy="556895"/>
          </a:xfrm>
        </p:spPr>
        <p:txBody>
          <a:bodyPr vert="horz" lIns="46990" tIns="46990" rIns="46990" bIns="46990" rtlCol="0" anchor="ctr" anchorCtr="0">
            <a:noAutofit/>
          </a:bodyPr>
          <a:lstStyle/>
          <a:p>
            <a:r>
              <a:rPr kumimoji="1" lang="zh-CN" altLang="en-US" dirty="0">
                <a:solidFill>
                  <a:srgbClr val="196494"/>
                </a:solidFill>
              </a:rPr>
              <a:t>浙江医院心血管健康监测综合管理</a:t>
            </a:r>
          </a:p>
        </p:txBody>
      </p:sp>
      <p:pic>
        <p:nvPicPr>
          <p:cNvPr id="3" name="picture 1032">
            <a:extLst>
              <a:ext uri="{FF2B5EF4-FFF2-40B4-BE49-F238E27FC236}">
                <a16:creationId xmlns:a16="http://schemas.microsoft.com/office/drawing/2014/main" id="{78C461ED-97D1-0452-6E0B-E57DB28B4C08}"/>
              </a:ext>
            </a:extLst>
          </p:cNvPr>
          <p:cNvPicPr>
            <a:picLocks noChangeAspect="1"/>
          </p:cNvPicPr>
          <p:nvPr/>
        </p:nvPicPr>
        <p:blipFill>
          <a:blip r:embed="rId3"/>
          <a:stretch>
            <a:fillRect/>
          </a:stretch>
        </p:blipFill>
        <p:spPr>
          <a:xfrm rot="21600000">
            <a:off x="4258040" y="1020538"/>
            <a:ext cx="3823716" cy="1702816"/>
          </a:xfrm>
          <a:prstGeom prst="rect">
            <a:avLst/>
          </a:prstGeom>
        </p:spPr>
      </p:pic>
      <p:grpSp>
        <p:nvGrpSpPr>
          <p:cNvPr id="4" name="group 62">
            <a:extLst>
              <a:ext uri="{FF2B5EF4-FFF2-40B4-BE49-F238E27FC236}">
                <a16:creationId xmlns:a16="http://schemas.microsoft.com/office/drawing/2014/main" id="{49473E6D-B542-53DD-0B00-D7E02B53B8A7}"/>
              </a:ext>
            </a:extLst>
          </p:cNvPr>
          <p:cNvGrpSpPr/>
          <p:nvPr/>
        </p:nvGrpSpPr>
        <p:grpSpPr>
          <a:xfrm rot="21600000">
            <a:off x="1517135" y="3453875"/>
            <a:ext cx="2741421" cy="1476034"/>
            <a:chOff x="0" y="0"/>
            <a:chExt cx="2741421" cy="1476034"/>
          </a:xfrm>
        </p:grpSpPr>
        <p:sp>
          <p:nvSpPr>
            <p:cNvPr id="5" name="path 1034">
              <a:extLst>
                <a:ext uri="{FF2B5EF4-FFF2-40B4-BE49-F238E27FC236}">
                  <a16:creationId xmlns:a16="http://schemas.microsoft.com/office/drawing/2014/main" id="{CCD60859-29B4-8E74-DDAC-F80805B75B7E}"/>
                </a:ext>
              </a:extLst>
            </p:cNvPr>
            <p:cNvSpPr/>
            <p:nvPr/>
          </p:nvSpPr>
          <p:spPr>
            <a:xfrm>
              <a:off x="0" y="0"/>
              <a:ext cx="2741421" cy="1006932"/>
            </a:xfrm>
            <a:custGeom>
              <a:avLst/>
              <a:gdLst/>
              <a:ahLst/>
              <a:cxnLst/>
              <a:rect l="0" t="0" r="0" b="0"/>
              <a:pathLst>
                <a:path w="4317" h="1585">
                  <a:moveTo>
                    <a:pt x="4297" y="1565"/>
                  </a:moveTo>
                  <a:lnTo>
                    <a:pt x="0" y="1565"/>
                  </a:lnTo>
                  <a:moveTo>
                    <a:pt x="0" y="20"/>
                  </a:moveTo>
                  <a:lnTo>
                    <a:pt x="4297" y="20"/>
                  </a:lnTo>
                  <a:lnTo>
                    <a:pt x="4297" y="1565"/>
                  </a:lnTo>
                </a:path>
              </a:pathLst>
            </a:custGeom>
            <a:noFill/>
            <a:ln w="25400" cap="flat">
              <a:solidFill>
                <a:srgbClr val="FFFFFF"/>
              </a:solidFill>
              <a:prstDash val="solid"/>
              <a:round/>
            </a:ln>
          </p:spPr>
          <p:txBody>
            <a:bodyPr rtlCol="0"/>
            <a:lstStyle/>
            <a:p>
              <a:pPr algn="ctr"/>
              <a:endParaRPr lang="zh-CN" altLang="en-US"/>
            </a:p>
          </p:txBody>
        </p:sp>
        <p:sp>
          <p:nvSpPr>
            <p:cNvPr id="6" name="textbox 1036">
              <a:extLst>
                <a:ext uri="{FF2B5EF4-FFF2-40B4-BE49-F238E27FC236}">
                  <a16:creationId xmlns:a16="http://schemas.microsoft.com/office/drawing/2014/main" id="{BAA9FFA8-728D-0A98-1BB6-FC2AFCB95C60}"/>
                </a:ext>
              </a:extLst>
            </p:cNvPr>
            <p:cNvSpPr/>
            <p:nvPr/>
          </p:nvSpPr>
          <p:spPr>
            <a:xfrm>
              <a:off x="59009" y="178729"/>
              <a:ext cx="2632972" cy="1297305"/>
            </a:xfrm>
            <a:prstGeom prst="rect">
              <a:avLst/>
            </a:prstGeom>
            <a:noFill/>
            <a:ln w="0" cap="flat">
              <a:noFill/>
              <a:prstDash val="solid"/>
              <a:miter lim="0"/>
            </a:ln>
          </p:spPr>
          <p:txBody>
            <a:bodyPr vert="horz" wrap="square" lIns="0" tIns="0" rIns="0" bIns="0"/>
            <a:lstStyle/>
            <a:p>
              <a:pPr algn="l" rtl="0" eaLnBrk="0">
                <a:lnSpc>
                  <a:spcPct val="102000"/>
                </a:lnSpc>
              </a:pPr>
              <a:endParaRPr sz="900" dirty="0">
                <a:latin typeface="Arial" panose="020B0604020202020204"/>
                <a:ea typeface="Arial" panose="020B0604020202020204"/>
                <a:cs typeface="Arial" panose="020B0604020202020204"/>
              </a:endParaRPr>
            </a:p>
            <a:p>
              <a:pPr marL="137795" indent="635" algn="l" rtl="0" eaLnBrk="0">
                <a:lnSpc>
                  <a:spcPct val="150000"/>
                </a:lnSpc>
              </a:pPr>
              <a:r>
                <a:rPr lang="zh-CN" altLang="en-US" sz="8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好络维承建</a:t>
              </a:r>
              <a:r>
                <a:rPr lang="en-US" altLang="zh-CN" sz="8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8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心血管病数字健康和综合监测管理云平台</a:t>
              </a:r>
              <a:r>
                <a:rPr lang="en-US" altLang="zh-CN" sz="8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8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，对人群开展心血管病危险因素和患病情况调查， 筛选高危人群，通过适宜技术进行综合干预，极大提高了心脑血管病知晓率、治疗率和控制率，有效降低心脑血管病的发生率和死亡率，规范和优化心血管病治疗过程。</a:t>
              </a:r>
              <a:endParaRPr sz="800" dirty="0">
                <a:latin typeface="微软雅黑" panose="020B0503020204020204" charset="-122"/>
                <a:ea typeface="微软雅黑" panose="020B0503020204020204" charset="-122"/>
                <a:cs typeface="微软雅黑" panose="020B0503020204020204" charset="-122"/>
              </a:endParaRPr>
            </a:p>
          </p:txBody>
        </p:sp>
      </p:grpSp>
      <p:graphicFrame>
        <p:nvGraphicFramePr>
          <p:cNvPr id="7" name="table 1038">
            <a:extLst>
              <a:ext uri="{FF2B5EF4-FFF2-40B4-BE49-F238E27FC236}">
                <a16:creationId xmlns:a16="http://schemas.microsoft.com/office/drawing/2014/main" id="{0DF30919-220A-6ACE-1A71-2C6F62183D43}"/>
              </a:ext>
            </a:extLst>
          </p:cNvPr>
          <p:cNvGraphicFramePr>
            <a:graphicFrameLocks noGrp="1"/>
          </p:cNvGraphicFramePr>
          <p:nvPr>
            <p:extLst>
              <p:ext uri="{D42A27DB-BD31-4B8C-83A1-F6EECF244321}">
                <p14:modId xmlns:p14="http://schemas.microsoft.com/office/powerpoint/2010/main" val="3844247880"/>
              </p:ext>
            </p:extLst>
          </p:nvPr>
        </p:nvGraphicFramePr>
        <p:xfrm>
          <a:off x="1576876" y="1076257"/>
          <a:ext cx="2604502" cy="1170665"/>
        </p:xfrm>
        <a:graphic>
          <a:graphicData uri="http://schemas.openxmlformats.org/drawingml/2006/table">
            <a:tbl>
              <a:tblPr/>
              <a:tblGrid>
                <a:gridCol w="2604502">
                  <a:extLst>
                    <a:ext uri="{9D8B030D-6E8A-4147-A177-3AD203B41FA5}">
                      <a16:colId xmlns:a16="http://schemas.microsoft.com/office/drawing/2014/main" val="20000"/>
                    </a:ext>
                  </a:extLst>
                </a:gridCol>
              </a:tblGrid>
              <a:tr h="1170665">
                <a:tc>
                  <a:txBody>
                    <a:bodyPr/>
                    <a:lstStyle/>
                    <a:p>
                      <a:pPr algn="l" rtl="0" eaLnBrk="0">
                        <a:lnSpc>
                          <a:spcPct val="151000"/>
                        </a:lnSpc>
                      </a:pPr>
                      <a:endParaRPr sz="1000" spc="0" dirty="0">
                        <a:latin typeface="微软雅黑" panose="020B0503020204020204" pitchFamily="34" charset="-122"/>
                        <a:ea typeface="微软雅黑" panose="020B0503020204020204" pitchFamily="34" charset="-122"/>
                        <a:cs typeface="Arial" panose="020B0604020202020204"/>
                      </a:endParaRPr>
                    </a:p>
                    <a:p>
                      <a:pPr marL="133985" algn="l" rtl="0" eaLnBrk="0">
                        <a:lnSpc>
                          <a:spcPct val="150000"/>
                        </a:lnSpc>
                        <a:spcBef>
                          <a:spcPts val="0"/>
                        </a:spcBef>
                      </a:pPr>
                      <a:r>
                        <a:rPr sz="8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2019年浙江省死因监测提示：全省心脑血管病死亡率为213.13/10万，占死因构成的34.53%， </a:t>
                      </a:r>
                      <a:r>
                        <a:rPr sz="800" kern="0" spc="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已位居浙江省居民死因第</a:t>
                      </a:r>
                      <a:r>
                        <a:rPr sz="8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  1 位。《健康浙江 2030》明确提出，到 2025年浙江省心脑血管病死亡率≤190.94/10万， </a:t>
                      </a:r>
                      <a:r>
                        <a:rPr sz="800" kern="0" spc="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全省心脑血管防治</a:t>
                      </a:r>
                      <a:r>
                        <a:rPr lang="zh-CN" altLang="en-US" sz="8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任务</a:t>
                      </a:r>
                      <a:r>
                        <a:rPr sz="800" kern="0" spc="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任务任重道远</a:t>
                      </a:r>
                      <a:r>
                        <a:rPr sz="8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charset="-122"/>
                        </a:rPr>
                        <a:t>。</a:t>
                      </a:r>
                      <a:endParaRPr sz="800" spc="0" dirty="0">
                        <a:latin typeface="微软雅黑" panose="020B0503020204020204" pitchFamily="34" charset="-122"/>
                        <a:ea typeface="微软雅黑" panose="020B0503020204020204" pitchFamily="34" charset="-122"/>
                        <a:cs typeface="微软雅黑" panose="020B0503020204020204" charset="-122"/>
                      </a:endParaRPr>
                    </a:p>
                  </a:txBody>
                  <a:tcPr marL="0" marR="0" marT="0" marB="0">
                    <a:lnL>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8" name="path 1040">
            <a:extLst>
              <a:ext uri="{FF2B5EF4-FFF2-40B4-BE49-F238E27FC236}">
                <a16:creationId xmlns:a16="http://schemas.microsoft.com/office/drawing/2014/main" id="{717EFCAF-1305-68F1-6450-8DF573B4A8CE}"/>
              </a:ext>
            </a:extLst>
          </p:cNvPr>
          <p:cNvSpPr/>
          <p:nvPr/>
        </p:nvSpPr>
        <p:spPr>
          <a:xfrm>
            <a:off x="4378564" y="3015327"/>
            <a:ext cx="3241166" cy="807669"/>
          </a:xfrm>
          <a:custGeom>
            <a:avLst/>
            <a:gdLst/>
            <a:ahLst/>
            <a:cxnLst/>
            <a:rect l="0" t="0" r="0" b="0"/>
            <a:pathLst>
              <a:path w="5104" h="1271">
                <a:moveTo>
                  <a:pt x="0" y="64"/>
                </a:moveTo>
                <a:moveTo>
                  <a:pt x="0" y="64"/>
                </a:moveTo>
                <a:cubicBezTo>
                  <a:pt x="0" y="28"/>
                  <a:pt x="28" y="0"/>
                  <a:pt x="64" y="0"/>
                </a:cubicBezTo>
                <a:lnTo>
                  <a:pt x="5040" y="0"/>
                </a:lnTo>
                <a:cubicBezTo>
                  <a:pt x="5075" y="0"/>
                  <a:pt x="5104" y="28"/>
                  <a:pt x="5104" y="64"/>
                </a:cubicBezTo>
                <a:lnTo>
                  <a:pt x="5104" y="1207"/>
                </a:lnTo>
                <a:cubicBezTo>
                  <a:pt x="5104" y="1243"/>
                  <a:pt x="5075" y="1271"/>
                  <a:pt x="5040" y="1271"/>
                </a:cubicBezTo>
                <a:lnTo>
                  <a:pt x="64" y="1271"/>
                </a:lnTo>
                <a:cubicBezTo>
                  <a:pt x="28" y="1271"/>
                  <a:pt x="0" y="1243"/>
                  <a:pt x="0" y="1207"/>
                </a:cubicBezTo>
                <a:lnTo>
                  <a:pt x="0" y="64"/>
                </a:lnTo>
                <a:close/>
              </a:path>
              <a:path w="5104" h="1271">
                <a:moveTo>
                  <a:pt x="481" y="681"/>
                </a:moveTo>
                <a:moveTo>
                  <a:pt x="481" y="681"/>
                </a:moveTo>
                <a:cubicBezTo>
                  <a:pt x="481" y="659"/>
                  <a:pt x="498" y="642"/>
                  <a:pt x="520" y="642"/>
                </a:cubicBezTo>
                <a:lnTo>
                  <a:pt x="1413" y="642"/>
                </a:lnTo>
                <a:cubicBezTo>
                  <a:pt x="1434" y="642"/>
                  <a:pt x="1452" y="659"/>
                  <a:pt x="1452" y="681"/>
                </a:cubicBezTo>
                <a:lnTo>
                  <a:pt x="1452" y="1060"/>
                </a:lnTo>
                <a:cubicBezTo>
                  <a:pt x="1452" y="1081"/>
                  <a:pt x="1434" y="1098"/>
                  <a:pt x="1413" y="1098"/>
                </a:cubicBezTo>
                <a:lnTo>
                  <a:pt x="520" y="1098"/>
                </a:lnTo>
                <a:cubicBezTo>
                  <a:pt x="498" y="1098"/>
                  <a:pt x="481" y="1081"/>
                  <a:pt x="481" y="1060"/>
                </a:cubicBezTo>
                <a:lnTo>
                  <a:pt x="481" y="681"/>
                </a:lnTo>
                <a:close/>
              </a:path>
              <a:path w="5104" h="1271">
                <a:moveTo>
                  <a:pt x="487" y="110"/>
                </a:moveTo>
                <a:moveTo>
                  <a:pt x="487" y="110"/>
                </a:moveTo>
                <a:cubicBezTo>
                  <a:pt x="487" y="92"/>
                  <a:pt x="501" y="78"/>
                  <a:pt x="519" y="78"/>
                </a:cubicBezTo>
                <a:lnTo>
                  <a:pt x="1419" y="78"/>
                </a:lnTo>
                <a:cubicBezTo>
                  <a:pt x="1437" y="78"/>
                  <a:pt x="1452" y="92"/>
                  <a:pt x="1452" y="110"/>
                </a:cubicBezTo>
                <a:lnTo>
                  <a:pt x="1452" y="495"/>
                </a:lnTo>
                <a:cubicBezTo>
                  <a:pt x="1452" y="513"/>
                  <a:pt x="1437" y="528"/>
                  <a:pt x="1419" y="528"/>
                </a:cubicBezTo>
                <a:lnTo>
                  <a:pt x="519" y="528"/>
                </a:lnTo>
                <a:cubicBezTo>
                  <a:pt x="501" y="528"/>
                  <a:pt x="487" y="513"/>
                  <a:pt x="487" y="495"/>
                </a:cubicBezTo>
                <a:lnTo>
                  <a:pt x="487" y="110"/>
                </a:lnTo>
                <a:close/>
              </a:path>
              <a:path w="5104" h="1271">
                <a:moveTo>
                  <a:pt x="1578" y="683"/>
                </a:moveTo>
                <a:moveTo>
                  <a:pt x="1578" y="683"/>
                </a:moveTo>
                <a:cubicBezTo>
                  <a:pt x="1578" y="662"/>
                  <a:pt x="1595" y="644"/>
                  <a:pt x="1616" y="644"/>
                </a:cubicBezTo>
                <a:lnTo>
                  <a:pt x="2696" y="644"/>
                </a:lnTo>
                <a:cubicBezTo>
                  <a:pt x="2717" y="644"/>
                  <a:pt x="2734" y="662"/>
                  <a:pt x="2734" y="683"/>
                </a:cubicBezTo>
                <a:lnTo>
                  <a:pt x="2734" y="1058"/>
                </a:lnTo>
                <a:cubicBezTo>
                  <a:pt x="2734" y="1079"/>
                  <a:pt x="2717" y="1096"/>
                  <a:pt x="2696" y="1096"/>
                </a:cubicBezTo>
                <a:lnTo>
                  <a:pt x="1616" y="1096"/>
                </a:lnTo>
                <a:cubicBezTo>
                  <a:pt x="1595" y="1096"/>
                  <a:pt x="1578" y="1079"/>
                  <a:pt x="1578" y="1058"/>
                </a:cubicBezTo>
                <a:lnTo>
                  <a:pt x="1578" y="683"/>
                </a:lnTo>
                <a:close/>
              </a:path>
              <a:path w="5104" h="1271">
                <a:moveTo>
                  <a:pt x="1585" y="117"/>
                </a:moveTo>
                <a:moveTo>
                  <a:pt x="1585" y="117"/>
                </a:moveTo>
                <a:cubicBezTo>
                  <a:pt x="1585" y="99"/>
                  <a:pt x="1600" y="84"/>
                  <a:pt x="1618" y="84"/>
                </a:cubicBezTo>
                <a:lnTo>
                  <a:pt x="3778" y="84"/>
                </a:lnTo>
                <a:cubicBezTo>
                  <a:pt x="3797" y="84"/>
                  <a:pt x="3811" y="99"/>
                  <a:pt x="3811" y="117"/>
                </a:cubicBezTo>
                <a:lnTo>
                  <a:pt x="3811" y="501"/>
                </a:lnTo>
                <a:cubicBezTo>
                  <a:pt x="3811" y="519"/>
                  <a:pt x="3797" y="534"/>
                  <a:pt x="3778" y="534"/>
                </a:cubicBezTo>
                <a:lnTo>
                  <a:pt x="1618" y="534"/>
                </a:lnTo>
                <a:cubicBezTo>
                  <a:pt x="1600" y="534"/>
                  <a:pt x="1585" y="519"/>
                  <a:pt x="1585" y="501"/>
                </a:cubicBezTo>
                <a:lnTo>
                  <a:pt x="1585" y="117"/>
                </a:lnTo>
                <a:close/>
              </a:path>
              <a:path w="5104" h="1271">
                <a:moveTo>
                  <a:pt x="2825" y="683"/>
                </a:moveTo>
                <a:moveTo>
                  <a:pt x="2825" y="683"/>
                </a:moveTo>
                <a:cubicBezTo>
                  <a:pt x="2825" y="662"/>
                  <a:pt x="2842" y="645"/>
                  <a:pt x="2863" y="645"/>
                </a:cubicBezTo>
                <a:lnTo>
                  <a:pt x="3781" y="645"/>
                </a:lnTo>
                <a:cubicBezTo>
                  <a:pt x="3802" y="645"/>
                  <a:pt x="3818" y="662"/>
                  <a:pt x="3818" y="683"/>
                </a:cubicBezTo>
                <a:lnTo>
                  <a:pt x="3818" y="1057"/>
                </a:lnTo>
                <a:cubicBezTo>
                  <a:pt x="3818" y="1078"/>
                  <a:pt x="3802" y="1095"/>
                  <a:pt x="3781" y="1095"/>
                </a:cubicBezTo>
                <a:lnTo>
                  <a:pt x="2863" y="1095"/>
                </a:lnTo>
                <a:cubicBezTo>
                  <a:pt x="2842" y="1095"/>
                  <a:pt x="2825" y="1078"/>
                  <a:pt x="2825" y="1057"/>
                </a:cubicBezTo>
                <a:lnTo>
                  <a:pt x="2825" y="683"/>
                </a:lnTo>
                <a:close/>
              </a:path>
              <a:path w="5104" h="1271">
                <a:moveTo>
                  <a:pt x="3910" y="117"/>
                </a:moveTo>
                <a:moveTo>
                  <a:pt x="3910" y="117"/>
                </a:moveTo>
                <a:cubicBezTo>
                  <a:pt x="3910" y="96"/>
                  <a:pt x="3927" y="79"/>
                  <a:pt x="3948" y="79"/>
                </a:cubicBezTo>
                <a:lnTo>
                  <a:pt x="4894" y="79"/>
                </a:lnTo>
                <a:cubicBezTo>
                  <a:pt x="4916" y="79"/>
                  <a:pt x="4932" y="96"/>
                  <a:pt x="4932" y="117"/>
                </a:cubicBezTo>
                <a:lnTo>
                  <a:pt x="4932" y="489"/>
                </a:lnTo>
                <a:cubicBezTo>
                  <a:pt x="4932" y="509"/>
                  <a:pt x="4916" y="526"/>
                  <a:pt x="4894" y="526"/>
                </a:cubicBezTo>
                <a:lnTo>
                  <a:pt x="3948" y="526"/>
                </a:lnTo>
                <a:cubicBezTo>
                  <a:pt x="3927" y="526"/>
                  <a:pt x="3910" y="509"/>
                  <a:pt x="3910" y="489"/>
                </a:cubicBezTo>
                <a:lnTo>
                  <a:pt x="3910" y="117"/>
                </a:lnTo>
                <a:close/>
              </a:path>
              <a:path w="5104" h="1271">
                <a:moveTo>
                  <a:pt x="3910" y="685"/>
                </a:moveTo>
                <a:moveTo>
                  <a:pt x="3910" y="685"/>
                </a:moveTo>
                <a:cubicBezTo>
                  <a:pt x="3910" y="665"/>
                  <a:pt x="3927" y="648"/>
                  <a:pt x="3947" y="648"/>
                </a:cubicBezTo>
                <a:lnTo>
                  <a:pt x="4895" y="648"/>
                </a:lnTo>
                <a:cubicBezTo>
                  <a:pt x="4916" y="648"/>
                  <a:pt x="4932" y="665"/>
                  <a:pt x="4932" y="685"/>
                </a:cubicBezTo>
                <a:lnTo>
                  <a:pt x="4932" y="1055"/>
                </a:lnTo>
                <a:cubicBezTo>
                  <a:pt x="4932" y="1076"/>
                  <a:pt x="4916" y="1093"/>
                  <a:pt x="4895" y="1093"/>
                </a:cubicBezTo>
                <a:lnTo>
                  <a:pt x="3947" y="1093"/>
                </a:lnTo>
                <a:cubicBezTo>
                  <a:pt x="3927" y="1093"/>
                  <a:pt x="3910" y="1076"/>
                  <a:pt x="3910" y="1055"/>
                </a:cubicBezTo>
                <a:lnTo>
                  <a:pt x="3910" y="685"/>
                </a:lnTo>
                <a:close/>
              </a:path>
            </a:pathLst>
          </a:custGeom>
          <a:solidFill>
            <a:srgbClr val="4F81BD">
              <a:alpha val="50196"/>
            </a:srgbClr>
          </a:solidFill>
          <a:ln w="0" cap="flat">
            <a:noFill/>
            <a:prstDash val="solid"/>
            <a:miter lim="0"/>
          </a:ln>
        </p:spPr>
        <p:txBody>
          <a:bodyPr rtlCol="0"/>
          <a:lstStyle/>
          <a:p>
            <a:pPr algn="ctr"/>
            <a:endParaRPr lang="zh-CN" altLang="en-US"/>
          </a:p>
        </p:txBody>
      </p:sp>
      <p:sp>
        <p:nvSpPr>
          <p:cNvPr id="9" name="path 1042">
            <a:extLst>
              <a:ext uri="{FF2B5EF4-FFF2-40B4-BE49-F238E27FC236}">
                <a16:creationId xmlns:a16="http://schemas.microsoft.com/office/drawing/2014/main" id="{AE660A6E-6E42-BC15-EF6B-2B30A57B5BA4}"/>
              </a:ext>
            </a:extLst>
          </p:cNvPr>
          <p:cNvSpPr/>
          <p:nvPr/>
        </p:nvSpPr>
        <p:spPr>
          <a:xfrm>
            <a:off x="4385676" y="3879613"/>
            <a:ext cx="3235071" cy="676617"/>
          </a:xfrm>
          <a:custGeom>
            <a:avLst/>
            <a:gdLst/>
            <a:ahLst/>
            <a:cxnLst/>
            <a:rect l="0" t="0" r="0" b="0"/>
            <a:pathLst>
              <a:path w="5094" h="1065">
                <a:moveTo>
                  <a:pt x="0" y="53"/>
                </a:moveTo>
                <a:moveTo>
                  <a:pt x="0" y="53"/>
                </a:moveTo>
                <a:cubicBezTo>
                  <a:pt x="0" y="24"/>
                  <a:pt x="24" y="0"/>
                  <a:pt x="53" y="0"/>
                </a:cubicBezTo>
                <a:lnTo>
                  <a:pt x="5040" y="0"/>
                </a:lnTo>
                <a:cubicBezTo>
                  <a:pt x="5070" y="0"/>
                  <a:pt x="5094" y="24"/>
                  <a:pt x="5094" y="53"/>
                </a:cubicBezTo>
                <a:lnTo>
                  <a:pt x="5094" y="1011"/>
                </a:lnTo>
                <a:cubicBezTo>
                  <a:pt x="5094" y="1041"/>
                  <a:pt x="5070" y="1065"/>
                  <a:pt x="5040" y="1065"/>
                </a:cubicBezTo>
                <a:lnTo>
                  <a:pt x="53" y="1065"/>
                </a:lnTo>
                <a:cubicBezTo>
                  <a:pt x="24" y="1065"/>
                  <a:pt x="0" y="1041"/>
                  <a:pt x="0" y="1011"/>
                </a:cubicBezTo>
                <a:lnTo>
                  <a:pt x="0" y="53"/>
                </a:lnTo>
                <a:close/>
              </a:path>
              <a:path w="5094" h="1065">
                <a:moveTo>
                  <a:pt x="465" y="170"/>
                </a:moveTo>
                <a:moveTo>
                  <a:pt x="465" y="170"/>
                </a:moveTo>
                <a:cubicBezTo>
                  <a:pt x="465" y="136"/>
                  <a:pt x="492" y="109"/>
                  <a:pt x="526" y="109"/>
                </a:cubicBezTo>
                <a:lnTo>
                  <a:pt x="1380" y="109"/>
                </a:lnTo>
                <a:cubicBezTo>
                  <a:pt x="1413" y="109"/>
                  <a:pt x="1440" y="136"/>
                  <a:pt x="1440" y="170"/>
                </a:cubicBezTo>
                <a:lnTo>
                  <a:pt x="1440" y="879"/>
                </a:lnTo>
                <a:cubicBezTo>
                  <a:pt x="1440" y="913"/>
                  <a:pt x="1413" y="940"/>
                  <a:pt x="1380" y="940"/>
                </a:cubicBezTo>
                <a:lnTo>
                  <a:pt x="526" y="940"/>
                </a:lnTo>
                <a:cubicBezTo>
                  <a:pt x="492" y="940"/>
                  <a:pt x="465" y="913"/>
                  <a:pt x="465" y="879"/>
                </a:cubicBezTo>
                <a:lnTo>
                  <a:pt x="465" y="170"/>
                </a:lnTo>
                <a:close/>
              </a:path>
              <a:path w="5094" h="1065">
                <a:moveTo>
                  <a:pt x="1567" y="136"/>
                </a:moveTo>
                <a:moveTo>
                  <a:pt x="1567" y="136"/>
                </a:moveTo>
                <a:cubicBezTo>
                  <a:pt x="1567" y="121"/>
                  <a:pt x="1579" y="109"/>
                  <a:pt x="1594" y="109"/>
                </a:cubicBezTo>
                <a:lnTo>
                  <a:pt x="3103" y="109"/>
                </a:lnTo>
                <a:cubicBezTo>
                  <a:pt x="3118" y="109"/>
                  <a:pt x="3130" y="121"/>
                  <a:pt x="3130" y="136"/>
                </a:cubicBezTo>
                <a:lnTo>
                  <a:pt x="3130" y="453"/>
                </a:lnTo>
                <a:cubicBezTo>
                  <a:pt x="3130" y="468"/>
                  <a:pt x="3118" y="480"/>
                  <a:pt x="3103" y="480"/>
                </a:cubicBezTo>
                <a:lnTo>
                  <a:pt x="1594" y="480"/>
                </a:lnTo>
                <a:cubicBezTo>
                  <a:pt x="1579" y="480"/>
                  <a:pt x="1567" y="468"/>
                  <a:pt x="1567" y="453"/>
                </a:cubicBezTo>
                <a:lnTo>
                  <a:pt x="1567" y="136"/>
                </a:lnTo>
                <a:close/>
              </a:path>
              <a:path w="5094" h="1065">
                <a:moveTo>
                  <a:pt x="3365" y="141"/>
                </a:moveTo>
                <a:moveTo>
                  <a:pt x="3365" y="141"/>
                </a:moveTo>
                <a:cubicBezTo>
                  <a:pt x="3365" y="126"/>
                  <a:pt x="3377" y="114"/>
                  <a:pt x="3392" y="114"/>
                </a:cubicBezTo>
                <a:lnTo>
                  <a:pt x="4901" y="114"/>
                </a:lnTo>
                <a:cubicBezTo>
                  <a:pt x="4916" y="114"/>
                  <a:pt x="4928" y="126"/>
                  <a:pt x="4928" y="141"/>
                </a:cubicBezTo>
                <a:lnTo>
                  <a:pt x="4928" y="457"/>
                </a:lnTo>
                <a:cubicBezTo>
                  <a:pt x="4928" y="472"/>
                  <a:pt x="4916" y="484"/>
                  <a:pt x="4901" y="484"/>
                </a:cubicBezTo>
                <a:lnTo>
                  <a:pt x="3392" y="484"/>
                </a:lnTo>
                <a:cubicBezTo>
                  <a:pt x="3377" y="484"/>
                  <a:pt x="3365" y="472"/>
                  <a:pt x="3365" y="457"/>
                </a:cubicBezTo>
                <a:lnTo>
                  <a:pt x="3365" y="141"/>
                </a:lnTo>
                <a:close/>
              </a:path>
              <a:path w="5094" h="1065">
                <a:moveTo>
                  <a:pt x="1567" y="623"/>
                </a:moveTo>
                <a:moveTo>
                  <a:pt x="1567" y="623"/>
                </a:moveTo>
                <a:cubicBezTo>
                  <a:pt x="1567" y="610"/>
                  <a:pt x="1578" y="598"/>
                  <a:pt x="1592" y="598"/>
                </a:cubicBezTo>
                <a:lnTo>
                  <a:pt x="4903" y="598"/>
                </a:lnTo>
                <a:cubicBezTo>
                  <a:pt x="4917" y="598"/>
                  <a:pt x="4928" y="610"/>
                  <a:pt x="4928" y="623"/>
                </a:cubicBezTo>
                <a:lnTo>
                  <a:pt x="4928" y="915"/>
                </a:lnTo>
                <a:cubicBezTo>
                  <a:pt x="4928" y="929"/>
                  <a:pt x="4917" y="940"/>
                  <a:pt x="4903" y="940"/>
                </a:cubicBezTo>
                <a:lnTo>
                  <a:pt x="1592" y="940"/>
                </a:lnTo>
                <a:cubicBezTo>
                  <a:pt x="1578" y="940"/>
                  <a:pt x="1567" y="929"/>
                  <a:pt x="1567" y="915"/>
                </a:cubicBezTo>
                <a:lnTo>
                  <a:pt x="1567" y="623"/>
                </a:lnTo>
                <a:close/>
              </a:path>
            </a:pathLst>
          </a:custGeom>
          <a:solidFill>
            <a:srgbClr val="4F81BD">
              <a:alpha val="50196"/>
            </a:srgbClr>
          </a:solidFill>
          <a:ln w="0" cap="flat">
            <a:noFill/>
            <a:prstDash val="solid"/>
            <a:miter lim="0"/>
          </a:ln>
        </p:spPr>
        <p:txBody>
          <a:bodyPr rtlCol="0"/>
          <a:lstStyle/>
          <a:p>
            <a:pPr algn="ctr"/>
            <a:endParaRPr lang="zh-CN" altLang="en-US"/>
          </a:p>
        </p:txBody>
      </p:sp>
      <p:pic>
        <p:nvPicPr>
          <p:cNvPr id="11" name="picture 1048">
            <a:extLst>
              <a:ext uri="{FF2B5EF4-FFF2-40B4-BE49-F238E27FC236}">
                <a16:creationId xmlns:a16="http://schemas.microsoft.com/office/drawing/2014/main" id="{7DBCBA6A-C79B-DD22-FA12-4B474131ED1F}"/>
              </a:ext>
            </a:extLst>
          </p:cNvPr>
          <p:cNvPicPr>
            <a:picLocks noChangeAspect="1"/>
          </p:cNvPicPr>
          <p:nvPr/>
        </p:nvPicPr>
        <p:blipFill>
          <a:blip r:embed="rId4"/>
          <a:stretch>
            <a:fillRect/>
          </a:stretch>
        </p:blipFill>
        <p:spPr>
          <a:xfrm rot="21600000">
            <a:off x="615569" y="2436637"/>
            <a:ext cx="978757" cy="1036271"/>
          </a:xfrm>
          <a:prstGeom prst="rect">
            <a:avLst/>
          </a:prstGeom>
        </p:spPr>
      </p:pic>
      <p:sp>
        <p:nvSpPr>
          <p:cNvPr id="12" name="textbox 1050">
            <a:extLst>
              <a:ext uri="{FF2B5EF4-FFF2-40B4-BE49-F238E27FC236}">
                <a16:creationId xmlns:a16="http://schemas.microsoft.com/office/drawing/2014/main" id="{5A9DD566-65B7-2907-83AA-A06C82C70338}"/>
              </a:ext>
            </a:extLst>
          </p:cNvPr>
          <p:cNvSpPr/>
          <p:nvPr/>
        </p:nvSpPr>
        <p:spPr>
          <a:xfrm>
            <a:off x="1692117" y="2713342"/>
            <a:ext cx="2503708" cy="872742"/>
          </a:xfrm>
          <a:prstGeom prst="rect">
            <a:avLst/>
          </a:prstGeom>
          <a:noFill/>
          <a:ln w="0" cap="flat">
            <a:noFill/>
            <a:prstDash val="solid"/>
            <a:miter lim="0"/>
          </a:ln>
        </p:spPr>
        <p:txBody>
          <a:bodyPr vert="horz" wrap="square" lIns="0" tIns="803" rIns="0" bIns="0"/>
          <a:lstStyle/>
          <a:p>
            <a:pPr marL="12700" algn="l" rtl="0" eaLnBrk="0">
              <a:lnSpc>
                <a:spcPct val="150000"/>
              </a:lnSpc>
            </a:pPr>
            <a:r>
              <a:rPr sz="800" kern="0" dirty="0">
                <a:solidFill>
                  <a:srgbClr val="000000">
                    <a:alpha val="100000"/>
                  </a:srgbClr>
                </a:solidFill>
                <a:latin typeface="微软雅黑" panose="020B0503020204020204" charset="-122"/>
                <a:ea typeface="微软雅黑" panose="020B0503020204020204" charset="-122"/>
                <a:cs typeface="微软雅黑" panose="020B0503020204020204" charset="-122"/>
              </a:rPr>
              <a:t>浙江医院作为浙江省心脑血管病防治研究中心挂靠医院，开展全省心脑血管病危险因素监测和干预管理工作，负责省级项目技术培训、督导和信息汇总分析工作。</a:t>
            </a:r>
            <a:endParaRPr sz="800" dirty="0">
              <a:latin typeface="微软雅黑" panose="020B0503020204020204" charset="-122"/>
              <a:ea typeface="微软雅黑" panose="020B0503020204020204" charset="-122"/>
              <a:cs typeface="微软雅黑" panose="020B0503020204020204" charset="-122"/>
            </a:endParaRPr>
          </a:p>
        </p:txBody>
      </p:sp>
      <p:sp>
        <p:nvSpPr>
          <p:cNvPr id="13" name="path 1052">
            <a:extLst>
              <a:ext uri="{FF2B5EF4-FFF2-40B4-BE49-F238E27FC236}">
                <a16:creationId xmlns:a16="http://schemas.microsoft.com/office/drawing/2014/main" id="{1293431A-014A-1289-C0C3-F9D09C063687}"/>
              </a:ext>
            </a:extLst>
          </p:cNvPr>
          <p:cNvSpPr/>
          <p:nvPr/>
        </p:nvSpPr>
        <p:spPr>
          <a:xfrm>
            <a:off x="997617" y="1246401"/>
            <a:ext cx="566087" cy="1000521"/>
          </a:xfrm>
          <a:custGeom>
            <a:avLst/>
            <a:gdLst/>
            <a:ahLst/>
            <a:cxnLst/>
            <a:rect l="0" t="0" r="0" b="0"/>
            <a:pathLst>
              <a:path w="891" h="1575">
                <a:moveTo>
                  <a:pt x="878" y="1560"/>
                </a:moveTo>
                <a:lnTo>
                  <a:pt x="13" y="787"/>
                </a:lnTo>
                <a:lnTo>
                  <a:pt x="878" y="14"/>
                </a:lnTo>
              </a:path>
            </a:pathLst>
          </a:custGeom>
          <a:noFill/>
          <a:ln w="25400" cap="flat">
            <a:solidFill>
              <a:srgbClr val="FFFFFF"/>
            </a:solidFill>
            <a:prstDash val="solid"/>
            <a:round/>
          </a:ln>
        </p:spPr>
        <p:txBody>
          <a:bodyPr rtlCol="0"/>
          <a:lstStyle/>
          <a:p>
            <a:pPr algn="ctr"/>
            <a:endParaRPr lang="zh-CN" altLang="en-US"/>
          </a:p>
        </p:txBody>
      </p:sp>
      <p:pic>
        <p:nvPicPr>
          <p:cNvPr id="14" name="picture 1054">
            <a:extLst>
              <a:ext uri="{FF2B5EF4-FFF2-40B4-BE49-F238E27FC236}">
                <a16:creationId xmlns:a16="http://schemas.microsoft.com/office/drawing/2014/main" id="{9B00338B-ECAC-7766-29EF-5357E1FE24B8}"/>
              </a:ext>
            </a:extLst>
          </p:cNvPr>
          <p:cNvPicPr>
            <a:picLocks noChangeAspect="1"/>
          </p:cNvPicPr>
          <p:nvPr/>
        </p:nvPicPr>
        <p:blipFill>
          <a:blip r:embed="rId5"/>
          <a:stretch>
            <a:fillRect/>
          </a:stretch>
        </p:blipFill>
        <p:spPr>
          <a:xfrm rot="21600000">
            <a:off x="562292" y="1325338"/>
            <a:ext cx="924750" cy="924814"/>
          </a:xfrm>
          <a:prstGeom prst="rect">
            <a:avLst/>
          </a:prstGeom>
        </p:spPr>
      </p:pic>
      <p:sp>
        <p:nvSpPr>
          <p:cNvPr id="15" name="textbox 1056">
            <a:extLst>
              <a:ext uri="{FF2B5EF4-FFF2-40B4-BE49-F238E27FC236}">
                <a16:creationId xmlns:a16="http://schemas.microsoft.com/office/drawing/2014/main" id="{FB9B6CC5-9E43-23C4-8A26-C4DBA4E65A2B}"/>
              </a:ext>
            </a:extLst>
          </p:cNvPr>
          <p:cNvSpPr/>
          <p:nvPr/>
        </p:nvSpPr>
        <p:spPr>
          <a:xfrm>
            <a:off x="4378564" y="2707226"/>
            <a:ext cx="3241675" cy="251459"/>
          </a:xfrm>
          <a:prstGeom prst="rect">
            <a:avLst/>
          </a:prstGeom>
          <a:solidFill>
            <a:srgbClr val="4F81BD">
              <a:alpha val="49803"/>
            </a:srgbClr>
          </a:solidFill>
          <a:ln w="0" cap="flat">
            <a:noFill/>
            <a:prstDash val="solid"/>
            <a:miter lim="0"/>
          </a:ln>
        </p:spPr>
        <p:txBody>
          <a:bodyPr vert="horz" wrap="square" lIns="0" tIns="0" rIns="0" bIns="0"/>
          <a:lstStyle/>
          <a:p>
            <a:pPr algn="l" rtl="0" eaLnBrk="0">
              <a:lnSpc>
                <a:spcPct val="114000"/>
              </a:lnSpc>
            </a:pPr>
            <a:endParaRPr sz="400" dirty="0">
              <a:latin typeface="Arial" panose="020B0604020202020204"/>
              <a:ea typeface="Arial" panose="020B0604020202020204"/>
              <a:cs typeface="Arial" panose="020B0604020202020204"/>
            </a:endParaRPr>
          </a:p>
          <a:p>
            <a:pPr marL="1370965" algn="l" rtl="0" eaLnBrk="0">
              <a:lnSpc>
                <a:spcPts val="1155"/>
              </a:lnSpc>
              <a:spcBef>
                <a:spcPts val="0"/>
              </a:spcBef>
            </a:pPr>
            <a:r>
              <a:rPr sz="9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业务管理</a:t>
            </a:r>
            <a:endParaRPr sz="900" dirty="0">
              <a:latin typeface="微软雅黑" panose="020B0503020204020204" charset="-122"/>
              <a:ea typeface="微软雅黑" panose="020B0503020204020204" charset="-122"/>
              <a:cs typeface="微软雅黑" panose="020B0503020204020204" charset="-122"/>
            </a:endParaRPr>
          </a:p>
        </p:txBody>
      </p:sp>
      <p:grpSp>
        <p:nvGrpSpPr>
          <p:cNvPr id="16" name="group 64">
            <a:extLst>
              <a:ext uri="{FF2B5EF4-FFF2-40B4-BE49-F238E27FC236}">
                <a16:creationId xmlns:a16="http://schemas.microsoft.com/office/drawing/2014/main" id="{BDF88A68-143D-652D-9404-EB9A74FDA300}"/>
              </a:ext>
            </a:extLst>
          </p:cNvPr>
          <p:cNvGrpSpPr/>
          <p:nvPr/>
        </p:nvGrpSpPr>
        <p:grpSpPr>
          <a:xfrm rot="21600000">
            <a:off x="7731237" y="2709131"/>
            <a:ext cx="639826" cy="1260944"/>
            <a:chOff x="0" y="0"/>
            <a:chExt cx="639826" cy="1260944"/>
          </a:xfrm>
        </p:grpSpPr>
        <p:sp>
          <p:nvSpPr>
            <p:cNvPr id="17" name="path 1058">
              <a:extLst>
                <a:ext uri="{FF2B5EF4-FFF2-40B4-BE49-F238E27FC236}">
                  <a16:creationId xmlns:a16="http://schemas.microsoft.com/office/drawing/2014/main" id="{AFC5EDC2-591F-CEA9-D92E-D190555A3B9F}"/>
                </a:ext>
              </a:extLst>
            </p:cNvPr>
            <p:cNvSpPr/>
            <p:nvPr/>
          </p:nvSpPr>
          <p:spPr>
            <a:xfrm>
              <a:off x="0" y="0"/>
              <a:ext cx="639826" cy="1260944"/>
            </a:xfrm>
            <a:custGeom>
              <a:avLst/>
              <a:gdLst/>
              <a:ahLst/>
              <a:cxnLst/>
              <a:rect l="0" t="0" r="0" b="0"/>
              <a:pathLst>
                <a:path w="1007" h="1985">
                  <a:moveTo>
                    <a:pt x="0" y="167"/>
                  </a:moveTo>
                  <a:moveTo>
                    <a:pt x="0" y="167"/>
                  </a:moveTo>
                  <a:cubicBezTo>
                    <a:pt x="0" y="75"/>
                    <a:pt x="75" y="0"/>
                    <a:pt x="167" y="0"/>
                  </a:cubicBezTo>
                  <a:lnTo>
                    <a:pt x="839" y="0"/>
                  </a:lnTo>
                  <a:cubicBezTo>
                    <a:pt x="932" y="0"/>
                    <a:pt x="1007" y="75"/>
                    <a:pt x="1007" y="167"/>
                  </a:cubicBezTo>
                  <a:lnTo>
                    <a:pt x="1007" y="1817"/>
                  </a:lnTo>
                  <a:cubicBezTo>
                    <a:pt x="1007" y="1910"/>
                    <a:pt x="932" y="1985"/>
                    <a:pt x="839" y="1985"/>
                  </a:cubicBezTo>
                  <a:lnTo>
                    <a:pt x="167" y="1985"/>
                  </a:lnTo>
                  <a:cubicBezTo>
                    <a:pt x="75" y="1985"/>
                    <a:pt x="0" y="1910"/>
                    <a:pt x="0" y="1817"/>
                  </a:cubicBezTo>
                  <a:lnTo>
                    <a:pt x="0" y="167"/>
                  </a:lnTo>
                  <a:close/>
                </a:path>
                <a:path w="1007" h="1985">
                  <a:moveTo>
                    <a:pt x="110" y="275"/>
                  </a:moveTo>
                  <a:moveTo>
                    <a:pt x="110" y="275"/>
                  </a:moveTo>
                  <a:cubicBezTo>
                    <a:pt x="110" y="230"/>
                    <a:pt x="146" y="195"/>
                    <a:pt x="190" y="195"/>
                  </a:cubicBezTo>
                  <a:lnTo>
                    <a:pt x="828" y="195"/>
                  </a:lnTo>
                  <a:cubicBezTo>
                    <a:pt x="872" y="195"/>
                    <a:pt x="908" y="230"/>
                    <a:pt x="908" y="275"/>
                  </a:cubicBezTo>
                  <a:lnTo>
                    <a:pt x="908" y="595"/>
                  </a:lnTo>
                  <a:cubicBezTo>
                    <a:pt x="908" y="640"/>
                    <a:pt x="872" y="675"/>
                    <a:pt x="828" y="675"/>
                  </a:cubicBezTo>
                  <a:lnTo>
                    <a:pt x="190" y="675"/>
                  </a:lnTo>
                  <a:cubicBezTo>
                    <a:pt x="146" y="675"/>
                    <a:pt x="110" y="640"/>
                    <a:pt x="110" y="595"/>
                  </a:cubicBezTo>
                  <a:lnTo>
                    <a:pt x="110" y="275"/>
                  </a:lnTo>
                  <a:close/>
                </a:path>
                <a:path w="1007" h="1985">
                  <a:moveTo>
                    <a:pt x="117" y="833"/>
                  </a:moveTo>
                  <a:moveTo>
                    <a:pt x="117" y="833"/>
                  </a:moveTo>
                  <a:cubicBezTo>
                    <a:pt x="117" y="789"/>
                    <a:pt x="153" y="752"/>
                    <a:pt x="198" y="752"/>
                  </a:cubicBezTo>
                  <a:lnTo>
                    <a:pt x="834" y="752"/>
                  </a:lnTo>
                  <a:cubicBezTo>
                    <a:pt x="879" y="752"/>
                    <a:pt x="915" y="789"/>
                    <a:pt x="915" y="833"/>
                  </a:cubicBezTo>
                  <a:lnTo>
                    <a:pt x="915" y="1156"/>
                  </a:lnTo>
                  <a:cubicBezTo>
                    <a:pt x="915" y="1201"/>
                    <a:pt x="879" y="1237"/>
                    <a:pt x="834" y="1237"/>
                  </a:cubicBezTo>
                  <a:lnTo>
                    <a:pt x="198" y="1237"/>
                  </a:lnTo>
                  <a:cubicBezTo>
                    <a:pt x="153" y="1237"/>
                    <a:pt x="117" y="1201"/>
                    <a:pt x="117" y="1156"/>
                  </a:cubicBezTo>
                  <a:lnTo>
                    <a:pt x="117" y="833"/>
                  </a:lnTo>
                  <a:close/>
                </a:path>
              </a:pathLst>
            </a:custGeom>
            <a:solidFill>
              <a:srgbClr val="4F81BD">
                <a:alpha val="50196"/>
              </a:srgbClr>
            </a:solidFill>
            <a:ln w="0" cap="flat">
              <a:noFill/>
              <a:prstDash val="solid"/>
              <a:miter lim="0"/>
            </a:ln>
          </p:spPr>
          <p:txBody>
            <a:bodyPr rtlCol="0"/>
            <a:lstStyle/>
            <a:p>
              <a:pPr algn="ctr"/>
              <a:endParaRPr lang="zh-CN" altLang="en-US"/>
            </a:p>
          </p:txBody>
        </p:sp>
        <p:sp>
          <p:nvSpPr>
            <p:cNvPr id="18" name="textbox 1060">
              <a:extLst>
                <a:ext uri="{FF2B5EF4-FFF2-40B4-BE49-F238E27FC236}">
                  <a16:creationId xmlns:a16="http://schemas.microsoft.com/office/drawing/2014/main" id="{60345783-32DD-1F73-7EC1-004F037B0FC4}"/>
                </a:ext>
              </a:extLst>
            </p:cNvPr>
            <p:cNvSpPr/>
            <p:nvPr/>
          </p:nvSpPr>
          <p:spPr>
            <a:xfrm>
              <a:off x="-12700" y="-12700"/>
              <a:ext cx="665480" cy="1297305"/>
            </a:xfrm>
            <a:prstGeom prst="rect">
              <a:avLst/>
            </a:prstGeom>
            <a:noFill/>
            <a:ln w="0" cap="flat">
              <a:noFill/>
              <a:prstDash val="solid"/>
              <a:miter lim="0"/>
            </a:ln>
          </p:spPr>
          <p:txBody>
            <a:bodyPr vert="horz" wrap="square" lIns="0" tIns="0" rIns="0" bIns="0"/>
            <a:lstStyle/>
            <a:p>
              <a:pPr algn="l" rtl="0" eaLnBrk="0">
                <a:lnSpc>
                  <a:spcPct val="120000"/>
                </a:lnSpc>
              </a:pPr>
              <a:endParaRPr sz="1000" dirty="0">
                <a:latin typeface="Arial" panose="020B0604020202020204"/>
                <a:ea typeface="Arial" panose="020B0604020202020204"/>
                <a:cs typeface="Arial" panose="020B0604020202020204"/>
              </a:endParaRPr>
            </a:p>
            <a:p>
              <a:pPr marL="242570" algn="l" rtl="0" eaLnBrk="0">
                <a:lnSpc>
                  <a:spcPct val="89000"/>
                </a:lnSpc>
                <a:spcBef>
                  <a:spcPts val="0"/>
                </a:spcBef>
              </a:pPr>
              <a:r>
                <a:rPr sz="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国家</a:t>
              </a:r>
              <a:endParaRPr sz="800" dirty="0">
                <a:latin typeface="微软雅黑" panose="020B0503020204020204" charset="-122"/>
                <a:ea typeface="微软雅黑" panose="020B0503020204020204" charset="-122"/>
                <a:cs typeface="微软雅黑" panose="020B0503020204020204" charset="-122"/>
              </a:endParaRPr>
            </a:p>
            <a:p>
              <a:pPr marL="237490" algn="l" rtl="0" eaLnBrk="0">
                <a:lnSpc>
                  <a:spcPts val="1045"/>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平台</a:t>
              </a:r>
              <a:endParaRPr sz="800" dirty="0">
                <a:latin typeface="微软雅黑" panose="020B0503020204020204" charset="-122"/>
                <a:ea typeface="微软雅黑" panose="020B0503020204020204" charset="-122"/>
                <a:cs typeface="微软雅黑" panose="020B0503020204020204" charset="-122"/>
              </a:endParaRPr>
            </a:p>
            <a:p>
              <a:pPr marL="240030" algn="l" rtl="0" eaLnBrk="0">
                <a:lnSpc>
                  <a:spcPct val="89000"/>
                </a:lnSpc>
                <a:spcBef>
                  <a:spcPts val="900"/>
                </a:spcBef>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烁云</a:t>
              </a:r>
              <a:endParaRPr sz="800" dirty="0">
                <a:latin typeface="微软雅黑" panose="020B0503020204020204" charset="-122"/>
                <a:ea typeface="微软雅黑" panose="020B0503020204020204" charset="-122"/>
                <a:cs typeface="微软雅黑" panose="020B0503020204020204" charset="-122"/>
              </a:endParaRPr>
            </a:p>
            <a:p>
              <a:pPr marL="241935" algn="l" rtl="0" eaLnBrk="0">
                <a:lnSpc>
                  <a:spcPts val="1045"/>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平台</a:t>
              </a:r>
              <a:endParaRPr sz="800" dirty="0">
                <a:latin typeface="微软雅黑" panose="020B0503020204020204" charset="-122"/>
                <a:ea typeface="微软雅黑" panose="020B0503020204020204" charset="-122"/>
                <a:cs typeface="微软雅黑" panose="020B0503020204020204" charset="-122"/>
              </a:endParaRPr>
            </a:p>
            <a:p>
              <a:pPr marL="233045" algn="l" rtl="0" eaLnBrk="0">
                <a:lnSpc>
                  <a:spcPct val="89000"/>
                </a:lnSpc>
                <a:spcBef>
                  <a:spcPts val="1365"/>
                </a:spcBef>
              </a:pPr>
              <a:r>
                <a:rPr sz="8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其他</a:t>
              </a:r>
              <a:endParaRPr sz="800" dirty="0">
                <a:latin typeface="微软雅黑" panose="020B0503020204020204" charset="-122"/>
                <a:ea typeface="微软雅黑" panose="020B0503020204020204" charset="-122"/>
                <a:cs typeface="微软雅黑" panose="020B0503020204020204" charset="-122"/>
              </a:endParaRPr>
            </a:p>
            <a:p>
              <a:pPr marL="232410" algn="l" rtl="0" eaLnBrk="0">
                <a:lnSpc>
                  <a:spcPts val="1040"/>
                </a:lnSpc>
              </a:pPr>
              <a:r>
                <a:rPr sz="8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系统</a:t>
              </a:r>
              <a:endParaRPr sz="800" dirty="0">
                <a:latin typeface="微软雅黑" panose="020B0503020204020204" charset="-122"/>
                <a:ea typeface="微软雅黑" panose="020B0503020204020204" charset="-122"/>
                <a:cs typeface="微软雅黑" panose="020B0503020204020204" charset="-122"/>
              </a:endParaRPr>
            </a:p>
          </p:txBody>
        </p:sp>
      </p:grpSp>
      <p:sp>
        <p:nvSpPr>
          <p:cNvPr id="19" name="textbox 1062">
            <a:extLst>
              <a:ext uri="{FF2B5EF4-FFF2-40B4-BE49-F238E27FC236}">
                <a16:creationId xmlns:a16="http://schemas.microsoft.com/office/drawing/2014/main" id="{AE8B69C1-EC61-AE84-17B8-F873567E9E79}"/>
              </a:ext>
            </a:extLst>
          </p:cNvPr>
          <p:cNvSpPr/>
          <p:nvPr/>
        </p:nvSpPr>
        <p:spPr>
          <a:xfrm>
            <a:off x="4378564" y="4624646"/>
            <a:ext cx="3241675" cy="211454"/>
          </a:xfrm>
          <a:prstGeom prst="rect">
            <a:avLst/>
          </a:prstGeom>
          <a:solidFill>
            <a:srgbClr val="4F81BD">
              <a:alpha val="49803"/>
            </a:srgbClr>
          </a:solidFill>
          <a:ln w="0" cap="flat">
            <a:noFill/>
            <a:prstDash val="solid"/>
            <a:miter lim="0"/>
          </a:ln>
        </p:spPr>
        <p:txBody>
          <a:bodyPr vert="horz" wrap="square" lIns="0" tIns="0" rIns="0" bIns="0"/>
          <a:lstStyle/>
          <a:p>
            <a:pPr algn="l" rtl="0" eaLnBrk="0">
              <a:lnSpc>
                <a:spcPct val="109000"/>
              </a:lnSpc>
            </a:pPr>
            <a:endParaRPr sz="300" dirty="0">
              <a:latin typeface="Arial" panose="020B0604020202020204"/>
              <a:ea typeface="Arial" panose="020B0604020202020204"/>
              <a:cs typeface="Arial" panose="020B0604020202020204"/>
            </a:endParaRPr>
          </a:p>
          <a:p>
            <a:pPr marL="1369060" algn="l" rtl="0" eaLnBrk="0">
              <a:lnSpc>
                <a:spcPts val="1155"/>
              </a:lnSpc>
            </a:pPr>
            <a:r>
              <a:rPr sz="9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基础平台</a:t>
            </a:r>
            <a:endParaRPr sz="900" dirty="0">
              <a:latin typeface="微软雅黑" panose="020B0503020204020204" charset="-122"/>
              <a:ea typeface="微软雅黑" panose="020B0503020204020204" charset="-122"/>
              <a:cs typeface="微软雅黑" panose="020B0503020204020204" charset="-122"/>
            </a:endParaRPr>
          </a:p>
        </p:txBody>
      </p:sp>
      <p:sp>
        <p:nvSpPr>
          <p:cNvPr id="20" name="textbox 1064">
            <a:extLst>
              <a:ext uri="{FF2B5EF4-FFF2-40B4-BE49-F238E27FC236}">
                <a16:creationId xmlns:a16="http://schemas.microsoft.com/office/drawing/2014/main" id="{716FC9EC-FCAD-34F2-DF30-374FA9486FDC}"/>
              </a:ext>
            </a:extLst>
          </p:cNvPr>
          <p:cNvSpPr/>
          <p:nvPr/>
        </p:nvSpPr>
        <p:spPr>
          <a:xfrm>
            <a:off x="5663204" y="4008944"/>
            <a:ext cx="1574164" cy="445769"/>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100000"/>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年度检查</a:t>
            </a: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随访管理</a:t>
            </a:r>
            <a:endParaRPr sz="8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1100" dirty="0">
              <a:latin typeface="Arial" panose="020B0604020202020204"/>
              <a:ea typeface="Arial" panose="020B0604020202020204"/>
              <a:cs typeface="Arial" panose="020B0604020202020204"/>
            </a:endParaRPr>
          </a:p>
          <a:p>
            <a:pPr marL="427990" algn="l" rtl="0" eaLnBrk="0">
              <a:lnSpc>
                <a:spcPct val="97000"/>
              </a:lnSpc>
              <a:spcBef>
                <a:spcPts val="0"/>
              </a:spcBef>
            </a:pPr>
            <a:r>
              <a:rPr sz="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第三方数据核对</a:t>
            </a:r>
            <a:endParaRPr sz="800" dirty="0">
              <a:latin typeface="微软雅黑" panose="020B0503020204020204" charset="-122"/>
              <a:ea typeface="微软雅黑" panose="020B0503020204020204" charset="-122"/>
              <a:cs typeface="微软雅黑" panose="020B0503020204020204" charset="-122"/>
            </a:endParaRPr>
          </a:p>
        </p:txBody>
      </p:sp>
      <p:sp>
        <p:nvSpPr>
          <p:cNvPr id="21" name="path 1066">
            <a:extLst>
              <a:ext uri="{FF2B5EF4-FFF2-40B4-BE49-F238E27FC236}">
                <a16:creationId xmlns:a16="http://schemas.microsoft.com/office/drawing/2014/main" id="{DE86918E-413C-237C-8E1A-5C2CC84E59B4}"/>
              </a:ext>
            </a:extLst>
          </p:cNvPr>
          <p:cNvSpPr/>
          <p:nvPr/>
        </p:nvSpPr>
        <p:spPr>
          <a:xfrm>
            <a:off x="969528" y="3762996"/>
            <a:ext cx="570767" cy="1000543"/>
          </a:xfrm>
          <a:custGeom>
            <a:avLst/>
            <a:gdLst/>
            <a:ahLst/>
            <a:cxnLst/>
            <a:rect l="0" t="0" r="0" b="0"/>
            <a:pathLst>
              <a:path w="898" h="1575">
                <a:moveTo>
                  <a:pt x="885" y="1560"/>
                </a:moveTo>
                <a:lnTo>
                  <a:pt x="13" y="787"/>
                </a:lnTo>
                <a:lnTo>
                  <a:pt x="885" y="14"/>
                </a:lnTo>
              </a:path>
            </a:pathLst>
          </a:custGeom>
          <a:noFill/>
          <a:ln w="25400" cap="flat">
            <a:solidFill>
              <a:srgbClr val="FFFFFF"/>
            </a:solidFill>
            <a:prstDash val="solid"/>
            <a:round/>
          </a:ln>
        </p:spPr>
        <p:txBody>
          <a:bodyPr rtlCol="0"/>
          <a:lstStyle/>
          <a:p>
            <a:pPr algn="ctr"/>
            <a:endParaRPr lang="zh-CN" altLang="en-US"/>
          </a:p>
        </p:txBody>
      </p:sp>
      <p:pic>
        <p:nvPicPr>
          <p:cNvPr id="22" name="picture 1068">
            <a:extLst>
              <a:ext uri="{FF2B5EF4-FFF2-40B4-BE49-F238E27FC236}">
                <a16:creationId xmlns:a16="http://schemas.microsoft.com/office/drawing/2014/main" id="{F2EB53B5-4764-2FEE-0554-EA379DD600E8}"/>
              </a:ext>
            </a:extLst>
          </p:cNvPr>
          <p:cNvPicPr>
            <a:picLocks noChangeAspect="1"/>
          </p:cNvPicPr>
          <p:nvPr/>
        </p:nvPicPr>
        <p:blipFill>
          <a:blip r:embed="rId6"/>
          <a:stretch>
            <a:fillRect/>
          </a:stretch>
        </p:blipFill>
        <p:spPr>
          <a:xfrm rot="21600000">
            <a:off x="694268" y="3885974"/>
            <a:ext cx="761851" cy="749362"/>
          </a:xfrm>
          <a:prstGeom prst="rect">
            <a:avLst/>
          </a:prstGeom>
        </p:spPr>
      </p:pic>
      <p:grpSp>
        <p:nvGrpSpPr>
          <p:cNvPr id="23" name="group 66">
            <a:extLst>
              <a:ext uri="{FF2B5EF4-FFF2-40B4-BE49-F238E27FC236}">
                <a16:creationId xmlns:a16="http://schemas.microsoft.com/office/drawing/2014/main" id="{397E7C3B-DC93-5374-1FE9-6B3920915D78}"/>
              </a:ext>
            </a:extLst>
          </p:cNvPr>
          <p:cNvGrpSpPr/>
          <p:nvPr/>
        </p:nvGrpSpPr>
        <p:grpSpPr>
          <a:xfrm rot="21600000">
            <a:off x="7740380" y="4014500"/>
            <a:ext cx="626364" cy="823302"/>
            <a:chOff x="0" y="0"/>
            <a:chExt cx="626364" cy="823302"/>
          </a:xfrm>
        </p:grpSpPr>
        <p:sp>
          <p:nvSpPr>
            <p:cNvPr id="24" name="path 1070">
              <a:extLst>
                <a:ext uri="{FF2B5EF4-FFF2-40B4-BE49-F238E27FC236}">
                  <a16:creationId xmlns:a16="http://schemas.microsoft.com/office/drawing/2014/main" id="{6ADB26C9-4CBF-0171-6637-53B935DA3D51}"/>
                </a:ext>
              </a:extLst>
            </p:cNvPr>
            <p:cNvSpPr/>
            <p:nvPr/>
          </p:nvSpPr>
          <p:spPr>
            <a:xfrm>
              <a:off x="0" y="0"/>
              <a:ext cx="626364" cy="823302"/>
            </a:xfrm>
            <a:custGeom>
              <a:avLst/>
              <a:gdLst/>
              <a:ahLst/>
              <a:cxnLst/>
              <a:rect l="0" t="0" r="0" b="0"/>
              <a:pathLst>
                <a:path w="986" h="1296">
                  <a:moveTo>
                    <a:pt x="0" y="164"/>
                  </a:moveTo>
                  <a:moveTo>
                    <a:pt x="0" y="164"/>
                  </a:moveTo>
                  <a:cubicBezTo>
                    <a:pt x="0" y="73"/>
                    <a:pt x="73" y="0"/>
                    <a:pt x="164" y="0"/>
                  </a:cubicBezTo>
                  <a:lnTo>
                    <a:pt x="822" y="0"/>
                  </a:lnTo>
                  <a:cubicBezTo>
                    <a:pt x="912" y="0"/>
                    <a:pt x="986" y="73"/>
                    <a:pt x="986" y="164"/>
                  </a:cubicBezTo>
                  <a:lnTo>
                    <a:pt x="986" y="1132"/>
                  </a:lnTo>
                  <a:cubicBezTo>
                    <a:pt x="986" y="1222"/>
                    <a:pt x="912" y="1296"/>
                    <a:pt x="822" y="1296"/>
                  </a:cubicBezTo>
                  <a:lnTo>
                    <a:pt x="164" y="1296"/>
                  </a:lnTo>
                  <a:cubicBezTo>
                    <a:pt x="73" y="1296"/>
                    <a:pt x="0" y="1222"/>
                    <a:pt x="0" y="1132"/>
                  </a:cubicBezTo>
                  <a:lnTo>
                    <a:pt x="0" y="164"/>
                  </a:lnTo>
                  <a:close/>
                </a:path>
                <a:path w="986" h="1296">
                  <a:moveTo>
                    <a:pt x="58" y="186"/>
                  </a:moveTo>
                  <a:moveTo>
                    <a:pt x="58" y="186"/>
                  </a:moveTo>
                  <a:cubicBezTo>
                    <a:pt x="58" y="152"/>
                    <a:pt x="86" y="124"/>
                    <a:pt x="119" y="124"/>
                  </a:cubicBezTo>
                  <a:lnTo>
                    <a:pt x="871" y="124"/>
                  </a:lnTo>
                  <a:cubicBezTo>
                    <a:pt x="905" y="124"/>
                    <a:pt x="933" y="152"/>
                    <a:pt x="933" y="186"/>
                  </a:cubicBezTo>
                  <a:lnTo>
                    <a:pt x="933" y="430"/>
                  </a:lnTo>
                  <a:cubicBezTo>
                    <a:pt x="933" y="464"/>
                    <a:pt x="905" y="491"/>
                    <a:pt x="871" y="491"/>
                  </a:cubicBezTo>
                  <a:lnTo>
                    <a:pt x="119" y="491"/>
                  </a:lnTo>
                  <a:cubicBezTo>
                    <a:pt x="86" y="491"/>
                    <a:pt x="58" y="464"/>
                    <a:pt x="58" y="430"/>
                  </a:cubicBezTo>
                  <a:lnTo>
                    <a:pt x="58" y="186"/>
                  </a:lnTo>
                  <a:close/>
                </a:path>
                <a:path w="986" h="1296">
                  <a:moveTo>
                    <a:pt x="50" y="610"/>
                  </a:moveTo>
                  <a:moveTo>
                    <a:pt x="50" y="610"/>
                  </a:moveTo>
                  <a:cubicBezTo>
                    <a:pt x="50" y="583"/>
                    <a:pt x="72" y="561"/>
                    <a:pt x="99" y="561"/>
                  </a:cubicBezTo>
                  <a:lnTo>
                    <a:pt x="884" y="561"/>
                  </a:lnTo>
                  <a:cubicBezTo>
                    <a:pt x="911" y="561"/>
                    <a:pt x="933" y="583"/>
                    <a:pt x="933" y="610"/>
                  </a:cubicBezTo>
                  <a:lnTo>
                    <a:pt x="933" y="804"/>
                  </a:lnTo>
                  <a:cubicBezTo>
                    <a:pt x="933" y="831"/>
                    <a:pt x="911" y="853"/>
                    <a:pt x="884" y="853"/>
                  </a:cubicBezTo>
                  <a:lnTo>
                    <a:pt x="99" y="853"/>
                  </a:lnTo>
                  <a:cubicBezTo>
                    <a:pt x="72" y="853"/>
                    <a:pt x="50" y="831"/>
                    <a:pt x="50" y="804"/>
                  </a:cubicBezTo>
                  <a:lnTo>
                    <a:pt x="50" y="610"/>
                  </a:lnTo>
                  <a:close/>
                </a:path>
              </a:pathLst>
            </a:custGeom>
            <a:solidFill>
              <a:srgbClr val="4F81BD">
                <a:alpha val="50196"/>
              </a:srgbClr>
            </a:solidFill>
            <a:ln w="0" cap="flat">
              <a:noFill/>
              <a:prstDash val="solid"/>
              <a:miter lim="0"/>
            </a:ln>
          </p:spPr>
          <p:txBody>
            <a:bodyPr rtlCol="0"/>
            <a:lstStyle/>
            <a:p>
              <a:pPr algn="ctr"/>
              <a:endParaRPr lang="zh-CN" altLang="en-US"/>
            </a:p>
          </p:txBody>
        </p:sp>
        <p:sp>
          <p:nvSpPr>
            <p:cNvPr id="25" name="textbox 1072">
              <a:extLst>
                <a:ext uri="{FF2B5EF4-FFF2-40B4-BE49-F238E27FC236}">
                  <a16:creationId xmlns:a16="http://schemas.microsoft.com/office/drawing/2014/main" id="{E9EA8878-1F03-3AC7-5BA8-9EFC93548C4A}"/>
                </a:ext>
              </a:extLst>
            </p:cNvPr>
            <p:cNvSpPr/>
            <p:nvPr/>
          </p:nvSpPr>
          <p:spPr>
            <a:xfrm>
              <a:off x="-12700" y="-12700"/>
              <a:ext cx="652144" cy="859789"/>
            </a:xfrm>
            <a:prstGeom prst="rect">
              <a:avLst/>
            </a:prstGeom>
            <a:noFill/>
            <a:ln w="0" cap="flat">
              <a:noFill/>
              <a:prstDash val="solid"/>
              <a:miter lim="0"/>
            </a:ln>
          </p:spPr>
          <p:txBody>
            <a:bodyPr vert="horz" wrap="square" lIns="0" tIns="0" rIns="0" bIns="0"/>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29870" algn="l" rtl="0" eaLnBrk="0">
                <a:lnSpc>
                  <a:spcPct val="87000"/>
                </a:lnSpc>
              </a:pPr>
              <a:r>
                <a:rPr sz="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iPad</a:t>
              </a:r>
              <a:endParaRPr sz="800" dirty="0">
                <a:latin typeface="微软雅黑" panose="020B0503020204020204" charset="-122"/>
                <a:ea typeface="微软雅黑" panose="020B0503020204020204" charset="-122"/>
                <a:cs typeface="微软雅黑" panose="020B0503020204020204" charset="-122"/>
              </a:endParaRPr>
            </a:p>
            <a:p>
              <a:pPr marL="164465" algn="l" rtl="0" eaLnBrk="0">
                <a:lnSpc>
                  <a:spcPct val="87000"/>
                </a:lnSpc>
                <a:spcBef>
                  <a:spcPts val="1160"/>
                </a:spcBef>
              </a:pPr>
              <a:r>
                <a:rPr sz="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Mobile</a:t>
              </a:r>
              <a:endParaRPr sz="800" dirty="0">
                <a:latin typeface="微软雅黑" panose="020B0503020204020204" charset="-122"/>
                <a:ea typeface="微软雅黑" panose="020B0503020204020204" charset="-122"/>
                <a:cs typeface="微软雅黑" panose="020B0503020204020204" charset="-122"/>
              </a:endParaRPr>
            </a:p>
            <a:p>
              <a:pPr algn="l" rtl="0" eaLnBrk="0">
                <a:lnSpc>
                  <a:spcPct val="107000"/>
                </a:lnSpc>
              </a:pPr>
              <a:endParaRPr sz="700" dirty="0">
                <a:latin typeface="Arial" panose="020B0604020202020204"/>
                <a:ea typeface="Arial" panose="020B0604020202020204"/>
                <a:cs typeface="Arial" panose="020B0604020202020204"/>
              </a:endParaRPr>
            </a:p>
            <a:p>
              <a:pPr marL="173990" algn="l" rtl="0" eaLnBrk="0">
                <a:lnSpc>
                  <a:spcPct val="98000"/>
                </a:lnSpc>
                <a:spcBef>
                  <a:spcPts val="0"/>
                </a:spcBef>
              </a:pPr>
              <a:r>
                <a:rPr sz="8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移动化</a:t>
              </a:r>
              <a:endParaRPr sz="800" dirty="0">
                <a:latin typeface="微软雅黑" panose="020B0503020204020204" charset="-122"/>
                <a:ea typeface="微软雅黑" panose="020B0503020204020204" charset="-122"/>
                <a:cs typeface="微软雅黑" panose="020B0503020204020204" charset="-122"/>
              </a:endParaRPr>
            </a:p>
          </p:txBody>
        </p:sp>
      </p:grpSp>
      <p:sp>
        <p:nvSpPr>
          <p:cNvPr id="26" name="textbox 1078">
            <a:extLst>
              <a:ext uri="{FF2B5EF4-FFF2-40B4-BE49-F238E27FC236}">
                <a16:creationId xmlns:a16="http://schemas.microsoft.com/office/drawing/2014/main" id="{2AD37F2B-D022-5C95-D835-224CB05788DD}"/>
              </a:ext>
            </a:extLst>
          </p:cNvPr>
          <p:cNvSpPr/>
          <p:nvPr/>
        </p:nvSpPr>
        <p:spPr>
          <a:xfrm>
            <a:off x="4778701" y="3149713"/>
            <a:ext cx="433705" cy="505459"/>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9050" algn="l" rtl="0" eaLnBrk="0">
              <a:lnSpc>
                <a:spcPct val="98000"/>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问卷调查</a:t>
            </a:r>
            <a:endParaRPr sz="800" dirty="0">
              <a:latin typeface="微软雅黑" panose="020B0503020204020204" charset="-122"/>
              <a:ea typeface="微软雅黑" panose="020B0503020204020204" charset="-122"/>
              <a:cs typeface="微软雅黑" panose="020B0503020204020204" charset="-122"/>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03000"/>
              </a:lnSpc>
            </a:pPr>
            <a:endParaRPr sz="200" dirty="0">
              <a:latin typeface="Arial" panose="020B0604020202020204"/>
              <a:ea typeface="Arial" panose="020B0604020202020204"/>
              <a:cs typeface="Arial" panose="020B0604020202020204"/>
            </a:endParaRPr>
          </a:p>
          <a:p>
            <a:pPr marL="12700" algn="l" rtl="0" eaLnBrk="0">
              <a:lnSpc>
                <a:spcPct val="98000"/>
              </a:lnSpc>
              <a:spcBef>
                <a:spcPts val="0"/>
              </a:spcBef>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事件采集</a:t>
            </a:r>
            <a:endParaRPr sz="800" dirty="0">
              <a:latin typeface="微软雅黑" panose="020B0503020204020204" charset="-122"/>
              <a:ea typeface="微软雅黑" panose="020B0503020204020204" charset="-122"/>
              <a:cs typeface="微软雅黑" panose="020B0503020204020204" charset="-122"/>
            </a:endParaRPr>
          </a:p>
        </p:txBody>
      </p:sp>
      <p:sp>
        <p:nvSpPr>
          <p:cNvPr id="27" name="textbox 1080">
            <a:extLst>
              <a:ext uri="{FF2B5EF4-FFF2-40B4-BE49-F238E27FC236}">
                <a16:creationId xmlns:a16="http://schemas.microsoft.com/office/drawing/2014/main" id="{C5476EB0-920C-FD35-2E8C-1993E564D399}"/>
              </a:ext>
            </a:extLst>
          </p:cNvPr>
          <p:cNvSpPr/>
          <p:nvPr/>
        </p:nvSpPr>
        <p:spPr>
          <a:xfrm>
            <a:off x="6972292" y="3149713"/>
            <a:ext cx="432434" cy="50545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8000"/>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报告管理</a:t>
            </a:r>
            <a:endParaRPr sz="800" dirty="0">
              <a:latin typeface="微软雅黑" panose="020B0503020204020204" charset="-122"/>
              <a:ea typeface="微软雅黑" panose="020B0503020204020204" charset="-122"/>
              <a:cs typeface="微软雅黑" panose="020B0503020204020204" charset="-122"/>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04000"/>
              </a:lnSpc>
            </a:pPr>
            <a:endParaRPr sz="200" dirty="0">
              <a:latin typeface="Arial" panose="020B0604020202020204"/>
              <a:ea typeface="Arial" panose="020B0604020202020204"/>
              <a:cs typeface="Arial" panose="020B0604020202020204"/>
            </a:endParaRPr>
          </a:p>
          <a:p>
            <a:pPr marL="19685" algn="l" rtl="0" eaLnBrk="0">
              <a:lnSpc>
                <a:spcPct val="98000"/>
              </a:lnSpc>
              <a:spcBef>
                <a:spcPts val="0"/>
              </a:spcBef>
            </a:pPr>
            <a:r>
              <a:rPr sz="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区县资料</a:t>
            </a:r>
            <a:endParaRPr sz="800" dirty="0">
              <a:latin typeface="微软雅黑" panose="020B0503020204020204" charset="-122"/>
              <a:ea typeface="微软雅黑" panose="020B0503020204020204" charset="-122"/>
              <a:cs typeface="微软雅黑" panose="020B0503020204020204" charset="-122"/>
            </a:endParaRPr>
          </a:p>
        </p:txBody>
      </p:sp>
      <p:sp>
        <p:nvSpPr>
          <p:cNvPr id="28" name="textbox 1082">
            <a:extLst>
              <a:ext uri="{FF2B5EF4-FFF2-40B4-BE49-F238E27FC236}">
                <a16:creationId xmlns:a16="http://schemas.microsoft.com/office/drawing/2014/main" id="{C0AF7DA3-ED05-954A-7F35-C9BD1874CB02}"/>
              </a:ext>
            </a:extLst>
          </p:cNvPr>
          <p:cNvSpPr/>
          <p:nvPr/>
        </p:nvSpPr>
        <p:spPr>
          <a:xfrm>
            <a:off x="5482126" y="3510012"/>
            <a:ext cx="1224280" cy="14477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8000"/>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实验室检查</a:t>
            </a: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人群管理</a:t>
            </a:r>
            <a:endParaRPr sz="800" dirty="0">
              <a:latin typeface="微软雅黑" panose="020B0503020204020204" charset="-122"/>
              <a:ea typeface="微软雅黑" panose="020B0503020204020204" charset="-122"/>
              <a:cs typeface="微软雅黑" panose="020B0503020204020204" charset="-122"/>
            </a:endParaRPr>
          </a:p>
        </p:txBody>
      </p:sp>
      <p:sp>
        <p:nvSpPr>
          <p:cNvPr id="29" name="path 1084">
            <a:extLst>
              <a:ext uri="{FF2B5EF4-FFF2-40B4-BE49-F238E27FC236}">
                <a16:creationId xmlns:a16="http://schemas.microsoft.com/office/drawing/2014/main" id="{4410EFCF-9130-CB28-1C1A-D3210C0CD788}"/>
              </a:ext>
            </a:extLst>
          </p:cNvPr>
          <p:cNvSpPr/>
          <p:nvPr/>
        </p:nvSpPr>
        <p:spPr>
          <a:xfrm>
            <a:off x="1585595" y="2433160"/>
            <a:ext cx="2554350" cy="25400"/>
          </a:xfrm>
          <a:custGeom>
            <a:avLst/>
            <a:gdLst/>
            <a:ahLst/>
            <a:cxnLst/>
            <a:rect l="0" t="0" r="0" b="0"/>
            <a:pathLst>
              <a:path w="4022" h="40">
                <a:moveTo>
                  <a:pt x="0" y="20"/>
                </a:moveTo>
                <a:lnTo>
                  <a:pt x="4022" y="20"/>
                </a:lnTo>
              </a:path>
            </a:pathLst>
          </a:custGeom>
          <a:noFill/>
          <a:ln w="25400" cap="flat">
            <a:solidFill>
              <a:srgbClr val="FFFFFF"/>
            </a:solidFill>
            <a:prstDash val="solid"/>
            <a:round/>
          </a:ln>
        </p:spPr>
        <p:txBody>
          <a:bodyPr rtlCol="0"/>
          <a:lstStyle/>
          <a:p>
            <a:pPr algn="ctr"/>
            <a:endParaRPr lang="zh-CN" altLang="en-US"/>
          </a:p>
        </p:txBody>
      </p:sp>
      <p:sp>
        <p:nvSpPr>
          <p:cNvPr id="30" name="path 1086">
            <a:extLst>
              <a:ext uri="{FF2B5EF4-FFF2-40B4-BE49-F238E27FC236}">
                <a16:creationId xmlns:a16="http://schemas.microsoft.com/office/drawing/2014/main" id="{F15E53B8-BD15-EC9D-4DCD-E5DCC11F26A7}"/>
              </a:ext>
            </a:extLst>
          </p:cNvPr>
          <p:cNvSpPr/>
          <p:nvPr/>
        </p:nvSpPr>
        <p:spPr>
          <a:xfrm>
            <a:off x="1585595" y="3414742"/>
            <a:ext cx="2554350" cy="25400"/>
          </a:xfrm>
          <a:custGeom>
            <a:avLst/>
            <a:gdLst/>
            <a:ahLst/>
            <a:cxnLst/>
            <a:rect l="0" t="0" r="0" b="0"/>
            <a:pathLst>
              <a:path w="4022" h="40">
                <a:moveTo>
                  <a:pt x="4022" y="20"/>
                </a:moveTo>
                <a:lnTo>
                  <a:pt x="0" y="20"/>
                </a:lnTo>
              </a:path>
            </a:pathLst>
          </a:custGeom>
          <a:noFill/>
          <a:ln w="25400" cap="flat">
            <a:solidFill>
              <a:srgbClr val="FFFFFF"/>
            </a:solidFill>
            <a:prstDash val="solid"/>
            <a:round/>
          </a:ln>
        </p:spPr>
        <p:txBody>
          <a:bodyPr rtlCol="0"/>
          <a:lstStyle/>
          <a:p>
            <a:pPr algn="ctr"/>
            <a:endParaRPr lang="zh-CN" altLang="en-US"/>
          </a:p>
        </p:txBody>
      </p:sp>
      <p:sp>
        <p:nvSpPr>
          <p:cNvPr id="31" name="textbox 1088">
            <a:extLst>
              <a:ext uri="{FF2B5EF4-FFF2-40B4-BE49-F238E27FC236}">
                <a16:creationId xmlns:a16="http://schemas.microsoft.com/office/drawing/2014/main" id="{1BCE00B4-C9FC-D88D-EA3A-6C99FF727200}"/>
              </a:ext>
            </a:extLst>
          </p:cNvPr>
          <p:cNvSpPr/>
          <p:nvPr/>
        </p:nvSpPr>
        <p:spPr>
          <a:xfrm>
            <a:off x="4482464" y="3179843"/>
            <a:ext cx="163195" cy="544830"/>
          </a:xfrm>
          <a:prstGeom prst="rect">
            <a:avLst/>
          </a:prstGeom>
          <a:noFill/>
          <a:ln w="0" cap="flat">
            <a:noFill/>
            <a:prstDash val="solid"/>
            <a:miter lim="0"/>
          </a:ln>
        </p:spPr>
        <p:txBody>
          <a:bodyPr vert="eaVert"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98000"/>
              </a:lnSpc>
            </a:pPr>
            <a:r>
              <a:rPr sz="900" b="1"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监测中心</a:t>
            </a:r>
            <a:endParaRPr sz="900" dirty="0">
              <a:latin typeface="微软雅黑" panose="020B0503020204020204" charset="-122"/>
              <a:ea typeface="微软雅黑" panose="020B0503020204020204" charset="-122"/>
              <a:cs typeface="微软雅黑" panose="020B0503020204020204" charset="-122"/>
            </a:endParaRPr>
          </a:p>
        </p:txBody>
      </p:sp>
      <p:sp>
        <p:nvSpPr>
          <p:cNvPr id="32" name="textbox 1090">
            <a:extLst>
              <a:ext uri="{FF2B5EF4-FFF2-40B4-BE49-F238E27FC236}">
                <a16:creationId xmlns:a16="http://schemas.microsoft.com/office/drawing/2014/main" id="{AB3562C1-6330-E5FE-C643-2F33C2DDABD4}"/>
              </a:ext>
            </a:extLst>
          </p:cNvPr>
          <p:cNvSpPr/>
          <p:nvPr/>
        </p:nvSpPr>
        <p:spPr>
          <a:xfrm>
            <a:off x="4488244" y="3984597"/>
            <a:ext cx="162560" cy="539750"/>
          </a:xfrm>
          <a:prstGeom prst="rect">
            <a:avLst/>
          </a:prstGeom>
          <a:noFill/>
          <a:ln w="0" cap="flat">
            <a:noFill/>
            <a:prstDash val="solid"/>
            <a:miter lim="0"/>
          </a:ln>
        </p:spPr>
        <p:txBody>
          <a:bodyPr vert="eaVert"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8000"/>
              </a:lnSpc>
            </a:pPr>
            <a:r>
              <a:rPr sz="9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随访中心</a:t>
            </a:r>
            <a:endParaRPr sz="900" dirty="0">
              <a:latin typeface="微软雅黑" panose="020B0503020204020204" charset="-122"/>
              <a:ea typeface="微软雅黑" panose="020B0503020204020204" charset="-122"/>
              <a:cs typeface="微软雅黑" panose="020B0503020204020204" charset="-122"/>
            </a:endParaRPr>
          </a:p>
        </p:txBody>
      </p:sp>
      <p:sp>
        <p:nvSpPr>
          <p:cNvPr id="33" name="textbox 1092">
            <a:extLst>
              <a:ext uri="{FF2B5EF4-FFF2-40B4-BE49-F238E27FC236}">
                <a16:creationId xmlns:a16="http://schemas.microsoft.com/office/drawing/2014/main" id="{82C33AD8-F8C9-82F6-AE06-E5E3FAB55931}"/>
              </a:ext>
            </a:extLst>
          </p:cNvPr>
          <p:cNvSpPr/>
          <p:nvPr/>
        </p:nvSpPr>
        <p:spPr>
          <a:xfrm>
            <a:off x="5876023" y="3153650"/>
            <a:ext cx="433705" cy="14477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8000"/>
              </a:lnSpc>
            </a:pPr>
            <a:r>
              <a:rPr sz="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质量控制</a:t>
            </a:r>
            <a:endParaRPr sz="800" dirty="0">
              <a:latin typeface="微软雅黑" panose="020B0503020204020204" charset="-122"/>
              <a:ea typeface="微软雅黑" panose="020B0503020204020204" charset="-122"/>
              <a:cs typeface="微软雅黑" panose="020B0503020204020204" charset="-122"/>
            </a:endParaRPr>
          </a:p>
        </p:txBody>
      </p:sp>
      <p:sp>
        <p:nvSpPr>
          <p:cNvPr id="34" name="textbox 1096">
            <a:extLst>
              <a:ext uri="{FF2B5EF4-FFF2-40B4-BE49-F238E27FC236}">
                <a16:creationId xmlns:a16="http://schemas.microsoft.com/office/drawing/2014/main" id="{261879E5-98D0-871E-B8B0-F07A23BDB9C5}"/>
              </a:ext>
            </a:extLst>
          </p:cNvPr>
          <p:cNvSpPr/>
          <p:nvPr/>
        </p:nvSpPr>
        <p:spPr>
          <a:xfrm>
            <a:off x="4878037" y="4155248"/>
            <a:ext cx="228600" cy="14541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98000"/>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调查</a:t>
            </a:r>
            <a:endParaRPr sz="800" dirty="0">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2006351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flipH="1">
            <a:off x="0" y="2633345"/>
            <a:ext cx="9144000" cy="2530475"/>
          </a:xfrm>
          <a:prstGeom prst="rect">
            <a:avLst/>
          </a:prstGeom>
          <a:gradFill>
            <a:gsLst>
              <a:gs pos="0">
                <a:srgbClr val="1B5FA3"/>
              </a:gs>
              <a:gs pos="100000">
                <a:srgbClr val="2A86DC"/>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6" name="图片 5"/>
          <p:cNvPicPr/>
          <p:nvPr/>
        </p:nvPicPr>
        <p:blipFill>
          <a:blip r:embed="rId2">
            <a:clrChange>
              <a:clrFrom>
                <a:srgbClr val="000103">
                  <a:alpha val="2745"/>
                </a:srgbClr>
              </a:clrFrom>
              <a:clrTo>
                <a:srgbClr val="000103">
                  <a:alpha val="2745"/>
                  <a:alpha val="0"/>
                </a:srgbClr>
              </a:clrTo>
            </a:clrChange>
            <a:lum bright="66000" contrast="-78000"/>
          </a:blip>
          <a:srcRect l="23975" t="-1187" r="13625" b="24242"/>
          <a:stretch>
            <a:fillRect/>
          </a:stretch>
        </p:blipFill>
        <p:spPr>
          <a:xfrm rot="10800000">
            <a:off x="0" y="-20320"/>
            <a:ext cx="4264025" cy="5256530"/>
          </a:xfrm>
          <a:prstGeom prst="rect">
            <a:avLst/>
          </a:prstGeom>
          <a:noFill/>
          <a:ln w="9525">
            <a:noFill/>
          </a:ln>
        </p:spPr>
      </p:pic>
      <p:sp>
        <p:nvSpPr>
          <p:cNvPr id="4" name="Rectangle 6"/>
          <p:cNvSpPr/>
          <p:nvPr/>
        </p:nvSpPr>
        <p:spPr>
          <a:xfrm>
            <a:off x="4382930" y="4299942"/>
            <a:ext cx="229550" cy="276999"/>
          </a:xfrm>
          <a:prstGeom prst="rect">
            <a:avLst/>
          </a:prstGeom>
        </p:spPr>
        <p:txBody>
          <a:bodyPr wrap="none">
            <a:spAutoFit/>
          </a:bodyPr>
          <a:lstStyle/>
          <a:p>
            <a:pPr algn="ct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p:txBody>
      </p:sp>
      <p:sp>
        <p:nvSpPr>
          <p:cNvPr id="5" name="Rectangle 6"/>
          <p:cNvSpPr/>
          <p:nvPr/>
        </p:nvSpPr>
        <p:spPr>
          <a:xfrm>
            <a:off x="2676288" y="4515639"/>
            <a:ext cx="3791423" cy="276999"/>
          </a:xfrm>
          <a:prstGeom prst="rect">
            <a:avLst/>
          </a:prstGeom>
        </p:spPr>
        <p:txBody>
          <a:bodyPr wrap="none">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新希望集团控股企业  </a:t>
            </a:r>
            <a:r>
              <a:rPr lang="en-US" altLang="zh-CN" sz="12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  </a:t>
            </a:r>
            <a:r>
              <a:rPr lang="zh-CN" altLang="en-US" sz="12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浙江好络维医疗技术有限公司</a:t>
            </a:r>
          </a:p>
        </p:txBody>
      </p:sp>
      <p:sp>
        <p:nvSpPr>
          <p:cNvPr id="9" name="TextBox 8"/>
          <p:cNvSpPr txBox="1"/>
          <p:nvPr/>
        </p:nvSpPr>
        <p:spPr>
          <a:xfrm>
            <a:off x="3491691" y="1424245"/>
            <a:ext cx="2011680" cy="1198880"/>
          </a:xfrm>
          <a:prstGeom prst="rect">
            <a:avLst/>
          </a:prstGeom>
          <a:noFill/>
        </p:spPr>
        <p:txBody>
          <a:bodyPr wrap="none" rtlCol="0">
            <a:spAutoFit/>
          </a:bodyPr>
          <a:lstStyle/>
          <a:p>
            <a:pPr algn="ctr"/>
            <a:r>
              <a:rPr lang="zh-CN" altLang="en-US" sz="7200" dirty="0">
                <a:solidFill>
                  <a:srgbClr val="2A86DC"/>
                </a:solidFill>
                <a:latin typeface="微软雅黑" panose="020B0503020204020204" pitchFamily="34" charset="-122"/>
                <a:ea typeface="微软雅黑" panose="020B0503020204020204" pitchFamily="34" charset="-122"/>
              </a:rPr>
              <a:t>感谢</a:t>
            </a:r>
          </a:p>
        </p:txBody>
      </p:sp>
      <p:pic>
        <p:nvPicPr>
          <p:cNvPr id="2" name="Picture 2" descr="E:\项目\公司资料\logo\2020logo\新希望集团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3829" y="195485"/>
            <a:ext cx="616520" cy="64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E:\项目\公司资料\logo\2020logo\logo0108.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2395" y="195558"/>
            <a:ext cx="613477" cy="64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8"/>
          <p:cNvSpPr txBox="1"/>
          <p:nvPr/>
        </p:nvSpPr>
        <p:spPr>
          <a:xfrm>
            <a:off x="3474230" y="2715200"/>
            <a:ext cx="2046605" cy="645160"/>
          </a:xfrm>
          <a:prstGeom prst="rect">
            <a:avLst/>
          </a:prstGeom>
          <a:noFill/>
        </p:spPr>
        <p:txBody>
          <a:bodyPr wrap="none" rtlCol="0">
            <a:spAutoFit/>
          </a:bodyPr>
          <a:lstStyle/>
          <a:p>
            <a:pPr algn="ctr"/>
            <a:r>
              <a:rPr lang="en-US" altLang="zh-CN" sz="3600" dirty="0">
                <a:solidFill>
                  <a:schemeClr val="bg1"/>
                </a:solidFill>
                <a:latin typeface="微软雅黑" panose="020B0503020204020204" pitchFamily="34" charset="-122"/>
                <a:ea typeface="微软雅黑" panose="020B0503020204020204" pitchFamily="34" charset="-122"/>
              </a:rPr>
              <a:t>THANKS</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31.2375,&quot;left&quot;:30.7875,&quot;top&quot;:38.9625,&quot;width&quot;:355.8625}"/>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PICID" val="{d0f7899e-8954-4cb2-9116-6efd01d2cc7b}"/>
</p:tagLst>
</file>

<file path=ppt/tags/tag100.xml><?xml version="1.0" encoding="utf-8"?>
<p:tagLst xmlns:a="http://schemas.openxmlformats.org/drawingml/2006/main" xmlns:r="http://schemas.openxmlformats.org/officeDocument/2006/relationships" xmlns:p="http://schemas.openxmlformats.org/presentationml/2006/main">
  <p:tag name="PICID" val="{1aa69c78-c162-468a-9727-7b596f516c9e}"/>
</p:tagLst>
</file>

<file path=ppt/tags/tag101.xml><?xml version="1.0" encoding="utf-8"?>
<p:tagLst xmlns:a="http://schemas.openxmlformats.org/drawingml/2006/main" xmlns:r="http://schemas.openxmlformats.org/officeDocument/2006/relationships" xmlns:p="http://schemas.openxmlformats.org/presentationml/2006/main">
  <p:tag name="PICID" val="{30e3cf95-4676-437f-9212-9c7926d30c2d}"/>
</p:tagLst>
</file>

<file path=ppt/tags/tag102.xml><?xml version="1.0" encoding="utf-8"?>
<p:tagLst xmlns:a="http://schemas.openxmlformats.org/drawingml/2006/main" xmlns:r="http://schemas.openxmlformats.org/officeDocument/2006/relationships" xmlns:p="http://schemas.openxmlformats.org/presentationml/2006/main">
  <p:tag name="PICID" val="{a15bb08f-0af7-474f-b53d-e16f3efd80ec}"/>
</p:tagLst>
</file>

<file path=ppt/tags/tag103.xml><?xml version="1.0" encoding="utf-8"?>
<p:tagLst xmlns:a="http://schemas.openxmlformats.org/drawingml/2006/main" xmlns:r="http://schemas.openxmlformats.org/officeDocument/2006/relationships" xmlns:p="http://schemas.openxmlformats.org/presentationml/2006/main">
  <p:tag name="PICID" val="{09b49a27-6592-4fc3-8499-5d1ae088a2e6}"/>
</p:tagLst>
</file>

<file path=ppt/tags/tag104.xml><?xml version="1.0" encoding="utf-8"?>
<p:tagLst xmlns:a="http://schemas.openxmlformats.org/drawingml/2006/main" xmlns:r="http://schemas.openxmlformats.org/officeDocument/2006/relationships" xmlns:p="http://schemas.openxmlformats.org/presentationml/2006/main">
  <p:tag name="PICID" val="{7e2b90f2-5f65-4ef3-9f71-f131d50b8c88}"/>
</p:tagLst>
</file>

<file path=ppt/tags/tag105.xml><?xml version="1.0" encoding="utf-8"?>
<p:tagLst xmlns:a="http://schemas.openxmlformats.org/drawingml/2006/main" xmlns:r="http://schemas.openxmlformats.org/officeDocument/2006/relationships" xmlns:p="http://schemas.openxmlformats.org/presentationml/2006/main">
  <p:tag name="PICID" val="{fd0b3e06-ffdb-4195-ac8b-1b4715522de6}"/>
</p:tagLst>
</file>

<file path=ppt/tags/tag106.xml><?xml version="1.0" encoding="utf-8"?>
<p:tagLst xmlns:a="http://schemas.openxmlformats.org/drawingml/2006/main" xmlns:r="http://schemas.openxmlformats.org/officeDocument/2006/relationships" xmlns:p="http://schemas.openxmlformats.org/presentationml/2006/main">
  <p:tag name="PICID" val="{d875b140-bfb8-449b-94bd-0ee009f0282c}"/>
</p:tagLst>
</file>

<file path=ppt/tags/tag107.xml><?xml version="1.0" encoding="utf-8"?>
<p:tagLst xmlns:a="http://schemas.openxmlformats.org/drawingml/2006/main" xmlns:r="http://schemas.openxmlformats.org/officeDocument/2006/relationships" xmlns:p="http://schemas.openxmlformats.org/presentationml/2006/main">
  <p:tag name="PICID" val="{f4086311-42c0-4f00-b866-0023254642f7}"/>
</p:tagLst>
</file>

<file path=ppt/tags/tag108.xml><?xml version="1.0" encoding="utf-8"?>
<p:tagLst xmlns:a="http://schemas.openxmlformats.org/drawingml/2006/main" xmlns:r="http://schemas.openxmlformats.org/officeDocument/2006/relationships" xmlns:p="http://schemas.openxmlformats.org/presentationml/2006/main">
  <p:tag name="PICID" val="{f4086311-42c0-4f00-b866-0023254642f7}"/>
</p:tagLst>
</file>

<file path=ppt/tags/tag109.xml><?xml version="1.0" encoding="utf-8"?>
<p:tagLst xmlns:a="http://schemas.openxmlformats.org/drawingml/2006/main" xmlns:r="http://schemas.openxmlformats.org/officeDocument/2006/relationships" xmlns:p="http://schemas.openxmlformats.org/presentationml/2006/main">
  <p:tag name="PICID" val="{f43642c7-729b-4bd6-a8df-b59d6edb9d36}"/>
</p:tagLst>
</file>

<file path=ppt/tags/tag110.xml><?xml version="1.0" encoding="utf-8"?>
<p:tagLst xmlns:a="http://schemas.openxmlformats.org/drawingml/2006/main" xmlns:r="http://schemas.openxmlformats.org/officeDocument/2006/relationships" xmlns:p="http://schemas.openxmlformats.org/presentationml/2006/main">
  <p:tag name="PICID" val="{eacf1446-377c-455d-988f-02af5ff6e160}"/>
</p:tagLst>
</file>

<file path=ppt/tags/tag111.xml><?xml version="1.0" encoding="utf-8"?>
<p:tagLst xmlns:a="http://schemas.openxmlformats.org/drawingml/2006/main" xmlns:r="http://schemas.openxmlformats.org/officeDocument/2006/relationships" xmlns:p="http://schemas.openxmlformats.org/presentationml/2006/main">
  <p:tag name="PICID" val="{eacf1446-377c-455d-988f-02af5ff6e160}"/>
</p:tagLst>
</file>

<file path=ppt/tags/tag112.xml><?xml version="1.0" encoding="utf-8"?>
<p:tagLst xmlns:a="http://schemas.openxmlformats.org/drawingml/2006/main" xmlns:r="http://schemas.openxmlformats.org/officeDocument/2006/relationships" xmlns:p="http://schemas.openxmlformats.org/presentationml/2006/main">
  <p:tag name="PICID" val="{c714483e-832e-4498-8744-faba93101dd6}"/>
</p:tagLst>
</file>

<file path=ppt/tags/tag113.xml><?xml version="1.0" encoding="utf-8"?>
<p:tagLst xmlns:a="http://schemas.openxmlformats.org/drawingml/2006/main" xmlns:r="http://schemas.openxmlformats.org/officeDocument/2006/relationships" xmlns:p="http://schemas.openxmlformats.org/presentationml/2006/main">
  <p:tag name="PICID" val="{8214efe9-f3f3-4bfc-ae89-e6a4ba21a7c9}"/>
</p:tagLst>
</file>

<file path=ppt/tags/tag114.xml><?xml version="1.0" encoding="utf-8"?>
<p:tagLst xmlns:a="http://schemas.openxmlformats.org/drawingml/2006/main" xmlns:r="http://schemas.openxmlformats.org/officeDocument/2006/relationships" xmlns:p="http://schemas.openxmlformats.org/presentationml/2006/main">
  <p:tag name="PICID" val="{eb8b94c4-26d1-47cf-9d15-829e209e0f7b}"/>
</p:tagLst>
</file>

<file path=ppt/tags/tag115.xml><?xml version="1.0" encoding="utf-8"?>
<p:tagLst xmlns:a="http://schemas.openxmlformats.org/drawingml/2006/main" xmlns:r="http://schemas.openxmlformats.org/officeDocument/2006/relationships" xmlns:p="http://schemas.openxmlformats.org/presentationml/2006/main">
  <p:tag name="PICID" val="{7a89cb68-f327-4758-bc75-97bd756c671d}"/>
</p:tagLst>
</file>

<file path=ppt/tags/tag116.xml><?xml version="1.0" encoding="utf-8"?>
<p:tagLst xmlns:a="http://schemas.openxmlformats.org/drawingml/2006/main" xmlns:r="http://schemas.openxmlformats.org/officeDocument/2006/relationships" xmlns:p="http://schemas.openxmlformats.org/presentationml/2006/main">
  <p:tag name="PICID" val="{eb8b94c4-26d1-47cf-9d15-829e209e0f7b}"/>
</p:tagLst>
</file>

<file path=ppt/tags/tag117.xml><?xml version="1.0" encoding="utf-8"?>
<p:tagLst xmlns:a="http://schemas.openxmlformats.org/drawingml/2006/main" xmlns:r="http://schemas.openxmlformats.org/officeDocument/2006/relationships" xmlns:p="http://schemas.openxmlformats.org/presentationml/2006/main">
  <p:tag name="PICID" val="{c1362f6c-4723-4a3b-a322-d9574001ddb3}"/>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 name="PICID" val="{40476f40-bf0f-4584-8e83-634bce6fa753}"/>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PICID" val="{9e27a444-8a8e-48c9-95ad-37110f5b108d}"/>
</p:tagLst>
</file>

<file path=ppt/tags/tag146.xml><?xml version="1.0" encoding="utf-8"?>
<p:tagLst xmlns:a="http://schemas.openxmlformats.org/drawingml/2006/main" xmlns:r="http://schemas.openxmlformats.org/officeDocument/2006/relationships" xmlns:p="http://schemas.openxmlformats.org/presentationml/2006/main">
  <p:tag name="PICID" val="{22d81579-e509-4888-ad12-e1387cd0b8d7}"/>
</p:tagLst>
</file>

<file path=ppt/tags/tag147.xml><?xml version="1.0" encoding="utf-8"?>
<p:tagLst xmlns:a="http://schemas.openxmlformats.org/drawingml/2006/main" xmlns:r="http://schemas.openxmlformats.org/officeDocument/2006/relationships" xmlns:p="http://schemas.openxmlformats.org/presentationml/2006/main">
  <p:tag name="PICID" val="{cc7cd62c-6d40-4dfc-89d3-20f79c02a676}"/>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PICID" val="{dfb590da-26ec-4036-a38b-eb10ea0462a6}"/>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PICID" val="{bb6700da-f72f-400a-87d5-cb60819407f2}"/>
</p:tagLst>
</file>

<file path=ppt/tags/tag155.xml><?xml version="1.0" encoding="utf-8"?>
<p:tagLst xmlns:a="http://schemas.openxmlformats.org/drawingml/2006/main" xmlns:r="http://schemas.openxmlformats.org/officeDocument/2006/relationships" xmlns:p="http://schemas.openxmlformats.org/presentationml/2006/main">
  <p:tag name="PICID" val="{4a53d10d-3006-411e-8fd4-344b0a90743d}"/>
</p:tagLst>
</file>

<file path=ppt/tags/tag156.xml><?xml version="1.0" encoding="utf-8"?>
<p:tagLst xmlns:a="http://schemas.openxmlformats.org/drawingml/2006/main" xmlns:r="http://schemas.openxmlformats.org/officeDocument/2006/relationships" xmlns:p="http://schemas.openxmlformats.org/presentationml/2006/main">
  <p:tag name="PICID" val="{0e55b532-b4e5-49b2-b7c7-b86eb289ecff}"/>
</p:tagLst>
</file>

<file path=ppt/tags/tag157.xml><?xml version="1.0" encoding="utf-8"?>
<p:tagLst xmlns:a="http://schemas.openxmlformats.org/drawingml/2006/main" xmlns:r="http://schemas.openxmlformats.org/officeDocument/2006/relationships" xmlns:p="http://schemas.openxmlformats.org/presentationml/2006/main">
  <p:tag name="PICID" val="{6caedc86-c615-4131-90f0-0de12a80c960}"/>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PICID" val="{e10e6310-82c1-4d5c-aacd-0ef3c1a80372}"/>
</p:tagLst>
</file>

<file path=ppt/tags/tag168.xml><?xml version="1.0" encoding="utf-8"?>
<p:tagLst xmlns:a="http://schemas.openxmlformats.org/drawingml/2006/main" xmlns:r="http://schemas.openxmlformats.org/officeDocument/2006/relationships" xmlns:p="http://schemas.openxmlformats.org/presentationml/2006/main">
  <p:tag name="PICID" val="{9f3d93d1-c339-45ab-b4a0-691296ebe7e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427</TotalTime>
  <Words>3668</Words>
  <Application>Microsoft Office PowerPoint</Application>
  <PresentationFormat>全屏显示(16:9)</PresentationFormat>
  <Paragraphs>641</Paragraphs>
  <Slides>28</Slides>
  <Notes>27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Inter</vt:lpstr>
      <vt:lpstr>宋体</vt:lpstr>
      <vt:lpstr>微软雅黑</vt:lpstr>
      <vt:lpstr>Arial</vt:lpstr>
      <vt:lpstr>Calibri</vt:lpstr>
      <vt:lpstr>Impact</vt:lpstr>
      <vt:lpstr>Wingdings</vt:lpstr>
      <vt:lpstr>Office theme</vt:lpstr>
      <vt:lpstr>PowerPoint 演示文稿</vt:lpstr>
      <vt:lpstr>PowerPoint 演示文稿</vt:lpstr>
      <vt:lpstr>政策背景</vt:lpstr>
      <vt:lpstr>项目拓展规模---待确认</vt:lpstr>
      <vt:lpstr>用户案例集合—待确认</vt:lpstr>
      <vt:lpstr>PowerPoint 演示文稿</vt:lpstr>
      <vt:lpstr>需求分析</vt:lpstr>
      <vt:lpstr>需求分析</vt:lpstr>
      <vt:lpstr>PowerPoint 演示文稿</vt:lpstr>
      <vt:lpstr>产品架构</vt:lpstr>
      <vt:lpstr>运行模式</vt:lpstr>
      <vt:lpstr>心电数据解读一键审核</vt:lpstr>
      <vt:lpstr>预警服务中心</vt:lpstr>
      <vt:lpstr>数据质控</vt:lpstr>
      <vt:lpstr>跨平台应用能力强</vt:lpstr>
      <vt:lpstr>平台的生态融合性好</vt:lpstr>
      <vt:lpstr>区域心血管健康大数据中心建设——运营、监管、质控</vt:lpstr>
      <vt:lpstr>PowerPoint 演示文稿</vt:lpstr>
      <vt:lpstr>区域心电一张网</vt:lpstr>
      <vt:lpstr>急诊急救与胸痛中心协同</vt:lpstr>
      <vt:lpstr>公共卫生与人群筛查</vt:lpstr>
      <vt:lpstr>慢病管理与健康监测</vt:lpstr>
      <vt:lpstr>PowerPoint 演示文稿</vt:lpstr>
      <vt:lpstr>阿里健康区域心电一张网</vt:lpstr>
      <vt:lpstr>青岛城阳区域心电一张网</vt:lpstr>
      <vt:lpstr>德清基层动态心电筛查</vt:lpstr>
      <vt:lpstr>浙江医院心血管健康监测综合管理</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china</dc:creator>
  <cp:lastModifiedBy>淑娟 鲍</cp:lastModifiedBy>
  <cp:revision>89</cp:revision>
  <dcterms:created xsi:type="dcterms:W3CDTF">2025-03-07T07:33:00Z</dcterms:created>
  <dcterms:modified xsi:type="dcterms:W3CDTF">2025-06-08T05:10:03Z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2025-03-08T22:45:01Z</vt:filetime>
  </property>
  <property fmtid="{D5CDD505-2E9C-101B-9397-08002B2CF9AE}" pid="4" name="ICV">
    <vt:lpwstr>8441A900D3974D2891DBBDFEA2BB1DEC_13</vt:lpwstr>
  </property>
  <property fmtid="{D5CDD505-2E9C-101B-9397-08002B2CF9AE}" pid="5" name="KSOProductBuildVer">
    <vt:lpwstr>2052-12.1.0.20305</vt:lpwstr>
  </property>
</Properties>
</file>