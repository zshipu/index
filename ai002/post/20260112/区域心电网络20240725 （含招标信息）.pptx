
<file path=[Content_Types].xml><?xml version="1.0" encoding="utf-8"?>
<Types xmlns="http://schemas.openxmlformats.org/package/2006/content-types">
  <Override PartName="/ppt/slides/slide29.xml" ContentType="application/vnd.openxmlformats-officedocument.presentationml.slide+xml"/>
  <Override PartName="/ppt/tags/tag8.xml" ContentType="application/vnd.openxmlformats-officedocument.presentationml.tags+xml"/>
  <Override PartName="/ppt/notesSlides/notesSlide2.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tags/tag4.xml" ContentType="application/vnd.openxmlformats-officedocument.presentationml.tags+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tags/tag49.xml" ContentType="application/vnd.openxmlformats-officedocument.presentationml.tags+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tags/tag38.xml" ContentType="application/vnd.openxmlformats-officedocument.presentationml.tags+xml"/>
  <Override PartName="/ppt/notesSlides/notesSlide16.xml" ContentType="application/vnd.openxmlformats-officedocument.presentationml.notesSlide+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20.xml" ContentType="application/vnd.openxmlformats-officedocument.presentationml.slideLayout+xml"/>
  <Override PartName="/ppt/tags/tag16.xml" ContentType="application/vnd.openxmlformats-officedocument.presentationml.tags+xml"/>
  <Override PartName="/ppt/tags/tag27.xml" ContentType="application/vnd.openxmlformats-officedocument.presentationml.tags+xml"/>
  <Override PartName="/ppt/tags/tag45.xml" ContentType="application/vnd.openxmlformats-officedocument.presentationml.tags+xml"/>
  <Override PartName="/ppt/notesSlides/notesSlide23.xml" ContentType="application/vnd.openxmlformats-officedocument.presentationml.notesSlide+xml"/>
  <Override PartName="/docProps/custom.xml" ContentType="application/vnd.openxmlformats-officedocument.custom-properties+xml"/>
  <Override PartName="/ppt/tags/tag34.xml" ContentType="application/vnd.openxmlformats-officedocument.presentationml.tags+xml"/>
  <Override PartName="/ppt/notesSlides/notesSlide12.xml" ContentType="application/vnd.openxmlformats-officedocument.presentationml.notesSlide+xml"/>
  <Override PartName="/ppt/tags/tag12.xml" ContentType="application/vnd.openxmlformats-officedocument.presentationml.tags+xml"/>
  <Override PartName="/ppt/notesSlides/notesSlide7.xml" ContentType="application/vnd.openxmlformats-officedocument.presentationml.notesSlide+xml"/>
  <Override PartName="/ppt/diagrams/layout1.xml" ContentType="application/vnd.openxmlformats-officedocument.drawingml.diagramLayout+xml"/>
  <Override PartName="/ppt/tags/tag23.xml" ContentType="application/vnd.openxmlformats-officedocument.presentationml.tags+xml"/>
  <Override PartName="/ppt/tags/tag41.xml" ContentType="application/vnd.openxmlformats-officedocument.presentationml.tags+xml"/>
  <Override PartName="/ppt/slides/slide9.xml" ContentType="application/vnd.openxmlformats-officedocument.presentationml.slide+xml"/>
  <Override PartName="/ppt/viewProps.xml" ContentType="application/vnd.openxmlformats-officedocument.presentationml.viewProps+xml"/>
  <Override PartName="/ppt/tags/tag9.xml" ContentType="application/vnd.openxmlformats-officedocument.presentationml.tags+xml"/>
  <Override PartName="/ppt/tags/tag30.xml" ContentType="application/vnd.openxmlformats-officedocument.presentationml.tag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Default Extension="png" ContentType="image/png"/>
  <Default Extension="bin" ContentType="application/vnd.openxmlformats-officedocument.oleObject"/>
  <Override PartName="/ppt/notesSlides/notesSlide3.xml" ContentType="application/vnd.openxmlformats-officedocument.presentationml.notesSlide+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slideLayouts/slideLayout18.xml" ContentType="application/vnd.openxmlformats-officedocument.presentationml.slideLayout+xml"/>
  <Override PartName="/ppt/tags/tag5.xml" ContentType="application/vnd.openxmlformats-officedocument.presentationml.tags+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33.xml" ContentType="application/vnd.openxmlformats-officedocument.presentationml.slide+xml"/>
  <Override PartName="/ppt/slideLayouts/slideLayout3.xml" ContentType="application/vnd.openxmlformats-officedocument.presentationml.slideLayout+xml"/>
  <Default Extension="emf" ContentType="image/x-emf"/>
  <Override PartName="/ppt/tags/tag39.xml" ContentType="application/vnd.openxmlformats-officedocument.presentationml.tags+xml"/>
  <Override PartName="/ppt/notesSlides/notesSlide17.xml" ContentType="application/vnd.openxmlformats-officedocument.presentationml.notesSlid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tags/tag1.xml" ContentType="application/vnd.openxmlformats-officedocument.presentationml.tags+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ppt/tags/tag19.xml" ContentType="application/vnd.openxmlformats-officedocument.presentationml.tags+xml"/>
  <Override PartName="/ppt/tags/tag28.xml" ContentType="application/vnd.openxmlformats-officedocument.presentationml.tags+xml"/>
  <Override PartName="/ppt/tags/tag37.xml" ContentType="application/vnd.openxmlformats-officedocument.presentationml.tags+xml"/>
  <Override PartName="/ppt/tags/tag48.xml" ContentType="application/vnd.openxmlformats-officedocument.presentationml.tags+xml"/>
  <Override PartName="/ppt/notesSlides/notesSlide15.xml" ContentType="application/vnd.openxmlformats-officedocument.presentationml.notesSlide+xml"/>
  <Override PartName="/ppt/notesSlides/notesSlide24.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Layouts/slideLayout12.xml" ContentType="application/vnd.openxmlformats-officedocument.presentationml.slideLayout+xml"/>
  <Override PartName="/ppt/tags/tag17.xml" ContentType="application/vnd.openxmlformats-officedocument.presentationml.tags+xml"/>
  <Override PartName="/ppt/tags/tag26.xml" ContentType="application/vnd.openxmlformats-officedocument.presentationml.tags+xml"/>
  <Override PartName="/ppt/tags/tag35.xml" ContentType="application/vnd.openxmlformats-officedocument.presentationml.tags+xml"/>
  <Override PartName="/ppt/tags/tag46.xml" ContentType="application/vnd.openxmlformats-officedocument.presentationml.tags+xml"/>
  <Override PartName="/ppt/notesSlides/notesSlide13.xml" ContentType="application/vnd.openxmlformats-officedocument.presentationml.notesSlide+xml"/>
  <Override PartName="/ppt/notesSlides/notesSlide22.xml" ContentType="application/vnd.openxmlformats-officedocument.presentationml.notesSlide+xml"/>
  <Default Extension="wdp" ContentType="image/vnd.ms-photo"/>
  <Override PartName="/ppt/slideLayouts/slideLayout10.xml" ContentType="application/vnd.openxmlformats-officedocument.presentationml.slideLayout+xml"/>
  <Default Extension="vml" ContentType="application/vnd.openxmlformats-officedocument.vmlDrawing"/>
  <Override PartName="/ppt/notesSlides/notesSlide8.xml" ContentType="application/vnd.openxmlformats-officedocument.presentationml.notesSlide+xml"/>
  <Override PartName="/ppt/tags/tag15.xml" ContentType="application/vnd.openxmlformats-officedocument.presentationml.tags+xml"/>
  <Override PartName="/ppt/tags/tag24.xml" ContentType="application/vnd.openxmlformats-officedocument.presentationml.tags+xml"/>
  <Override PartName="/ppt/tags/tag33.xml" ContentType="application/vnd.openxmlformats-officedocument.presentationml.tags+xml"/>
  <Override PartName="/ppt/tags/tag44.xml" ContentType="application/vnd.openxmlformats-officedocument.presentationml.tags+xml"/>
  <Override PartName="/ppt/notesSlides/notesSlide11.xml" ContentType="application/vnd.openxmlformats-officedocument.presentationml.notesSlide+xml"/>
  <Override PartName="/ppt/notesSlides/notesSlide20.xml" ContentType="application/vnd.openxmlformats-officedocument.presentationml.notesSlide+xml"/>
  <Override PartName="/ppt/tags/tag13.xml" ContentType="application/vnd.openxmlformats-officedocument.presentationml.tags+xml"/>
  <Override PartName="/ppt/notesSlides/notesSlide6.xml" ContentType="application/vnd.openxmlformats-officedocument.presentationml.notesSlide+xml"/>
  <Override PartName="/ppt/tags/tag22.xml" ContentType="application/vnd.openxmlformats-officedocument.presentationml.tags+xml"/>
  <Override PartName="/ppt/tags/tag31.xml" ContentType="application/vnd.openxmlformats-officedocument.presentationml.tags+xml"/>
  <Override PartName="/ppt/tags/tag40.xml" ContentType="application/vnd.openxmlformats-officedocument.presentationml.tags+xml"/>
  <Override PartName="/ppt/tags/tag42.xml" ContentType="application/vnd.openxmlformats-officedocument.presentationml.tags+xml"/>
  <Override PartName="/ppt/tags/tag51.xml" ContentType="application/vnd.openxmlformats-officedocument.presentationml.tags+xml"/>
  <Override PartName="/ppt/slides/slide8.xml" ContentType="application/vnd.openxmlformats-officedocument.presentationml.slide+xml"/>
  <Override PartName="/ppt/tags/tag11.xml" ContentType="application/vnd.openxmlformats-officedocument.presentationml.tags+xml"/>
  <Override PartName="/ppt/notesSlides/notesSlide4.xml" ContentType="application/vnd.openxmlformats-officedocument.presentationml.notesSlide+xml"/>
  <Override PartName="/ppt/diagrams/data1.xml" ContentType="application/vnd.openxmlformats-officedocument.drawingml.diagramData+xml"/>
  <Override PartName="/ppt/tags/tag20.xml" ContentType="application/vnd.openxmlformats-officedocument.presentationml.tags+xml"/>
  <Override PartName="/docProps/core.xml" ContentType="application/vnd.openxmlformats-package.core-properties+xml"/>
  <Override PartName="/ppt/slides/slide6.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tags/tag6.xml" ContentType="application/vnd.openxmlformats-officedocument.presentationml.tags+xml"/>
  <Override PartName="/ppt/diagrams/colors1.xml" ContentType="application/vnd.openxmlformats-officedocument.drawingml.diagramColors+xml"/>
  <Override PartName="/ppt/slideMasters/slideMaster1.xml" ContentType="application/vnd.openxmlformats-officedocument.presentationml.slideMaster+xml"/>
  <Override PartName="/ppt/slides/slide27.xml" ContentType="application/vnd.openxmlformats-officedocument.presentationml.slide+xml"/>
  <Override PartName="/ppt/slideLayouts/slideLayout4.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Layouts/slideLayout15.xml" ContentType="application/vnd.openxmlformats-officedocument.presentationml.slideLayout+xml"/>
  <Override PartName="/ppt/tags/tag2.xml" ContentType="application/vnd.openxmlformats-officedocument.presentationml.tags+xml"/>
  <Override PartName="/ppt/notesSlides/notesSlide18.xml" ContentType="application/vnd.openxmlformats-officedocument.presentationml.notesSlide+xml"/>
  <Default Extension="rels" ContentType="application/vnd.openxmlformats-package.relationships+xml"/>
  <Override PartName="/ppt/slides/slide23.xml" ContentType="application/vnd.openxmlformats-officedocument.presentationml.slide+xml"/>
  <Override PartName="/ppt/tags/tag29.xml" ContentType="application/vnd.openxmlformats-officedocument.presentationml.tags+xml"/>
  <Override PartName="/ppt/tags/tag47.xml" ContentType="application/vnd.openxmlformats-officedocument.presentationml.tags+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Override PartName="/ppt/tags/tag18.xml" ContentType="application/vnd.openxmlformats-officedocument.presentationml.tags+xml"/>
  <Override PartName="/ppt/tags/tag36.xml" ContentType="application/vnd.openxmlformats-officedocument.presentationml.tags+xml"/>
  <Override PartName="/ppt/notesSlides/notesSlide14.xml" ContentType="application/vnd.openxmlformats-officedocument.presentationml.notesSlide+xml"/>
  <Override PartName="/ppt/commentAuthors.xml" ContentType="application/vnd.openxmlformats-officedocument.presentationml.commentAuthors+xml"/>
  <Override PartName="/ppt/tags/tag14.xml" ContentType="application/vnd.openxmlformats-officedocument.presentationml.tags+xml"/>
  <Override PartName="/ppt/tags/tag25.xml" ContentType="application/vnd.openxmlformats-officedocument.presentationml.tags+xml"/>
  <Override PartName="/ppt/tags/tag43.xml" ContentType="application/vnd.openxmlformats-officedocument.presentationml.tags+xml"/>
  <Override PartName="/ppt/notesSlides/notesSlide9.xml" ContentType="application/vnd.openxmlformats-officedocument.presentationml.notesSlide+xml"/>
  <Override PartName="/ppt/notesSlides/notesSlide21.xml" ContentType="application/vnd.openxmlformats-officedocument.presentationml.notesSlide+xml"/>
  <Override PartName="/ppt/tags/tag32.xml" ContentType="application/vnd.openxmlformats-officedocument.presentationml.tags+xml"/>
  <Override PartName="/ppt/notesSlides/notesSlide10.xml" ContentType="application/vnd.openxmlformats-officedocument.presentationml.notesSlide+xml"/>
  <Override PartName="/ppt/tags/tag50.xml" ContentType="application/vnd.openxmlformats-officedocument.presentationml.tags+xml"/>
  <Override PartName="/ppt/slides/slide7.xml" ContentType="application/vnd.openxmlformats-officedocument.presentationml.slide+xml"/>
  <Override PartName="/ppt/slideLayouts/slideLayout9.xml" ContentType="application/vnd.openxmlformats-officedocument.presentationml.slideLayout+xml"/>
  <Override PartName="/ppt/tags/tag10.xml" ContentType="application/vnd.openxmlformats-officedocument.presentationml.tags+xml"/>
  <Override PartName="/ppt/notesSlides/notesSlide5.xml" ContentType="application/vnd.openxmlformats-officedocument.presentationml.notesSlide+xml"/>
  <Override PartName="/ppt/tags/tag21.xml" ContentType="application/vnd.openxmlformats-officedocument.presentationml.tags+xml"/>
  <Override PartName="/ppt/slides/slide28.xml" ContentType="application/vnd.openxmlformats-officedocument.presentationml.slide+xml"/>
  <Override PartName="/ppt/notesSlides/notesSlide1.xml" ContentType="application/vnd.openxmlformats-officedocument.presentationml.notesSlide+xml"/>
  <Override PartName="/ppt/tags/tag7.xml" ContentType="application/vnd.openxmlformats-officedocument.presentationml.tags+xml"/>
  <Override PartName="/ppt/slides/slide3.xml" ContentType="application/vnd.openxmlformats-officedocument.presentationml.slide+xml"/>
  <Override PartName="/ppt/slides/slide17.xml" ContentType="application/vnd.openxmlformats-officedocument.presentationml.slide+xml"/>
  <Override PartName="/ppt/slideLayouts/slideLayout5.xml" ContentType="application/vnd.openxmlformats-officedocument.presentationml.slideLayout+xml"/>
  <Override PartName="/ppt/diagrams/drawing1.xml" ContentType="application/vnd.ms-office.drawingml.diagramDrawing+xml"/>
  <Override PartName="/ppt/notesSlides/notesSlide19.xml" ContentType="application/vnd.openxmlformats-officedocument.presentationml.notesSlide+xml"/>
  <Override PartName="/ppt/slides/slide24.xml" ContentType="application/vnd.openxmlformats-officedocument.presentationml.slide+xml"/>
  <Override PartName="/ppt/slides/slide35.xml" ContentType="application/vnd.openxmlformats-officedocument.presentationml.slide+xml"/>
  <Override PartName="/ppt/slideLayouts/slideLayout16.xml" ContentType="application/vnd.openxmlformats-officedocument.presentationml.slideLayout+xml"/>
  <Override PartName="/ppt/tags/tag3.xml" ContentType="application/vnd.openxmlformats-officedocument.presentationml.tags+xml"/>
  <Default Extension="jpeg" ContentType="image/jpeg"/>
  <Override PartName="/ppt/diagrams/quickStyle1.xml" ContentType="application/vnd.openxmlformats-officedocument.drawingml.diagramStyl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9"/>
  </p:notesMasterIdLst>
  <p:sldIdLst>
    <p:sldId id="617" r:id="rId2"/>
    <p:sldId id="2742" r:id="rId3"/>
    <p:sldId id="2743" r:id="rId4"/>
    <p:sldId id="16668225" r:id="rId5"/>
    <p:sldId id="16668223" r:id="rId6"/>
    <p:sldId id="16668261" r:id="rId7"/>
    <p:sldId id="16668178" r:id="rId8"/>
    <p:sldId id="16668171" r:id="rId9"/>
    <p:sldId id="16668209" r:id="rId10"/>
    <p:sldId id="16668208" r:id="rId11"/>
    <p:sldId id="16668117" r:id="rId12"/>
    <p:sldId id="16668210" r:id="rId13"/>
    <p:sldId id="16668211" r:id="rId14"/>
    <p:sldId id="16668212" r:id="rId15"/>
    <p:sldId id="16668213" r:id="rId16"/>
    <p:sldId id="16668214" r:id="rId17"/>
    <p:sldId id="16668220" r:id="rId18"/>
    <p:sldId id="16668218" r:id="rId19"/>
    <p:sldId id="16668216" r:id="rId20"/>
    <p:sldId id="16668219" r:id="rId21"/>
    <p:sldId id="16668272" r:id="rId22"/>
    <p:sldId id="16668263" r:id="rId23"/>
    <p:sldId id="16668265" r:id="rId24"/>
    <p:sldId id="16668262" r:id="rId25"/>
    <p:sldId id="16668266" r:id="rId26"/>
    <p:sldId id="16668267" r:id="rId27"/>
    <p:sldId id="2747" r:id="rId28"/>
    <p:sldId id="16668165" r:id="rId29"/>
    <p:sldId id="16668200" r:id="rId30"/>
    <p:sldId id="16668166" r:id="rId31"/>
    <p:sldId id="16668199" r:id="rId32"/>
    <p:sldId id="16668124" r:id="rId33"/>
    <p:sldId id="16668176" r:id="rId34"/>
    <p:sldId id="16668273" r:id="rId35"/>
    <p:sldId id="16668274" r:id="rId36"/>
    <p:sldId id="16668275" r:id="rId37"/>
    <p:sldId id="2740" r:id="rId38"/>
  </p:sldIdLst>
  <p:sldSz cx="9144000" cy="5143500" type="screen16x9"/>
  <p:notesSz cx="6858000" cy="9144000"/>
  <p:custDataLst>
    <p:tags r:id="rId40"/>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1719" userDrawn="1">
          <p15:clr>
            <a:srgbClr val="A4A3A4"/>
          </p15:clr>
        </p15:guide>
        <p15:guide id="2" pos="2835" userDrawn="1">
          <p15:clr>
            <a:srgbClr val="A4A3A4"/>
          </p15:clr>
        </p15:guide>
        <p15:guide id="3" orient="horz" pos="2371" userDrawn="1">
          <p15:clr>
            <a:srgbClr val="A4A3A4"/>
          </p15:clr>
        </p15:guide>
        <p15:guide id="4" pos="3773" userDrawn="1">
          <p15:clr>
            <a:srgbClr val="A4A3A4"/>
          </p15:clr>
        </p15:guide>
        <p15:guide id="5" orient="horz" pos="829" userDrawn="1">
          <p15:clr>
            <a:srgbClr val="A4A3A4"/>
          </p15:clr>
        </p15:guide>
        <p15:guide id="6" orient="horz" pos="2953" userDrawn="1">
          <p15:clr>
            <a:srgbClr val="A4A3A4"/>
          </p15:clr>
        </p15:guide>
        <p15:guide id="7" pos="246" userDrawn="1">
          <p15:clr>
            <a:srgbClr val="A4A3A4"/>
          </p15:clr>
        </p15:guide>
        <p15:guide id="8" pos="5556"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袁祖峰" initials="Y" lastIdx="4"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2179B1"/>
    <a:srgbClr val="73A2BF"/>
    <a:srgbClr val="166191"/>
    <a:srgbClr val="196494"/>
    <a:srgbClr val="FFFFFF"/>
    <a:srgbClr val="E8F0F9"/>
    <a:srgbClr val="B9CDE5"/>
    <a:srgbClr val="2B78CA"/>
    <a:srgbClr val="4D94C1"/>
    <a:srgbClr val="95B3D7"/>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017" autoAdjust="0"/>
    <p:restoredTop sz="93963" autoAdjust="0"/>
  </p:normalViewPr>
  <p:slideViewPr>
    <p:cSldViewPr showGuides="1">
      <p:cViewPr varScale="1">
        <p:scale>
          <a:sx n="140" d="100"/>
          <a:sy n="140" d="100"/>
        </p:scale>
        <p:origin x="-108" y="-210"/>
      </p:cViewPr>
      <p:guideLst>
        <p:guide orient="horz" pos="1719"/>
        <p:guide orient="horz" pos="2371"/>
        <p:guide orient="horz" pos="829"/>
        <p:guide orient="horz" pos="2953"/>
        <p:guide pos="2835"/>
        <p:guide pos="3773"/>
        <p:guide pos="246"/>
        <p:guide pos="5556"/>
      </p:guideLst>
    </p:cSldViewPr>
  </p:slideViewPr>
  <p:notesTextViewPr>
    <p:cViewPr>
      <p:scale>
        <a:sx n="125" d="100"/>
        <a:sy n="125" d="100"/>
      </p:scale>
      <p:origin x="0" y="0"/>
    </p:cViewPr>
  </p:notesTextViewPr>
  <p:sorterViewPr>
    <p:cViewPr varScale="1">
      <p:scale>
        <a:sx n="1" d="1"/>
        <a:sy n="1" d="1"/>
      </p:scale>
      <p:origin x="0" y="-6720"/>
    </p:cViewPr>
  </p:sorterViewPr>
  <p:notesViewPr>
    <p:cSldViewPr>
      <p:cViewPr varScale="1">
        <p:scale>
          <a:sx n="52" d="100"/>
          <a:sy n="52" d="100"/>
        </p:scale>
        <p:origin x="2680" y="56"/>
      </p:cViewPr>
      <p:guideLst/>
    </p:cSldViewPr>
  </p:notes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tags" Target="tags/tag1.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colorful5#2">
  <dgm:title val=""/>
  <dgm:desc val=""/>
  <dgm:catLst>
    <dgm:cat type="colorful" pri="10500"/>
  </dgm:catLst>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C1191658-A973-4B4A-95B6-69400D3F9D43}" type="doc">
      <dgm:prSet loTypeId="urn:microsoft.com/office/officeart/2005/8/layout/default#2" loCatId="list" qsTypeId="urn:microsoft.com/office/officeart/2005/8/quickstyle/simple1#2" qsCatId="simple" csTypeId="urn:microsoft.com/office/officeart/2005/8/colors/colorful5#2" csCatId="colorful" phldr="1"/>
      <dgm:spPr/>
      <dgm:t>
        <a:bodyPr/>
        <a:lstStyle/>
        <a:p>
          <a:endParaRPr lang="zh-CN" altLang="en-US"/>
        </a:p>
      </dgm:t>
    </dgm:pt>
    <dgm:pt modelId="{BE5EE7E8-6E0C-472B-B059-7DE569F78C71}">
      <dgm:prSet phldr="0" custT="1"/>
      <dgm:spPr>
        <a:solidFill>
          <a:schemeClr val="accent5"/>
        </a:solidFill>
      </dgm:spPr>
      <dgm:t>
        <a:bodyPr vert="horz" wrap="square"/>
        <a:lstStyle/>
        <a:p>
          <a:pPr algn="ctr">
            <a:lnSpc>
              <a:spcPct val="100000"/>
            </a:lnSpc>
            <a:spcBef>
              <a:spcPct val="0"/>
            </a:spcBef>
            <a:spcAft>
              <a:spcPct val="35000"/>
            </a:spcAft>
          </a:pPr>
          <a:r>
            <a:rPr lang="zh-CN" altLang="en-US" sz="1400" b="1" dirty="0">
              <a:solidFill>
                <a:schemeClr val="bg1"/>
              </a:solidFill>
              <a:latin typeface="微软雅黑" panose="020B0503020204020204" pitchFamily="34" charset="-122"/>
              <a:ea typeface="微软雅黑" panose="020B0503020204020204" pitchFamily="34" charset="-122"/>
            </a:rPr>
            <a:t>平台架构</a:t>
          </a:r>
          <a:endParaRPr lang="en-US" altLang="zh-CN" sz="1400" b="1" dirty="0">
            <a:solidFill>
              <a:schemeClr val="bg1"/>
            </a:solidFill>
            <a:latin typeface="微软雅黑" panose="020B0503020204020204" pitchFamily="34" charset="-122"/>
            <a:ea typeface="微软雅黑" panose="020B0503020204020204" pitchFamily="34" charset="-122"/>
          </a:endParaRPr>
        </a:p>
        <a:p>
          <a:pPr algn="ctr">
            <a:lnSpc>
              <a:spcPct val="100000"/>
            </a:lnSpc>
            <a:spcBef>
              <a:spcPct val="0"/>
            </a:spcBef>
            <a:spcAft>
              <a:spcPct val="35000"/>
            </a:spcAft>
          </a:pPr>
          <a:r>
            <a:rPr lang="zh-CN" altLang="en-US" sz="1100" dirty="0">
              <a:solidFill>
                <a:schemeClr val="bg1"/>
              </a:solidFill>
              <a:latin typeface="微软雅黑" panose="020B0503020204020204" pitchFamily="34" charset="-122"/>
              <a:ea typeface="微软雅黑" panose="020B0503020204020204" pitchFamily="34" charset="-122"/>
            </a:rPr>
            <a:t>主流平台、微服务架构、</a:t>
          </a:r>
        </a:p>
        <a:p>
          <a:pPr algn="ctr">
            <a:lnSpc>
              <a:spcPct val="100000"/>
            </a:lnSpc>
            <a:spcBef>
              <a:spcPct val="0"/>
            </a:spcBef>
            <a:spcAft>
              <a:spcPct val="35000"/>
            </a:spcAft>
          </a:pPr>
          <a:r>
            <a:rPr lang="zh-CN" altLang="en-US" sz="1100" dirty="0">
              <a:solidFill>
                <a:schemeClr val="bg1"/>
              </a:solidFill>
              <a:latin typeface="微软雅黑" panose="020B0503020204020204" pitchFamily="34" charset="-122"/>
              <a:ea typeface="微软雅黑" panose="020B0503020204020204" pitchFamily="34" charset="-122"/>
            </a:rPr>
            <a:t>松耦合</a:t>
          </a:r>
          <a:endParaRPr sz="1100" dirty="0"/>
        </a:p>
      </dgm:t>
    </dgm:pt>
    <dgm:pt modelId="{3F9CD494-BCB7-4DEE-8731-2700724ABAB5}" type="parTrans" cxnId="{32DE0B32-0C30-4B19-A1C5-D79B208A229E}">
      <dgm:prSet/>
      <dgm:spPr/>
      <dgm:t>
        <a:bodyPr/>
        <a:lstStyle/>
        <a:p>
          <a:pPr algn="ctr"/>
          <a:endParaRPr lang="zh-CN" altLang="en-US" sz="1600">
            <a:solidFill>
              <a:schemeClr val="bg1"/>
            </a:solidFill>
            <a:latin typeface="微软雅黑" panose="020B0503020204020204" pitchFamily="34" charset="-122"/>
            <a:ea typeface="微软雅黑" panose="020B0503020204020204" pitchFamily="34" charset="-122"/>
          </a:endParaRPr>
        </a:p>
      </dgm:t>
    </dgm:pt>
    <dgm:pt modelId="{8EC515BD-6550-4155-93BF-800DAB52A76D}" type="sibTrans" cxnId="{32DE0B32-0C30-4B19-A1C5-D79B208A229E}">
      <dgm:prSet/>
      <dgm:spPr/>
      <dgm:t>
        <a:bodyPr/>
        <a:lstStyle/>
        <a:p>
          <a:pPr algn="ctr"/>
          <a:endParaRPr lang="zh-CN" altLang="en-US" sz="1600">
            <a:solidFill>
              <a:schemeClr val="bg1"/>
            </a:solidFill>
            <a:latin typeface="微软雅黑" panose="020B0503020204020204" pitchFamily="34" charset="-122"/>
            <a:ea typeface="微软雅黑" panose="020B0503020204020204" pitchFamily="34" charset="-122"/>
          </a:endParaRPr>
        </a:p>
      </dgm:t>
    </dgm:pt>
    <dgm:pt modelId="{BFB22771-3013-4827-8737-29EE9208F807}">
      <dgm:prSet phldr="0" custT="1"/>
      <dgm:spPr>
        <a:solidFill>
          <a:schemeClr val="accent5"/>
        </a:solidFill>
      </dgm:spPr>
      <dgm:t>
        <a:bodyPr vert="horz" wrap="square"/>
        <a:lstStyle/>
        <a:p>
          <a:pPr algn="ctr">
            <a:lnSpc>
              <a:spcPct val="100000"/>
            </a:lnSpc>
            <a:spcBef>
              <a:spcPct val="0"/>
            </a:spcBef>
            <a:spcAft>
              <a:spcPct val="35000"/>
            </a:spcAft>
          </a:pPr>
          <a:r>
            <a:rPr lang="zh-CN" altLang="en-US" sz="1400" b="1" dirty="0">
              <a:solidFill>
                <a:schemeClr val="bg1"/>
              </a:solidFill>
              <a:latin typeface="微软雅黑" panose="020B0503020204020204" pitchFamily="34" charset="-122"/>
              <a:ea typeface="微软雅黑" panose="020B0503020204020204" pitchFamily="34" charset="-122"/>
            </a:rPr>
            <a:t>云计算技术</a:t>
          </a:r>
          <a:endParaRPr lang="en-US" altLang="zh-CN" sz="1400" b="1" dirty="0">
            <a:solidFill>
              <a:schemeClr val="bg1"/>
            </a:solidFill>
            <a:latin typeface="微软雅黑" panose="020B0503020204020204" pitchFamily="34" charset="-122"/>
            <a:ea typeface="微软雅黑" panose="020B0503020204020204" pitchFamily="34" charset="-122"/>
          </a:endParaRPr>
        </a:p>
        <a:p>
          <a:pPr algn="ctr">
            <a:lnSpc>
              <a:spcPct val="100000"/>
            </a:lnSpc>
            <a:spcBef>
              <a:spcPct val="0"/>
            </a:spcBef>
            <a:spcAft>
              <a:spcPct val="35000"/>
            </a:spcAft>
          </a:pPr>
          <a:r>
            <a:rPr lang="zh-CN" altLang="en-US" sz="1100" dirty="0">
              <a:solidFill>
                <a:schemeClr val="bg1"/>
              </a:solidFill>
              <a:latin typeface="微软雅黑" panose="020B0503020204020204" pitchFamily="34" charset="-122"/>
              <a:ea typeface="微软雅黑" panose="020B0503020204020204" pitchFamily="34" charset="-122"/>
            </a:rPr>
            <a:t>支持大用户量并发，在线展示长时间原始心电波形</a:t>
          </a:r>
          <a:endParaRPr sz="1100" dirty="0"/>
        </a:p>
      </dgm:t>
    </dgm:pt>
    <dgm:pt modelId="{8EDBE87C-2DE1-4888-AB89-BEEFE5750035}" type="parTrans" cxnId="{9D684F01-63D3-4B8C-B9D3-2DA10A29505A}">
      <dgm:prSet/>
      <dgm:spPr/>
      <dgm:t>
        <a:bodyPr/>
        <a:lstStyle/>
        <a:p>
          <a:pPr algn="ctr"/>
          <a:endParaRPr lang="zh-CN" altLang="en-US" sz="1600">
            <a:solidFill>
              <a:schemeClr val="bg1"/>
            </a:solidFill>
            <a:latin typeface="微软雅黑" panose="020B0503020204020204" pitchFamily="34" charset="-122"/>
            <a:ea typeface="微软雅黑" panose="020B0503020204020204" pitchFamily="34" charset="-122"/>
          </a:endParaRPr>
        </a:p>
      </dgm:t>
    </dgm:pt>
    <dgm:pt modelId="{8016CF87-9A38-4A81-AF28-710569C9B5F9}" type="sibTrans" cxnId="{9D684F01-63D3-4B8C-B9D3-2DA10A29505A}">
      <dgm:prSet/>
      <dgm:spPr/>
      <dgm:t>
        <a:bodyPr/>
        <a:lstStyle/>
        <a:p>
          <a:pPr algn="ctr"/>
          <a:endParaRPr lang="zh-CN" altLang="en-US" sz="1600">
            <a:solidFill>
              <a:schemeClr val="bg1"/>
            </a:solidFill>
            <a:latin typeface="微软雅黑" panose="020B0503020204020204" pitchFamily="34" charset="-122"/>
            <a:ea typeface="微软雅黑" panose="020B0503020204020204" pitchFamily="34" charset="-122"/>
          </a:endParaRPr>
        </a:p>
      </dgm:t>
    </dgm:pt>
    <dgm:pt modelId="{FE12C9BF-85EF-4D56-99AB-5D38F0A87B89}">
      <dgm:prSet phldr="0" custT="1"/>
      <dgm:spPr>
        <a:solidFill>
          <a:schemeClr val="accent5"/>
        </a:solidFill>
      </dgm:spPr>
      <dgm:t>
        <a:bodyPr vert="horz" wrap="square"/>
        <a:lstStyle/>
        <a:p>
          <a:pPr algn="ctr">
            <a:lnSpc>
              <a:spcPct val="100000"/>
            </a:lnSpc>
            <a:spcBef>
              <a:spcPct val="0"/>
            </a:spcBef>
            <a:spcAft>
              <a:spcPct val="35000"/>
            </a:spcAft>
          </a:pPr>
          <a:r>
            <a:rPr lang="en-US" sz="1400" b="1" dirty="0">
              <a:solidFill>
                <a:schemeClr val="bg1"/>
              </a:solidFill>
              <a:latin typeface="微软雅黑" panose="020B0503020204020204" pitchFamily="34" charset="-122"/>
              <a:ea typeface="微软雅黑" panose="020B0503020204020204" pitchFamily="34" charset="-122"/>
            </a:rPr>
            <a:t>AI</a:t>
          </a:r>
          <a:r>
            <a:rPr lang="zh-CN" altLang="en-US" sz="1400" b="1" dirty="0">
              <a:solidFill>
                <a:schemeClr val="bg1"/>
              </a:solidFill>
              <a:latin typeface="微软雅黑" panose="020B0503020204020204" pitchFamily="34" charset="-122"/>
              <a:ea typeface="微软雅黑" panose="020B0503020204020204" pitchFamily="34" charset="-122"/>
            </a:rPr>
            <a:t>分析诊断</a:t>
          </a:r>
          <a:endParaRPr lang="en-US" altLang="zh-CN" sz="1400" b="1" dirty="0">
            <a:solidFill>
              <a:schemeClr val="bg1"/>
            </a:solidFill>
            <a:latin typeface="微软雅黑" panose="020B0503020204020204" pitchFamily="34" charset="-122"/>
            <a:ea typeface="微软雅黑" panose="020B0503020204020204" pitchFamily="34" charset="-122"/>
          </a:endParaRPr>
        </a:p>
        <a:p>
          <a:pPr algn="ctr">
            <a:lnSpc>
              <a:spcPct val="100000"/>
            </a:lnSpc>
            <a:spcBef>
              <a:spcPct val="0"/>
            </a:spcBef>
            <a:spcAft>
              <a:spcPct val="35000"/>
            </a:spcAft>
          </a:pPr>
          <a:r>
            <a:rPr lang="zh-CN" altLang="en-US" sz="1100" dirty="0">
              <a:solidFill>
                <a:schemeClr val="bg1"/>
              </a:solidFill>
              <a:latin typeface="微软雅黑" panose="020B0503020204020204" pitchFamily="34" charset="-122"/>
              <a:ea typeface="微软雅黑" panose="020B0503020204020204" pitchFamily="34" charset="-122"/>
            </a:rPr>
            <a:t>自动智能分析，</a:t>
          </a:r>
          <a:r>
            <a:rPr lang="zh-CN" sz="1100" dirty="0">
              <a:solidFill>
                <a:schemeClr val="bg1"/>
              </a:solidFill>
              <a:latin typeface="微软雅黑" panose="020B0503020204020204" pitchFamily="34" charset="-122"/>
              <a:ea typeface="微软雅黑" panose="020B0503020204020204" pitchFamily="34" charset="-122"/>
            </a:rPr>
            <a:t>更快完成心电报告</a:t>
          </a:r>
          <a:r>
            <a:rPr lang="zh-CN" altLang="en-US" sz="1100" dirty="0">
              <a:solidFill>
                <a:schemeClr val="bg1"/>
              </a:solidFill>
              <a:latin typeface="微软雅黑" panose="020B0503020204020204" pitchFamily="34" charset="-122"/>
              <a:ea typeface="微软雅黑" panose="020B0503020204020204" pitchFamily="34" charset="-122"/>
            </a:rPr>
            <a:t>，</a:t>
          </a:r>
          <a:r>
            <a:rPr lang="zh-CN" sz="1100" dirty="0">
              <a:solidFill>
                <a:schemeClr val="bg1"/>
              </a:solidFill>
              <a:latin typeface="微软雅黑" panose="020B0503020204020204" pitchFamily="34" charset="-122"/>
              <a:ea typeface="微软雅黑" panose="020B0503020204020204" pitchFamily="34" charset="-122"/>
            </a:rPr>
            <a:t>赋能医生</a:t>
          </a:r>
          <a:endParaRPr sz="1100" dirty="0"/>
        </a:p>
      </dgm:t>
    </dgm:pt>
    <dgm:pt modelId="{B1B0A3FA-90A5-4317-8462-7B5C1FD08510}" type="parTrans" cxnId="{03FB7FFE-9394-4018-9CD8-C161DE9A5F12}">
      <dgm:prSet/>
      <dgm:spPr/>
      <dgm:t>
        <a:bodyPr/>
        <a:lstStyle/>
        <a:p>
          <a:pPr algn="ctr"/>
          <a:endParaRPr lang="zh-CN" altLang="en-US" sz="1600">
            <a:solidFill>
              <a:schemeClr val="bg1"/>
            </a:solidFill>
            <a:latin typeface="微软雅黑" panose="020B0503020204020204" pitchFamily="34" charset="-122"/>
            <a:ea typeface="微软雅黑" panose="020B0503020204020204" pitchFamily="34" charset="-122"/>
          </a:endParaRPr>
        </a:p>
      </dgm:t>
    </dgm:pt>
    <dgm:pt modelId="{370167F7-123B-449B-9FCC-301B81FA29C9}" type="sibTrans" cxnId="{03FB7FFE-9394-4018-9CD8-C161DE9A5F12}">
      <dgm:prSet/>
      <dgm:spPr/>
      <dgm:t>
        <a:bodyPr/>
        <a:lstStyle/>
        <a:p>
          <a:pPr algn="ctr"/>
          <a:endParaRPr lang="zh-CN" altLang="en-US" sz="1600">
            <a:solidFill>
              <a:schemeClr val="bg1"/>
            </a:solidFill>
            <a:latin typeface="微软雅黑" panose="020B0503020204020204" pitchFamily="34" charset="-122"/>
            <a:ea typeface="微软雅黑" panose="020B0503020204020204" pitchFamily="34" charset="-122"/>
          </a:endParaRPr>
        </a:p>
      </dgm:t>
    </dgm:pt>
    <dgm:pt modelId="{6EAFD50B-8089-4DDD-BD60-A3731AB8B988}">
      <dgm:prSet phldr="0" custT="1"/>
      <dgm:spPr>
        <a:solidFill>
          <a:schemeClr val="accent5"/>
        </a:solidFill>
      </dgm:spPr>
      <dgm:t>
        <a:bodyPr vert="horz" wrap="square" anchor="ctr"/>
        <a:lstStyle/>
        <a:p>
          <a:pPr algn="ctr">
            <a:lnSpc>
              <a:spcPct val="100000"/>
            </a:lnSpc>
            <a:spcBef>
              <a:spcPct val="0"/>
            </a:spcBef>
            <a:spcAft>
              <a:spcPct val="35000"/>
            </a:spcAft>
          </a:pPr>
          <a:r>
            <a:rPr lang="zh-CN" altLang="en-US" sz="1400" b="1" dirty="0">
              <a:solidFill>
                <a:schemeClr val="bg1"/>
              </a:solidFill>
              <a:latin typeface="微软雅黑" panose="020B0503020204020204" pitchFamily="34" charset="-122"/>
              <a:ea typeface="微软雅黑" panose="020B0503020204020204" pitchFamily="34" charset="-122"/>
            </a:rPr>
            <a:t>心电图多维展示</a:t>
          </a:r>
        </a:p>
        <a:p>
          <a:pPr algn="ctr">
            <a:lnSpc>
              <a:spcPct val="100000"/>
            </a:lnSpc>
            <a:spcBef>
              <a:spcPct val="0"/>
            </a:spcBef>
            <a:spcAft>
              <a:spcPct val="35000"/>
            </a:spcAft>
          </a:pPr>
          <a:r>
            <a:rPr lang="zh-CN" altLang="en-US" sz="1000" dirty="0">
              <a:solidFill>
                <a:schemeClr val="bg1"/>
              </a:solidFill>
              <a:latin typeface="微软雅黑" panose="020B0503020204020204" pitchFamily="34" charset="-122"/>
              <a:ea typeface="微软雅黑" panose="020B0503020204020204" pitchFamily="34" charset="-122"/>
            </a:rPr>
            <a:t>支持心电图处理测量、波形显示、幅值调整、模板编辑</a:t>
          </a:r>
        </a:p>
      </dgm:t>
    </dgm:pt>
    <dgm:pt modelId="{208CC36F-565B-41D2-85C3-693A4D841D76}" type="parTrans" cxnId="{9D263AB5-41C9-4808-B04E-A1C1F432AD8D}">
      <dgm:prSet/>
      <dgm:spPr/>
      <dgm:t>
        <a:bodyPr/>
        <a:lstStyle/>
        <a:p>
          <a:pPr algn="ctr"/>
          <a:endParaRPr lang="zh-CN" altLang="en-US" sz="1600">
            <a:solidFill>
              <a:schemeClr val="bg1"/>
            </a:solidFill>
            <a:latin typeface="微软雅黑" panose="020B0503020204020204" pitchFamily="34" charset="-122"/>
            <a:ea typeface="微软雅黑" panose="020B0503020204020204" pitchFamily="34" charset="-122"/>
          </a:endParaRPr>
        </a:p>
      </dgm:t>
    </dgm:pt>
    <dgm:pt modelId="{AF87C47B-4026-41D3-892D-668D8A76475F}" type="sibTrans" cxnId="{9D263AB5-41C9-4808-B04E-A1C1F432AD8D}">
      <dgm:prSet/>
      <dgm:spPr/>
      <dgm:t>
        <a:bodyPr/>
        <a:lstStyle/>
        <a:p>
          <a:pPr algn="ctr"/>
          <a:endParaRPr lang="zh-CN" altLang="en-US" sz="1600">
            <a:solidFill>
              <a:schemeClr val="bg1"/>
            </a:solidFill>
            <a:latin typeface="微软雅黑" panose="020B0503020204020204" pitchFamily="34" charset="-122"/>
            <a:ea typeface="微软雅黑" panose="020B0503020204020204" pitchFamily="34" charset="-122"/>
          </a:endParaRPr>
        </a:p>
      </dgm:t>
    </dgm:pt>
    <dgm:pt modelId="{983B7983-AE41-4539-B046-C5C9072F331E}">
      <dgm:prSet phldr="0" custT="1"/>
      <dgm:spPr>
        <a:solidFill>
          <a:schemeClr val="accent2"/>
        </a:solidFill>
      </dgm:spPr>
      <dgm:t>
        <a:bodyPr vert="horz" wrap="square"/>
        <a:lstStyle/>
        <a:p>
          <a:pPr algn="ctr">
            <a:lnSpc>
              <a:spcPct val="100000"/>
            </a:lnSpc>
            <a:spcBef>
              <a:spcPct val="0"/>
            </a:spcBef>
            <a:spcAft>
              <a:spcPct val="35000"/>
            </a:spcAft>
          </a:pPr>
          <a:r>
            <a:rPr lang="zh-CN" altLang="en-US" sz="1400" b="1" dirty="0">
              <a:solidFill>
                <a:schemeClr val="bg1"/>
              </a:solidFill>
              <a:latin typeface="微软雅黑" panose="020B0503020204020204" pitchFamily="34" charset="-122"/>
              <a:ea typeface="微软雅黑" panose="020B0503020204020204" pitchFamily="34" charset="-122"/>
            </a:rPr>
            <a:t>支持双网</a:t>
          </a:r>
          <a:endParaRPr lang="en-US" altLang="zh-CN" sz="1400" b="1" dirty="0">
            <a:solidFill>
              <a:schemeClr val="bg1"/>
            </a:solidFill>
            <a:latin typeface="微软雅黑" panose="020B0503020204020204" pitchFamily="34" charset="-122"/>
            <a:ea typeface="微软雅黑" panose="020B0503020204020204" pitchFamily="34" charset="-122"/>
          </a:endParaRPr>
        </a:p>
        <a:p>
          <a:pPr algn="ctr">
            <a:lnSpc>
              <a:spcPct val="100000"/>
            </a:lnSpc>
            <a:spcBef>
              <a:spcPct val="0"/>
            </a:spcBef>
            <a:spcAft>
              <a:spcPct val="35000"/>
            </a:spcAft>
          </a:pPr>
          <a:r>
            <a:rPr lang="zh-CN" altLang="en-US" sz="1100" dirty="0">
              <a:solidFill>
                <a:schemeClr val="bg1"/>
              </a:solidFill>
              <a:latin typeface="微软雅黑" panose="020B0503020204020204" pitchFamily="34" charset="-122"/>
              <a:ea typeface="微软雅黑" panose="020B0503020204020204" pitchFamily="34" charset="-122"/>
            </a:rPr>
            <a:t>病人无空间束缚</a:t>
          </a:r>
        </a:p>
      </dgm:t>
    </dgm:pt>
    <dgm:pt modelId="{43F1B8D2-4079-4226-A822-2BBA5C48B18B}" type="parTrans" cxnId="{D3613BE9-EB87-4E8D-AE47-7609DE5DFDF6}">
      <dgm:prSet/>
      <dgm:spPr/>
      <dgm:t>
        <a:bodyPr/>
        <a:lstStyle/>
        <a:p>
          <a:pPr algn="ctr"/>
          <a:endParaRPr lang="zh-CN" altLang="en-US" sz="1600">
            <a:solidFill>
              <a:schemeClr val="bg1"/>
            </a:solidFill>
            <a:latin typeface="微软雅黑" panose="020B0503020204020204" pitchFamily="34" charset="-122"/>
            <a:ea typeface="微软雅黑" panose="020B0503020204020204" pitchFamily="34" charset="-122"/>
          </a:endParaRPr>
        </a:p>
      </dgm:t>
    </dgm:pt>
    <dgm:pt modelId="{94015A7F-F7BA-4C4B-9858-A7F77AC6AF05}" type="sibTrans" cxnId="{D3613BE9-EB87-4E8D-AE47-7609DE5DFDF6}">
      <dgm:prSet/>
      <dgm:spPr/>
      <dgm:t>
        <a:bodyPr/>
        <a:lstStyle/>
        <a:p>
          <a:pPr algn="ctr"/>
          <a:endParaRPr lang="zh-CN" altLang="en-US" sz="1600">
            <a:solidFill>
              <a:schemeClr val="bg1"/>
            </a:solidFill>
            <a:latin typeface="微软雅黑" panose="020B0503020204020204" pitchFamily="34" charset="-122"/>
            <a:ea typeface="微软雅黑" panose="020B0503020204020204" pitchFamily="34" charset="-122"/>
          </a:endParaRPr>
        </a:p>
      </dgm:t>
    </dgm:pt>
    <dgm:pt modelId="{38779347-A00A-49D4-AA40-E755905576E7}">
      <dgm:prSet phldr="0" custT="1"/>
      <dgm:spPr>
        <a:solidFill>
          <a:schemeClr val="accent5"/>
        </a:solidFill>
      </dgm:spPr>
      <dgm:t>
        <a:bodyPr vert="horz" wrap="square"/>
        <a:lstStyle/>
        <a:p>
          <a:pPr algn="ctr">
            <a:lnSpc>
              <a:spcPct val="100000"/>
            </a:lnSpc>
            <a:spcBef>
              <a:spcPct val="0"/>
            </a:spcBef>
            <a:spcAft>
              <a:spcPct val="35000"/>
            </a:spcAft>
          </a:pPr>
          <a:r>
            <a:rPr lang="zh-CN" sz="1400" b="1" dirty="0">
              <a:solidFill>
                <a:schemeClr val="bg1"/>
              </a:solidFill>
              <a:latin typeface="微软雅黑" panose="020B0503020204020204" pitchFamily="34" charset="-122"/>
              <a:ea typeface="微软雅黑" panose="020B0503020204020204" pitchFamily="34" charset="-122"/>
            </a:rPr>
            <a:t>业务一体化</a:t>
          </a:r>
          <a:endParaRPr lang="en-US" altLang="zh-CN" sz="1400" b="1" dirty="0">
            <a:solidFill>
              <a:schemeClr val="bg1"/>
            </a:solidFill>
            <a:latin typeface="微软雅黑" panose="020B0503020204020204" pitchFamily="34" charset="-122"/>
            <a:ea typeface="微软雅黑" panose="020B0503020204020204" pitchFamily="34" charset="-122"/>
          </a:endParaRPr>
        </a:p>
        <a:p>
          <a:pPr algn="ctr">
            <a:lnSpc>
              <a:spcPct val="100000"/>
            </a:lnSpc>
            <a:spcBef>
              <a:spcPct val="0"/>
            </a:spcBef>
            <a:spcAft>
              <a:spcPct val="35000"/>
            </a:spcAft>
          </a:pPr>
          <a:r>
            <a:rPr lang="zh-CN" sz="1100" dirty="0">
              <a:solidFill>
                <a:schemeClr val="bg1"/>
              </a:solidFill>
              <a:latin typeface="微软雅黑" panose="020B0503020204020204" pitchFamily="34" charset="-122"/>
              <a:ea typeface="微软雅黑" panose="020B0503020204020204" pitchFamily="34" charset="-122"/>
            </a:rPr>
            <a:t>覆盖院内外</a:t>
          </a:r>
          <a:r>
            <a:rPr lang="zh-CN" altLang="en-US" sz="1100" dirty="0">
              <a:solidFill>
                <a:schemeClr val="bg1"/>
              </a:solidFill>
              <a:latin typeface="微软雅黑" panose="020B0503020204020204" pitchFamily="34" charset="-122"/>
              <a:ea typeface="微软雅黑" panose="020B0503020204020204" pitchFamily="34" charset="-122"/>
            </a:rPr>
            <a:t>，支持多种</a:t>
          </a:r>
        </a:p>
        <a:p>
          <a:pPr algn="ctr">
            <a:lnSpc>
              <a:spcPct val="100000"/>
            </a:lnSpc>
            <a:spcBef>
              <a:spcPct val="0"/>
            </a:spcBef>
            <a:spcAft>
              <a:spcPct val="35000"/>
            </a:spcAft>
          </a:pPr>
          <a:r>
            <a:rPr lang="zh-CN" sz="1100" dirty="0">
              <a:solidFill>
                <a:schemeClr val="bg1"/>
              </a:solidFill>
              <a:latin typeface="微软雅黑" panose="020B0503020204020204" pitchFamily="34" charset="-122"/>
              <a:ea typeface="微软雅黑" panose="020B0503020204020204" pitchFamily="34" charset="-122"/>
            </a:rPr>
            <a:t>检查项监测</a:t>
          </a:r>
          <a:endParaRPr sz="1100" dirty="0"/>
        </a:p>
      </dgm:t>
    </dgm:pt>
    <dgm:pt modelId="{52B710CE-9922-4733-A0D0-15DB67EC6530}" type="parTrans" cxnId="{5BF8E3BB-39E5-42E5-9C13-89DAC56A9A68}">
      <dgm:prSet/>
      <dgm:spPr/>
      <dgm:t>
        <a:bodyPr/>
        <a:lstStyle/>
        <a:p>
          <a:pPr algn="ctr"/>
          <a:endParaRPr lang="zh-CN" altLang="en-US" sz="1600">
            <a:solidFill>
              <a:schemeClr val="bg1"/>
            </a:solidFill>
            <a:latin typeface="微软雅黑" panose="020B0503020204020204" pitchFamily="34" charset="-122"/>
            <a:ea typeface="微软雅黑" panose="020B0503020204020204" pitchFamily="34" charset="-122"/>
          </a:endParaRPr>
        </a:p>
      </dgm:t>
    </dgm:pt>
    <dgm:pt modelId="{DDF51155-9A1F-4EE7-B22B-C920F1578101}" type="sibTrans" cxnId="{5BF8E3BB-39E5-42E5-9C13-89DAC56A9A68}">
      <dgm:prSet/>
      <dgm:spPr/>
      <dgm:t>
        <a:bodyPr/>
        <a:lstStyle/>
        <a:p>
          <a:pPr algn="ctr"/>
          <a:endParaRPr lang="zh-CN" altLang="en-US" sz="1600">
            <a:solidFill>
              <a:schemeClr val="bg1"/>
            </a:solidFill>
            <a:latin typeface="微软雅黑" panose="020B0503020204020204" pitchFamily="34" charset="-122"/>
            <a:ea typeface="微软雅黑" panose="020B0503020204020204" pitchFamily="34" charset="-122"/>
          </a:endParaRPr>
        </a:p>
      </dgm:t>
    </dgm:pt>
    <dgm:pt modelId="{65D6A9EC-CAB8-455B-83D1-A40AA2705E59}">
      <dgm:prSet phldr="0" custT="1"/>
      <dgm:spPr>
        <a:solidFill>
          <a:schemeClr val="accent2"/>
        </a:solidFill>
      </dgm:spPr>
      <dgm:t>
        <a:bodyPr vert="horz" wrap="square"/>
        <a:lstStyle/>
        <a:p>
          <a:pPr algn="ctr">
            <a:lnSpc>
              <a:spcPct val="100000"/>
            </a:lnSpc>
            <a:spcBef>
              <a:spcPct val="0"/>
            </a:spcBef>
            <a:spcAft>
              <a:spcPct val="35000"/>
            </a:spcAft>
          </a:pPr>
          <a:r>
            <a:rPr lang="zh-CN" altLang="en-US" sz="1400" b="1" dirty="0">
              <a:solidFill>
                <a:schemeClr val="bg1"/>
              </a:solidFill>
              <a:latin typeface="微软雅黑" panose="020B0503020204020204" pitchFamily="34" charset="-122"/>
              <a:ea typeface="微软雅黑" panose="020B0503020204020204" pitchFamily="34" charset="-122"/>
            </a:rPr>
            <a:t>一机多用</a:t>
          </a:r>
          <a:endParaRPr lang="en-US" altLang="zh-CN" sz="1400" b="1" dirty="0">
            <a:solidFill>
              <a:schemeClr val="bg1"/>
            </a:solidFill>
            <a:latin typeface="微软雅黑" panose="020B0503020204020204" pitchFamily="34" charset="-122"/>
            <a:ea typeface="微软雅黑" panose="020B0503020204020204" pitchFamily="34" charset="-122"/>
          </a:endParaRPr>
        </a:p>
        <a:p>
          <a:pPr algn="ctr">
            <a:lnSpc>
              <a:spcPct val="100000"/>
            </a:lnSpc>
            <a:spcBef>
              <a:spcPct val="0"/>
            </a:spcBef>
            <a:spcAft>
              <a:spcPct val="35000"/>
            </a:spcAft>
          </a:pPr>
          <a:r>
            <a:rPr lang="zh-CN" altLang="en-US" sz="1100" dirty="0">
              <a:solidFill>
                <a:schemeClr val="bg1"/>
              </a:solidFill>
              <a:latin typeface="微软雅黑" panose="020B0503020204020204" pitchFamily="34" charset="-122"/>
              <a:ea typeface="微软雅黑" panose="020B0503020204020204" pitchFamily="34" charset="-122"/>
            </a:rPr>
            <a:t>支持动态心电、动态血压、睡眠呼吸、远程监护</a:t>
          </a:r>
          <a:endParaRPr sz="1100" dirty="0"/>
        </a:p>
      </dgm:t>
    </dgm:pt>
    <dgm:pt modelId="{E745034C-09D0-4B93-A112-25FE56DFE0ED}" type="parTrans" cxnId="{DFABC325-8E4B-4774-AED0-7340F72F36D5}">
      <dgm:prSet/>
      <dgm:spPr/>
      <dgm:t>
        <a:bodyPr/>
        <a:lstStyle/>
        <a:p>
          <a:pPr algn="ctr"/>
          <a:endParaRPr lang="zh-CN" altLang="en-US" sz="1600">
            <a:solidFill>
              <a:schemeClr val="bg1"/>
            </a:solidFill>
            <a:latin typeface="微软雅黑" panose="020B0503020204020204" pitchFamily="34" charset="-122"/>
            <a:ea typeface="微软雅黑" panose="020B0503020204020204" pitchFamily="34" charset="-122"/>
          </a:endParaRPr>
        </a:p>
      </dgm:t>
    </dgm:pt>
    <dgm:pt modelId="{DFA2C156-08F9-4FDC-B91C-5D0136BBCCB2}" type="sibTrans" cxnId="{DFABC325-8E4B-4774-AED0-7340F72F36D5}">
      <dgm:prSet/>
      <dgm:spPr/>
      <dgm:t>
        <a:bodyPr/>
        <a:lstStyle/>
        <a:p>
          <a:pPr algn="ctr"/>
          <a:endParaRPr lang="zh-CN" altLang="en-US" sz="1600">
            <a:solidFill>
              <a:schemeClr val="bg1"/>
            </a:solidFill>
            <a:latin typeface="微软雅黑" panose="020B0503020204020204" pitchFamily="34" charset="-122"/>
            <a:ea typeface="微软雅黑" panose="020B0503020204020204" pitchFamily="34" charset="-122"/>
          </a:endParaRPr>
        </a:p>
      </dgm:t>
    </dgm:pt>
    <dgm:pt modelId="{12D7677F-EE3D-4289-9D4C-6376951198E5}">
      <dgm:prSet phldr="0" custT="1"/>
      <dgm:spPr>
        <a:solidFill>
          <a:schemeClr val="accent5"/>
        </a:solidFill>
      </dgm:spPr>
      <dgm:t>
        <a:bodyPr vert="horz" wrap="square"/>
        <a:lstStyle/>
        <a:p>
          <a:pPr algn="ctr">
            <a:lnSpc>
              <a:spcPct val="100000"/>
            </a:lnSpc>
            <a:spcBef>
              <a:spcPct val="0"/>
            </a:spcBef>
            <a:spcAft>
              <a:spcPct val="35000"/>
            </a:spcAft>
          </a:pPr>
          <a:r>
            <a:rPr lang="zh-CN" altLang="en-US" sz="1400" b="1" dirty="0">
              <a:solidFill>
                <a:schemeClr val="bg1"/>
              </a:solidFill>
              <a:latin typeface="微软雅黑" panose="020B0503020204020204" pitchFamily="34" charset="-122"/>
              <a:ea typeface="微软雅黑" panose="020B0503020204020204" pitchFamily="34" charset="-122"/>
            </a:rPr>
            <a:t>管理可视化</a:t>
          </a:r>
          <a:endParaRPr lang="en-US" altLang="zh-CN" sz="1400" b="1" dirty="0">
            <a:solidFill>
              <a:schemeClr val="bg1"/>
            </a:solidFill>
            <a:latin typeface="微软雅黑" panose="020B0503020204020204" pitchFamily="34" charset="-122"/>
            <a:ea typeface="微软雅黑" panose="020B0503020204020204" pitchFamily="34" charset="-122"/>
          </a:endParaRPr>
        </a:p>
        <a:p>
          <a:pPr algn="ctr">
            <a:lnSpc>
              <a:spcPct val="100000"/>
            </a:lnSpc>
            <a:spcBef>
              <a:spcPct val="0"/>
            </a:spcBef>
            <a:spcAft>
              <a:spcPct val="35000"/>
            </a:spcAft>
          </a:pPr>
          <a:r>
            <a:rPr lang="zh-CN" altLang="en-US" sz="1100" dirty="0">
              <a:solidFill>
                <a:schemeClr val="bg1"/>
              </a:solidFill>
              <a:latin typeface="微软雅黑" panose="020B0503020204020204" pitchFamily="34" charset="-122"/>
              <a:ea typeface="微软雅黑" panose="020B0503020204020204" pitchFamily="34" charset="-122"/>
            </a:rPr>
            <a:t>业务统计、工作量、趋势等多维数据可视化展示</a:t>
          </a:r>
        </a:p>
      </dgm:t>
    </dgm:pt>
    <dgm:pt modelId="{B2D41A63-6213-4DD5-9FF1-B7BBECB34D4E}" type="parTrans" cxnId="{BD22A4A8-9188-43C2-92DB-22C334B4BF54}">
      <dgm:prSet/>
      <dgm:spPr/>
      <dgm:t>
        <a:bodyPr/>
        <a:lstStyle/>
        <a:p>
          <a:pPr algn="ctr"/>
          <a:endParaRPr lang="zh-CN" altLang="en-US" sz="1600">
            <a:solidFill>
              <a:schemeClr val="bg1"/>
            </a:solidFill>
            <a:latin typeface="微软雅黑" panose="020B0503020204020204" pitchFamily="34" charset="-122"/>
            <a:ea typeface="微软雅黑" panose="020B0503020204020204" pitchFamily="34" charset="-122"/>
          </a:endParaRPr>
        </a:p>
      </dgm:t>
    </dgm:pt>
    <dgm:pt modelId="{56F7AE83-0FDF-49D1-8DC2-5D3B994A11D6}" type="sibTrans" cxnId="{BD22A4A8-9188-43C2-92DB-22C334B4BF54}">
      <dgm:prSet/>
      <dgm:spPr/>
      <dgm:t>
        <a:bodyPr/>
        <a:lstStyle/>
        <a:p>
          <a:pPr algn="ctr"/>
          <a:endParaRPr lang="zh-CN" altLang="en-US" sz="1600">
            <a:solidFill>
              <a:schemeClr val="bg1"/>
            </a:solidFill>
            <a:latin typeface="微软雅黑" panose="020B0503020204020204" pitchFamily="34" charset="-122"/>
            <a:ea typeface="微软雅黑" panose="020B0503020204020204" pitchFamily="34" charset="-122"/>
          </a:endParaRPr>
        </a:p>
      </dgm:t>
    </dgm:pt>
    <dgm:pt modelId="{419E7FDC-B72C-4AEF-83A5-2E02D99C2209}">
      <dgm:prSet phldr="0" custT="1"/>
      <dgm:spPr>
        <a:solidFill>
          <a:schemeClr val="accent2"/>
        </a:solidFill>
      </dgm:spPr>
      <dgm:t>
        <a:bodyPr vert="horz" wrap="square"/>
        <a:lstStyle/>
        <a:p>
          <a:pPr algn="ctr">
            <a:lnSpc>
              <a:spcPct val="100000"/>
            </a:lnSpc>
            <a:spcBef>
              <a:spcPct val="0"/>
            </a:spcBef>
            <a:spcAft>
              <a:spcPct val="35000"/>
            </a:spcAft>
          </a:pPr>
          <a:r>
            <a:rPr lang="zh-CN" altLang="en-US" sz="1400" b="1" dirty="0">
              <a:solidFill>
                <a:schemeClr val="bg1"/>
              </a:solidFill>
              <a:latin typeface="微软雅黑" panose="020B0503020204020204" pitchFamily="34" charset="-122"/>
              <a:ea typeface="微软雅黑" panose="020B0503020204020204" pitchFamily="34" charset="-122"/>
            </a:rPr>
            <a:t>有机融合</a:t>
          </a:r>
          <a:endParaRPr lang="en-US" altLang="zh-CN" sz="1400" b="1" dirty="0">
            <a:solidFill>
              <a:schemeClr val="bg1"/>
            </a:solidFill>
            <a:latin typeface="微软雅黑" panose="020B0503020204020204" pitchFamily="34" charset="-122"/>
            <a:ea typeface="微软雅黑" panose="020B0503020204020204" pitchFamily="34" charset="-122"/>
          </a:endParaRPr>
        </a:p>
        <a:p>
          <a:pPr algn="ctr">
            <a:lnSpc>
              <a:spcPct val="100000"/>
            </a:lnSpc>
            <a:spcBef>
              <a:spcPct val="0"/>
            </a:spcBef>
            <a:spcAft>
              <a:spcPct val="35000"/>
            </a:spcAft>
          </a:pPr>
          <a:r>
            <a:rPr lang="zh-CN" altLang="en-US" sz="1000" dirty="0">
              <a:solidFill>
                <a:schemeClr val="bg1"/>
              </a:solidFill>
              <a:latin typeface="微软雅黑" panose="020B0503020204020204" pitchFamily="34" charset="-122"/>
              <a:ea typeface="微软雅黑" panose="020B0503020204020204" pitchFamily="34" charset="-122"/>
            </a:rPr>
            <a:t>接入院内信息系统，集成现有心电数据，统一提供诊断服务</a:t>
          </a:r>
          <a:endParaRPr sz="1000" dirty="0"/>
        </a:p>
      </dgm:t>
    </dgm:pt>
    <dgm:pt modelId="{06996F9D-EA05-4EF5-A558-F188516B5E76}" type="parTrans" cxnId="{FBC09712-4E5C-454C-BBFA-58A168994CD9}">
      <dgm:prSet/>
      <dgm:spPr/>
      <dgm:t>
        <a:bodyPr/>
        <a:lstStyle/>
        <a:p>
          <a:pPr algn="ctr"/>
          <a:endParaRPr lang="zh-CN" altLang="en-US" sz="1600">
            <a:solidFill>
              <a:schemeClr val="bg1"/>
            </a:solidFill>
            <a:latin typeface="微软雅黑" panose="020B0503020204020204" pitchFamily="34" charset="-122"/>
            <a:ea typeface="微软雅黑" panose="020B0503020204020204" pitchFamily="34" charset="-122"/>
          </a:endParaRPr>
        </a:p>
      </dgm:t>
    </dgm:pt>
    <dgm:pt modelId="{111B25C2-F55E-416D-BE21-4A2C9FF8F1C8}" type="sibTrans" cxnId="{FBC09712-4E5C-454C-BBFA-58A168994CD9}">
      <dgm:prSet/>
      <dgm:spPr/>
      <dgm:t>
        <a:bodyPr/>
        <a:lstStyle/>
        <a:p>
          <a:pPr algn="ctr"/>
          <a:endParaRPr lang="zh-CN" altLang="en-US" sz="1600">
            <a:solidFill>
              <a:schemeClr val="bg1"/>
            </a:solidFill>
            <a:latin typeface="微软雅黑" panose="020B0503020204020204" pitchFamily="34" charset="-122"/>
            <a:ea typeface="微软雅黑" panose="020B0503020204020204" pitchFamily="34" charset="-122"/>
          </a:endParaRPr>
        </a:p>
      </dgm:t>
    </dgm:pt>
    <dgm:pt modelId="{8B38156F-87E5-48D0-84A5-CD9712681169}">
      <dgm:prSet phldr="0" custT="1"/>
      <dgm:spPr>
        <a:solidFill>
          <a:schemeClr val="accent5"/>
        </a:solidFill>
      </dgm:spPr>
      <dgm:t>
        <a:bodyPr vert="horz" wrap="square"/>
        <a:lstStyle/>
        <a:p>
          <a:pPr algn="ctr">
            <a:lnSpc>
              <a:spcPct val="100000"/>
            </a:lnSpc>
            <a:spcBef>
              <a:spcPct val="0"/>
            </a:spcBef>
            <a:spcAft>
              <a:spcPct val="35000"/>
            </a:spcAft>
          </a:pPr>
          <a:r>
            <a:rPr lang="zh-CN" altLang="en-US" sz="1400" b="1" dirty="0">
              <a:solidFill>
                <a:schemeClr val="bg1"/>
              </a:solidFill>
              <a:latin typeface="微软雅黑" panose="020B0503020204020204" pitchFamily="34" charset="-122"/>
              <a:ea typeface="微软雅黑" panose="020B0503020204020204" pitchFamily="34" charset="-122"/>
            </a:rPr>
            <a:t>后台配置</a:t>
          </a:r>
          <a:endParaRPr lang="en-US" altLang="zh-CN" sz="1400" b="1" dirty="0">
            <a:solidFill>
              <a:schemeClr val="bg1"/>
            </a:solidFill>
            <a:latin typeface="微软雅黑" panose="020B0503020204020204" pitchFamily="34" charset="-122"/>
            <a:ea typeface="微软雅黑" panose="020B0503020204020204" pitchFamily="34" charset="-122"/>
          </a:endParaRPr>
        </a:p>
        <a:p>
          <a:pPr algn="ctr">
            <a:lnSpc>
              <a:spcPct val="100000"/>
            </a:lnSpc>
            <a:spcBef>
              <a:spcPct val="0"/>
            </a:spcBef>
            <a:spcAft>
              <a:spcPct val="35000"/>
            </a:spcAft>
          </a:pPr>
          <a:r>
            <a:rPr lang="zh-CN" altLang="en-US" sz="1100" dirty="0">
              <a:solidFill>
                <a:schemeClr val="bg1"/>
              </a:solidFill>
              <a:latin typeface="微软雅黑" panose="020B0503020204020204" pitchFamily="34" charset="-122"/>
              <a:ea typeface="微软雅黑" panose="020B0503020204020204" pitchFamily="34" charset="-122"/>
            </a:rPr>
            <a:t>危急值管理，参数多样化，满足客户复杂业务</a:t>
          </a:r>
          <a:endParaRPr sz="1100" dirty="0"/>
        </a:p>
      </dgm:t>
    </dgm:pt>
    <dgm:pt modelId="{756DC73D-CE9C-4820-9E18-498B91F08786}" type="parTrans" cxnId="{3745B066-57AC-460D-8007-F38CD0AC6AF0}">
      <dgm:prSet/>
      <dgm:spPr/>
      <dgm:t>
        <a:bodyPr/>
        <a:lstStyle/>
        <a:p>
          <a:pPr algn="ctr"/>
          <a:endParaRPr lang="zh-CN" altLang="en-US" sz="1600">
            <a:solidFill>
              <a:schemeClr val="bg1"/>
            </a:solidFill>
            <a:latin typeface="微软雅黑" panose="020B0503020204020204" pitchFamily="34" charset="-122"/>
            <a:ea typeface="微软雅黑" panose="020B0503020204020204" pitchFamily="34" charset="-122"/>
          </a:endParaRPr>
        </a:p>
      </dgm:t>
    </dgm:pt>
    <dgm:pt modelId="{9ED53E0D-CB96-4329-9957-D47A8FFAA058}" type="sibTrans" cxnId="{3745B066-57AC-460D-8007-F38CD0AC6AF0}">
      <dgm:prSet/>
      <dgm:spPr/>
      <dgm:t>
        <a:bodyPr/>
        <a:lstStyle/>
        <a:p>
          <a:pPr algn="ctr"/>
          <a:endParaRPr lang="zh-CN" altLang="en-US" sz="1600">
            <a:solidFill>
              <a:schemeClr val="bg1"/>
            </a:solidFill>
            <a:latin typeface="微软雅黑" panose="020B0503020204020204" pitchFamily="34" charset="-122"/>
            <a:ea typeface="微软雅黑" panose="020B0503020204020204" pitchFamily="34" charset="-122"/>
          </a:endParaRPr>
        </a:p>
      </dgm:t>
    </dgm:pt>
    <dgm:pt modelId="{F3141833-DC34-411D-A6E1-299B28890F12}">
      <dgm:prSet phldr="0" custT="1"/>
      <dgm:spPr>
        <a:solidFill>
          <a:schemeClr val="accent2"/>
        </a:solidFill>
      </dgm:spPr>
      <dgm:t>
        <a:bodyPr vert="horz" wrap="square"/>
        <a:lstStyle/>
        <a:p>
          <a:pPr algn="ctr">
            <a:lnSpc>
              <a:spcPct val="100000"/>
            </a:lnSpc>
            <a:spcBef>
              <a:spcPct val="0"/>
            </a:spcBef>
            <a:spcAft>
              <a:spcPct val="35000"/>
            </a:spcAft>
          </a:pPr>
          <a:r>
            <a:rPr lang="zh-CN" altLang="en-US" sz="1400" b="1" dirty="0">
              <a:solidFill>
                <a:schemeClr val="bg1"/>
              </a:solidFill>
              <a:latin typeface="微软雅黑" panose="020B0503020204020204" pitchFamily="34" charset="-122"/>
              <a:ea typeface="微软雅黑" panose="020B0503020204020204" pitchFamily="34" charset="-122"/>
            </a:rPr>
            <a:t>软硬服务一体提供</a:t>
          </a:r>
          <a:endParaRPr lang="en-US" altLang="zh-CN" sz="1400" b="1" dirty="0">
            <a:solidFill>
              <a:schemeClr val="bg1"/>
            </a:solidFill>
            <a:latin typeface="微软雅黑" panose="020B0503020204020204" pitchFamily="34" charset="-122"/>
            <a:ea typeface="微软雅黑" panose="020B0503020204020204" pitchFamily="34" charset="-122"/>
          </a:endParaRPr>
        </a:p>
        <a:p>
          <a:pPr algn="ctr">
            <a:lnSpc>
              <a:spcPct val="100000"/>
            </a:lnSpc>
            <a:spcBef>
              <a:spcPct val="0"/>
            </a:spcBef>
            <a:spcAft>
              <a:spcPct val="35000"/>
            </a:spcAft>
          </a:pPr>
          <a:r>
            <a:rPr lang="zh-CN" altLang="en-US" sz="1100" dirty="0">
              <a:solidFill>
                <a:schemeClr val="bg1"/>
              </a:solidFill>
              <a:latin typeface="微软雅黑" panose="020B0503020204020204" pitchFamily="34" charset="-122"/>
              <a:ea typeface="微软雅黑" panose="020B0503020204020204" pitchFamily="34" charset="-122"/>
            </a:rPr>
            <a:t>硬件、软件、平台、远程诊断服务</a:t>
          </a:r>
          <a:endParaRPr sz="1100" dirty="0"/>
        </a:p>
      </dgm:t>
    </dgm:pt>
    <dgm:pt modelId="{81155527-96F3-4FD2-9F64-0E159A96C20A}" type="parTrans" cxnId="{2BA2966F-98AC-4340-8FE8-D3B23A702EC0}">
      <dgm:prSet/>
      <dgm:spPr/>
      <dgm:t>
        <a:bodyPr/>
        <a:lstStyle/>
        <a:p>
          <a:pPr algn="ctr"/>
          <a:endParaRPr lang="zh-CN" altLang="en-US" sz="1600">
            <a:solidFill>
              <a:schemeClr val="bg1"/>
            </a:solidFill>
            <a:latin typeface="微软雅黑" panose="020B0503020204020204" pitchFamily="34" charset="-122"/>
            <a:ea typeface="微软雅黑" panose="020B0503020204020204" pitchFamily="34" charset="-122"/>
          </a:endParaRPr>
        </a:p>
      </dgm:t>
    </dgm:pt>
    <dgm:pt modelId="{E8CDBE0D-625F-49D8-8A7F-42FA100BAF80}" type="sibTrans" cxnId="{2BA2966F-98AC-4340-8FE8-D3B23A702EC0}">
      <dgm:prSet/>
      <dgm:spPr/>
      <dgm:t>
        <a:bodyPr/>
        <a:lstStyle/>
        <a:p>
          <a:pPr algn="ctr"/>
          <a:endParaRPr lang="zh-CN" altLang="en-US" sz="1600">
            <a:solidFill>
              <a:schemeClr val="bg1"/>
            </a:solidFill>
            <a:latin typeface="微软雅黑" panose="020B0503020204020204" pitchFamily="34" charset="-122"/>
            <a:ea typeface="微软雅黑" panose="020B0503020204020204" pitchFamily="34" charset="-122"/>
          </a:endParaRPr>
        </a:p>
      </dgm:t>
    </dgm:pt>
    <dgm:pt modelId="{ABF0F198-7524-46E4-AC48-71DF89DDF590}">
      <dgm:prSet phldr="0" custT="1"/>
      <dgm:spPr>
        <a:solidFill>
          <a:schemeClr val="accent5"/>
        </a:solidFill>
      </dgm:spPr>
      <dgm:t>
        <a:bodyPr vert="horz" wrap="square"/>
        <a:lstStyle/>
        <a:p>
          <a:pPr algn="ctr">
            <a:lnSpc>
              <a:spcPct val="100000"/>
            </a:lnSpc>
            <a:spcBef>
              <a:spcPct val="0"/>
            </a:spcBef>
            <a:spcAft>
              <a:spcPct val="35000"/>
            </a:spcAft>
          </a:pPr>
          <a:r>
            <a:rPr lang="zh-CN" altLang="en-US" sz="1400" b="1" dirty="0">
              <a:solidFill>
                <a:schemeClr val="bg1"/>
              </a:solidFill>
              <a:latin typeface="微软雅黑" panose="020B0503020204020204" pitchFamily="34" charset="-122"/>
              <a:ea typeface="微软雅黑" panose="020B0503020204020204" pitchFamily="34" charset="-122"/>
            </a:rPr>
            <a:t>高端</a:t>
          </a:r>
          <a:r>
            <a:rPr lang="zh-CN" sz="1400" b="1" dirty="0">
              <a:solidFill>
                <a:schemeClr val="bg1"/>
              </a:solidFill>
              <a:latin typeface="微软雅黑" panose="020B0503020204020204" pitchFamily="34" charset="-122"/>
              <a:ea typeface="微软雅黑" panose="020B0503020204020204" pitchFamily="34" charset="-122"/>
            </a:rPr>
            <a:t>医疗资源</a:t>
          </a:r>
          <a:endParaRPr lang="en-US" altLang="zh-CN" sz="1400" b="1" dirty="0">
            <a:solidFill>
              <a:schemeClr val="bg1"/>
            </a:solidFill>
            <a:latin typeface="微软雅黑" panose="020B0503020204020204" pitchFamily="34" charset="-122"/>
            <a:ea typeface="微软雅黑" panose="020B0503020204020204" pitchFamily="34" charset="-122"/>
          </a:endParaRPr>
        </a:p>
        <a:p>
          <a:pPr algn="ctr">
            <a:lnSpc>
              <a:spcPct val="100000"/>
            </a:lnSpc>
            <a:spcBef>
              <a:spcPct val="0"/>
            </a:spcBef>
            <a:spcAft>
              <a:spcPct val="35000"/>
            </a:spcAft>
          </a:pPr>
          <a:r>
            <a:rPr lang="zh-CN" sz="1000" dirty="0">
              <a:solidFill>
                <a:schemeClr val="bg1"/>
              </a:solidFill>
              <a:latin typeface="微软雅黑" panose="020B0503020204020204" pitchFamily="34" charset="-122"/>
              <a:ea typeface="微软雅黑" panose="020B0503020204020204" pitchFamily="34" charset="-122"/>
            </a:rPr>
            <a:t>国家远程医疗与互联网医学中心、</a:t>
          </a:r>
          <a:r>
            <a:rPr lang="en-US" sz="1000" dirty="0">
              <a:solidFill>
                <a:schemeClr val="bg1"/>
              </a:solidFill>
              <a:latin typeface="微软雅黑" panose="020B0503020204020204" pitchFamily="34" charset="-122"/>
              <a:ea typeface="微软雅黑" panose="020B0503020204020204" pitchFamily="34" charset="-122"/>
            </a:rPr>
            <a:t>301</a:t>
          </a:r>
          <a:r>
            <a:rPr lang="zh-CN" sz="1000" dirty="0">
              <a:solidFill>
                <a:schemeClr val="bg1"/>
              </a:solidFill>
              <a:latin typeface="微软雅黑" panose="020B0503020204020204" pitchFamily="34" charset="-122"/>
              <a:ea typeface="微软雅黑" panose="020B0503020204020204" pitchFamily="34" charset="-122"/>
            </a:rPr>
            <a:t>医院等国家级平台</a:t>
          </a:r>
          <a:endParaRPr sz="1000" dirty="0"/>
        </a:p>
      </dgm:t>
    </dgm:pt>
    <dgm:pt modelId="{867EA0A9-5D6D-45A7-A499-E145BC5A0314}" type="parTrans" cxnId="{5277EC93-B64D-499D-8C54-D1BFCCF43424}">
      <dgm:prSet/>
      <dgm:spPr/>
      <dgm:t>
        <a:bodyPr/>
        <a:lstStyle/>
        <a:p>
          <a:pPr algn="ctr"/>
          <a:endParaRPr lang="zh-CN" altLang="en-US" sz="1600">
            <a:solidFill>
              <a:schemeClr val="bg1"/>
            </a:solidFill>
            <a:latin typeface="微软雅黑" panose="020B0503020204020204" pitchFamily="34" charset="-122"/>
            <a:ea typeface="微软雅黑" panose="020B0503020204020204" pitchFamily="34" charset="-122"/>
          </a:endParaRPr>
        </a:p>
      </dgm:t>
    </dgm:pt>
    <dgm:pt modelId="{BDCF8875-B371-48AC-B0D2-ECB1D121B7C9}" type="sibTrans" cxnId="{5277EC93-B64D-499D-8C54-D1BFCCF43424}">
      <dgm:prSet/>
      <dgm:spPr/>
      <dgm:t>
        <a:bodyPr/>
        <a:lstStyle/>
        <a:p>
          <a:pPr algn="ctr"/>
          <a:endParaRPr lang="zh-CN" altLang="en-US" sz="1600">
            <a:solidFill>
              <a:schemeClr val="bg1"/>
            </a:solidFill>
            <a:latin typeface="微软雅黑" panose="020B0503020204020204" pitchFamily="34" charset="-122"/>
            <a:ea typeface="微软雅黑" panose="020B0503020204020204" pitchFamily="34" charset="-122"/>
          </a:endParaRPr>
        </a:p>
      </dgm:t>
    </dgm:pt>
    <dgm:pt modelId="{A045E0F0-321B-46D5-8ED4-EACD7C2240F4}" type="pres">
      <dgm:prSet presAssocID="{C1191658-A973-4B4A-95B6-69400D3F9D43}" presName="diagram" presStyleCnt="0">
        <dgm:presLayoutVars>
          <dgm:dir/>
          <dgm:resizeHandles val="exact"/>
        </dgm:presLayoutVars>
      </dgm:prSet>
      <dgm:spPr/>
      <dgm:t>
        <a:bodyPr/>
        <a:lstStyle/>
        <a:p>
          <a:endParaRPr lang="zh-CN" altLang="en-US"/>
        </a:p>
      </dgm:t>
    </dgm:pt>
    <dgm:pt modelId="{80D048A5-1C11-460A-A089-F3FE9ED57BDF}" type="pres">
      <dgm:prSet presAssocID="{BE5EE7E8-6E0C-472B-B059-7DE569F78C71}" presName="node" presStyleLbl="node1" presStyleIdx="0" presStyleCnt="12">
        <dgm:presLayoutVars>
          <dgm:bulletEnabled val="1"/>
        </dgm:presLayoutVars>
      </dgm:prSet>
      <dgm:spPr/>
      <dgm:t>
        <a:bodyPr/>
        <a:lstStyle/>
        <a:p>
          <a:endParaRPr lang="zh-CN" altLang="en-US"/>
        </a:p>
      </dgm:t>
    </dgm:pt>
    <dgm:pt modelId="{5CB41675-DCFD-487C-B1EB-D9DC527B9311}" type="pres">
      <dgm:prSet presAssocID="{8EC515BD-6550-4155-93BF-800DAB52A76D}" presName="sibTrans" presStyleCnt="0"/>
      <dgm:spPr/>
    </dgm:pt>
    <dgm:pt modelId="{CB9F5E9D-0E07-4009-A310-BD59EF7E1C1E}" type="pres">
      <dgm:prSet presAssocID="{BFB22771-3013-4827-8737-29EE9208F807}" presName="node" presStyleLbl="node1" presStyleIdx="1" presStyleCnt="12">
        <dgm:presLayoutVars>
          <dgm:bulletEnabled val="1"/>
        </dgm:presLayoutVars>
      </dgm:prSet>
      <dgm:spPr/>
      <dgm:t>
        <a:bodyPr/>
        <a:lstStyle/>
        <a:p>
          <a:endParaRPr lang="zh-CN" altLang="en-US"/>
        </a:p>
      </dgm:t>
    </dgm:pt>
    <dgm:pt modelId="{110C82E0-565F-4455-9B6C-7E67B98A8CF8}" type="pres">
      <dgm:prSet presAssocID="{8016CF87-9A38-4A81-AF28-710569C9B5F9}" presName="sibTrans" presStyleCnt="0"/>
      <dgm:spPr/>
    </dgm:pt>
    <dgm:pt modelId="{EC525A02-ACA8-4532-A426-85AE16AB6980}" type="pres">
      <dgm:prSet presAssocID="{FE12C9BF-85EF-4D56-99AB-5D38F0A87B89}" presName="node" presStyleLbl="node1" presStyleIdx="2" presStyleCnt="12">
        <dgm:presLayoutVars>
          <dgm:bulletEnabled val="1"/>
        </dgm:presLayoutVars>
      </dgm:prSet>
      <dgm:spPr/>
      <dgm:t>
        <a:bodyPr/>
        <a:lstStyle/>
        <a:p>
          <a:endParaRPr lang="zh-CN" altLang="en-US"/>
        </a:p>
      </dgm:t>
    </dgm:pt>
    <dgm:pt modelId="{CAEB94B3-976F-45B2-988C-4E6A07C8C24D}" type="pres">
      <dgm:prSet presAssocID="{370167F7-123B-449B-9FCC-301B81FA29C9}" presName="sibTrans" presStyleCnt="0"/>
      <dgm:spPr/>
    </dgm:pt>
    <dgm:pt modelId="{A4B3BAEA-C250-4407-8238-6210318CA9F6}" type="pres">
      <dgm:prSet presAssocID="{6EAFD50B-8089-4DDD-BD60-A3731AB8B988}" presName="node" presStyleLbl="node1" presStyleIdx="3" presStyleCnt="12">
        <dgm:presLayoutVars>
          <dgm:bulletEnabled val="1"/>
        </dgm:presLayoutVars>
      </dgm:prSet>
      <dgm:spPr/>
      <dgm:t>
        <a:bodyPr/>
        <a:lstStyle/>
        <a:p>
          <a:endParaRPr lang="zh-CN" altLang="en-US"/>
        </a:p>
      </dgm:t>
    </dgm:pt>
    <dgm:pt modelId="{60A1E247-514F-4E39-9759-84CA86234052}" type="pres">
      <dgm:prSet presAssocID="{AF87C47B-4026-41D3-892D-668D8A76475F}" presName="sibTrans" presStyleCnt="0"/>
      <dgm:spPr/>
    </dgm:pt>
    <dgm:pt modelId="{95FF997F-C921-4158-B4FB-CA0C48A05BE1}" type="pres">
      <dgm:prSet presAssocID="{983B7983-AE41-4539-B046-C5C9072F331E}" presName="node" presStyleLbl="node1" presStyleIdx="4" presStyleCnt="12">
        <dgm:presLayoutVars>
          <dgm:bulletEnabled val="1"/>
        </dgm:presLayoutVars>
      </dgm:prSet>
      <dgm:spPr/>
      <dgm:t>
        <a:bodyPr/>
        <a:lstStyle/>
        <a:p>
          <a:endParaRPr lang="zh-CN" altLang="en-US"/>
        </a:p>
      </dgm:t>
    </dgm:pt>
    <dgm:pt modelId="{BAABA699-3154-49D7-9819-481922301EB0}" type="pres">
      <dgm:prSet presAssocID="{94015A7F-F7BA-4C4B-9858-A7F77AC6AF05}" presName="sibTrans" presStyleCnt="0"/>
      <dgm:spPr/>
    </dgm:pt>
    <dgm:pt modelId="{DC124137-9574-461A-AE02-885896FE7255}" type="pres">
      <dgm:prSet presAssocID="{38779347-A00A-49D4-AA40-E755905576E7}" presName="node" presStyleLbl="node1" presStyleIdx="5" presStyleCnt="12">
        <dgm:presLayoutVars>
          <dgm:bulletEnabled val="1"/>
        </dgm:presLayoutVars>
      </dgm:prSet>
      <dgm:spPr/>
      <dgm:t>
        <a:bodyPr/>
        <a:lstStyle/>
        <a:p>
          <a:endParaRPr lang="zh-CN" altLang="en-US"/>
        </a:p>
      </dgm:t>
    </dgm:pt>
    <dgm:pt modelId="{A4BD54E9-9F65-4444-B646-DF47CA911B27}" type="pres">
      <dgm:prSet presAssocID="{DDF51155-9A1F-4EE7-B22B-C920F1578101}" presName="sibTrans" presStyleCnt="0"/>
      <dgm:spPr/>
    </dgm:pt>
    <dgm:pt modelId="{11385067-348C-4EEC-9E3C-05A0EADAA75C}" type="pres">
      <dgm:prSet presAssocID="{65D6A9EC-CAB8-455B-83D1-A40AA2705E59}" presName="node" presStyleLbl="node1" presStyleIdx="6" presStyleCnt="12">
        <dgm:presLayoutVars>
          <dgm:bulletEnabled val="1"/>
        </dgm:presLayoutVars>
      </dgm:prSet>
      <dgm:spPr/>
      <dgm:t>
        <a:bodyPr/>
        <a:lstStyle/>
        <a:p>
          <a:endParaRPr lang="zh-CN" altLang="en-US"/>
        </a:p>
      </dgm:t>
    </dgm:pt>
    <dgm:pt modelId="{74D4C73E-1BB6-4675-9951-F64F32C310DD}" type="pres">
      <dgm:prSet presAssocID="{DFA2C156-08F9-4FDC-B91C-5D0136BBCCB2}" presName="sibTrans" presStyleCnt="0"/>
      <dgm:spPr/>
    </dgm:pt>
    <dgm:pt modelId="{0A93118C-5271-4CA8-B6E9-483ECD2BB0BD}" type="pres">
      <dgm:prSet presAssocID="{12D7677F-EE3D-4289-9D4C-6376951198E5}" presName="node" presStyleLbl="node1" presStyleIdx="7" presStyleCnt="12">
        <dgm:presLayoutVars>
          <dgm:bulletEnabled val="1"/>
        </dgm:presLayoutVars>
      </dgm:prSet>
      <dgm:spPr/>
      <dgm:t>
        <a:bodyPr/>
        <a:lstStyle/>
        <a:p>
          <a:endParaRPr lang="zh-CN" altLang="en-US"/>
        </a:p>
      </dgm:t>
    </dgm:pt>
    <dgm:pt modelId="{BC5654C1-8FD2-47EA-846F-9E8AA913B9FF}" type="pres">
      <dgm:prSet presAssocID="{56F7AE83-0FDF-49D1-8DC2-5D3B994A11D6}" presName="sibTrans" presStyleCnt="0"/>
      <dgm:spPr/>
    </dgm:pt>
    <dgm:pt modelId="{99301367-6321-445B-99BC-35DD0F8D9566}" type="pres">
      <dgm:prSet presAssocID="{419E7FDC-B72C-4AEF-83A5-2E02D99C2209}" presName="node" presStyleLbl="node1" presStyleIdx="8" presStyleCnt="12">
        <dgm:presLayoutVars>
          <dgm:bulletEnabled val="1"/>
        </dgm:presLayoutVars>
      </dgm:prSet>
      <dgm:spPr/>
      <dgm:t>
        <a:bodyPr/>
        <a:lstStyle/>
        <a:p>
          <a:endParaRPr lang="zh-CN" altLang="en-US"/>
        </a:p>
      </dgm:t>
    </dgm:pt>
    <dgm:pt modelId="{6421F500-FFC8-4E08-8DA0-AEB153C4B67B}" type="pres">
      <dgm:prSet presAssocID="{111B25C2-F55E-416D-BE21-4A2C9FF8F1C8}" presName="sibTrans" presStyleCnt="0"/>
      <dgm:spPr/>
    </dgm:pt>
    <dgm:pt modelId="{71536596-31B1-4060-BCB5-1E0DDE92A6DD}" type="pres">
      <dgm:prSet presAssocID="{8B38156F-87E5-48D0-84A5-CD9712681169}" presName="node" presStyleLbl="node1" presStyleIdx="9" presStyleCnt="12">
        <dgm:presLayoutVars>
          <dgm:bulletEnabled val="1"/>
        </dgm:presLayoutVars>
      </dgm:prSet>
      <dgm:spPr/>
      <dgm:t>
        <a:bodyPr/>
        <a:lstStyle/>
        <a:p>
          <a:endParaRPr lang="zh-CN" altLang="en-US"/>
        </a:p>
      </dgm:t>
    </dgm:pt>
    <dgm:pt modelId="{E07A7103-CFA6-41ED-96EB-A4AB6A2C307C}" type="pres">
      <dgm:prSet presAssocID="{9ED53E0D-CB96-4329-9957-D47A8FFAA058}" presName="sibTrans" presStyleCnt="0"/>
      <dgm:spPr/>
    </dgm:pt>
    <dgm:pt modelId="{60AF2CCF-0E89-4C1D-88CA-948FD92AA037}" type="pres">
      <dgm:prSet presAssocID="{F3141833-DC34-411D-A6E1-299B28890F12}" presName="node" presStyleLbl="node1" presStyleIdx="10" presStyleCnt="12">
        <dgm:presLayoutVars>
          <dgm:bulletEnabled val="1"/>
        </dgm:presLayoutVars>
      </dgm:prSet>
      <dgm:spPr/>
      <dgm:t>
        <a:bodyPr/>
        <a:lstStyle/>
        <a:p>
          <a:endParaRPr lang="zh-CN" altLang="en-US"/>
        </a:p>
      </dgm:t>
    </dgm:pt>
    <dgm:pt modelId="{A8F664FA-4A6E-4E14-AD08-D6D5374F0973}" type="pres">
      <dgm:prSet presAssocID="{E8CDBE0D-625F-49D8-8A7F-42FA100BAF80}" presName="sibTrans" presStyleCnt="0"/>
      <dgm:spPr/>
    </dgm:pt>
    <dgm:pt modelId="{8D6B19D6-C4E7-4AAA-B69E-D1F75F00C945}" type="pres">
      <dgm:prSet presAssocID="{ABF0F198-7524-46E4-AC48-71DF89DDF590}" presName="node" presStyleLbl="node1" presStyleIdx="11" presStyleCnt="12">
        <dgm:presLayoutVars>
          <dgm:bulletEnabled val="1"/>
        </dgm:presLayoutVars>
      </dgm:prSet>
      <dgm:spPr/>
      <dgm:t>
        <a:bodyPr/>
        <a:lstStyle/>
        <a:p>
          <a:endParaRPr lang="zh-CN" altLang="en-US"/>
        </a:p>
      </dgm:t>
    </dgm:pt>
  </dgm:ptLst>
  <dgm:cxnLst>
    <dgm:cxn modelId="{8F36EC05-DD99-4B47-AFED-F2C3BBC0068F}" type="presOf" srcId="{C1191658-A973-4B4A-95B6-69400D3F9D43}" destId="{A045E0F0-321B-46D5-8ED4-EACD7C2240F4}" srcOrd="0" destOrd="0" presId="urn:microsoft.com/office/officeart/2005/8/layout/default#2"/>
    <dgm:cxn modelId="{9D684F01-63D3-4B8C-B9D3-2DA10A29505A}" srcId="{C1191658-A973-4B4A-95B6-69400D3F9D43}" destId="{BFB22771-3013-4827-8737-29EE9208F807}" srcOrd="1" destOrd="0" parTransId="{8EDBE87C-2DE1-4888-AB89-BEEFE5750035}" sibTransId="{8016CF87-9A38-4A81-AF28-710569C9B5F9}"/>
    <dgm:cxn modelId="{BD22A4A8-9188-43C2-92DB-22C334B4BF54}" srcId="{C1191658-A973-4B4A-95B6-69400D3F9D43}" destId="{12D7677F-EE3D-4289-9D4C-6376951198E5}" srcOrd="7" destOrd="0" parTransId="{B2D41A63-6213-4DD5-9FF1-B7BBECB34D4E}" sibTransId="{56F7AE83-0FDF-49D1-8DC2-5D3B994A11D6}"/>
    <dgm:cxn modelId="{FBC09712-4E5C-454C-BBFA-58A168994CD9}" srcId="{C1191658-A973-4B4A-95B6-69400D3F9D43}" destId="{419E7FDC-B72C-4AEF-83A5-2E02D99C2209}" srcOrd="8" destOrd="0" parTransId="{06996F9D-EA05-4EF5-A558-F188516B5E76}" sibTransId="{111B25C2-F55E-416D-BE21-4A2C9FF8F1C8}"/>
    <dgm:cxn modelId="{189780E0-0DC1-4C96-886D-482374D8FE33}" type="presOf" srcId="{BFB22771-3013-4827-8737-29EE9208F807}" destId="{CB9F5E9D-0E07-4009-A310-BD59EF7E1C1E}" srcOrd="0" destOrd="0" presId="urn:microsoft.com/office/officeart/2005/8/layout/default#2"/>
    <dgm:cxn modelId="{4318A657-35CB-448C-859F-5CCE1A910CB5}" type="presOf" srcId="{8B38156F-87E5-48D0-84A5-CD9712681169}" destId="{71536596-31B1-4060-BCB5-1E0DDE92A6DD}" srcOrd="0" destOrd="0" presId="urn:microsoft.com/office/officeart/2005/8/layout/default#2"/>
    <dgm:cxn modelId="{4CBF6413-8891-48B1-892F-1BD2583DE719}" type="presOf" srcId="{F3141833-DC34-411D-A6E1-299B28890F12}" destId="{60AF2CCF-0E89-4C1D-88CA-948FD92AA037}" srcOrd="0" destOrd="0" presId="urn:microsoft.com/office/officeart/2005/8/layout/default#2"/>
    <dgm:cxn modelId="{32DE0B32-0C30-4B19-A1C5-D79B208A229E}" srcId="{C1191658-A973-4B4A-95B6-69400D3F9D43}" destId="{BE5EE7E8-6E0C-472B-B059-7DE569F78C71}" srcOrd="0" destOrd="0" parTransId="{3F9CD494-BCB7-4DEE-8731-2700724ABAB5}" sibTransId="{8EC515BD-6550-4155-93BF-800DAB52A76D}"/>
    <dgm:cxn modelId="{DFABC325-8E4B-4774-AED0-7340F72F36D5}" srcId="{C1191658-A973-4B4A-95B6-69400D3F9D43}" destId="{65D6A9EC-CAB8-455B-83D1-A40AA2705E59}" srcOrd="6" destOrd="0" parTransId="{E745034C-09D0-4B93-A112-25FE56DFE0ED}" sibTransId="{DFA2C156-08F9-4FDC-B91C-5D0136BBCCB2}"/>
    <dgm:cxn modelId="{5BF8E3BB-39E5-42E5-9C13-89DAC56A9A68}" srcId="{C1191658-A973-4B4A-95B6-69400D3F9D43}" destId="{38779347-A00A-49D4-AA40-E755905576E7}" srcOrd="5" destOrd="0" parTransId="{52B710CE-9922-4733-A0D0-15DB67EC6530}" sibTransId="{DDF51155-9A1F-4EE7-B22B-C920F1578101}"/>
    <dgm:cxn modelId="{9D263AB5-41C9-4808-B04E-A1C1F432AD8D}" srcId="{C1191658-A973-4B4A-95B6-69400D3F9D43}" destId="{6EAFD50B-8089-4DDD-BD60-A3731AB8B988}" srcOrd="3" destOrd="0" parTransId="{208CC36F-565B-41D2-85C3-693A4D841D76}" sibTransId="{AF87C47B-4026-41D3-892D-668D8A76475F}"/>
    <dgm:cxn modelId="{2BA2966F-98AC-4340-8FE8-D3B23A702EC0}" srcId="{C1191658-A973-4B4A-95B6-69400D3F9D43}" destId="{F3141833-DC34-411D-A6E1-299B28890F12}" srcOrd="10" destOrd="0" parTransId="{81155527-96F3-4FD2-9F64-0E159A96C20A}" sibTransId="{E8CDBE0D-625F-49D8-8A7F-42FA100BAF80}"/>
    <dgm:cxn modelId="{0DE5FFA9-9154-42DD-97BA-588450C5FBDE}" type="presOf" srcId="{ABF0F198-7524-46E4-AC48-71DF89DDF590}" destId="{8D6B19D6-C4E7-4AAA-B69E-D1F75F00C945}" srcOrd="0" destOrd="0" presId="urn:microsoft.com/office/officeart/2005/8/layout/default#2"/>
    <dgm:cxn modelId="{772E6782-7657-40E0-9E76-ACCF39999F7E}" type="presOf" srcId="{419E7FDC-B72C-4AEF-83A5-2E02D99C2209}" destId="{99301367-6321-445B-99BC-35DD0F8D9566}" srcOrd="0" destOrd="0" presId="urn:microsoft.com/office/officeart/2005/8/layout/default#2"/>
    <dgm:cxn modelId="{E20D25AB-67D8-4623-A794-0D6A6DE8BC12}" type="presOf" srcId="{983B7983-AE41-4539-B046-C5C9072F331E}" destId="{95FF997F-C921-4158-B4FB-CA0C48A05BE1}" srcOrd="0" destOrd="0" presId="urn:microsoft.com/office/officeart/2005/8/layout/default#2"/>
    <dgm:cxn modelId="{F8CF350E-5F3D-40BC-B696-2223540DBEAE}" type="presOf" srcId="{BE5EE7E8-6E0C-472B-B059-7DE569F78C71}" destId="{80D048A5-1C11-460A-A089-F3FE9ED57BDF}" srcOrd="0" destOrd="0" presId="urn:microsoft.com/office/officeart/2005/8/layout/default#2"/>
    <dgm:cxn modelId="{7CBA7892-1A83-4CA2-98C2-C306D0A19C14}" type="presOf" srcId="{12D7677F-EE3D-4289-9D4C-6376951198E5}" destId="{0A93118C-5271-4CA8-B6E9-483ECD2BB0BD}" srcOrd="0" destOrd="0" presId="urn:microsoft.com/office/officeart/2005/8/layout/default#2"/>
    <dgm:cxn modelId="{D3613BE9-EB87-4E8D-AE47-7609DE5DFDF6}" srcId="{C1191658-A973-4B4A-95B6-69400D3F9D43}" destId="{983B7983-AE41-4539-B046-C5C9072F331E}" srcOrd="4" destOrd="0" parTransId="{43F1B8D2-4079-4226-A822-2BBA5C48B18B}" sibTransId="{94015A7F-F7BA-4C4B-9858-A7F77AC6AF05}"/>
    <dgm:cxn modelId="{21D996BA-0A3A-4C61-A049-5C893BD91185}" type="presOf" srcId="{FE12C9BF-85EF-4D56-99AB-5D38F0A87B89}" destId="{EC525A02-ACA8-4532-A426-85AE16AB6980}" srcOrd="0" destOrd="0" presId="urn:microsoft.com/office/officeart/2005/8/layout/default#2"/>
    <dgm:cxn modelId="{3745B066-57AC-460D-8007-F38CD0AC6AF0}" srcId="{C1191658-A973-4B4A-95B6-69400D3F9D43}" destId="{8B38156F-87E5-48D0-84A5-CD9712681169}" srcOrd="9" destOrd="0" parTransId="{756DC73D-CE9C-4820-9E18-498B91F08786}" sibTransId="{9ED53E0D-CB96-4329-9957-D47A8FFAA058}"/>
    <dgm:cxn modelId="{7C01F0F3-2C19-40CF-82B9-0B7EF69EC68F}" type="presOf" srcId="{38779347-A00A-49D4-AA40-E755905576E7}" destId="{DC124137-9574-461A-AE02-885896FE7255}" srcOrd="0" destOrd="0" presId="urn:microsoft.com/office/officeart/2005/8/layout/default#2"/>
    <dgm:cxn modelId="{CC03EA09-A6FC-42B7-A443-6B1354A6D8A8}" type="presOf" srcId="{65D6A9EC-CAB8-455B-83D1-A40AA2705E59}" destId="{11385067-348C-4EEC-9E3C-05A0EADAA75C}" srcOrd="0" destOrd="0" presId="urn:microsoft.com/office/officeart/2005/8/layout/default#2"/>
    <dgm:cxn modelId="{03FB7FFE-9394-4018-9CD8-C161DE9A5F12}" srcId="{C1191658-A973-4B4A-95B6-69400D3F9D43}" destId="{FE12C9BF-85EF-4D56-99AB-5D38F0A87B89}" srcOrd="2" destOrd="0" parTransId="{B1B0A3FA-90A5-4317-8462-7B5C1FD08510}" sibTransId="{370167F7-123B-449B-9FCC-301B81FA29C9}"/>
    <dgm:cxn modelId="{60651750-6CED-49FE-9209-A583DEF19C56}" type="presOf" srcId="{6EAFD50B-8089-4DDD-BD60-A3731AB8B988}" destId="{A4B3BAEA-C250-4407-8238-6210318CA9F6}" srcOrd="0" destOrd="0" presId="urn:microsoft.com/office/officeart/2005/8/layout/default#2"/>
    <dgm:cxn modelId="{5277EC93-B64D-499D-8C54-D1BFCCF43424}" srcId="{C1191658-A973-4B4A-95B6-69400D3F9D43}" destId="{ABF0F198-7524-46E4-AC48-71DF89DDF590}" srcOrd="11" destOrd="0" parTransId="{867EA0A9-5D6D-45A7-A499-E145BC5A0314}" sibTransId="{BDCF8875-B371-48AC-B0D2-ECB1D121B7C9}"/>
    <dgm:cxn modelId="{D05CB8B2-88DD-4DC2-8D5D-F4E7206B9EFA}" type="presParOf" srcId="{A045E0F0-321B-46D5-8ED4-EACD7C2240F4}" destId="{80D048A5-1C11-460A-A089-F3FE9ED57BDF}" srcOrd="0" destOrd="0" presId="urn:microsoft.com/office/officeart/2005/8/layout/default#2"/>
    <dgm:cxn modelId="{79781F06-16AA-4143-995C-5A747F3D23AC}" type="presParOf" srcId="{A045E0F0-321B-46D5-8ED4-EACD7C2240F4}" destId="{5CB41675-DCFD-487C-B1EB-D9DC527B9311}" srcOrd="1" destOrd="0" presId="urn:microsoft.com/office/officeart/2005/8/layout/default#2"/>
    <dgm:cxn modelId="{EC1442F8-D012-4507-919F-1DA671E5AFAF}" type="presParOf" srcId="{A045E0F0-321B-46D5-8ED4-EACD7C2240F4}" destId="{CB9F5E9D-0E07-4009-A310-BD59EF7E1C1E}" srcOrd="2" destOrd="0" presId="urn:microsoft.com/office/officeart/2005/8/layout/default#2"/>
    <dgm:cxn modelId="{23360467-486E-482D-94E0-E6DBA9639A2C}" type="presParOf" srcId="{A045E0F0-321B-46D5-8ED4-EACD7C2240F4}" destId="{110C82E0-565F-4455-9B6C-7E67B98A8CF8}" srcOrd="3" destOrd="0" presId="urn:microsoft.com/office/officeart/2005/8/layout/default#2"/>
    <dgm:cxn modelId="{74627DFC-30FA-49CE-85D0-C970896FC25D}" type="presParOf" srcId="{A045E0F0-321B-46D5-8ED4-EACD7C2240F4}" destId="{EC525A02-ACA8-4532-A426-85AE16AB6980}" srcOrd="4" destOrd="0" presId="urn:microsoft.com/office/officeart/2005/8/layout/default#2"/>
    <dgm:cxn modelId="{186434CF-970A-47F7-AA6F-25F8A0EFF26B}" type="presParOf" srcId="{A045E0F0-321B-46D5-8ED4-EACD7C2240F4}" destId="{CAEB94B3-976F-45B2-988C-4E6A07C8C24D}" srcOrd="5" destOrd="0" presId="urn:microsoft.com/office/officeart/2005/8/layout/default#2"/>
    <dgm:cxn modelId="{917A3CD1-A57C-4258-BD70-1636F301B29F}" type="presParOf" srcId="{A045E0F0-321B-46D5-8ED4-EACD7C2240F4}" destId="{A4B3BAEA-C250-4407-8238-6210318CA9F6}" srcOrd="6" destOrd="0" presId="urn:microsoft.com/office/officeart/2005/8/layout/default#2"/>
    <dgm:cxn modelId="{7BF12854-2B55-4F21-A301-27B903E63A02}" type="presParOf" srcId="{A045E0F0-321B-46D5-8ED4-EACD7C2240F4}" destId="{60A1E247-514F-4E39-9759-84CA86234052}" srcOrd="7" destOrd="0" presId="urn:microsoft.com/office/officeart/2005/8/layout/default#2"/>
    <dgm:cxn modelId="{C3A7E1C6-6EAC-4D55-8AB7-19AD8C5E1A3D}" type="presParOf" srcId="{A045E0F0-321B-46D5-8ED4-EACD7C2240F4}" destId="{95FF997F-C921-4158-B4FB-CA0C48A05BE1}" srcOrd="8" destOrd="0" presId="urn:microsoft.com/office/officeart/2005/8/layout/default#2"/>
    <dgm:cxn modelId="{537BB85C-CF87-43F7-B854-D08194D6E480}" type="presParOf" srcId="{A045E0F0-321B-46D5-8ED4-EACD7C2240F4}" destId="{BAABA699-3154-49D7-9819-481922301EB0}" srcOrd="9" destOrd="0" presId="urn:microsoft.com/office/officeart/2005/8/layout/default#2"/>
    <dgm:cxn modelId="{CBADE4E7-5A43-4309-9E29-9254112AB797}" type="presParOf" srcId="{A045E0F0-321B-46D5-8ED4-EACD7C2240F4}" destId="{DC124137-9574-461A-AE02-885896FE7255}" srcOrd="10" destOrd="0" presId="urn:microsoft.com/office/officeart/2005/8/layout/default#2"/>
    <dgm:cxn modelId="{EEFE7668-260A-45DD-AA76-62169B1712A2}" type="presParOf" srcId="{A045E0F0-321B-46D5-8ED4-EACD7C2240F4}" destId="{A4BD54E9-9F65-4444-B646-DF47CA911B27}" srcOrd="11" destOrd="0" presId="urn:microsoft.com/office/officeart/2005/8/layout/default#2"/>
    <dgm:cxn modelId="{9AD3D98F-750C-42BF-B332-F4DEB27EF095}" type="presParOf" srcId="{A045E0F0-321B-46D5-8ED4-EACD7C2240F4}" destId="{11385067-348C-4EEC-9E3C-05A0EADAA75C}" srcOrd="12" destOrd="0" presId="urn:microsoft.com/office/officeart/2005/8/layout/default#2"/>
    <dgm:cxn modelId="{1F2CFB34-BB62-4776-8B01-6A1608AC082B}" type="presParOf" srcId="{A045E0F0-321B-46D5-8ED4-EACD7C2240F4}" destId="{74D4C73E-1BB6-4675-9951-F64F32C310DD}" srcOrd="13" destOrd="0" presId="urn:microsoft.com/office/officeart/2005/8/layout/default#2"/>
    <dgm:cxn modelId="{9FAA173C-F8F3-4366-9CF9-58A545CC6674}" type="presParOf" srcId="{A045E0F0-321B-46D5-8ED4-EACD7C2240F4}" destId="{0A93118C-5271-4CA8-B6E9-483ECD2BB0BD}" srcOrd="14" destOrd="0" presId="urn:microsoft.com/office/officeart/2005/8/layout/default#2"/>
    <dgm:cxn modelId="{3C3B4FC0-ED83-4432-96C6-7D9DA4C4830C}" type="presParOf" srcId="{A045E0F0-321B-46D5-8ED4-EACD7C2240F4}" destId="{BC5654C1-8FD2-47EA-846F-9E8AA913B9FF}" srcOrd="15" destOrd="0" presId="urn:microsoft.com/office/officeart/2005/8/layout/default#2"/>
    <dgm:cxn modelId="{62537540-9499-49B6-8E66-CDF68AA7EB70}" type="presParOf" srcId="{A045E0F0-321B-46D5-8ED4-EACD7C2240F4}" destId="{99301367-6321-445B-99BC-35DD0F8D9566}" srcOrd="16" destOrd="0" presId="urn:microsoft.com/office/officeart/2005/8/layout/default#2"/>
    <dgm:cxn modelId="{123EC6D8-37C7-45E5-8EA9-223BFBB1337A}" type="presParOf" srcId="{A045E0F0-321B-46D5-8ED4-EACD7C2240F4}" destId="{6421F500-FFC8-4E08-8DA0-AEB153C4B67B}" srcOrd="17" destOrd="0" presId="urn:microsoft.com/office/officeart/2005/8/layout/default#2"/>
    <dgm:cxn modelId="{CD2B8E16-9804-43C2-9BDD-2AA45364B309}" type="presParOf" srcId="{A045E0F0-321B-46D5-8ED4-EACD7C2240F4}" destId="{71536596-31B1-4060-BCB5-1E0DDE92A6DD}" srcOrd="18" destOrd="0" presId="urn:microsoft.com/office/officeart/2005/8/layout/default#2"/>
    <dgm:cxn modelId="{09C5CA1C-AA7F-4915-A817-7035AA58A4D7}" type="presParOf" srcId="{A045E0F0-321B-46D5-8ED4-EACD7C2240F4}" destId="{E07A7103-CFA6-41ED-96EB-A4AB6A2C307C}" srcOrd="19" destOrd="0" presId="urn:microsoft.com/office/officeart/2005/8/layout/default#2"/>
    <dgm:cxn modelId="{D9F7B446-CE01-4FE5-8ECD-1772D4E0AE98}" type="presParOf" srcId="{A045E0F0-321B-46D5-8ED4-EACD7C2240F4}" destId="{60AF2CCF-0E89-4C1D-88CA-948FD92AA037}" srcOrd="20" destOrd="0" presId="urn:microsoft.com/office/officeart/2005/8/layout/default#2"/>
    <dgm:cxn modelId="{FA96BE15-228C-4211-BA1C-ED20BB05C457}" type="presParOf" srcId="{A045E0F0-321B-46D5-8ED4-EACD7C2240F4}" destId="{A8F664FA-4A6E-4E14-AD08-D6D5374F0973}" srcOrd="21" destOrd="0" presId="urn:microsoft.com/office/officeart/2005/8/layout/default#2"/>
    <dgm:cxn modelId="{700CDC81-E3DB-43CD-B726-0BF67C4DCF8B}" type="presParOf" srcId="{A045E0F0-321B-46D5-8ED4-EACD7C2240F4}" destId="{8D6B19D6-C4E7-4AAA-B69E-D1F75F00C945}" srcOrd="22" destOrd="0" presId="urn:microsoft.com/office/officeart/2005/8/layout/default#2"/>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rawing1.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80D048A5-1C11-460A-A089-F3FE9ED57BDF}">
      <dsp:nvSpPr>
        <dsp:cNvPr id="0" name=""/>
        <dsp:cNvSpPr/>
      </dsp:nvSpPr>
      <dsp:spPr>
        <a:xfrm>
          <a:off x="2263" y="26567"/>
          <a:ext cx="1795683" cy="1077410"/>
        </a:xfrm>
        <a:prstGeom prst="rect">
          <a:avLst/>
        </a:prstGeom>
        <a:solidFill>
          <a:schemeClr val="accent5"/>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lvl="0" algn="ctr" defTabSz="622300">
            <a:lnSpc>
              <a:spcPct val="100000"/>
            </a:lnSpc>
            <a:spcBef>
              <a:spcPct val="0"/>
            </a:spcBef>
            <a:spcAft>
              <a:spcPct val="35000"/>
            </a:spcAft>
          </a:pPr>
          <a:r>
            <a:rPr lang="zh-CN" altLang="en-US" sz="1400" b="1" kern="1200" dirty="0">
              <a:solidFill>
                <a:schemeClr val="bg1"/>
              </a:solidFill>
              <a:latin typeface="微软雅黑" panose="020B0503020204020204" pitchFamily="34" charset="-122"/>
              <a:ea typeface="微软雅黑" panose="020B0503020204020204" pitchFamily="34" charset="-122"/>
            </a:rPr>
            <a:t>平台架构</a:t>
          </a:r>
          <a:endParaRPr lang="en-US" altLang="zh-CN" sz="1400" b="1" kern="1200" dirty="0">
            <a:solidFill>
              <a:schemeClr val="bg1"/>
            </a:solidFill>
            <a:latin typeface="微软雅黑" panose="020B0503020204020204" pitchFamily="34" charset="-122"/>
            <a:ea typeface="微软雅黑" panose="020B0503020204020204" pitchFamily="34" charset="-122"/>
          </a:endParaRPr>
        </a:p>
        <a:p>
          <a:pPr lvl="0" algn="ctr" defTabSz="622300">
            <a:lnSpc>
              <a:spcPct val="100000"/>
            </a:lnSpc>
            <a:spcBef>
              <a:spcPct val="0"/>
            </a:spcBef>
            <a:spcAft>
              <a:spcPct val="35000"/>
            </a:spcAft>
          </a:pPr>
          <a:r>
            <a:rPr lang="zh-CN" altLang="en-US" sz="1100" kern="1200" dirty="0">
              <a:solidFill>
                <a:schemeClr val="bg1"/>
              </a:solidFill>
              <a:latin typeface="微软雅黑" panose="020B0503020204020204" pitchFamily="34" charset="-122"/>
              <a:ea typeface="微软雅黑" panose="020B0503020204020204" pitchFamily="34" charset="-122"/>
            </a:rPr>
            <a:t>主流平台、微服务架构、</a:t>
          </a:r>
        </a:p>
        <a:p>
          <a:pPr lvl="0" algn="ctr" defTabSz="622300">
            <a:lnSpc>
              <a:spcPct val="100000"/>
            </a:lnSpc>
            <a:spcBef>
              <a:spcPct val="0"/>
            </a:spcBef>
            <a:spcAft>
              <a:spcPct val="35000"/>
            </a:spcAft>
          </a:pPr>
          <a:r>
            <a:rPr lang="zh-CN" altLang="en-US" sz="1100" kern="1200" dirty="0">
              <a:solidFill>
                <a:schemeClr val="bg1"/>
              </a:solidFill>
              <a:latin typeface="微软雅黑" panose="020B0503020204020204" pitchFamily="34" charset="-122"/>
              <a:ea typeface="微软雅黑" panose="020B0503020204020204" pitchFamily="34" charset="-122"/>
            </a:rPr>
            <a:t>松耦合</a:t>
          </a:r>
          <a:endParaRPr sz="1100" kern="1200" dirty="0"/>
        </a:p>
      </dsp:txBody>
      <dsp:txXfrm>
        <a:off x="2263" y="26567"/>
        <a:ext cx="1795683" cy="1077410"/>
      </dsp:txXfrm>
    </dsp:sp>
    <dsp:sp modelId="{CB9F5E9D-0E07-4009-A310-BD59EF7E1C1E}">
      <dsp:nvSpPr>
        <dsp:cNvPr id="0" name=""/>
        <dsp:cNvSpPr/>
      </dsp:nvSpPr>
      <dsp:spPr>
        <a:xfrm>
          <a:off x="1977515" y="26567"/>
          <a:ext cx="1795683" cy="1077410"/>
        </a:xfrm>
        <a:prstGeom prst="rect">
          <a:avLst/>
        </a:prstGeom>
        <a:solidFill>
          <a:schemeClr val="accent5"/>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lvl="0" algn="ctr" defTabSz="622300">
            <a:lnSpc>
              <a:spcPct val="100000"/>
            </a:lnSpc>
            <a:spcBef>
              <a:spcPct val="0"/>
            </a:spcBef>
            <a:spcAft>
              <a:spcPct val="35000"/>
            </a:spcAft>
          </a:pPr>
          <a:r>
            <a:rPr lang="zh-CN" altLang="en-US" sz="1400" b="1" kern="1200" dirty="0">
              <a:solidFill>
                <a:schemeClr val="bg1"/>
              </a:solidFill>
              <a:latin typeface="微软雅黑" panose="020B0503020204020204" pitchFamily="34" charset="-122"/>
              <a:ea typeface="微软雅黑" panose="020B0503020204020204" pitchFamily="34" charset="-122"/>
            </a:rPr>
            <a:t>云计算技术</a:t>
          </a:r>
          <a:endParaRPr lang="en-US" altLang="zh-CN" sz="1400" b="1" kern="1200" dirty="0">
            <a:solidFill>
              <a:schemeClr val="bg1"/>
            </a:solidFill>
            <a:latin typeface="微软雅黑" panose="020B0503020204020204" pitchFamily="34" charset="-122"/>
            <a:ea typeface="微软雅黑" panose="020B0503020204020204" pitchFamily="34" charset="-122"/>
          </a:endParaRPr>
        </a:p>
        <a:p>
          <a:pPr lvl="0" algn="ctr" defTabSz="622300">
            <a:lnSpc>
              <a:spcPct val="100000"/>
            </a:lnSpc>
            <a:spcBef>
              <a:spcPct val="0"/>
            </a:spcBef>
            <a:spcAft>
              <a:spcPct val="35000"/>
            </a:spcAft>
          </a:pPr>
          <a:r>
            <a:rPr lang="zh-CN" altLang="en-US" sz="1100" kern="1200" dirty="0">
              <a:solidFill>
                <a:schemeClr val="bg1"/>
              </a:solidFill>
              <a:latin typeface="微软雅黑" panose="020B0503020204020204" pitchFamily="34" charset="-122"/>
              <a:ea typeface="微软雅黑" panose="020B0503020204020204" pitchFamily="34" charset="-122"/>
            </a:rPr>
            <a:t>支持大用户量并发，在线展示长时间原始心电波形</a:t>
          </a:r>
          <a:endParaRPr sz="1100" kern="1200" dirty="0"/>
        </a:p>
      </dsp:txBody>
      <dsp:txXfrm>
        <a:off x="1977515" y="26567"/>
        <a:ext cx="1795683" cy="1077410"/>
      </dsp:txXfrm>
    </dsp:sp>
    <dsp:sp modelId="{EC525A02-ACA8-4532-A426-85AE16AB6980}">
      <dsp:nvSpPr>
        <dsp:cNvPr id="0" name=""/>
        <dsp:cNvSpPr/>
      </dsp:nvSpPr>
      <dsp:spPr>
        <a:xfrm>
          <a:off x="3952767" y="26567"/>
          <a:ext cx="1795683" cy="1077410"/>
        </a:xfrm>
        <a:prstGeom prst="rect">
          <a:avLst/>
        </a:prstGeom>
        <a:solidFill>
          <a:schemeClr val="accent5"/>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lvl="0" algn="ctr" defTabSz="622300">
            <a:lnSpc>
              <a:spcPct val="100000"/>
            </a:lnSpc>
            <a:spcBef>
              <a:spcPct val="0"/>
            </a:spcBef>
            <a:spcAft>
              <a:spcPct val="35000"/>
            </a:spcAft>
          </a:pPr>
          <a:r>
            <a:rPr lang="en-US" sz="1400" b="1" kern="1200" dirty="0">
              <a:solidFill>
                <a:schemeClr val="bg1"/>
              </a:solidFill>
              <a:latin typeface="微软雅黑" panose="020B0503020204020204" pitchFamily="34" charset="-122"/>
              <a:ea typeface="微软雅黑" panose="020B0503020204020204" pitchFamily="34" charset="-122"/>
            </a:rPr>
            <a:t>AI</a:t>
          </a:r>
          <a:r>
            <a:rPr lang="zh-CN" altLang="en-US" sz="1400" b="1" kern="1200" dirty="0">
              <a:solidFill>
                <a:schemeClr val="bg1"/>
              </a:solidFill>
              <a:latin typeface="微软雅黑" panose="020B0503020204020204" pitchFamily="34" charset="-122"/>
              <a:ea typeface="微软雅黑" panose="020B0503020204020204" pitchFamily="34" charset="-122"/>
            </a:rPr>
            <a:t>分析诊断</a:t>
          </a:r>
          <a:endParaRPr lang="en-US" altLang="zh-CN" sz="1400" b="1" kern="1200" dirty="0">
            <a:solidFill>
              <a:schemeClr val="bg1"/>
            </a:solidFill>
            <a:latin typeface="微软雅黑" panose="020B0503020204020204" pitchFamily="34" charset="-122"/>
            <a:ea typeface="微软雅黑" panose="020B0503020204020204" pitchFamily="34" charset="-122"/>
          </a:endParaRPr>
        </a:p>
        <a:p>
          <a:pPr lvl="0" algn="ctr" defTabSz="622300">
            <a:lnSpc>
              <a:spcPct val="100000"/>
            </a:lnSpc>
            <a:spcBef>
              <a:spcPct val="0"/>
            </a:spcBef>
            <a:spcAft>
              <a:spcPct val="35000"/>
            </a:spcAft>
          </a:pPr>
          <a:r>
            <a:rPr lang="zh-CN" altLang="en-US" sz="1100" kern="1200" dirty="0">
              <a:solidFill>
                <a:schemeClr val="bg1"/>
              </a:solidFill>
              <a:latin typeface="微软雅黑" panose="020B0503020204020204" pitchFamily="34" charset="-122"/>
              <a:ea typeface="微软雅黑" panose="020B0503020204020204" pitchFamily="34" charset="-122"/>
            </a:rPr>
            <a:t>自动智能分析，</a:t>
          </a:r>
          <a:r>
            <a:rPr lang="zh-CN" sz="1100" kern="1200" dirty="0">
              <a:solidFill>
                <a:schemeClr val="bg1"/>
              </a:solidFill>
              <a:latin typeface="微软雅黑" panose="020B0503020204020204" pitchFamily="34" charset="-122"/>
              <a:ea typeface="微软雅黑" panose="020B0503020204020204" pitchFamily="34" charset="-122"/>
            </a:rPr>
            <a:t>更快完成心电报告</a:t>
          </a:r>
          <a:r>
            <a:rPr lang="zh-CN" altLang="en-US" sz="1100" kern="1200" dirty="0">
              <a:solidFill>
                <a:schemeClr val="bg1"/>
              </a:solidFill>
              <a:latin typeface="微软雅黑" panose="020B0503020204020204" pitchFamily="34" charset="-122"/>
              <a:ea typeface="微软雅黑" panose="020B0503020204020204" pitchFamily="34" charset="-122"/>
            </a:rPr>
            <a:t>，</a:t>
          </a:r>
          <a:r>
            <a:rPr lang="zh-CN" sz="1100" kern="1200" dirty="0">
              <a:solidFill>
                <a:schemeClr val="bg1"/>
              </a:solidFill>
              <a:latin typeface="微软雅黑" panose="020B0503020204020204" pitchFamily="34" charset="-122"/>
              <a:ea typeface="微软雅黑" panose="020B0503020204020204" pitchFamily="34" charset="-122"/>
            </a:rPr>
            <a:t>赋能医生</a:t>
          </a:r>
          <a:endParaRPr sz="1100" kern="1200" dirty="0"/>
        </a:p>
      </dsp:txBody>
      <dsp:txXfrm>
        <a:off x="3952767" y="26567"/>
        <a:ext cx="1795683" cy="1077410"/>
      </dsp:txXfrm>
    </dsp:sp>
    <dsp:sp modelId="{A4B3BAEA-C250-4407-8238-6210318CA9F6}">
      <dsp:nvSpPr>
        <dsp:cNvPr id="0" name=""/>
        <dsp:cNvSpPr/>
      </dsp:nvSpPr>
      <dsp:spPr>
        <a:xfrm>
          <a:off x="5928019" y="26567"/>
          <a:ext cx="1795683" cy="1077410"/>
        </a:xfrm>
        <a:prstGeom prst="rect">
          <a:avLst/>
        </a:prstGeom>
        <a:solidFill>
          <a:schemeClr val="accent5"/>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lvl="0" algn="ctr" defTabSz="622300">
            <a:lnSpc>
              <a:spcPct val="100000"/>
            </a:lnSpc>
            <a:spcBef>
              <a:spcPct val="0"/>
            </a:spcBef>
            <a:spcAft>
              <a:spcPct val="35000"/>
            </a:spcAft>
          </a:pPr>
          <a:r>
            <a:rPr lang="zh-CN" altLang="en-US" sz="1400" b="1" kern="1200" dirty="0">
              <a:solidFill>
                <a:schemeClr val="bg1"/>
              </a:solidFill>
              <a:latin typeface="微软雅黑" panose="020B0503020204020204" pitchFamily="34" charset="-122"/>
              <a:ea typeface="微软雅黑" panose="020B0503020204020204" pitchFamily="34" charset="-122"/>
            </a:rPr>
            <a:t>心电图多维展示</a:t>
          </a:r>
        </a:p>
        <a:p>
          <a:pPr lvl="0" algn="ctr" defTabSz="622300">
            <a:lnSpc>
              <a:spcPct val="100000"/>
            </a:lnSpc>
            <a:spcBef>
              <a:spcPct val="0"/>
            </a:spcBef>
            <a:spcAft>
              <a:spcPct val="35000"/>
            </a:spcAft>
          </a:pPr>
          <a:r>
            <a:rPr lang="zh-CN" altLang="en-US" sz="1000" kern="1200" dirty="0">
              <a:solidFill>
                <a:schemeClr val="bg1"/>
              </a:solidFill>
              <a:latin typeface="微软雅黑" panose="020B0503020204020204" pitchFamily="34" charset="-122"/>
              <a:ea typeface="微软雅黑" panose="020B0503020204020204" pitchFamily="34" charset="-122"/>
            </a:rPr>
            <a:t>支持心电图处理测量、波形显示、幅值调整、模板编辑</a:t>
          </a:r>
        </a:p>
      </dsp:txBody>
      <dsp:txXfrm>
        <a:off x="5928019" y="26567"/>
        <a:ext cx="1795683" cy="1077410"/>
      </dsp:txXfrm>
    </dsp:sp>
    <dsp:sp modelId="{95FF997F-C921-4158-B4FB-CA0C48A05BE1}">
      <dsp:nvSpPr>
        <dsp:cNvPr id="0" name=""/>
        <dsp:cNvSpPr/>
      </dsp:nvSpPr>
      <dsp:spPr>
        <a:xfrm>
          <a:off x="2263" y="1283546"/>
          <a:ext cx="1795683" cy="1077410"/>
        </a:xfrm>
        <a:prstGeom prst="rect">
          <a:avLst/>
        </a:prstGeom>
        <a:solidFill>
          <a:schemeClr val="accent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lvl="0" algn="ctr" defTabSz="622300">
            <a:lnSpc>
              <a:spcPct val="100000"/>
            </a:lnSpc>
            <a:spcBef>
              <a:spcPct val="0"/>
            </a:spcBef>
            <a:spcAft>
              <a:spcPct val="35000"/>
            </a:spcAft>
          </a:pPr>
          <a:r>
            <a:rPr lang="zh-CN" altLang="en-US" sz="1400" b="1" kern="1200" dirty="0">
              <a:solidFill>
                <a:schemeClr val="bg1"/>
              </a:solidFill>
              <a:latin typeface="微软雅黑" panose="020B0503020204020204" pitchFamily="34" charset="-122"/>
              <a:ea typeface="微软雅黑" panose="020B0503020204020204" pitchFamily="34" charset="-122"/>
            </a:rPr>
            <a:t>支持双网</a:t>
          </a:r>
          <a:endParaRPr lang="en-US" altLang="zh-CN" sz="1400" b="1" kern="1200" dirty="0">
            <a:solidFill>
              <a:schemeClr val="bg1"/>
            </a:solidFill>
            <a:latin typeface="微软雅黑" panose="020B0503020204020204" pitchFamily="34" charset="-122"/>
            <a:ea typeface="微软雅黑" panose="020B0503020204020204" pitchFamily="34" charset="-122"/>
          </a:endParaRPr>
        </a:p>
        <a:p>
          <a:pPr lvl="0" algn="ctr" defTabSz="622300">
            <a:lnSpc>
              <a:spcPct val="100000"/>
            </a:lnSpc>
            <a:spcBef>
              <a:spcPct val="0"/>
            </a:spcBef>
            <a:spcAft>
              <a:spcPct val="35000"/>
            </a:spcAft>
          </a:pPr>
          <a:r>
            <a:rPr lang="zh-CN" altLang="en-US" sz="1100" kern="1200" dirty="0">
              <a:solidFill>
                <a:schemeClr val="bg1"/>
              </a:solidFill>
              <a:latin typeface="微软雅黑" panose="020B0503020204020204" pitchFamily="34" charset="-122"/>
              <a:ea typeface="微软雅黑" panose="020B0503020204020204" pitchFamily="34" charset="-122"/>
            </a:rPr>
            <a:t>病人无空间束缚</a:t>
          </a:r>
        </a:p>
      </dsp:txBody>
      <dsp:txXfrm>
        <a:off x="2263" y="1283546"/>
        <a:ext cx="1795683" cy="1077410"/>
      </dsp:txXfrm>
    </dsp:sp>
    <dsp:sp modelId="{DC124137-9574-461A-AE02-885896FE7255}">
      <dsp:nvSpPr>
        <dsp:cNvPr id="0" name=""/>
        <dsp:cNvSpPr/>
      </dsp:nvSpPr>
      <dsp:spPr>
        <a:xfrm>
          <a:off x="1977515" y="1283546"/>
          <a:ext cx="1795683" cy="1077410"/>
        </a:xfrm>
        <a:prstGeom prst="rect">
          <a:avLst/>
        </a:prstGeom>
        <a:solidFill>
          <a:schemeClr val="accent5"/>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lvl="0" algn="ctr" defTabSz="622300">
            <a:lnSpc>
              <a:spcPct val="100000"/>
            </a:lnSpc>
            <a:spcBef>
              <a:spcPct val="0"/>
            </a:spcBef>
            <a:spcAft>
              <a:spcPct val="35000"/>
            </a:spcAft>
          </a:pPr>
          <a:r>
            <a:rPr lang="zh-CN" sz="1400" b="1" kern="1200" dirty="0">
              <a:solidFill>
                <a:schemeClr val="bg1"/>
              </a:solidFill>
              <a:latin typeface="微软雅黑" panose="020B0503020204020204" pitchFamily="34" charset="-122"/>
              <a:ea typeface="微软雅黑" panose="020B0503020204020204" pitchFamily="34" charset="-122"/>
            </a:rPr>
            <a:t>业务一体化</a:t>
          </a:r>
          <a:endParaRPr lang="en-US" altLang="zh-CN" sz="1400" b="1" kern="1200" dirty="0">
            <a:solidFill>
              <a:schemeClr val="bg1"/>
            </a:solidFill>
            <a:latin typeface="微软雅黑" panose="020B0503020204020204" pitchFamily="34" charset="-122"/>
            <a:ea typeface="微软雅黑" panose="020B0503020204020204" pitchFamily="34" charset="-122"/>
          </a:endParaRPr>
        </a:p>
        <a:p>
          <a:pPr lvl="0" algn="ctr" defTabSz="622300">
            <a:lnSpc>
              <a:spcPct val="100000"/>
            </a:lnSpc>
            <a:spcBef>
              <a:spcPct val="0"/>
            </a:spcBef>
            <a:spcAft>
              <a:spcPct val="35000"/>
            </a:spcAft>
          </a:pPr>
          <a:r>
            <a:rPr lang="zh-CN" sz="1100" kern="1200" dirty="0">
              <a:solidFill>
                <a:schemeClr val="bg1"/>
              </a:solidFill>
              <a:latin typeface="微软雅黑" panose="020B0503020204020204" pitchFamily="34" charset="-122"/>
              <a:ea typeface="微软雅黑" panose="020B0503020204020204" pitchFamily="34" charset="-122"/>
            </a:rPr>
            <a:t>覆盖院内外</a:t>
          </a:r>
          <a:r>
            <a:rPr lang="zh-CN" altLang="en-US" sz="1100" kern="1200" dirty="0">
              <a:solidFill>
                <a:schemeClr val="bg1"/>
              </a:solidFill>
              <a:latin typeface="微软雅黑" panose="020B0503020204020204" pitchFamily="34" charset="-122"/>
              <a:ea typeface="微软雅黑" panose="020B0503020204020204" pitchFamily="34" charset="-122"/>
            </a:rPr>
            <a:t>，支持多种</a:t>
          </a:r>
        </a:p>
        <a:p>
          <a:pPr lvl="0" algn="ctr" defTabSz="622300">
            <a:lnSpc>
              <a:spcPct val="100000"/>
            </a:lnSpc>
            <a:spcBef>
              <a:spcPct val="0"/>
            </a:spcBef>
            <a:spcAft>
              <a:spcPct val="35000"/>
            </a:spcAft>
          </a:pPr>
          <a:r>
            <a:rPr lang="zh-CN" sz="1100" kern="1200" dirty="0">
              <a:solidFill>
                <a:schemeClr val="bg1"/>
              </a:solidFill>
              <a:latin typeface="微软雅黑" panose="020B0503020204020204" pitchFamily="34" charset="-122"/>
              <a:ea typeface="微软雅黑" panose="020B0503020204020204" pitchFamily="34" charset="-122"/>
            </a:rPr>
            <a:t>检查项监测</a:t>
          </a:r>
          <a:endParaRPr sz="1100" kern="1200" dirty="0"/>
        </a:p>
      </dsp:txBody>
      <dsp:txXfrm>
        <a:off x="1977515" y="1283546"/>
        <a:ext cx="1795683" cy="1077410"/>
      </dsp:txXfrm>
    </dsp:sp>
    <dsp:sp modelId="{11385067-348C-4EEC-9E3C-05A0EADAA75C}">
      <dsp:nvSpPr>
        <dsp:cNvPr id="0" name=""/>
        <dsp:cNvSpPr/>
      </dsp:nvSpPr>
      <dsp:spPr>
        <a:xfrm>
          <a:off x="3952767" y="1283546"/>
          <a:ext cx="1795683" cy="1077410"/>
        </a:xfrm>
        <a:prstGeom prst="rect">
          <a:avLst/>
        </a:prstGeom>
        <a:solidFill>
          <a:schemeClr val="accent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lvl="0" algn="ctr" defTabSz="622300">
            <a:lnSpc>
              <a:spcPct val="100000"/>
            </a:lnSpc>
            <a:spcBef>
              <a:spcPct val="0"/>
            </a:spcBef>
            <a:spcAft>
              <a:spcPct val="35000"/>
            </a:spcAft>
          </a:pPr>
          <a:r>
            <a:rPr lang="zh-CN" altLang="en-US" sz="1400" b="1" kern="1200" dirty="0">
              <a:solidFill>
                <a:schemeClr val="bg1"/>
              </a:solidFill>
              <a:latin typeface="微软雅黑" panose="020B0503020204020204" pitchFamily="34" charset="-122"/>
              <a:ea typeface="微软雅黑" panose="020B0503020204020204" pitchFamily="34" charset="-122"/>
            </a:rPr>
            <a:t>一机多用</a:t>
          </a:r>
          <a:endParaRPr lang="en-US" altLang="zh-CN" sz="1400" b="1" kern="1200" dirty="0">
            <a:solidFill>
              <a:schemeClr val="bg1"/>
            </a:solidFill>
            <a:latin typeface="微软雅黑" panose="020B0503020204020204" pitchFamily="34" charset="-122"/>
            <a:ea typeface="微软雅黑" panose="020B0503020204020204" pitchFamily="34" charset="-122"/>
          </a:endParaRPr>
        </a:p>
        <a:p>
          <a:pPr lvl="0" algn="ctr" defTabSz="622300">
            <a:lnSpc>
              <a:spcPct val="100000"/>
            </a:lnSpc>
            <a:spcBef>
              <a:spcPct val="0"/>
            </a:spcBef>
            <a:spcAft>
              <a:spcPct val="35000"/>
            </a:spcAft>
          </a:pPr>
          <a:r>
            <a:rPr lang="zh-CN" altLang="en-US" sz="1100" kern="1200" dirty="0">
              <a:solidFill>
                <a:schemeClr val="bg1"/>
              </a:solidFill>
              <a:latin typeface="微软雅黑" panose="020B0503020204020204" pitchFamily="34" charset="-122"/>
              <a:ea typeface="微软雅黑" panose="020B0503020204020204" pitchFamily="34" charset="-122"/>
            </a:rPr>
            <a:t>支持动态心电、动态血压、睡眠呼吸、远程监护</a:t>
          </a:r>
          <a:endParaRPr sz="1100" kern="1200" dirty="0"/>
        </a:p>
      </dsp:txBody>
      <dsp:txXfrm>
        <a:off x="3952767" y="1283546"/>
        <a:ext cx="1795683" cy="1077410"/>
      </dsp:txXfrm>
    </dsp:sp>
    <dsp:sp modelId="{0A93118C-5271-4CA8-B6E9-483ECD2BB0BD}">
      <dsp:nvSpPr>
        <dsp:cNvPr id="0" name=""/>
        <dsp:cNvSpPr/>
      </dsp:nvSpPr>
      <dsp:spPr>
        <a:xfrm>
          <a:off x="5928019" y="1283546"/>
          <a:ext cx="1795683" cy="1077410"/>
        </a:xfrm>
        <a:prstGeom prst="rect">
          <a:avLst/>
        </a:prstGeom>
        <a:solidFill>
          <a:schemeClr val="accent5"/>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lvl="0" algn="ctr" defTabSz="622300">
            <a:lnSpc>
              <a:spcPct val="100000"/>
            </a:lnSpc>
            <a:spcBef>
              <a:spcPct val="0"/>
            </a:spcBef>
            <a:spcAft>
              <a:spcPct val="35000"/>
            </a:spcAft>
          </a:pPr>
          <a:r>
            <a:rPr lang="zh-CN" altLang="en-US" sz="1400" b="1" kern="1200" dirty="0">
              <a:solidFill>
                <a:schemeClr val="bg1"/>
              </a:solidFill>
              <a:latin typeface="微软雅黑" panose="020B0503020204020204" pitchFamily="34" charset="-122"/>
              <a:ea typeface="微软雅黑" panose="020B0503020204020204" pitchFamily="34" charset="-122"/>
            </a:rPr>
            <a:t>管理可视化</a:t>
          </a:r>
          <a:endParaRPr lang="en-US" altLang="zh-CN" sz="1400" b="1" kern="1200" dirty="0">
            <a:solidFill>
              <a:schemeClr val="bg1"/>
            </a:solidFill>
            <a:latin typeface="微软雅黑" panose="020B0503020204020204" pitchFamily="34" charset="-122"/>
            <a:ea typeface="微软雅黑" panose="020B0503020204020204" pitchFamily="34" charset="-122"/>
          </a:endParaRPr>
        </a:p>
        <a:p>
          <a:pPr lvl="0" algn="ctr" defTabSz="622300">
            <a:lnSpc>
              <a:spcPct val="100000"/>
            </a:lnSpc>
            <a:spcBef>
              <a:spcPct val="0"/>
            </a:spcBef>
            <a:spcAft>
              <a:spcPct val="35000"/>
            </a:spcAft>
          </a:pPr>
          <a:r>
            <a:rPr lang="zh-CN" altLang="en-US" sz="1100" kern="1200" dirty="0">
              <a:solidFill>
                <a:schemeClr val="bg1"/>
              </a:solidFill>
              <a:latin typeface="微软雅黑" panose="020B0503020204020204" pitchFamily="34" charset="-122"/>
              <a:ea typeface="微软雅黑" panose="020B0503020204020204" pitchFamily="34" charset="-122"/>
            </a:rPr>
            <a:t>业务统计、工作量、趋势等多维数据可视化展示</a:t>
          </a:r>
        </a:p>
      </dsp:txBody>
      <dsp:txXfrm>
        <a:off x="5928019" y="1283546"/>
        <a:ext cx="1795683" cy="1077410"/>
      </dsp:txXfrm>
    </dsp:sp>
    <dsp:sp modelId="{99301367-6321-445B-99BC-35DD0F8D9566}">
      <dsp:nvSpPr>
        <dsp:cNvPr id="0" name=""/>
        <dsp:cNvSpPr/>
      </dsp:nvSpPr>
      <dsp:spPr>
        <a:xfrm>
          <a:off x="2263" y="2540524"/>
          <a:ext cx="1795683" cy="1077410"/>
        </a:xfrm>
        <a:prstGeom prst="rect">
          <a:avLst/>
        </a:prstGeom>
        <a:solidFill>
          <a:schemeClr val="accent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lvl="0" algn="ctr" defTabSz="622300">
            <a:lnSpc>
              <a:spcPct val="100000"/>
            </a:lnSpc>
            <a:spcBef>
              <a:spcPct val="0"/>
            </a:spcBef>
            <a:spcAft>
              <a:spcPct val="35000"/>
            </a:spcAft>
          </a:pPr>
          <a:r>
            <a:rPr lang="zh-CN" altLang="en-US" sz="1400" b="1" kern="1200" dirty="0">
              <a:solidFill>
                <a:schemeClr val="bg1"/>
              </a:solidFill>
              <a:latin typeface="微软雅黑" panose="020B0503020204020204" pitchFamily="34" charset="-122"/>
              <a:ea typeface="微软雅黑" panose="020B0503020204020204" pitchFamily="34" charset="-122"/>
            </a:rPr>
            <a:t>有机融合</a:t>
          </a:r>
          <a:endParaRPr lang="en-US" altLang="zh-CN" sz="1400" b="1" kern="1200" dirty="0">
            <a:solidFill>
              <a:schemeClr val="bg1"/>
            </a:solidFill>
            <a:latin typeface="微软雅黑" panose="020B0503020204020204" pitchFamily="34" charset="-122"/>
            <a:ea typeface="微软雅黑" panose="020B0503020204020204" pitchFamily="34" charset="-122"/>
          </a:endParaRPr>
        </a:p>
        <a:p>
          <a:pPr lvl="0" algn="ctr" defTabSz="622300">
            <a:lnSpc>
              <a:spcPct val="100000"/>
            </a:lnSpc>
            <a:spcBef>
              <a:spcPct val="0"/>
            </a:spcBef>
            <a:spcAft>
              <a:spcPct val="35000"/>
            </a:spcAft>
          </a:pPr>
          <a:r>
            <a:rPr lang="zh-CN" altLang="en-US" sz="1000" kern="1200" dirty="0">
              <a:solidFill>
                <a:schemeClr val="bg1"/>
              </a:solidFill>
              <a:latin typeface="微软雅黑" panose="020B0503020204020204" pitchFamily="34" charset="-122"/>
              <a:ea typeface="微软雅黑" panose="020B0503020204020204" pitchFamily="34" charset="-122"/>
            </a:rPr>
            <a:t>接入院内信息系统，集成现有心电数据，统一提供诊断服务</a:t>
          </a:r>
          <a:endParaRPr sz="1000" kern="1200" dirty="0"/>
        </a:p>
      </dsp:txBody>
      <dsp:txXfrm>
        <a:off x="2263" y="2540524"/>
        <a:ext cx="1795683" cy="1077410"/>
      </dsp:txXfrm>
    </dsp:sp>
    <dsp:sp modelId="{71536596-31B1-4060-BCB5-1E0DDE92A6DD}">
      <dsp:nvSpPr>
        <dsp:cNvPr id="0" name=""/>
        <dsp:cNvSpPr/>
      </dsp:nvSpPr>
      <dsp:spPr>
        <a:xfrm>
          <a:off x="1977515" y="2540524"/>
          <a:ext cx="1795683" cy="1077410"/>
        </a:xfrm>
        <a:prstGeom prst="rect">
          <a:avLst/>
        </a:prstGeom>
        <a:solidFill>
          <a:schemeClr val="accent5"/>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lvl="0" algn="ctr" defTabSz="622300">
            <a:lnSpc>
              <a:spcPct val="100000"/>
            </a:lnSpc>
            <a:spcBef>
              <a:spcPct val="0"/>
            </a:spcBef>
            <a:spcAft>
              <a:spcPct val="35000"/>
            </a:spcAft>
          </a:pPr>
          <a:r>
            <a:rPr lang="zh-CN" altLang="en-US" sz="1400" b="1" kern="1200" dirty="0">
              <a:solidFill>
                <a:schemeClr val="bg1"/>
              </a:solidFill>
              <a:latin typeface="微软雅黑" panose="020B0503020204020204" pitchFamily="34" charset="-122"/>
              <a:ea typeface="微软雅黑" panose="020B0503020204020204" pitchFamily="34" charset="-122"/>
            </a:rPr>
            <a:t>后台配置</a:t>
          </a:r>
          <a:endParaRPr lang="en-US" altLang="zh-CN" sz="1400" b="1" kern="1200" dirty="0">
            <a:solidFill>
              <a:schemeClr val="bg1"/>
            </a:solidFill>
            <a:latin typeface="微软雅黑" panose="020B0503020204020204" pitchFamily="34" charset="-122"/>
            <a:ea typeface="微软雅黑" panose="020B0503020204020204" pitchFamily="34" charset="-122"/>
          </a:endParaRPr>
        </a:p>
        <a:p>
          <a:pPr lvl="0" algn="ctr" defTabSz="622300">
            <a:lnSpc>
              <a:spcPct val="100000"/>
            </a:lnSpc>
            <a:spcBef>
              <a:spcPct val="0"/>
            </a:spcBef>
            <a:spcAft>
              <a:spcPct val="35000"/>
            </a:spcAft>
          </a:pPr>
          <a:r>
            <a:rPr lang="zh-CN" altLang="en-US" sz="1100" kern="1200" dirty="0">
              <a:solidFill>
                <a:schemeClr val="bg1"/>
              </a:solidFill>
              <a:latin typeface="微软雅黑" panose="020B0503020204020204" pitchFamily="34" charset="-122"/>
              <a:ea typeface="微软雅黑" panose="020B0503020204020204" pitchFamily="34" charset="-122"/>
            </a:rPr>
            <a:t>危急值管理，参数多样化，满足客户复杂业务</a:t>
          </a:r>
          <a:endParaRPr sz="1100" kern="1200" dirty="0"/>
        </a:p>
      </dsp:txBody>
      <dsp:txXfrm>
        <a:off x="1977515" y="2540524"/>
        <a:ext cx="1795683" cy="1077410"/>
      </dsp:txXfrm>
    </dsp:sp>
    <dsp:sp modelId="{60AF2CCF-0E89-4C1D-88CA-948FD92AA037}">
      <dsp:nvSpPr>
        <dsp:cNvPr id="0" name=""/>
        <dsp:cNvSpPr/>
      </dsp:nvSpPr>
      <dsp:spPr>
        <a:xfrm>
          <a:off x="3952767" y="2540524"/>
          <a:ext cx="1795683" cy="1077410"/>
        </a:xfrm>
        <a:prstGeom prst="rect">
          <a:avLst/>
        </a:prstGeom>
        <a:solidFill>
          <a:schemeClr val="accent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lvl="0" algn="ctr" defTabSz="622300">
            <a:lnSpc>
              <a:spcPct val="100000"/>
            </a:lnSpc>
            <a:spcBef>
              <a:spcPct val="0"/>
            </a:spcBef>
            <a:spcAft>
              <a:spcPct val="35000"/>
            </a:spcAft>
          </a:pPr>
          <a:r>
            <a:rPr lang="zh-CN" altLang="en-US" sz="1400" b="1" kern="1200" dirty="0">
              <a:solidFill>
                <a:schemeClr val="bg1"/>
              </a:solidFill>
              <a:latin typeface="微软雅黑" panose="020B0503020204020204" pitchFamily="34" charset="-122"/>
              <a:ea typeface="微软雅黑" panose="020B0503020204020204" pitchFamily="34" charset="-122"/>
            </a:rPr>
            <a:t>软硬服务一体提供</a:t>
          </a:r>
          <a:endParaRPr lang="en-US" altLang="zh-CN" sz="1400" b="1" kern="1200" dirty="0">
            <a:solidFill>
              <a:schemeClr val="bg1"/>
            </a:solidFill>
            <a:latin typeface="微软雅黑" panose="020B0503020204020204" pitchFamily="34" charset="-122"/>
            <a:ea typeface="微软雅黑" panose="020B0503020204020204" pitchFamily="34" charset="-122"/>
          </a:endParaRPr>
        </a:p>
        <a:p>
          <a:pPr lvl="0" algn="ctr" defTabSz="622300">
            <a:lnSpc>
              <a:spcPct val="100000"/>
            </a:lnSpc>
            <a:spcBef>
              <a:spcPct val="0"/>
            </a:spcBef>
            <a:spcAft>
              <a:spcPct val="35000"/>
            </a:spcAft>
          </a:pPr>
          <a:r>
            <a:rPr lang="zh-CN" altLang="en-US" sz="1100" kern="1200" dirty="0">
              <a:solidFill>
                <a:schemeClr val="bg1"/>
              </a:solidFill>
              <a:latin typeface="微软雅黑" panose="020B0503020204020204" pitchFamily="34" charset="-122"/>
              <a:ea typeface="微软雅黑" panose="020B0503020204020204" pitchFamily="34" charset="-122"/>
            </a:rPr>
            <a:t>硬件、软件、平台、远程诊断服务</a:t>
          </a:r>
          <a:endParaRPr sz="1100" kern="1200" dirty="0"/>
        </a:p>
      </dsp:txBody>
      <dsp:txXfrm>
        <a:off x="3952767" y="2540524"/>
        <a:ext cx="1795683" cy="1077410"/>
      </dsp:txXfrm>
    </dsp:sp>
    <dsp:sp modelId="{8D6B19D6-C4E7-4AAA-B69E-D1F75F00C945}">
      <dsp:nvSpPr>
        <dsp:cNvPr id="0" name=""/>
        <dsp:cNvSpPr/>
      </dsp:nvSpPr>
      <dsp:spPr>
        <a:xfrm>
          <a:off x="5928019" y="2540524"/>
          <a:ext cx="1795683" cy="1077410"/>
        </a:xfrm>
        <a:prstGeom prst="rect">
          <a:avLst/>
        </a:prstGeom>
        <a:solidFill>
          <a:schemeClr val="accent5"/>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lvl="0" algn="ctr" defTabSz="622300">
            <a:lnSpc>
              <a:spcPct val="100000"/>
            </a:lnSpc>
            <a:spcBef>
              <a:spcPct val="0"/>
            </a:spcBef>
            <a:spcAft>
              <a:spcPct val="35000"/>
            </a:spcAft>
          </a:pPr>
          <a:r>
            <a:rPr lang="zh-CN" altLang="en-US" sz="1400" b="1" kern="1200" dirty="0">
              <a:solidFill>
                <a:schemeClr val="bg1"/>
              </a:solidFill>
              <a:latin typeface="微软雅黑" panose="020B0503020204020204" pitchFamily="34" charset="-122"/>
              <a:ea typeface="微软雅黑" panose="020B0503020204020204" pitchFamily="34" charset="-122"/>
            </a:rPr>
            <a:t>高端</a:t>
          </a:r>
          <a:r>
            <a:rPr lang="zh-CN" sz="1400" b="1" kern="1200" dirty="0">
              <a:solidFill>
                <a:schemeClr val="bg1"/>
              </a:solidFill>
              <a:latin typeface="微软雅黑" panose="020B0503020204020204" pitchFamily="34" charset="-122"/>
              <a:ea typeface="微软雅黑" panose="020B0503020204020204" pitchFamily="34" charset="-122"/>
            </a:rPr>
            <a:t>医疗资源</a:t>
          </a:r>
          <a:endParaRPr lang="en-US" altLang="zh-CN" sz="1400" b="1" kern="1200" dirty="0">
            <a:solidFill>
              <a:schemeClr val="bg1"/>
            </a:solidFill>
            <a:latin typeface="微软雅黑" panose="020B0503020204020204" pitchFamily="34" charset="-122"/>
            <a:ea typeface="微软雅黑" panose="020B0503020204020204" pitchFamily="34" charset="-122"/>
          </a:endParaRPr>
        </a:p>
        <a:p>
          <a:pPr lvl="0" algn="ctr" defTabSz="622300">
            <a:lnSpc>
              <a:spcPct val="100000"/>
            </a:lnSpc>
            <a:spcBef>
              <a:spcPct val="0"/>
            </a:spcBef>
            <a:spcAft>
              <a:spcPct val="35000"/>
            </a:spcAft>
          </a:pPr>
          <a:r>
            <a:rPr lang="zh-CN" sz="1000" kern="1200" dirty="0">
              <a:solidFill>
                <a:schemeClr val="bg1"/>
              </a:solidFill>
              <a:latin typeface="微软雅黑" panose="020B0503020204020204" pitchFamily="34" charset="-122"/>
              <a:ea typeface="微软雅黑" panose="020B0503020204020204" pitchFamily="34" charset="-122"/>
            </a:rPr>
            <a:t>国家远程医疗与互联网医学中心、</a:t>
          </a:r>
          <a:r>
            <a:rPr lang="en-US" sz="1000" kern="1200" dirty="0">
              <a:solidFill>
                <a:schemeClr val="bg1"/>
              </a:solidFill>
              <a:latin typeface="微软雅黑" panose="020B0503020204020204" pitchFamily="34" charset="-122"/>
              <a:ea typeface="微软雅黑" panose="020B0503020204020204" pitchFamily="34" charset="-122"/>
            </a:rPr>
            <a:t>301</a:t>
          </a:r>
          <a:r>
            <a:rPr lang="zh-CN" sz="1000" kern="1200" dirty="0">
              <a:solidFill>
                <a:schemeClr val="bg1"/>
              </a:solidFill>
              <a:latin typeface="微软雅黑" panose="020B0503020204020204" pitchFamily="34" charset="-122"/>
              <a:ea typeface="微软雅黑" panose="020B0503020204020204" pitchFamily="34" charset="-122"/>
            </a:rPr>
            <a:t>医院等国家级平台</a:t>
          </a:r>
          <a:endParaRPr sz="1000" kern="1200" dirty="0"/>
        </a:p>
      </dsp:txBody>
      <dsp:txXfrm>
        <a:off x="5928019" y="2540524"/>
        <a:ext cx="1795683" cy="1077410"/>
      </dsp:txXfrm>
    </dsp:sp>
  </dsp:spTree>
</dsp:drawing>
</file>

<file path=ppt/diagrams/layout1.xml><?xml version="1.0" encoding="utf-8"?>
<dgm:layoutDef xmlns:dgm="http://schemas.openxmlformats.org/drawingml/2006/diagram" xmlns:a="http://schemas.openxmlformats.org/drawingml/2006/main" uniqueId="urn:microsoft.com/office/officeart/2005/8/layout/default#2">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rSet qsTypeId="urn:microsoft.com/office/officeart/2005/8/quickstyle/simple5"/>
        </dgm:pt>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off" val="ctr"/>
          <dgm:param type="contDir" val="sameDir"/>
          <dgm:param type="grDir" val="tL"/>
          <dgm:param type="flowDir" val="row"/>
        </dgm:alg>
      </dgm:if>
      <dgm:else name="Name2">
        <dgm:alg type="snake">
          <dgm:param type="off" val="ctr"/>
          <dgm:param type="contDir" val="sameDir"/>
          <dgm:param type="grDir" val="tR"/>
          <dgm:param type="flowDir" val="row"/>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2">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4.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107BD80-B8B0-40C7-9F88-B5B19023702E}" type="datetimeFigureOut">
              <a:rPr lang="zh-CN" altLang="en-US" smtClean="0"/>
              <a:pPr/>
              <a:t>2024-07-25</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A17B761-9BD3-4D52-BAF0-A57C5DB37D67}"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D01918C-7925-4549-AC0B-B5875301E63A}" type="slidenum">
              <a:rPr kumimoji="1" lang="zh-CN" altLang="en-US" smtClean="0"/>
              <a:pPr/>
              <a:t>1</a:t>
            </a:fld>
            <a:endParaRPr kumimoji="1"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是什么</a:t>
            </a:r>
          </a:p>
        </p:txBody>
      </p:sp>
      <p:sp>
        <p:nvSpPr>
          <p:cNvPr id="4" name="灯片编号占位符 3"/>
          <p:cNvSpPr>
            <a:spLocks noGrp="1"/>
          </p:cNvSpPr>
          <p:nvPr>
            <p:ph type="sldNum" sz="quarter" idx="10"/>
          </p:nvPr>
        </p:nvSpPr>
        <p:spPr/>
        <p:txBody>
          <a:bodyPr/>
          <a:lstStyle/>
          <a:p>
            <a:fld id="{DA17B761-9BD3-4D52-BAF0-A57C5DB37D67}" type="slidenum">
              <a:rPr lang="zh-CN" altLang="en-US" smtClean="0"/>
              <a:pPr/>
              <a:t>4</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是什么</a:t>
            </a:r>
          </a:p>
        </p:txBody>
      </p:sp>
      <p:sp>
        <p:nvSpPr>
          <p:cNvPr id="4" name="灯片编号占位符 3"/>
          <p:cNvSpPr>
            <a:spLocks noGrp="1"/>
          </p:cNvSpPr>
          <p:nvPr>
            <p:ph type="sldNum" sz="quarter" idx="10"/>
          </p:nvPr>
        </p:nvSpPr>
        <p:spPr/>
        <p:txBody>
          <a:bodyPr/>
          <a:lstStyle/>
          <a:p>
            <a:fld id="{DA17B761-9BD3-4D52-BAF0-A57C5DB37D67}" type="slidenum">
              <a:rPr lang="zh-CN" altLang="en-US" smtClean="0"/>
              <a:pPr/>
              <a:t>5</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是什么</a:t>
            </a:r>
          </a:p>
        </p:txBody>
      </p:sp>
      <p:sp>
        <p:nvSpPr>
          <p:cNvPr id="4" name="灯片编号占位符 3"/>
          <p:cNvSpPr>
            <a:spLocks noGrp="1"/>
          </p:cNvSpPr>
          <p:nvPr>
            <p:ph type="sldNum" sz="quarter" idx="10"/>
          </p:nvPr>
        </p:nvSpPr>
        <p:spPr/>
        <p:txBody>
          <a:bodyPr/>
          <a:lstStyle/>
          <a:p>
            <a:fld id="{DA17B761-9BD3-4D52-BAF0-A57C5DB37D67}" type="slidenum">
              <a:rPr lang="zh-CN" altLang="en-US" smtClean="0"/>
              <a:pPr/>
              <a:t>6</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是什么</a:t>
            </a:r>
          </a:p>
        </p:txBody>
      </p:sp>
      <p:sp>
        <p:nvSpPr>
          <p:cNvPr id="4" name="灯片编号占位符 3"/>
          <p:cNvSpPr>
            <a:spLocks noGrp="1"/>
          </p:cNvSpPr>
          <p:nvPr>
            <p:ph type="sldNum" sz="quarter" idx="10"/>
          </p:nvPr>
        </p:nvSpPr>
        <p:spPr/>
        <p:txBody>
          <a:bodyPr/>
          <a:lstStyle/>
          <a:p>
            <a:fld id="{DA17B761-9BD3-4D52-BAF0-A57C5DB37D67}" type="slidenum">
              <a:rPr lang="zh-CN" altLang="en-US" smtClean="0"/>
              <a:pPr/>
              <a:t>8</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dirty="0">
                <a:latin typeface="微软雅黑" panose="020B0503020204020204" pitchFamily="34" charset="-122"/>
                <a:ea typeface="微软雅黑" panose="020B0503020204020204" pitchFamily="34" charset="-122"/>
              </a:rPr>
              <a:t>解决了什么问题</a:t>
            </a:r>
            <a:r>
              <a:rPr lang="en-US" altLang="zh-CN" sz="1200" dirty="0">
                <a:latin typeface="微软雅黑" panose="020B0503020204020204" pitchFamily="34" charset="-122"/>
                <a:ea typeface="微软雅黑" panose="020B0503020204020204" pitchFamily="34" charset="-122"/>
              </a:rPr>
              <a:t>-</a:t>
            </a:r>
            <a:r>
              <a:rPr lang="zh-CN" altLang="en-US" sz="1200" dirty="0">
                <a:latin typeface="微软雅黑" panose="020B0503020204020204" pitchFamily="34" charset="-122"/>
                <a:ea typeface="微软雅黑" panose="020B0503020204020204" pitchFamily="34" charset="-122"/>
              </a:rPr>
              <a:t>亮点</a:t>
            </a:r>
            <a:endParaRPr lang="zh-CN" altLang="zh-CN" sz="1200" dirty="0">
              <a:latin typeface="微软雅黑" panose="020B0503020204020204" pitchFamily="34" charset="-122"/>
              <a:ea typeface="微软雅黑" panose="020B0503020204020204" pitchFamily="34" charset="-122"/>
            </a:endParaRPr>
          </a:p>
          <a:p>
            <a:endParaRPr lang="zh-CN" altLang="en-US" dirty="0"/>
          </a:p>
        </p:txBody>
      </p:sp>
      <p:sp>
        <p:nvSpPr>
          <p:cNvPr id="4" name="灯片编号占位符 3"/>
          <p:cNvSpPr>
            <a:spLocks noGrp="1"/>
          </p:cNvSpPr>
          <p:nvPr>
            <p:ph type="sldNum" sz="quarter" idx="5"/>
          </p:nvPr>
        </p:nvSpPr>
        <p:spPr/>
        <p:txBody>
          <a:bodyPr/>
          <a:lstStyle/>
          <a:p>
            <a:fld id="{5849F42C-2DAE-424C-A4B8-3140182C3E9F}" type="slidenum">
              <a:rPr lang="zh-CN" altLang="en-US" smtClean="0"/>
              <a:pPr/>
              <a:t>9</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dirty="0">
                <a:latin typeface="微软雅黑" panose="020B0503020204020204" pitchFamily="34" charset="-122"/>
                <a:ea typeface="微软雅黑" panose="020B0503020204020204" pitchFamily="34" charset="-122"/>
              </a:rPr>
              <a:t>解决了什么问题</a:t>
            </a:r>
            <a:r>
              <a:rPr lang="en-US" altLang="zh-CN" sz="1200" dirty="0">
                <a:latin typeface="微软雅黑" panose="020B0503020204020204" pitchFamily="34" charset="-122"/>
                <a:ea typeface="微软雅黑" panose="020B0503020204020204" pitchFamily="34" charset="-122"/>
              </a:rPr>
              <a:t>-</a:t>
            </a:r>
            <a:r>
              <a:rPr lang="zh-CN" altLang="en-US" sz="1200" dirty="0">
                <a:latin typeface="微软雅黑" panose="020B0503020204020204" pitchFamily="34" charset="-122"/>
                <a:ea typeface="微软雅黑" panose="020B0503020204020204" pitchFamily="34" charset="-122"/>
              </a:rPr>
              <a:t>亮点</a:t>
            </a:r>
            <a:endParaRPr lang="zh-CN" altLang="zh-CN" sz="1200" dirty="0">
              <a:latin typeface="微软雅黑" panose="020B0503020204020204" pitchFamily="34" charset="-122"/>
              <a:ea typeface="微软雅黑" panose="020B0503020204020204" pitchFamily="34" charset="-122"/>
            </a:endParaRPr>
          </a:p>
          <a:p>
            <a:endParaRPr lang="zh-CN" altLang="en-US" dirty="0"/>
          </a:p>
        </p:txBody>
      </p:sp>
      <p:sp>
        <p:nvSpPr>
          <p:cNvPr id="4" name="灯片编号占位符 3"/>
          <p:cNvSpPr>
            <a:spLocks noGrp="1"/>
          </p:cNvSpPr>
          <p:nvPr>
            <p:ph type="sldNum" sz="quarter" idx="5"/>
          </p:nvPr>
        </p:nvSpPr>
        <p:spPr/>
        <p:txBody>
          <a:bodyPr/>
          <a:lstStyle/>
          <a:p>
            <a:fld id="{5849F42C-2DAE-424C-A4B8-3140182C3E9F}" type="slidenum">
              <a:rPr lang="zh-CN" altLang="en-US" smtClean="0"/>
              <a:pPr/>
              <a:t>12</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dirty="0">
                <a:latin typeface="微软雅黑" panose="020B0503020204020204" pitchFamily="34" charset="-122"/>
                <a:ea typeface="微软雅黑" panose="020B0503020204020204" pitchFamily="34" charset="-122"/>
              </a:rPr>
              <a:t>解决了什么问题</a:t>
            </a:r>
            <a:r>
              <a:rPr lang="en-US" altLang="zh-CN" sz="1200" dirty="0">
                <a:latin typeface="微软雅黑" panose="020B0503020204020204" pitchFamily="34" charset="-122"/>
                <a:ea typeface="微软雅黑" panose="020B0503020204020204" pitchFamily="34" charset="-122"/>
              </a:rPr>
              <a:t>-</a:t>
            </a:r>
            <a:r>
              <a:rPr lang="zh-CN" altLang="en-US" sz="1200" dirty="0">
                <a:latin typeface="微软雅黑" panose="020B0503020204020204" pitchFamily="34" charset="-122"/>
                <a:ea typeface="微软雅黑" panose="020B0503020204020204" pitchFamily="34" charset="-122"/>
              </a:rPr>
              <a:t>亮点</a:t>
            </a:r>
            <a:endParaRPr lang="zh-CN" altLang="zh-CN" sz="1200" dirty="0">
              <a:latin typeface="微软雅黑" panose="020B0503020204020204" pitchFamily="34" charset="-122"/>
              <a:ea typeface="微软雅黑" panose="020B0503020204020204" pitchFamily="34" charset="-122"/>
            </a:endParaRPr>
          </a:p>
          <a:p>
            <a:endParaRPr lang="zh-CN" altLang="en-US" dirty="0"/>
          </a:p>
        </p:txBody>
      </p:sp>
      <p:sp>
        <p:nvSpPr>
          <p:cNvPr id="4" name="灯片编号占位符 3"/>
          <p:cNvSpPr>
            <a:spLocks noGrp="1"/>
          </p:cNvSpPr>
          <p:nvPr>
            <p:ph type="sldNum" sz="quarter" idx="5"/>
          </p:nvPr>
        </p:nvSpPr>
        <p:spPr/>
        <p:txBody>
          <a:bodyPr/>
          <a:lstStyle/>
          <a:p>
            <a:fld id="{5849F42C-2DAE-424C-A4B8-3140182C3E9F}" type="slidenum">
              <a:rPr lang="zh-CN" altLang="en-US" smtClean="0"/>
              <a:pPr/>
              <a:t>13</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dirty="0">
                <a:latin typeface="微软雅黑" panose="020B0503020204020204" pitchFamily="34" charset="-122"/>
                <a:ea typeface="微软雅黑" panose="020B0503020204020204" pitchFamily="34" charset="-122"/>
                <a:sym typeface="+mn-ea"/>
              </a:rPr>
              <a:t>图片调色</a:t>
            </a:r>
            <a:endParaRPr lang="en-US" altLang="zh-CN" sz="1200" dirty="0">
              <a:latin typeface="微软雅黑" panose="020B0503020204020204" pitchFamily="34" charset="-122"/>
              <a:ea typeface="微软雅黑" panose="020B0503020204020204" pitchFamily="34" charset="-122"/>
              <a:sym typeface="+mn-ea"/>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dirty="0">
                <a:latin typeface="微软雅黑" panose="020B0503020204020204" pitchFamily="34" charset="-122"/>
                <a:ea typeface="微软雅黑" panose="020B0503020204020204" pitchFamily="34" charset="-122"/>
                <a:sym typeface="+mn-ea"/>
              </a:rPr>
              <a:t>增加牌</a:t>
            </a:r>
            <a:endParaRPr lang="en-US" altLang="zh-CN" sz="1200" dirty="0">
              <a:latin typeface="微软雅黑" panose="020B0503020204020204" pitchFamily="34" charset="-122"/>
              <a:ea typeface="微软雅黑" panose="020B0503020204020204" pitchFamily="34" charset="-122"/>
              <a:sym typeface="+mn-ea"/>
            </a:endParaRPr>
          </a:p>
        </p:txBody>
      </p:sp>
      <p:sp>
        <p:nvSpPr>
          <p:cNvPr id="4" name="灯片编号占位符 3"/>
          <p:cNvSpPr>
            <a:spLocks noGrp="1"/>
          </p:cNvSpPr>
          <p:nvPr>
            <p:ph type="sldNum" sz="quarter" idx="5"/>
          </p:nvPr>
        </p:nvSpPr>
        <p:spPr/>
        <p:txBody>
          <a:bodyPr/>
          <a:lstStyle/>
          <a:p>
            <a:fld id="{53B26EDF-CBDF-4E59-A6C9-997BDED55074}" type="slidenum">
              <a:rPr lang="zh-CN" altLang="en-US" smtClean="0"/>
              <a:pPr/>
              <a:t>17</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本产品手持式设计，支持快速建档和远程下单，高精度采集，</a:t>
            </a:r>
            <a:r>
              <a:rPr lang="en-US" altLang="zh-CN" sz="1200" dirty="0">
                <a:solidFill>
                  <a:schemeClr val="tx1">
                    <a:lumMod val="75000"/>
                    <a:lumOff val="25000"/>
                  </a:schemeClr>
                </a:solidFill>
                <a:latin typeface="微软雅黑" panose="020B0503020204020204" pitchFamily="34" charset="-122"/>
                <a:ea typeface="微软雅黑" panose="020B0503020204020204" pitchFamily="34" charset="-122"/>
              </a:rPr>
              <a:t>12</a:t>
            </a: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导心电波形同屏显示，</a:t>
            </a:r>
            <a:r>
              <a:rPr lang="en-US" altLang="zh-CN" sz="1200" dirty="0">
                <a:solidFill>
                  <a:schemeClr val="tx1">
                    <a:lumMod val="75000"/>
                    <a:lumOff val="25000"/>
                  </a:schemeClr>
                </a:solidFill>
                <a:latin typeface="微软雅黑" panose="020B0503020204020204" pitchFamily="34" charset="-122"/>
                <a:ea typeface="微软雅黑" panose="020B0503020204020204" pitchFamily="34" charset="-122"/>
              </a:rPr>
              <a:t>4G/</a:t>
            </a:r>
            <a:r>
              <a:rPr lang="en-US" altLang="zh-CN" sz="1200" dirty="0" err="1">
                <a:solidFill>
                  <a:schemeClr val="tx1">
                    <a:lumMod val="75000"/>
                    <a:lumOff val="25000"/>
                  </a:schemeClr>
                </a:solidFill>
                <a:latin typeface="微软雅黑" panose="020B0503020204020204" pitchFamily="34" charset="-122"/>
                <a:ea typeface="微软雅黑" panose="020B0503020204020204" pitchFamily="34" charset="-122"/>
              </a:rPr>
              <a:t>WiFi</a:t>
            </a: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无线传输，方便移动场景使用，极大地推进了心电图机的智能化和移动化进程，为高效服务和品质医疗提供便利。</a:t>
            </a:r>
            <a:endParaRPr lang="en-US" altLang="zh-CN" sz="1200" dirty="0">
              <a:solidFill>
                <a:schemeClr val="tx1">
                  <a:lumMod val="75000"/>
                  <a:lumOff val="25000"/>
                </a:schemeClr>
              </a:solidFill>
              <a:latin typeface="微软雅黑" panose="020B0503020204020204" pitchFamily="34" charset="-122"/>
              <a:ea typeface="微软雅黑" panose="020B0503020204020204" pitchFamily="34" charset="-122"/>
            </a:endParaRPr>
          </a:p>
          <a:p>
            <a:endParaRPr lang="zh-CN" altLang="en-US" dirty="0"/>
          </a:p>
        </p:txBody>
      </p:sp>
      <p:sp>
        <p:nvSpPr>
          <p:cNvPr id="4" name="灯片编号占位符 3"/>
          <p:cNvSpPr>
            <a:spLocks noGrp="1"/>
          </p:cNvSpPr>
          <p:nvPr>
            <p:ph type="sldNum" sz="quarter" idx="10"/>
          </p:nvPr>
        </p:nvSpPr>
        <p:spPr/>
        <p:txBody>
          <a:bodyPr/>
          <a:lstStyle/>
          <a:p>
            <a:fld id="{DA17B761-9BD3-4D52-BAF0-A57C5DB37D67}" type="slidenum">
              <a:rPr lang="zh-CN" altLang="en-US" smtClean="0"/>
              <a:pPr/>
              <a:t>18</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增加高采样率；设备竖起</a:t>
            </a:r>
          </a:p>
        </p:txBody>
      </p:sp>
      <p:sp>
        <p:nvSpPr>
          <p:cNvPr id="4" name="灯片编号占位符 3"/>
          <p:cNvSpPr>
            <a:spLocks noGrp="1"/>
          </p:cNvSpPr>
          <p:nvPr>
            <p:ph type="sldNum" sz="quarter" idx="10"/>
          </p:nvPr>
        </p:nvSpPr>
        <p:spPr/>
        <p:txBody>
          <a:bodyPr/>
          <a:lstStyle/>
          <a:p>
            <a:fld id="{DA17B761-9BD3-4D52-BAF0-A57C5DB37D67}" type="slidenum">
              <a:rPr lang="zh-CN" altLang="en-US" smtClean="0"/>
              <a:pPr/>
              <a:t>20</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为谁解决问题</a:t>
            </a:r>
          </a:p>
        </p:txBody>
      </p:sp>
      <p:sp>
        <p:nvSpPr>
          <p:cNvPr id="4" name="灯片编号占位符 3"/>
          <p:cNvSpPr>
            <a:spLocks noGrp="1"/>
          </p:cNvSpPr>
          <p:nvPr>
            <p:ph type="sldNum" sz="quarter" idx="10"/>
          </p:nvPr>
        </p:nvSpPr>
        <p:spPr/>
        <p:txBody>
          <a:bodyPr/>
          <a:lstStyle/>
          <a:p>
            <a:fld id="{DA17B761-9BD3-4D52-BAF0-A57C5DB37D67}" type="slidenum">
              <a:rPr lang="zh-CN" altLang="en-US" smtClean="0"/>
              <a:pPr/>
              <a:t>22</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解决了什么问题</a:t>
            </a:r>
          </a:p>
        </p:txBody>
      </p:sp>
      <p:sp>
        <p:nvSpPr>
          <p:cNvPr id="4" name="灯片编号占位符 3"/>
          <p:cNvSpPr>
            <a:spLocks noGrp="1"/>
          </p:cNvSpPr>
          <p:nvPr>
            <p:ph type="sldNum" sz="quarter" idx="10"/>
          </p:nvPr>
        </p:nvSpPr>
        <p:spPr/>
        <p:txBody>
          <a:bodyPr/>
          <a:lstStyle/>
          <a:p>
            <a:fld id="{DA17B761-9BD3-4D52-BAF0-A57C5DB37D67}" type="slidenum">
              <a:rPr lang="zh-CN" altLang="en-US" smtClean="0"/>
              <a:pPr/>
              <a:t>23</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为谁解决问题</a:t>
            </a:r>
          </a:p>
        </p:txBody>
      </p:sp>
      <p:sp>
        <p:nvSpPr>
          <p:cNvPr id="4" name="灯片编号占位符 3"/>
          <p:cNvSpPr>
            <a:spLocks noGrp="1"/>
          </p:cNvSpPr>
          <p:nvPr>
            <p:ph type="sldNum" sz="quarter" idx="10"/>
          </p:nvPr>
        </p:nvSpPr>
        <p:spPr/>
        <p:txBody>
          <a:bodyPr/>
          <a:lstStyle/>
          <a:p>
            <a:fld id="{DA17B761-9BD3-4D52-BAF0-A57C5DB37D67}" type="slidenum">
              <a:rPr lang="zh-CN" altLang="en-US" smtClean="0"/>
              <a:pPr/>
              <a:t>24</a:t>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解决了什么问题</a:t>
            </a:r>
          </a:p>
        </p:txBody>
      </p:sp>
      <p:sp>
        <p:nvSpPr>
          <p:cNvPr id="4" name="灯片编号占位符 3"/>
          <p:cNvSpPr>
            <a:spLocks noGrp="1"/>
          </p:cNvSpPr>
          <p:nvPr>
            <p:ph type="sldNum" sz="quarter" idx="10"/>
          </p:nvPr>
        </p:nvSpPr>
        <p:spPr/>
        <p:txBody>
          <a:bodyPr/>
          <a:lstStyle/>
          <a:p>
            <a:fld id="{DA17B761-9BD3-4D52-BAF0-A57C5DB37D67}" type="slidenum">
              <a:rPr lang="zh-CN" altLang="en-US" smtClean="0"/>
              <a:pPr/>
              <a:t>25</a:t>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解决了什么问题</a:t>
            </a:r>
          </a:p>
        </p:txBody>
      </p:sp>
      <p:sp>
        <p:nvSpPr>
          <p:cNvPr id="4" name="灯片编号占位符 3"/>
          <p:cNvSpPr>
            <a:spLocks noGrp="1"/>
          </p:cNvSpPr>
          <p:nvPr>
            <p:ph type="sldNum" sz="quarter" idx="10"/>
          </p:nvPr>
        </p:nvSpPr>
        <p:spPr/>
        <p:txBody>
          <a:bodyPr/>
          <a:lstStyle/>
          <a:p>
            <a:fld id="{DA17B761-9BD3-4D52-BAF0-A57C5DB37D67}" type="slidenum">
              <a:rPr lang="zh-CN" altLang="en-US" smtClean="0"/>
              <a:pPr/>
              <a:t>26</a:t>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图片优化</a:t>
            </a:r>
            <a:endParaRPr lang="en-US" altLang="zh-CN" dirty="0"/>
          </a:p>
          <a:p>
            <a:r>
              <a:rPr lang="zh-CN" altLang="en-US" dirty="0"/>
              <a:t>异常心电</a:t>
            </a:r>
          </a:p>
        </p:txBody>
      </p:sp>
      <p:sp>
        <p:nvSpPr>
          <p:cNvPr id="4" name="灯片编号占位符 3"/>
          <p:cNvSpPr>
            <a:spLocks noGrp="1"/>
          </p:cNvSpPr>
          <p:nvPr>
            <p:ph type="sldNum" sz="quarter" idx="5"/>
          </p:nvPr>
        </p:nvSpPr>
        <p:spPr/>
        <p:txBody>
          <a:bodyPr/>
          <a:lstStyle/>
          <a:p>
            <a:fld id="{5849F42C-2DAE-424C-A4B8-3140182C3E9F}" type="slidenum">
              <a:rPr lang="zh-CN" altLang="en-US" smtClean="0"/>
              <a:pPr/>
              <a:t>28</a:t>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三高人群写明，</a:t>
            </a:r>
            <a:r>
              <a:rPr lang="zh-CN" altLang="en-US"/>
              <a:t>数字</a:t>
            </a:r>
            <a:endParaRPr lang="en-US" altLang="zh-CN" dirty="0"/>
          </a:p>
          <a:p>
            <a:endParaRPr lang="zh-CN" altLang="en-US" dirty="0"/>
          </a:p>
        </p:txBody>
      </p:sp>
      <p:sp>
        <p:nvSpPr>
          <p:cNvPr id="4" name="灯片编号占位符 3"/>
          <p:cNvSpPr>
            <a:spLocks noGrp="1"/>
          </p:cNvSpPr>
          <p:nvPr>
            <p:ph type="sldNum" sz="quarter" idx="5"/>
          </p:nvPr>
        </p:nvSpPr>
        <p:spPr/>
        <p:txBody>
          <a:bodyPr/>
          <a:lstStyle/>
          <a:p>
            <a:fld id="{5849F42C-2DAE-424C-A4B8-3140182C3E9F}" type="slidenum">
              <a:rPr lang="zh-CN" altLang="en-US" smtClean="0"/>
              <a:pPr/>
              <a:t>29</a:t>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三高人群写明，</a:t>
            </a:r>
            <a:r>
              <a:rPr lang="zh-CN" altLang="en-US"/>
              <a:t>数字</a:t>
            </a:r>
            <a:endParaRPr lang="en-US" altLang="zh-CN" dirty="0"/>
          </a:p>
          <a:p>
            <a:endParaRPr lang="zh-CN" altLang="en-US" dirty="0"/>
          </a:p>
        </p:txBody>
      </p:sp>
      <p:sp>
        <p:nvSpPr>
          <p:cNvPr id="4" name="灯片编号占位符 3"/>
          <p:cNvSpPr>
            <a:spLocks noGrp="1"/>
          </p:cNvSpPr>
          <p:nvPr>
            <p:ph type="sldNum" sz="quarter" idx="5"/>
          </p:nvPr>
        </p:nvSpPr>
        <p:spPr/>
        <p:txBody>
          <a:bodyPr/>
          <a:lstStyle/>
          <a:p>
            <a:fld id="{5849F42C-2DAE-424C-A4B8-3140182C3E9F}" type="slidenum">
              <a:rPr lang="zh-CN" altLang="en-US" smtClean="0"/>
              <a:pPr/>
              <a:t>30</a:t>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三高人群写明，</a:t>
            </a:r>
            <a:r>
              <a:rPr lang="zh-CN" altLang="en-US"/>
              <a:t>数字</a:t>
            </a:r>
            <a:endParaRPr lang="en-US" altLang="zh-CN" dirty="0"/>
          </a:p>
          <a:p>
            <a:endParaRPr lang="zh-CN" altLang="en-US" dirty="0"/>
          </a:p>
        </p:txBody>
      </p:sp>
      <p:sp>
        <p:nvSpPr>
          <p:cNvPr id="4" name="灯片编号占位符 3"/>
          <p:cNvSpPr>
            <a:spLocks noGrp="1"/>
          </p:cNvSpPr>
          <p:nvPr>
            <p:ph type="sldNum" sz="quarter" idx="5"/>
          </p:nvPr>
        </p:nvSpPr>
        <p:spPr/>
        <p:txBody>
          <a:bodyPr/>
          <a:lstStyle/>
          <a:p>
            <a:fld id="{5849F42C-2DAE-424C-A4B8-3140182C3E9F}" type="slidenum">
              <a:rPr lang="zh-CN" altLang="en-US" smtClean="0"/>
              <a:pPr/>
              <a:t>31</a:t>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A17B761-9BD3-4D52-BAF0-A57C5DB37D67}" type="slidenum">
              <a:rPr lang="zh-CN" altLang="en-US" smtClean="0"/>
              <a:pPr/>
              <a:t>32</a:t>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C16CEBB1-29F6-4DD0-A20A-49F07B6D6B29}"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pPr marL="0" marR="0" lvl="0" indent="0" algn="r" defTabSz="914400" rtl="0" eaLnBrk="1" fontAlgn="auto" latinLnBrk="0" hangingPunct="1">
                <a:lnSpc>
                  <a:spcPct val="100000"/>
                </a:lnSpc>
                <a:spcBef>
                  <a:spcPts val="0"/>
                </a:spcBef>
                <a:spcAft>
                  <a:spcPts val="0"/>
                </a:spcAft>
                <a:buClrTx/>
                <a:buSzTx/>
                <a:buFontTx/>
                <a:buNone/>
                <a:defRPr/>
              </a:pPr>
              <a:t>33</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图片优化</a:t>
            </a:r>
            <a:endParaRPr lang="en-US" altLang="zh-CN" dirty="0"/>
          </a:p>
          <a:p>
            <a:r>
              <a:rPr lang="zh-CN" altLang="en-US" dirty="0"/>
              <a:t>异常心电</a:t>
            </a:r>
          </a:p>
        </p:txBody>
      </p:sp>
      <p:sp>
        <p:nvSpPr>
          <p:cNvPr id="4" name="灯片编号占位符 3"/>
          <p:cNvSpPr>
            <a:spLocks noGrp="1"/>
          </p:cNvSpPr>
          <p:nvPr>
            <p:ph type="sldNum" sz="quarter" idx="5"/>
          </p:nvPr>
        </p:nvSpPr>
        <p:spPr/>
        <p:txBody>
          <a:bodyPr/>
          <a:lstStyle/>
          <a:p>
            <a:fld id="{5849F42C-2DAE-424C-A4B8-3140182C3E9F}" type="slidenum">
              <a:rPr lang="zh-CN" altLang="en-US" smtClean="0"/>
              <a:pPr/>
              <a:t>35</a:t>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图片优化</a:t>
            </a:r>
            <a:endParaRPr lang="en-US" altLang="zh-CN" dirty="0"/>
          </a:p>
          <a:p>
            <a:r>
              <a:rPr lang="zh-CN" altLang="en-US" dirty="0"/>
              <a:t>异常心电</a:t>
            </a:r>
          </a:p>
        </p:txBody>
      </p:sp>
      <p:sp>
        <p:nvSpPr>
          <p:cNvPr id="4" name="灯片编号占位符 3"/>
          <p:cNvSpPr>
            <a:spLocks noGrp="1"/>
          </p:cNvSpPr>
          <p:nvPr>
            <p:ph type="sldNum" sz="quarter" idx="5"/>
          </p:nvPr>
        </p:nvSpPr>
        <p:spPr/>
        <p:txBody>
          <a:bodyPr/>
          <a:lstStyle/>
          <a:p>
            <a:fld id="{5849F42C-2DAE-424C-A4B8-3140182C3E9F}" type="slidenum">
              <a:rPr lang="zh-CN" altLang="en-US" smtClean="0"/>
              <a:pPr/>
              <a:t>36</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tags" Target="../tags/tag4.xml"/><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slideMaster" Target="../slideMasters/slideMaster1.xml"/><Relationship Id="rId5" Type="http://schemas.openxmlformats.org/officeDocument/2006/relationships/tags" Target="../tags/tag6.xml"/><Relationship Id="rId4" Type="http://schemas.openxmlformats.org/officeDocument/2006/relationships/tags" Target="../tags/tag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p:spPr>
        <p:txBody>
          <a:bodyPr/>
          <a:lstStyle/>
          <a:p>
            <a:r>
              <a:rPr lang="zh-CN" altLang="en-US"/>
              <a:t>单击此处编辑母版标题样式</a:t>
            </a:r>
          </a:p>
        </p:txBody>
      </p:sp>
      <p:sp>
        <p:nvSpPr>
          <p:cNvPr id="3" name="副标题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fld id="{83C381E9-8D8D-4B0A-AEF4-E21F930D6749}" type="datetimeFigureOut">
              <a:rPr lang="zh-CN" altLang="en-US" smtClean="0"/>
              <a:pPr/>
              <a:t>2024-07-25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2230631-B87B-4616-91ED-EDA6072C7989}" type="slidenum">
              <a:rPr lang="zh-CN" altLang="en-US" smtClean="0"/>
              <a:pPr/>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83C381E9-8D8D-4B0A-AEF4-E21F930D6749}" type="datetimeFigureOut">
              <a:rPr lang="zh-CN" altLang="en-US" smtClean="0"/>
              <a:pPr/>
              <a:t>2024-07-25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2230631-B87B-4616-91ED-EDA6072C7989}" type="slidenum">
              <a:rPr lang="zh-CN" altLang="en-US" smtClean="0"/>
              <a:pPr/>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83C381E9-8D8D-4B0A-AEF4-E21F930D6749}" type="datetimeFigureOut">
              <a:rPr lang="zh-CN" altLang="en-US" smtClean="0"/>
              <a:pPr/>
              <a:t>2024-07-25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2230631-B87B-4616-91ED-EDA6072C7989}" type="slidenum">
              <a:rPr lang="zh-CN" altLang="en-US" smtClean="0"/>
              <a:pPr/>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900113"/>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900113"/>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83C381E9-8D8D-4B0A-AEF4-E21F930D6749}" type="datetimeFigureOut">
              <a:rPr lang="zh-CN" altLang="en-US" smtClean="0"/>
              <a:pPr/>
              <a:t>2024-07-25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2230631-B87B-4616-91ED-EDA6072C7989}" type="slidenum">
              <a:rPr lang="zh-CN" altLang="en-US" smtClean="0"/>
              <a:pPr/>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83C381E9-8D8D-4B0A-AEF4-E21F930D6749}" type="datetimeFigureOut">
              <a:rPr lang="zh-CN" altLang="en-US" smtClean="0"/>
              <a:pPr/>
              <a:t>2024-07-25</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22230631-B87B-4616-91ED-EDA6072C7989}" type="slidenum">
              <a:rPr lang="zh-CN" altLang="en-US" smtClean="0"/>
              <a:pPr/>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83C381E9-8D8D-4B0A-AEF4-E21F930D6749}" type="datetimeFigureOut">
              <a:rPr lang="zh-CN" altLang="en-US" smtClean="0"/>
              <a:pPr/>
              <a:t>2024-07-25</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22230631-B87B-4616-91ED-EDA6072C7989}" type="slidenum">
              <a:rPr lang="zh-CN" altLang="en-US" smtClean="0"/>
              <a:pPr/>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正片">
    <p:spTree>
      <p:nvGrpSpPr>
        <p:cNvPr id="1" name=""/>
        <p:cNvGrpSpPr/>
        <p:nvPr/>
      </p:nvGrpSpPr>
      <p:grpSpPr>
        <a:xfrm>
          <a:off x="0" y="0"/>
          <a:ext cx="0" cy="0"/>
          <a:chOff x="0" y="0"/>
          <a:chExt cx="0" cy="0"/>
        </a:xfrm>
      </p:grpSpPr>
      <p:sp>
        <p:nvSpPr>
          <p:cNvPr id="13" name="文本占位符 12"/>
          <p:cNvSpPr>
            <a:spLocks noGrp="1"/>
          </p:cNvSpPr>
          <p:nvPr>
            <p:ph type="body" sz="quarter" idx="13" hasCustomPrompt="1"/>
          </p:nvPr>
        </p:nvSpPr>
        <p:spPr>
          <a:xfrm>
            <a:off x="251520" y="8450"/>
            <a:ext cx="6696744" cy="720080"/>
          </a:xfrm>
        </p:spPr>
        <p:txBody>
          <a:bodyPr>
            <a:noAutofit/>
          </a:bodyPr>
          <a:lstStyle>
            <a:lvl1pPr marL="0" indent="0" algn="l">
              <a:lnSpc>
                <a:spcPct val="200000"/>
              </a:lnSpc>
              <a:spcBef>
                <a:spcPts val="1200"/>
              </a:spcBef>
              <a:spcAft>
                <a:spcPts val="1200"/>
              </a:spcAft>
              <a:buNone/>
              <a:defRPr sz="2000" b="1">
                <a:latin typeface="微软雅黑" panose="020B0503020204020204" pitchFamily="34" charset="-122"/>
                <a:ea typeface="微软雅黑" panose="020B0503020204020204" pitchFamily="34" charset="-122"/>
              </a:defRPr>
            </a:lvl1pPr>
          </a:lstStyle>
          <a:p>
            <a:pPr lvl="0"/>
            <a:r>
              <a:rPr lang="zh-CN" altLang="en-US" dirty="0"/>
              <a:t>编辑母版文本样式</a:t>
            </a:r>
            <a:endParaRPr lang="en-US" altLang="zh-CN" dirty="0"/>
          </a:p>
          <a:p>
            <a:pPr lvl="0"/>
            <a:endParaRPr lang="zh-CN" altLang="en-US" dirty="0"/>
          </a:p>
        </p:txBody>
      </p:sp>
      <p:sp>
        <p:nvSpPr>
          <p:cNvPr id="14" name="矩形 13"/>
          <p:cNvSpPr/>
          <p:nvPr userDrawn="1"/>
        </p:nvSpPr>
        <p:spPr>
          <a:xfrm flipH="1">
            <a:off x="-2" y="5028560"/>
            <a:ext cx="9144001" cy="135157"/>
          </a:xfrm>
          <a:prstGeom prst="rect">
            <a:avLst/>
          </a:prstGeom>
          <a:gradFill>
            <a:gsLst>
              <a:gs pos="0">
                <a:srgbClr val="0E1A40"/>
              </a:gs>
              <a:gs pos="100000">
                <a:srgbClr val="2F5EB0"/>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0">
              <a:latin typeface="微软雅黑" panose="020B0503020204020204" pitchFamily="34" charset="-122"/>
              <a:ea typeface="微软雅黑" panose="020B0503020204020204" pitchFamily="34" charset="-122"/>
            </a:endParaRPr>
          </a:p>
        </p:txBody>
      </p:sp>
      <p:pic>
        <p:nvPicPr>
          <p:cNvPr id="15" name="Picture 4" descr="C:\Users\Administrator\Desktop\矢量智能对象@2x.png"/>
          <p:cNvPicPr>
            <a:picLocks noChangeAspect="1" noChangeArrowheads="1"/>
          </p:cNvPicPr>
          <p:nvPr userDrawn="1"/>
        </p:nvPicPr>
        <p:blipFill>
          <a:blip r:embed="rId2" cstate="print">
            <a:extLst>
              <a:ext uri="{28A0092B-C50C-407E-A947-70E740481C1C}">
                <a14:useLocalDpi xmlns:a14="http://schemas.microsoft.com/office/drawing/2010/main" xmlns="" val="0"/>
              </a:ext>
            </a:extLst>
          </a:blip>
          <a:srcRect/>
          <a:stretch>
            <a:fillRect/>
          </a:stretch>
        </p:blipFill>
        <p:spPr bwMode="auto">
          <a:xfrm>
            <a:off x="7622137" y="156424"/>
            <a:ext cx="586814" cy="629752"/>
          </a:xfrm>
          <a:prstGeom prst="rect">
            <a:avLst/>
          </a:prstGeom>
          <a:noFill/>
          <a:extLst>
            <a:ext uri="{909E8E84-426E-40DD-AFC4-6F175D3DCCD1}">
              <a14:hiddenFill xmlns:a14="http://schemas.microsoft.com/office/drawing/2010/main" xmlns="">
                <a:solidFill>
                  <a:srgbClr val="FFFFFF"/>
                </a:solidFill>
              </a14:hiddenFill>
            </a:ext>
          </a:extLst>
        </p:spPr>
      </p:pic>
      <p:pic>
        <p:nvPicPr>
          <p:cNvPr id="16" name="Picture 2" descr="C:\Users\Administrator\Desktop\矢量智能对象@2x.png"/>
          <p:cNvPicPr>
            <a:picLocks noChangeAspect="1" noChangeArrowheads="1"/>
          </p:cNvPicPr>
          <p:nvPr userDrawn="1"/>
        </p:nvPicPr>
        <p:blipFill>
          <a:blip r:embed="rId3" cstate="print">
            <a:extLst>
              <a:ext uri="{28A0092B-C50C-407E-A947-70E740481C1C}">
                <a14:useLocalDpi xmlns:a14="http://schemas.microsoft.com/office/drawing/2010/main" xmlns="" val="0"/>
              </a:ext>
            </a:extLst>
          </a:blip>
          <a:srcRect/>
          <a:stretch>
            <a:fillRect/>
          </a:stretch>
        </p:blipFill>
        <p:spPr bwMode="auto">
          <a:xfrm>
            <a:off x="8316416" y="195486"/>
            <a:ext cx="567619" cy="604946"/>
          </a:xfrm>
          <a:prstGeom prst="rect">
            <a:avLst/>
          </a:prstGeom>
          <a:noFill/>
          <a:extLst>
            <a:ext uri="{909E8E84-426E-40DD-AFC4-6F175D3DCCD1}">
              <a14:hiddenFill xmlns:a14="http://schemas.microsoft.com/office/drawing/2010/main" xmlns="">
                <a:solidFill>
                  <a:srgbClr val="FFFFFF"/>
                </a:solidFill>
              </a14:hiddenFill>
            </a:ext>
          </a:extLst>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83C381E9-8D8D-4B0A-AEF4-E21F930D6749}" type="datetimeFigureOut">
              <a:rPr lang="zh-CN" altLang="en-US" smtClean="0"/>
              <a:pPr/>
              <a:t>2024-07-25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2230631-B87B-4616-91ED-EDA6072C7989}" type="slidenum">
              <a:rPr lang="zh-CN" altLang="en-US" smtClean="0"/>
              <a:pPr/>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83C381E9-8D8D-4B0A-AEF4-E21F930D6749}" type="datetimeFigureOut">
              <a:rPr lang="zh-CN" altLang="en-US" smtClean="0"/>
              <a:pPr/>
              <a:t>2024-07-25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2230631-B87B-4616-91ED-EDA6072C7989}" type="slidenum">
              <a:rPr lang="zh-CN" altLang="en-US" smtClean="0"/>
              <a:pPr/>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83C381E9-8D8D-4B0A-AEF4-E21F930D6749}" type="datetimeFigureOut">
              <a:rPr lang="zh-CN" altLang="en-US" smtClean="0"/>
              <a:pPr/>
              <a:t>2024-07-25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2230631-B87B-4616-91ED-EDA6072C7989}" type="slidenum">
              <a:rPr lang="zh-CN" altLang="en-US" smtClean="0"/>
              <a:pPr/>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154781"/>
            <a:ext cx="2057400" cy="329088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154781"/>
            <a:ext cx="6019800" cy="329088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83C381E9-8D8D-4B0A-AEF4-E21F930D6749}" type="datetimeFigureOut">
              <a:rPr lang="zh-CN" altLang="en-US" smtClean="0"/>
              <a:pPr/>
              <a:t>2024-07-25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2230631-B87B-4616-91ED-EDA6072C7989}" type="slidenum">
              <a:rPr lang="zh-CN" altLang="en-US" smtClean="0"/>
              <a:pPr/>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日期占位符 2"/>
          <p:cNvSpPr>
            <a:spLocks noGrp="1"/>
          </p:cNvSpPr>
          <p:nvPr>
            <p:ph type="dt" sz="half" idx="10"/>
          </p:nvPr>
        </p:nvSpPr>
        <p:spPr/>
        <p:txBody>
          <a:bodyPr/>
          <a:lstStyle/>
          <a:p>
            <a:fld id="{5434962D-DA07-0746-B6E2-B6A62605A90C}" type="datetime1">
              <a:rPr lang="zh-CN" altLang="en-US" smtClean="0"/>
              <a:pPr/>
              <a:t>2024-07-25</a:t>
            </a:fld>
            <a:endParaRPr lang="zh-CN" altLang="en-US"/>
          </a:p>
        </p:txBody>
      </p:sp>
      <p:sp>
        <p:nvSpPr>
          <p:cNvPr id="4" name="页脚占位符 3"/>
          <p:cNvSpPr>
            <a:spLocks noGrp="1"/>
          </p:cNvSpPr>
          <p:nvPr>
            <p:ph type="ftr" sz="quarter" idx="11"/>
          </p:nvPr>
        </p:nvSpPr>
        <p:spPr/>
        <p:txBody>
          <a:bodyPr/>
          <a:lstStyle/>
          <a:p>
            <a:r>
              <a:rPr lang="en-US" altLang="zh-CN" dirty="0"/>
              <a:t>© </a:t>
            </a:r>
            <a:r>
              <a:rPr lang="zh-CN" altLang="en-US" dirty="0"/>
              <a:t>版权所有 </a:t>
            </a:r>
            <a:r>
              <a:rPr lang="en-US" altLang="zh-CN" dirty="0"/>
              <a:t>2021 </a:t>
            </a:r>
            <a:r>
              <a:rPr lang="zh-CN" altLang="en-US" dirty="0"/>
              <a:t>浙江好络维医疗技术有限公司</a:t>
            </a:r>
          </a:p>
        </p:txBody>
      </p:sp>
      <p:sp>
        <p:nvSpPr>
          <p:cNvPr id="5" name="灯片编号占位符 4"/>
          <p:cNvSpPr>
            <a:spLocks noGrp="1"/>
          </p:cNvSpPr>
          <p:nvPr>
            <p:ph type="sldNum" sz="quarter" idx="12"/>
          </p:nvPr>
        </p:nvSpPr>
        <p:spPr/>
        <p:txBody>
          <a:bodyPr/>
          <a:lstStyle/>
          <a:p>
            <a:fld id="{5DD3DB80-B894-403A-B48E-6FDC1A72010E}" type="slidenum">
              <a:rPr lang="zh-CN" altLang="en-US" smtClean="0"/>
              <a:pPr/>
              <a:t>‹#›</a:t>
            </a:fld>
            <a:endParaRPr lang="zh-CN" altLang="en-US"/>
          </a:p>
        </p:txBody>
      </p:sp>
      <p:sp>
        <p:nvSpPr>
          <p:cNvPr id="6" name="文本框 5"/>
          <p:cNvSpPr txBox="1"/>
          <p:nvPr userDrawn="1"/>
        </p:nvSpPr>
        <p:spPr>
          <a:xfrm>
            <a:off x="502444" y="978694"/>
            <a:ext cx="8357188" cy="3861197"/>
          </a:xfrm>
          <a:prstGeom prst="rect">
            <a:avLst/>
          </a:prstGeom>
          <a:noFill/>
        </p:spPr>
        <p:txBody>
          <a:bodyPr wrap="square" rtlCol="0">
            <a:noAutofit/>
          </a:bodyPr>
          <a:lstStyle/>
          <a:p>
            <a:pPr marL="214630" indent="-214630">
              <a:buFont typeface="Wingdings" panose="05000000000000000000" pitchFamily="2" charset="2"/>
              <a:buChar char="l"/>
            </a:pPr>
            <a:endParaRPr kumimoji="1" lang="en-US" altLang="zh-CN" sz="1350" dirty="0"/>
          </a:p>
          <a:p>
            <a:pPr marL="214630" indent="-214630">
              <a:buFont typeface="Wingdings" panose="05000000000000000000" pitchFamily="2" charset="2"/>
              <a:buChar char="l"/>
            </a:pPr>
            <a:endParaRPr kumimoji="1" lang="en-US" altLang="zh-CN" sz="1350" dirty="0"/>
          </a:p>
          <a:p>
            <a:pPr marL="214630" indent="-214630">
              <a:buFont typeface="Wingdings" panose="05000000000000000000" pitchFamily="2" charset="2"/>
              <a:buChar char="l"/>
            </a:pPr>
            <a:endParaRPr kumimoji="1" lang="zh-CN" altLang="en-US" sz="1350"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内容输入页面">
    <p:spTree>
      <p:nvGrpSpPr>
        <p:cNvPr id="1" name=""/>
        <p:cNvGrpSpPr/>
        <p:nvPr/>
      </p:nvGrpSpPr>
      <p:grpSpPr>
        <a:xfrm>
          <a:off x="0" y="0"/>
          <a:ext cx="0" cy="0"/>
          <a:chOff x="0" y="0"/>
          <a:chExt cx="0" cy="0"/>
        </a:xfrm>
      </p:grpSpPr>
      <p:sp>
        <p:nvSpPr>
          <p:cNvPr id="2" name="标题 1"/>
          <p:cNvSpPr>
            <a:spLocks noGrp="1"/>
          </p:cNvSpPr>
          <p:nvPr>
            <p:ph type="title"/>
          </p:nvPr>
        </p:nvSpPr>
        <p:spPr>
          <a:xfrm>
            <a:off x="628650" y="208700"/>
            <a:ext cx="7886700" cy="325041"/>
          </a:xfrm>
          <a:prstGeom prst="rect">
            <a:avLst/>
          </a:prstGeom>
        </p:spPr>
        <p:txBody>
          <a:bodyPr anchor="ctr"/>
          <a:lstStyle>
            <a:lvl1pPr>
              <a:defRPr sz="2100" b="0" i="0">
                <a:latin typeface="微软雅黑" panose="020B0503020204020204" pitchFamily="34" charset="-122"/>
                <a:ea typeface="微软雅黑" panose="020B0503020204020204" pitchFamily="34" charset="-122"/>
              </a:defRPr>
            </a:lvl1pPr>
          </a:lstStyle>
          <a:p>
            <a:r>
              <a:rPr kumimoji="1" lang="zh-CN" altLang="en-US" dirty="0"/>
              <a:t>单击此处编辑母版标题样式</a:t>
            </a:r>
          </a:p>
        </p:txBody>
      </p:sp>
      <p:sp>
        <p:nvSpPr>
          <p:cNvPr id="7" name="文本占位符 6"/>
          <p:cNvSpPr>
            <a:spLocks noGrp="1"/>
          </p:cNvSpPr>
          <p:nvPr>
            <p:ph type="body" sz="quarter" idx="10"/>
          </p:nvPr>
        </p:nvSpPr>
        <p:spPr>
          <a:xfrm>
            <a:off x="262186" y="208700"/>
            <a:ext cx="334565" cy="325041"/>
          </a:xfrm>
          <a:prstGeom prst="rect">
            <a:avLst/>
          </a:prstGeom>
        </p:spPr>
        <p:txBody>
          <a:bodyPr anchor="ctr"/>
          <a:lstStyle>
            <a:lvl1pPr marL="0" indent="0" algn="ctr">
              <a:buNone/>
              <a:defRPr sz="1350" b="0" i="0">
                <a:solidFill>
                  <a:schemeClr val="bg1"/>
                </a:solidFill>
                <a:latin typeface="微软雅黑" panose="020B0503020204020204" pitchFamily="34" charset="-122"/>
                <a:ea typeface="微软雅黑" panose="020B0503020204020204" pitchFamily="34" charset="-122"/>
              </a:defRPr>
            </a:lvl1pPr>
          </a:lstStyle>
          <a:p>
            <a:pPr lvl="0"/>
            <a:endParaRPr kumimoji="1" lang="zh-CN" alt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28650" y="1"/>
            <a:ext cx="7886700" cy="994172"/>
          </a:xfrm>
        </p:spPr>
        <p:txBody>
          <a:bodyPr/>
          <a:lstStyle/>
          <a:p>
            <a:r>
              <a:rPr lang="zh-CN" altLang="en-US"/>
              <a:t>单击此处编辑母版标题样式</a:t>
            </a:r>
          </a:p>
        </p:txBody>
      </p:sp>
      <p:pic>
        <p:nvPicPr>
          <p:cNvPr id="4" name="图片 3" descr="图片包含 游戏机, 画&#10;&#10;描述已自动生成"/>
          <p:cNvPicPr>
            <a:picLocks noChangeAspect="1"/>
          </p:cNvPicPr>
          <p:nvPr userDrawn="1"/>
        </p:nvPicPr>
        <p:blipFill>
          <a:blip r:embed="rId2" cstate="print">
            <a:duotone>
              <a:prstClr val="black"/>
              <a:schemeClr val="accent1">
                <a:tint val="45000"/>
                <a:satMod val="400000"/>
              </a:schemeClr>
            </a:duotone>
            <a:extLst>
              <a:ext uri="{28A0092B-C50C-407E-A947-70E740481C1C}">
                <a14:useLocalDpi xmlns:a14="http://schemas.microsoft.com/office/drawing/2010/main" xmlns="" val="0"/>
              </a:ext>
            </a:extLst>
          </a:blip>
          <a:stretch>
            <a:fillRect/>
          </a:stretch>
        </p:blipFill>
        <p:spPr>
          <a:xfrm>
            <a:off x="7859593" y="85980"/>
            <a:ext cx="1141532" cy="437541"/>
          </a:xfrm>
          <a:prstGeom prst="rect">
            <a:avLst/>
          </a:prstGeom>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26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28650" y="1"/>
            <a:ext cx="7886700" cy="994172"/>
          </a:xfrm>
        </p:spPr>
        <p:txBody>
          <a:bodyPr/>
          <a:lstStyle/>
          <a:p>
            <a:r>
              <a:rPr lang="zh-CN" altLang="en-US"/>
              <a:t>单击此处编辑母版标题样式</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正文">
    <p:spTree>
      <p:nvGrpSpPr>
        <p:cNvPr id="1" name=""/>
        <p:cNvGrpSpPr/>
        <p:nvPr/>
      </p:nvGrpSpPr>
      <p:grpSpPr>
        <a:xfrm>
          <a:off x="0" y="0"/>
          <a:ext cx="0" cy="0"/>
          <a:chOff x="0" y="0"/>
          <a:chExt cx="0" cy="0"/>
        </a:xfrm>
      </p:grpSpPr>
      <p:sp>
        <p:nvSpPr>
          <p:cNvPr id="2" name="标题 1"/>
          <p:cNvSpPr>
            <a:spLocks noGrp="1"/>
          </p:cNvSpPr>
          <p:nvPr>
            <p:ph type="title"/>
          </p:nvPr>
        </p:nvSpPr>
        <p:spPr>
          <a:xfrm>
            <a:off x="456621" y="1"/>
            <a:ext cx="7841699" cy="857250"/>
          </a:xfrm>
        </p:spPr>
        <p:txBody>
          <a:bodyPr>
            <a:noAutofit/>
          </a:bodyPr>
          <a:lstStyle>
            <a:lvl1pPr marL="0" algn="l" defTabSz="879475" rtl="0" eaLnBrk="1" latinLnBrk="0" hangingPunct="1">
              <a:lnSpc>
                <a:spcPts val="6075"/>
              </a:lnSpc>
              <a:defRPr lang="zh-CN" altLang="en-US" sz="2000" b="1" kern="1200" dirty="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stStyle>
          <a:p>
            <a:r>
              <a:rPr lang="zh-CN" altLang="en-US" dirty="0"/>
              <a:t>单击此处编辑母版标题样式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pPr/>
              <a:t>2024-07-25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pic>
        <p:nvPicPr>
          <p:cNvPr id="7" name="Picture 4" descr="C:\Users\Administrator\Desktop\矢量智能对象@2x.png"/>
          <p:cNvPicPr>
            <a:picLocks noChangeAspect="1" noChangeArrowheads="1"/>
          </p:cNvPicPr>
          <p:nvPr userDrawn="1"/>
        </p:nvPicPr>
        <p:blipFill>
          <a:blip r:embed="rId2" cstate="print">
            <a:extLst>
              <a:ext uri="{28A0092B-C50C-407E-A947-70E740481C1C}">
                <a14:useLocalDpi xmlns:a14="http://schemas.microsoft.com/office/drawing/2010/main" xmlns="" val="0"/>
              </a:ext>
            </a:extLst>
          </a:blip>
          <a:srcRect/>
          <a:stretch>
            <a:fillRect/>
          </a:stretch>
        </p:blipFill>
        <p:spPr bwMode="auto">
          <a:xfrm>
            <a:off x="7486566" y="267494"/>
            <a:ext cx="586814" cy="629752"/>
          </a:xfrm>
          <a:prstGeom prst="rect">
            <a:avLst/>
          </a:prstGeom>
          <a:noFill/>
          <a:extLst>
            <a:ext uri="{909E8E84-426E-40DD-AFC4-6F175D3DCCD1}">
              <a14:hiddenFill xmlns:a14="http://schemas.microsoft.com/office/drawing/2010/main" xmlns="">
                <a:solidFill>
                  <a:srgbClr val="FFFFFF"/>
                </a:solidFill>
              </a14:hiddenFill>
            </a:ext>
          </a:extLst>
        </p:spPr>
      </p:pic>
      <p:pic>
        <p:nvPicPr>
          <p:cNvPr id="8" name="Picture 2" descr="C:\Users\Administrator\Desktop\矢量智能对象@2x.png"/>
          <p:cNvPicPr>
            <a:picLocks noChangeAspect="1" noChangeArrowheads="1"/>
          </p:cNvPicPr>
          <p:nvPr userDrawn="1"/>
        </p:nvPicPr>
        <p:blipFill>
          <a:blip r:embed="rId3" cstate="print">
            <a:extLst>
              <a:ext uri="{28A0092B-C50C-407E-A947-70E740481C1C}">
                <a14:useLocalDpi xmlns:a14="http://schemas.microsoft.com/office/drawing/2010/main" xmlns="" val="0"/>
              </a:ext>
            </a:extLst>
          </a:blip>
          <a:srcRect/>
          <a:stretch>
            <a:fillRect/>
          </a:stretch>
        </p:blipFill>
        <p:spPr bwMode="auto">
          <a:xfrm>
            <a:off x="8180845" y="306556"/>
            <a:ext cx="567619" cy="604946"/>
          </a:xfrm>
          <a:prstGeom prst="rect">
            <a:avLst/>
          </a:prstGeom>
          <a:noFill/>
          <a:extLst>
            <a:ext uri="{909E8E84-426E-40DD-AFC4-6F175D3DCCD1}">
              <a14:hiddenFill xmlns:a14="http://schemas.microsoft.com/office/drawing/2010/main" xmlns="">
                <a:solidFill>
                  <a:srgbClr val="FFFFFF"/>
                </a:solidFill>
              </a14:hiddenFill>
            </a:ext>
          </a:extLst>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3C381E9-8D8D-4B0A-AEF4-E21F930D6749}" type="datetimeFigureOut">
              <a:rPr lang="zh-CN" altLang="en-US" smtClean="0"/>
              <a:pPr/>
              <a:t>2024-07-25</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22230631-B87B-4616-91ED-EDA6072C7989}" type="slidenum">
              <a:rPr lang="zh-CN" altLang="en-US" smtClean="0"/>
              <a:pPr/>
              <a:t>‹#›</a:t>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a:xfrm>
            <a:off x="3108960" y="4783455"/>
            <a:ext cx="2926080" cy="257175"/>
          </a:xfrm>
          <a:prstGeom prst="rect">
            <a:avLst/>
          </a:prstGeom>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a:xfrm>
            <a:off x="457200" y="4783455"/>
            <a:ext cx="2103120" cy="257175"/>
          </a:xfrm>
          <a:prstGeom prst="rect">
            <a:avLst/>
          </a:prstGeom>
        </p:spPr>
        <p:txBody>
          <a:bodyPr lIns="0" tIns="0" rIns="0" bIns="0"/>
          <a:lstStyle>
            <a:lvl1pPr algn="l">
              <a:defRPr>
                <a:solidFill>
                  <a:schemeClr val="tx1">
                    <a:tint val="75000"/>
                  </a:schemeClr>
                </a:solidFill>
              </a:defRPr>
            </a:lvl1pPr>
          </a:lstStyle>
          <a:p>
            <a:fld id="{1D8BD707-D9CF-40AE-B4C6-C98DA3205C09}" type="datetimeFigureOut">
              <a:rPr lang="en-US"/>
              <a:pPr/>
              <a:t>7/25/2024</a:t>
            </a:fld>
            <a:endParaRPr lang="en-US"/>
          </a:p>
        </p:txBody>
      </p:sp>
      <p:sp>
        <p:nvSpPr>
          <p:cNvPr id="4" name="Holder 4"/>
          <p:cNvSpPr>
            <a:spLocks noGrp="1"/>
          </p:cNvSpPr>
          <p:nvPr>
            <p:ph type="sldNum" sz="quarter" idx="7"/>
          </p:nvPr>
        </p:nvSpPr>
        <p:spPr>
          <a:xfrm>
            <a:off x="8819197" y="4915118"/>
            <a:ext cx="235268" cy="182403"/>
          </a:xfrm>
          <a:prstGeom prst="rect">
            <a:avLst/>
          </a:prstGeom>
        </p:spPr>
        <p:txBody>
          <a:bodyPr lIns="0" tIns="0" rIns="0" bIns="0"/>
          <a:lstStyle>
            <a:lvl1pPr>
              <a:defRPr sz="900" b="0" i="0">
                <a:solidFill>
                  <a:schemeClr val="tx1"/>
                </a:solidFill>
                <a:latin typeface="UKIJ CJK"/>
                <a:cs typeface="UKIJ CJK"/>
              </a:defRPr>
            </a:lvl1pPr>
          </a:lstStyle>
          <a:p>
            <a:pPr marL="28575">
              <a:spcBef>
                <a:spcPts val="125"/>
              </a:spcBef>
            </a:pPr>
            <a:fld id="{81D60167-4931-47E6-BA6A-407CBD079E47}" type="slidenum">
              <a:rPr lang="en-US" altLang="zh-CN" sz="975" spc="30" smtClean="0"/>
              <a:pPr marL="28575">
                <a:spcBef>
                  <a:spcPts val="125"/>
                </a:spcBef>
              </a:pPr>
              <a:t>‹#›</a:t>
            </a:fld>
            <a:endParaRPr lang="zh-CN" altLang="en-US" sz="975"/>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1_仅标题页">
    <p:spTree>
      <p:nvGrpSpPr>
        <p:cNvPr id="1" name=""/>
        <p:cNvGrpSpPr/>
        <p:nvPr/>
      </p:nvGrpSpPr>
      <p:grpSpPr>
        <a:xfrm>
          <a:off x="0" y="0"/>
          <a:ext cx="0" cy="0"/>
          <a:chOff x="0" y="0"/>
          <a:chExt cx="0" cy="0"/>
        </a:xfrm>
      </p:grpSpPr>
      <p:pic>
        <p:nvPicPr>
          <p:cNvPr id="2" name="Picture 4" descr="C:\Users\Administrator\Desktop\矢量智能对象@2x.png"/>
          <p:cNvPicPr>
            <a:picLocks noChangeAspect="1" noChangeArrowheads="1"/>
          </p:cNvPicPr>
          <p:nvPr userDrawn="1"/>
        </p:nvPicPr>
        <p:blipFill>
          <a:blip r:embed="rId2" cstate="print">
            <a:extLst>
              <a:ext uri="{28A0092B-C50C-407E-A947-70E740481C1C}">
                <a14:useLocalDpi xmlns:a14="http://schemas.microsoft.com/office/drawing/2010/main" xmlns="" val="0"/>
              </a:ext>
            </a:extLst>
          </a:blip>
          <a:srcRect/>
          <a:stretch>
            <a:fillRect/>
          </a:stretch>
        </p:blipFill>
        <p:spPr bwMode="auto">
          <a:xfrm>
            <a:off x="7486566" y="123478"/>
            <a:ext cx="586814" cy="629752"/>
          </a:xfrm>
          <a:prstGeom prst="rect">
            <a:avLst/>
          </a:prstGeom>
          <a:noFill/>
          <a:extLst>
            <a:ext uri="{909E8E84-426E-40DD-AFC4-6F175D3DCCD1}">
              <a14:hiddenFill xmlns:a14="http://schemas.microsoft.com/office/drawing/2010/main" xmlns="">
                <a:solidFill>
                  <a:srgbClr val="FFFFFF"/>
                </a:solidFill>
              </a14:hiddenFill>
            </a:ext>
          </a:extLst>
        </p:spPr>
      </p:pic>
      <p:pic>
        <p:nvPicPr>
          <p:cNvPr id="3" name="Picture 2" descr="C:\Users\Administrator\Desktop\矢量智能对象@2x.png"/>
          <p:cNvPicPr>
            <a:picLocks noChangeAspect="1" noChangeArrowheads="1"/>
          </p:cNvPicPr>
          <p:nvPr userDrawn="1"/>
        </p:nvPicPr>
        <p:blipFill>
          <a:blip r:embed="rId3" cstate="print">
            <a:extLst>
              <a:ext uri="{28A0092B-C50C-407E-A947-70E740481C1C}">
                <a14:useLocalDpi xmlns:a14="http://schemas.microsoft.com/office/drawing/2010/main" xmlns="" val="0"/>
              </a:ext>
            </a:extLst>
          </a:blip>
          <a:srcRect/>
          <a:stretch>
            <a:fillRect/>
          </a:stretch>
        </p:blipFill>
        <p:spPr bwMode="auto">
          <a:xfrm>
            <a:off x="8180845" y="162540"/>
            <a:ext cx="567619" cy="604946"/>
          </a:xfrm>
          <a:prstGeom prst="rect">
            <a:avLst/>
          </a:prstGeom>
          <a:noFill/>
          <a:extLst>
            <a:ext uri="{909E8E84-426E-40DD-AFC4-6F175D3DCCD1}">
              <a14:hiddenFill xmlns:a14="http://schemas.microsoft.com/office/drawing/2010/main" xmlns="">
                <a:solidFill>
                  <a:srgbClr val="FFFFFF"/>
                </a:solidFill>
              </a14:hiddenFill>
            </a:ext>
          </a:extLst>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TxTwoObj" preserve="1">
  <p:cSld name="标题和副标题">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456300" y="456300"/>
            <a:ext cx="8226900" cy="529200"/>
          </a:xfrm>
        </p:spPr>
        <p:txBody>
          <a:bodyPr vert="horz" lIns="90000" tIns="46800" rIns="90000" bIns="46800" rtlCol="0" anchor="ctr" anchorCtr="0">
            <a:normAutofit/>
          </a:bodyPr>
          <a:lstStyle/>
          <a:p>
            <a:pPr lvl="0"/>
            <a:r>
              <a:rPr lang="zh-CN" altLang="en-US"/>
              <a:t>单击此处编辑母版标题样式</a:t>
            </a:r>
          </a:p>
        </p:txBody>
      </p:sp>
      <p:sp>
        <p:nvSpPr>
          <p:cNvPr id="3" name="文本占位符 2"/>
          <p:cNvSpPr>
            <a:spLocks noGrp="1"/>
          </p:cNvSpPr>
          <p:nvPr>
            <p:ph type="body" idx="1" hasCustomPrompt="1"/>
            <p:custDataLst>
              <p:tags r:id="rId2"/>
            </p:custDataLst>
          </p:nvPr>
        </p:nvSpPr>
        <p:spPr>
          <a:xfrm>
            <a:off x="456248" y="1072039"/>
            <a:ext cx="8226266" cy="286226"/>
          </a:xfrm>
        </p:spPr>
        <p:txBody>
          <a:bodyPr lIns="101600" tIns="38100" rIns="76200" bIns="38100" anchor="t" anchorCtr="0">
            <a:normAutofit/>
          </a:bodyPr>
          <a:lstStyle>
            <a:lvl1pPr marL="0" indent="0">
              <a:lnSpc>
                <a:spcPct val="100000"/>
              </a:lnSpc>
              <a:buNone/>
              <a:defRPr sz="1500" b="1" spc="200">
                <a:solidFill>
                  <a:schemeClr val="tx1">
                    <a:lumMod val="75000"/>
                    <a:lumOff val="25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dirty="0"/>
              <a:t>单击此处编辑副标题</a:t>
            </a:r>
            <a:endParaRPr lang="en-US" altLang="zh-CN" dirty="0"/>
          </a:p>
        </p:txBody>
      </p:sp>
      <p:sp>
        <p:nvSpPr>
          <p:cNvPr id="7" name="日期占位符 6"/>
          <p:cNvSpPr>
            <a:spLocks noGrp="1"/>
          </p:cNvSpPr>
          <p:nvPr>
            <p:ph type="dt" sz="half" idx="10"/>
            <p:custDataLst>
              <p:tags r:id="rId3"/>
            </p:custDataLst>
          </p:nvPr>
        </p:nvSpPr>
        <p:spPr/>
        <p:txBody>
          <a:bodyPr/>
          <a:lstStyle/>
          <a:p>
            <a:fld id="{760FBDFE-C587-4B4C-A407-44438C67B59E}" type="datetimeFigureOut">
              <a:rPr lang="zh-CN" altLang="en-US" smtClean="0"/>
              <a:pPr/>
              <a:t>2024-07-25</a:t>
            </a:fld>
            <a:endParaRPr lang="zh-CN" altLang="en-US"/>
          </a:p>
        </p:txBody>
      </p:sp>
      <p:sp>
        <p:nvSpPr>
          <p:cNvPr id="8" name="页脚占位符 7"/>
          <p:cNvSpPr>
            <a:spLocks noGrp="1"/>
          </p:cNvSpPr>
          <p:nvPr>
            <p:ph type="ftr" sz="quarter" idx="11"/>
            <p:custDataLst>
              <p:tags r:id="rId4"/>
            </p:custDataLst>
          </p:nvPr>
        </p:nvSpPr>
        <p:spPr/>
        <p:txBody>
          <a:bodyPr/>
          <a:lstStyle/>
          <a:p>
            <a:endParaRPr lang="zh-CN" altLang="en-US"/>
          </a:p>
        </p:txBody>
      </p:sp>
      <p:sp>
        <p:nvSpPr>
          <p:cNvPr id="9" name="灯片编号占位符 8"/>
          <p:cNvSpPr>
            <a:spLocks noGrp="1"/>
          </p:cNvSpPr>
          <p:nvPr>
            <p:ph type="sldNum" sz="quarter" idx="12"/>
            <p:custDataLst>
              <p:tags r:id="rId5"/>
            </p:custDataLst>
          </p:nvPr>
        </p:nvSpPr>
        <p:spPr/>
        <p:txBody>
          <a:bodyPr/>
          <a:lstStyle/>
          <a:p>
            <a:fld id="{49AE70B2-8BF9-45C0-BB95-33D1B9D3A854}" type="slidenum">
              <a:rPr lang="zh-CN" altLang="en-US" smtClean="0"/>
              <a:pPr/>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83C381E9-8D8D-4B0A-AEF4-E21F930D6749}" type="datetimeFigureOut">
              <a:rPr lang="zh-CN" altLang="en-US" smtClean="0"/>
              <a:pPr/>
              <a:t>2024-07-25</a:t>
            </a:fld>
            <a:endParaRPr lang="zh-CN" altLang="en-US"/>
          </a:p>
        </p:txBody>
      </p:sp>
      <p:sp>
        <p:nvSpPr>
          <p:cNvPr id="5" name="页脚占位符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22230631-B87B-4616-91ED-EDA6072C7989}"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vmlDrawing" Target="../drawings/vmlDrawing1.vml"/><Relationship Id="rId6" Type="http://schemas.openxmlformats.org/officeDocument/2006/relationships/image" Target="../media/image6.png"/><Relationship Id="rId5" Type="http://schemas.openxmlformats.org/officeDocument/2006/relationships/oleObject" Target="../embeddings/oleObject1.bin"/><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8" Type="http://schemas.openxmlformats.org/officeDocument/2006/relationships/tags" Target="../tags/tag14.xml"/><Relationship Id="rId3" Type="http://schemas.openxmlformats.org/officeDocument/2006/relationships/tags" Target="../tags/tag9.xml"/><Relationship Id="rId7" Type="http://schemas.openxmlformats.org/officeDocument/2006/relationships/tags" Target="../tags/tag13.xml"/><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tags" Target="../tags/tag12.xml"/><Relationship Id="rId5" Type="http://schemas.openxmlformats.org/officeDocument/2006/relationships/tags" Target="../tags/tag11.xml"/><Relationship Id="rId10" Type="http://schemas.openxmlformats.org/officeDocument/2006/relationships/image" Target="../media/image7.png"/><Relationship Id="rId4" Type="http://schemas.openxmlformats.org/officeDocument/2006/relationships/tags" Target="../tags/tag10.xml"/><Relationship Id="rId9"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6.xml"/><Relationship Id="rId1" Type="http://schemas.openxmlformats.org/officeDocument/2006/relationships/slideLayout" Target="../slideLayouts/slideLayout16.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jpeg"/><Relationship Id="rId1" Type="http://schemas.openxmlformats.org/officeDocument/2006/relationships/slideLayout" Target="../slideLayouts/slideLayout16.xml"/><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8" Type="http://schemas.openxmlformats.org/officeDocument/2006/relationships/image" Target="../media/image23.png"/><Relationship Id="rId13" Type="http://schemas.openxmlformats.org/officeDocument/2006/relationships/image" Target="../media/image28.png"/><Relationship Id="rId18" Type="http://schemas.openxmlformats.org/officeDocument/2006/relationships/image" Target="../media/image33.png"/><Relationship Id="rId3" Type="http://schemas.openxmlformats.org/officeDocument/2006/relationships/image" Target="../media/image18.png"/><Relationship Id="rId7" Type="http://schemas.openxmlformats.org/officeDocument/2006/relationships/image" Target="../media/image22.png"/><Relationship Id="rId12" Type="http://schemas.openxmlformats.org/officeDocument/2006/relationships/image" Target="../media/image27.png"/><Relationship Id="rId17" Type="http://schemas.openxmlformats.org/officeDocument/2006/relationships/image" Target="../media/image32.png"/><Relationship Id="rId2" Type="http://schemas.openxmlformats.org/officeDocument/2006/relationships/image" Target="../media/image17.png"/><Relationship Id="rId16" Type="http://schemas.openxmlformats.org/officeDocument/2006/relationships/image" Target="../media/image31.png"/><Relationship Id="rId1" Type="http://schemas.openxmlformats.org/officeDocument/2006/relationships/slideLayout" Target="../slideLayouts/slideLayout7.xml"/><Relationship Id="rId6" Type="http://schemas.openxmlformats.org/officeDocument/2006/relationships/image" Target="../media/image21.png"/><Relationship Id="rId11" Type="http://schemas.openxmlformats.org/officeDocument/2006/relationships/image" Target="../media/image26.png"/><Relationship Id="rId5" Type="http://schemas.openxmlformats.org/officeDocument/2006/relationships/image" Target="../media/image20.png"/><Relationship Id="rId15" Type="http://schemas.openxmlformats.org/officeDocument/2006/relationships/image" Target="../media/image30.png"/><Relationship Id="rId10" Type="http://schemas.openxmlformats.org/officeDocument/2006/relationships/image" Target="../media/image25.png"/><Relationship Id="rId4" Type="http://schemas.openxmlformats.org/officeDocument/2006/relationships/image" Target="../media/image19.png"/><Relationship Id="rId9" Type="http://schemas.openxmlformats.org/officeDocument/2006/relationships/image" Target="../media/image24.png"/><Relationship Id="rId14" Type="http://schemas.openxmlformats.org/officeDocument/2006/relationships/image" Target="../media/image29.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8.xml"/><Relationship Id="rId1" Type="http://schemas.openxmlformats.org/officeDocument/2006/relationships/slideLayout" Target="../slideLayouts/slideLayout16.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4.xml.rels><?xml version="1.0" encoding="UTF-8" standalone="yes"?>
<Relationships xmlns="http://schemas.openxmlformats.org/package/2006/relationships"><Relationship Id="rId8" Type="http://schemas.openxmlformats.org/officeDocument/2006/relationships/tags" Target="../tags/tag22.xml"/><Relationship Id="rId13" Type="http://schemas.openxmlformats.org/officeDocument/2006/relationships/tags" Target="../tags/tag27.xml"/><Relationship Id="rId18" Type="http://schemas.openxmlformats.org/officeDocument/2006/relationships/tags" Target="../tags/tag32.xml"/><Relationship Id="rId26" Type="http://schemas.openxmlformats.org/officeDocument/2006/relationships/tags" Target="../tags/tag40.xml"/><Relationship Id="rId39" Type="http://schemas.openxmlformats.org/officeDocument/2006/relationships/image" Target="../media/image37.png"/><Relationship Id="rId3" Type="http://schemas.openxmlformats.org/officeDocument/2006/relationships/tags" Target="../tags/tag17.xml"/><Relationship Id="rId21" Type="http://schemas.openxmlformats.org/officeDocument/2006/relationships/tags" Target="../tags/tag35.xml"/><Relationship Id="rId34" Type="http://schemas.openxmlformats.org/officeDocument/2006/relationships/tags" Target="../tags/tag48.xml"/><Relationship Id="rId42" Type="http://schemas.openxmlformats.org/officeDocument/2006/relationships/image" Target="../media/image39.png"/><Relationship Id="rId7" Type="http://schemas.openxmlformats.org/officeDocument/2006/relationships/tags" Target="../tags/tag21.xml"/><Relationship Id="rId12" Type="http://schemas.openxmlformats.org/officeDocument/2006/relationships/tags" Target="../tags/tag26.xml"/><Relationship Id="rId17" Type="http://schemas.openxmlformats.org/officeDocument/2006/relationships/tags" Target="../tags/tag31.xml"/><Relationship Id="rId25" Type="http://schemas.openxmlformats.org/officeDocument/2006/relationships/tags" Target="../tags/tag39.xml"/><Relationship Id="rId33" Type="http://schemas.openxmlformats.org/officeDocument/2006/relationships/tags" Target="../tags/tag47.xml"/><Relationship Id="rId38" Type="http://schemas.openxmlformats.org/officeDocument/2006/relationships/image" Target="../media/image36.png"/><Relationship Id="rId2" Type="http://schemas.openxmlformats.org/officeDocument/2006/relationships/tags" Target="../tags/tag16.xml"/><Relationship Id="rId16" Type="http://schemas.openxmlformats.org/officeDocument/2006/relationships/tags" Target="../tags/tag30.xml"/><Relationship Id="rId20" Type="http://schemas.openxmlformats.org/officeDocument/2006/relationships/tags" Target="../tags/tag34.xml"/><Relationship Id="rId29" Type="http://schemas.openxmlformats.org/officeDocument/2006/relationships/tags" Target="../tags/tag43.xml"/><Relationship Id="rId41" Type="http://schemas.openxmlformats.org/officeDocument/2006/relationships/image" Target="../media/image38.png"/><Relationship Id="rId1" Type="http://schemas.openxmlformats.org/officeDocument/2006/relationships/tags" Target="../tags/tag15.xml"/><Relationship Id="rId6" Type="http://schemas.openxmlformats.org/officeDocument/2006/relationships/tags" Target="../tags/tag20.xml"/><Relationship Id="rId11" Type="http://schemas.openxmlformats.org/officeDocument/2006/relationships/tags" Target="../tags/tag25.xml"/><Relationship Id="rId24" Type="http://schemas.openxmlformats.org/officeDocument/2006/relationships/tags" Target="../tags/tag38.xml"/><Relationship Id="rId32" Type="http://schemas.openxmlformats.org/officeDocument/2006/relationships/tags" Target="../tags/tag46.xml"/><Relationship Id="rId37" Type="http://schemas.openxmlformats.org/officeDocument/2006/relationships/image" Target="../media/image35.png"/><Relationship Id="rId40" Type="http://schemas.openxmlformats.org/officeDocument/2006/relationships/hyperlink" Target="http://www.td-tech.com/" TargetMode="External"/><Relationship Id="rId5" Type="http://schemas.openxmlformats.org/officeDocument/2006/relationships/tags" Target="../tags/tag19.xml"/><Relationship Id="rId15" Type="http://schemas.openxmlformats.org/officeDocument/2006/relationships/tags" Target="../tags/tag29.xml"/><Relationship Id="rId23" Type="http://schemas.openxmlformats.org/officeDocument/2006/relationships/tags" Target="../tags/tag37.xml"/><Relationship Id="rId28" Type="http://schemas.openxmlformats.org/officeDocument/2006/relationships/tags" Target="../tags/tag42.xml"/><Relationship Id="rId36" Type="http://schemas.openxmlformats.org/officeDocument/2006/relationships/image" Target="../media/image34.png"/><Relationship Id="rId10" Type="http://schemas.openxmlformats.org/officeDocument/2006/relationships/tags" Target="../tags/tag24.xml"/><Relationship Id="rId19" Type="http://schemas.openxmlformats.org/officeDocument/2006/relationships/tags" Target="../tags/tag33.xml"/><Relationship Id="rId31" Type="http://schemas.openxmlformats.org/officeDocument/2006/relationships/tags" Target="../tags/tag45.xml"/><Relationship Id="rId4" Type="http://schemas.openxmlformats.org/officeDocument/2006/relationships/tags" Target="../tags/tag18.xml"/><Relationship Id="rId9" Type="http://schemas.openxmlformats.org/officeDocument/2006/relationships/tags" Target="../tags/tag23.xml"/><Relationship Id="rId14" Type="http://schemas.openxmlformats.org/officeDocument/2006/relationships/tags" Target="../tags/tag28.xml"/><Relationship Id="rId22" Type="http://schemas.openxmlformats.org/officeDocument/2006/relationships/tags" Target="../tags/tag36.xml"/><Relationship Id="rId27" Type="http://schemas.openxmlformats.org/officeDocument/2006/relationships/tags" Target="../tags/tag41.xml"/><Relationship Id="rId30" Type="http://schemas.openxmlformats.org/officeDocument/2006/relationships/tags" Target="../tags/tag44.xml"/><Relationship Id="rId35" Type="http://schemas.openxmlformats.org/officeDocument/2006/relationships/slideLayout" Target="../slideLayouts/slideLayout16.xml"/></Relationships>
</file>

<file path=ppt/slides/_rels/slide1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16.xml"/><Relationship Id="rId5" Type="http://schemas.openxmlformats.org/officeDocument/2006/relationships/image" Target="../media/image43.png"/><Relationship Id="rId4" Type="http://schemas.openxmlformats.org/officeDocument/2006/relationships/image" Target="../media/image4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7.xml.rels><?xml version="1.0" encoding="UTF-8" standalone="yes"?>
<Relationships xmlns="http://schemas.openxmlformats.org/package/2006/relationships"><Relationship Id="rId8" Type="http://schemas.openxmlformats.org/officeDocument/2006/relationships/image" Target="../media/image47.png"/><Relationship Id="rId3" Type="http://schemas.openxmlformats.org/officeDocument/2006/relationships/image" Target="../media/image44.png"/><Relationship Id="rId7" Type="http://schemas.openxmlformats.org/officeDocument/2006/relationships/image" Target="../media/image46.jpe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microsoft.com/office/2007/relationships/hdphoto" Target="../media/image47.wdp"/><Relationship Id="rId5" Type="http://schemas.openxmlformats.org/officeDocument/2006/relationships/image" Target="../media/image45.png"/><Relationship Id="rId4" Type="http://schemas.microsoft.com/office/2007/relationships/hdphoto" Target="../media/image45.wdp"/><Relationship Id="rId9" Type="http://schemas.microsoft.com/office/2007/relationships/hdphoto" Target="../media/image50.wdp"/></Relationships>
</file>

<file path=ppt/slides/_rels/slide18.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10.xml"/><Relationship Id="rId1" Type="http://schemas.openxmlformats.org/officeDocument/2006/relationships/slideLayout" Target="../slideLayouts/slideLayout16.xm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16.xml"/><Relationship Id="rId2" Type="http://schemas.openxmlformats.org/officeDocument/2006/relationships/tags" Target="../tags/tag50.xml"/><Relationship Id="rId1" Type="http://schemas.openxmlformats.org/officeDocument/2006/relationships/tags" Target="../tags/tag49.xml"/><Relationship Id="rId5" Type="http://schemas.openxmlformats.org/officeDocument/2006/relationships/image" Target="../media/image50.png"/><Relationship Id="rId4" Type="http://schemas.openxmlformats.org/officeDocument/2006/relationships/image" Target="../media/image49.png"/></Relationships>
</file>

<file path=ppt/slides/_rels/slide20.xml.rels><?xml version="1.0" encoding="UTF-8" standalone="yes"?>
<Relationships xmlns="http://schemas.openxmlformats.org/package/2006/relationships"><Relationship Id="rId8" Type="http://schemas.openxmlformats.org/officeDocument/2006/relationships/image" Target="../media/image54.png"/><Relationship Id="rId13" Type="http://schemas.openxmlformats.org/officeDocument/2006/relationships/image" Target="../media/image58.png"/><Relationship Id="rId3" Type="http://schemas.openxmlformats.org/officeDocument/2006/relationships/notesSlide" Target="../notesSlides/notesSlide11.xml"/><Relationship Id="rId7" Type="http://schemas.microsoft.com/office/2007/relationships/hdphoto" Target="../media/image57.wdp"/><Relationship Id="rId12" Type="http://schemas.openxmlformats.org/officeDocument/2006/relationships/image" Target="../media/image57.png"/><Relationship Id="rId2" Type="http://schemas.openxmlformats.org/officeDocument/2006/relationships/slideLayout" Target="../slideLayouts/slideLayout16.xml"/><Relationship Id="rId1" Type="http://schemas.openxmlformats.org/officeDocument/2006/relationships/tags" Target="../tags/tag51.xml"/><Relationship Id="rId6" Type="http://schemas.openxmlformats.org/officeDocument/2006/relationships/image" Target="../media/image53.png"/><Relationship Id="rId11" Type="http://schemas.openxmlformats.org/officeDocument/2006/relationships/image" Target="../media/image56.png"/><Relationship Id="rId5" Type="http://schemas.openxmlformats.org/officeDocument/2006/relationships/image" Target="../media/image52.png"/><Relationship Id="rId10" Type="http://schemas.openxmlformats.org/officeDocument/2006/relationships/image" Target="../media/image55.png"/><Relationship Id="rId4" Type="http://schemas.openxmlformats.org/officeDocument/2006/relationships/image" Target="../media/image51.png"/><Relationship Id="rId9" Type="http://schemas.openxmlformats.org/officeDocument/2006/relationships/image" Target="../media/image4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61.png"/><Relationship Id="rId7" Type="http://schemas.openxmlformats.org/officeDocument/2006/relationships/image" Target="../media/image63.png"/><Relationship Id="rId2" Type="http://schemas.openxmlformats.org/officeDocument/2006/relationships/notesSlide" Target="../notesSlides/notesSlide17.xml"/><Relationship Id="rId1" Type="http://schemas.openxmlformats.org/officeDocument/2006/relationships/slideLayout" Target="../slideLayouts/slideLayout7.xml"/><Relationship Id="rId6" Type="http://schemas.microsoft.com/office/2007/relationships/hdphoto" Target="../media/image68.wdp"/><Relationship Id="rId5" Type="http://schemas.openxmlformats.org/officeDocument/2006/relationships/image" Target="../media/image62.png"/><Relationship Id="rId4" Type="http://schemas.microsoft.com/office/2007/relationships/hdphoto" Target="../media/image66.wdp"/></Relationships>
</file>

<file path=ppt/slides/_rels/slide29.xml.rels><?xml version="1.0" encoding="UTF-8" standalone="yes"?>
<Relationships xmlns="http://schemas.openxmlformats.org/package/2006/relationships"><Relationship Id="rId3" Type="http://schemas.openxmlformats.org/officeDocument/2006/relationships/image" Target="../media/image64.jpeg"/><Relationship Id="rId2" Type="http://schemas.openxmlformats.org/officeDocument/2006/relationships/notesSlide" Target="../notesSlides/notesSlide18.xml"/><Relationship Id="rId1" Type="http://schemas.openxmlformats.org/officeDocument/2006/relationships/slideLayout" Target="../slideLayouts/slideLayout7.xml"/><Relationship Id="rId5" Type="http://schemas.openxmlformats.org/officeDocument/2006/relationships/image" Target="../media/image66.png"/><Relationship Id="rId4" Type="http://schemas.openxmlformats.org/officeDocument/2006/relationships/image" Target="../media/image65.png"/></Relationships>
</file>

<file path=ppt/slides/_rels/slide30.xml.rels><?xml version="1.0" encoding="UTF-8" standalone="yes"?>
<Relationships xmlns="http://schemas.openxmlformats.org/package/2006/relationships"><Relationship Id="rId8" Type="http://schemas.microsoft.com/office/2007/relationships/hdphoto" Target="../media/image78.wdp"/><Relationship Id="rId13" Type="http://schemas.openxmlformats.org/officeDocument/2006/relationships/image" Target="../media/image73.png"/><Relationship Id="rId3" Type="http://schemas.openxmlformats.org/officeDocument/2006/relationships/image" Target="../media/image67.png"/><Relationship Id="rId7" Type="http://schemas.openxmlformats.org/officeDocument/2006/relationships/image" Target="../media/image69.png"/><Relationship Id="rId12" Type="http://schemas.openxmlformats.org/officeDocument/2006/relationships/image" Target="../media/image72.png"/><Relationship Id="rId2" Type="http://schemas.openxmlformats.org/officeDocument/2006/relationships/notesSlide" Target="../notesSlides/notesSlide19.xml"/><Relationship Id="rId1" Type="http://schemas.openxmlformats.org/officeDocument/2006/relationships/slideLayout" Target="../slideLayouts/slideLayout7.xml"/><Relationship Id="rId6" Type="http://schemas.microsoft.com/office/2007/relationships/hdphoto" Target="../media/image76.wdp"/><Relationship Id="rId11" Type="http://schemas.openxmlformats.org/officeDocument/2006/relationships/image" Target="../media/image71.png"/><Relationship Id="rId5" Type="http://schemas.openxmlformats.org/officeDocument/2006/relationships/image" Target="../media/image68.png"/><Relationship Id="rId10" Type="http://schemas.microsoft.com/office/2007/relationships/hdphoto" Target="../media/image80.wdp"/><Relationship Id="rId4" Type="http://schemas.microsoft.com/office/2007/relationships/hdphoto" Target="../media/image74.wdp"/><Relationship Id="rId9" Type="http://schemas.openxmlformats.org/officeDocument/2006/relationships/image" Target="../media/image70.png"/><Relationship Id="rId14" Type="http://schemas.openxmlformats.org/officeDocument/2006/relationships/image" Target="../media/image74.png"/></Relationships>
</file>

<file path=ppt/slides/_rels/slide31.xml.rels><?xml version="1.0" encoding="UTF-8" standalone="yes"?>
<Relationships xmlns="http://schemas.openxmlformats.org/package/2006/relationships"><Relationship Id="rId3" Type="http://schemas.openxmlformats.org/officeDocument/2006/relationships/image" Target="../media/image75.jpeg"/><Relationship Id="rId2" Type="http://schemas.openxmlformats.org/officeDocument/2006/relationships/notesSlide" Target="../notesSlides/notesSlide20.xml"/><Relationship Id="rId1" Type="http://schemas.openxmlformats.org/officeDocument/2006/relationships/slideLayout" Target="../slideLayouts/slideLayout7.xml"/><Relationship Id="rId6" Type="http://schemas.openxmlformats.org/officeDocument/2006/relationships/image" Target="../media/image78.png"/><Relationship Id="rId5" Type="http://schemas.openxmlformats.org/officeDocument/2006/relationships/image" Target="../media/image77.png"/><Relationship Id="rId4" Type="http://schemas.openxmlformats.org/officeDocument/2006/relationships/image" Target="../media/image76.png"/></Relationships>
</file>

<file path=ppt/slides/_rels/slide32.xml.rels><?xml version="1.0" encoding="UTF-8" standalone="yes"?>
<Relationships xmlns="http://schemas.openxmlformats.org/package/2006/relationships"><Relationship Id="rId8" Type="http://schemas.openxmlformats.org/officeDocument/2006/relationships/image" Target="../media/image82.png"/><Relationship Id="rId3" Type="http://schemas.openxmlformats.org/officeDocument/2006/relationships/image" Target="../media/image79.png"/><Relationship Id="rId7" Type="http://schemas.microsoft.com/office/2007/relationships/hdphoto" Target="../media/image93.wdp"/><Relationship Id="rId2" Type="http://schemas.openxmlformats.org/officeDocument/2006/relationships/notesSlide" Target="../notesSlides/notesSlide21.xml"/><Relationship Id="rId1" Type="http://schemas.openxmlformats.org/officeDocument/2006/relationships/slideLayout" Target="../slideLayouts/slideLayout7.xml"/><Relationship Id="rId6" Type="http://schemas.openxmlformats.org/officeDocument/2006/relationships/image" Target="../media/image81.png"/><Relationship Id="rId5" Type="http://schemas.microsoft.com/office/2007/relationships/hdphoto" Target="../media/image91.wdp"/><Relationship Id="rId4" Type="http://schemas.openxmlformats.org/officeDocument/2006/relationships/image" Target="../media/image80.png"/></Relationships>
</file>

<file path=ppt/slides/_rels/slide33.xml.rels><?xml version="1.0" encoding="UTF-8" standalone="yes"?>
<Relationships xmlns="http://schemas.openxmlformats.org/package/2006/relationships"><Relationship Id="rId8" Type="http://schemas.openxmlformats.org/officeDocument/2006/relationships/image" Target="../media/image88.png"/><Relationship Id="rId3" Type="http://schemas.openxmlformats.org/officeDocument/2006/relationships/image" Target="../media/image83.png"/><Relationship Id="rId7" Type="http://schemas.openxmlformats.org/officeDocument/2006/relationships/image" Target="../media/image87.png"/><Relationship Id="rId2" Type="http://schemas.openxmlformats.org/officeDocument/2006/relationships/notesSlide" Target="../notesSlides/notesSlide22.xml"/><Relationship Id="rId1" Type="http://schemas.openxmlformats.org/officeDocument/2006/relationships/slideLayout" Target="../slideLayouts/slideLayout7.xml"/><Relationship Id="rId6" Type="http://schemas.openxmlformats.org/officeDocument/2006/relationships/image" Target="../media/image86.png"/><Relationship Id="rId11" Type="http://schemas.openxmlformats.org/officeDocument/2006/relationships/image" Target="../media/image91.png"/><Relationship Id="rId5" Type="http://schemas.openxmlformats.org/officeDocument/2006/relationships/image" Target="../media/image85.png"/><Relationship Id="rId10" Type="http://schemas.openxmlformats.org/officeDocument/2006/relationships/image" Target="../media/image90.png"/><Relationship Id="rId4" Type="http://schemas.openxmlformats.org/officeDocument/2006/relationships/image" Target="../media/image84.png"/><Relationship Id="rId9" Type="http://schemas.openxmlformats.org/officeDocument/2006/relationships/image" Target="../media/image89.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notesSlide" Target="../notesSlides/notesSlide23.xml"/><Relationship Id="rId1" Type="http://schemas.openxmlformats.org/officeDocument/2006/relationships/slideLayout" Target="../slideLayouts/slideLayout7.xml"/><Relationship Id="rId5" Type="http://schemas.openxmlformats.org/officeDocument/2006/relationships/image" Target="../media/image94.png"/><Relationship Id="rId4" Type="http://schemas.openxmlformats.org/officeDocument/2006/relationships/image" Target="../media/image93.png"/></Relationships>
</file>

<file path=ppt/slides/_rels/slide36.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Layout" Target="../slideLayouts/slideLayout12.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70" name="Picture 22" descr="C:\Users\Administrator\Desktop\矢量智能对象@2x.png"/>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1625010" y="1059582"/>
            <a:ext cx="5843180" cy="2906037"/>
          </a:xfrm>
          <a:prstGeom prst="rect">
            <a:avLst/>
          </a:prstGeom>
          <a:noFill/>
          <a:extLst>
            <a:ext uri="{909E8E84-426E-40DD-AFC4-6F175D3DCCD1}">
              <a14:hiddenFill xmlns:a14="http://schemas.microsoft.com/office/drawing/2010/main" xmlns="">
                <a:solidFill>
                  <a:srgbClr val="FFFFFF"/>
                </a:solidFill>
              </a14:hiddenFill>
            </a:ext>
          </a:extLst>
        </p:spPr>
      </p:pic>
      <p:graphicFrame>
        <p:nvGraphicFramePr>
          <p:cNvPr id="5" name="对象 4" hidden="1"/>
          <p:cNvGraphicFramePr>
            <a:graphicFrameLocks noChangeAspect="1"/>
          </p:cNvGraphicFramePr>
          <p:nvPr/>
        </p:nvGraphicFramePr>
        <p:xfrm>
          <a:off x="1588" y="1588"/>
          <a:ext cx="1227" cy="1588"/>
        </p:xfrm>
        <a:graphic>
          <a:graphicData uri="http://schemas.openxmlformats.org/presentationml/2006/ole">
            <p:oleObj spid="_x0000_s1025" name="think-cell 幻灯片" r:id="rId5" imgW="7761960" imgH="10047960" progId="">
              <p:embed/>
            </p:oleObj>
          </a:graphicData>
        </a:graphic>
      </p:graphicFrame>
      <p:sp>
        <p:nvSpPr>
          <p:cNvPr id="3" name="Rectangle 6"/>
          <p:cNvSpPr/>
          <p:nvPr/>
        </p:nvSpPr>
        <p:spPr>
          <a:xfrm>
            <a:off x="2778467" y="4259049"/>
            <a:ext cx="3701655" cy="276999"/>
          </a:xfrm>
          <a:prstGeom prst="rect">
            <a:avLst/>
          </a:prstGeom>
        </p:spPr>
        <p:txBody>
          <a:bodyPr wrap="none">
            <a:spAutoFit/>
          </a:bodyPr>
          <a:lstStyle/>
          <a:p>
            <a:pPr algn="ctr"/>
            <a:r>
              <a:rPr lang="zh-CN" altLang="en-US" sz="1200" dirty="0" smtClean="0">
                <a:solidFill>
                  <a:schemeClr val="tx1">
                    <a:lumMod val="65000"/>
                    <a:lumOff val="35000"/>
                  </a:schemeClr>
                </a:solidFill>
                <a:latin typeface="微软雅黑" panose="020B0503020204020204" pitchFamily="34" charset="-122"/>
                <a:ea typeface="微软雅黑" panose="020B0503020204020204" pitchFamily="34" charset="-122"/>
                <a:cs typeface="Open Sans" panose="020B0606030504020204" pitchFamily="34" charset="0"/>
              </a:rPr>
              <a:t>浙江好络维医疗技术有限公司 </a:t>
            </a:r>
            <a:r>
              <a:rPr lang="en-US" altLang="zh-CN" sz="1200" dirty="0" smtClean="0">
                <a:solidFill>
                  <a:schemeClr val="tx1">
                    <a:lumMod val="65000"/>
                    <a:lumOff val="35000"/>
                  </a:schemeClr>
                </a:solidFill>
                <a:latin typeface="微软雅黑" panose="020B0503020204020204" pitchFamily="34" charset="-122"/>
                <a:ea typeface="微软雅黑" panose="020B0503020204020204" pitchFamily="34" charset="-122"/>
                <a:cs typeface="Open Sans" panose="020B0606030504020204" pitchFamily="34" charset="0"/>
              </a:rPr>
              <a:t>| </a:t>
            </a:r>
            <a:r>
              <a:rPr lang="zh-CN" altLang="en-US" sz="1200" dirty="0" smtClean="0">
                <a:solidFill>
                  <a:schemeClr val="tx1">
                    <a:lumMod val="65000"/>
                    <a:lumOff val="35000"/>
                  </a:schemeClr>
                </a:solidFill>
                <a:latin typeface="微软雅黑" panose="020B0503020204020204" pitchFamily="34" charset="-122"/>
                <a:ea typeface="微软雅黑" panose="020B0503020204020204" pitchFamily="34" charset="-122"/>
                <a:cs typeface="Open Sans" panose="020B0606030504020204" pitchFamily="34" charset="0"/>
              </a:rPr>
              <a:t>新希望集团控股企业</a:t>
            </a:r>
            <a:endParaRPr lang="en-US" altLang="zh-CN" sz="1200" dirty="0">
              <a:solidFill>
                <a:schemeClr val="tx1">
                  <a:lumMod val="65000"/>
                  <a:lumOff val="35000"/>
                </a:schemeClr>
              </a:solidFill>
              <a:latin typeface="微软雅黑" panose="020B0503020204020204" pitchFamily="34" charset="-122"/>
              <a:ea typeface="微软雅黑" panose="020B0503020204020204" pitchFamily="34" charset="-122"/>
              <a:cs typeface="Open Sans" panose="020B0606030504020204" pitchFamily="34" charset="0"/>
            </a:endParaRPr>
          </a:p>
        </p:txBody>
      </p:sp>
      <p:sp>
        <p:nvSpPr>
          <p:cNvPr id="4" name="TextBox 2"/>
          <p:cNvSpPr txBox="1"/>
          <p:nvPr/>
        </p:nvSpPr>
        <p:spPr>
          <a:xfrm>
            <a:off x="2427823" y="2419023"/>
            <a:ext cx="4288354" cy="584775"/>
          </a:xfrm>
          <a:prstGeom prst="rect">
            <a:avLst/>
          </a:prstGeom>
          <a:noFill/>
        </p:spPr>
        <p:txBody>
          <a:bodyPr wrap="none" rtlCol="0">
            <a:spAutoFit/>
          </a:bodyPr>
          <a:lstStyle/>
          <a:p>
            <a:pPr algn="ctr"/>
            <a:r>
              <a:rPr lang="zh-CN" altLang="en-US" sz="3200" b="1" dirty="0">
                <a:solidFill>
                  <a:srgbClr val="196494"/>
                </a:solidFill>
                <a:latin typeface="微软雅黑" panose="020B0503020204020204" pitchFamily="34" charset="-122"/>
                <a:ea typeface="微软雅黑" panose="020B0503020204020204" pitchFamily="34" charset="-122"/>
                <a:cs typeface="Open Sans" panose="020B0606030504020204" pitchFamily="34" charset="0"/>
              </a:rPr>
              <a:t>区域心</a:t>
            </a:r>
            <a:r>
              <a:rPr lang="zh-CN" altLang="en-US" sz="3200" b="1" dirty="0" smtClean="0">
                <a:solidFill>
                  <a:srgbClr val="196494"/>
                </a:solidFill>
                <a:latin typeface="微软雅黑" panose="020B0503020204020204" pitchFamily="34" charset="-122"/>
                <a:ea typeface="微软雅黑" panose="020B0503020204020204" pitchFamily="34" charset="-122"/>
                <a:cs typeface="Open Sans" panose="020B0606030504020204" pitchFamily="34" charset="0"/>
              </a:rPr>
              <a:t>电网络解决方案</a:t>
            </a:r>
            <a:endParaRPr lang="en-US" altLang="zh-CN" sz="3200" b="1" dirty="0">
              <a:solidFill>
                <a:srgbClr val="196494"/>
              </a:solidFill>
              <a:latin typeface="微软雅黑" panose="020B0503020204020204" pitchFamily="34" charset="-122"/>
              <a:ea typeface="微软雅黑" panose="020B0503020204020204" pitchFamily="34" charset="-122"/>
              <a:cs typeface="Open Sans" panose="020B0606030504020204" pitchFamily="34" charset="0"/>
            </a:endParaRPr>
          </a:p>
        </p:txBody>
      </p:sp>
      <p:sp>
        <p:nvSpPr>
          <p:cNvPr id="11" name="矩形 10"/>
          <p:cNvSpPr/>
          <p:nvPr/>
        </p:nvSpPr>
        <p:spPr>
          <a:xfrm flipH="1">
            <a:off x="-2" y="5028560"/>
            <a:ext cx="9144001" cy="135157"/>
          </a:xfrm>
          <a:prstGeom prst="rect">
            <a:avLst/>
          </a:prstGeom>
          <a:gradFill>
            <a:gsLst>
              <a:gs pos="0">
                <a:srgbClr val="0E1A40"/>
              </a:gs>
              <a:gs pos="100000">
                <a:srgbClr val="2F5EB0"/>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0"/>
          </a:p>
        </p:txBody>
      </p:sp>
      <p:pic>
        <p:nvPicPr>
          <p:cNvPr id="6" name="图片 5"/>
          <p:cNvPicPr>
            <a:picLocks noChangeAspect="1"/>
          </p:cNvPicPr>
          <p:nvPr/>
        </p:nvPicPr>
        <p:blipFill>
          <a:blip r:embed="rId6" cstate="print">
            <a:extLst>
              <a:ext uri="{28A0092B-C50C-407E-A947-70E740481C1C}">
                <a14:useLocalDpi xmlns:a14="http://schemas.microsoft.com/office/drawing/2010/main" xmlns="" val="0"/>
              </a:ext>
            </a:extLst>
          </a:blip>
          <a:stretch>
            <a:fillRect/>
          </a:stretch>
        </p:blipFill>
        <p:spPr>
          <a:xfrm>
            <a:off x="3878209" y="788811"/>
            <a:ext cx="1336782" cy="1336782"/>
          </a:xfrm>
          <a:prstGeom prst="rect">
            <a:avLst/>
          </a:prstGeom>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1" name="Picture 3" descr="C:\Users\Administrator\Desktop\01.png"/>
          <p:cNvPicPr>
            <a:picLocks noChangeAspect="1" noChangeArrowheads="1"/>
          </p:cNvPicPr>
          <p:nvPr/>
        </p:nvPicPr>
        <p:blipFill>
          <a:blip r:embed="rId10" cstate="print">
            <a:extLst>
              <a:ext uri="{28A0092B-C50C-407E-A947-70E740481C1C}">
                <a14:useLocalDpi xmlns:a14="http://schemas.microsoft.com/office/drawing/2010/main" xmlns="" val="0"/>
              </a:ext>
            </a:extLst>
          </a:blip>
          <a:srcRect/>
          <a:stretch>
            <a:fillRect/>
          </a:stretch>
        </p:blipFill>
        <p:spPr bwMode="auto">
          <a:xfrm>
            <a:off x="-36512" y="-329910"/>
            <a:ext cx="9180512" cy="5494304"/>
          </a:xfrm>
          <a:prstGeom prst="rect">
            <a:avLst/>
          </a:prstGeom>
          <a:noFill/>
          <a:extLst>
            <a:ext uri="{909E8E84-426E-40DD-AFC4-6F175D3DCCD1}">
              <a14:hiddenFill xmlns:a14="http://schemas.microsoft.com/office/drawing/2010/main" xmlns="">
                <a:solidFill>
                  <a:srgbClr val="FFFFFF"/>
                </a:solidFill>
              </a14:hiddenFill>
            </a:ext>
          </a:extLst>
        </p:spPr>
      </p:pic>
      <p:sp>
        <p:nvSpPr>
          <p:cNvPr id="4" name="椭圆 3"/>
          <p:cNvSpPr/>
          <p:nvPr>
            <p:custDataLst>
              <p:tags r:id="rId1"/>
            </p:custDataLst>
          </p:nvPr>
        </p:nvSpPr>
        <p:spPr>
          <a:xfrm>
            <a:off x="4499992" y="1136236"/>
            <a:ext cx="360040" cy="360040"/>
          </a:xfrm>
          <a:prstGeom prst="ellipse">
            <a:avLst/>
          </a:prstGeom>
          <a:solidFill>
            <a:srgbClr val="19649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bg1"/>
                </a:solidFill>
                <a:latin typeface="微软雅黑" panose="020B0503020204020204" pitchFamily="34" charset="-122"/>
                <a:ea typeface="微软雅黑" panose="020B0503020204020204" pitchFamily="34" charset="-122"/>
              </a:rPr>
              <a:t>1</a:t>
            </a:r>
            <a:endParaRPr lang="zh-CN" altLang="en-US" dirty="0">
              <a:solidFill>
                <a:schemeClr val="bg1"/>
              </a:solidFill>
              <a:latin typeface="微软雅黑" panose="020B0503020204020204" pitchFamily="34" charset="-122"/>
              <a:ea typeface="微软雅黑" panose="020B0503020204020204" pitchFamily="34" charset="-122"/>
            </a:endParaRPr>
          </a:p>
        </p:txBody>
      </p:sp>
      <p:sp>
        <p:nvSpPr>
          <p:cNvPr id="5" name="TextBox 4"/>
          <p:cNvSpPr txBox="1"/>
          <p:nvPr>
            <p:custDataLst>
              <p:tags r:id="rId2"/>
            </p:custDataLst>
          </p:nvPr>
        </p:nvSpPr>
        <p:spPr>
          <a:xfrm>
            <a:off x="5148064" y="1131590"/>
            <a:ext cx="1107996" cy="369332"/>
          </a:xfrm>
          <a:prstGeom prst="rect">
            <a:avLst/>
          </a:prstGeom>
          <a:noFill/>
        </p:spPr>
        <p:txBody>
          <a:bodyPr wrap="none" rtlCol="0">
            <a:spAutoFit/>
          </a:bodyPr>
          <a:lstStyle/>
          <a:p>
            <a:r>
              <a:rPr lang="zh-CN" altLang="en-US" b="1" dirty="0" smtClean="0">
                <a:solidFill>
                  <a:schemeClr val="tx1">
                    <a:lumMod val="65000"/>
                    <a:lumOff val="35000"/>
                  </a:schemeClr>
                </a:solidFill>
                <a:latin typeface="微软雅黑" panose="020B0503020204020204" pitchFamily="34" charset="-122"/>
                <a:ea typeface="微软雅黑" panose="020B0503020204020204" pitchFamily="34" charset="-122"/>
              </a:rPr>
              <a:t>背景现状</a:t>
            </a:r>
            <a:endParaRPr lang="zh-CN" altLang="en-US"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12" name="TextBox 10"/>
          <p:cNvSpPr txBox="1"/>
          <p:nvPr>
            <p:custDataLst>
              <p:tags r:id="rId3"/>
            </p:custDataLst>
          </p:nvPr>
        </p:nvSpPr>
        <p:spPr>
          <a:xfrm>
            <a:off x="5148064" y="2725058"/>
            <a:ext cx="1097280" cy="368300"/>
          </a:xfrm>
          <a:prstGeom prst="rect">
            <a:avLst/>
          </a:prstGeom>
          <a:noFill/>
        </p:spPr>
        <p:txBody>
          <a:bodyPr wrap="none" rtlCol="0">
            <a:spAutoFit/>
          </a:bodyPr>
          <a:lstStyle/>
          <a:p>
            <a:r>
              <a:rPr lang="zh-CN" altLang="en-US" b="1" dirty="0" smtClean="0">
                <a:solidFill>
                  <a:schemeClr val="tx1">
                    <a:lumMod val="65000"/>
                    <a:lumOff val="35000"/>
                  </a:schemeClr>
                </a:solidFill>
                <a:latin typeface="微软雅黑" panose="020B0503020204020204" pitchFamily="34" charset="-122"/>
                <a:ea typeface="微软雅黑" panose="020B0503020204020204" pitchFamily="34" charset="-122"/>
              </a:rPr>
              <a:t>方案价值</a:t>
            </a:r>
            <a:endParaRPr lang="zh-CN" altLang="en-US"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13" name="椭圆 12"/>
          <p:cNvSpPr/>
          <p:nvPr>
            <p:custDataLst>
              <p:tags r:id="rId4"/>
            </p:custDataLst>
          </p:nvPr>
        </p:nvSpPr>
        <p:spPr>
          <a:xfrm>
            <a:off x="4499992" y="2729704"/>
            <a:ext cx="360040" cy="360040"/>
          </a:xfrm>
          <a:prstGeom prst="ellipse">
            <a:avLst/>
          </a:prstGeom>
          <a:solidFill>
            <a:srgbClr val="19649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bg1"/>
                </a:solidFill>
                <a:latin typeface="微软雅黑" panose="020B0503020204020204" pitchFamily="34" charset="-122"/>
                <a:ea typeface="微软雅黑" panose="020B0503020204020204" pitchFamily="34" charset="-122"/>
              </a:rPr>
              <a:t>3</a:t>
            </a:r>
            <a:endParaRPr lang="zh-CN" altLang="en-US" dirty="0">
              <a:solidFill>
                <a:schemeClr val="bg1"/>
              </a:solidFill>
              <a:latin typeface="微软雅黑" panose="020B0503020204020204" pitchFamily="34" charset="-122"/>
              <a:ea typeface="微软雅黑" panose="020B0503020204020204" pitchFamily="34" charset="-122"/>
            </a:endParaRPr>
          </a:p>
        </p:txBody>
      </p:sp>
      <p:sp>
        <p:nvSpPr>
          <p:cNvPr id="9" name="椭圆 8"/>
          <p:cNvSpPr/>
          <p:nvPr>
            <p:custDataLst>
              <p:tags r:id="rId5"/>
            </p:custDataLst>
          </p:nvPr>
        </p:nvSpPr>
        <p:spPr>
          <a:xfrm>
            <a:off x="4499992" y="3593800"/>
            <a:ext cx="360040" cy="360040"/>
          </a:xfrm>
          <a:prstGeom prst="ellipse">
            <a:avLst/>
          </a:prstGeom>
          <a:solidFill>
            <a:srgbClr val="19649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solidFill>
                  <a:schemeClr val="bg1"/>
                </a:solidFill>
                <a:latin typeface="微软雅黑" panose="020B0503020204020204" pitchFamily="34" charset="-122"/>
                <a:ea typeface="微软雅黑" panose="020B0503020204020204" pitchFamily="34" charset="-122"/>
              </a:rPr>
              <a:t>4</a:t>
            </a:r>
            <a:endParaRPr lang="zh-CN" altLang="en-US" dirty="0">
              <a:solidFill>
                <a:schemeClr val="bg1"/>
              </a:solidFill>
              <a:latin typeface="微软雅黑" panose="020B0503020204020204" pitchFamily="34" charset="-122"/>
              <a:ea typeface="微软雅黑" panose="020B0503020204020204" pitchFamily="34" charset="-122"/>
            </a:endParaRPr>
          </a:p>
        </p:txBody>
      </p:sp>
      <p:sp>
        <p:nvSpPr>
          <p:cNvPr id="11" name="TextBox 10"/>
          <p:cNvSpPr txBox="1"/>
          <p:nvPr>
            <p:custDataLst>
              <p:tags r:id="rId6"/>
            </p:custDataLst>
          </p:nvPr>
        </p:nvSpPr>
        <p:spPr>
          <a:xfrm>
            <a:off x="5148064" y="1914386"/>
            <a:ext cx="1097280" cy="645160"/>
          </a:xfrm>
          <a:prstGeom prst="rect">
            <a:avLst/>
          </a:prstGeom>
          <a:noFill/>
        </p:spPr>
        <p:txBody>
          <a:bodyPr wrap="none" rtlCol="0">
            <a:spAutoFit/>
          </a:bodyPr>
          <a:lstStyle/>
          <a:p>
            <a:pPr algn="l"/>
            <a:r>
              <a:rPr lang="zh-CN" altLang="en-US" b="1" dirty="0" smtClean="0">
                <a:solidFill>
                  <a:schemeClr val="tx1">
                    <a:lumMod val="65000"/>
                    <a:lumOff val="35000"/>
                  </a:schemeClr>
                </a:solidFill>
                <a:latin typeface="微软雅黑" panose="020B0503020204020204" pitchFamily="34" charset="-122"/>
                <a:ea typeface="微软雅黑" panose="020B0503020204020204" pitchFamily="34" charset="-122"/>
                <a:sym typeface="+mn-ea"/>
              </a:rPr>
              <a:t>方案概述</a:t>
            </a:r>
            <a:endParaRPr lang="zh-CN" altLang="en-US" b="1" dirty="0">
              <a:solidFill>
                <a:schemeClr val="tx1">
                  <a:lumMod val="65000"/>
                  <a:lumOff val="35000"/>
                </a:schemeClr>
              </a:solidFill>
              <a:latin typeface="微软雅黑" panose="020B0503020204020204" pitchFamily="34" charset="-122"/>
              <a:ea typeface="微软雅黑" panose="020B0503020204020204" pitchFamily="34" charset="-122"/>
            </a:endParaRPr>
          </a:p>
          <a:p>
            <a:endParaRPr lang="zh-CN" altLang="en-US"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16" name="椭圆 15"/>
          <p:cNvSpPr/>
          <p:nvPr>
            <p:custDataLst>
              <p:tags r:id="rId7"/>
            </p:custDataLst>
          </p:nvPr>
        </p:nvSpPr>
        <p:spPr>
          <a:xfrm>
            <a:off x="4499992" y="1919032"/>
            <a:ext cx="360040" cy="360040"/>
          </a:xfrm>
          <a:prstGeom prst="ellipse">
            <a:avLst/>
          </a:prstGeom>
          <a:solidFill>
            <a:srgbClr val="19649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bg1"/>
                </a:solidFill>
                <a:latin typeface="微软雅黑" panose="020B0503020204020204" pitchFamily="34" charset="-122"/>
                <a:ea typeface="微软雅黑" panose="020B0503020204020204" pitchFamily="34" charset="-122"/>
              </a:rPr>
              <a:t>2</a:t>
            </a:r>
            <a:endParaRPr lang="zh-CN" altLang="en-US" dirty="0">
              <a:solidFill>
                <a:schemeClr val="bg1"/>
              </a:solidFill>
              <a:latin typeface="微软雅黑" panose="020B0503020204020204" pitchFamily="34" charset="-122"/>
              <a:ea typeface="微软雅黑" panose="020B0503020204020204" pitchFamily="34" charset="-122"/>
            </a:endParaRPr>
          </a:p>
        </p:txBody>
      </p:sp>
      <p:sp>
        <p:nvSpPr>
          <p:cNvPr id="18" name="TextBox 10"/>
          <p:cNvSpPr txBox="1"/>
          <p:nvPr>
            <p:custDataLst>
              <p:tags r:id="rId8"/>
            </p:custDataLst>
          </p:nvPr>
        </p:nvSpPr>
        <p:spPr>
          <a:xfrm>
            <a:off x="5148064" y="3579862"/>
            <a:ext cx="1107996" cy="369332"/>
          </a:xfrm>
          <a:prstGeom prst="rect">
            <a:avLst/>
          </a:prstGeom>
          <a:noFill/>
        </p:spPr>
        <p:txBody>
          <a:bodyPr wrap="none" rtlCol="0">
            <a:spAutoFit/>
          </a:bodyPr>
          <a:lstStyle/>
          <a:p>
            <a:r>
              <a:rPr lang="zh-CN" altLang="en-US" b="1" dirty="0" smtClean="0">
                <a:solidFill>
                  <a:schemeClr val="tx1">
                    <a:lumMod val="65000"/>
                    <a:lumOff val="35000"/>
                  </a:schemeClr>
                </a:solidFill>
                <a:latin typeface="微软雅黑" panose="020B0503020204020204" pitchFamily="34" charset="-122"/>
                <a:ea typeface="微软雅黑" panose="020B0503020204020204" pitchFamily="34" charset="-122"/>
              </a:rPr>
              <a:t>典型案例</a:t>
            </a:r>
            <a:endParaRPr lang="zh-CN" altLang="en-US"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1707782"/>
            <a:ext cx="5940152" cy="1080000"/>
          </a:xfrm>
          <a:prstGeom prst="rect">
            <a:avLst/>
          </a:prstGeom>
          <a:solidFill>
            <a:srgbClr val="19649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8910228" y="1707782"/>
            <a:ext cx="233772" cy="1080000"/>
          </a:xfrm>
          <a:prstGeom prst="rect">
            <a:avLst/>
          </a:prstGeom>
          <a:solidFill>
            <a:srgbClr val="19649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TextBox 6"/>
          <p:cNvSpPr txBox="1"/>
          <p:nvPr/>
        </p:nvSpPr>
        <p:spPr>
          <a:xfrm>
            <a:off x="6444208" y="1955394"/>
            <a:ext cx="1826141" cy="584775"/>
          </a:xfrm>
          <a:prstGeom prst="rect">
            <a:avLst/>
          </a:prstGeom>
          <a:noFill/>
        </p:spPr>
        <p:txBody>
          <a:bodyPr wrap="none" rtlCol="0">
            <a:spAutoFit/>
          </a:bodyPr>
          <a:lstStyle/>
          <a:p>
            <a:r>
              <a:rPr lang="zh-CN" altLang="en-US" sz="3200" b="1" dirty="0" smtClean="0">
                <a:solidFill>
                  <a:srgbClr val="196494"/>
                </a:solidFill>
                <a:latin typeface="微软雅黑" panose="020B0503020204020204" pitchFamily="34" charset="-122"/>
                <a:ea typeface="微软雅黑" panose="020B0503020204020204" pitchFamily="34" charset="-122"/>
              </a:rPr>
              <a:t>背景现状</a:t>
            </a:r>
            <a:endParaRPr lang="zh-CN" altLang="en-US" sz="3200" b="1" dirty="0">
              <a:solidFill>
                <a:srgbClr val="196494"/>
              </a:solidFill>
              <a:latin typeface="微软雅黑" panose="020B0503020204020204" pitchFamily="34" charset="-122"/>
              <a:ea typeface="微软雅黑" panose="020B0503020204020204" pitchFamily="34" charset="-122"/>
            </a:endParaRPr>
          </a:p>
        </p:txBody>
      </p:sp>
      <p:sp>
        <p:nvSpPr>
          <p:cNvPr id="9" name="TextBox 8"/>
          <p:cNvSpPr txBox="1"/>
          <p:nvPr/>
        </p:nvSpPr>
        <p:spPr>
          <a:xfrm>
            <a:off x="1619672" y="1851670"/>
            <a:ext cx="4040530" cy="1200329"/>
          </a:xfrm>
          <a:prstGeom prst="rect">
            <a:avLst/>
          </a:prstGeom>
          <a:noFill/>
        </p:spPr>
        <p:txBody>
          <a:bodyPr wrap="none" rtlCol="0">
            <a:spAutoFit/>
          </a:bodyPr>
          <a:lstStyle>
            <a:defPPr>
              <a:defRPr lang="zh-CN"/>
            </a:defPPr>
            <a:lvl1pPr>
              <a:defRPr sz="7200" b="1">
                <a:solidFill>
                  <a:srgbClr val="1F71A6"/>
                </a:solidFill>
                <a:latin typeface="微软雅黑" panose="020B0503020204020204" pitchFamily="34" charset="-122"/>
                <a:ea typeface="微软雅黑" panose="020B0503020204020204" pitchFamily="34" charset="-122"/>
              </a:defRPr>
            </a:lvl1pPr>
          </a:lstStyle>
          <a:p>
            <a:r>
              <a:rPr lang="en-US" altLang="zh-CN" dirty="0"/>
              <a:t>PART 01</a:t>
            </a:r>
            <a:endParaRPr lang="zh-CN" alt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395536" y="51470"/>
            <a:ext cx="6552728" cy="720080"/>
          </a:xfrm>
        </p:spPr>
        <p:txBody>
          <a:bodyPr/>
          <a:lstStyle/>
          <a:p>
            <a:r>
              <a:rPr lang="zh-CN" altLang="en-US" dirty="0" smtClean="0">
                <a:solidFill>
                  <a:srgbClr val="2179B1"/>
                </a:solidFill>
              </a:rPr>
              <a:t>方案背景</a:t>
            </a:r>
            <a:endParaRPr lang="zh-CN" altLang="en-US" dirty="0">
              <a:solidFill>
                <a:srgbClr val="2179B1"/>
              </a:solidFill>
            </a:endParaRPr>
          </a:p>
        </p:txBody>
      </p:sp>
      <p:sp>
        <p:nvSpPr>
          <p:cNvPr id="19" name="矩形 18"/>
          <p:cNvSpPr/>
          <p:nvPr/>
        </p:nvSpPr>
        <p:spPr>
          <a:xfrm>
            <a:off x="1403648" y="904548"/>
            <a:ext cx="6984776" cy="731098"/>
          </a:xfrm>
          <a:prstGeom prst="rect">
            <a:avLst/>
          </a:prstGeom>
        </p:spPr>
        <p:txBody>
          <a:bodyPr wrap="square">
            <a:spAutoFit/>
          </a:bodyPr>
          <a:lstStyle/>
          <a:p>
            <a:pPr>
              <a:lnSpc>
                <a:spcPct val="130000"/>
              </a:lnSpc>
            </a:pPr>
            <a:r>
              <a:rPr lang="zh-CN" altLang="en-US" sz="1100" dirty="0" smtClean="0">
                <a:latin typeface="微软雅黑" panose="020B0503020204020204" pitchFamily="34" charset="-122"/>
                <a:ea typeface="微软雅黑" panose="020B0503020204020204" pitchFamily="34" charset="-122"/>
              </a:rPr>
              <a:t>当前我国</a:t>
            </a:r>
            <a:r>
              <a:rPr lang="zh-CN" altLang="en-US" sz="1100" b="1" dirty="0" smtClean="0">
                <a:latin typeface="微软雅黑" panose="020B0503020204020204" pitchFamily="34" charset="-122"/>
                <a:ea typeface="微软雅黑" panose="020B0503020204020204" pitchFamily="34" charset="-122"/>
              </a:rPr>
              <a:t>慢性非传染疾病死亡率</a:t>
            </a:r>
            <a:r>
              <a:rPr lang="zh-CN" altLang="en-US" sz="1100" dirty="0" smtClean="0">
                <a:latin typeface="微软雅黑" panose="020B0503020204020204" pitchFamily="34" charset="-122"/>
                <a:ea typeface="微软雅黑" panose="020B0503020204020204" pitchFamily="34" charset="-122"/>
              </a:rPr>
              <a:t>高居所有疾病首位，患病人数约为</a:t>
            </a:r>
            <a:r>
              <a:rPr lang="en-US" altLang="zh-CN" sz="1100" dirty="0" smtClean="0">
                <a:latin typeface="微软雅黑" panose="020B0503020204020204" pitchFamily="34" charset="-122"/>
                <a:ea typeface="微软雅黑" panose="020B0503020204020204" pitchFamily="34" charset="-122"/>
              </a:rPr>
              <a:t>3.3</a:t>
            </a:r>
            <a:r>
              <a:rPr lang="zh-CN" altLang="en-US" sz="1100" dirty="0" smtClean="0">
                <a:latin typeface="微软雅黑" panose="020B0503020204020204" pitchFamily="34" charset="-122"/>
                <a:ea typeface="微软雅黑" panose="020B0503020204020204" pitchFamily="34" charset="-122"/>
              </a:rPr>
              <a:t>亿，严重威胁我国国民健康。心血管疾病防控</a:t>
            </a:r>
            <a:r>
              <a:rPr lang="zh-CN" altLang="en-US" sz="1100" b="1" dirty="0" smtClean="0">
                <a:latin typeface="微软雅黑" panose="020B0503020204020204" pitchFamily="34" charset="-122"/>
                <a:ea typeface="微软雅黑" panose="020B0503020204020204" pitchFamily="34" charset="-122"/>
              </a:rPr>
              <a:t>投入大、管理难、不及时</a:t>
            </a:r>
            <a:r>
              <a:rPr lang="zh-CN" altLang="en-US" sz="1100" dirty="0" smtClean="0">
                <a:latin typeface="微软雅黑" panose="020B0503020204020204" pitchFamily="34" charset="-122"/>
                <a:ea typeface="微软雅黑" panose="020B0503020204020204" pitchFamily="34" charset="-122"/>
              </a:rPr>
              <a:t>等问题近年来正在得到缓解，而远程心电网络建设的改善有利于解决我国医疗资源浪费和基层医疗资源不足的现状。</a:t>
            </a:r>
            <a:endParaRPr lang="zh-CN" altLang="en-US" sz="1100" dirty="0">
              <a:latin typeface="微软雅黑" panose="020B0503020204020204" pitchFamily="34" charset="-122"/>
              <a:ea typeface="微软雅黑" panose="020B0503020204020204" pitchFamily="34" charset="-122"/>
            </a:endParaRPr>
          </a:p>
        </p:txBody>
      </p:sp>
      <p:sp>
        <p:nvSpPr>
          <p:cNvPr id="20" name="矩形 19"/>
          <p:cNvSpPr/>
          <p:nvPr/>
        </p:nvSpPr>
        <p:spPr>
          <a:xfrm>
            <a:off x="1403648" y="1768644"/>
            <a:ext cx="7128792" cy="731098"/>
          </a:xfrm>
          <a:prstGeom prst="rect">
            <a:avLst/>
          </a:prstGeom>
        </p:spPr>
        <p:txBody>
          <a:bodyPr wrap="square">
            <a:spAutoFit/>
          </a:bodyPr>
          <a:lstStyle/>
          <a:p>
            <a:pPr>
              <a:lnSpc>
                <a:spcPct val="130000"/>
              </a:lnSpc>
            </a:pPr>
            <a:r>
              <a:rPr lang="zh-CN" altLang="en-US" sz="1100" dirty="0" smtClean="0">
                <a:latin typeface="微软雅黑" panose="020B0503020204020204" pitchFamily="34" charset="-122"/>
                <a:ea typeface="微软雅黑" panose="020B0503020204020204" pitchFamily="34" charset="-122"/>
              </a:rPr>
              <a:t>心电一张网通过</a:t>
            </a:r>
            <a:r>
              <a:rPr lang="zh-CN" altLang="en-US" sz="1100" b="1" dirty="0" smtClean="0">
                <a:latin typeface="微软雅黑" panose="020B0503020204020204" pitchFamily="34" charset="-122"/>
                <a:ea typeface="微软雅黑" panose="020B0503020204020204" pitchFamily="34" charset="-122"/>
              </a:rPr>
              <a:t>心电监测设备、互联网、人工智能技术、云网络等技术手段</a:t>
            </a:r>
            <a:r>
              <a:rPr lang="zh-CN" altLang="en-US" sz="1100" dirty="0" smtClean="0">
                <a:latin typeface="微软雅黑" panose="020B0503020204020204" pitchFamily="34" charset="-122"/>
                <a:ea typeface="微软雅黑" panose="020B0503020204020204" pitchFamily="34" charset="-122"/>
              </a:rPr>
              <a:t>，对患者异常心电变化数据进行跟踪、预警、采集、传输、分析。实现上下级医院联动，连接各级诊疗中心形成以合作医院为核心的心血管急性事件区域协同诊疗平台，实现数据和医疗资源共享。</a:t>
            </a:r>
            <a:endParaRPr lang="zh-CN" altLang="en-US" sz="1100" dirty="0">
              <a:latin typeface="微软雅黑" panose="020B0503020204020204" pitchFamily="34" charset="-122"/>
              <a:ea typeface="微软雅黑" panose="020B0503020204020204" pitchFamily="34" charset="-122"/>
            </a:endParaRPr>
          </a:p>
        </p:txBody>
      </p:sp>
      <p:sp>
        <p:nvSpPr>
          <p:cNvPr id="21" name="矩形 20"/>
          <p:cNvSpPr/>
          <p:nvPr/>
        </p:nvSpPr>
        <p:spPr>
          <a:xfrm>
            <a:off x="1439144" y="2556696"/>
            <a:ext cx="7093296" cy="951158"/>
          </a:xfrm>
          <a:prstGeom prst="rect">
            <a:avLst/>
          </a:prstGeom>
        </p:spPr>
        <p:txBody>
          <a:bodyPr wrap="square">
            <a:spAutoFit/>
          </a:bodyPr>
          <a:lstStyle/>
          <a:p>
            <a:pPr>
              <a:lnSpc>
                <a:spcPct val="130000"/>
              </a:lnSpc>
            </a:pPr>
            <a:r>
              <a:rPr lang="zh-CN" altLang="en-US" sz="1100" b="1" dirty="0" smtClean="0">
                <a:latin typeface="微软雅黑" panose="020B0503020204020204" pitchFamily="34" charset="-122"/>
                <a:ea typeface="微软雅黑" panose="020B0503020204020204" pitchFamily="34" charset="-122"/>
              </a:rPr>
              <a:t>“十四五”规划提出，切实推进分级诊疗</a:t>
            </a:r>
            <a:r>
              <a:rPr lang="zh-CN" altLang="en-US" sz="1100" dirty="0" smtClean="0">
                <a:latin typeface="微软雅黑" panose="020B0503020204020204" pitchFamily="34" charset="-122"/>
                <a:ea typeface="微软雅黑" panose="020B0503020204020204" pitchFamily="34" charset="-122"/>
              </a:rPr>
              <a:t>，提升基层服务能力，尤其是以县一级、地市一级的中心医院、应急医学与战略储备中心为主，从平战灵活转换的能力到基础疾病诊治服务能力，都将进入快速提升期。</a:t>
            </a:r>
            <a:endParaRPr lang="en-US" altLang="zh-CN" sz="1100" dirty="0" smtClean="0">
              <a:latin typeface="微软雅黑" panose="020B0503020204020204" pitchFamily="34" charset="-122"/>
              <a:ea typeface="微软雅黑" panose="020B0503020204020204" pitchFamily="34" charset="-122"/>
            </a:endParaRPr>
          </a:p>
          <a:p>
            <a:pPr>
              <a:lnSpc>
                <a:spcPct val="130000"/>
              </a:lnSpc>
            </a:pPr>
            <a:r>
              <a:rPr lang="zh-CN" altLang="en-US" sz="1100" dirty="0" smtClean="0">
                <a:latin typeface="微软雅黑" panose="020B0503020204020204" pitchFamily="34" charset="-122"/>
                <a:ea typeface="微软雅黑" panose="020B0503020204020204" pitchFamily="34" charset="-122"/>
              </a:rPr>
              <a:t>数字化赋能医疗，能让临床医生以及患者受益；对于大城市的中心医院而言，</a:t>
            </a:r>
            <a:r>
              <a:rPr lang="zh-CN" altLang="en-US" sz="1100" b="1" dirty="0" smtClean="0">
                <a:latin typeface="微软雅黑" panose="020B0503020204020204" pitchFamily="34" charset="-122"/>
                <a:ea typeface="微软雅黑" panose="020B0503020204020204" pitchFamily="34" charset="-122"/>
              </a:rPr>
              <a:t>数字化医疗可以赋能提升诊治、管理效率；</a:t>
            </a:r>
            <a:r>
              <a:rPr lang="zh-CN" altLang="en-US" sz="1100" dirty="0" smtClean="0">
                <a:latin typeface="微软雅黑" panose="020B0503020204020204" pitchFamily="34" charset="-122"/>
                <a:ea typeface="微软雅黑" panose="020B0503020204020204" pitchFamily="34" charset="-122"/>
              </a:rPr>
              <a:t>而对于基层医疗、医联体等，数字化医疗则可以实实在在地</a:t>
            </a:r>
            <a:r>
              <a:rPr lang="zh-CN" altLang="en-US" sz="1100" b="1" dirty="0" smtClean="0">
                <a:latin typeface="微软雅黑" panose="020B0503020204020204" pitchFamily="34" charset="-122"/>
                <a:ea typeface="微软雅黑" panose="020B0503020204020204" pitchFamily="34" charset="-122"/>
              </a:rPr>
              <a:t>辅助精准诊治，分享优质医疗资源。</a:t>
            </a:r>
            <a:endParaRPr lang="zh-CN" altLang="en-US" sz="1100" b="1" dirty="0">
              <a:latin typeface="微软雅黑" panose="020B0503020204020204" pitchFamily="34" charset="-122"/>
              <a:ea typeface="微软雅黑" panose="020B0503020204020204" pitchFamily="34" charset="-122"/>
            </a:endParaRPr>
          </a:p>
        </p:txBody>
      </p:sp>
      <p:sp>
        <p:nvSpPr>
          <p:cNvPr id="22" name="矩形 21"/>
          <p:cNvSpPr/>
          <p:nvPr/>
        </p:nvSpPr>
        <p:spPr>
          <a:xfrm>
            <a:off x="611560" y="3511336"/>
            <a:ext cx="7992888" cy="1292662"/>
          </a:xfrm>
          <a:prstGeom prst="rect">
            <a:avLst/>
          </a:prstGeom>
        </p:spPr>
        <p:txBody>
          <a:bodyPr wrap="square">
            <a:spAutoFit/>
          </a:bodyPr>
          <a:lstStyle/>
          <a:p>
            <a:pPr>
              <a:lnSpc>
                <a:spcPct val="130000"/>
              </a:lnSpc>
            </a:pPr>
            <a:r>
              <a:rPr lang="en-US" altLang="zh-CN" sz="1000" dirty="0" smtClean="0">
                <a:latin typeface="微软雅黑" panose="020B0503020204020204" pitchFamily="34" charset="-122"/>
                <a:ea typeface="微软雅黑" panose="020B0503020204020204" pitchFamily="34" charset="-122"/>
              </a:rPr>
              <a:t>《</a:t>
            </a:r>
            <a:r>
              <a:rPr lang="zh-CN" altLang="en-US" sz="1000" dirty="0" smtClean="0">
                <a:latin typeface="微软雅黑" panose="020B0503020204020204" pitchFamily="34" charset="-122"/>
                <a:ea typeface="微软雅黑" panose="020B0503020204020204" pitchFamily="34" charset="-122"/>
              </a:rPr>
              <a:t>健康中国行动（</a:t>
            </a:r>
            <a:r>
              <a:rPr lang="en-US" altLang="zh-CN" sz="1000" dirty="0" smtClean="0">
                <a:latin typeface="微软雅黑" panose="020B0503020204020204" pitchFamily="34" charset="-122"/>
                <a:ea typeface="微软雅黑" panose="020B0503020204020204" pitchFamily="34" charset="-122"/>
              </a:rPr>
              <a:t>2019—2030</a:t>
            </a:r>
            <a:r>
              <a:rPr lang="zh-CN" altLang="en-US" sz="1000" dirty="0" smtClean="0">
                <a:latin typeface="微软雅黑" panose="020B0503020204020204" pitchFamily="34" charset="-122"/>
                <a:ea typeface="微软雅黑" panose="020B0503020204020204" pitchFamily="34" charset="-122"/>
              </a:rPr>
              <a:t>年）</a:t>
            </a:r>
            <a:r>
              <a:rPr lang="en-US" altLang="zh-CN" sz="1000" dirty="0" smtClean="0">
                <a:latin typeface="微软雅黑" panose="020B0503020204020204" pitchFamily="34" charset="-122"/>
                <a:ea typeface="微软雅黑" panose="020B0503020204020204" pitchFamily="34" charset="-122"/>
              </a:rPr>
              <a:t>》</a:t>
            </a:r>
            <a:r>
              <a:rPr lang="zh-CN" altLang="en-US" sz="1000" dirty="0" smtClean="0">
                <a:latin typeface="微软雅黑" panose="020B0503020204020204" pitchFamily="34" charset="-122"/>
                <a:ea typeface="微软雅黑" panose="020B0503020204020204" pitchFamily="34" charset="-122"/>
              </a:rPr>
              <a:t>指出，慢性病导致的负担占总疾病负担的 </a:t>
            </a:r>
            <a:r>
              <a:rPr lang="en-US" altLang="zh-CN" sz="1000" dirty="0" smtClean="0">
                <a:latin typeface="微软雅黑" panose="020B0503020204020204" pitchFamily="34" charset="-122"/>
                <a:ea typeface="微软雅黑" panose="020B0503020204020204" pitchFamily="34" charset="-122"/>
              </a:rPr>
              <a:t>70%</a:t>
            </a:r>
            <a:r>
              <a:rPr lang="zh-CN" altLang="en-US" sz="1000" dirty="0" smtClean="0">
                <a:latin typeface="微软雅黑" panose="020B0503020204020204" pitchFamily="34" charset="-122"/>
                <a:ea typeface="微软雅黑" panose="020B0503020204020204" pitchFamily="34" charset="-122"/>
              </a:rPr>
              <a:t>以上，成为制约健康预期寿命提高的重要因素，为积极应对当前突出健康问题，必须关口前移，采取有效干预措施，努力使群众不生病、少生病。这是以较低成本取得较高健康绩效的有效策略。 针对慢性病的预防，世界卫生组织（</a:t>
            </a:r>
            <a:r>
              <a:rPr lang="en-US" altLang="zh-CN" sz="1000" dirty="0" smtClean="0">
                <a:latin typeface="微软雅黑" panose="020B0503020204020204" pitchFamily="34" charset="-122"/>
                <a:ea typeface="微软雅黑" panose="020B0503020204020204" pitchFamily="34" charset="-122"/>
              </a:rPr>
              <a:t>WHO</a:t>
            </a:r>
            <a:r>
              <a:rPr lang="zh-CN" altLang="en-US" sz="1000" dirty="0" smtClean="0">
                <a:latin typeface="微软雅黑" panose="020B0503020204020204" pitchFamily="34" charset="-122"/>
                <a:ea typeface="微软雅黑" panose="020B0503020204020204" pitchFamily="34" charset="-122"/>
              </a:rPr>
              <a:t>）等机构也提出疾病一级预防策略，包括：面向人群，控制和降低人群整体慢病发病危险因素的人群策略；针对高危患者的筛查和干预，即高危策略。基层各村居民居住分散，交通不便等因素，农村公共卫生服务管理一直是个难题。随着人口老龄化进程加快，慢性病、老年病的患病率急剧上升。建立惠及基层百姓的慢病管理体系，开展慢病筛查、管理、预防工作已经刻不容缓。</a:t>
            </a:r>
            <a:endParaRPr lang="zh-CN" altLang="en-US" sz="1000" dirty="0">
              <a:latin typeface="微软雅黑" panose="020B0503020204020204" pitchFamily="34" charset="-122"/>
              <a:ea typeface="微软雅黑" panose="020B0503020204020204" pitchFamily="34" charset="-122"/>
            </a:endParaRPr>
          </a:p>
        </p:txBody>
      </p:sp>
      <p:sp>
        <p:nvSpPr>
          <p:cNvPr id="23" name="椭圆 22"/>
          <p:cNvSpPr/>
          <p:nvPr/>
        </p:nvSpPr>
        <p:spPr>
          <a:xfrm>
            <a:off x="539552" y="915566"/>
            <a:ext cx="720080" cy="720080"/>
          </a:xfrm>
          <a:prstGeom prst="ellipse">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smtClean="0">
                <a:latin typeface="微软雅黑" panose="020B0503020204020204" pitchFamily="34" charset="-122"/>
                <a:ea typeface="微软雅黑" panose="020B0503020204020204" pitchFamily="34" charset="-122"/>
              </a:rPr>
              <a:t>现状</a:t>
            </a:r>
            <a:endParaRPr lang="zh-CN" altLang="en-US" sz="1200" dirty="0">
              <a:latin typeface="微软雅黑" panose="020B0503020204020204" pitchFamily="34" charset="-122"/>
              <a:ea typeface="微软雅黑" panose="020B0503020204020204" pitchFamily="34" charset="-122"/>
            </a:endParaRPr>
          </a:p>
        </p:txBody>
      </p:sp>
      <p:sp>
        <p:nvSpPr>
          <p:cNvPr id="24" name="椭圆 23"/>
          <p:cNvSpPr/>
          <p:nvPr/>
        </p:nvSpPr>
        <p:spPr>
          <a:xfrm>
            <a:off x="539552" y="1779662"/>
            <a:ext cx="720080" cy="720080"/>
          </a:xfrm>
          <a:prstGeom prst="ellipse">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smtClean="0">
                <a:latin typeface="微软雅黑" panose="020B0503020204020204" pitchFamily="34" charset="-122"/>
                <a:ea typeface="微软雅黑" panose="020B0503020204020204" pitchFamily="34" charset="-122"/>
              </a:rPr>
              <a:t>赋能</a:t>
            </a:r>
            <a:endParaRPr lang="zh-CN" altLang="en-US" sz="1200" dirty="0">
              <a:latin typeface="微软雅黑" panose="020B0503020204020204" pitchFamily="34" charset="-122"/>
              <a:ea typeface="微软雅黑" panose="020B0503020204020204" pitchFamily="34" charset="-122"/>
            </a:endParaRPr>
          </a:p>
        </p:txBody>
      </p:sp>
      <p:sp>
        <p:nvSpPr>
          <p:cNvPr id="25" name="椭圆 24"/>
          <p:cNvSpPr/>
          <p:nvPr/>
        </p:nvSpPr>
        <p:spPr>
          <a:xfrm>
            <a:off x="539552" y="2643758"/>
            <a:ext cx="720080" cy="720080"/>
          </a:xfrm>
          <a:prstGeom prst="ellipse">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smtClean="0">
                <a:latin typeface="微软雅黑" panose="020B0503020204020204" pitchFamily="34" charset="-122"/>
                <a:ea typeface="微软雅黑" panose="020B0503020204020204" pitchFamily="34" charset="-122"/>
              </a:rPr>
              <a:t>价值</a:t>
            </a:r>
            <a:endParaRPr lang="zh-CN" altLang="en-US" sz="1200" dirty="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395536" y="51470"/>
            <a:ext cx="6552728" cy="720080"/>
          </a:xfrm>
        </p:spPr>
        <p:txBody>
          <a:bodyPr/>
          <a:lstStyle/>
          <a:p>
            <a:r>
              <a:rPr lang="zh-CN" altLang="en-US" dirty="0" smtClean="0">
                <a:solidFill>
                  <a:srgbClr val="2179B1"/>
                </a:solidFill>
              </a:rPr>
              <a:t>基层现状</a:t>
            </a:r>
            <a:endParaRPr lang="zh-CN" altLang="en-US" dirty="0">
              <a:solidFill>
                <a:srgbClr val="2179B1"/>
              </a:solidFill>
            </a:endParaRPr>
          </a:p>
        </p:txBody>
      </p:sp>
      <p:sp>
        <p:nvSpPr>
          <p:cNvPr id="7" name="object 3"/>
          <p:cNvSpPr/>
          <p:nvPr/>
        </p:nvSpPr>
        <p:spPr>
          <a:xfrm>
            <a:off x="539710" y="1045380"/>
            <a:ext cx="4051339" cy="1755458"/>
          </a:xfrm>
          <a:custGeom>
            <a:avLst/>
            <a:gdLst/>
            <a:ahLst/>
            <a:cxnLst/>
            <a:rect l="l" t="t" r="r" b="b"/>
            <a:pathLst>
              <a:path w="5511800" h="2340610">
                <a:moveTo>
                  <a:pt x="0" y="0"/>
                </a:moveTo>
                <a:lnTo>
                  <a:pt x="5511224" y="0"/>
                </a:lnTo>
                <a:lnTo>
                  <a:pt x="5511224" y="2339999"/>
                </a:lnTo>
                <a:lnTo>
                  <a:pt x="0" y="2339999"/>
                </a:lnTo>
                <a:lnTo>
                  <a:pt x="0" y="0"/>
                </a:lnTo>
                <a:close/>
              </a:path>
            </a:pathLst>
          </a:custGeom>
          <a:solidFill>
            <a:srgbClr val="196494"/>
          </a:solidFill>
        </p:spPr>
        <p:txBody>
          <a:bodyPr wrap="square" lIns="0" tIns="0" rIns="0" bIns="0" rtlCol="0"/>
          <a:lstStyle/>
          <a:p>
            <a:endParaRPr>
              <a:solidFill>
                <a:schemeClr val="bg1"/>
              </a:solidFill>
              <a:latin typeface="微软雅黑" panose="020B0503020204020204" pitchFamily="34" charset="-122"/>
              <a:ea typeface="微软雅黑" panose="020B0503020204020204" pitchFamily="34" charset="-122"/>
            </a:endParaRPr>
          </a:p>
        </p:txBody>
      </p:sp>
      <p:sp>
        <p:nvSpPr>
          <p:cNvPr id="8" name="object 4"/>
          <p:cNvSpPr/>
          <p:nvPr/>
        </p:nvSpPr>
        <p:spPr>
          <a:xfrm>
            <a:off x="539710" y="2859782"/>
            <a:ext cx="4051339" cy="1755458"/>
          </a:xfrm>
          <a:custGeom>
            <a:avLst/>
            <a:gdLst/>
            <a:ahLst/>
            <a:cxnLst/>
            <a:rect l="l" t="t" r="r" b="b"/>
            <a:pathLst>
              <a:path w="5511800" h="2340610">
                <a:moveTo>
                  <a:pt x="0" y="0"/>
                </a:moveTo>
                <a:lnTo>
                  <a:pt x="5511224" y="0"/>
                </a:lnTo>
                <a:lnTo>
                  <a:pt x="5511224" y="2339999"/>
                </a:lnTo>
                <a:lnTo>
                  <a:pt x="0" y="2339999"/>
                </a:lnTo>
                <a:lnTo>
                  <a:pt x="0" y="0"/>
                </a:lnTo>
                <a:close/>
              </a:path>
            </a:pathLst>
          </a:custGeom>
          <a:solidFill>
            <a:srgbClr val="196494"/>
          </a:solidFill>
        </p:spPr>
        <p:txBody>
          <a:bodyPr wrap="square" lIns="0" tIns="0" rIns="0" bIns="0" rtlCol="0"/>
          <a:lstStyle/>
          <a:p>
            <a:endParaRPr>
              <a:solidFill>
                <a:schemeClr val="bg1"/>
              </a:solidFill>
              <a:latin typeface="微软雅黑" panose="020B0503020204020204" pitchFamily="34" charset="-122"/>
              <a:ea typeface="微软雅黑" panose="020B0503020204020204" pitchFamily="34" charset="-122"/>
            </a:endParaRPr>
          </a:p>
        </p:txBody>
      </p:sp>
      <p:sp>
        <p:nvSpPr>
          <p:cNvPr id="9" name="object 5"/>
          <p:cNvSpPr txBox="1"/>
          <p:nvPr/>
        </p:nvSpPr>
        <p:spPr>
          <a:xfrm>
            <a:off x="683568" y="1203598"/>
            <a:ext cx="3816424" cy="1464119"/>
          </a:xfrm>
          <a:prstGeom prst="rect">
            <a:avLst/>
          </a:prstGeom>
        </p:spPr>
        <p:txBody>
          <a:bodyPr vert="horz" wrap="square" lIns="0" tIns="100965" rIns="0" bIns="0" rtlCol="0">
            <a:spAutoFit/>
          </a:bodyPr>
          <a:lstStyle/>
          <a:p>
            <a:pPr marL="342900" marR="0" lvl="0" indent="-342900" algn="ctr" defTabSz="914400" rtl="0" eaLnBrk="1" fontAlgn="auto" latinLnBrk="0" hangingPunct="1">
              <a:lnSpc>
                <a:spcPct val="100000"/>
              </a:lnSpc>
              <a:spcBef>
                <a:spcPts val="2400"/>
              </a:spcBef>
              <a:spcAft>
                <a:spcPts val="0"/>
              </a:spcAft>
              <a:buClrTx/>
              <a:buSzTx/>
              <a:defRPr/>
            </a:pPr>
            <a:r>
              <a:rPr kumimoji="0" lang="zh-CN" altLang="en-US" sz="2400" b="0" i="0" u="none" strike="noStrike" kern="1200" cap="none" spc="0" normalizeH="0" baseline="0" noProof="0" dirty="0" smtClean="0">
                <a:ln>
                  <a:noFill/>
                </a:ln>
                <a:solidFill>
                  <a:schemeClr val="bg1"/>
                </a:solidFill>
                <a:effectLst/>
                <a:uLnTx/>
                <a:uFillTx/>
                <a:latin typeface="微软雅黑" panose="020B0503020204020204" pitchFamily="34" charset="-122"/>
                <a:ea typeface="微软雅黑" panose="020B0503020204020204" pitchFamily="34" charset="-122"/>
              </a:rPr>
              <a:t>居民</a:t>
            </a:r>
          </a:p>
          <a:p>
            <a:pPr marL="266700" marR="0" lvl="0" indent="-171450" algn="ctr" defTabSz="914400" rtl="0" eaLnBrk="1" fontAlgn="auto" latinLnBrk="0" hangingPunct="1">
              <a:lnSpc>
                <a:spcPct val="100000"/>
              </a:lnSpc>
              <a:spcBef>
                <a:spcPts val="540"/>
              </a:spcBef>
              <a:spcAft>
                <a:spcPts val="0"/>
              </a:spcAft>
              <a:buClrTx/>
              <a:buSzTx/>
              <a:buFont typeface="Arial" panose="020B0604020202020204" pitchFamily="34" charset="0"/>
              <a:buChar char="•"/>
              <a:defRPr/>
            </a:pPr>
            <a:r>
              <a:rPr kumimoji="0" lang="zh-CN" altLang="en-US" sz="1200" b="0" i="0" u="none" strike="noStrike" kern="1200" cap="none" spc="0" normalizeH="0" baseline="0" noProof="0" dirty="0" smtClean="0">
                <a:ln>
                  <a:noFill/>
                </a:ln>
                <a:solidFill>
                  <a:schemeClr val="bg1"/>
                </a:solidFill>
                <a:effectLst/>
                <a:uLnTx/>
                <a:uFillTx/>
                <a:latin typeface="微软雅黑" panose="020B0503020204020204" pitchFamily="34" charset="-122"/>
                <a:ea typeface="微软雅黑" panose="020B0503020204020204" pitchFamily="34" charset="-122"/>
              </a:rPr>
              <a:t>留守老人多，老龄化比例高</a:t>
            </a:r>
            <a:r>
              <a:rPr lang="zh-CN" altLang="en-US" sz="1200" dirty="0" smtClean="0">
                <a:solidFill>
                  <a:schemeClr val="bg1"/>
                </a:solidFill>
                <a:latin typeface="微软雅黑" panose="020B0503020204020204" pitchFamily="34" charset="-122"/>
                <a:ea typeface="微软雅黑" panose="020B0503020204020204" pitchFamily="34" charset="-122"/>
              </a:rPr>
              <a:t>，患病比例高，面临漏诊、误诊、转运延迟等问题</a:t>
            </a:r>
            <a:endParaRPr kumimoji="0" lang="zh-CN" altLang="en-US" sz="1200" b="0" i="0" u="none" strike="noStrike" kern="1200" cap="none" spc="0" normalizeH="0" baseline="0" noProof="0" dirty="0" smtClean="0">
              <a:ln>
                <a:noFill/>
              </a:ln>
              <a:solidFill>
                <a:schemeClr val="bg1"/>
              </a:solidFill>
              <a:effectLst/>
              <a:uLnTx/>
              <a:uFillTx/>
              <a:latin typeface="微软雅黑" panose="020B0503020204020204" pitchFamily="34" charset="-122"/>
              <a:ea typeface="微软雅黑" panose="020B0503020204020204" pitchFamily="34" charset="-122"/>
            </a:endParaRPr>
          </a:p>
          <a:p>
            <a:pPr marL="695325" marR="518160" lvl="0" indent="-171450" algn="ctr" defTabSz="914400" rtl="0" eaLnBrk="1" fontAlgn="auto" latinLnBrk="0" hangingPunct="1">
              <a:lnSpc>
                <a:spcPct val="148000"/>
              </a:lnSpc>
              <a:spcBef>
                <a:spcPts val="90"/>
              </a:spcBef>
              <a:spcAft>
                <a:spcPts val="0"/>
              </a:spcAft>
              <a:buClrTx/>
              <a:buSzTx/>
              <a:buFont typeface="Arial" panose="020B0604020202020204" pitchFamily="34" charset="0"/>
              <a:buChar char="•"/>
              <a:defRPr/>
            </a:pPr>
            <a:r>
              <a:rPr kumimoji="0" lang="zh-CN" altLang="en-US" sz="1200" b="0" i="0" u="none" strike="noStrike" kern="1200" cap="none" spc="0" normalizeH="0" baseline="0" noProof="0" dirty="0" smtClean="0">
                <a:ln>
                  <a:noFill/>
                </a:ln>
                <a:solidFill>
                  <a:schemeClr val="bg1"/>
                </a:solidFill>
                <a:effectLst/>
                <a:uLnTx/>
                <a:uFillTx/>
                <a:latin typeface="微软雅黑" panose="020B0503020204020204" pitchFamily="34" charset="-122"/>
                <a:ea typeface="微软雅黑" panose="020B0503020204020204" pitchFamily="34" charset="-122"/>
              </a:rPr>
              <a:t>心血管疾病基础教育不足、地方偏远、交通不便、院外康复管理缺失</a:t>
            </a:r>
            <a:endParaRPr kumimoji="0" lang="en-US" altLang="zh-CN" sz="1200" b="0" i="0" u="none" strike="noStrike" kern="1200" cap="none" spc="0" normalizeH="0" baseline="0" noProof="0" dirty="0" smtClean="0">
              <a:ln>
                <a:noFill/>
              </a:ln>
              <a:solidFill>
                <a:schemeClr val="bg1"/>
              </a:solidFill>
              <a:effectLst/>
              <a:uLnTx/>
              <a:uFillTx/>
              <a:latin typeface="微软雅黑" panose="020B0503020204020204" pitchFamily="34" charset="-122"/>
              <a:ea typeface="微软雅黑" panose="020B0503020204020204" pitchFamily="34" charset="-122"/>
            </a:endParaRPr>
          </a:p>
        </p:txBody>
      </p:sp>
      <p:sp>
        <p:nvSpPr>
          <p:cNvPr id="10" name="object 6"/>
          <p:cNvSpPr/>
          <p:nvPr/>
        </p:nvSpPr>
        <p:spPr>
          <a:xfrm>
            <a:off x="4644009" y="1045380"/>
            <a:ext cx="3960440" cy="1755458"/>
          </a:xfrm>
          <a:custGeom>
            <a:avLst/>
            <a:gdLst/>
            <a:ahLst/>
            <a:cxnLst/>
            <a:rect l="l" t="t" r="r" b="b"/>
            <a:pathLst>
              <a:path w="5533390" h="2340610">
                <a:moveTo>
                  <a:pt x="0" y="0"/>
                </a:moveTo>
                <a:lnTo>
                  <a:pt x="5532978" y="0"/>
                </a:lnTo>
                <a:lnTo>
                  <a:pt x="5532978" y="2339999"/>
                </a:lnTo>
                <a:lnTo>
                  <a:pt x="0" y="2339999"/>
                </a:lnTo>
                <a:lnTo>
                  <a:pt x="0" y="0"/>
                </a:lnTo>
                <a:close/>
              </a:path>
            </a:pathLst>
          </a:custGeom>
          <a:solidFill>
            <a:srgbClr val="196494"/>
          </a:solidFill>
        </p:spPr>
        <p:txBody>
          <a:bodyPr wrap="square" lIns="0" tIns="0" rIns="0" bIns="0" rtlCol="0"/>
          <a:lstStyle/>
          <a:p>
            <a:endParaRPr>
              <a:solidFill>
                <a:schemeClr val="bg1"/>
              </a:solidFill>
              <a:latin typeface="微软雅黑" panose="020B0503020204020204" pitchFamily="34" charset="-122"/>
              <a:ea typeface="微软雅黑" panose="020B0503020204020204" pitchFamily="34" charset="-122"/>
            </a:endParaRPr>
          </a:p>
        </p:txBody>
      </p:sp>
      <p:sp>
        <p:nvSpPr>
          <p:cNvPr id="11" name="object 7"/>
          <p:cNvSpPr/>
          <p:nvPr/>
        </p:nvSpPr>
        <p:spPr>
          <a:xfrm>
            <a:off x="4644009" y="2859782"/>
            <a:ext cx="3960440" cy="1755458"/>
          </a:xfrm>
          <a:custGeom>
            <a:avLst/>
            <a:gdLst/>
            <a:ahLst/>
            <a:cxnLst/>
            <a:rect l="l" t="t" r="r" b="b"/>
            <a:pathLst>
              <a:path w="5533390" h="2340610">
                <a:moveTo>
                  <a:pt x="0" y="0"/>
                </a:moveTo>
                <a:lnTo>
                  <a:pt x="5532978" y="0"/>
                </a:lnTo>
                <a:lnTo>
                  <a:pt x="5532978" y="2339999"/>
                </a:lnTo>
                <a:lnTo>
                  <a:pt x="0" y="2339999"/>
                </a:lnTo>
                <a:lnTo>
                  <a:pt x="0" y="0"/>
                </a:lnTo>
                <a:close/>
              </a:path>
            </a:pathLst>
          </a:custGeom>
          <a:solidFill>
            <a:srgbClr val="196494"/>
          </a:solidFill>
        </p:spPr>
        <p:txBody>
          <a:bodyPr wrap="square" lIns="0" tIns="0" rIns="0" bIns="0" rtlCol="0"/>
          <a:lstStyle/>
          <a:p>
            <a:endParaRPr>
              <a:solidFill>
                <a:schemeClr val="bg1"/>
              </a:solidFill>
              <a:latin typeface="微软雅黑" panose="020B0503020204020204" pitchFamily="34" charset="-122"/>
              <a:ea typeface="微软雅黑" panose="020B0503020204020204" pitchFamily="34" charset="-122"/>
            </a:endParaRPr>
          </a:p>
        </p:txBody>
      </p:sp>
      <p:sp>
        <p:nvSpPr>
          <p:cNvPr id="12" name="object 8"/>
          <p:cNvSpPr txBox="1"/>
          <p:nvPr/>
        </p:nvSpPr>
        <p:spPr>
          <a:xfrm>
            <a:off x="4890042" y="1203598"/>
            <a:ext cx="3601982" cy="1279453"/>
          </a:xfrm>
          <a:prstGeom prst="rect">
            <a:avLst/>
          </a:prstGeom>
        </p:spPr>
        <p:txBody>
          <a:bodyPr vert="horz" wrap="square" lIns="0" tIns="100965" rIns="0" bIns="0" rtlCol="0">
            <a:spAutoFit/>
          </a:bodyPr>
          <a:lstStyle/>
          <a:p>
            <a:pPr marL="495300" marR="0" lvl="0" indent="-342900" algn="ctr" defTabSz="914400" rtl="0" eaLnBrk="1" fontAlgn="auto" latinLnBrk="0" hangingPunct="1">
              <a:lnSpc>
                <a:spcPct val="100000"/>
              </a:lnSpc>
              <a:spcBef>
                <a:spcPts val="795"/>
              </a:spcBef>
              <a:spcAft>
                <a:spcPts val="0"/>
              </a:spcAft>
              <a:buClrTx/>
              <a:buSzTx/>
              <a:defRPr/>
            </a:pPr>
            <a:r>
              <a:rPr kumimoji="0" lang="zh-CN" altLang="en-US" sz="2400" b="0" i="0" u="none" strike="noStrike" kern="1200" cap="none" spc="0" normalizeH="0" baseline="0" noProof="0" dirty="0" smtClean="0">
                <a:ln>
                  <a:noFill/>
                </a:ln>
                <a:solidFill>
                  <a:schemeClr val="bg1"/>
                </a:solidFill>
                <a:effectLst/>
                <a:uLnTx/>
                <a:uFillTx/>
                <a:latin typeface="微软雅黑" panose="020B0503020204020204" pitchFamily="34" charset="-122"/>
                <a:ea typeface="微软雅黑" panose="020B0503020204020204" pitchFamily="34" charset="-122"/>
              </a:rPr>
              <a:t>县级医院</a:t>
            </a:r>
          </a:p>
          <a:p>
            <a:pPr marL="180975" marR="0" lvl="0" indent="-180975" algn="ctr" defTabSz="914400" rtl="0" eaLnBrk="1" fontAlgn="auto" latinLnBrk="0" hangingPunct="1">
              <a:lnSpc>
                <a:spcPct val="100000"/>
              </a:lnSpc>
              <a:spcBef>
                <a:spcPts val="540"/>
              </a:spcBef>
              <a:spcAft>
                <a:spcPts val="0"/>
              </a:spcAft>
              <a:buClrTx/>
              <a:buSzTx/>
              <a:buFont typeface="Arial" panose="020B0604020202020204" pitchFamily="34" charset="0"/>
              <a:buChar char="•"/>
              <a:defRPr/>
            </a:pPr>
            <a:r>
              <a:rPr kumimoji="0" lang="zh-CN" altLang="en-US" sz="1200" b="0" i="0" u="none" strike="noStrike" kern="1200" cap="none" spc="0" normalizeH="0" baseline="0" noProof="0" dirty="0" smtClean="0">
                <a:ln>
                  <a:noFill/>
                </a:ln>
                <a:solidFill>
                  <a:schemeClr val="bg1"/>
                </a:solidFill>
                <a:effectLst/>
                <a:uLnTx/>
                <a:uFillTx/>
                <a:latin typeface="微软雅黑" panose="020B0503020204020204" pitchFamily="34" charset="-122"/>
                <a:ea typeface="微软雅黑" panose="020B0503020204020204" pitchFamily="34" charset="-122"/>
              </a:rPr>
              <a:t>院外筛查与防控成本高</a:t>
            </a:r>
          </a:p>
          <a:p>
            <a:pPr marL="180975" marR="89535" lvl="0" indent="-180975" algn="ctr" defTabSz="914400" rtl="0" eaLnBrk="1" fontAlgn="auto" latinLnBrk="0" hangingPunct="1">
              <a:lnSpc>
                <a:spcPct val="148000"/>
              </a:lnSpc>
              <a:spcBef>
                <a:spcPts val="90"/>
              </a:spcBef>
              <a:spcAft>
                <a:spcPts val="0"/>
              </a:spcAft>
              <a:buClrTx/>
              <a:buSzTx/>
              <a:buFont typeface="Arial" panose="020B0604020202020204" pitchFamily="34" charset="0"/>
              <a:buChar char="•"/>
              <a:defRPr/>
            </a:pPr>
            <a:r>
              <a:rPr kumimoji="0" lang="zh-CN" altLang="en-US" sz="1200" b="0" i="0" u="none" strike="noStrike" kern="1200" cap="none" spc="0" normalizeH="0" baseline="0" noProof="0" dirty="0" smtClean="0">
                <a:ln>
                  <a:noFill/>
                </a:ln>
                <a:solidFill>
                  <a:schemeClr val="bg1"/>
                </a:solidFill>
                <a:effectLst/>
                <a:uLnTx/>
                <a:uFillTx/>
                <a:latin typeface="微软雅黑" panose="020B0503020204020204" pitchFamily="34" charset="-122"/>
                <a:ea typeface="微软雅黑" panose="020B0503020204020204" pitchFamily="34" charset="-122"/>
              </a:rPr>
              <a:t>院外心电监测能力不足、病人送医救治不及时、院后康复执行不到位</a:t>
            </a:r>
          </a:p>
        </p:txBody>
      </p:sp>
      <p:sp>
        <p:nvSpPr>
          <p:cNvPr id="14" name="object 5"/>
          <p:cNvSpPr txBox="1"/>
          <p:nvPr/>
        </p:nvSpPr>
        <p:spPr>
          <a:xfrm>
            <a:off x="683568" y="2911214"/>
            <a:ext cx="3816424" cy="1571136"/>
          </a:xfrm>
          <a:prstGeom prst="rect">
            <a:avLst/>
          </a:prstGeom>
        </p:spPr>
        <p:txBody>
          <a:bodyPr vert="horz" wrap="square" lIns="0" tIns="100965" rIns="0" bIns="0" rtlCol="0">
            <a:spAutoFit/>
          </a:bodyPr>
          <a:lstStyle/>
          <a:p>
            <a:pPr marL="342900" marR="0" lvl="0" indent="-342900" algn="ctr" defTabSz="914400" rtl="0" eaLnBrk="1" fontAlgn="auto" latinLnBrk="0" hangingPunct="1">
              <a:lnSpc>
                <a:spcPct val="100000"/>
              </a:lnSpc>
              <a:spcBef>
                <a:spcPct val="20000"/>
              </a:spcBef>
              <a:spcAft>
                <a:spcPts val="0"/>
              </a:spcAft>
              <a:buClrTx/>
              <a:buSzTx/>
              <a:defRPr/>
            </a:pPr>
            <a:r>
              <a:rPr kumimoji="0" lang="zh-CN" altLang="en-US" sz="2400" b="0" i="0" u="none" strike="noStrike" kern="1200" cap="none" spc="0" normalizeH="0" baseline="0" noProof="0" dirty="0" smtClean="0">
                <a:ln>
                  <a:noFill/>
                </a:ln>
                <a:solidFill>
                  <a:schemeClr val="bg1"/>
                </a:solidFill>
                <a:effectLst/>
                <a:uLnTx/>
                <a:uFillTx/>
                <a:latin typeface="微软雅黑" panose="020B0503020204020204" pitchFamily="34" charset="-122"/>
                <a:ea typeface="微软雅黑" panose="020B0503020204020204" pitchFamily="34" charset="-122"/>
              </a:rPr>
              <a:t>基层医院</a:t>
            </a:r>
          </a:p>
          <a:p>
            <a:pPr marL="180975" marR="0" lvl="0" indent="-180975" algn="ctr" defTabSz="914400" rtl="0" eaLnBrk="1" fontAlgn="auto" latinLnBrk="0" hangingPunct="1">
              <a:lnSpc>
                <a:spcPct val="100000"/>
              </a:lnSpc>
              <a:spcBef>
                <a:spcPts val="540"/>
              </a:spcBef>
              <a:spcAft>
                <a:spcPts val="0"/>
              </a:spcAft>
              <a:buClrTx/>
              <a:buSzTx/>
              <a:buFont typeface="Arial" panose="020B0604020202020204" pitchFamily="34" charset="0"/>
              <a:buChar char="•"/>
              <a:defRPr/>
            </a:pPr>
            <a:r>
              <a:rPr kumimoji="0" lang="zh-CN" altLang="en-US" sz="1200" b="0" i="0" u="none" strike="noStrike" kern="1200" cap="none" spc="0" normalizeH="0" baseline="0" noProof="0" dirty="0" smtClean="0">
                <a:ln>
                  <a:noFill/>
                </a:ln>
                <a:solidFill>
                  <a:schemeClr val="bg1"/>
                </a:solidFill>
                <a:effectLst/>
                <a:uLnTx/>
                <a:uFillTx/>
                <a:latin typeface="微软雅黑" panose="020B0503020204020204" pitchFamily="34" charset="-122"/>
                <a:ea typeface="微软雅黑" panose="020B0503020204020204" pitchFamily="34" charset="-122"/>
              </a:rPr>
              <a:t>基层心电设备陈旧，缺乏联网能力</a:t>
            </a:r>
          </a:p>
          <a:p>
            <a:pPr marL="180975" marR="3810" lvl="0" indent="-180975" algn="ctr" defTabSz="914400" rtl="0" eaLnBrk="1" fontAlgn="auto" latinLnBrk="0" hangingPunct="1">
              <a:lnSpc>
                <a:spcPct val="149000"/>
              </a:lnSpc>
              <a:spcBef>
                <a:spcPts val="55"/>
              </a:spcBef>
              <a:spcAft>
                <a:spcPts val="0"/>
              </a:spcAft>
              <a:buClrTx/>
              <a:buSzTx/>
              <a:buFont typeface="Arial" panose="020B0604020202020204" pitchFamily="34" charset="0"/>
              <a:buChar char="•"/>
              <a:defRPr/>
            </a:pPr>
            <a:r>
              <a:rPr kumimoji="0" lang="zh-CN" altLang="en-US" sz="1200" b="0" i="0" u="none" strike="noStrike" kern="1200" cap="none" spc="0" normalizeH="0" baseline="0" noProof="0" dirty="0" smtClean="0">
                <a:ln>
                  <a:noFill/>
                </a:ln>
                <a:solidFill>
                  <a:schemeClr val="bg1"/>
                </a:solidFill>
                <a:effectLst/>
                <a:uLnTx/>
                <a:uFillTx/>
                <a:latin typeface="微软雅黑" panose="020B0503020204020204" pitchFamily="34" charset="-122"/>
                <a:ea typeface="微软雅黑" panose="020B0503020204020204" pitchFamily="34" charset="-122"/>
              </a:rPr>
              <a:t>基层心电医生缺乏，心电诊断能力不足，缺少及时、有效的双向转诊机制</a:t>
            </a:r>
          </a:p>
          <a:p>
            <a:pPr marL="180975" marR="0" lvl="0" indent="-180975" algn="ctr" defTabSz="914400" rtl="0" eaLnBrk="1" fontAlgn="auto" latinLnBrk="0" hangingPunct="1">
              <a:lnSpc>
                <a:spcPct val="149000"/>
              </a:lnSpc>
              <a:spcBef>
                <a:spcPts val="55"/>
              </a:spcBef>
              <a:spcAft>
                <a:spcPts val="0"/>
              </a:spcAft>
              <a:buClrTx/>
              <a:buSzTx/>
              <a:buFont typeface="Arial" panose="020B0604020202020204" pitchFamily="34" charset="0"/>
              <a:buChar char="•"/>
              <a:defRPr/>
            </a:pPr>
            <a:r>
              <a:rPr kumimoji="0" lang="zh-CN" altLang="en-US" sz="1200" b="0" i="0" u="none" strike="noStrike" kern="1200" cap="none" spc="0" normalizeH="0" baseline="0" noProof="0" dirty="0" smtClean="0">
                <a:ln>
                  <a:noFill/>
                </a:ln>
                <a:solidFill>
                  <a:schemeClr val="bg1"/>
                </a:solidFill>
                <a:effectLst/>
                <a:uLnTx/>
                <a:uFillTx/>
                <a:latin typeface="微软雅黑" panose="020B0503020204020204" pitchFamily="34" charset="-122"/>
                <a:ea typeface="微软雅黑" panose="020B0503020204020204" pitchFamily="34" charset="-122"/>
              </a:rPr>
              <a:t>院后病人不能有效管理起来</a:t>
            </a:r>
            <a:endParaRPr kumimoji="0" lang="zh-CN" altLang="en-US" sz="1200"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endParaRPr>
          </a:p>
        </p:txBody>
      </p:sp>
      <p:sp>
        <p:nvSpPr>
          <p:cNvPr id="15" name="object 8"/>
          <p:cNvSpPr txBox="1"/>
          <p:nvPr/>
        </p:nvSpPr>
        <p:spPr>
          <a:xfrm>
            <a:off x="4890042" y="2983222"/>
            <a:ext cx="3601982" cy="1295996"/>
          </a:xfrm>
          <a:prstGeom prst="rect">
            <a:avLst/>
          </a:prstGeom>
        </p:spPr>
        <p:txBody>
          <a:bodyPr vert="horz" wrap="square" lIns="0" tIns="100965" rIns="0" bIns="0" rtlCol="0">
            <a:spAutoFit/>
          </a:bodyPr>
          <a:lstStyle/>
          <a:p>
            <a:pPr marL="342900" marR="0" lvl="0" indent="-342900" algn="ctr" defTabSz="914400" rtl="0" eaLnBrk="1" fontAlgn="auto" latinLnBrk="0" hangingPunct="1">
              <a:lnSpc>
                <a:spcPct val="100000"/>
              </a:lnSpc>
              <a:spcBef>
                <a:spcPct val="20000"/>
              </a:spcBef>
              <a:spcAft>
                <a:spcPts val="0"/>
              </a:spcAft>
              <a:buClrTx/>
              <a:buSzTx/>
              <a:defRPr/>
            </a:pPr>
            <a:r>
              <a:rPr kumimoji="0" lang="zh-CN" altLang="en-US" sz="2400" b="0" i="0" u="none" strike="noStrike" kern="1200" cap="none" spc="0" normalizeH="0" baseline="0" noProof="0" dirty="0" smtClean="0">
                <a:ln>
                  <a:noFill/>
                </a:ln>
                <a:solidFill>
                  <a:schemeClr val="bg1"/>
                </a:solidFill>
                <a:effectLst/>
                <a:uLnTx/>
                <a:uFillTx/>
                <a:latin typeface="微软雅黑" panose="020B0503020204020204" pitchFamily="34" charset="-122"/>
                <a:ea typeface="微软雅黑" panose="020B0503020204020204" pitchFamily="34" charset="-122"/>
              </a:rPr>
              <a:t>政府</a:t>
            </a:r>
          </a:p>
          <a:p>
            <a:pPr marL="180975" marR="0" lvl="0" indent="-180975" algn="ctr" defTabSz="914400" rtl="0" eaLnBrk="1" fontAlgn="auto" latinLnBrk="0" hangingPunct="1">
              <a:lnSpc>
                <a:spcPct val="100000"/>
              </a:lnSpc>
              <a:spcBef>
                <a:spcPts val="540"/>
              </a:spcBef>
              <a:spcAft>
                <a:spcPts val="0"/>
              </a:spcAft>
              <a:buClrTx/>
              <a:buSzTx/>
              <a:buFont typeface="Arial" panose="020B0604020202020204" pitchFamily="34" charset="0"/>
              <a:buChar char="•"/>
              <a:defRPr/>
            </a:pPr>
            <a:r>
              <a:rPr kumimoji="0" lang="zh-CN" altLang="en-US" sz="1200" b="0" i="0" u="none" strike="noStrike" kern="1200" cap="none" spc="0" normalizeH="0" baseline="0" noProof="0" dirty="0" smtClean="0">
                <a:ln>
                  <a:noFill/>
                </a:ln>
                <a:solidFill>
                  <a:schemeClr val="bg1"/>
                </a:solidFill>
                <a:effectLst/>
                <a:uLnTx/>
                <a:uFillTx/>
                <a:latin typeface="微软雅黑" panose="020B0503020204020204" pitchFamily="34" charset="-122"/>
                <a:ea typeface="微软雅黑" panose="020B0503020204020204" pitchFamily="34" charset="-122"/>
              </a:rPr>
              <a:t>人口老龄化持续增加</a:t>
            </a:r>
          </a:p>
          <a:p>
            <a:pPr marL="180975" marR="260985" lvl="0" indent="-180975" algn="ctr" defTabSz="914400" rtl="0" eaLnBrk="1" fontAlgn="auto" latinLnBrk="0" hangingPunct="1">
              <a:lnSpc>
                <a:spcPct val="149000"/>
              </a:lnSpc>
              <a:spcBef>
                <a:spcPts val="55"/>
              </a:spcBef>
              <a:spcAft>
                <a:spcPts val="0"/>
              </a:spcAft>
              <a:buClrTx/>
              <a:buSzTx/>
              <a:buFont typeface="Arial" panose="020B0604020202020204" pitchFamily="34" charset="0"/>
              <a:buChar char="•"/>
              <a:defRPr/>
            </a:pPr>
            <a:r>
              <a:rPr kumimoji="0" lang="zh-CN" altLang="en-US" sz="1200" b="0" i="0" u="none" strike="noStrike" kern="1200" cap="none" spc="0" normalizeH="0" baseline="0" noProof="0" dirty="0" smtClean="0">
                <a:ln>
                  <a:noFill/>
                </a:ln>
                <a:solidFill>
                  <a:schemeClr val="bg1"/>
                </a:solidFill>
                <a:effectLst/>
                <a:uLnTx/>
                <a:uFillTx/>
                <a:latin typeface="微软雅黑" panose="020B0503020204020204" pitchFamily="34" charset="-122"/>
                <a:ea typeface="微软雅黑" panose="020B0503020204020204" pitchFamily="34" charset="-122"/>
              </a:rPr>
              <a:t>疾病人群不断增多、经济负担不断加重</a:t>
            </a:r>
          </a:p>
          <a:p>
            <a:pPr marL="180975" marR="0" lvl="0" indent="-180975" algn="ctr" defTabSz="914400" rtl="0" eaLnBrk="1" fontAlgn="auto" latinLnBrk="0" hangingPunct="1">
              <a:lnSpc>
                <a:spcPct val="149000"/>
              </a:lnSpc>
              <a:spcBef>
                <a:spcPts val="55"/>
              </a:spcBef>
              <a:spcAft>
                <a:spcPts val="0"/>
              </a:spcAft>
              <a:buClrTx/>
              <a:buSzTx/>
              <a:buFont typeface="Arial" panose="020B0604020202020204" pitchFamily="34" charset="0"/>
              <a:buChar char="•"/>
              <a:defRPr/>
            </a:pPr>
            <a:r>
              <a:rPr kumimoji="0" lang="zh-CN" altLang="en-US" sz="1200" b="0" i="0" u="none" strike="noStrike" kern="1200" cap="none" spc="0" normalizeH="0" baseline="0" noProof="0" dirty="0" smtClean="0">
                <a:ln>
                  <a:noFill/>
                </a:ln>
                <a:solidFill>
                  <a:schemeClr val="bg1"/>
                </a:solidFill>
                <a:effectLst/>
                <a:uLnTx/>
                <a:uFillTx/>
                <a:latin typeface="微软雅黑" panose="020B0503020204020204" pitchFamily="34" charset="-122"/>
                <a:ea typeface="微软雅黑" panose="020B0503020204020204" pitchFamily="34" charset="-122"/>
              </a:rPr>
              <a:t>投入多、收益小、见效慢</a:t>
            </a:r>
            <a:endParaRPr kumimoji="0" lang="zh-CN" altLang="en-US" sz="1200"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395536" y="51470"/>
            <a:ext cx="6552728" cy="720080"/>
          </a:xfrm>
        </p:spPr>
        <p:txBody>
          <a:bodyPr/>
          <a:lstStyle/>
          <a:p>
            <a:r>
              <a:rPr lang="zh-CN" altLang="en-US" dirty="0" smtClean="0">
                <a:solidFill>
                  <a:srgbClr val="2179B1"/>
                </a:solidFill>
              </a:rPr>
              <a:t>政府工作要求</a:t>
            </a:r>
            <a:endParaRPr lang="zh-CN" altLang="en-US" dirty="0">
              <a:solidFill>
                <a:srgbClr val="2179B1"/>
              </a:solidFill>
            </a:endParaRPr>
          </a:p>
        </p:txBody>
      </p:sp>
      <p:pic>
        <p:nvPicPr>
          <p:cNvPr id="4" name="图片 3"/>
          <p:cNvPicPr>
            <a:picLocks noChangeAspect="1"/>
          </p:cNvPicPr>
          <p:nvPr/>
        </p:nvPicPr>
        <p:blipFill>
          <a:blip r:embed="rId3" cstate="print"/>
          <a:stretch>
            <a:fillRect/>
          </a:stretch>
        </p:blipFill>
        <p:spPr>
          <a:xfrm>
            <a:off x="683260" y="915035"/>
            <a:ext cx="1865630" cy="2618740"/>
          </a:xfrm>
          <a:prstGeom prst="rect">
            <a:avLst/>
          </a:prstGeom>
          <a:ln>
            <a:solidFill>
              <a:schemeClr val="bg1">
                <a:lumMod val="65000"/>
              </a:schemeClr>
            </a:solidFill>
          </a:ln>
        </p:spPr>
      </p:pic>
      <p:pic>
        <p:nvPicPr>
          <p:cNvPr id="10" name="图片 9"/>
          <p:cNvPicPr>
            <a:picLocks noChangeAspect="1"/>
          </p:cNvPicPr>
          <p:nvPr/>
        </p:nvPicPr>
        <p:blipFill>
          <a:blip r:embed="rId4" cstate="print"/>
          <a:stretch>
            <a:fillRect/>
          </a:stretch>
        </p:blipFill>
        <p:spPr>
          <a:xfrm>
            <a:off x="6235700" y="915035"/>
            <a:ext cx="1905635" cy="2618105"/>
          </a:xfrm>
          <a:prstGeom prst="rect">
            <a:avLst/>
          </a:prstGeom>
          <a:ln>
            <a:solidFill>
              <a:schemeClr val="bg1">
                <a:lumMod val="65000"/>
              </a:schemeClr>
            </a:solidFill>
          </a:ln>
        </p:spPr>
      </p:pic>
      <p:pic>
        <p:nvPicPr>
          <p:cNvPr id="11" name="图片 10"/>
          <p:cNvPicPr>
            <a:picLocks noChangeAspect="1"/>
          </p:cNvPicPr>
          <p:nvPr/>
        </p:nvPicPr>
        <p:blipFill>
          <a:blip r:embed="rId5" cstate="print"/>
          <a:stretch>
            <a:fillRect/>
          </a:stretch>
        </p:blipFill>
        <p:spPr>
          <a:xfrm>
            <a:off x="4423410" y="914400"/>
            <a:ext cx="1833245" cy="2619375"/>
          </a:xfrm>
          <a:prstGeom prst="rect">
            <a:avLst/>
          </a:prstGeom>
          <a:ln>
            <a:solidFill>
              <a:schemeClr val="bg1">
                <a:lumMod val="65000"/>
              </a:schemeClr>
            </a:solidFill>
          </a:ln>
        </p:spPr>
      </p:pic>
      <p:pic>
        <p:nvPicPr>
          <p:cNvPr id="13" name="图片 12"/>
          <p:cNvPicPr>
            <a:picLocks noChangeAspect="1"/>
          </p:cNvPicPr>
          <p:nvPr/>
        </p:nvPicPr>
        <p:blipFill>
          <a:blip r:embed="rId6" cstate="print"/>
          <a:stretch>
            <a:fillRect/>
          </a:stretch>
        </p:blipFill>
        <p:spPr>
          <a:xfrm>
            <a:off x="2562225" y="915035"/>
            <a:ext cx="1894840" cy="2618105"/>
          </a:xfrm>
          <a:prstGeom prst="rect">
            <a:avLst/>
          </a:prstGeom>
          <a:ln>
            <a:solidFill>
              <a:schemeClr val="bg1">
                <a:lumMod val="65000"/>
              </a:schemeClr>
            </a:solidFill>
          </a:ln>
        </p:spPr>
      </p:pic>
      <p:sp>
        <p:nvSpPr>
          <p:cNvPr id="14" name="文本框 13"/>
          <p:cNvSpPr txBox="1"/>
          <p:nvPr/>
        </p:nvSpPr>
        <p:spPr>
          <a:xfrm>
            <a:off x="682625" y="3579495"/>
            <a:ext cx="5307965" cy="291465"/>
          </a:xfrm>
          <a:prstGeom prst="rect">
            <a:avLst/>
          </a:prstGeom>
          <a:noFill/>
        </p:spPr>
        <p:txBody>
          <a:bodyPr wrap="square" rtlCol="0">
            <a:spAutoFit/>
          </a:bodyPr>
          <a:lstStyle/>
          <a:p>
            <a:pPr algn="l">
              <a:lnSpc>
                <a:spcPct val="130000"/>
              </a:lnSpc>
              <a:buClrTx/>
              <a:buSzTx/>
              <a:buFontTx/>
            </a:pPr>
            <a:r>
              <a:rPr lang="zh-CN" altLang="en-US" sz="1000" dirty="0" smtClean="0">
                <a:latin typeface="微软雅黑" panose="020B0503020204020204" pitchFamily="34" charset="-122"/>
                <a:ea typeface="微软雅黑" panose="020B0503020204020204" pitchFamily="34" charset="-122"/>
              </a:rPr>
              <a:t>浙江省已经发布了明确的行动计划</a:t>
            </a:r>
          </a:p>
        </p:txBody>
      </p:sp>
      <p:sp>
        <p:nvSpPr>
          <p:cNvPr id="15" name="文本框 14"/>
          <p:cNvSpPr txBox="1"/>
          <p:nvPr/>
        </p:nvSpPr>
        <p:spPr>
          <a:xfrm>
            <a:off x="682625" y="3795395"/>
            <a:ext cx="7393940" cy="1079500"/>
          </a:xfrm>
          <a:prstGeom prst="rect">
            <a:avLst/>
          </a:prstGeom>
          <a:noFill/>
        </p:spPr>
        <p:txBody>
          <a:bodyPr wrap="square" rtlCol="0">
            <a:noAutofit/>
          </a:bodyPr>
          <a:lstStyle/>
          <a:p>
            <a:pPr marL="171450" indent="-171450" algn="l">
              <a:lnSpc>
                <a:spcPct val="150000"/>
              </a:lnSpc>
              <a:buClrTx/>
              <a:buSzTx/>
              <a:buFont typeface="Wingdings" panose="05000000000000000000" charset="0"/>
              <a:buChar char="l"/>
            </a:pPr>
            <a:r>
              <a:rPr lang="zh-CN" altLang="en-US" sz="1000" dirty="0" smtClean="0">
                <a:latin typeface="微软雅黑" panose="020B0503020204020204" pitchFamily="34" charset="-122"/>
                <a:ea typeface="微软雅黑" panose="020B0503020204020204" pitchFamily="34" charset="-122"/>
              </a:rPr>
              <a:t>1.9 月底前，全部县（市、区）完善区域心电诊断中心，全部乡镇卫生院、社区卫生服务中心完成数字心电仪配置；</a:t>
            </a:r>
          </a:p>
          <a:p>
            <a:pPr marL="171450" indent="-171450" algn="l">
              <a:lnSpc>
                <a:spcPct val="150000"/>
              </a:lnSpc>
              <a:buClrTx/>
              <a:buSzTx/>
              <a:buFont typeface="Wingdings" panose="05000000000000000000" charset="0"/>
              <a:buChar char="l"/>
            </a:pPr>
            <a:r>
              <a:rPr lang="zh-CN" altLang="en-US" sz="1000" dirty="0" smtClean="0">
                <a:latin typeface="微软雅黑" panose="020B0503020204020204" pitchFamily="34" charset="-122"/>
                <a:ea typeface="微软雅黑" panose="020B0503020204020204" pitchFamily="34" charset="-122"/>
              </a:rPr>
              <a:t>2025年 3 月底前，各市完成辖区内 50%的政府办村卫生室和社区卫生服务站的数字心电仪配置；</a:t>
            </a:r>
          </a:p>
          <a:p>
            <a:pPr marL="171450" indent="-171450" algn="l">
              <a:lnSpc>
                <a:spcPct val="100000"/>
              </a:lnSpc>
              <a:buClrTx/>
              <a:buSzTx/>
              <a:buFont typeface="Wingdings" panose="05000000000000000000" charset="0"/>
              <a:buChar char="l"/>
            </a:pPr>
            <a:r>
              <a:rPr lang="zh-CN" altLang="en-US" sz="1000" dirty="0" smtClean="0">
                <a:latin typeface="微软雅黑" panose="020B0503020204020204" pitchFamily="34" charset="-122"/>
                <a:ea typeface="微软雅黑" panose="020B0503020204020204" pitchFamily="34" charset="-122"/>
              </a:rPr>
              <a:t>2025 年实现政府办村卫生室和社区卫生服务站数字心电仪全覆盖</a:t>
            </a:r>
            <a:r>
              <a:rPr lang="zh-CN" altLang="en-US"/>
              <a:t>。</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1707782"/>
            <a:ext cx="5940152" cy="1080000"/>
          </a:xfrm>
          <a:prstGeom prst="rect">
            <a:avLst/>
          </a:prstGeom>
          <a:solidFill>
            <a:srgbClr val="19649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8910228" y="1707782"/>
            <a:ext cx="233772" cy="1080000"/>
          </a:xfrm>
          <a:prstGeom prst="rect">
            <a:avLst/>
          </a:prstGeom>
          <a:solidFill>
            <a:srgbClr val="19649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TextBox 6"/>
          <p:cNvSpPr txBox="1"/>
          <p:nvPr/>
        </p:nvSpPr>
        <p:spPr>
          <a:xfrm>
            <a:off x="6512119" y="1955394"/>
            <a:ext cx="1826141" cy="584775"/>
          </a:xfrm>
          <a:prstGeom prst="rect">
            <a:avLst/>
          </a:prstGeom>
          <a:noFill/>
        </p:spPr>
        <p:txBody>
          <a:bodyPr wrap="none" rtlCol="0">
            <a:spAutoFit/>
          </a:bodyPr>
          <a:lstStyle/>
          <a:p>
            <a:r>
              <a:rPr lang="zh-CN" altLang="en-US" sz="3200" b="1" dirty="0">
                <a:solidFill>
                  <a:srgbClr val="196494"/>
                </a:solidFill>
                <a:latin typeface="微软雅黑" panose="020B0503020204020204" pitchFamily="34" charset="-122"/>
                <a:ea typeface="微软雅黑" panose="020B0503020204020204" pitchFamily="34" charset="-122"/>
              </a:rPr>
              <a:t>方案概述</a:t>
            </a:r>
          </a:p>
        </p:txBody>
      </p:sp>
      <p:sp>
        <p:nvSpPr>
          <p:cNvPr id="9" name="TextBox 8"/>
          <p:cNvSpPr txBox="1"/>
          <p:nvPr/>
        </p:nvSpPr>
        <p:spPr>
          <a:xfrm>
            <a:off x="1619672" y="1851670"/>
            <a:ext cx="4040530" cy="1200329"/>
          </a:xfrm>
          <a:prstGeom prst="rect">
            <a:avLst/>
          </a:prstGeom>
          <a:noFill/>
        </p:spPr>
        <p:txBody>
          <a:bodyPr wrap="none" rtlCol="0">
            <a:spAutoFit/>
          </a:bodyPr>
          <a:lstStyle>
            <a:defPPr>
              <a:defRPr lang="zh-CN"/>
            </a:defPPr>
            <a:lvl1pPr>
              <a:defRPr sz="7200" b="1">
                <a:solidFill>
                  <a:srgbClr val="1F71A6"/>
                </a:solidFill>
                <a:latin typeface="微软雅黑" panose="020B0503020204020204" pitchFamily="34" charset="-122"/>
                <a:ea typeface="微软雅黑" panose="020B0503020204020204" pitchFamily="34" charset="-122"/>
              </a:defRPr>
            </a:lvl1pPr>
          </a:lstStyle>
          <a:p>
            <a:r>
              <a:rPr lang="en-US" altLang="zh-CN" dirty="0"/>
              <a:t>PART 02</a:t>
            </a:r>
            <a:endParaRPr lang="zh-CN" altLang="en-US"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395536" y="51470"/>
            <a:ext cx="6552728" cy="720080"/>
          </a:xfrm>
        </p:spPr>
        <p:txBody>
          <a:bodyPr/>
          <a:lstStyle/>
          <a:p>
            <a:r>
              <a:rPr lang="zh-CN" altLang="en-US" dirty="0">
                <a:solidFill>
                  <a:srgbClr val="2179B1"/>
                </a:solidFill>
              </a:rPr>
              <a:t>方案介绍</a:t>
            </a:r>
          </a:p>
        </p:txBody>
      </p:sp>
      <p:sp>
        <p:nvSpPr>
          <p:cNvPr id="3" name="矩形 2"/>
          <p:cNvSpPr/>
          <p:nvPr/>
        </p:nvSpPr>
        <p:spPr>
          <a:xfrm>
            <a:off x="395536" y="843558"/>
            <a:ext cx="8352928" cy="783590"/>
          </a:xfrm>
          <a:prstGeom prst="rect">
            <a:avLst/>
          </a:prstGeom>
        </p:spPr>
        <p:txBody>
          <a:bodyPr wrap="square">
            <a:spAutoFit/>
          </a:bodyPr>
          <a:lstStyle/>
          <a:p>
            <a:pPr>
              <a:lnSpc>
                <a:spcPct val="150000"/>
              </a:lnSpc>
            </a:pPr>
            <a:r>
              <a:rPr lang="zh-CN" altLang="en-US" sz="1000" dirty="0">
                <a:solidFill>
                  <a:schemeClr val="tx1">
                    <a:lumMod val="85000"/>
                    <a:lumOff val="15000"/>
                  </a:schemeClr>
                </a:solidFill>
                <a:latin typeface="微软雅黑" panose="020B0503020204020204" pitchFamily="34" charset="-122"/>
                <a:ea typeface="微软雅黑" panose="020B0503020204020204" pitchFamily="34" charset="-122"/>
              </a:rPr>
              <a:t>通过建立</a:t>
            </a:r>
            <a:r>
              <a:rPr lang="zh-CN" altLang="en-US" sz="1000" b="1" dirty="0">
                <a:solidFill>
                  <a:schemeClr val="tx1">
                    <a:lumMod val="85000"/>
                    <a:lumOff val="15000"/>
                  </a:schemeClr>
                </a:solidFill>
                <a:latin typeface="微软雅黑" panose="020B0503020204020204" pitchFamily="34" charset="-122"/>
                <a:ea typeface="微软雅黑" panose="020B0503020204020204" pitchFamily="34" charset="-122"/>
              </a:rPr>
              <a:t>标准化、一体化的心血管疾病救治体系</a:t>
            </a:r>
            <a:r>
              <a:rPr lang="zh-CN" altLang="en-US" sz="1000" dirty="0">
                <a:solidFill>
                  <a:schemeClr val="tx1">
                    <a:lumMod val="85000"/>
                    <a:lumOff val="15000"/>
                  </a:schemeClr>
                </a:solidFill>
                <a:latin typeface="微软雅黑" panose="020B0503020204020204" pitchFamily="34" charset="-122"/>
                <a:ea typeface="微软雅黑" panose="020B0503020204020204" pitchFamily="34" charset="-122"/>
              </a:rPr>
              <a:t>，使得心电图的采集和诊断打破时间和空间的限制，形成</a:t>
            </a:r>
            <a:r>
              <a:rPr lang="zh-CN" altLang="en-US" sz="1000" b="1" dirty="0">
                <a:solidFill>
                  <a:schemeClr val="tx1">
                    <a:lumMod val="85000"/>
                    <a:lumOff val="15000"/>
                  </a:schemeClr>
                </a:solidFill>
                <a:latin typeface="微软雅黑" panose="020B0503020204020204" pitchFamily="34" charset="-122"/>
                <a:ea typeface="微软雅黑" panose="020B0503020204020204" pitchFamily="34" charset="-122"/>
              </a:rPr>
              <a:t>基层检查、集中诊断、专家质控</a:t>
            </a:r>
            <a:r>
              <a:rPr lang="zh-CN" altLang="en-US" sz="1000" dirty="0">
                <a:solidFill>
                  <a:schemeClr val="tx1">
                    <a:lumMod val="85000"/>
                    <a:lumOff val="15000"/>
                  </a:schemeClr>
                </a:solidFill>
                <a:latin typeface="微软雅黑" panose="020B0503020204020204" pitchFamily="34" charset="-122"/>
                <a:ea typeface="微软雅黑" panose="020B0503020204020204" pitchFamily="34" charset="-122"/>
              </a:rPr>
              <a:t>的三级诊疗模式，打通</a:t>
            </a:r>
            <a:r>
              <a:rPr lang="zh-CN" altLang="en-US" sz="1000" b="1" dirty="0">
                <a:solidFill>
                  <a:schemeClr val="tx1">
                    <a:lumMod val="85000"/>
                    <a:lumOff val="15000"/>
                  </a:schemeClr>
                </a:solidFill>
                <a:latin typeface="微软雅黑" panose="020B0503020204020204" pitchFamily="34" charset="-122"/>
                <a:ea typeface="微软雅黑" panose="020B0503020204020204" pitchFamily="34" charset="-122"/>
              </a:rPr>
              <a:t>院前</a:t>
            </a:r>
            <a:r>
              <a:rPr lang="en-US" altLang="zh-CN" sz="1000" b="1" dirty="0">
                <a:solidFill>
                  <a:schemeClr val="tx1">
                    <a:lumMod val="85000"/>
                    <a:lumOff val="15000"/>
                  </a:schemeClr>
                </a:solidFill>
                <a:latin typeface="微软雅黑" panose="020B0503020204020204" pitchFamily="34" charset="-122"/>
                <a:ea typeface="微软雅黑" panose="020B0503020204020204" pitchFamily="34" charset="-122"/>
              </a:rPr>
              <a:t>-</a:t>
            </a:r>
            <a:r>
              <a:rPr lang="zh-CN" altLang="en-US" sz="1000" b="1" dirty="0">
                <a:solidFill>
                  <a:schemeClr val="tx1">
                    <a:lumMod val="85000"/>
                    <a:lumOff val="15000"/>
                  </a:schemeClr>
                </a:solidFill>
                <a:latin typeface="微软雅黑" panose="020B0503020204020204" pitchFamily="34" charset="-122"/>
                <a:ea typeface="微软雅黑" panose="020B0503020204020204" pitchFamily="34" charset="-122"/>
              </a:rPr>
              <a:t>院中</a:t>
            </a:r>
            <a:r>
              <a:rPr lang="en-US" altLang="zh-CN" sz="1000" b="1" dirty="0">
                <a:solidFill>
                  <a:schemeClr val="tx1">
                    <a:lumMod val="85000"/>
                    <a:lumOff val="15000"/>
                  </a:schemeClr>
                </a:solidFill>
                <a:latin typeface="微软雅黑" panose="020B0503020204020204" pitchFamily="34" charset="-122"/>
                <a:ea typeface="微软雅黑" panose="020B0503020204020204" pitchFamily="34" charset="-122"/>
              </a:rPr>
              <a:t>-</a:t>
            </a:r>
            <a:r>
              <a:rPr lang="zh-CN" altLang="en-US" sz="1000" b="1" dirty="0">
                <a:solidFill>
                  <a:schemeClr val="tx1">
                    <a:lumMod val="85000"/>
                    <a:lumOff val="15000"/>
                  </a:schemeClr>
                </a:solidFill>
                <a:latin typeface="微软雅黑" panose="020B0503020204020204" pitchFamily="34" charset="-122"/>
                <a:ea typeface="微软雅黑" panose="020B0503020204020204" pitchFamily="34" charset="-122"/>
              </a:rPr>
              <a:t>院后各项关键环节</a:t>
            </a:r>
            <a:r>
              <a:rPr lang="zh-CN" altLang="en-US" sz="1000" dirty="0">
                <a:solidFill>
                  <a:schemeClr val="tx1">
                    <a:lumMod val="85000"/>
                    <a:lumOff val="15000"/>
                  </a:schemeClr>
                </a:solidFill>
                <a:latin typeface="微软雅黑" panose="020B0503020204020204" pitchFamily="34" charset="-122"/>
                <a:ea typeface="微软雅黑" panose="020B0503020204020204" pitchFamily="34" charset="-122"/>
              </a:rPr>
              <a:t>。本系统在为各级</a:t>
            </a: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rPr>
              <a:t>机构</a:t>
            </a:r>
            <a:r>
              <a:rPr lang="zh-CN" altLang="en-US" sz="1000" dirty="0">
                <a:solidFill>
                  <a:schemeClr val="tx1">
                    <a:lumMod val="85000"/>
                    <a:lumOff val="15000"/>
                  </a:schemeClr>
                </a:solidFill>
                <a:latin typeface="微软雅黑" panose="020B0503020204020204" pitchFamily="34" charset="-122"/>
                <a:ea typeface="微软雅黑" panose="020B0503020204020204" pitchFamily="34" charset="-122"/>
              </a:rPr>
              <a:t>提供一个实时、共享平台的同时，优化医疗资源配置，助力分级诊疗，为基层居民提供高质量的心电诊疗服务，惠及心血管患者。</a:t>
            </a:r>
          </a:p>
        </p:txBody>
      </p:sp>
      <p:pic>
        <p:nvPicPr>
          <p:cNvPr id="6" name="图片 5"/>
          <p:cNvPicPr>
            <a:picLocks noChangeAspect="1"/>
          </p:cNvPicPr>
          <p:nvPr/>
        </p:nvPicPr>
        <p:blipFill>
          <a:blip r:embed="rId3" cstate="print"/>
          <a:stretch>
            <a:fillRect/>
          </a:stretch>
        </p:blipFill>
        <p:spPr>
          <a:xfrm>
            <a:off x="611560" y="1923678"/>
            <a:ext cx="3959168" cy="2401114"/>
          </a:xfrm>
          <a:prstGeom prst="rect">
            <a:avLst/>
          </a:prstGeom>
        </p:spPr>
      </p:pic>
      <p:sp>
        <p:nvSpPr>
          <p:cNvPr id="4" name="矩形 3"/>
          <p:cNvSpPr/>
          <p:nvPr/>
        </p:nvSpPr>
        <p:spPr>
          <a:xfrm>
            <a:off x="4932040" y="2139702"/>
            <a:ext cx="3672408" cy="1600438"/>
          </a:xfrm>
          <a:prstGeom prst="rect">
            <a:avLst/>
          </a:prstGeom>
        </p:spPr>
        <p:txBody>
          <a:bodyPr wrap="square">
            <a:spAutoFit/>
          </a:bodyPr>
          <a:lstStyle/>
          <a:p>
            <a:pPr>
              <a:lnSpc>
                <a:spcPct val="150000"/>
              </a:lnSpc>
              <a:spcAft>
                <a:spcPts val="600"/>
              </a:spcAft>
            </a:pPr>
            <a:r>
              <a:rPr lang="zh-CN" altLang="en-US" sz="1200" b="1" dirty="0">
                <a:solidFill>
                  <a:schemeClr val="tx1">
                    <a:lumMod val="85000"/>
                    <a:lumOff val="15000"/>
                  </a:schemeClr>
                </a:solidFill>
                <a:latin typeface="微软雅黑" panose="020B0503020204020204" pitchFamily="34" charset="-122"/>
                <a:ea typeface="微软雅黑" panose="020B0503020204020204" pitchFamily="34" charset="-122"/>
              </a:rPr>
              <a:t>建设目标：</a:t>
            </a:r>
            <a:endParaRPr lang="en-US" altLang="zh-CN" sz="1200" b="1" dirty="0">
              <a:solidFill>
                <a:schemeClr val="tx1">
                  <a:lumMod val="85000"/>
                  <a:lumOff val="15000"/>
                </a:schemeClr>
              </a:solidFill>
              <a:latin typeface="微软雅黑" panose="020B0503020204020204" pitchFamily="34" charset="-122"/>
              <a:ea typeface="微软雅黑" panose="020B0503020204020204" pitchFamily="34" charset="-122"/>
            </a:endParaRPr>
          </a:p>
          <a:p>
            <a:pPr>
              <a:lnSpc>
                <a:spcPct val="150000"/>
              </a:lnSpc>
            </a:pPr>
            <a:r>
              <a:rPr lang="zh-CN" altLang="zh-CN" sz="1000" dirty="0">
                <a:solidFill>
                  <a:schemeClr val="tx1">
                    <a:lumMod val="85000"/>
                    <a:lumOff val="15000"/>
                  </a:schemeClr>
                </a:solidFill>
                <a:latin typeface="微软雅黑" panose="020B0503020204020204" pitchFamily="34" charset="-122"/>
                <a:ea typeface="微软雅黑" panose="020B0503020204020204" pitchFamily="34" charset="-122"/>
              </a:rPr>
              <a:t>基于“互联网</a:t>
            </a:r>
            <a:r>
              <a:rPr lang="en-US" altLang="zh-CN" sz="1000" dirty="0">
                <a:solidFill>
                  <a:schemeClr val="tx1">
                    <a:lumMod val="85000"/>
                    <a:lumOff val="15000"/>
                  </a:schemeClr>
                </a:solidFill>
                <a:latin typeface="微软雅黑" panose="020B0503020204020204" pitchFamily="34" charset="-122"/>
                <a:ea typeface="微软雅黑" panose="020B0503020204020204" pitchFamily="34" charset="-122"/>
              </a:rPr>
              <a:t>+</a:t>
            </a:r>
            <a:r>
              <a:rPr lang="zh-CN" altLang="zh-CN" sz="1000" dirty="0">
                <a:solidFill>
                  <a:schemeClr val="tx1">
                    <a:lumMod val="85000"/>
                    <a:lumOff val="15000"/>
                  </a:schemeClr>
                </a:solidFill>
                <a:latin typeface="微软雅黑" panose="020B0503020204020204" pitchFamily="34" charset="-122"/>
                <a:ea typeface="微软雅黑" panose="020B0503020204020204" pitchFamily="34" charset="-122"/>
              </a:rPr>
              <a:t>医疗”的远程医疗服务模式，</a:t>
            </a:r>
            <a:r>
              <a:rPr lang="zh-CN" altLang="zh-CN" sz="1000" b="1" dirty="0">
                <a:solidFill>
                  <a:schemeClr val="tx1">
                    <a:lumMod val="85000"/>
                    <a:lumOff val="15000"/>
                  </a:schemeClr>
                </a:solidFill>
                <a:latin typeface="微软雅黑" panose="020B0503020204020204" pitchFamily="34" charset="-122"/>
                <a:ea typeface="微软雅黑" panose="020B0503020204020204" pitchFamily="34" charset="-122"/>
              </a:rPr>
              <a:t>依托医共体主体医院，通过搭建远程心电诊断和管理平台</a:t>
            </a:r>
            <a:r>
              <a:rPr lang="zh-CN" altLang="zh-CN" sz="1000" dirty="0">
                <a:solidFill>
                  <a:schemeClr val="tx1">
                    <a:lumMod val="85000"/>
                    <a:lumOff val="15000"/>
                  </a:schemeClr>
                </a:solidFill>
                <a:latin typeface="微软雅黑" panose="020B0503020204020204" pitchFamily="34" charset="-122"/>
                <a:ea typeface="微软雅黑" panose="020B0503020204020204" pitchFamily="34" charset="-122"/>
              </a:rPr>
              <a:t>，将基层医疗机构（如镇卫生院、村卫生室等）与上级医疗机构（如市级、省级医院等）的心电诊断资源进行有效整合，形成一个</a:t>
            </a:r>
            <a:r>
              <a:rPr lang="zh-CN" altLang="zh-CN" sz="1000" b="1" dirty="0">
                <a:solidFill>
                  <a:schemeClr val="tx1">
                    <a:lumMod val="85000"/>
                    <a:lumOff val="15000"/>
                  </a:schemeClr>
                </a:solidFill>
                <a:latin typeface="微软雅黑" panose="020B0503020204020204" pitchFamily="34" charset="-122"/>
                <a:ea typeface="微软雅黑" panose="020B0503020204020204" pitchFamily="34" charset="-122"/>
              </a:rPr>
              <a:t>覆盖整个区域</a:t>
            </a:r>
            <a:r>
              <a:rPr lang="zh-CN" altLang="zh-CN" sz="1000" dirty="0">
                <a:solidFill>
                  <a:schemeClr val="tx1">
                    <a:lumMod val="85000"/>
                    <a:lumOff val="15000"/>
                  </a:schemeClr>
                </a:solidFill>
                <a:latin typeface="微软雅黑" panose="020B0503020204020204" pitchFamily="34" charset="-122"/>
                <a:ea typeface="微软雅黑" panose="020B0503020204020204" pitchFamily="34" charset="-122"/>
              </a:rPr>
              <a:t>的心电诊断网络，助力区域医疗中心建设。</a:t>
            </a:r>
            <a:endParaRPr lang="zh-CN" altLang="en-US" sz="10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3" cstate="print"/>
          <a:stretch>
            <a:fillRect/>
          </a:stretch>
        </p:blipFill>
        <p:spPr>
          <a:xfrm>
            <a:off x="683260" y="865505"/>
            <a:ext cx="7442200" cy="4189095"/>
          </a:xfrm>
          <a:prstGeom prst="rect">
            <a:avLst/>
          </a:prstGeom>
        </p:spPr>
      </p:pic>
      <p:sp>
        <p:nvSpPr>
          <p:cNvPr id="6" name="标题 5"/>
          <p:cNvSpPr>
            <a:spLocks noGrp="1"/>
          </p:cNvSpPr>
          <p:nvPr>
            <p:ph type="title"/>
          </p:nvPr>
        </p:nvSpPr>
        <p:spPr/>
        <p:txBody>
          <a:bodyPr/>
          <a:lstStyle/>
          <a:p>
            <a:r>
              <a:rPr lang="zh-CN" altLang="en-US" dirty="0">
                <a:solidFill>
                  <a:srgbClr val="2179B1"/>
                </a:solidFill>
              </a:rPr>
              <a:t>心电云平台</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olidFill>
                  <a:srgbClr val="2179B1"/>
                </a:solidFill>
              </a:rPr>
              <a:t>平台应用组成</a:t>
            </a:r>
          </a:p>
        </p:txBody>
      </p:sp>
      <p:sp>
        <p:nvSpPr>
          <p:cNvPr id="4" name="矩形 3"/>
          <p:cNvSpPr/>
          <p:nvPr/>
        </p:nvSpPr>
        <p:spPr>
          <a:xfrm>
            <a:off x="456621" y="915566"/>
            <a:ext cx="8291843" cy="526811"/>
          </a:xfrm>
          <a:prstGeom prst="rect">
            <a:avLst/>
          </a:prstGeom>
        </p:spPr>
        <p:txBody>
          <a:bodyPr wrap="square">
            <a:spAutoFit/>
          </a:bodyPr>
          <a:lstStyle/>
          <a:p>
            <a:pPr>
              <a:lnSpc>
                <a:spcPct val="150000"/>
              </a:lnSpc>
            </a:pPr>
            <a:r>
              <a:rPr lang="zh-CN" altLang="zh-CN" sz="1000" kern="0" dirty="0">
                <a:solidFill>
                  <a:schemeClr val="tx1">
                    <a:lumMod val="75000"/>
                    <a:lumOff val="25000"/>
                  </a:schemeClr>
                </a:solidFill>
                <a:latin typeface="微软雅黑" panose="020B0503020204020204" pitchFamily="34" charset="-122"/>
                <a:ea typeface="微软雅黑" panose="020B0503020204020204" pitchFamily="34" charset="-122"/>
                <a:cs typeface="宋体" panose="02010600030101010101" pitchFamily="2" charset="-122"/>
              </a:rPr>
              <a:t>好络维心电云平台可以全部覆盖院内</a:t>
            </a:r>
            <a:r>
              <a:rPr lang="zh-CN" altLang="en-US" sz="1000" kern="0" dirty="0">
                <a:solidFill>
                  <a:schemeClr val="tx1">
                    <a:lumMod val="75000"/>
                    <a:lumOff val="25000"/>
                  </a:schemeClr>
                </a:solidFill>
                <a:latin typeface="微软雅黑" panose="020B0503020204020204" pitchFamily="34" charset="-122"/>
                <a:ea typeface="微软雅黑" panose="020B0503020204020204" pitchFamily="34" charset="-122"/>
                <a:cs typeface="宋体" panose="02010600030101010101" pitchFamily="2" charset="-122"/>
              </a:rPr>
              <a:t>、</a:t>
            </a:r>
            <a:r>
              <a:rPr lang="zh-CN" altLang="zh-CN" sz="1000" kern="0" dirty="0">
                <a:solidFill>
                  <a:schemeClr val="tx1">
                    <a:lumMod val="75000"/>
                    <a:lumOff val="25000"/>
                  </a:schemeClr>
                </a:solidFill>
                <a:latin typeface="微软雅黑" panose="020B0503020204020204" pitchFamily="34" charset="-122"/>
                <a:ea typeface="微软雅黑" panose="020B0503020204020204" pitchFamily="34" charset="-122"/>
                <a:cs typeface="宋体" panose="02010600030101010101" pitchFamily="2" charset="-122"/>
              </a:rPr>
              <a:t>院外用户</a:t>
            </a:r>
            <a:r>
              <a:rPr lang="zh-CN" altLang="en-US" sz="1000" kern="0" dirty="0">
                <a:solidFill>
                  <a:schemeClr val="tx1">
                    <a:lumMod val="75000"/>
                    <a:lumOff val="25000"/>
                  </a:schemeClr>
                </a:solidFill>
                <a:latin typeface="微软雅黑" panose="020B0503020204020204" pitchFamily="34" charset="-122"/>
                <a:ea typeface="微软雅黑" panose="020B0503020204020204" pitchFamily="34" charset="-122"/>
                <a:cs typeface="宋体" panose="02010600030101010101" pitchFamily="2" charset="-122"/>
              </a:rPr>
              <a:t>，</a:t>
            </a:r>
            <a:r>
              <a:rPr lang="zh-CN" altLang="zh-CN" sz="1000" kern="0" dirty="0">
                <a:solidFill>
                  <a:schemeClr val="tx1">
                    <a:lumMod val="75000"/>
                    <a:lumOff val="25000"/>
                  </a:schemeClr>
                </a:solidFill>
                <a:latin typeface="微软雅黑" panose="020B0503020204020204" pitchFamily="34" charset="-122"/>
                <a:ea typeface="微软雅黑" panose="020B0503020204020204" pitchFamily="34" charset="-122"/>
                <a:cs typeface="宋体" panose="02010600030101010101" pitchFamily="2" charset="-122"/>
              </a:rPr>
              <a:t>连接常规、动态、监护及个人穿戴的心电监测设备，支撑心血管疾病预防，筛查到院内诊断、监护，以及院后康复全流程管理。</a:t>
            </a:r>
            <a:endPar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pic>
        <p:nvPicPr>
          <p:cNvPr id="5" name="图片 4"/>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539552" y="1924050"/>
            <a:ext cx="3483610" cy="2903220"/>
          </a:xfrm>
          <a:prstGeom prst="rect">
            <a:avLst/>
          </a:prstGeom>
          <a:ln>
            <a:noFill/>
          </a:ln>
          <a:effectLst>
            <a:outerShdw blurRad="50800" dist="38100" dir="2700000" algn="tl" rotWithShape="0">
              <a:prstClr val="black">
                <a:alpha val="40000"/>
              </a:prstClr>
            </a:outerShdw>
          </a:effectLst>
        </p:spPr>
      </p:pic>
      <p:pic>
        <p:nvPicPr>
          <p:cNvPr id="6" name="图片 5"/>
          <p:cNvPicPr>
            <a:picLocks noChangeAspect="1"/>
          </p:cNvPicPr>
          <p:nvPr/>
        </p:nvPicPr>
        <p:blipFill>
          <a:blip r:embed="rId3" cstate="print">
            <a:extLst>
              <a:ext uri="{28A0092B-C50C-407E-A947-70E740481C1C}">
                <a14:useLocalDpi xmlns:a14="http://schemas.microsoft.com/office/drawing/2010/main" xmlns="" val="0"/>
              </a:ext>
            </a:extLst>
          </a:blip>
          <a:stretch>
            <a:fillRect/>
          </a:stretch>
        </p:blipFill>
        <p:spPr>
          <a:xfrm>
            <a:off x="5936358" y="1923678"/>
            <a:ext cx="2606040" cy="1576705"/>
          </a:xfrm>
          <a:prstGeom prst="rect">
            <a:avLst/>
          </a:prstGeom>
          <a:ln>
            <a:noFill/>
          </a:ln>
          <a:effectLst>
            <a:outerShdw blurRad="50800" dist="38100" dir="2700000" algn="tl" rotWithShape="0">
              <a:prstClr val="black">
                <a:alpha val="40000"/>
              </a:prstClr>
            </a:outerShdw>
          </a:effectLst>
        </p:spPr>
      </p:pic>
      <p:pic>
        <p:nvPicPr>
          <p:cNvPr id="7" name="图片 6"/>
          <p:cNvPicPr>
            <a:picLocks noChangeAspect="1"/>
          </p:cNvPicPr>
          <p:nvPr/>
        </p:nvPicPr>
        <p:blipFill>
          <a:blip r:embed="rId4" cstate="print">
            <a:extLst>
              <a:ext uri="{28A0092B-C50C-407E-A947-70E740481C1C}">
                <a14:useLocalDpi xmlns:a14="http://schemas.microsoft.com/office/drawing/2010/main" xmlns="" val="0"/>
              </a:ext>
            </a:extLst>
          </a:blip>
          <a:stretch>
            <a:fillRect/>
          </a:stretch>
        </p:blipFill>
        <p:spPr>
          <a:xfrm>
            <a:off x="4356100" y="1944370"/>
            <a:ext cx="1235710" cy="2882900"/>
          </a:xfrm>
          <a:prstGeom prst="rect">
            <a:avLst/>
          </a:prstGeom>
          <a:ln>
            <a:noFill/>
          </a:ln>
          <a:effectLst>
            <a:outerShdw blurRad="50800" dist="38100" dir="2700000" algn="tl" rotWithShape="0">
              <a:prstClr val="black">
                <a:alpha val="40000"/>
              </a:prstClr>
            </a:outerShdw>
          </a:effectLst>
        </p:spPr>
      </p:pic>
      <p:pic>
        <p:nvPicPr>
          <p:cNvPr id="8" name="图片 7"/>
          <p:cNvPicPr>
            <a:picLocks noChangeAspect="1"/>
          </p:cNvPicPr>
          <p:nvPr/>
        </p:nvPicPr>
        <p:blipFill>
          <a:blip r:embed="rId3" cstate="print">
            <a:extLst>
              <a:ext uri="{28A0092B-C50C-407E-A947-70E740481C1C}">
                <a14:useLocalDpi xmlns:a14="http://schemas.microsoft.com/office/drawing/2010/main" xmlns="" val="0"/>
              </a:ext>
            </a:extLst>
          </a:blip>
          <a:stretch>
            <a:fillRect/>
          </a:stretch>
        </p:blipFill>
        <p:spPr>
          <a:xfrm>
            <a:off x="5936358" y="3224753"/>
            <a:ext cx="2609850" cy="1579245"/>
          </a:xfrm>
          <a:prstGeom prst="rect">
            <a:avLst/>
          </a:prstGeom>
          <a:ln>
            <a:noFill/>
          </a:ln>
          <a:effectLst>
            <a:outerShdw blurRad="50800" dist="38100" dir="2700000" algn="tl" rotWithShape="0">
              <a:prstClr val="black">
                <a:alpha val="40000"/>
              </a:prstClr>
            </a:outerShdw>
          </a:effectLst>
        </p:spPr>
      </p:pic>
      <p:sp>
        <p:nvSpPr>
          <p:cNvPr id="9" name="矩形 8"/>
          <p:cNvSpPr/>
          <p:nvPr/>
        </p:nvSpPr>
        <p:spPr>
          <a:xfrm>
            <a:off x="1619444" y="1563489"/>
            <a:ext cx="1147010" cy="276999"/>
          </a:xfrm>
          <a:prstGeom prst="rect">
            <a:avLst/>
          </a:prstGeom>
          <a:noFill/>
          <a:extLst>
            <a:ext uri="{909E8E84-426E-40DD-AFC4-6F175D3DCCD1}">
              <a14:hiddenFill xmlns:a14="http://schemas.microsoft.com/office/drawing/2010/main" xmlns="">
                <a:solidFill>
                  <a:schemeClr val="tx2">
                    <a:lumMod val="60000"/>
                    <a:lumOff val="40000"/>
                    <a:alpha val="40000"/>
                  </a:schemeClr>
                </a:solidFill>
              </a14:hiddenFill>
            </a:ext>
          </a:extLst>
        </p:spPr>
        <p:txBody>
          <a:bodyPr wrap="square">
            <a:spAutoFit/>
          </a:bodyPr>
          <a:lstStyle/>
          <a:p>
            <a:pPr algn="ctr"/>
            <a:r>
              <a:rPr lang="zh-CN" altLang="en-US" sz="1200" b="1" kern="0" dirty="0">
                <a:solidFill>
                  <a:schemeClr val="accent1"/>
                </a:solidFill>
                <a:latin typeface="微软雅黑" panose="020B0503020204020204" pitchFamily="34" charset="-122"/>
                <a:ea typeface="微软雅黑" panose="020B0503020204020204" pitchFamily="34" charset="-122"/>
                <a:cs typeface="宋体" panose="02010600030101010101" pitchFamily="2" charset="-122"/>
              </a:rPr>
              <a:t>心电云网页端</a:t>
            </a:r>
          </a:p>
        </p:txBody>
      </p:sp>
      <p:sp>
        <p:nvSpPr>
          <p:cNvPr id="10" name="矩形 9"/>
          <p:cNvSpPr/>
          <p:nvPr/>
        </p:nvSpPr>
        <p:spPr>
          <a:xfrm>
            <a:off x="4372649" y="1564898"/>
            <a:ext cx="1147010" cy="275590"/>
          </a:xfrm>
          <a:prstGeom prst="rect">
            <a:avLst/>
          </a:prstGeom>
          <a:noFill/>
          <a:extLst>
            <a:ext uri="{909E8E84-426E-40DD-AFC4-6F175D3DCCD1}">
              <a14:hiddenFill xmlns:a14="http://schemas.microsoft.com/office/drawing/2010/main" xmlns="">
                <a:solidFill>
                  <a:schemeClr val="tx2">
                    <a:lumMod val="60000"/>
                    <a:lumOff val="40000"/>
                    <a:alpha val="40000"/>
                  </a:schemeClr>
                </a:solidFill>
              </a14:hiddenFill>
            </a:ext>
          </a:extLst>
        </p:spPr>
        <p:txBody>
          <a:bodyPr wrap="square">
            <a:spAutoFit/>
          </a:bodyPr>
          <a:lstStyle/>
          <a:p>
            <a:pPr lvl="0" algn="ctr">
              <a:buClrTx/>
              <a:buSzTx/>
              <a:buFontTx/>
            </a:pPr>
            <a:r>
              <a:rPr lang="zh-CN" altLang="en-US" sz="1200" b="1" kern="0" dirty="0">
                <a:solidFill>
                  <a:schemeClr val="accent1"/>
                </a:solidFill>
                <a:latin typeface="微软雅黑" panose="020B0503020204020204" pitchFamily="34" charset="-122"/>
                <a:ea typeface="微软雅黑" panose="020B0503020204020204" pitchFamily="34" charset="-122"/>
                <a:cs typeface="宋体" panose="02010600030101010101" pitchFamily="2" charset="-122"/>
                <a:sym typeface="+mn-ea"/>
              </a:rPr>
              <a:t>心电云移动端</a:t>
            </a:r>
          </a:p>
        </p:txBody>
      </p:sp>
      <p:sp>
        <p:nvSpPr>
          <p:cNvPr id="11" name="矩形 10"/>
          <p:cNvSpPr/>
          <p:nvPr/>
        </p:nvSpPr>
        <p:spPr>
          <a:xfrm>
            <a:off x="6804248" y="1564898"/>
            <a:ext cx="1147010" cy="275590"/>
          </a:xfrm>
          <a:prstGeom prst="rect">
            <a:avLst/>
          </a:prstGeom>
          <a:noFill/>
          <a:extLst>
            <a:ext uri="{909E8E84-426E-40DD-AFC4-6F175D3DCCD1}">
              <a14:hiddenFill xmlns:a14="http://schemas.microsoft.com/office/drawing/2010/main" xmlns="">
                <a:solidFill>
                  <a:schemeClr val="tx2">
                    <a:lumMod val="60000"/>
                    <a:lumOff val="40000"/>
                    <a:alpha val="30000"/>
                  </a:schemeClr>
                </a:solidFill>
              </a14:hiddenFill>
            </a:ext>
          </a:extLst>
        </p:spPr>
        <p:txBody>
          <a:bodyPr wrap="square">
            <a:spAutoFit/>
          </a:bodyPr>
          <a:lstStyle/>
          <a:p>
            <a:pPr lvl="0" algn="ctr">
              <a:buClrTx/>
              <a:buSzTx/>
              <a:buFontTx/>
            </a:pPr>
            <a:r>
              <a:rPr lang="zh-CN" altLang="en-US" sz="1200" b="1" kern="0" dirty="0">
                <a:solidFill>
                  <a:schemeClr val="accent1"/>
                </a:solidFill>
                <a:latin typeface="微软雅黑" panose="020B0503020204020204" pitchFamily="34" charset="-122"/>
                <a:ea typeface="微软雅黑" panose="020B0503020204020204" pitchFamily="34" charset="-122"/>
                <a:cs typeface="宋体" panose="02010600030101010101" pitchFamily="2" charset="-122"/>
                <a:sym typeface="+mn-ea"/>
              </a:rPr>
              <a:t>心电云客户端</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6" name="直接连接符 105"/>
          <p:cNvCxnSpPr/>
          <p:nvPr/>
        </p:nvCxnSpPr>
        <p:spPr>
          <a:xfrm>
            <a:off x="2915816" y="699542"/>
            <a:ext cx="0" cy="3953410"/>
          </a:xfrm>
          <a:prstGeom prst="line">
            <a:avLst/>
          </a:prstGeom>
          <a:ln>
            <a:solidFill>
              <a:schemeClr val="bg1">
                <a:lumMod val="6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96" name="椭圆 95"/>
          <p:cNvSpPr/>
          <p:nvPr/>
        </p:nvSpPr>
        <p:spPr>
          <a:xfrm>
            <a:off x="4957614" y="2944150"/>
            <a:ext cx="586971" cy="178820"/>
          </a:xfrm>
          <a:prstGeom prst="ellipse">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椭圆 67"/>
          <p:cNvSpPr/>
          <p:nvPr/>
        </p:nvSpPr>
        <p:spPr>
          <a:xfrm>
            <a:off x="4065275" y="4339593"/>
            <a:ext cx="658834" cy="231740"/>
          </a:xfrm>
          <a:prstGeom prst="ellipse">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flipH="1">
            <a:off x="-2" y="5028560"/>
            <a:ext cx="9144001" cy="135157"/>
          </a:xfrm>
          <a:prstGeom prst="rect">
            <a:avLst/>
          </a:prstGeom>
          <a:gradFill>
            <a:gsLst>
              <a:gs pos="0">
                <a:srgbClr val="0E1A40"/>
              </a:gs>
              <a:gs pos="100000">
                <a:srgbClr val="2F5EB0"/>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0">
              <a:latin typeface="微软雅黑" panose="020B0503020204020204" pitchFamily="34" charset="-122"/>
              <a:ea typeface="微软雅黑" panose="020B0503020204020204" pitchFamily="34" charset="-122"/>
            </a:endParaRPr>
          </a:p>
        </p:txBody>
      </p:sp>
      <p:sp>
        <p:nvSpPr>
          <p:cNvPr id="3" name="文本占位符 2"/>
          <p:cNvSpPr>
            <a:spLocks noGrp="1"/>
          </p:cNvSpPr>
          <p:nvPr>
            <p:ph type="body" sz="quarter" idx="13"/>
          </p:nvPr>
        </p:nvSpPr>
        <p:spPr>
          <a:xfrm>
            <a:off x="323528" y="8450"/>
            <a:ext cx="6624736" cy="720080"/>
          </a:xfrm>
        </p:spPr>
        <p:txBody>
          <a:bodyPr/>
          <a:lstStyle/>
          <a:p>
            <a:r>
              <a:rPr lang="zh-CN" altLang="en-US" dirty="0">
                <a:solidFill>
                  <a:srgbClr val="2179B1"/>
                </a:solidFill>
              </a:rPr>
              <a:t>平台拓扑构架</a:t>
            </a:r>
          </a:p>
        </p:txBody>
      </p:sp>
      <p:sp>
        <p:nvSpPr>
          <p:cNvPr id="14" name="文本框 13"/>
          <p:cNvSpPr txBox="1"/>
          <p:nvPr/>
        </p:nvSpPr>
        <p:spPr>
          <a:xfrm>
            <a:off x="5964772" y="4018177"/>
            <a:ext cx="595035" cy="215444"/>
          </a:xfrm>
          <a:prstGeom prst="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wrap="none" rtlCol="0">
            <a:spAutoFit/>
          </a:bodyPr>
          <a:lstStyle/>
          <a:p>
            <a:r>
              <a:rPr lang="zh-CN" altLang="en-US" sz="800" dirty="0" smtClean="0">
                <a:latin typeface="微软雅黑" panose="020B0503020204020204" pitchFamily="34" charset="-122"/>
                <a:ea typeface="微软雅黑" panose="020B0503020204020204" pitchFamily="34" charset="-122"/>
              </a:rPr>
              <a:t>村卫生室</a:t>
            </a:r>
            <a:endParaRPr lang="zh-CN" altLang="en-US" sz="800" dirty="0">
              <a:latin typeface="微软雅黑" panose="020B0503020204020204" pitchFamily="34" charset="-122"/>
              <a:ea typeface="微软雅黑" panose="020B0503020204020204" pitchFamily="34" charset="-122"/>
            </a:endParaRPr>
          </a:p>
        </p:txBody>
      </p:sp>
      <p:sp>
        <p:nvSpPr>
          <p:cNvPr id="15" name="文本框 14"/>
          <p:cNvSpPr txBox="1"/>
          <p:nvPr/>
        </p:nvSpPr>
        <p:spPr>
          <a:xfrm>
            <a:off x="1286748" y="3595921"/>
            <a:ext cx="595035" cy="215444"/>
          </a:xfrm>
          <a:prstGeom prst="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wrap="none" rtlCol="0">
            <a:spAutoFit/>
          </a:bodyPr>
          <a:lstStyle/>
          <a:p>
            <a:r>
              <a:rPr lang="zh-CN" altLang="en-US" sz="800" b="1" dirty="0">
                <a:latin typeface="微软雅黑" panose="020B0503020204020204" pitchFamily="34" charset="-122"/>
                <a:ea typeface="微软雅黑" panose="020B0503020204020204" pitchFamily="34" charset="-122"/>
              </a:rPr>
              <a:t>民营医院</a:t>
            </a:r>
          </a:p>
        </p:txBody>
      </p:sp>
      <p:pic>
        <p:nvPicPr>
          <p:cNvPr id="16" name="图片 15"/>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5368470" y="1836527"/>
            <a:ext cx="499305" cy="499305"/>
          </a:xfrm>
          <a:prstGeom prst="rect">
            <a:avLst/>
          </a:prstGeom>
        </p:spPr>
      </p:pic>
      <p:sp>
        <p:nvSpPr>
          <p:cNvPr id="19" name="文本框 18"/>
          <p:cNvSpPr txBox="1"/>
          <p:nvPr/>
        </p:nvSpPr>
        <p:spPr>
          <a:xfrm>
            <a:off x="5070953" y="2323288"/>
            <a:ext cx="1048685" cy="215444"/>
          </a:xfrm>
          <a:prstGeom prst="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wrap="none" rtlCol="0">
            <a:spAutoFit/>
          </a:bodyPr>
          <a:lstStyle/>
          <a:p>
            <a:r>
              <a:rPr lang="zh-CN" altLang="en-US" sz="800" dirty="0">
                <a:latin typeface="微软雅黑" panose="020B0503020204020204" pitchFamily="34" charset="-122"/>
                <a:ea typeface="微软雅黑" panose="020B0503020204020204" pitchFamily="34" charset="-122"/>
              </a:rPr>
              <a:t>县二级医院</a:t>
            </a:r>
            <a:r>
              <a:rPr lang="en-US" altLang="zh-CN" sz="800" dirty="0">
                <a:latin typeface="微软雅黑" panose="020B0503020204020204" pitchFamily="34" charset="-122"/>
                <a:ea typeface="微软雅黑" panose="020B0503020204020204" pitchFamily="34" charset="-122"/>
              </a:rPr>
              <a:t>/</a:t>
            </a:r>
            <a:r>
              <a:rPr lang="zh-CN" altLang="en-US" sz="800" dirty="0">
                <a:latin typeface="微软雅黑" panose="020B0503020204020204" pitchFamily="34" charset="-122"/>
                <a:ea typeface="微软雅黑" panose="020B0503020204020204" pitchFamily="34" charset="-122"/>
              </a:rPr>
              <a:t>医共体</a:t>
            </a:r>
          </a:p>
        </p:txBody>
      </p:sp>
      <p:sp>
        <p:nvSpPr>
          <p:cNvPr id="25" name="文本框 24"/>
          <p:cNvSpPr txBox="1"/>
          <p:nvPr/>
        </p:nvSpPr>
        <p:spPr>
          <a:xfrm>
            <a:off x="4422520" y="3221346"/>
            <a:ext cx="1073855" cy="215444"/>
          </a:xfrm>
          <a:prstGeom prst="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pPr algn="ctr"/>
            <a:r>
              <a:rPr lang="zh-CN" altLang="en-US" sz="800" dirty="0">
                <a:latin typeface="微软雅黑" panose="020B0503020204020204" pitchFamily="34" charset="-122"/>
                <a:ea typeface="微软雅黑" panose="020B0503020204020204" pitchFamily="34" charset="-122"/>
              </a:rPr>
              <a:t>社区卫生服务中心</a:t>
            </a:r>
          </a:p>
        </p:txBody>
      </p:sp>
      <p:sp>
        <p:nvSpPr>
          <p:cNvPr id="26" name="文本框 25"/>
          <p:cNvSpPr txBox="1"/>
          <p:nvPr/>
        </p:nvSpPr>
        <p:spPr>
          <a:xfrm>
            <a:off x="5862181" y="3248310"/>
            <a:ext cx="697627" cy="215444"/>
          </a:xfrm>
          <a:prstGeom prst="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wrap="none" rtlCol="0">
            <a:spAutoFit/>
          </a:bodyPr>
          <a:lstStyle/>
          <a:p>
            <a:r>
              <a:rPr lang="zh-CN" altLang="en-US" sz="800" dirty="0">
                <a:latin typeface="微软雅黑" panose="020B0503020204020204" pitchFamily="34" charset="-122"/>
                <a:ea typeface="微软雅黑" panose="020B0503020204020204" pitchFamily="34" charset="-122"/>
              </a:rPr>
              <a:t>乡镇卫生院</a:t>
            </a:r>
          </a:p>
        </p:txBody>
      </p:sp>
      <p:pic>
        <p:nvPicPr>
          <p:cNvPr id="27" name="图片 26"/>
          <p:cNvPicPr>
            <a:picLocks noChangeAspect="1"/>
          </p:cNvPicPr>
          <p:nvPr/>
        </p:nvPicPr>
        <p:blipFill>
          <a:blip r:embed="rId3" cstate="print">
            <a:extLst>
              <a:ext uri="{28A0092B-C50C-407E-A947-70E740481C1C}">
                <a14:useLocalDpi xmlns:a14="http://schemas.microsoft.com/office/drawing/2010/main" xmlns="" val="0"/>
              </a:ext>
            </a:extLst>
          </a:blip>
          <a:stretch>
            <a:fillRect/>
          </a:stretch>
        </p:blipFill>
        <p:spPr>
          <a:xfrm>
            <a:off x="5388667" y="971870"/>
            <a:ext cx="457350" cy="457350"/>
          </a:xfrm>
          <a:prstGeom prst="rect">
            <a:avLst/>
          </a:prstGeom>
        </p:spPr>
      </p:pic>
      <p:sp>
        <p:nvSpPr>
          <p:cNvPr id="28" name="文本框 27"/>
          <p:cNvSpPr txBox="1"/>
          <p:nvPr/>
        </p:nvSpPr>
        <p:spPr>
          <a:xfrm>
            <a:off x="5155279" y="1410647"/>
            <a:ext cx="902811" cy="215444"/>
          </a:xfrm>
          <a:prstGeom prst="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wrap="none" rtlCol="0">
            <a:spAutoFit/>
          </a:bodyPr>
          <a:lstStyle/>
          <a:p>
            <a:r>
              <a:rPr lang="zh-CN" altLang="en-US" sz="800" dirty="0">
                <a:latin typeface="微软雅黑" panose="020B0503020204020204" pitchFamily="34" charset="-122"/>
                <a:ea typeface="微软雅黑" panose="020B0503020204020204" pitchFamily="34" charset="-122"/>
              </a:rPr>
              <a:t>市级综合性医院</a:t>
            </a:r>
          </a:p>
        </p:txBody>
      </p:sp>
      <p:sp>
        <p:nvSpPr>
          <p:cNvPr id="30" name="文本框 29"/>
          <p:cNvSpPr txBox="1"/>
          <p:nvPr/>
        </p:nvSpPr>
        <p:spPr>
          <a:xfrm>
            <a:off x="7122029" y="943187"/>
            <a:ext cx="1075936" cy="815608"/>
          </a:xfrm>
          <a:prstGeom prst="rect">
            <a:avLst/>
          </a:prstGeom>
          <a:noFill/>
        </p:spPr>
        <p:txBody>
          <a:bodyPr wrap="none" rtlCol="0">
            <a:spAutoFit/>
          </a:bodyPr>
          <a:lstStyle/>
          <a:p>
            <a:pPr>
              <a:spcAft>
                <a:spcPts val="600"/>
              </a:spcAft>
            </a:pPr>
            <a:r>
              <a:rPr lang="zh-CN" altLang="en-US" sz="1000" b="1" dirty="0">
                <a:solidFill>
                  <a:schemeClr val="tx1">
                    <a:lumMod val="75000"/>
                    <a:lumOff val="25000"/>
                  </a:schemeClr>
                </a:solidFill>
                <a:latin typeface="微软雅黑" panose="020B0503020204020204" pitchFamily="34" charset="-122"/>
                <a:ea typeface="微软雅黑" panose="020B0503020204020204" pitchFamily="34" charset="-122"/>
              </a:rPr>
              <a:t>市级平台：</a:t>
            </a:r>
            <a:endParaRPr lang="en-US" altLang="zh-CN" sz="1000" b="1" dirty="0">
              <a:solidFill>
                <a:schemeClr val="tx1">
                  <a:lumMod val="75000"/>
                  <a:lumOff val="25000"/>
                </a:schemeClr>
              </a:solidFill>
              <a:latin typeface="微软雅黑" panose="020B0503020204020204" pitchFamily="34" charset="-122"/>
              <a:ea typeface="微软雅黑" panose="020B0503020204020204" pitchFamily="34" charset="-122"/>
            </a:endParaRPr>
          </a:p>
          <a:p>
            <a:pPr marL="171450" indent="-171450">
              <a:buFont typeface="Arial" panose="020B0604020202020204" pitchFamily="34" charset="0"/>
              <a:buChar char="•"/>
            </a:pPr>
            <a:r>
              <a:rPr lang="zh-CN" altLang="en-US" sz="800" dirty="0">
                <a:solidFill>
                  <a:schemeClr val="tx1">
                    <a:lumMod val="75000"/>
                    <a:lumOff val="25000"/>
                  </a:schemeClr>
                </a:solidFill>
                <a:latin typeface="微软雅黑" panose="020B0503020204020204" pitchFamily="34" charset="-122"/>
                <a:ea typeface="微软雅黑" panose="020B0503020204020204" pitchFamily="34" charset="-122"/>
              </a:rPr>
              <a:t>疑难心电图诊断</a:t>
            </a:r>
            <a:endParaRPr lang="en-US" altLang="zh-CN" sz="800" dirty="0">
              <a:solidFill>
                <a:schemeClr val="tx1">
                  <a:lumMod val="75000"/>
                  <a:lumOff val="25000"/>
                </a:schemeClr>
              </a:solidFill>
              <a:latin typeface="微软雅黑" panose="020B0503020204020204" pitchFamily="34" charset="-122"/>
              <a:ea typeface="微软雅黑" panose="020B0503020204020204" pitchFamily="34" charset="-122"/>
            </a:endParaRPr>
          </a:p>
          <a:p>
            <a:pPr marL="171450" indent="-171450">
              <a:buFont typeface="Arial" panose="020B0604020202020204" pitchFamily="34" charset="0"/>
              <a:buChar char="•"/>
            </a:pPr>
            <a:r>
              <a:rPr lang="zh-CN" altLang="en-US" sz="800" dirty="0">
                <a:solidFill>
                  <a:schemeClr val="tx1">
                    <a:lumMod val="75000"/>
                    <a:lumOff val="25000"/>
                  </a:schemeClr>
                </a:solidFill>
                <a:latin typeface="微软雅黑" panose="020B0503020204020204" pitchFamily="34" charset="-122"/>
                <a:ea typeface="微软雅黑" panose="020B0503020204020204" pitchFamily="34" charset="-122"/>
              </a:rPr>
              <a:t>心电诊断指导</a:t>
            </a:r>
            <a:endParaRPr lang="en-US" altLang="zh-CN" sz="800" dirty="0">
              <a:solidFill>
                <a:schemeClr val="tx1">
                  <a:lumMod val="75000"/>
                  <a:lumOff val="25000"/>
                </a:schemeClr>
              </a:solidFill>
              <a:latin typeface="微软雅黑" panose="020B0503020204020204" pitchFamily="34" charset="-122"/>
              <a:ea typeface="微软雅黑" panose="020B0503020204020204" pitchFamily="34" charset="-122"/>
            </a:endParaRPr>
          </a:p>
          <a:p>
            <a:pPr marL="171450" indent="-171450">
              <a:buFont typeface="Arial" panose="020B0604020202020204" pitchFamily="34" charset="0"/>
              <a:buChar char="•"/>
            </a:pPr>
            <a:r>
              <a:rPr lang="zh-CN" altLang="en-US" sz="800" dirty="0">
                <a:solidFill>
                  <a:schemeClr val="tx1">
                    <a:lumMod val="75000"/>
                    <a:lumOff val="25000"/>
                  </a:schemeClr>
                </a:solidFill>
                <a:latin typeface="微软雅黑" panose="020B0503020204020204" pitchFamily="34" charset="-122"/>
                <a:ea typeface="微软雅黑" panose="020B0503020204020204" pitchFamily="34" charset="-122"/>
              </a:rPr>
              <a:t>数据、业务质控</a:t>
            </a:r>
            <a:endParaRPr lang="en-US" altLang="zh-CN" sz="800" dirty="0">
              <a:solidFill>
                <a:schemeClr val="tx1">
                  <a:lumMod val="75000"/>
                  <a:lumOff val="25000"/>
                </a:schemeClr>
              </a:solidFill>
              <a:latin typeface="微软雅黑" panose="020B0503020204020204" pitchFamily="34" charset="-122"/>
              <a:ea typeface="微软雅黑" panose="020B0503020204020204" pitchFamily="34" charset="-122"/>
            </a:endParaRPr>
          </a:p>
          <a:p>
            <a:endParaRPr lang="en-US" altLang="zh-CN" sz="8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31" name="文本框 30"/>
          <p:cNvSpPr txBox="1"/>
          <p:nvPr/>
        </p:nvSpPr>
        <p:spPr>
          <a:xfrm>
            <a:off x="7125636" y="1739053"/>
            <a:ext cx="1178528" cy="1107996"/>
          </a:xfrm>
          <a:prstGeom prst="rect">
            <a:avLst/>
          </a:prstGeom>
          <a:noFill/>
        </p:spPr>
        <p:txBody>
          <a:bodyPr wrap="none" rtlCol="0">
            <a:spAutoFit/>
          </a:bodyPr>
          <a:lstStyle/>
          <a:p>
            <a:r>
              <a:rPr lang="zh-CN" altLang="en-US" sz="1000" b="1" dirty="0">
                <a:solidFill>
                  <a:schemeClr val="tx1">
                    <a:lumMod val="75000"/>
                    <a:lumOff val="25000"/>
                  </a:schemeClr>
                </a:solidFill>
                <a:latin typeface="微软雅黑" panose="020B0503020204020204" pitchFamily="34" charset="-122"/>
                <a:ea typeface="微软雅黑" panose="020B0503020204020204" pitchFamily="34" charset="-122"/>
              </a:rPr>
              <a:t>县级平台：</a:t>
            </a:r>
            <a:endParaRPr lang="en-US" altLang="zh-CN" sz="1000" b="1" dirty="0">
              <a:solidFill>
                <a:schemeClr val="tx1">
                  <a:lumMod val="75000"/>
                  <a:lumOff val="25000"/>
                </a:schemeClr>
              </a:solidFill>
              <a:latin typeface="微软雅黑" panose="020B0503020204020204" pitchFamily="34" charset="-122"/>
              <a:ea typeface="微软雅黑" panose="020B0503020204020204" pitchFamily="34" charset="-122"/>
            </a:endParaRPr>
          </a:p>
          <a:p>
            <a:pPr marL="171450" indent="-171450">
              <a:buFont typeface="Arial" panose="020B0604020202020204" pitchFamily="34" charset="0"/>
              <a:buChar char="•"/>
            </a:pPr>
            <a:endParaRPr lang="en-US" altLang="zh-CN" sz="800" dirty="0">
              <a:solidFill>
                <a:schemeClr val="tx1">
                  <a:lumMod val="75000"/>
                  <a:lumOff val="25000"/>
                </a:schemeClr>
              </a:solidFill>
              <a:latin typeface="微软雅黑" panose="020B0503020204020204" pitchFamily="34" charset="-122"/>
              <a:ea typeface="微软雅黑" panose="020B0503020204020204" pitchFamily="34" charset="-122"/>
            </a:endParaRPr>
          </a:p>
          <a:p>
            <a:pPr marL="171450" indent="-171450">
              <a:buFont typeface="Arial" panose="020B0604020202020204" pitchFamily="34" charset="0"/>
              <a:buChar char="•"/>
            </a:pPr>
            <a:r>
              <a:rPr lang="zh-CN" altLang="en-US" sz="800" dirty="0">
                <a:solidFill>
                  <a:schemeClr val="tx1">
                    <a:lumMod val="75000"/>
                    <a:lumOff val="25000"/>
                  </a:schemeClr>
                </a:solidFill>
                <a:latin typeface="微软雅黑" panose="020B0503020204020204" pitchFamily="34" charset="-122"/>
                <a:ea typeface="微软雅黑" panose="020B0503020204020204" pitchFamily="34" charset="-122"/>
              </a:rPr>
              <a:t>远程心电诊断</a:t>
            </a:r>
            <a:endParaRPr lang="en-US" altLang="zh-CN" sz="800" dirty="0">
              <a:solidFill>
                <a:schemeClr val="tx1">
                  <a:lumMod val="75000"/>
                  <a:lumOff val="25000"/>
                </a:schemeClr>
              </a:solidFill>
              <a:latin typeface="微软雅黑" panose="020B0503020204020204" pitchFamily="34" charset="-122"/>
              <a:ea typeface="微软雅黑" panose="020B0503020204020204" pitchFamily="34" charset="-122"/>
            </a:endParaRPr>
          </a:p>
          <a:p>
            <a:pPr marL="171450" indent="-171450">
              <a:buFont typeface="Arial" panose="020B0604020202020204" pitchFamily="34" charset="0"/>
              <a:buChar char="•"/>
            </a:pPr>
            <a:r>
              <a:rPr lang="zh-CN" altLang="en-US" sz="800" dirty="0">
                <a:solidFill>
                  <a:schemeClr val="tx1">
                    <a:lumMod val="75000"/>
                    <a:lumOff val="25000"/>
                  </a:schemeClr>
                </a:solidFill>
                <a:latin typeface="微软雅黑" panose="020B0503020204020204" pitchFamily="34" charset="-122"/>
                <a:ea typeface="微软雅黑" panose="020B0503020204020204" pitchFamily="34" charset="-122"/>
              </a:rPr>
              <a:t>心电诊断培训指导</a:t>
            </a:r>
            <a:endParaRPr lang="en-US" altLang="zh-CN" sz="800" dirty="0">
              <a:solidFill>
                <a:schemeClr val="tx1">
                  <a:lumMod val="75000"/>
                  <a:lumOff val="25000"/>
                </a:schemeClr>
              </a:solidFill>
              <a:latin typeface="微软雅黑" panose="020B0503020204020204" pitchFamily="34" charset="-122"/>
              <a:ea typeface="微软雅黑" panose="020B0503020204020204" pitchFamily="34" charset="-122"/>
            </a:endParaRPr>
          </a:p>
          <a:p>
            <a:pPr marL="171450" indent="-171450">
              <a:buFont typeface="Arial" panose="020B0604020202020204" pitchFamily="34" charset="0"/>
              <a:buChar char="•"/>
            </a:pPr>
            <a:r>
              <a:rPr lang="zh-CN" altLang="en-US" sz="800" dirty="0">
                <a:solidFill>
                  <a:schemeClr val="tx1">
                    <a:lumMod val="75000"/>
                    <a:lumOff val="25000"/>
                  </a:schemeClr>
                </a:solidFill>
                <a:latin typeface="微软雅黑" panose="020B0503020204020204" pitchFamily="34" charset="-122"/>
                <a:ea typeface="微软雅黑" panose="020B0503020204020204" pitchFamily="34" charset="-122"/>
              </a:rPr>
              <a:t>申请远程分析</a:t>
            </a:r>
            <a:endParaRPr lang="en-US" altLang="zh-CN" sz="800" dirty="0">
              <a:solidFill>
                <a:schemeClr val="tx1">
                  <a:lumMod val="75000"/>
                  <a:lumOff val="25000"/>
                </a:schemeClr>
              </a:solidFill>
              <a:latin typeface="微软雅黑" panose="020B0503020204020204" pitchFamily="34" charset="-122"/>
              <a:ea typeface="微软雅黑" panose="020B0503020204020204" pitchFamily="34" charset="-122"/>
            </a:endParaRPr>
          </a:p>
          <a:p>
            <a:pPr marL="171450" indent="-171450">
              <a:buFont typeface="Arial" panose="020B0604020202020204" pitchFamily="34" charset="0"/>
              <a:buChar char="•"/>
            </a:pPr>
            <a:r>
              <a:rPr lang="zh-CN" altLang="en-US" sz="800" dirty="0">
                <a:solidFill>
                  <a:schemeClr val="tx1">
                    <a:lumMod val="75000"/>
                    <a:lumOff val="25000"/>
                  </a:schemeClr>
                </a:solidFill>
                <a:latin typeface="微软雅黑" panose="020B0503020204020204" pitchFamily="34" charset="-122"/>
                <a:ea typeface="微软雅黑" panose="020B0503020204020204" pitchFamily="34" charset="-122"/>
              </a:rPr>
              <a:t>远程集中监护</a:t>
            </a:r>
            <a:endParaRPr lang="en-US" altLang="zh-CN" sz="800" dirty="0">
              <a:solidFill>
                <a:schemeClr val="tx1">
                  <a:lumMod val="75000"/>
                  <a:lumOff val="25000"/>
                </a:schemeClr>
              </a:solidFill>
              <a:latin typeface="微软雅黑" panose="020B0503020204020204" pitchFamily="34" charset="-122"/>
              <a:ea typeface="微软雅黑" panose="020B0503020204020204" pitchFamily="34" charset="-122"/>
            </a:endParaRPr>
          </a:p>
          <a:p>
            <a:pPr marL="171450" indent="-171450">
              <a:buFont typeface="Arial" panose="020B0604020202020204" pitchFamily="34" charset="0"/>
              <a:buChar char="•"/>
            </a:pPr>
            <a:r>
              <a:rPr lang="zh-CN" altLang="en-US" sz="800" dirty="0">
                <a:solidFill>
                  <a:schemeClr val="tx1">
                    <a:lumMod val="75000"/>
                    <a:lumOff val="25000"/>
                  </a:schemeClr>
                </a:solidFill>
                <a:latin typeface="微软雅黑" panose="020B0503020204020204" pitchFamily="34" charset="-122"/>
                <a:ea typeface="微软雅黑" panose="020B0503020204020204" pitchFamily="34" charset="-122"/>
              </a:rPr>
              <a:t>绩效考核</a:t>
            </a:r>
            <a:endParaRPr lang="en-US" altLang="zh-CN" sz="800" dirty="0">
              <a:solidFill>
                <a:schemeClr val="tx1">
                  <a:lumMod val="75000"/>
                  <a:lumOff val="25000"/>
                </a:schemeClr>
              </a:solidFill>
              <a:latin typeface="微软雅黑" panose="020B0503020204020204" pitchFamily="34" charset="-122"/>
              <a:ea typeface="微软雅黑" panose="020B0503020204020204" pitchFamily="34" charset="-122"/>
            </a:endParaRPr>
          </a:p>
          <a:p>
            <a:endParaRPr lang="en-US" altLang="zh-CN" sz="8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33" name="文本框 32"/>
          <p:cNvSpPr txBox="1"/>
          <p:nvPr/>
        </p:nvSpPr>
        <p:spPr>
          <a:xfrm>
            <a:off x="1838405" y="1518369"/>
            <a:ext cx="1005403" cy="215444"/>
          </a:xfrm>
          <a:prstGeom prst="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wrap="none" rtlCol="0">
            <a:spAutoFit/>
          </a:bodyPr>
          <a:lstStyle/>
          <a:p>
            <a:r>
              <a:rPr lang="zh-CN" altLang="en-US" sz="800" dirty="0">
                <a:latin typeface="微软雅黑" panose="020B0503020204020204" pitchFamily="34" charset="-122"/>
                <a:ea typeface="微软雅黑" panose="020B0503020204020204" pitchFamily="34" charset="-122"/>
              </a:rPr>
              <a:t>区域心电诊断中心</a:t>
            </a:r>
          </a:p>
        </p:txBody>
      </p:sp>
      <p:sp>
        <p:nvSpPr>
          <p:cNvPr id="38" name="文本框 37"/>
          <p:cNvSpPr txBox="1"/>
          <p:nvPr/>
        </p:nvSpPr>
        <p:spPr>
          <a:xfrm>
            <a:off x="7125636" y="2738063"/>
            <a:ext cx="973343" cy="938719"/>
          </a:xfrm>
          <a:prstGeom prst="rect">
            <a:avLst/>
          </a:prstGeom>
          <a:noFill/>
        </p:spPr>
        <p:txBody>
          <a:bodyPr wrap="none" rtlCol="0">
            <a:spAutoFit/>
          </a:bodyPr>
          <a:lstStyle/>
          <a:p>
            <a:pPr>
              <a:spcAft>
                <a:spcPts val="600"/>
              </a:spcAft>
            </a:pPr>
            <a:r>
              <a:rPr lang="zh-CN" altLang="en-US" sz="1000" b="1" dirty="0">
                <a:solidFill>
                  <a:schemeClr val="tx1">
                    <a:lumMod val="75000"/>
                    <a:lumOff val="25000"/>
                  </a:schemeClr>
                </a:solidFill>
                <a:latin typeface="微软雅黑" panose="020B0503020204020204" pitchFamily="34" charset="-122"/>
                <a:ea typeface="微软雅黑" panose="020B0503020204020204" pitchFamily="34" charset="-122"/>
              </a:rPr>
              <a:t>区级平台：</a:t>
            </a:r>
            <a:endParaRPr lang="en-US" altLang="zh-CN" sz="1000" b="1" dirty="0">
              <a:solidFill>
                <a:schemeClr val="tx1">
                  <a:lumMod val="75000"/>
                  <a:lumOff val="25000"/>
                </a:schemeClr>
              </a:solidFill>
              <a:latin typeface="微软雅黑" panose="020B0503020204020204" pitchFamily="34" charset="-122"/>
              <a:ea typeface="微软雅黑" panose="020B0503020204020204" pitchFamily="34" charset="-122"/>
            </a:endParaRPr>
          </a:p>
          <a:p>
            <a:pPr marL="171450" indent="-171450">
              <a:buFont typeface="Arial" panose="020B0604020202020204" pitchFamily="34" charset="0"/>
              <a:buChar char="•"/>
            </a:pPr>
            <a:r>
              <a:rPr lang="zh-CN" altLang="en-US" sz="800" dirty="0">
                <a:solidFill>
                  <a:schemeClr val="tx1">
                    <a:lumMod val="75000"/>
                    <a:lumOff val="25000"/>
                  </a:schemeClr>
                </a:solidFill>
                <a:latin typeface="微软雅黑" panose="020B0503020204020204" pitchFamily="34" charset="-122"/>
                <a:ea typeface="微软雅黑" panose="020B0503020204020204" pitchFamily="34" charset="-122"/>
              </a:rPr>
              <a:t>心电采集</a:t>
            </a:r>
            <a:endParaRPr lang="en-US" altLang="zh-CN" sz="800" dirty="0">
              <a:solidFill>
                <a:schemeClr val="tx1">
                  <a:lumMod val="75000"/>
                  <a:lumOff val="25000"/>
                </a:schemeClr>
              </a:solidFill>
              <a:latin typeface="微软雅黑" panose="020B0503020204020204" pitchFamily="34" charset="-122"/>
              <a:ea typeface="微软雅黑" panose="020B0503020204020204" pitchFamily="34" charset="-122"/>
            </a:endParaRPr>
          </a:p>
          <a:p>
            <a:pPr marL="171450" indent="-171450">
              <a:buFont typeface="Arial" panose="020B0604020202020204" pitchFamily="34" charset="0"/>
              <a:buChar char="•"/>
            </a:pPr>
            <a:r>
              <a:rPr lang="zh-CN" altLang="en-US" sz="800" dirty="0">
                <a:solidFill>
                  <a:schemeClr val="tx1">
                    <a:lumMod val="75000"/>
                    <a:lumOff val="25000"/>
                  </a:schemeClr>
                </a:solidFill>
                <a:latin typeface="微软雅黑" panose="020B0503020204020204" pitchFamily="34" charset="-122"/>
                <a:ea typeface="微软雅黑" panose="020B0503020204020204" pitchFamily="34" charset="-122"/>
              </a:rPr>
              <a:t>远程集中监护</a:t>
            </a:r>
            <a:endParaRPr lang="en-US" altLang="zh-CN" sz="800" dirty="0">
              <a:solidFill>
                <a:schemeClr val="tx1">
                  <a:lumMod val="75000"/>
                  <a:lumOff val="25000"/>
                </a:schemeClr>
              </a:solidFill>
              <a:latin typeface="微软雅黑" panose="020B0503020204020204" pitchFamily="34" charset="-122"/>
              <a:ea typeface="微软雅黑" panose="020B0503020204020204" pitchFamily="34" charset="-122"/>
            </a:endParaRPr>
          </a:p>
          <a:p>
            <a:pPr marL="171450" indent="-171450">
              <a:buFont typeface="Arial" panose="020B0604020202020204" pitchFamily="34" charset="0"/>
              <a:buChar char="•"/>
            </a:pPr>
            <a:r>
              <a:rPr lang="zh-CN" altLang="en-US" sz="800" dirty="0">
                <a:solidFill>
                  <a:schemeClr val="tx1">
                    <a:lumMod val="75000"/>
                    <a:lumOff val="25000"/>
                  </a:schemeClr>
                </a:solidFill>
                <a:latin typeface="微软雅黑" panose="020B0503020204020204" pitchFamily="34" charset="-122"/>
                <a:ea typeface="微软雅黑" panose="020B0503020204020204" pitchFamily="34" charset="-122"/>
              </a:rPr>
              <a:t>申请远程分析</a:t>
            </a:r>
            <a:endParaRPr lang="en-US" altLang="zh-CN" sz="800" dirty="0">
              <a:solidFill>
                <a:schemeClr val="tx1">
                  <a:lumMod val="75000"/>
                  <a:lumOff val="25000"/>
                </a:schemeClr>
              </a:solidFill>
              <a:latin typeface="微软雅黑" panose="020B0503020204020204" pitchFamily="34" charset="-122"/>
              <a:ea typeface="微软雅黑" panose="020B0503020204020204" pitchFamily="34" charset="-122"/>
            </a:endParaRPr>
          </a:p>
          <a:p>
            <a:endParaRPr lang="en-US" altLang="zh-CN" sz="800" b="1" dirty="0">
              <a:solidFill>
                <a:schemeClr val="tx1">
                  <a:lumMod val="75000"/>
                  <a:lumOff val="25000"/>
                </a:schemeClr>
              </a:solidFill>
              <a:latin typeface="微软雅黑" panose="020B0503020204020204" pitchFamily="34" charset="-122"/>
              <a:ea typeface="微软雅黑" panose="020B0503020204020204" pitchFamily="34" charset="-122"/>
            </a:endParaRPr>
          </a:p>
          <a:p>
            <a:endParaRPr lang="en-US" altLang="zh-CN" sz="8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39" name="文本框 38"/>
          <p:cNvSpPr txBox="1"/>
          <p:nvPr/>
        </p:nvSpPr>
        <p:spPr>
          <a:xfrm>
            <a:off x="7127411" y="3653864"/>
            <a:ext cx="973343" cy="815608"/>
          </a:xfrm>
          <a:prstGeom prst="rect">
            <a:avLst/>
          </a:prstGeom>
          <a:noFill/>
        </p:spPr>
        <p:txBody>
          <a:bodyPr wrap="none" rtlCol="0">
            <a:spAutoFit/>
          </a:bodyPr>
          <a:lstStyle/>
          <a:p>
            <a:pPr>
              <a:spcAft>
                <a:spcPts val="600"/>
              </a:spcAft>
            </a:pPr>
            <a:r>
              <a:rPr lang="zh-CN" altLang="en-US" sz="1000" b="1" dirty="0" smtClean="0">
                <a:solidFill>
                  <a:schemeClr val="tx1">
                    <a:lumMod val="75000"/>
                    <a:lumOff val="25000"/>
                  </a:schemeClr>
                </a:solidFill>
                <a:latin typeface="微软雅黑" panose="020B0503020204020204" pitchFamily="34" charset="-122"/>
                <a:ea typeface="微软雅黑" panose="020B0503020204020204" pitchFamily="34" charset="-122"/>
              </a:rPr>
              <a:t>卫生站</a:t>
            </a:r>
            <a:r>
              <a:rPr lang="en-US" altLang="zh-CN" sz="1000" b="1" dirty="0" smtClean="0">
                <a:solidFill>
                  <a:schemeClr val="tx1">
                    <a:lumMod val="75000"/>
                    <a:lumOff val="25000"/>
                  </a:schemeClr>
                </a:solidFill>
                <a:latin typeface="微软雅黑" panose="020B0503020204020204" pitchFamily="34" charset="-122"/>
                <a:ea typeface="微软雅黑" panose="020B0503020204020204" pitchFamily="34" charset="-122"/>
              </a:rPr>
              <a:t>/</a:t>
            </a:r>
            <a:r>
              <a:rPr lang="zh-CN" altLang="en-US" sz="1000" b="1" dirty="0" smtClean="0">
                <a:solidFill>
                  <a:schemeClr val="tx1">
                    <a:lumMod val="75000"/>
                    <a:lumOff val="25000"/>
                  </a:schemeClr>
                </a:solidFill>
                <a:latin typeface="微软雅黑" panose="020B0503020204020204" pitchFamily="34" charset="-122"/>
                <a:ea typeface="微软雅黑" panose="020B0503020204020204" pitchFamily="34" charset="-122"/>
              </a:rPr>
              <a:t>室</a:t>
            </a:r>
            <a:r>
              <a:rPr lang="zh-CN" altLang="en-US" sz="1000" b="1" dirty="0">
                <a:solidFill>
                  <a:schemeClr val="tx1">
                    <a:lumMod val="75000"/>
                    <a:lumOff val="25000"/>
                  </a:schemeClr>
                </a:solidFill>
                <a:latin typeface="微软雅黑" panose="020B0503020204020204" pitchFamily="34" charset="-122"/>
                <a:ea typeface="微软雅黑" panose="020B0503020204020204" pitchFamily="34" charset="-122"/>
              </a:rPr>
              <a:t>：</a:t>
            </a:r>
            <a:endParaRPr lang="en-US" altLang="zh-CN" sz="1000" b="1" dirty="0">
              <a:solidFill>
                <a:schemeClr val="tx1">
                  <a:lumMod val="75000"/>
                  <a:lumOff val="25000"/>
                </a:schemeClr>
              </a:solidFill>
              <a:latin typeface="微软雅黑" panose="020B0503020204020204" pitchFamily="34" charset="-122"/>
              <a:ea typeface="微软雅黑" panose="020B0503020204020204" pitchFamily="34" charset="-122"/>
            </a:endParaRPr>
          </a:p>
          <a:p>
            <a:pPr marL="171450" indent="-171450">
              <a:buFont typeface="Arial" panose="020B0604020202020204" pitchFamily="34" charset="0"/>
              <a:buChar char="•"/>
            </a:pPr>
            <a:r>
              <a:rPr lang="zh-CN" altLang="en-US" sz="800" dirty="0">
                <a:solidFill>
                  <a:schemeClr val="tx1">
                    <a:lumMod val="75000"/>
                    <a:lumOff val="25000"/>
                  </a:schemeClr>
                </a:solidFill>
                <a:latin typeface="微软雅黑" panose="020B0503020204020204" pitchFamily="34" charset="-122"/>
                <a:ea typeface="微软雅黑" panose="020B0503020204020204" pitchFamily="34" charset="-122"/>
              </a:rPr>
              <a:t>心电采集</a:t>
            </a:r>
            <a:endParaRPr lang="en-US" altLang="zh-CN" sz="800" dirty="0">
              <a:solidFill>
                <a:schemeClr val="tx1">
                  <a:lumMod val="75000"/>
                  <a:lumOff val="25000"/>
                </a:schemeClr>
              </a:solidFill>
              <a:latin typeface="微软雅黑" panose="020B0503020204020204" pitchFamily="34" charset="-122"/>
              <a:ea typeface="微软雅黑" panose="020B0503020204020204" pitchFamily="34" charset="-122"/>
            </a:endParaRPr>
          </a:p>
          <a:p>
            <a:pPr marL="171450" indent="-171450">
              <a:buFont typeface="Arial" panose="020B0604020202020204" pitchFamily="34" charset="0"/>
              <a:buChar char="•"/>
            </a:pPr>
            <a:r>
              <a:rPr lang="zh-CN" altLang="en-US" sz="800" dirty="0">
                <a:solidFill>
                  <a:schemeClr val="tx1">
                    <a:lumMod val="75000"/>
                    <a:lumOff val="25000"/>
                  </a:schemeClr>
                </a:solidFill>
                <a:latin typeface="微软雅黑" panose="020B0503020204020204" pitchFamily="34" charset="-122"/>
                <a:ea typeface="微软雅黑" panose="020B0503020204020204" pitchFamily="34" charset="-122"/>
              </a:rPr>
              <a:t>申请远程分析</a:t>
            </a:r>
            <a:endParaRPr lang="en-US" altLang="zh-CN" sz="800" dirty="0">
              <a:solidFill>
                <a:schemeClr val="tx1">
                  <a:lumMod val="75000"/>
                  <a:lumOff val="25000"/>
                </a:schemeClr>
              </a:solidFill>
              <a:latin typeface="微软雅黑" panose="020B0503020204020204" pitchFamily="34" charset="-122"/>
              <a:ea typeface="微软雅黑" panose="020B0503020204020204" pitchFamily="34" charset="-122"/>
            </a:endParaRPr>
          </a:p>
          <a:p>
            <a:endParaRPr lang="en-US" altLang="zh-CN" sz="800" b="1" dirty="0">
              <a:solidFill>
                <a:schemeClr val="tx1">
                  <a:lumMod val="75000"/>
                  <a:lumOff val="25000"/>
                </a:schemeClr>
              </a:solidFill>
              <a:latin typeface="微软雅黑" panose="020B0503020204020204" pitchFamily="34" charset="-122"/>
              <a:ea typeface="微软雅黑" panose="020B0503020204020204" pitchFamily="34" charset="-122"/>
            </a:endParaRPr>
          </a:p>
          <a:p>
            <a:endParaRPr lang="en-US" altLang="zh-CN" sz="8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pic>
        <p:nvPicPr>
          <p:cNvPr id="40" name="图片 39"/>
          <p:cNvPicPr>
            <a:picLocks noChangeAspect="1"/>
          </p:cNvPicPr>
          <p:nvPr/>
        </p:nvPicPr>
        <p:blipFill>
          <a:blip r:embed="rId4" cstate="print">
            <a:extLst>
              <a:ext uri="{28A0092B-C50C-407E-A947-70E740481C1C}">
                <a14:useLocalDpi xmlns:a14="http://schemas.microsoft.com/office/drawing/2010/main" xmlns="" val="0"/>
              </a:ext>
            </a:extLst>
          </a:blip>
          <a:stretch>
            <a:fillRect/>
          </a:stretch>
        </p:blipFill>
        <p:spPr>
          <a:xfrm>
            <a:off x="3178523" y="3707199"/>
            <a:ext cx="351528" cy="281222"/>
          </a:xfrm>
          <a:prstGeom prst="rect">
            <a:avLst/>
          </a:prstGeom>
        </p:spPr>
      </p:pic>
      <p:sp>
        <p:nvSpPr>
          <p:cNvPr id="41" name="文本框 40"/>
          <p:cNvSpPr txBox="1"/>
          <p:nvPr/>
        </p:nvSpPr>
        <p:spPr>
          <a:xfrm>
            <a:off x="3080352" y="3978607"/>
            <a:ext cx="595035" cy="215444"/>
          </a:xfrm>
          <a:prstGeom prst="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wrap="none" rtlCol="0">
            <a:spAutoFit/>
          </a:bodyPr>
          <a:lstStyle/>
          <a:p>
            <a:r>
              <a:rPr lang="zh-CN" altLang="en-US" sz="800" dirty="0">
                <a:latin typeface="微软雅黑" panose="020B0503020204020204" pitchFamily="34" charset="-122"/>
                <a:ea typeface="微软雅黑" panose="020B0503020204020204" pitchFamily="34" charset="-122"/>
              </a:rPr>
              <a:t>家庭病床</a:t>
            </a:r>
          </a:p>
        </p:txBody>
      </p:sp>
      <p:pic>
        <p:nvPicPr>
          <p:cNvPr id="46" name="图片 45"/>
          <p:cNvPicPr>
            <a:picLocks noChangeAspect="1"/>
          </p:cNvPicPr>
          <p:nvPr/>
        </p:nvPicPr>
        <p:blipFill>
          <a:blip r:embed="rId5" cstate="print">
            <a:extLst>
              <a:ext uri="{28A0092B-C50C-407E-A947-70E740481C1C}">
                <a14:useLocalDpi xmlns:a14="http://schemas.microsoft.com/office/drawing/2010/main" xmlns="" val="0"/>
              </a:ext>
            </a:extLst>
          </a:blip>
          <a:stretch>
            <a:fillRect/>
          </a:stretch>
        </p:blipFill>
        <p:spPr>
          <a:xfrm>
            <a:off x="4241605" y="3681625"/>
            <a:ext cx="330395" cy="330285"/>
          </a:xfrm>
          <a:prstGeom prst="rect">
            <a:avLst/>
          </a:prstGeom>
        </p:spPr>
      </p:pic>
      <p:sp>
        <p:nvSpPr>
          <p:cNvPr id="47" name="文本框 46"/>
          <p:cNvSpPr txBox="1"/>
          <p:nvPr/>
        </p:nvSpPr>
        <p:spPr>
          <a:xfrm>
            <a:off x="4932040" y="4011910"/>
            <a:ext cx="720080" cy="215444"/>
          </a:xfrm>
          <a:prstGeom prst="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zh-CN" altLang="en-US" sz="800" dirty="0" smtClean="0">
                <a:latin typeface="微软雅黑" panose="020B0503020204020204" pitchFamily="34" charset="-122"/>
                <a:ea typeface="微软雅黑" panose="020B0503020204020204" pitchFamily="34" charset="-122"/>
              </a:rPr>
              <a:t>卫生服务站</a:t>
            </a:r>
            <a:endParaRPr lang="zh-CN" altLang="en-US" sz="800" dirty="0">
              <a:latin typeface="微软雅黑" panose="020B0503020204020204" pitchFamily="34" charset="-122"/>
              <a:ea typeface="微软雅黑" panose="020B0503020204020204" pitchFamily="34" charset="-122"/>
            </a:endParaRPr>
          </a:p>
        </p:txBody>
      </p:sp>
      <p:pic>
        <p:nvPicPr>
          <p:cNvPr id="50" name="图片 49"/>
          <p:cNvPicPr>
            <a:picLocks noChangeAspect="1"/>
          </p:cNvPicPr>
          <p:nvPr/>
        </p:nvPicPr>
        <p:blipFill>
          <a:blip r:embed="rId5" cstate="print">
            <a:extLst>
              <a:ext uri="{28A0092B-C50C-407E-A947-70E740481C1C}">
                <a14:useLocalDpi xmlns:a14="http://schemas.microsoft.com/office/drawing/2010/main" xmlns="" val="0"/>
              </a:ext>
            </a:extLst>
          </a:blip>
          <a:stretch>
            <a:fillRect/>
          </a:stretch>
        </p:blipFill>
        <p:spPr>
          <a:xfrm>
            <a:off x="6055587" y="3692432"/>
            <a:ext cx="310814" cy="310814"/>
          </a:xfrm>
          <a:prstGeom prst="rect">
            <a:avLst/>
          </a:prstGeom>
        </p:spPr>
      </p:pic>
      <p:pic>
        <p:nvPicPr>
          <p:cNvPr id="51" name="图片 50"/>
          <p:cNvPicPr>
            <a:picLocks noChangeAspect="1"/>
          </p:cNvPicPr>
          <p:nvPr/>
        </p:nvPicPr>
        <p:blipFill>
          <a:blip r:embed="rId6" cstate="print">
            <a:extLst>
              <a:ext uri="{28A0092B-C50C-407E-A947-70E740481C1C}">
                <a14:useLocalDpi xmlns:a14="http://schemas.microsoft.com/office/drawing/2010/main" xmlns="" val="0"/>
              </a:ext>
            </a:extLst>
          </a:blip>
          <a:stretch>
            <a:fillRect/>
          </a:stretch>
        </p:blipFill>
        <p:spPr>
          <a:xfrm>
            <a:off x="4562981" y="2779613"/>
            <a:ext cx="427810" cy="427810"/>
          </a:xfrm>
          <a:prstGeom prst="rect">
            <a:avLst/>
          </a:prstGeom>
        </p:spPr>
      </p:pic>
      <p:pic>
        <p:nvPicPr>
          <p:cNvPr id="52" name="图片 51"/>
          <p:cNvPicPr>
            <a:picLocks noChangeAspect="1"/>
          </p:cNvPicPr>
          <p:nvPr/>
        </p:nvPicPr>
        <p:blipFill>
          <a:blip r:embed="rId6" cstate="print">
            <a:extLst>
              <a:ext uri="{28A0092B-C50C-407E-A947-70E740481C1C}">
                <a14:useLocalDpi xmlns:a14="http://schemas.microsoft.com/office/drawing/2010/main" xmlns="" val="0"/>
              </a:ext>
            </a:extLst>
          </a:blip>
          <a:stretch>
            <a:fillRect/>
          </a:stretch>
        </p:blipFill>
        <p:spPr>
          <a:xfrm>
            <a:off x="5997089" y="2774399"/>
            <a:ext cx="427810" cy="427810"/>
          </a:xfrm>
          <a:prstGeom prst="rect">
            <a:avLst/>
          </a:prstGeom>
        </p:spPr>
      </p:pic>
      <p:sp>
        <p:nvSpPr>
          <p:cNvPr id="60" name="椭圆 59"/>
          <p:cNvSpPr/>
          <p:nvPr/>
        </p:nvSpPr>
        <p:spPr>
          <a:xfrm>
            <a:off x="555562" y="3489210"/>
            <a:ext cx="755599" cy="207819"/>
          </a:xfrm>
          <a:prstGeom prst="ellipse">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61" name="图片 60" descr="123DA516-2E0B-4D86-BDA8-E5542DB50017-1282-00000028CFB320BF"/>
          <p:cNvPicPr>
            <a:picLocks noChangeAspect="1"/>
          </p:cNvPicPr>
          <p:nvPr/>
        </p:nvPicPr>
        <p:blipFill>
          <a:blip r:embed="rId7" cstate="print"/>
          <a:stretch>
            <a:fillRect/>
          </a:stretch>
        </p:blipFill>
        <p:spPr>
          <a:xfrm rot="16200000">
            <a:off x="4471285" y="4378688"/>
            <a:ext cx="138013" cy="245375"/>
          </a:xfrm>
          <a:prstGeom prst="rect">
            <a:avLst/>
          </a:prstGeom>
        </p:spPr>
      </p:pic>
      <p:pic>
        <p:nvPicPr>
          <p:cNvPr id="63" name="图片 62"/>
          <p:cNvPicPr>
            <a:picLocks noChangeAspect="1"/>
          </p:cNvPicPr>
          <p:nvPr/>
        </p:nvPicPr>
        <p:blipFill>
          <a:blip r:embed="rId8" cstate="print">
            <a:extLst>
              <a:ext uri="{28A0092B-C50C-407E-A947-70E740481C1C}">
                <a14:useLocalDpi xmlns:a14="http://schemas.microsoft.com/office/drawing/2010/main" xmlns="" val="0"/>
              </a:ext>
            </a:extLst>
          </a:blip>
          <a:stretch>
            <a:fillRect/>
          </a:stretch>
        </p:blipFill>
        <p:spPr>
          <a:xfrm>
            <a:off x="4430821" y="4322952"/>
            <a:ext cx="245574" cy="125253"/>
          </a:xfrm>
          <a:prstGeom prst="rect">
            <a:avLst/>
          </a:prstGeom>
        </p:spPr>
      </p:pic>
      <p:pic>
        <p:nvPicPr>
          <p:cNvPr id="65" name="object 4"/>
          <p:cNvPicPr/>
          <p:nvPr/>
        </p:nvPicPr>
        <p:blipFill>
          <a:blip r:embed="rId9" cstate="print"/>
          <a:stretch>
            <a:fillRect/>
          </a:stretch>
        </p:blipFill>
        <p:spPr>
          <a:xfrm>
            <a:off x="4160510" y="4308479"/>
            <a:ext cx="247766" cy="187948"/>
          </a:xfrm>
          <a:prstGeom prst="rect">
            <a:avLst/>
          </a:prstGeom>
        </p:spPr>
      </p:pic>
      <p:pic>
        <p:nvPicPr>
          <p:cNvPr id="66" name="图片 65"/>
          <p:cNvPicPr>
            <a:picLocks noChangeAspect="1"/>
          </p:cNvPicPr>
          <p:nvPr/>
        </p:nvPicPr>
        <p:blipFill rotWithShape="1">
          <a:blip r:embed="rId10" cstate="print">
            <a:extLst>
              <a:ext uri="{28A0092B-C50C-407E-A947-70E740481C1C}">
                <a14:useLocalDpi xmlns:a14="http://schemas.microsoft.com/office/drawing/2010/main" xmlns="" val="0"/>
              </a:ext>
            </a:extLst>
          </a:blip>
          <a:srcRect t="32807" b="26594"/>
          <a:stretch>
            <a:fillRect/>
          </a:stretch>
        </p:blipFill>
        <p:spPr>
          <a:xfrm>
            <a:off x="4117514" y="4437843"/>
            <a:ext cx="305007" cy="123831"/>
          </a:xfrm>
          <a:prstGeom prst="rect">
            <a:avLst/>
          </a:prstGeom>
        </p:spPr>
      </p:pic>
      <p:sp>
        <p:nvSpPr>
          <p:cNvPr id="69" name="椭圆 68"/>
          <p:cNvSpPr/>
          <p:nvPr/>
        </p:nvSpPr>
        <p:spPr>
          <a:xfrm>
            <a:off x="4872845" y="4332056"/>
            <a:ext cx="658834" cy="229617"/>
          </a:xfrm>
          <a:prstGeom prst="ellipse">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8" name="图片 47"/>
          <p:cNvPicPr>
            <a:picLocks noChangeAspect="1"/>
          </p:cNvPicPr>
          <p:nvPr/>
        </p:nvPicPr>
        <p:blipFill>
          <a:blip r:embed="rId5" cstate="print">
            <a:extLst>
              <a:ext uri="{28A0092B-C50C-407E-A947-70E740481C1C}">
                <a14:useLocalDpi xmlns:a14="http://schemas.microsoft.com/office/drawing/2010/main" xmlns="" val="0"/>
              </a:ext>
            </a:extLst>
          </a:blip>
          <a:stretch>
            <a:fillRect/>
          </a:stretch>
        </p:blipFill>
        <p:spPr>
          <a:xfrm>
            <a:off x="5148064" y="3692971"/>
            <a:ext cx="311109" cy="311109"/>
          </a:xfrm>
          <a:prstGeom prst="rect">
            <a:avLst/>
          </a:prstGeom>
        </p:spPr>
      </p:pic>
      <p:cxnSp>
        <p:nvCxnSpPr>
          <p:cNvPr id="73" name="直接箭头连接符 72"/>
          <p:cNvCxnSpPr>
            <a:stCxn id="16" idx="0"/>
            <a:endCxn id="27" idx="2"/>
          </p:cNvCxnSpPr>
          <p:nvPr/>
        </p:nvCxnSpPr>
        <p:spPr>
          <a:xfrm flipH="1" flipV="1">
            <a:off x="5617342" y="1429220"/>
            <a:ext cx="781" cy="4073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7" name="直接箭头连接符 76"/>
          <p:cNvCxnSpPr>
            <a:stCxn id="51" idx="0"/>
            <a:endCxn id="19" idx="0"/>
          </p:cNvCxnSpPr>
          <p:nvPr/>
        </p:nvCxnSpPr>
        <p:spPr>
          <a:xfrm flipV="1">
            <a:off x="4776886" y="2323288"/>
            <a:ext cx="818410" cy="456325"/>
          </a:xfrm>
          <a:prstGeom prst="straightConnector1">
            <a:avLst/>
          </a:prstGeom>
          <a:ln>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79" name="直接箭头连接符 78"/>
          <p:cNvCxnSpPr>
            <a:stCxn id="52" idx="0"/>
            <a:endCxn id="16" idx="2"/>
          </p:cNvCxnSpPr>
          <p:nvPr/>
        </p:nvCxnSpPr>
        <p:spPr>
          <a:xfrm flipH="1" flipV="1">
            <a:off x="5618123" y="2335832"/>
            <a:ext cx="592871" cy="438567"/>
          </a:xfrm>
          <a:prstGeom prst="straightConnector1">
            <a:avLst/>
          </a:prstGeom>
          <a:ln>
            <a:headEnd type="none" w="med" len="med"/>
            <a:tailEnd type="triangle" w="med" len="med"/>
          </a:ln>
        </p:spPr>
        <p:style>
          <a:lnRef idx="1">
            <a:schemeClr val="accent1"/>
          </a:lnRef>
          <a:fillRef idx="0">
            <a:schemeClr val="accent1"/>
          </a:fillRef>
          <a:effectRef idx="0">
            <a:schemeClr val="accent1"/>
          </a:effectRef>
          <a:fontRef idx="minor">
            <a:schemeClr val="tx1"/>
          </a:fontRef>
        </p:style>
      </p:cxnSp>
      <p:pic>
        <p:nvPicPr>
          <p:cNvPr id="81" name="图片 80"/>
          <p:cNvPicPr>
            <a:picLocks noChangeAspect="1"/>
          </p:cNvPicPr>
          <p:nvPr/>
        </p:nvPicPr>
        <p:blipFill>
          <a:blip r:embed="rId11" cstate="print">
            <a:extLst>
              <a:ext uri="{28A0092B-C50C-407E-A947-70E740481C1C}">
                <a14:useLocalDpi xmlns:a14="http://schemas.microsoft.com/office/drawing/2010/main" xmlns="" val="0"/>
              </a:ext>
            </a:extLst>
          </a:blip>
          <a:stretch>
            <a:fillRect/>
          </a:stretch>
        </p:blipFill>
        <p:spPr>
          <a:xfrm>
            <a:off x="5130237" y="3026904"/>
            <a:ext cx="160147" cy="81682"/>
          </a:xfrm>
          <a:prstGeom prst="rect">
            <a:avLst/>
          </a:prstGeom>
        </p:spPr>
      </p:pic>
      <p:pic>
        <p:nvPicPr>
          <p:cNvPr id="82" name="图片 81" descr="123DA516-2E0B-4D86-BDA8-E5542DB50017-1282-00000028CFB320BF"/>
          <p:cNvPicPr>
            <a:picLocks noChangeAspect="1"/>
          </p:cNvPicPr>
          <p:nvPr/>
        </p:nvPicPr>
        <p:blipFill>
          <a:blip r:embed="rId12" cstate="print"/>
          <a:stretch>
            <a:fillRect/>
          </a:stretch>
        </p:blipFill>
        <p:spPr>
          <a:xfrm rot="16200000">
            <a:off x="5278874" y="2929714"/>
            <a:ext cx="92684" cy="164785"/>
          </a:xfrm>
          <a:prstGeom prst="rect">
            <a:avLst/>
          </a:prstGeom>
        </p:spPr>
      </p:pic>
      <p:sp>
        <p:nvSpPr>
          <p:cNvPr id="86" name="文本框 85"/>
          <p:cNvSpPr txBox="1"/>
          <p:nvPr/>
        </p:nvSpPr>
        <p:spPr>
          <a:xfrm>
            <a:off x="660044" y="3200114"/>
            <a:ext cx="595035" cy="215444"/>
          </a:xfrm>
          <a:prstGeom prst="rect">
            <a:avLst/>
          </a:prstGeom>
          <a:noFill/>
        </p:spPr>
        <p:txBody>
          <a:bodyPr wrap="none" rtlCol="0">
            <a:spAutoFit/>
          </a:bodyPr>
          <a:lstStyle/>
          <a:p>
            <a:r>
              <a:rPr lang="zh-CN" altLang="en-US" sz="800" dirty="0">
                <a:solidFill>
                  <a:schemeClr val="tx1">
                    <a:lumMod val="75000"/>
                    <a:lumOff val="25000"/>
                  </a:schemeClr>
                </a:solidFill>
                <a:latin typeface="微软雅黑" panose="020B0503020204020204" pitchFamily="34" charset="-122"/>
                <a:ea typeface="微软雅黑" panose="020B0503020204020204" pitchFamily="34" charset="-122"/>
              </a:rPr>
              <a:t>心电采集</a:t>
            </a:r>
          </a:p>
        </p:txBody>
      </p:sp>
      <p:cxnSp>
        <p:nvCxnSpPr>
          <p:cNvPr id="88" name="直接箭头连接符 87"/>
          <p:cNvCxnSpPr>
            <a:stCxn id="46" idx="0"/>
            <a:endCxn id="51" idx="2"/>
          </p:cNvCxnSpPr>
          <p:nvPr/>
        </p:nvCxnSpPr>
        <p:spPr>
          <a:xfrm flipV="1">
            <a:off x="4406803" y="3207423"/>
            <a:ext cx="370083" cy="47420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0" name="直接箭头连接符 89"/>
          <p:cNvCxnSpPr>
            <a:stCxn id="48" idx="0"/>
            <a:endCxn id="51" idx="2"/>
          </p:cNvCxnSpPr>
          <p:nvPr/>
        </p:nvCxnSpPr>
        <p:spPr>
          <a:xfrm flipH="1" flipV="1">
            <a:off x="4776886" y="3207423"/>
            <a:ext cx="526733" cy="4855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4" name="直接箭头连接符 93"/>
          <p:cNvCxnSpPr>
            <a:stCxn id="50" idx="0"/>
            <a:endCxn id="52" idx="2"/>
          </p:cNvCxnSpPr>
          <p:nvPr/>
        </p:nvCxnSpPr>
        <p:spPr>
          <a:xfrm flipV="1">
            <a:off x="6210994" y="3202209"/>
            <a:ext cx="0" cy="49022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95" name="图片 94"/>
          <p:cNvPicPr>
            <a:picLocks noChangeAspect="1"/>
          </p:cNvPicPr>
          <p:nvPr/>
        </p:nvPicPr>
        <p:blipFill>
          <a:blip r:embed="rId13" cstate="print">
            <a:extLst>
              <a:ext uri="{28A0092B-C50C-407E-A947-70E740481C1C}">
                <a14:useLocalDpi xmlns:a14="http://schemas.microsoft.com/office/drawing/2010/main" xmlns="" val="0"/>
              </a:ext>
            </a:extLst>
          </a:blip>
          <a:stretch>
            <a:fillRect/>
          </a:stretch>
        </p:blipFill>
        <p:spPr>
          <a:xfrm>
            <a:off x="2110099" y="982664"/>
            <a:ext cx="460224" cy="460224"/>
          </a:xfrm>
          <a:prstGeom prst="rect">
            <a:avLst/>
          </a:prstGeom>
        </p:spPr>
      </p:pic>
      <p:pic>
        <p:nvPicPr>
          <p:cNvPr id="97" name="图片 96"/>
          <p:cNvPicPr>
            <a:picLocks noChangeAspect="1"/>
          </p:cNvPicPr>
          <p:nvPr/>
        </p:nvPicPr>
        <p:blipFill>
          <a:blip r:embed="rId14" cstate="print">
            <a:extLst>
              <a:ext uri="{28A0092B-C50C-407E-A947-70E740481C1C}">
                <a14:useLocalDpi xmlns:a14="http://schemas.microsoft.com/office/drawing/2010/main" xmlns="" val="0"/>
              </a:ext>
            </a:extLst>
          </a:blip>
          <a:stretch>
            <a:fillRect/>
          </a:stretch>
        </p:blipFill>
        <p:spPr>
          <a:xfrm rot="827166">
            <a:off x="5047838" y="2963679"/>
            <a:ext cx="176207" cy="101838"/>
          </a:xfrm>
          <a:prstGeom prst="rect">
            <a:avLst/>
          </a:prstGeom>
        </p:spPr>
      </p:pic>
      <p:sp>
        <p:nvSpPr>
          <p:cNvPr id="98" name="椭圆 97"/>
          <p:cNvSpPr/>
          <p:nvPr/>
        </p:nvSpPr>
        <p:spPr>
          <a:xfrm>
            <a:off x="6388023" y="2955295"/>
            <a:ext cx="586971" cy="178820"/>
          </a:xfrm>
          <a:prstGeom prst="ellipse">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99" name="图片 98"/>
          <p:cNvPicPr>
            <a:picLocks noChangeAspect="1"/>
          </p:cNvPicPr>
          <p:nvPr/>
        </p:nvPicPr>
        <p:blipFill>
          <a:blip r:embed="rId11" cstate="print">
            <a:extLst>
              <a:ext uri="{28A0092B-C50C-407E-A947-70E740481C1C}">
                <a14:useLocalDpi xmlns:a14="http://schemas.microsoft.com/office/drawing/2010/main" xmlns="" val="0"/>
              </a:ext>
            </a:extLst>
          </a:blip>
          <a:stretch>
            <a:fillRect/>
          </a:stretch>
        </p:blipFill>
        <p:spPr>
          <a:xfrm>
            <a:off x="6560646" y="3038049"/>
            <a:ext cx="160147" cy="81682"/>
          </a:xfrm>
          <a:prstGeom prst="rect">
            <a:avLst/>
          </a:prstGeom>
        </p:spPr>
      </p:pic>
      <p:pic>
        <p:nvPicPr>
          <p:cNvPr id="100" name="图片 99" descr="123DA516-2E0B-4D86-BDA8-E5542DB50017-1282-00000028CFB320BF"/>
          <p:cNvPicPr>
            <a:picLocks noChangeAspect="1"/>
          </p:cNvPicPr>
          <p:nvPr/>
        </p:nvPicPr>
        <p:blipFill>
          <a:blip r:embed="rId12" cstate="print"/>
          <a:stretch>
            <a:fillRect/>
          </a:stretch>
        </p:blipFill>
        <p:spPr>
          <a:xfrm rot="16200000">
            <a:off x="6709283" y="2940859"/>
            <a:ext cx="92684" cy="164785"/>
          </a:xfrm>
          <a:prstGeom prst="rect">
            <a:avLst/>
          </a:prstGeom>
        </p:spPr>
      </p:pic>
      <p:pic>
        <p:nvPicPr>
          <p:cNvPr id="101" name="图片 100"/>
          <p:cNvPicPr>
            <a:picLocks noChangeAspect="1"/>
          </p:cNvPicPr>
          <p:nvPr/>
        </p:nvPicPr>
        <p:blipFill>
          <a:blip r:embed="rId14" cstate="print">
            <a:extLst>
              <a:ext uri="{28A0092B-C50C-407E-A947-70E740481C1C}">
                <a14:useLocalDpi xmlns:a14="http://schemas.microsoft.com/office/drawing/2010/main" xmlns="" val="0"/>
              </a:ext>
            </a:extLst>
          </a:blip>
          <a:stretch>
            <a:fillRect/>
          </a:stretch>
        </p:blipFill>
        <p:spPr>
          <a:xfrm rot="827166">
            <a:off x="6511125" y="2963053"/>
            <a:ext cx="176207" cy="101838"/>
          </a:xfrm>
          <a:prstGeom prst="rect">
            <a:avLst/>
          </a:prstGeom>
        </p:spPr>
      </p:pic>
      <p:pic>
        <p:nvPicPr>
          <p:cNvPr id="109" name="图片 108" descr="123DA516-2E0B-4D86-BDA8-E5542DB50017-1282-00000028CFB320BF"/>
          <p:cNvPicPr>
            <a:picLocks noChangeAspect="1"/>
          </p:cNvPicPr>
          <p:nvPr/>
        </p:nvPicPr>
        <p:blipFill>
          <a:blip r:embed="rId7" cstate="print"/>
          <a:stretch>
            <a:fillRect/>
          </a:stretch>
        </p:blipFill>
        <p:spPr>
          <a:xfrm rot="16200000">
            <a:off x="5242418" y="4374072"/>
            <a:ext cx="138013" cy="245375"/>
          </a:xfrm>
          <a:prstGeom prst="rect">
            <a:avLst/>
          </a:prstGeom>
        </p:spPr>
      </p:pic>
      <p:pic>
        <p:nvPicPr>
          <p:cNvPr id="110" name="图片 109"/>
          <p:cNvPicPr>
            <a:picLocks noChangeAspect="1"/>
          </p:cNvPicPr>
          <p:nvPr/>
        </p:nvPicPr>
        <p:blipFill>
          <a:blip r:embed="rId8" cstate="print">
            <a:extLst>
              <a:ext uri="{28A0092B-C50C-407E-A947-70E740481C1C}">
                <a14:useLocalDpi xmlns:a14="http://schemas.microsoft.com/office/drawing/2010/main" xmlns="" val="0"/>
              </a:ext>
            </a:extLst>
          </a:blip>
          <a:stretch>
            <a:fillRect/>
          </a:stretch>
        </p:blipFill>
        <p:spPr>
          <a:xfrm>
            <a:off x="5201954" y="4318336"/>
            <a:ext cx="245574" cy="125253"/>
          </a:xfrm>
          <a:prstGeom prst="rect">
            <a:avLst/>
          </a:prstGeom>
        </p:spPr>
      </p:pic>
      <p:pic>
        <p:nvPicPr>
          <p:cNvPr id="111" name="object 4"/>
          <p:cNvPicPr/>
          <p:nvPr/>
        </p:nvPicPr>
        <p:blipFill>
          <a:blip r:embed="rId9" cstate="print"/>
          <a:stretch>
            <a:fillRect/>
          </a:stretch>
        </p:blipFill>
        <p:spPr>
          <a:xfrm>
            <a:off x="4902858" y="4296040"/>
            <a:ext cx="299096" cy="226885"/>
          </a:xfrm>
          <a:prstGeom prst="rect">
            <a:avLst/>
          </a:prstGeom>
        </p:spPr>
      </p:pic>
      <p:pic>
        <p:nvPicPr>
          <p:cNvPr id="112" name="图片 111"/>
          <p:cNvPicPr>
            <a:picLocks noChangeAspect="1"/>
          </p:cNvPicPr>
          <p:nvPr/>
        </p:nvPicPr>
        <p:blipFill rotWithShape="1">
          <a:blip r:embed="rId10" cstate="print">
            <a:extLst>
              <a:ext uri="{28A0092B-C50C-407E-A947-70E740481C1C}">
                <a14:useLocalDpi xmlns:a14="http://schemas.microsoft.com/office/drawing/2010/main" xmlns="" val="0"/>
              </a:ext>
            </a:extLst>
          </a:blip>
          <a:srcRect t="32807" b="26594"/>
          <a:stretch>
            <a:fillRect/>
          </a:stretch>
        </p:blipFill>
        <p:spPr>
          <a:xfrm>
            <a:off x="4888647" y="4433227"/>
            <a:ext cx="305007" cy="123831"/>
          </a:xfrm>
          <a:prstGeom prst="rect">
            <a:avLst/>
          </a:prstGeom>
        </p:spPr>
      </p:pic>
      <p:sp>
        <p:nvSpPr>
          <p:cNvPr id="113" name="椭圆 112"/>
          <p:cNvSpPr/>
          <p:nvPr/>
        </p:nvSpPr>
        <p:spPr>
          <a:xfrm>
            <a:off x="5911249" y="4303956"/>
            <a:ext cx="658834" cy="229617"/>
          </a:xfrm>
          <a:prstGeom prst="ellipse">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4" name="图片 113"/>
          <p:cNvPicPr>
            <a:picLocks noChangeAspect="1"/>
          </p:cNvPicPr>
          <p:nvPr/>
        </p:nvPicPr>
        <p:blipFill>
          <a:blip r:embed="rId8" cstate="print">
            <a:extLst>
              <a:ext uri="{28A0092B-C50C-407E-A947-70E740481C1C}">
                <a14:useLocalDpi xmlns:a14="http://schemas.microsoft.com/office/drawing/2010/main" xmlns="" val="0"/>
              </a:ext>
            </a:extLst>
          </a:blip>
          <a:stretch>
            <a:fillRect/>
          </a:stretch>
        </p:blipFill>
        <p:spPr>
          <a:xfrm>
            <a:off x="6240358" y="4290236"/>
            <a:ext cx="245574" cy="125253"/>
          </a:xfrm>
          <a:prstGeom prst="rect">
            <a:avLst/>
          </a:prstGeom>
        </p:spPr>
      </p:pic>
      <p:pic>
        <p:nvPicPr>
          <p:cNvPr id="115" name="object 4"/>
          <p:cNvPicPr/>
          <p:nvPr/>
        </p:nvPicPr>
        <p:blipFill>
          <a:blip r:embed="rId9" cstate="print"/>
          <a:stretch>
            <a:fillRect/>
          </a:stretch>
        </p:blipFill>
        <p:spPr>
          <a:xfrm>
            <a:off x="5941262" y="4267940"/>
            <a:ext cx="299096" cy="226885"/>
          </a:xfrm>
          <a:prstGeom prst="rect">
            <a:avLst/>
          </a:prstGeom>
        </p:spPr>
      </p:pic>
      <p:pic>
        <p:nvPicPr>
          <p:cNvPr id="116" name="图片 115"/>
          <p:cNvPicPr>
            <a:picLocks noChangeAspect="1"/>
          </p:cNvPicPr>
          <p:nvPr/>
        </p:nvPicPr>
        <p:blipFill rotWithShape="1">
          <a:blip r:embed="rId10" cstate="print">
            <a:extLst>
              <a:ext uri="{28A0092B-C50C-407E-A947-70E740481C1C}">
                <a14:useLocalDpi xmlns:a14="http://schemas.microsoft.com/office/drawing/2010/main" xmlns="" val="0"/>
              </a:ext>
            </a:extLst>
          </a:blip>
          <a:srcRect t="32807" b="26594"/>
          <a:stretch>
            <a:fillRect/>
          </a:stretch>
        </p:blipFill>
        <p:spPr>
          <a:xfrm>
            <a:off x="5927051" y="4405127"/>
            <a:ext cx="305007" cy="123831"/>
          </a:xfrm>
          <a:prstGeom prst="rect">
            <a:avLst/>
          </a:prstGeom>
        </p:spPr>
      </p:pic>
      <p:sp>
        <p:nvSpPr>
          <p:cNvPr id="122" name="椭圆 121"/>
          <p:cNvSpPr/>
          <p:nvPr/>
        </p:nvSpPr>
        <p:spPr>
          <a:xfrm>
            <a:off x="2989777" y="4310319"/>
            <a:ext cx="709755" cy="155140"/>
          </a:xfrm>
          <a:prstGeom prst="ellipse">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64" name="图片 63"/>
          <p:cNvPicPr>
            <a:picLocks noChangeAspect="1"/>
          </p:cNvPicPr>
          <p:nvPr/>
        </p:nvPicPr>
        <p:blipFill>
          <a:blip r:embed="rId15" cstate="print">
            <a:extLst>
              <a:ext uri="{28A0092B-C50C-407E-A947-70E740481C1C}">
                <a14:useLocalDpi xmlns:a14="http://schemas.microsoft.com/office/drawing/2010/main" xmlns="" val="0"/>
              </a:ext>
            </a:extLst>
          </a:blip>
          <a:stretch>
            <a:fillRect/>
          </a:stretch>
        </p:blipFill>
        <p:spPr>
          <a:xfrm rot="827166">
            <a:off x="3174219" y="4222894"/>
            <a:ext cx="435604" cy="251756"/>
          </a:xfrm>
          <a:prstGeom prst="rect">
            <a:avLst/>
          </a:prstGeom>
        </p:spPr>
      </p:pic>
      <p:sp>
        <p:nvSpPr>
          <p:cNvPr id="124" name="文本框 123"/>
          <p:cNvSpPr txBox="1"/>
          <p:nvPr/>
        </p:nvSpPr>
        <p:spPr>
          <a:xfrm>
            <a:off x="1202664" y="1119168"/>
            <a:ext cx="973343" cy="461665"/>
          </a:xfrm>
          <a:prstGeom prst="rect">
            <a:avLst/>
          </a:prstGeom>
          <a:noFill/>
        </p:spPr>
        <p:txBody>
          <a:bodyPr wrap="none" rtlCol="0">
            <a:spAutoFit/>
          </a:bodyPr>
          <a:lstStyle/>
          <a:p>
            <a:pPr marL="171450" indent="-171450">
              <a:buFont typeface="Arial" panose="020B0604020202020204" pitchFamily="34" charset="0"/>
              <a:buChar char="•"/>
            </a:pPr>
            <a:r>
              <a:rPr lang="zh-CN" altLang="en-US" sz="800" dirty="0">
                <a:solidFill>
                  <a:schemeClr val="tx1">
                    <a:lumMod val="75000"/>
                    <a:lumOff val="25000"/>
                  </a:schemeClr>
                </a:solidFill>
                <a:latin typeface="微软雅黑" panose="020B0503020204020204" pitchFamily="34" charset="-122"/>
                <a:ea typeface="微软雅黑" panose="020B0503020204020204" pitchFamily="34" charset="-122"/>
              </a:rPr>
              <a:t>心电诊断中心</a:t>
            </a:r>
            <a:endParaRPr lang="en-US" altLang="zh-CN" sz="800" dirty="0">
              <a:solidFill>
                <a:schemeClr val="tx1">
                  <a:lumMod val="75000"/>
                  <a:lumOff val="25000"/>
                </a:schemeClr>
              </a:solidFill>
              <a:latin typeface="微软雅黑" panose="020B0503020204020204" pitchFamily="34" charset="-122"/>
              <a:ea typeface="微软雅黑" panose="020B0503020204020204" pitchFamily="34" charset="-122"/>
            </a:endParaRPr>
          </a:p>
          <a:p>
            <a:pPr marL="171450" indent="-171450">
              <a:buFont typeface="Arial" panose="020B0604020202020204" pitchFamily="34" charset="0"/>
              <a:buChar char="•"/>
            </a:pPr>
            <a:r>
              <a:rPr lang="zh-CN" altLang="en-US" sz="800" dirty="0">
                <a:solidFill>
                  <a:schemeClr val="tx1">
                    <a:lumMod val="75000"/>
                    <a:lumOff val="25000"/>
                  </a:schemeClr>
                </a:solidFill>
                <a:latin typeface="微软雅黑" panose="020B0503020204020204" pitchFamily="34" charset="-122"/>
                <a:ea typeface="微软雅黑" panose="020B0503020204020204" pitchFamily="34" charset="-122"/>
              </a:rPr>
              <a:t>心电诊断培训</a:t>
            </a:r>
            <a:endParaRPr lang="en-US" altLang="zh-CN" sz="800" dirty="0">
              <a:solidFill>
                <a:schemeClr val="tx1">
                  <a:lumMod val="75000"/>
                  <a:lumOff val="25000"/>
                </a:schemeClr>
              </a:solidFill>
              <a:latin typeface="微软雅黑" panose="020B0503020204020204" pitchFamily="34" charset="-122"/>
              <a:ea typeface="微软雅黑" panose="020B0503020204020204" pitchFamily="34" charset="-122"/>
            </a:endParaRPr>
          </a:p>
          <a:p>
            <a:endParaRPr lang="en-US" altLang="zh-CN" sz="800" dirty="0">
              <a:latin typeface="微软雅黑" panose="020B0503020204020204" pitchFamily="34" charset="-122"/>
              <a:ea typeface="微软雅黑" panose="020B0503020204020204" pitchFamily="34" charset="-122"/>
            </a:endParaRPr>
          </a:p>
        </p:txBody>
      </p:sp>
      <p:pic>
        <p:nvPicPr>
          <p:cNvPr id="125" name="图片 124" descr="123DA516-2E0B-4D86-BDA8-E5542DB50017-1282-00000028CFB320BF"/>
          <p:cNvPicPr>
            <a:picLocks noChangeAspect="1"/>
          </p:cNvPicPr>
          <p:nvPr/>
        </p:nvPicPr>
        <p:blipFill>
          <a:blip r:embed="rId7" cstate="print"/>
          <a:stretch>
            <a:fillRect/>
          </a:stretch>
        </p:blipFill>
        <p:spPr>
          <a:xfrm rot="16200000">
            <a:off x="1015613" y="3509142"/>
            <a:ext cx="138013" cy="245375"/>
          </a:xfrm>
          <a:prstGeom prst="rect">
            <a:avLst/>
          </a:prstGeom>
        </p:spPr>
      </p:pic>
      <p:pic>
        <p:nvPicPr>
          <p:cNvPr id="126" name="图片 125"/>
          <p:cNvPicPr>
            <a:picLocks noChangeAspect="1"/>
          </p:cNvPicPr>
          <p:nvPr/>
        </p:nvPicPr>
        <p:blipFill>
          <a:blip r:embed="rId8" cstate="print">
            <a:extLst>
              <a:ext uri="{28A0092B-C50C-407E-A947-70E740481C1C}">
                <a14:useLocalDpi xmlns:a14="http://schemas.microsoft.com/office/drawing/2010/main" xmlns="" val="0"/>
              </a:ext>
            </a:extLst>
          </a:blip>
          <a:stretch>
            <a:fillRect/>
          </a:stretch>
        </p:blipFill>
        <p:spPr>
          <a:xfrm>
            <a:off x="975149" y="3453406"/>
            <a:ext cx="245574" cy="125253"/>
          </a:xfrm>
          <a:prstGeom prst="rect">
            <a:avLst/>
          </a:prstGeom>
        </p:spPr>
      </p:pic>
      <p:pic>
        <p:nvPicPr>
          <p:cNvPr id="127" name="object 4"/>
          <p:cNvPicPr/>
          <p:nvPr/>
        </p:nvPicPr>
        <p:blipFill>
          <a:blip r:embed="rId9" cstate="print"/>
          <a:stretch>
            <a:fillRect/>
          </a:stretch>
        </p:blipFill>
        <p:spPr>
          <a:xfrm>
            <a:off x="676053" y="3431110"/>
            <a:ext cx="299096" cy="226885"/>
          </a:xfrm>
          <a:prstGeom prst="rect">
            <a:avLst/>
          </a:prstGeom>
        </p:spPr>
      </p:pic>
      <p:pic>
        <p:nvPicPr>
          <p:cNvPr id="128" name="图片 127"/>
          <p:cNvPicPr>
            <a:picLocks noChangeAspect="1"/>
          </p:cNvPicPr>
          <p:nvPr/>
        </p:nvPicPr>
        <p:blipFill rotWithShape="1">
          <a:blip r:embed="rId10" cstate="print">
            <a:extLst>
              <a:ext uri="{28A0092B-C50C-407E-A947-70E740481C1C}">
                <a14:useLocalDpi xmlns:a14="http://schemas.microsoft.com/office/drawing/2010/main" xmlns="" val="0"/>
              </a:ext>
            </a:extLst>
          </a:blip>
          <a:srcRect t="32807" b="26594"/>
          <a:stretch>
            <a:fillRect/>
          </a:stretch>
        </p:blipFill>
        <p:spPr>
          <a:xfrm>
            <a:off x="661842" y="3568297"/>
            <a:ext cx="305007" cy="123831"/>
          </a:xfrm>
          <a:prstGeom prst="rect">
            <a:avLst/>
          </a:prstGeom>
        </p:spPr>
      </p:pic>
      <p:pic>
        <p:nvPicPr>
          <p:cNvPr id="129" name="图片 128"/>
          <p:cNvPicPr>
            <a:picLocks noChangeAspect="1"/>
          </p:cNvPicPr>
          <p:nvPr/>
        </p:nvPicPr>
        <p:blipFill>
          <a:blip r:embed="rId16" cstate="print">
            <a:extLst>
              <a:ext uri="{28A0092B-C50C-407E-A947-70E740481C1C}">
                <a14:useLocalDpi xmlns:a14="http://schemas.microsoft.com/office/drawing/2010/main" xmlns="" val="0"/>
              </a:ext>
            </a:extLst>
          </a:blip>
          <a:stretch>
            <a:fillRect/>
          </a:stretch>
        </p:blipFill>
        <p:spPr>
          <a:xfrm>
            <a:off x="3581875" y="512428"/>
            <a:ext cx="492354" cy="492354"/>
          </a:xfrm>
          <a:prstGeom prst="rect">
            <a:avLst/>
          </a:prstGeom>
        </p:spPr>
      </p:pic>
      <p:sp>
        <p:nvSpPr>
          <p:cNvPr id="130" name="文本框 129"/>
          <p:cNvSpPr txBox="1"/>
          <p:nvPr/>
        </p:nvSpPr>
        <p:spPr>
          <a:xfrm>
            <a:off x="3591428" y="1004782"/>
            <a:ext cx="512793" cy="215444"/>
          </a:xfrm>
          <a:prstGeom prst="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zh-CN" altLang="en-US" sz="800" dirty="0">
                <a:latin typeface="微软雅黑" panose="020B0503020204020204" pitchFamily="34" charset="-122"/>
                <a:ea typeface="微软雅黑" panose="020B0503020204020204" pitchFamily="34" charset="-122"/>
              </a:rPr>
              <a:t>卫健委</a:t>
            </a:r>
          </a:p>
        </p:txBody>
      </p:sp>
      <p:sp>
        <p:nvSpPr>
          <p:cNvPr id="131" name="文本框 130"/>
          <p:cNvSpPr txBox="1"/>
          <p:nvPr/>
        </p:nvSpPr>
        <p:spPr>
          <a:xfrm>
            <a:off x="4035915" y="550078"/>
            <a:ext cx="595035" cy="461665"/>
          </a:xfrm>
          <a:prstGeom prst="rect">
            <a:avLst/>
          </a:prstGeom>
          <a:noFill/>
        </p:spPr>
        <p:txBody>
          <a:bodyPr wrap="none" rtlCol="0">
            <a:spAutoFit/>
          </a:bodyPr>
          <a:lstStyle/>
          <a:p>
            <a:r>
              <a:rPr lang="zh-CN" altLang="en-US" sz="800" dirty="0">
                <a:solidFill>
                  <a:schemeClr val="tx1">
                    <a:lumMod val="75000"/>
                    <a:lumOff val="25000"/>
                  </a:schemeClr>
                </a:solidFill>
                <a:latin typeface="微软雅黑" panose="020B0503020204020204" pitchFamily="34" charset="-122"/>
                <a:ea typeface="微软雅黑" panose="020B0503020204020204" pitchFamily="34" charset="-122"/>
              </a:rPr>
              <a:t>监督</a:t>
            </a:r>
            <a:endParaRPr lang="en-US" altLang="zh-CN" sz="800" dirty="0">
              <a:solidFill>
                <a:schemeClr val="tx1">
                  <a:lumMod val="75000"/>
                  <a:lumOff val="25000"/>
                </a:schemeClr>
              </a:solidFill>
              <a:latin typeface="微软雅黑" panose="020B0503020204020204" pitchFamily="34" charset="-122"/>
              <a:ea typeface="微软雅黑" panose="020B0503020204020204" pitchFamily="34" charset="-122"/>
            </a:endParaRPr>
          </a:p>
          <a:p>
            <a:r>
              <a:rPr lang="zh-CN" altLang="en-US" sz="800" dirty="0">
                <a:solidFill>
                  <a:schemeClr val="tx1">
                    <a:lumMod val="75000"/>
                    <a:lumOff val="25000"/>
                  </a:schemeClr>
                </a:solidFill>
                <a:latin typeface="微软雅黑" panose="020B0503020204020204" pitchFamily="34" charset="-122"/>
                <a:ea typeface="微软雅黑" panose="020B0503020204020204" pitchFamily="34" charset="-122"/>
              </a:rPr>
              <a:t>指导</a:t>
            </a:r>
            <a:endParaRPr lang="en-US" altLang="zh-CN" sz="800" dirty="0">
              <a:solidFill>
                <a:schemeClr val="tx1">
                  <a:lumMod val="75000"/>
                  <a:lumOff val="25000"/>
                </a:schemeClr>
              </a:solidFill>
              <a:latin typeface="微软雅黑" panose="020B0503020204020204" pitchFamily="34" charset="-122"/>
              <a:ea typeface="微软雅黑" panose="020B0503020204020204" pitchFamily="34" charset="-122"/>
            </a:endParaRPr>
          </a:p>
          <a:p>
            <a:r>
              <a:rPr lang="zh-CN" altLang="en-US" sz="800" dirty="0">
                <a:solidFill>
                  <a:schemeClr val="tx1">
                    <a:lumMod val="75000"/>
                    <a:lumOff val="25000"/>
                  </a:schemeClr>
                </a:solidFill>
                <a:latin typeface="微软雅黑" panose="020B0503020204020204" pitchFamily="34" charset="-122"/>
                <a:ea typeface="微软雅黑" panose="020B0503020204020204" pitchFamily="34" charset="-122"/>
              </a:rPr>
              <a:t>运营监控</a:t>
            </a:r>
            <a:endParaRPr lang="en-US" altLang="zh-CN" sz="8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89" name="文本框 88"/>
          <p:cNvSpPr txBox="1"/>
          <p:nvPr/>
        </p:nvSpPr>
        <p:spPr>
          <a:xfrm>
            <a:off x="3582810" y="1910643"/>
            <a:ext cx="1313180" cy="215444"/>
          </a:xfrm>
          <a:prstGeom prst="rect">
            <a:avLst/>
          </a:prstGeom>
          <a:noFill/>
        </p:spPr>
        <p:txBody>
          <a:bodyPr wrap="none" rtlCol="0">
            <a:spAutoFit/>
          </a:bodyPr>
          <a:lstStyle/>
          <a:p>
            <a:r>
              <a:rPr lang="zh-CN" altLang="en-US" sz="800" dirty="0">
                <a:solidFill>
                  <a:schemeClr val="tx1">
                    <a:lumMod val="75000"/>
                    <a:lumOff val="25000"/>
                  </a:schemeClr>
                </a:solidFill>
                <a:latin typeface="微软雅黑" panose="020B0503020204020204" pitchFamily="34" charset="-122"/>
                <a:ea typeface="微软雅黑" panose="020B0503020204020204" pitchFamily="34" charset="-122"/>
              </a:rPr>
              <a:t>疑难心电图远程心电诊断</a:t>
            </a:r>
          </a:p>
        </p:txBody>
      </p:sp>
      <p:sp>
        <p:nvSpPr>
          <p:cNvPr id="91" name="文本框 90"/>
          <p:cNvSpPr txBox="1"/>
          <p:nvPr/>
        </p:nvSpPr>
        <p:spPr>
          <a:xfrm>
            <a:off x="1554315" y="2067694"/>
            <a:ext cx="278821" cy="830997"/>
          </a:xfrm>
          <a:prstGeom prst="rect">
            <a:avLst/>
          </a:prstGeom>
          <a:noFill/>
        </p:spPr>
        <p:txBody>
          <a:bodyPr wrap="square" rtlCol="0">
            <a:spAutoFit/>
          </a:bodyPr>
          <a:lstStyle/>
          <a:p>
            <a:r>
              <a:rPr lang="zh-CN" altLang="en-US" sz="800" dirty="0">
                <a:solidFill>
                  <a:schemeClr val="tx1">
                    <a:lumMod val="75000"/>
                    <a:lumOff val="25000"/>
                  </a:schemeClr>
                </a:solidFill>
                <a:latin typeface="微软雅黑" panose="020B0503020204020204" pitchFamily="34" charset="-122"/>
                <a:ea typeface="微软雅黑" panose="020B0503020204020204" pitchFamily="34" charset="-122"/>
              </a:rPr>
              <a:t>远程</a:t>
            </a:r>
            <a:endParaRPr lang="en-US" altLang="zh-CN" sz="800" dirty="0">
              <a:solidFill>
                <a:schemeClr val="tx1">
                  <a:lumMod val="75000"/>
                  <a:lumOff val="25000"/>
                </a:schemeClr>
              </a:solidFill>
              <a:latin typeface="微软雅黑" panose="020B0503020204020204" pitchFamily="34" charset="-122"/>
              <a:ea typeface="微软雅黑" panose="020B0503020204020204" pitchFamily="34" charset="-122"/>
            </a:endParaRPr>
          </a:p>
          <a:p>
            <a:r>
              <a:rPr lang="zh-CN" altLang="en-US" sz="800" dirty="0">
                <a:solidFill>
                  <a:schemeClr val="tx1">
                    <a:lumMod val="75000"/>
                    <a:lumOff val="25000"/>
                  </a:schemeClr>
                </a:solidFill>
                <a:latin typeface="微软雅黑" panose="020B0503020204020204" pitchFamily="34" charset="-122"/>
                <a:ea typeface="微软雅黑" panose="020B0503020204020204" pitchFamily="34" charset="-122"/>
              </a:rPr>
              <a:t>心电</a:t>
            </a:r>
            <a:endParaRPr lang="en-US" altLang="zh-CN" sz="800" dirty="0">
              <a:solidFill>
                <a:schemeClr val="tx1">
                  <a:lumMod val="75000"/>
                  <a:lumOff val="25000"/>
                </a:schemeClr>
              </a:solidFill>
              <a:latin typeface="微软雅黑" panose="020B0503020204020204" pitchFamily="34" charset="-122"/>
              <a:ea typeface="微软雅黑" panose="020B0503020204020204" pitchFamily="34" charset="-122"/>
            </a:endParaRPr>
          </a:p>
          <a:p>
            <a:r>
              <a:rPr lang="zh-CN" altLang="en-US" sz="800" dirty="0">
                <a:solidFill>
                  <a:schemeClr val="tx1">
                    <a:lumMod val="75000"/>
                    <a:lumOff val="25000"/>
                  </a:schemeClr>
                </a:solidFill>
                <a:latin typeface="微软雅黑" panose="020B0503020204020204" pitchFamily="34" charset="-122"/>
                <a:ea typeface="微软雅黑" panose="020B0503020204020204" pitchFamily="34" charset="-122"/>
              </a:rPr>
              <a:t>诊断</a:t>
            </a:r>
          </a:p>
        </p:txBody>
      </p:sp>
      <p:pic>
        <p:nvPicPr>
          <p:cNvPr id="11" name="图片 10"/>
          <p:cNvPicPr>
            <a:picLocks noChangeAspect="1"/>
          </p:cNvPicPr>
          <p:nvPr/>
        </p:nvPicPr>
        <p:blipFill>
          <a:blip r:embed="rId17" cstate="print">
            <a:extLst>
              <a:ext uri="{28A0092B-C50C-407E-A947-70E740481C1C}">
                <a14:useLocalDpi xmlns:a14="http://schemas.microsoft.com/office/drawing/2010/main" xmlns="" val="0"/>
              </a:ext>
            </a:extLst>
          </a:blip>
          <a:stretch>
            <a:fillRect/>
          </a:stretch>
        </p:blipFill>
        <p:spPr>
          <a:xfrm>
            <a:off x="1352841" y="3161367"/>
            <a:ext cx="492497" cy="492497"/>
          </a:xfrm>
          <a:prstGeom prst="rect">
            <a:avLst/>
          </a:prstGeom>
        </p:spPr>
      </p:pic>
      <p:cxnSp>
        <p:nvCxnSpPr>
          <p:cNvPr id="21" name="直接箭头连接符 20"/>
          <p:cNvCxnSpPr>
            <a:stCxn id="40" idx="3"/>
            <a:endCxn id="46" idx="1"/>
          </p:cNvCxnSpPr>
          <p:nvPr/>
        </p:nvCxnSpPr>
        <p:spPr>
          <a:xfrm flipV="1">
            <a:off x="3530051" y="3846768"/>
            <a:ext cx="711554" cy="10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2" name="文本框 101"/>
          <p:cNvSpPr txBox="1"/>
          <p:nvPr/>
        </p:nvSpPr>
        <p:spPr>
          <a:xfrm>
            <a:off x="3601163" y="3651870"/>
            <a:ext cx="595035" cy="215444"/>
          </a:xfrm>
          <a:prstGeom prst="rect">
            <a:avLst/>
          </a:prstGeom>
          <a:noFill/>
        </p:spPr>
        <p:txBody>
          <a:bodyPr wrap="none" rtlCol="0">
            <a:spAutoFit/>
          </a:bodyPr>
          <a:lstStyle/>
          <a:p>
            <a:r>
              <a:rPr lang="zh-CN" altLang="en-US" sz="800" dirty="0">
                <a:solidFill>
                  <a:schemeClr val="tx1">
                    <a:lumMod val="75000"/>
                    <a:lumOff val="25000"/>
                  </a:schemeClr>
                </a:solidFill>
                <a:latin typeface="微软雅黑" panose="020B0503020204020204" pitchFamily="34" charset="-122"/>
                <a:ea typeface="微软雅黑" panose="020B0503020204020204" pitchFamily="34" charset="-122"/>
              </a:rPr>
              <a:t>远程监护</a:t>
            </a:r>
          </a:p>
        </p:txBody>
      </p:sp>
      <p:cxnSp>
        <p:nvCxnSpPr>
          <p:cNvPr id="24" name="肘形连接符 23"/>
          <p:cNvCxnSpPr>
            <a:stCxn id="51" idx="1"/>
            <a:endCxn id="33" idx="2"/>
          </p:cNvCxnSpPr>
          <p:nvPr/>
        </p:nvCxnSpPr>
        <p:spPr>
          <a:xfrm rot="10800000">
            <a:off x="2341107" y="1733814"/>
            <a:ext cx="2221874" cy="1259705"/>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3" name="肘形连接符 52"/>
          <p:cNvCxnSpPr>
            <a:stCxn id="46" idx="0"/>
            <a:endCxn id="33" idx="2"/>
          </p:cNvCxnSpPr>
          <p:nvPr/>
        </p:nvCxnSpPr>
        <p:spPr>
          <a:xfrm rot="16200000" flipV="1">
            <a:off x="2400049" y="1674871"/>
            <a:ext cx="1947812" cy="2065696"/>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107" name="文本框 106"/>
          <p:cNvSpPr txBox="1"/>
          <p:nvPr/>
        </p:nvSpPr>
        <p:spPr>
          <a:xfrm>
            <a:off x="5579582" y="1667420"/>
            <a:ext cx="800219" cy="215444"/>
          </a:xfrm>
          <a:prstGeom prst="rect">
            <a:avLst/>
          </a:prstGeom>
          <a:noFill/>
        </p:spPr>
        <p:txBody>
          <a:bodyPr wrap="none" rtlCol="0">
            <a:spAutoFit/>
          </a:bodyPr>
          <a:lstStyle/>
          <a:p>
            <a:r>
              <a:rPr lang="zh-CN" altLang="en-US" sz="800" dirty="0">
                <a:solidFill>
                  <a:schemeClr val="tx1">
                    <a:lumMod val="75000"/>
                    <a:lumOff val="25000"/>
                  </a:schemeClr>
                </a:solidFill>
                <a:latin typeface="微软雅黑" panose="020B0503020204020204" pitchFamily="34" charset="-122"/>
                <a:ea typeface="微软雅黑" panose="020B0503020204020204" pitchFamily="34" charset="-122"/>
              </a:rPr>
              <a:t>远程心电诊断</a:t>
            </a:r>
          </a:p>
        </p:txBody>
      </p:sp>
      <p:pic>
        <p:nvPicPr>
          <p:cNvPr id="108" name="图片 107"/>
          <p:cNvPicPr>
            <a:picLocks noChangeAspect="1"/>
          </p:cNvPicPr>
          <p:nvPr/>
        </p:nvPicPr>
        <p:blipFill>
          <a:blip r:embed="rId18" cstate="print">
            <a:extLst>
              <a:ext uri="{28A0092B-C50C-407E-A947-70E740481C1C}">
                <a14:useLocalDpi xmlns:a14="http://schemas.microsoft.com/office/drawing/2010/main" xmlns="" val="0"/>
              </a:ext>
            </a:extLst>
          </a:blip>
          <a:stretch>
            <a:fillRect/>
          </a:stretch>
        </p:blipFill>
        <p:spPr>
          <a:xfrm>
            <a:off x="6179538" y="4300657"/>
            <a:ext cx="517390" cy="291792"/>
          </a:xfrm>
          <a:prstGeom prst="rect">
            <a:avLst/>
          </a:prstGeom>
        </p:spPr>
      </p:pic>
      <p:cxnSp>
        <p:nvCxnSpPr>
          <p:cNvPr id="72" name="肘形连接符 71"/>
          <p:cNvCxnSpPr>
            <a:stCxn id="16" idx="1"/>
            <a:endCxn id="33" idx="2"/>
          </p:cNvCxnSpPr>
          <p:nvPr/>
        </p:nvCxnSpPr>
        <p:spPr>
          <a:xfrm rot="10800000">
            <a:off x="2341108" y="1733814"/>
            <a:ext cx="3027363" cy="352367"/>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3" name="肘形连接符 102"/>
          <p:cNvCxnSpPr>
            <a:stCxn id="11" idx="0"/>
            <a:endCxn id="33" idx="1"/>
          </p:cNvCxnSpPr>
          <p:nvPr/>
        </p:nvCxnSpPr>
        <p:spPr>
          <a:xfrm rot="5400000" flipH="1" flipV="1">
            <a:off x="951109" y="2274072"/>
            <a:ext cx="1535276" cy="239315"/>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132" name="文本框 131"/>
          <p:cNvSpPr txBox="1"/>
          <p:nvPr/>
        </p:nvSpPr>
        <p:spPr>
          <a:xfrm>
            <a:off x="3230393" y="2784330"/>
            <a:ext cx="800219" cy="215444"/>
          </a:xfrm>
          <a:prstGeom prst="rect">
            <a:avLst/>
          </a:prstGeom>
          <a:noFill/>
        </p:spPr>
        <p:txBody>
          <a:bodyPr wrap="none" rtlCol="0">
            <a:spAutoFit/>
          </a:bodyPr>
          <a:lstStyle/>
          <a:p>
            <a:r>
              <a:rPr lang="zh-CN" altLang="en-US" sz="800" dirty="0">
                <a:solidFill>
                  <a:schemeClr val="tx1">
                    <a:lumMod val="75000"/>
                    <a:lumOff val="25000"/>
                  </a:schemeClr>
                </a:solidFill>
                <a:latin typeface="微软雅黑" panose="020B0503020204020204" pitchFamily="34" charset="-122"/>
                <a:ea typeface="微软雅黑" panose="020B0503020204020204" pitchFamily="34" charset="-122"/>
              </a:rPr>
              <a:t>远程心电诊断</a:t>
            </a:r>
          </a:p>
        </p:txBody>
      </p:sp>
      <p:cxnSp>
        <p:nvCxnSpPr>
          <p:cNvPr id="134" name="肘形连接符 133"/>
          <p:cNvCxnSpPr>
            <a:stCxn id="40" idx="0"/>
            <a:endCxn id="33" idx="2"/>
          </p:cNvCxnSpPr>
          <p:nvPr/>
        </p:nvCxnSpPr>
        <p:spPr>
          <a:xfrm rot="16200000" flipV="1">
            <a:off x="1861004" y="2213916"/>
            <a:ext cx="1973386" cy="1013180"/>
          </a:xfrm>
          <a:prstGeom prst="bentConnector3">
            <a:avLst>
              <a:gd name="adj1" fmla="val 36157"/>
            </a:avLst>
          </a:prstGeom>
          <a:ln>
            <a:tailEnd type="triangle"/>
          </a:ln>
        </p:spPr>
        <p:style>
          <a:lnRef idx="1">
            <a:schemeClr val="accent1"/>
          </a:lnRef>
          <a:fillRef idx="0">
            <a:schemeClr val="accent1"/>
          </a:fillRef>
          <a:effectRef idx="0">
            <a:schemeClr val="accent1"/>
          </a:effectRef>
          <a:fontRef idx="minor">
            <a:schemeClr val="tx1"/>
          </a:fontRef>
        </p:style>
      </p:cxnSp>
      <p:sp>
        <p:nvSpPr>
          <p:cNvPr id="83" name="文本框 46"/>
          <p:cNvSpPr txBox="1"/>
          <p:nvPr/>
        </p:nvSpPr>
        <p:spPr>
          <a:xfrm>
            <a:off x="4067944" y="4011910"/>
            <a:ext cx="720080" cy="215444"/>
          </a:xfrm>
          <a:prstGeom prst="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zh-CN" altLang="en-US" sz="800" dirty="0" smtClean="0">
                <a:latin typeface="微软雅黑" panose="020B0503020204020204" pitchFamily="34" charset="-122"/>
                <a:ea typeface="微软雅黑" panose="020B0503020204020204" pitchFamily="34" charset="-122"/>
              </a:rPr>
              <a:t>卫生服务站</a:t>
            </a:r>
            <a:endParaRPr lang="zh-CN" altLang="en-US" sz="800" dirty="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lang="zh-CN" altLang="en-US" dirty="0">
                <a:solidFill>
                  <a:srgbClr val="2179B1"/>
                </a:solidFill>
              </a:rPr>
              <a:t>平台业务架构</a:t>
            </a:r>
          </a:p>
        </p:txBody>
      </p:sp>
      <p:sp>
        <p:nvSpPr>
          <p:cNvPr id="8" name="圆角矩形 114"/>
          <p:cNvSpPr/>
          <p:nvPr/>
        </p:nvSpPr>
        <p:spPr>
          <a:xfrm>
            <a:off x="499596" y="1671471"/>
            <a:ext cx="7024379" cy="2169791"/>
          </a:xfrm>
          <a:prstGeom prst="roundRect">
            <a:avLst>
              <a:gd name="adj" fmla="val 5039"/>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vert="eaVert" lIns="91434" tIns="45717" rIns="91434" bIns="45717" anchor="b"/>
          <a:lstStyle/>
          <a:p>
            <a:pPr algn="ctr"/>
            <a:r>
              <a:rPr lang="zh-CN" altLang="en-US" sz="1350" b="1" dirty="0">
                <a:solidFill>
                  <a:schemeClr val="tx1">
                    <a:lumMod val="75000"/>
                    <a:lumOff val="25000"/>
                  </a:schemeClr>
                </a:solidFill>
                <a:latin typeface="微软雅黑" panose="020B0503020204020204" pitchFamily="34" charset="-122"/>
                <a:ea typeface="微软雅黑" panose="020B0503020204020204" pitchFamily="34" charset="-122"/>
              </a:rPr>
              <a:t>业务功能</a:t>
            </a:r>
          </a:p>
        </p:txBody>
      </p:sp>
      <p:sp>
        <p:nvSpPr>
          <p:cNvPr id="10" name="AutoShape 17"/>
          <p:cNvSpPr>
            <a:spLocks noChangeArrowheads="1"/>
          </p:cNvSpPr>
          <p:nvPr/>
        </p:nvSpPr>
        <p:spPr bwMode="auto">
          <a:xfrm>
            <a:off x="6418754" y="1805722"/>
            <a:ext cx="1025204" cy="1962674"/>
          </a:xfrm>
          <a:prstGeom prst="roundRect">
            <a:avLst>
              <a:gd name="adj" fmla="val 8467"/>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anchor="t"/>
          <a:lstStyle/>
          <a:p>
            <a:pPr algn="ctr"/>
            <a:r>
              <a:rPr lang="zh-CN" altLang="en-US" sz="1050" b="1" dirty="0">
                <a:solidFill>
                  <a:schemeClr val="bg1"/>
                </a:solidFill>
                <a:latin typeface="微软雅黑" panose="020B0503020204020204" pitchFamily="34" charset="-122"/>
                <a:ea typeface="微软雅黑" panose="020B0503020204020204" pitchFamily="34" charset="-122"/>
              </a:rPr>
              <a:t>全局管理</a:t>
            </a:r>
          </a:p>
        </p:txBody>
      </p:sp>
      <p:sp>
        <p:nvSpPr>
          <p:cNvPr id="11" name="AutoShape 17"/>
          <p:cNvSpPr>
            <a:spLocks noChangeArrowheads="1"/>
          </p:cNvSpPr>
          <p:nvPr/>
        </p:nvSpPr>
        <p:spPr bwMode="auto">
          <a:xfrm>
            <a:off x="4198393" y="1798549"/>
            <a:ext cx="1023665" cy="1982328"/>
          </a:xfrm>
          <a:prstGeom prst="roundRect">
            <a:avLst>
              <a:gd name="adj" fmla="val 8443"/>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anchor="t"/>
          <a:lstStyle/>
          <a:p>
            <a:pPr algn="ctr"/>
            <a:r>
              <a:rPr lang="zh-CN" altLang="en-US" sz="1050" b="1" dirty="0">
                <a:solidFill>
                  <a:schemeClr val="bg1"/>
                </a:solidFill>
                <a:latin typeface="微软雅黑" panose="020B0503020204020204" pitchFamily="34" charset="-122"/>
                <a:ea typeface="微软雅黑" panose="020B0503020204020204" pitchFamily="34" charset="-122"/>
              </a:rPr>
              <a:t>移动业务</a:t>
            </a:r>
          </a:p>
        </p:txBody>
      </p:sp>
      <p:sp>
        <p:nvSpPr>
          <p:cNvPr id="12" name="AutoShape 17"/>
          <p:cNvSpPr>
            <a:spLocks noChangeArrowheads="1"/>
          </p:cNvSpPr>
          <p:nvPr/>
        </p:nvSpPr>
        <p:spPr bwMode="auto">
          <a:xfrm>
            <a:off x="1069581" y="1821120"/>
            <a:ext cx="2994234" cy="1935704"/>
          </a:xfrm>
          <a:prstGeom prst="roundRect">
            <a:avLst>
              <a:gd name="adj" fmla="val 7295"/>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anchor="t"/>
          <a:lstStyle/>
          <a:p>
            <a:pPr algn="ctr"/>
            <a:r>
              <a:rPr lang="zh-CN" altLang="en-US" sz="1200" b="1">
                <a:solidFill>
                  <a:schemeClr val="bg1"/>
                </a:solidFill>
                <a:latin typeface="微软雅黑" panose="020B0503020204020204" pitchFamily="34" charset="-122"/>
                <a:ea typeface="微软雅黑" panose="020B0503020204020204" pitchFamily="34" charset="-122"/>
              </a:rPr>
              <a:t>医生工作站</a:t>
            </a:r>
            <a:endParaRPr lang="zh-CN" altLang="en-US" sz="1200" b="1" dirty="0">
              <a:solidFill>
                <a:schemeClr val="bg1"/>
              </a:solidFill>
              <a:latin typeface="微软雅黑" panose="020B0503020204020204" pitchFamily="34" charset="-122"/>
              <a:ea typeface="微软雅黑" panose="020B0503020204020204" pitchFamily="34" charset="-122"/>
            </a:endParaRPr>
          </a:p>
        </p:txBody>
      </p:sp>
      <p:sp>
        <p:nvSpPr>
          <p:cNvPr id="13" name="圆角矩形 118"/>
          <p:cNvSpPr/>
          <p:nvPr/>
        </p:nvSpPr>
        <p:spPr>
          <a:xfrm>
            <a:off x="7657266" y="969818"/>
            <a:ext cx="987139" cy="3768437"/>
          </a:xfrm>
          <a:prstGeom prst="round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lIns="91434" tIns="45717" rIns="91434" bIns="45717" anchor="b"/>
          <a:lstStyle/>
          <a:p>
            <a:pPr algn="ctr" defTabSz="1060450">
              <a:buClr>
                <a:srgbClr val="CC9900"/>
              </a:buClr>
            </a:pPr>
            <a:r>
              <a:rPr lang="zh-CN" altLang="en-US" sz="1350" b="1" dirty="0">
                <a:solidFill>
                  <a:schemeClr val="tx1">
                    <a:lumMod val="75000"/>
                    <a:lumOff val="25000"/>
                  </a:schemeClr>
                </a:solidFill>
                <a:latin typeface="微软雅黑" panose="020B0503020204020204" pitchFamily="34" charset="-122"/>
                <a:ea typeface="微软雅黑" panose="020B0503020204020204" pitchFamily="34" charset="-122"/>
              </a:rPr>
              <a:t>对接</a:t>
            </a:r>
          </a:p>
        </p:txBody>
      </p:sp>
      <p:sp>
        <p:nvSpPr>
          <p:cNvPr id="14" name="圆角矩形 119"/>
          <p:cNvSpPr/>
          <p:nvPr/>
        </p:nvSpPr>
        <p:spPr>
          <a:xfrm>
            <a:off x="499596" y="4123211"/>
            <a:ext cx="7024379" cy="615044"/>
          </a:xfrm>
          <a:prstGeom prst="round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lIns="91434" tIns="45717" rIns="91434" bIns="45717" anchor="ctr"/>
          <a:lstStyle/>
          <a:p>
            <a:r>
              <a:rPr lang="en-US" altLang="zh-CN" sz="1350" b="1" dirty="0">
                <a:solidFill>
                  <a:schemeClr val="tx1">
                    <a:lumMod val="75000"/>
                    <a:lumOff val="25000"/>
                  </a:schemeClr>
                </a:solidFill>
                <a:latin typeface="微软雅黑" panose="020B0503020204020204" pitchFamily="34" charset="-122"/>
                <a:ea typeface="微软雅黑" panose="020B0503020204020204" pitchFamily="34" charset="-122"/>
              </a:rPr>
              <a:t>  </a:t>
            </a:r>
            <a:r>
              <a:rPr lang="zh-CN" altLang="en-US" sz="1350" b="1" dirty="0">
                <a:solidFill>
                  <a:schemeClr val="tx1">
                    <a:lumMod val="75000"/>
                    <a:lumOff val="25000"/>
                  </a:schemeClr>
                </a:solidFill>
                <a:latin typeface="微软雅黑" panose="020B0503020204020204" pitchFamily="34" charset="-122"/>
                <a:ea typeface="微软雅黑" panose="020B0503020204020204" pitchFamily="34" charset="-122"/>
              </a:rPr>
              <a:t>基础平台</a:t>
            </a:r>
          </a:p>
        </p:txBody>
      </p:sp>
      <p:sp>
        <p:nvSpPr>
          <p:cNvPr id="15" name="圆角矩形 120"/>
          <p:cNvSpPr/>
          <p:nvPr/>
        </p:nvSpPr>
        <p:spPr>
          <a:xfrm>
            <a:off x="499595" y="969819"/>
            <a:ext cx="7024380" cy="569353"/>
          </a:xfrm>
          <a:prstGeom prst="round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lIns="91434" tIns="45717" rIns="91434" bIns="45717" anchor="ctr"/>
          <a:lstStyle/>
          <a:p>
            <a:pPr defTabSz="1060450">
              <a:buClr>
                <a:srgbClr val="CC9900"/>
              </a:buClr>
            </a:pPr>
            <a:r>
              <a:rPr lang="en-US" altLang="zh-CN" sz="1350" b="1" dirty="0">
                <a:solidFill>
                  <a:schemeClr val="tx1">
                    <a:lumMod val="75000"/>
                    <a:lumOff val="25000"/>
                  </a:schemeClr>
                </a:solidFill>
                <a:latin typeface="微软雅黑" panose="020B0503020204020204" pitchFamily="34" charset="-122"/>
                <a:ea typeface="微软雅黑" panose="020B0503020204020204" pitchFamily="34" charset="-122"/>
              </a:rPr>
              <a:t>   </a:t>
            </a:r>
            <a:r>
              <a:rPr lang="zh-CN" altLang="en-US" sz="1350" b="1" dirty="0">
                <a:solidFill>
                  <a:schemeClr val="tx1">
                    <a:lumMod val="75000"/>
                    <a:lumOff val="25000"/>
                  </a:schemeClr>
                </a:solidFill>
                <a:latin typeface="微软雅黑" panose="020B0503020204020204" pitchFamily="34" charset="-122"/>
                <a:ea typeface="微软雅黑" panose="020B0503020204020204" pitchFamily="34" charset="-122"/>
              </a:rPr>
              <a:t>权限管理</a:t>
            </a:r>
          </a:p>
        </p:txBody>
      </p:sp>
      <p:sp>
        <p:nvSpPr>
          <p:cNvPr id="16" name="AutoShape 17"/>
          <p:cNvSpPr>
            <a:spLocks noChangeArrowheads="1"/>
          </p:cNvSpPr>
          <p:nvPr/>
        </p:nvSpPr>
        <p:spPr bwMode="auto">
          <a:xfrm>
            <a:off x="1718635" y="1056301"/>
            <a:ext cx="972666" cy="404839"/>
          </a:xfrm>
          <a:prstGeom prst="round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anchor="ctr"/>
          <a:lstStyle/>
          <a:p>
            <a:pPr algn="ctr">
              <a:defRPr/>
            </a:pPr>
            <a:r>
              <a:rPr lang="zh-CN" altLang="en-US" sz="1050" dirty="0">
                <a:solidFill>
                  <a:schemeClr val="bg1"/>
                </a:solidFill>
                <a:latin typeface="微软雅黑" panose="020B0503020204020204" pitchFamily="34" charset="-122"/>
                <a:ea typeface="微软雅黑" panose="020B0503020204020204" pitchFamily="34" charset="-122"/>
              </a:rPr>
              <a:t>管理者</a:t>
            </a:r>
          </a:p>
        </p:txBody>
      </p:sp>
      <p:sp>
        <p:nvSpPr>
          <p:cNvPr id="17" name="AutoShape 17"/>
          <p:cNvSpPr>
            <a:spLocks noChangeArrowheads="1"/>
          </p:cNvSpPr>
          <p:nvPr/>
        </p:nvSpPr>
        <p:spPr bwMode="auto">
          <a:xfrm>
            <a:off x="1650915" y="4242867"/>
            <a:ext cx="969788" cy="408829"/>
          </a:xfrm>
          <a:prstGeom prst="round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anchor="ctr"/>
          <a:lstStyle/>
          <a:p>
            <a:pPr algn="ctr">
              <a:defRPr/>
            </a:pPr>
            <a:r>
              <a:rPr lang="zh-CN" altLang="en-US" sz="1050" dirty="0">
                <a:solidFill>
                  <a:schemeClr val="bg1"/>
                </a:solidFill>
                <a:latin typeface="微软雅黑" panose="020B0503020204020204" pitchFamily="34" charset="-122"/>
                <a:ea typeface="微软雅黑" panose="020B0503020204020204" pitchFamily="34" charset="-122"/>
              </a:rPr>
              <a:t>系统设置</a:t>
            </a:r>
          </a:p>
        </p:txBody>
      </p:sp>
      <p:sp>
        <p:nvSpPr>
          <p:cNvPr id="18" name="AutoShape 17"/>
          <p:cNvSpPr>
            <a:spLocks noChangeArrowheads="1"/>
          </p:cNvSpPr>
          <p:nvPr/>
        </p:nvSpPr>
        <p:spPr bwMode="auto">
          <a:xfrm>
            <a:off x="7878232" y="1233928"/>
            <a:ext cx="602350" cy="919611"/>
          </a:xfrm>
          <a:prstGeom prst="round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anchor="ctr"/>
          <a:lstStyle/>
          <a:p>
            <a:pPr algn="ctr">
              <a:defRPr/>
            </a:pPr>
            <a:r>
              <a:rPr lang="en-US" altLang="zh-CN" sz="1350" dirty="0">
                <a:solidFill>
                  <a:schemeClr val="bg1"/>
                </a:solidFill>
                <a:latin typeface="微软雅黑" panose="020B0503020204020204" pitchFamily="34" charset="-122"/>
                <a:ea typeface="微软雅黑" panose="020B0503020204020204" pitchFamily="34" charset="-122"/>
              </a:rPr>
              <a:t>HIS</a:t>
            </a:r>
          </a:p>
        </p:txBody>
      </p:sp>
      <p:sp>
        <p:nvSpPr>
          <p:cNvPr id="19" name="圆角矩形 141"/>
          <p:cNvSpPr/>
          <p:nvPr/>
        </p:nvSpPr>
        <p:spPr>
          <a:xfrm>
            <a:off x="1283553" y="2137887"/>
            <a:ext cx="849577" cy="332283"/>
          </a:xfrm>
          <a:prstGeom prst="round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zh-CN" altLang="en-US" sz="900" dirty="0">
                <a:solidFill>
                  <a:schemeClr val="bg1"/>
                </a:solidFill>
                <a:latin typeface="微软雅黑" panose="020B0503020204020204" pitchFamily="34" charset="-122"/>
                <a:ea typeface="微软雅黑" panose="020B0503020204020204" pitchFamily="34" charset="-122"/>
              </a:rPr>
              <a:t>工作概况</a:t>
            </a:r>
          </a:p>
        </p:txBody>
      </p:sp>
      <p:sp>
        <p:nvSpPr>
          <p:cNvPr id="20" name="圆角矩形 143"/>
          <p:cNvSpPr/>
          <p:nvPr/>
        </p:nvSpPr>
        <p:spPr>
          <a:xfrm>
            <a:off x="1283553" y="2521905"/>
            <a:ext cx="849577" cy="332283"/>
          </a:xfrm>
          <a:prstGeom prst="round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zh-CN" altLang="en-US" sz="900" dirty="0">
                <a:solidFill>
                  <a:schemeClr val="bg1"/>
                </a:solidFill>
                <a:latin typeface="微软雅黑" panose="020B0503020204020204" pitchFamily="34" charset="-122"/>
                <a:ea typeface="微软雅黑" panose="020B0503020204020204" pitchFamily="34" charset="-122"/>
              </a:rPr>
              <a:t>检查管理</a:t>
            </a:r>
          </a:p>
        </p:txBody>
      </p:sp>
      <p:sp>
        <p:nvSpPr>
          <p:cNvPr id="21" name="圆角矩形 145"/>
          <p:cNvSpPr/>
          <p:nvPr/>
        </p:nvSpPr>
        <p:spPr>
          <a:xfrm>
            <a:off x="1283553" y="2905922"/>
            <a:ext cx="849577" cy="332283"/>
          </a:xfrm>
          <a:prstGeom prst="round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zh-CN" altLang="en-US" sz="900" dirty="0">
                <a:solidFill>
                  <a:schemeClr val="bg1"/>
                </a:solidFill>
                <a:latin typeface="微软雅黑" panose="020B0503020204020204" pitchFamily="34" charset="-122"/>
                <a:ea typeface="微软雅黑" panose="020B0503020204020204" pitchFamily="34" charset="-122"/>
              </a:rPr>
              <a:t>审核管理</a:t>
            </a:r>
          </a:p>
        </p:txBody>
      </p:sp>
      <p:sp>
        <p:nvSpPr>
          <p:cNvPr id="22" name="圆角矩形 156"/>
          <p:cNvSpPr/>
          <p:nvPr/>
        </p:nvSpPr>
        <p:spPr>
          <a:xfrm>
            <a:off x="2169902" y="2153539"/>
            <a:ext cx="849577" cy="332283"/>
          </a:xfrm>
          <a:prstGeom prst="round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zh-CN" altLang="en-US" sz="900" dirty="0">
                <a:solidFill>
                  <a:schemeClr val="bg1"/>
                </a:solidFill>
                <a:latin typeface="微软雅黑" panose="020B0503020204020204" pitchFamily="34" charset="-122"/>
                <a:ea typeface="微软雅黑" panose="020B0503020204020204" pitchFamily="34" charset="-122"/>
              </a:rPr>
              <a:t>设备管理</a:t>
            </a:r>
          </a:p>
        </p:txBody>
      </p:sp>
      <p:sp>
        <p:nvSpPr>
          <p:cNvPr id="23" name="圆角矩形 157"/>
          <p:cNvSpPr/>
          <p:nvPr/>
        </p:nvSpPr>
        <p:spPr>
          <a:xfrm>
            <a:off x="2174799" y="2537557"/>
            <a:ext cx="849577" cy="332283"/>
          </a:xfrm>
          <a:prstGeom prst="round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zh-CN" altLang="en-US" sz="900" dirty="0">
                <a:solidFill>
                  <a:schemeClr val="bg1"/>
                </a:solidFill>
                <a:latin typeface="微软雅黑" panose="020B0503020204020204" pitchFamily="34" charset="-122"/>
                <a:ea typeface="微软雅黑" panose="020B0503020204020204" pitchFamily="34" charset="-122"/>
              </a:rPr>
              <a:t>数据采集</a:t>
            </a:r>
          </a:p>
        </p:txBody>
      </p:sp>
      <p:sp>
        <p:nvSpPr>
          <p:cNvPr id="24" name="圆角矩形 158"/>
          <p:cNvSpPr/>
          <p:nvPr/>
        </p:nvSpPr>
        <p:spPr>
          <a:xfrm>
            <a:off x="2174799" y="2921574"/>
            <a:ext cx="849577" cy="332283"/>
          </a:xfrm>
          <a:prstGeom prst="round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zh-CN" altLang="en-US" sz="900" dirty="0">
                <a:solidFill>
                  <a:schemeClr val="bg1"/>
                </a:solidFill>
                <a:latin typeface="微软雅黑" panose="020B0503020204020204" pitchFamily="34" charset="-122"/>
                <a:ea typeface="微软雅黑" panose="020B0503020204020204" pitchFamily="34" charset="-122"/>
              </a:rPr>
              <a:t>分析历史</a:t>
            </a:r>
          </a:p>
        </p:txBody>
      </p:sp>
      <p:sp>
        <p:nvSpPr>
          <p:cNvPr id="25" name="圆角矩形 160"/>
          <p:cNvSpPr/>
          <p:nvPr/>
        </p:nvSpPr>
        <p:spPr>
          <a:xfrm>
            <a:off x="3091510" y="2137887"/>
            <a:ext cx="849577" cy="332283"/>
          </a:xfrm>
          <a:prstGeom prst="round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zh-CN" altLang="en-US" sz="900" dirty="0">
                <a:solidFill>
                  <a:schemeClr val="bg1"/>
                </a:solidFill>
                <a:latin typeface="微软雅黑" panose="020B0503020204020204" pitchFamily="34" charset="-122"/>
                <a:ea typeface="微软雅黑" panose="020B0503020204020204" pitchFamily="34" charset="-122"/>
              </a:rPr>
              <a:t>患者管理</a:t>
            </a:r>
          </a:p>
        </p:txBody>
      </p:sp>
      <p:sp>
        <p:nvSpPr>
          <p:cNvPr id="26" name="圆角矩形 161"/>
          <p:cNvSpPr/>
          <p:nvPr/>
        </p:nvSpPr>
        <p:spPr>
          <a:xfrm>
            <a:off x="3101303" y="2521904"/>
            <a:ext cx="849577" cy="332283"/>
          </a:xfrm>
          <a:prstGeom prst="round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zh-CN" altLang="en-US" sz="900" dirty="0">
                <a:solidFill>
                  <a:schemeClr val="bg1"/>
                </a:solidFill>
                <a:latin typeface="微软雅黑" panose="020B0503020204020204" pitchFamily="34" charset="-122"/>
                <a:ea typeface="微软雅黑" panose="020B0503020204020204" pitchFamily="34" charset="-122"/>
              </a:rPr>
              <a:t>分析管理</a:t>
            </a:r>
          </a:p>
        </p:txBody>
      </p:sp>
      <p:sp>
        <p:nvSpPr>
          <p:cNvPr id="27" name="圆角矩形 162"/>
          <p:cNvSpPr/>
          <p:nvPr/>
        </p:nvSpPr>
        <p:spPr>
          <a:xfrm>
            <a:off x="3101303" y="2905922"/>
            <a:ext cx="849577" cy="332283"/>
          </a:xfrm>
          <a:prstGeom prst="round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zh-CN" altLang="en-US" sz="900" dirty="0">
                <a:solidFill>
                  <a:schemeClr val="bg1"/>
                </a:solidFill>
                <a:latin typeface="微软雅黑" panose="020B0503020204020204" pitchFamily="34" charset="-122"/>
                <a:ea typeface="微软雅黑" panose="020B0503020204020204" pitchFamily="34" charset="-122"/>
              </a:rPr>
              <a:t>本院统计</a:t>
            </a:r>
          </a:p>
        </p:txBody>
      </p:sp>
      <p:sp>
        <p:nvSpPr>
          <p:cNvPr id="28" name="圆角矩形 163"/>
          <p:cNvSpPr/>
          <p:nvPr/>
        </p:nvSpPr>
        <p:spPr>
          <a:xfrm>
            <a:off x="3108892" y="3289940"/>
            <a:ext cx="849577" cy="332283"/>
          </a:xfrm>
          <a:prstGeom prst="round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zh-CN" altLang="en-US" sz="900" dirty="0">
                <a:solidFill>
                  <a:schemeClr val="bg1"/>
                </a:solidFill>
                <a:latin typeface="微软雅黑" panose="020B0503020204020204" pitchFamily="34" charset="-122"/>
                <a:ea typeface="微软雅黑" panose="020B0503020204020204" pitchFamily="34" charset="-122"/>
              </a:rPr>
              <a:t>远程分析</a:t>
            </a:r>
          </a:p>
        </p:txBody>
      </p:sp>
      <p:sp>
        <p:nvSpPr>
          <p:cNvPr id="29" name="圆角矩形 168"/>
          <p:cNvSpPr/>
          <p:nvPr/>
        </p:nvSpPr>
        <p:spPr>
          <a:xfrm>
            <a:off x="4284027" y="2137886"/>
            <a:ext cx="849577" cy="332283"/>
          </a:xfrm>
          <a:prstGeom prst="round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zh-CN" altLang="en-US" sz="900" dirty="0">
                <a:solidFill>
                  <a:schemeClr val="bg1"/>
                </a:solidFill>
                <a:latin typeface="微软雅黑" panose="020B0503020204020204" pitchFamily="34" charset="-122"/>
                <a:ea typeface="微软雅黑" panose="020B0503020204020204" pitchFamily="34" charset="-122"/>
              </a:rPr>
              <a:t>移动下单</a:t>
            </a:r>
          </a:p>
        </p:txBody>
      </p:sp>
      <p:sp>
        <p:nvSpPr>
          <p:cNvPr id="30" name="圆角矩形 169"/>
          <p:cNvSpPr/>
          <p:nvPr/>
        </p:nvSpPr>
        <p:spPr>
          <a:xfrm>
            <a:off x="4284027" y="2521904"/>
            <a:ext cx="849577" cy="332283"/>
          </a:xfrm>
          <a:prstGeom prst="round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zh-CN" altLang="en-US" sz="900" dirty="0">
                <a:solidFill>
                  <a:schemeClr val="bg1"/>
                </a:solidFill>
                <a:latin typeface="微软雅黑" panose="020B0503020204020204" pitchFamily="34" charset="-122"/>
                <a:ea typeface="微软雅黑" panose="020B0503020204020204" pitchFamily="34" charset="-122"/>
              </a:rPr>
              <a:t>查阅报告</a:t>
            </a:r>
          </a:p>
        </p:txBody>
      </p:sp>
      <p:sp>
        <p:nvSpPr>
          <p:cNvPr id="31" name="圆角矩形 170"/>
          <p:cNvSpPr/>
          <p:nvPr/>
        </p:nvSpPr>
        <p:spPr>
          <a:xfrm>
            <a:off x="4284027" y="2905922"/>
            <a:ext cx="849577" cy="332283"/>
          </a:xfrm>
          <a:prstGeom prst="round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zh-CN" altLang="en-US" sz="900" dirty="0">
                <a:solidFill>
                  <a:schemeClr val="bg1"/>
                </a:solidFill>
                <a:latin typeface="微软雅黑" panose="020B0503020204020204" pitchFamily="34" charset="-122"/>
                <a:ea typeface="微软雅黑" panose="020B0503020204020204" pitchFamily="34" charset="-122"/>
              </a:rPr>
              <a:t>业务统计</a:t>
            </a:r>
          </a:p>
        </p:txBody>
      </p:sp>
      <p:sp>
        <p:nvSpPr>
          <p:cNvPr id="32" name="圆角矩形 171"/>
          <p:cNvSpPr/>
          <p:nvPr/>
        </p:nvSpPr>
        <p:spPr>
          <a:xfrm>
            <a:off x="4284027" y="3289940"/>
            <a:ext cx="849577" cy="332283"/>
          </a:xfrm>
          <a:prstGeom prst="round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zh-CN" altLang="en-US" sz="900" dirty="0">
                <a:solidFill>
                  <a:schemeClr val="bg1"/>
                </a:solidFill>
                <a:latin typeface="微软雅黑" panose="020B0503020204020204" pitchFamily="34" charset="-122"/>
                <a:ea typeface="微软雅黑" panose="020B0503020204020204" pitchFamily="34" charset="-122"/>
              </a:rPr>
              <a:t>消息中心</a:t>
            </a:r>
          </a:p>
        </p:txBody>
      </p:sp>
      <p:sp>
        <p:nvSpPr>
          <p:cNvPr id="33" name="圆角矩形 184"/>
          <p:cNvSpPr/>
          <p:nvPr/>
        </p:nvSpPr>
        <p:spPr>
          <a:xfrm>
            <a:off x="6551015" y="2133248"/>
            <a:ext cx="763467" cy="332283"/>
          </a:xfrm>
          <a:prstGeom prst="round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zh-CN" altLang="en-US" sz="900" dirty="0">
                <a:solidFill>
                  <a:schemeClr val="bg1"/>
                </a:solidFill>
                <a:latin typeface="微软雅黑" panose="020B0503020204020204" pitchFamily="34" charset="-122"/>
                <a:ea typeface="微软雅黑" panose="020B0503020204020204" pitchFamily="34" charset="-122"/>
              </a:rPr>
              <a:t>可视化大屏</a:t>
            </a:r>
          </a:p>
        </p:txBody>
      </p:sp>
      <p:sp>
        <p:nvSpPr>
          <p:cNvPr id="34" name="圆角矩形 187"/>
          <p:cNvSpPr/>
          <p:nvPr/>
        </p:nvSpPr>
        <p:spPr>
          <a:xfrm>
            <a:off x="6551015" y="2515151"/>
            <a:ext cx="763467" cy="332283"/>
          </a:xfrm>
          <a:prstGeom prst="round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zh-CN" altLang="en-US" sz="900" dirty="0">
                <a:solidFill>
                  <a:schemeClr val="bg1"/>
                </a:solidFill>
                <a:latin typeface="微软雅黑" panose="020B0503020204020204" pitchFamily="34" charset="-122"/>
                <a:ea typeface="微软雅黑" panose="020B0503020204020204" pitchFamily="34" charset="-122"/>
              </a:rPr>
              <a:t>监控中心</a:t>
            </a:r>
          </a:p>
        </p:txBody>
      </p:sp>
      <p:sp>
        <p:nvSpPr>
          <p:cNvPr id="35" name="圆角矩形 190"/>
          <p:cNvSpPr/>
          <p:nvPr/>
        </p:nvSpPr>
        <p:spPr>
          <a:xfrm>
            <a:off x="6551015" y="2898086"/>
            <a:ext cx="763467" cy="332283"/>
          </a:xfrm>
          <a:prstGeom prst="round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zh-CN" altLang="en-US" sz="900" dirty="0">
                <a:solidFill>
                  <a:schemeClr val="bg1"/>
                </a:solidFill>
                <a:latin typeface="微软雅黑" panose="020B0503020204020204" pitchFamily="34" charset="-122"/>
                <a:ea typeface="微软雅黑" panose="020B0503020204020204" pitchFamily="34" charset="-122"/>
              </a:rPr>
              <a:t>数据统计</a:t>
            </a:r>
          </a:p>
        </p:txBody>
      </p:sp>
      <p:sp>
        <p:nvSpPr>
          <p:cNvPr id="36" name="圆角矩形 193"/>
          <p:cNvSpPr/>
          <p:nvPr/>
        </p:nvSpPr>
        <p:spPr>
          <a:xfrm>
            <a:off x="6551015" y="3285302"/>
            <a:ext cx="763467" cy="332283"/>
          </a:xfrm>
          <a:prstGeom prst="round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altLang="zh-CN" sz="900" dirty="0">
                <a:solidFill>
                  <a:schemeClr val="bg1"/>
                </a:solidFill>
                <a:latin typeface="微软雅黑" panose="020B0503020204020204" pitchFamily="34" charset="-122"/>
                <a:ea typeface="微软雅黑" panose="020B0503020204020204" pitchFamily="34" charset="-122"/>
              </a:rPr>
              <a:t>……</a:t>
            </a:r>
            <a:endParaRPr lang="zh-CN" altLang="en-US" sz="900" dirty="0">
              <a:solidFill>
                <a:schemeClr val="bg1"/>
              </a:solidFill>
              <a:latin typeface="微软雅黑" panose="020B0503020204020204" pitchFamily="34" charset="-122"/>
              <a:ea typeface="微软雅黑" panose="020B0503020204020204" pitchFamily="34" charset="-122"/>
            </a:endParaRPr>
          </a:p>
        </p:txBody>
      </p:sp>
      <p:sp>
        <p:nvSpPr>
          <p:cNvPr id="37" name="圆角矩形 77"/>
          <p:cNvSpPr/>
          <p:nvPr/>
        </p:nvSpPr>
        <p:spPr>
          <a:xfrm>
            <a:off x="2178594" y="3305592"/>
            <a:ext cx="849577" cy="332283"/>
          </a:xfrm>
          <a:prstGeom prst="round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zh-CN" altLang="en-US" sz="900" dirty="0">
                <a:solidFill>
                  <a:schemeClr val="bg1"/>
                </a:solidFill>
                <a:latin typeface="微软雅黑" panose="020B0503020204020204" pitchFamily="34" charset="-122"/>
                <a:ea typeface="微软雅黑" panose="020B0503020204020204" pitchFamily="34" charset="-122"/>
              </a:rPr>
              <a:t>本院分析</a:t>
            </a:r>
          </a:p>
        </p:txBody>
      </p:sp>
      <p:sp>
        <p:nvSpPr>
          <p:cNvPr id="38" name="AutoShape 17"/>
          <p:cNvSpPr>
            <a:spLocks noChangeArrowheads="1"/>
          </p:cNvSpPr>
          <p:nvPr/>
        </p:nvSpPr>
        <p:spPr bwMode="auto">
          <a:xfrm>
            <a:off x="5299213" y="1775539"/>
            <a:ext cx="1025204" cy="1981286"/>
          </a:xfrm>
          <a:prstGeom prst="roundRect">
            <a:avLst>
              <a:gd name="adj" fmla="val 8467"/>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anchor="t"/>
          <a:lstStyle/>
          <a:p>
            <a:pPr algn="ctr"/>
            <a:r>
              <a:rPr lang="zh-CN" altLang="en-US" sz="1050" b="1" dirty="0">
                <a:solidFill>
                  <a:schemeClr val="bg1"/>
                </a:solidFill>
                <a:latin typeface="微软雅黑" panose="020B0503020204020204" pitchFamily="34" charset="-122"/>
                <a:ea typeface="微软雅黑" panose="020B0503020204020204" pitchFamily="34" charset="-122"/>
              </a:rPr>
              <a:t>客户端业务</a:t>
            </a:r>
          </a:p>
        </p:txBody>
      </p:sp>
      <p:sp>
        <p:nvSpPr>
          <p:cNvPr id="39" name="圆角矩形 83"/>
          <p:cNvSpPr/>
          <p:nvPr/>
        </p:nvSpPr>
        <p:spPr>
          <a:xfrm>
            <a:off x="5395617" y="2138963"/>
            <a:ext cx="849577" cy="332283"/>
          </a:xfrm>
          <a:prstGeom prst="round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zh-CN" altLang="en-US" sz="900" dirty="0">
                <a:solidFill>
                  <a:schemeClr val="bg1"/>
                </a:solidFill>
                <a:latin typeface="微软雅黑" panose="020B0503020204020204" pitchFamily="34" charset="-122"/>
                <a:ea typeface="微软雅黑" panose="020B0503020204020204" pitchFamily="34" charset="-122"/>
              </a:rPr>
              <a:t>患者管理</a:t>
            </a:r>
          </a:p>
        </p:txBody>
      </p:sp>
      <p:sp>
        <p:nvSpPr>
          <p:cNvPr id="40" name="圆角矩形 84"/>
          <p:cNvSpPr/>
          <p:nvPr/>
        </p:nvSpPr>
        <p:spPr>
          <a:xfrm>
            <a:off x="5395617" y="2522981"/>
            <a:ext cx="849577" cy="332283"/>
          </a:xfrm>
          <a:prstGeom prst="round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zh-CN" altLang="en-US" sz="900" dirty="0">
                <a:solidFill>
                  <a:schemeClr val="bg1"/>
                </a:solidFill>
                <a:latin typeface="微软雅黑" panose="020B0503020204020204" pitchFamily="34" charset="-122"/>
                <a:ea typeface="微软雅黑" panose="020B0503020204020204" pitchFamily="34" charset="-122"/>
              </a:rPr>
              <a:t>检查登记</a:t>
            </a:r>
          </a:p>
        </p:txBody>
      </p:sp>
      <p:sp>
        <p:nvSpPr>
          <p:cNvPr id="41" name="圆角矩形 85"/>
          <p:cNvSpPr/>
          <p:nvPr/>
        </p:nvSpPr>
        <p:spPr>
          <a:xfrm>
            <a:off x="5395617" y="2907001"/>
            <a:ext cx="849577" cy="332283"/>
          </a:xfrm>
          <a:prstGeom prst="round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zh-CN" altLang="en-US" sz="900" dirty="0">
                <a:solidFill>
                  <a:schemeClr val="bg1"/>
                </a:solidFill>
                <a:latin typeface="微软雅黑" panose="020B0503020204020204" pitchFamily="34" charset="-122"/>
                <a:ea typeface="微软雅黑" panose="020B0503020204020204" pitchFamily="34" charset="-122"/>
              </a:rPr>
              <a:t>分析列表</a:t>
            </a:r>
          </a:p>
        </p:txBody>
      </p:sp>
      <p:sp>
        <p:nvSpPr>
          <p:cNvPr id="42" name="圆角矩形 86"/>
          <p:cNvSpPr/>
          <p:nvPr/>
        </p:nvSpPr>
        <p:spPr>
          <a:xfrm>
            <a:off x="5395617" y="3291018"/>
            <a:ext cx="849577" cy="332283"/>
          </a:xfrm>
          <a:prstGeom prst="round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zh-CN" altLang="en-US" sz="900">
                <a:solidFill>
                  <a:schemeClr val="bg1"/>
                </a:solidFill>
                <a:latin typeface="微软雅黑" panose="020B0503020204020204" pitchFamily="34" charset="-122"/>
                <a:ea typeface="微软雅黑" panose="020B0503020204020204" pitchFamily="34" charset="-122"/>
              </a:rPr>
              <a:t>报告管理</a:t>
            </a:r>
            <a:endParaRPr lang="zh-CN" altLang="en-US" sz="900" dirty="0">
              <a:solidFill>
                <a:schemeClr val="bg1"/>
              </a:solidFill>
              <a:latin typeface="微软雅黑" panose="020B0503020204020204" pitchFamily="34" charset="-122"/>
              <a:ea typeface="微软雅黑" panose="020B0503020204020204" pitchFamily="34" charset="-122"/>
            </a:endParaRPr>
          </a:p>
        </p:txBody>
      </p:sp>
      <p:sp>
        <p:nvSpPr>
          <p:cNvPr id="43" name="圆角矩形 90"/>
          <p:cNvSpPr/>
          <p:nvPr/>
        </p:nvSpPr>
        <p:spPr>
          <a:xfrm>
            <a:off x="1283553" y="3289940"/>
            <a:ext cx="849577" cy="332283"/>
          </a:xfrm>
          <a:prstGeom prst="round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zh-CN" altLang="en-US" sz="900" dirty="0">
                <a:solidFill>
                  <a:schemeClr val="bg1"/>
                </a:solidFill>
                <a:latin typeface="微软雅黑" panose="020B0503020204020204" pitchFamily="34" charset="-122"/>
                <a:ea typeface="微软雅黑" panose="020B0503020204020204" pitchFamily="34" charset="-122"/>
              </a:rPr>
              <a:t>远程统计</a:t>
            </a:r>
          </a:p>
        </p:txBody>
      </p:sp>
      <p:sp>
        <p:nvSpPr>
          <p:cNvPr id="44" name="AutoShape 17"/>
          <p:cNvSpPr>
            <a:spLocks noChangeArrowheads="1"/>
          </p:cNvSpPr>
          <p:nvPr/>
        </p:nvSpPr>
        <p:spPr bwMode="auto">
          <a:xfrm>
            <a:off x="2691300" y="4242867"/>
            <a:ext cx="969788" cy="408829"/>
          </a:xfrm>
          <a:prstGeom prst="round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anchor="ctr"/>
          <a:lstStyle/>
          <a:p>
            <a:pPr algn="ctr">
              <a:defRPr/>
            </a:pPr>
            <a:r>
              <a:rPr lang="zh-CN" altLang="en-US" sz="1050" dirty="0">
                <a:solidFill>
                  <a:schemeClr val="bg1"/>
                </a:solidFill>
                <a:latin typeface="微软雅黑" panose="020B0503020204020204" pitchFamily="34" charset="-122"/>
                <a:ea typeface="微软雅黑" panose="020B0503020204020204" pitchFamily="34" charset="-122"/>
              </a:rPr>
              <a:t>类型自定义</a:t>
            </a:r>
          </a:p>
        </p:txBody>
      </p:sp>
      <p:sp>
        <p:nvSpPr>
          <p:cNvPr id="45" name="AutoShape 17"/>
          <p:cNvSpPr>
            <a:spLocks noChangeArrowheads="1"/>
          </p:cNvSpPr>
          <p:nvPr/>
        </p:nvSpPr>
        <p:spPr bwMode="auto">
          <a:xfrm>
            <a:off x="3731686" y="4242867"/>
            <a:ext cx="969788" cy="408829"/>
          </a:xfrm>
          <a:prstGeom prst="round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anchor="ctr"/>
          <a:lstStyle/>
          <a:p>
            <a:pPr algn="ctr">
              <a:defRPr/>
            </a:pPr>
            <a:r>
              <a:rPr lang="zh-CN" altLang="en-US" sz="1050" dirty="0">
                <a:solidFill>
                  <a:schemeClr val="bg1"/>
                </a:solidFill>
                <a:latin typeface="微软雅黑" panose="020B0503020204020204" pitchFamily="34" charset="-122"/>
                <a:ea typeface="微软雅黑" panose="020B0503020204020204" pitchFamily="34" charset="-122"/>
              </a:rPr>
              <a:t>分析管理</a:t>
            </a:r>
          </a:p>
        </p:txBody>
      </p:sp>
      <p:sp>
        <p:nvSpPr>
          <p:cNvPr id="46" name="AutoShape 17"/>
          <p:cNvSpPr>
            <a:spLocks noChangeArrowheads="1"/>
          </p:cNvSpPr>
          <p:nvPr/>
        </p:nvSpPr>
        <p:spPr bwMode="auto">
          <a:xfrm>
            <a:off x="4772069" y="4242867"/>
            <a:ext cx="969788" cy="408829"/>
          </a:xfrm>
          <a:prstGeom prst="round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anchor="ctr"/>
          <a:lstStyle/>
          <a:p>
            <a:pPr algn="ctr">
              <a:defRPr/>
            </a:pPr>
            <a:r>
              <a:rPr lang="zh-CN" altLang="en-US" sz="1050" dirty="0">
                <a:solidFill>
                  <a:schemeClr val="bg1"/>
                </a:solidFill>
                <a:latin typeface="微软雅黑" panose="020B0503020204020204" pitchFamily="34" charset="-122"/>
                <a:ea typeface="微软雅黑" panose="020B0503020204020204" pitchFamily="34" charset="-122"/>
              </a:rPr>
              <a:t>监护管理</a:t>
            </a:r>
          </a:p>
        </p:txBody>
      </p:sp>
      <p:sp>
        <p:nvSpPr>
          <p:cNvPr id="47" name="AutoShape 17"/>
          <p:cNvSpPr>
            <a:spLocks noChangeArrowheads="1"/>
          </p:cNvSpPr>
          <p:nvPr/>
        </p:nvSpPr>
        <p:spPr bwMode="auto">
          <a:xfrm>
            <a:off x="5812454" y="4242867"/>
            <a:ext cx="969788" cy="408829"/>
          </a:xfrm>
          <a:prstGeom prst="round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anchor="ctr"/>
          <a:lstStyle/>
          <a:p>
            <a:pPr algn="ctr">
              <a:defRPr/>
            </a:pPr>
            <a:r>
              <a:rPr lang="en-US" altLang="zh-CN" sz="1050" dirty="0">
                <a:solidFill>
                  <a:schemeClr val="bg1"/>
                </a:solidFill>
                <a:latin typeface="微软雅黑" panose="020B0503020204020204" pitchFamily="34" charset="-122"/>
                <a:ea typeface="微软雅黑" panose="020B0503020204020204" pitchFamily="34" charset="-122"/>
              </a:rPr>
              <a:t>……</a:t>
            </a:r>
            <a:endParaRPr lang="zh-CN" altLang="en-US" sz="1050" dirty="0">
              <a:solidFill>
                <a:schemeClr val="bg1"/>
              </a:solidFill>
              <a:latin typeface="微软雅黑" panose="020B0503020204020204" pitchFamily="34" charset="-122"/>
              <a:ea typeface="微软雅黑" panose="020B0503020204020204" pitchFamily="34" charset="-122"/>
            </a:endParaRPr>
          </a:p>
        </p:txBody>
      </p:sp>
      <p:sp>
        <p:nvSpPr>
          <p:cNvPr id="48" name="AutoShape 17"/>
          <p:cNvSpPr>
            <a:spLocks noChangeArrowheads="1"/>
          </p:cNvSpPr>
          <p:nvPr/>
        </p:nvSpPr>
        <p:spPr bwMode="auto">
          <a:xfrm>
            <a:off x="3963836" y="1056301"/>
            <a:ext cx="972666" cy="404839"/>
          </a:xfrm>
          <a:prstGeom prst="round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anchor="ctr"/>
          <a:lstStyle/>
          <a:p>
            <a:pPr algn="ctr">
              <a:defRPr/>
            </a:pPr>
            <a:r>
              <a:rPr lang="zh-CN" altLang="en-US" sz="1050" dirty="0">
                <a:solidFill>
                  <a:schemeClr val="bg1"/>
                </a:solidFill>
                <a:latin typeface="微软雅黑" panose="020B0503020204020204" pitchFamily="34" charset="-122"/>
                <a:ea typeface="微软雅黑" panose="020B0503020204020204" pitchFamily="34" charset="-122"/>
              </a:rPr>
              <a:t>采集医生</a:t>
            </a:r>
          </a:p>
        </p:txBody>
      </p:sp>
      <p:sp>
        <p:nvSpPr>
          <p:cNvPr id="49" name="AutoShape 17"/>
          <p:cNvSpPr>
            <a:spLocks noChangeArrowheads="1"/>
          </p:cNvSpPr>
          <p:nvPr/>
        </p:nvSpPr>
        <p:spPr bwMode="auto">
          <a:xfrm>
            <a:off x="5086437" y="1056301"/>
            <a:ext cx="972666" cy="404839"/>
          </a:xfrm>
          <a:prstGeom prst="round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anchor="ctr"/>
          <a:lstStyle/>
          <a:p>
            <a:pPr algn="ctr">
              <a:defRPr/>
            </a:pPr>
            <a:r>
              <a:rPr lang="zh-CN" altLang="en-US" sz="1050" dirty="0">
                <a:solidFill>
                  <a:schemeClr val="bg1"/>
                </a:solidFill>
                <a:latin typeface="微软雅黑" panose="020B0503020204020204" pitchFamily="34" charset="-122"/>
                <a:ea typeface="微软雅黑" panose="020B0503020204020204" pitchFamily="34" charset="-122"/>
              </a:rPr>
              <a:t>分析医生</a:t>
            </a:r>
          </a:p>
        </p:txBody>
      </p:sp>
      <p:sp>
        <p:nvSpPr>
          <p:cNvPr id="50" name="AutoShape 17"/>
          <p:cNvSpPr>
            <a:spLocks noChangeArrowheads="1"/>
          </p:cNvSpPr>
          <p:nvPr/>
        </p:nvSpPr>
        <p:spPr bwMode="auto">
          <a:xfrm>
            <a:off x="6209037" y="1056301"/>
            <a:ext cx="972666" cy="404839"/>
          </a:xfrm>
          <a:prstGeom prst="round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anchor="ctr"/>
          <a:lstStyle/>
          <a:p>
            <a:pPr algn="ctr">
              <a:defRPr/>
            </a:pPr>
            <a:r>
              <a:rPr lang="zh-CN" altLang="en-US" sz="1050" dirty="0">
                <a:solidFill>
                  <a:schemeClr val="bg1"/>
                </a:solidFill>
                <a:latin typeface="微软雅黑" panose="020B0503020204020204" pitchFamily="34" charset="-122"/>
                <a:ea typeface="微软雅黑" panose="020B0503020204020204" pitchFamily="34" charset="-122"/>
              </a:rPr>
              <a:t>审核医生</a:t>
            </a:r>
          </a:p>
        </p:txBody>
      </p:sp>
      <p:sp>
        <p:nvSpPr>
          <p:cNvPr id="51" name="AutoShape 17"/>
          <p:cNvSpPr>
            <a:spLocks noChangeArrowheads="1"/>
          </p:cNvSpPr>
          <p:nvPr/>
        </p:nvSpPr>
        <p:spPr bwMode="auto">
          <a:xfrm>
            <a:off x="7878231" y="2305106"/>
            <a:ext cx="602350" cy="919611"/>
          </a:xfrm>
          <a:prstGeom prst="round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anchor="ctr"/>
          <a:lstStyle/>
          <a:p>
            <a:pPr algn="ctr">
              <a:defRPr/>
            </a:pPr>
            <a:r>
              <a:rPr lang="en-US" altLang="zh-CN" sz="1100" dirty="0">
                <a:solidFill>
                  <a:schemeClr val="bg1"/>
                </a:solidFill>
                <a:latin typeface="微软雅黑" panose="020B0503020204020204" pitchFamily="34" charset="-122"/>
                <a:ea typeface="微软雅黑" panose="020B0503020204020204" pitchFamily="34" charset="-122"/>
              </a:rPr>
              <a:t>PACS</a:t>
            </a:r>
          </a:p>
        </p:txBody>
      </p:sp>
      <p:sp>
        <p:nvSpPr>
          <p:cNvPr id="52" name="AutoShape 17"/>
          <p:cNvSpPr>
            <a:spLocks noChangeArrowheads="1"/>
          </p:cNvSpPr>
          <p:nvPr/>
        </p:nvSpPr>
        <p:spPr bwMode="auto">
          <a:xfrm>
            <a:off x="7878231" y="3370646"/>
            <a:ext cx="602350" cy="919611"/>
          </a:xfrm>
          <a:prstGeom prst="round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anchor="ctr"/>
          <a:lstStyle/>
          <a:p>
            <a:pPr algn="ctr">
              <a:defRPr/>
            </a:pPr>
            <a:r>
              <a:rPr lang="en-US" altLang="zh-CN" sz="1200" dirty="0">
                <a:solidFill>
                  <a:schemeClr val="bg1"/>
                </a:solidFill>
                <a:latin typeface="微软雅黑" panose="020B0503020204020204" pitchFamily="34" charset="-122"/>
                <a:ea typeface="微软雅黑" panose="020B0503020204020204" pitchFamily="34" charset="-122"/>
              </a:rPr>
              <a:t>EMR</a:t>
            </a:r>
          </a:p>
        </p:txBody>
      </p:sp>
      <p:sp>
        <p:nvSpPr>
          <p:cNvPr id="53" name="AutoShape 17"/>
          <p:cNvSpPr>
            <a:spLocks noChangeArrowheads="1"/>
          </p:cNvSpPr>
          <p:nvPr/>
        </p:nvSpPr>
        <p:spPr bwMode="auto">
          <a:xfrm>
            <a:off x="2841236" y="1056301"/>
            <a:ext cx="972666" cy="404839"/>
          </a:xfrm>
          <a:prstGeom prst="round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anchor="ctr"/>
          <a:lstStyle/>
          <a:p>
            <a:pPr algn="ctr">
              <a:defRPr/>
            </a:pPr>
            <a:r>
              <a:rPr lang="zh-CN" altLang="en-US" sz="1050" dirty="0">
                <a:solidFill>
                  <a:schemeClr val="bg1"/>
                </a:solidFill>
                <a:latin typeface="微软雅黑" panose="020B0503020204020204" pitchFamily="34" charset="-122"/>
                <a:ea typeface="微软雅黑" panose="020B0503020204020204" pitchFamily="34" charset="-122"/>
              </a:rPr>
              <a:t>下单医生</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a:xfrm>
            <a:off x="467544" y="16821"/>
            <a:ext cx="7841699" cy="857250"/>
          </a:xfrm>
        </p:spPr>
        <p:txBody>
          <a:bodyPr/>
          <a:lstStyle/>
          <a:p>
            <a:r>
              <a:rPr lang="zh-CN" altLang="en-US" dirty="0">
                <a:solidFill>
                  <a:srgbClr val="2179B1"/>
                </a:solidFill>
              </a:rPr>
              <a:t>心电云平台特点</a:t>
            </a:r>
          </a:p>
        </p:txBody>
      </p:sp>
      <p:graphicFrame>
        <p:nvGraphicFramePr>
          <p:cNvPr id="54" name="内容占位符 26"/>
          <p:cNvGraphicFramePr/>
          <p:nvPr/>
        </p:nvGraphicFramePr>
        <p:xfrm>
          <a:off x="611560" y="1054098"/>
          <a:ext cx="7725966" cy="364450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83513" y="174650"/>
            <a:ext cx="7943932" cy="523843"/>
          </a:xfrm>
          <a:prstGeom prst="rect">
            <a:avLst/>
          </a:prstGeom>
          <a:noFill/>
        </p:spPr>
        <p:txBody>
          <a:bodyPr wrap="square" lIns="68580" tIns="34290" rIns="68580" bIns="34290" rtlCol="0" anchor="ctr">
            <a:noAutofit/>
          </a:bodyPr>
          <a:lstStyle/>
          <a:p>
            <a:pPr defTabSz="879475">
              <a:lnSpc>
                <a:spcPts val="6075"/>
              </a:lnSpc>
              <a:spcBef>
                <a:spcPct val="0"/>
              </a:spcBef>
              <a:buClrTx/>
              <a:buSzTx/>
            </a:pPr>
            <a:r>
              <a:rPr lang="zh-CN" altLang="en-US" sz="2000" b="1" dirty="0">
                <a:solidFill>
                  <a:srgbClr val="2179B1"/>
                </a:solidFill>
                <a:latin typeface="微软雅黑" panose="020B0503020204020204" pitchFamily="34" charset="-122"/>
                <a:ea typeface="微软雅黑" panose="020B0503020204020204" pitchFamily="34" charset="-122"/>
                <a:sym typeface="+mn-ea"/>
              </a:rPr>
              <a:t>平台亮点</a:t>
            </a:r>
            <a:r>
              <a:rPr lang="en-US" altLang="zh-CN" sz="2000" b="1" dirty="0">
                <a:solidFill>
                  <a:srgbClr val="2179B1"/>
                </a:solidFill>
                <a:latin typeface="微软雅黑" panose="020B0503020204020204" pitchFamily="34" charset="-122"/>
                <a:ea typeface="微软雅黑" panose="020B0503020204020204" pitchFamily="34" charset="-122"/>
                <a:sym typeface="+mn-ea"/>
              </a:rPr>
              <a:t>-</a:t>
            </a:r>
            <a:r>
              <a:rPr lang="zh-CN" altLang="en-US" sz="2000" b="1" dirty="0">
                <a:solidFill>
                  <a:srgbClr val="2179B1"/>
                </a:solidFill>
                <a:latin typeface="微软雅黑" panose="020B0503020204020204" pitchFamily="34" charset="-122"/>
                <a:ea typeface="微软雅黑" panose="020B0503020204020204" pitchFamily="34" charset="-122"/>
                <a:sym typeface="+mn-ea"/>
              </a:rPr>
              <a:t>心电数据解读一键审核</a:t>
            </a:r>
            <a:endParaRPr lang="en-US" altLang="zh-CN" sz="2000" b="1" dirty="0">
              <a:solidFill>
                <a:srgbClr val="2179B1"/>
              </a:solidFill>
              <a:latin typeface="微软雅黑" panose="020B0503020204020204" pitchFamily="34" charset="-122"/>
              <a:ea typeface="微软雅黑" panose="020B0503020204020204" pitchFamily="34" charset="-122"/>
            </a:endParaRPr>
          </a:p>
        </p:txBody>
      </p:sp>
      <p:sp>
        <p:nvSpPr>
          <p:cNvPr id="4" name="圆角矩形 213"/>
          <p:cNvSpPr/>
          <p:nvPr>
            <p:custDataLst>
              <p:tags r:id="rId1"/>
            </p:custDataLst>
          </p:nvPr>
        </p:nvSpPr>
        <p:spPr>
          <a:xfrm>
            <a:off x="3081020" y="1826103"/>
            <a:ext cx="2150745" cy="2665571"/>
          </a:xfrm>
          <a:prstGeom prst="roundRect">
            <a:avLst>
              <a:gd name="adj" fmla="val 8817"/>
            </a:avLst>
          </a:prstGeom>
          <a:solidFill>
            <a:srgbClr val="4F80BD"/>
          </a:solidFill>
          <a:ln>
            <a:noFill/>
          </a:ln>
        </p:spPr>
        <p:style>
          <a:lnRef idx="2">
            <a:schemeClr val="accent1">
              <a:shade val="50000"/>
            </a:schemeClr>
          </a:lnRef>
          <a:fillRef idx="1">
            <a:schemeClr val="accent1"/>
          </a:fillRef>
          <a:effectRef idx="0">
            <a:schemeClr val="accent1"/>
          </a:effectRef>
          <a:fontRef idx="minor">
            <a:schemeClr val="lt1"/>
          </a:fontRef>
        </p:style>
        <p:txBody>
          <a:bodyPr lIns="68578" tIns="34289" rIns="68578" bIns="34289" rtlCol="0" anchor="ctr"/>
          <a:lstStyle/>
          <a:p>
            <a:pPr algn="ctr"/>
            <a:endParaRPr lang="zh-CN" altLang="en-US" sz="1500">
              <a:solidFill>
                <a:schemeClr val="bg1"/>
              </a:solidFill>
            </a:endParaRPr>
          </a:p>
        </p:txBody>
      </p:sp>
      <p:sp>
        <p:nvSpPr>
          <p:cNvPr id="5" name="圆角矩形 214"/>
          <p:cNvSpPr/>
          <p:nvPr>
            <p:custDataLst>
              <p:tags r:id="rId2"/>
            </p:custDataLst>
          </p:nvPr>
        </p:nvSpPr>
        <p:spPr>
          <a:xfrm>
            <a:off x="556895" y="1826103"/>
            <a:ext cx="1238250" cy="2665571"/>
          </a:xfrm>
          <a:prstGeom prst="roundRect">
            <a:avLst>
              <a:gd name="adj" fmla="val 11288"/>
            </a:avLst>
          </a:prstGeom>
          <a:solidFill>
            <a:srgbClr val="4F80BD"/>
          </a:solidFill>
          <a:ln>
            <a:noFill/>
          </a:ln>
        </p:spPr>
        <p:style>
          <a:lnRef idx="2">
            <a:schemeClr val="accent1">
              <a:shade val="50000"/>
            </a:schemeClr>
          </a:lnRef>
          <a:fillRef idx="1">
            <a:schemeClr val="accent1"/>
          </a:fillRef>
          <a:effectRef idx="0">
            <a:schemeClr val="accent1"/>
          </a:effectRef>
          <a:fontRef idx="minor">
            <a:schemeClr val="lt1"/>
          </a:fontRef>
        </p:style>
        <p:txBody>
          <a:bodyPr lIns="68578" tIns="34289" rIns="68578" bIns="34289" rtlCol="0" anchor="ctr"/>
          <a:lstStyle/>
          <a:p>
            <a:pPr algn="ctr"/>
            <a:endParaRPr lang="zh-CN" altLang="en-US" sz="1500">
              <a:solidFill>
                <a:schemeClr val="bg1"/>
              </a:solidFill>
            </a:endParaRPr>
          </a:p>
        </p:txBody>
      </p:sp>
      <p:sp>
        <p:nvSpPr>
          <p:cNvPr id="6" name="TextBox 28"/>
          <p:cNvSpPr txBox="1"/>
          <p:nvPr>
            <p:custDataLst>
              <p:tags r:id="rId3"/>
            </p:custDataLst>
          </p:nvPr>
        </p:nvSpPr>
        <p:spPr>
          <a:xfrm>
            <a:off x="802403" y="4587974"/>
            <a:ext cx="800219" cy="276999"/>
          </a:xfrm>
          <a:prstGeom prst="rect">
            <a:avLst/>
          </a:prstGeom>
          <a:noFill/>
        </p:spPr>
        <p:txBody>
          <a:bodyPr wrap="none" rtlCol="0">
            <a:spAutoFit/>
          </a:bodyPr>
          <a:lstStyle/>
          <a:p>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rPr>
              <a:t>心电设备</a:t>
            </a:r>
          </a:p>
        </p:txBody>
      </p:sp>
      <p:pic>
        <p:nvPicPr>
          <p:cNvPr id="7" name="Picture 9" descr="E:\zd\2_UI界面\9_心电帖APP\7_运营\心知了平台医生PPT\素材\brain.png"/>
          <p:cNvPicPr>
            <a:picLocks noChangeAspect="1" noChangeArrowheads="1"/>
          </p:cNvPicPr>
          <p:nvPr>
            <p:custDataLst>
              <p:tags r:id="rId4"/>
            </p:custDataLst>
          </p:nvPr>
        </p:nvPicPr>
        <p:blipFill>
          <a:blip r:embed="rId36" cstate="print"/>
          <a:srcRect/>
          <a:stretch>
            <a:fillRect/>
          </a:stretch>
        </p:blipFill>
        <p:spPr bwMode="auto">
          <a:xfrm>
            <a:off x="3906601" y="3755867"/>
            <a:ext cx="499586" cy="589598"/>
          </a:xfrm>
          <a:prstGeom prst="rect">
            <a:avLst/>
          </a:prstGeom>
          <a:noFill/>
        </p:spPr>
      </p:pic>
      <p:sp>
        <p:nvSpPr>
          <p:cNvPr id="8" name="TextBox 30"/>
          <p:cNvSpPr txBox="1"/>
          <p:nvPr>
            <p:custDataLst>
              <p:tags r:id="rId5"/>
            </p:custDataLst>
          </p:nvPr>
        </p:nvSpPr>
        <p:spPr>
          <a:xfrm>
            <a:off x="3541922" y="4577428"/>
            <a:ext cx="1274708" cy="276999"/>
          </a:xfrm>
          <a:prstGeom prst="rect">
            <a:avLst/>
          </a:prstGeom>
          <a:noFill/>
        </p:spPr>
        <p:txBody>
          <a:bodyPr wrap="none" rtlCol="0">
            <a:spAutoFit/>
          </a:bodyPr>
          <a:lstStyle/>
          <a:p>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rPr>
              <a:t>心电大脑</a:t>
            </a:r>
            <a:r>
              <a:rPr lang="en-US" altLang="zh-CN" sz="1200" b="1" dirty="0">
                <a:solidFill>
                  <a:schemeClr val="tx1">
                    <a:lumMod val="75000"/>
                    <a:lumOff val="25000"/>
                  </a:schemeClr>
                </a:solidFill>
                <a:latin typeface="微软雅黑" panose="020B0503020204020204" pitchFamily="34" charset="-122"/>
                <a:ea typeface="微软雅黑" panose="020B0503020204020204" pitchFamily="34" charset="-122"/>
              </a:rPr>
              <a:t>AI</a:t>
            </a:r>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rPr>
              <a:t>解读</a:t>
            </a:r>
          </a:p>
        </p:txBody>
      </p:sp>
      <p:cxnSp>
        <p:nvCxnSpPr>
          <p:cNvPr id="9" name="直接箭头连接符 8"/>
          <p:cNvCxnSpPr/>
          <p:nvPr>
            <p:custDataLst>
              <p:tags r:id="rId6"/>
            </p:custDataLst>
          </p:nvPr>
        </p:nvCxnSpPr>
        <p:spPr>
          <a:xfrm>
            <a:off x="1956119" y="2923859"/>
            <a:ext cx="995363" cy="13335"/>
          </a:xfrm>
          <a:prstGeom prst="straightConnector1">
            <a:avLst/>
          </a:prstGeom>
          <a:ln w="66675">
            <a:solidFill>
              <a:srgbClr val="4276AA"/>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0" name="直接箭头连接符 9"/>
          <p:cNvCxnSpPr/>
          <p:nvPr>
            <p:custDataLst>
              <p:tags r:id="rId7"/>
            </p:custDataLst>
          </p:nvPr>
        </p:nvCxnSpPr>
        <p:spPr>
          <a:xfrm>
            <a:off x="1941830" y="3207705"/>
            <a:ext cx="1009650" cy="2381"/>
          </a:xfrm>
          <a:prstGeom prst="straightConnector1">
            <a:avLst/>
          </a:prstGeom>
          <a:ln w="66675">
            <a:solidFill>
              <a:srgbClr val="4276AA"/>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11" name="TextBox 35"/>
          <p:cNvSpPr txBox="1"/>
          <p:nvPr>
            <p:custDataLst>
              <p:tags r:id="rId8"/>
            </p:custDataLst>
          </p:nvPr>
        </p:nvSpPr>
        <p:spPr>
          <a:xfrm>
            <a:off x="2111852" y="2602867"/>
            <a:ext cx="723275" cy="253916"/>
          </a:xfrm>
          <a:prstGeom prst="rect">
            <a:avLst/>
          </a:prstGeom>
          <a:noFill/>
        </p:spPr>
        <p:txBody>
          <a:bodyPr wrap="none" rtlCol="0">
            <a:spAutoFit/>
          </a:bodyPr>
          <a:lstStyle/>
          <a:p>
            <a:r>
              <a:rPr lang="zh-CN" altLang="en-US" sz="1050" b="1" dirty="0">
                <a:solidFill>
                  <a:schemeClr val="tx1">
                    <a:lumMod val="75000"/>
                    <a:lumOff val="25000"/>
                  </a:schemeClr>
                </a:solidFill>
                <a:latin typeface="微软雅黑" panose="020B0503020204020204" pitchFamily="34" charset="-122"/>
                <a:ea typeface="微软雅黑" panose="020B0503020204020204" pitchFamily="34" charset="-122"/>
              </a:rPr>
              <a:t>数据上传</a:t>
            </a:r>
          </a:p>
        </p:txBody>
      </p:sp>
      <p:sp>
        <p:nvSpPr>
          <p:cNvPr id="12" name="TextBox 37"/>
          <p:cNvSpPr txBox="1"/>
          <p:nvPr>
            <p:custDataLst>
              <p:tags r:id="rId9"/>
            </p:custDataLst>
          </p:nvPr>
        </p:nvSpPr>
        <p:spPr>
          <a:xfrm>
            <a:off x="2115186" y="3332481"/>
            <a:ext cx="723275" cy="269817"/>
          </a:xfrm>
          <a:prstGeom prst="rect">
            <a:avLst/>
          </a:prstGeom>
          <a:noFill/>
        </p:spPr>
        <p:txBody>
          <a:bodyPr wrap="none" rtlCol="0">
            <a:spAutoFit/>
          </a:bodyPr>
          <a:lstStyle/>
          <a:p>
            <a:pPr>
              <a:lnSpc>
                <a:spcPct val="120000"/>
              </a:lnSpc>
            </a:pPr>
            <a:r>
              <a:rPr lang="zh-CN" altLang="en-US" sz="1050" b="1" dirty="0">
                <a:solidFill>
                  <a:schemeClr val="tx1">
                    <a:lumMod val="75000"/>
                    <a:lumOff val="25000"/>
                  </a:schemeClr>
                </a:solidFill>
                <a:latin typeface="微软雅黑" panose="020B0503020204020204" pitchFamily="34" charset="-122"/>
                <a:ea typeface="微软雅黑" panose="020B0503020204020204" pitchFamily="34" charset="-122"/>
              </a:rPr>
              <a:t>分析结果</a:t>
            </a:r>
          </a:p>
        </p:txBody>
      </p:sp>
      <p:pic>
        <p:nvPicPr>
          <p:cNvPr id="13" name="图片 12" descr="device_115"/>
          <p:cNvPicPr>
            <a:picLocks noChangeAspect="1"/>
          </p:cNvPicPr>
          <p:nvPr>
            <p:custDataLst>
              <p:tags r:id="rId10"/>
            </p:custDataLst>
          </p:nvPr>
        </p:nvPicPr>
        <p:blipFill>
          <a:blip r:embed="rId37" cstate="print"/>
          <a:stretch>
            <a:fillRect/>
          </a:stretch>
        </p:blipFill>
        <p:spPr>
          <a:xfrm>
            <a:off x="854791" y="2936717"/>
            <a:ext cx="641985" cy="327660"/>
          </a:xfrm>
          <a:prstGeom prst="rect">
            <a:avLst/>
          </a:prstGeom>
        </p:spPr>
      </p:pic>
      <p:pic>
        <p:nvPicPr>
          <p:cNvPr id="14" name="图片 13" descr="20220729-144745"/>
          <p:cNvPicPr>
            <a:picLocks noChangeAspect="1"/>
          </p:cNvPicPr>
          <p:nvPr>
            <p:custDataLst>
              <p:tags r:id="rId11"/>
            </p:custDataLst>
          </p:nvPr>
        </p:nvPicPr>
        <p:blipFill>
          <a:blip r:embed="rId38" cstate="print"/>
          <a:stretch>
            <a:fillRect/>
          </a:stretch>
        </p:blipFill>
        <p:spPr>
          <a:xfrm>
            <a:off x="762397" y="2051845"/>
            <a:ext cx="826770" cy="465296"/>
          </a:xfrm>
          <a:prstGeom prst="rect">
            <a:avLst/>
          </a:prstGeom>
        </p:spPr>
      </p:pic>
      <p:grpSp>
        <p:nvGrpSpPr>
          <p:cNvPr id="2" name="组合 14"/>
          <p:cNvGrpSpPr/>
          <p:nvPr/>
        </p:nvGrpSpPr>
        <p:grpSpPr>
          <a:xfrm>
            <a:off x="1098392" y="3522981"/>
            <a:ext cx="154781" cy="205740"/>
            <a:chOff x="9333" y="6460"/>
            <a:chExt cx="440" cy="585"/>
          </a:xfrm>
        </p:grpSpPr>
        <p:sp>
          <p:nvSpPr>
            <p:cNvPr id="16" name="燕尾形 225"/>
            <p:cNvSpPr/>
            <p:nvPr>
              <p:custDataLst>
                <p:tags r:id="rId33"/>
              </p:custDataLst>
            </p:nvPr>
          </p:nvSpPr>
          <p:spPr>
            <a:xfrm rot="16200000">
              <a:off x="9391" y="6402"/>
              <a:ext cx="325" cy="440"/>
            </a:xfrm>
            <a:prstGeom prst="chevron">
              <a:avLst/>
            </a:prstGeom>
            <a:gradFill>
              <a:gsLst>
                <a:gs pos="0">
                  <a:srgbClr val="C2D4E7">
                    <a:alpha val="5000"/>
                  </a:srgbClr>
                </a:gs>
                <a:gs pos="100000">
                  <a:srgbClr val="A6C1DD">
                    <a:alpha val="84000"/>
                  </a:srgbClr>
                </a:gs>
                <a:gs pos="59000">
                  <a:schemeClr val="accent1">
                    <a:lumMod val="45000"/>
                    <a:lumOff val="55000"/>
                    <a:alpha val="49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7" name="燕尾形 226"/>
            <p:cNvSpPr/>
            <p:nvPr>
              <p:custDataLst>
                <p:tags r:id="rId34"/>
              </p:custDataLst>
            </p:nvPr>
          </p:nvSpPr>
          <p:spPr>
            <a:xfrm rot="16200000">
              <a:off x="9391" y="6663"/>
              <a:ext cx="325" cy="440"/>
            </a:xfrm>
            <a:prstGeom prst="chevron">
              <a:avLst/>
            </a:prstGeom>
            <a:gradFill>
              <a:gsLst>
                <a:gs pos="0">
                  <a:srgbClr val="C2D4E7">
                    <a:alpha val="5000"/>
                  </a:srgbClr>
                </a:gs>
                <a:gs pos="100000">
                  <a:srgbClr val="A6C1DD">
                    <a:alpha val="84000"/>
                  </a:srgbClr>
                </a:gs>
                <a:gs pos="59000">
                  <a:schemeClr val="accent1">
                    <a:lumMod val="45000"/>
                    <a:lumOff val="55000"/>
                    <a:alpha val="49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pic>
        <p:nvPicPr>
          <p:cNvPr id="18" name="图片 17"/>
          <p:cNvPicPr>
            <a:picLocks noChangeAspect="1"/>
          </p:cNvPicPr>
          <p:nvPr>
            <p:custDataLst>
              <p:tags r:id="rId12"/>
            </p:custDataLst>
          </p:nvPr>
        </p:nvPicPr>
        <p:blipFill>
          <a:blip r:embed="rId39" cstate="print"/>
          <a:stretch>
            <a:fillRect/>
          </a:stretch>
        </p:blipFill>
        <p:spPr>
          <a:xfrm>
            <a:off x="879556" y="3895886"/>
            <a:ext cx="592455" cy="264319"/>
          </a:xfrm>
          <a:prstGeom prst="rect">
            <a:avLst/>
          </a:prstGeom>
        </p:spPr>
      </p:pic>
      <p:grpSp>
        <p:nvGrpSpPr>
          <p:cNvPr id="15" name="组合 18"/>
          <p:cNvGrpSpPr/>
          <p:nvPr/>
        </p:nvGrpSpPr>
        <p:grpSpPr>
          <a:xfrm rot="10800000">
            <a:off x="1098392" y="2574291"/>
            <a:ext cx="154781" cy="205740"/>
            <a:chOff x="9333" y="6460"/>
            <a:chExt cx="440" cy="585"/>
          </a:xfrm>
        </p:grpSpPr>
        <p:sp>
          <p:nvSpPr>
            <p:cNvPr id="20" name="燕尾形 229"/>
            <p:cNvSpPr/>
            <p:nvPr>
              <p:custDataLst>
                <p:tags r:id="rId31"/>
              </p:custDataLst>
            </p:nvPr>
          </p:nvSpPr>
          <p:spPr>
            <a:xfrm rot="16200000">
              <a:off x="9391" y="6402"/>
              <a:ext cx="325" cy="440"/>
            </a:xfrm>
            <a:prstGeom prst="chevron">
              <a:avLst/>
            </a:prstGeom>
            <a:gradFill>
              <a:gsLst>
                <a:gs pos="0">
                  <a:srgbClr val="C2D4E7">
                    <a:alpha val="5000"/>
                  </a:srgbClr>
                </a:gs>
                <a:gs pos="100000">
                  <a:srgbClr val="A6C1DD">
                    <a:alpha val="84000"/>
                  </a:srgbClr>
                </a:gs>
                <a:gs pos="59000">
                  <a:schemeClr val="accent1">
                    <a:lumMod val="45000"/>
                    <a:lumOff val="55000"/>
                    <a:alpha val="49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1" name="燕尾形 230"/>
            <p:cNvSpPr/>
            <p:nvPr>
              <p:custDataLst>
                <p:tags r:id="rId32"/>
              </p:custDataLst>
            </p:nvPr>
          </p:nvSpPr>
          <p:spPr>
            <a:xfrm rot="16200000">
              <a:off x="9391" y="6663"/>
              <a:ext cx="325" cy="440"/>
            </a:xfrm>
            <a:prstGeom prst="chevron">
              <a:avLst/>
            </a:prstGeom>
            <a:gradFill>
              <a:gsLst>
                <a:gs pos="0">
                  <a:srgbClr val="C2D4E7">
                    <a:alpha val="5000"/>
                  </a:srgbClr>
                </a:gs>
                <a:gs pos="100000">
                  <a:srgbClr val="A6C1DD">
                    <a:alpha val="84000"/>
                  </a:srgbClr>
                </a:gs>
                <a:gs pos="59000">
                  <a:schemeClr val="accent1">
                    <a:lumMod val="45000"/>
                    <a:lumOff val="55000"/>
                    <a:alpha val="49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sp>
        <p:nvSpPr>
          <p:cNvPr id="22" name="文本框 21"/>
          <p:cNvSpPr txBox="1"/>
          <p:nvPr>
            <p:custDataLst>
              <p:tags r:id="rId13"/>
            </p:custDataLst>
          </p:nvPr>
        </p:nvSpPr>
        <p:spPr>
          <a:xfrm>
            <a:off x="3205799" y="2321401"/>
            <a:ext cx="530915" cy="300082"/>
          </a:xfrm>
          <a:prstGeom prst="rect">
            <a:avLst/>
          </a:prstGeom>
          <a:noFill/>
        </p:spPr>
        <p:txBody>
          <a:bodyPr wrap="none" rtlCol="0">
            <a:spAutoFit/>
          </a:bodyPr>
          <a:lstStyle/>
          <a:p>
            <a:r>
              <a:rPr lang="zh-CN" altLang="en-US" sz="1350">
                <a:solidFill>
                  <a:schemeClr val="bg1"/>
                </a:solidFill>
                <a:latin typeface="微软雅黑" panose="020B0503020204020204" pitchFamily="34" charset="-122"/>
                <a:ea typeface="微软雅黑" panose="020B0503020204020204" pitchFamily="34" charset="-122"/>
              </a:rPr>
              <a:t>房颤</a:t>
            </a:r>
          </a:p>
        </p:txBody>
      </p:sp>
      <p:sp>
        <p:nvSpPr>
          <p:cNvPr id="23" name="文本框 22"/>
          <p:cNvSpPr txBox="1"/>
          <p:nvPr>
            <p:custDataLst>
              <p:tags r:id="rId14"/>
            </p:custDataLst>
          </p:nvPr>
        </p:nvSpPr>
        <p:spPr>
          <a:xfrm>
            <a:off x="3733484" y="2160431"/>
            <a:ext cx="639919" cy="230832"/>
          </a:xfrm>
          <a:prstGeom prst="rect">
            <a:avLst/>
          </a:prstGeom>
          <a:noFill/>
        </p:spPr>
        <p:txBody>
          <a:bodyPr wrap="none" rtlCol="0">
            <a:spAutoFit/>
          </a:bodyPr>
          <a:lstStyle/>
          <a:p>
            <a:r>
              <a:rPr lang="en-US" altLang="zh-CN" sz="90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ST</a:t>
            </a:r>
            <a:r>
              <a:rPr lang="zh-CN" altLang="en-US" sz="90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段抬高</a:t>
            </a:r>
          </a:p>
        </p:txBody>
      </p:sp>
      <p:sp>
        <p:nvSpPr>
          <p:cNvPr id="24" name="文本框 23"/>
          <p:cNvSpPr txBox="1"/>
          <p:nvPr>
            <p:custDataLst>
              <p:tags r:id="rId15"/>
            </p:custDataLst>
          </p:nvPr>
        </p:nvSpPr>
        <p:spPr>
          <a:xfrm>
            <a:off x="3733483" y="2421891"/>
            <a:ext cx="995680" cy="337185"/>
          </a:xfrm>
          <a:prstGeom prst="rect">
            <a:avLst/>
          </a:prstGeom>
          <a:noFill/>
        </p:spPr>
        <p:txBody>
          <a:bodyPr wrap="none" rtlCol="0">
            <a:spAutoFit/>
          </a:bodyPr>
          <a:lstStyle/>
          <a:p>
            <a:r>
              <a:rPr lang="zh-CN" altLang="en-US" sz="1600">
                <a:solidFill>
                  <a:schemeClr val="bg1"/>
                </a:solidFill>
                <a:latin typeface="微软雅黑" panose="020B0503020204020204" pitchFamily="34" charset="-122"/>
                <a:ea typeface="微软雅黑" panose="020B0503020204020204" pitchFamily="34" charset="-122"/>
              </a:rPr>
              <a:t>窦性心律</a:t>
            </a:r>
          </a:p>
        </p:txBody>
      </p:sp>
      <p:sp>
        <p:nvSpPr>
          <p:cNvPr id="25" name="文本框 24"/>
          <p:cNvSpPr txBox="1"/>
          <p:nvPr>
            <p:custDataLst>
              <p:tags r:id="rId16"/>
            </p:custDataLst>
          </p:nvPr>
        </p:nvSpPr>
        <p:spPr>
          <a:xfrm>
            <a:off x="3826351" y="3069115"/>
            <a:ext cx="995680" cy="337185"/>
          </a:xfrm>
          <a:prstGeom prst="rect">
            <a:avLst/>
          </a:prstGeom>
          <a:noFill/>
        </p:spPr>
        <p:txBody>
          <a:bodyPr wrap="none" rtlCol="0">
            <a:spAutoFit/>
          </a:bodyPr>
          <a:lstStyle/>
          <a:p>
            <a:pPr algn="l"/>
            <a:r>
              <a:rPr lang="zh-CN" altLang="en-US" sz="1600">
                <a:solidFill>
                  <a:schemeClr val="bg1"/>
                </a:solidFill>
                <a:latin typeface="微软雅黑" panose="020B0503020204020204" pitchFamily="34" charset="-122"/>
                <a:ea typeface="微软雅黑" panose="020B0503020204020204" pitchFamily="34" charset="-122"/>
                <a:sym typeface="+mn-ea"/>
              </a:rPr>
              <a:t>房性早搏</a:t>
            </a:r>
          </a:p>
        </p:txBody>
      </p:sp>
      <p:sp>
        <p:nvSpPr>
          <p:cNvPr id="26" name="文本框 25"/>
          <p:cNvSpPr txBox="1"/>
          <p:nvPr>
            <p:custDataLst>
              <p:tags r:id="rId17"/>
            </p:custDataLst>
          </p:nvPr>
        </p:nvSpPr>
        <p:spPr>
          <a:xfrm>
            <a:off x="3252471" y="2700021"/>
            <a:ext cx="954107" cy="207749"/>
          </a:xfrm>
          <a:prstGeom prst="rect">
            <a:avLst/>
          </a:prstGeom>
          <a:noFill/>
        </p:spPr>
        <p:txBody>
          <a:bodyPr wrap="none" rtlCol="0">
            <a:spAutoFit/>
          </a:bodyPr>
          <a:lstStyle/>
          <a:p>
            <a:pPr algn="l"/>
            <a:r>
              <a:rPr lang="zh-CN" altLang="en-US" sz="750">
                <a:solidFill>
                  <a:schemeClr val="bg1"/>
                </a:solidFill>
                <a:latin typeface="微软雅黑" panose="020B0503020204020204" pitchFamily="34" charset="-122"/>
                <a:ea typeface="微软雅黑" panose="020B0503020204020204" pitchFamily="34" charset="-122"/>
                <a:sym typeface="+mn-ea"/>
              </a:rPr>
              <a:t>短阵室性心动过速</a:t>
            </a:r>
          </a:p>
        </p:txBody>
      </p:sp>
      <p:sp>
        <p:nvSpPr>
          <p:cNvPr id="27" name="文本框 26"/>
          <p:cNvSpPr txBox="1"/>
          <p:nvPr>
            <p:custDataLst>
              <p:tags r:id="rId18"/>
            </p:custDataLst>
          </p:nvPr>
        </p:nvSpPr>
        <p:spPr>
          <a:xfrm>
            <a:off x="3205799" y="3337244"/>
            <a:ext cx="1249680" cy="252730"/>
          </a:xfrm>
          <a:prstGeom prst="rect">
            <a:avLst/>
          </a:prstGeom>
          <a:noFill/>
        </p:spPr>
        <p:txBody>
          <a:bodyPr wrap="none" rtlCol="0">
            <a:spAutoFit/>
          </a:bodyPr>
          <a:lstStyle/>
          <a:p>
            <a:pPr algn="l"/>
            <a:r>
              <a:rPr lang="zh-CN" altLang="en-US" sz="1050">
                <a:solidFill>
                  <a:schemeClr val="bg1"/>
                </a:solidFill>
                <a:latin typeface="微软雅黑" panose="020B0503020204020204" pitchFamily="34" charset="-122"/>
                <a:ea typeface="微软雅黑" panose="020B0503020204020204" pitchFamily="34" charset="-122"/>
              </a:rPr>
              <a:t>短阵房性心动过速</a:t>
            </a:r>
          </a:p>
        </p:txBody>
      </p:sp>
      <p:sp>
        <p:nvSpPr>
          <p:cNvPr id="28" name="文本框 27"/>
          <p:cNvSpPr txBox="1"/>
          <p:nvPr>
            <p:custDataLst>
              <p:tags r:id="rId19"/>
            </p:custDataLst>
          </p:nvPr>
        </p:nvSpPr>
        <p:spPr>
          <a:xfrm>
            <a:off x="3181510" y="2886236"/>
            <a:ext cx="723275" cy="253916"/>
          </a:xfrm>
          <a:prstGeom prst="rect">
            <a:avLst/>
          </a:prstGeom>
          <a:noFill/>
        </p:spPr>
        <p:txBody>
          <a:bodyPr wrap="none" rtlCol="0">
            <a:spAutoFit/>
          </a:bodyPr>
          <a:lstStyle/>
          <a:p>
            <a:r>
              <a:rPr lang="zh-CN" altLang="en-US" sz="1050">
                <a:solidFill>
                  <a:schemeClr val="bg1"/>
                </a:solidFill>
                <a:latin typeface="微软雅黑" panose="020B0503020204020204" pitchFamily="34" charset="-122"/>
                <a:ea typeface="微软雅黑" panose="020B0503020204020204" pitchFamily="34" charset="-122"/>
              </a:rPr>
              <a:t>室内阻滞</a:t>
            </a:r>
          </a:p>
        </p:txBody>
      </p:sp>
      <p:sp>
        <p:nvSpPr>
          <p:cNvPr id="29" name="文本框 28"/>
          <p:cNvSpPr txBox="1"/>
          <p:nvPr>
            <p:custDataLst>
              <p:tags r:id="rId20"/>
            </p:custDataLst>
          </p:nvPr>
        </p:nvSpPr>
        <p:spPr>
          <a:xfrm>
            <a:off x="3252471" y="1987076"/>
            <a:ext cx="877163" cy="230832"/>
          </a:xfrm>
          <a:prstGeom prst="rect">
            <a:avLst/>
          </a:prstGeom>
          <a:noFill/>
        </p:spPr>
        <p:txBody>
          <a:bodyPr wrap="none" rtlCol="0">
            <a:spAutoFit/>
          </a:bodyPr>
          <a:lstStyle/>
          <a:p>
            <a:pPr algn="l"/>
            <a:r>
              <a:rPr sz="900">
                <a:solidFill>
                  <a:schemeClr val="bg1"/>
                </a:solidFill>
                <a:latin typeface="微软雅黑" panose="020B0503020204020204" pitchFamily="34" charset="-122"/>
                <a:ea typeface="微软雅黑" panose="020B0503020204020204" pitchFamily="34" charset="-122"/>
              </a:rPr>
              <a:t>成对房性早搏</a:t>
            </a:r>
          </a:p>
        </p:txBody>
      </p:sp>
      <p:sp>
        <p:nvSpPr>
          <p:cNvPr id="30" name="文本框 29"/>
          <p:cNvSpPr txBox="1"/>
          <p:nvPr>
            <p:custDataLst>
              <p:tags r:id="rId21"/>
            </p:custDataLst>
          </p:nvPr>
        </p:nvSpPr>
        <p:spPr>
          <a:xfrm>
            <a:off x="4341179" y="1950403"/>
            <a:ext cx="788999" cy="300082"/>
          </a:xfrm>
          <a:prstGeom prst="rect">
            <a:avLst/>
          </a:prstGeom>
          <a:noFill/>
        </p:spPr>
        <p:txBody>
          <a:bodyPr wrap="none" rtlCol="0">
            <a:spAutoFit/>
          </a:bodyPr>
          <a:lstStyle/>
          <a:p>
            <a:pPr algn="l"/>
            <a:r>
              <a:rPr lang="zh-CN" altLang="en-US" sz="135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T波改变</a:t>
            </a:r>
          </a:p>
        </p:txBody>
      </p:sp>
      <p:sp>
        <p:nvSpPr>
          <p:cNvPr id="31" name="文本框 30"/>
          <p:cNvSpPr txBox="1"/>
          <p:nvPr>
            <p:custDataLst>
              <p:tags r:id="rId22"/>
            </p:custDataLst>
          </p:nvPr>
        </p:nvSpPr>
        <p:spPr>
          <a:xfrm>
            <a:off x="4108769" y="2862422"/>
            <a:ext cx="1005403" cy="230832"/>
          </a:xfrm>
          <a:prstGeom prst="rect">
            <a:avLst/>
          </a:prstGeom>
          <a:noFill/>
        </p:spPr>
        <p:txBody>
          <a:bodyPr wrap="none" rtlCol="0">
            <a:spAutoFit/>
          </a:bodyPr>
          <a:lstStyle/>
          <a:p>
            <a:pPr algn="l"/>
            <a:r>
              <a:rPr lang="zh-CN" altLang="en-US" sz="90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QT/QTc间期延长</a:t>
            </a:r>
          </a:p>
        </p:txBody>
      </p:sp>
      <p:sp>
        <p:nvSpPr>
          <p:cNvPr id="32" name="文本框 31"/>
          <p:cNvSpPr txBox="1"/>
          <p:nvPr>
            <p:custDataLst>
              <p:tags r:id="rId23"/>
            </p:custDataLst>
          </p:nvPr>
        </p:nvSpPr>
        <p:spPr>
          <a:xfrm>
            <a:off x="4444049" y="2251871"/>
            <a:ext cx="646331" cy="230832"/>
          </a:xfrm>
          <a:prstGeom prst="rect">
            <a:avLst/>
          </a:prstGeom>
          <a:noFill/>
        </p:spPr>
        <p:txBody>
          <a:bodyPr wrap="none" rtlCol="0">
            <a:spAutoFit/>
          </a:bodyPr>
          <a:lstStyle/>
          <a:p>
            <a:pPr algn="l"/>
            <a:r>
              <a:rPr lang="zh-CN" altLang="en-US" sz="900">
                <a:solidFill>
                  <a:schemeClr val="bg1"/>
                </a:solidFill>
                <a:latin typeface="微软雅黑" panose="020B0503020204020204" pitchFamily="34" charset="-122"/>
                <a:ea typeface="微软雅黑" panose="020B0503020204020204" pitchFamily="34" charset="-122"/>
              </a:rPr>
              <a:t>室</a:t>
            </a:r>
            <a:r>
              <a:rPr sz="900">
                <a:solidFill>
                  <a:schemeClr val="bg1"/>
                </a:solidFill>
                <a:latin typeface="微软雅黑" panose="020B0503020204020204" pitchFamily="34" charset="-122"/>
                <a:ea typeface="微软雅黑" panose="020B0503020204020204" pitchFamily="34" charset="-122"/>
              </a:rPr>
              <a:t>性早搏</a:t>
            </a:r>
          </a:p>
        </p:txBody>
      </p:sp>
      <p:sp>
        <p:nvSpPr>
          <p:cNvPr id="33" name="文本框 32"/>
          <p:cNvSpPr txBox="1"/>
          <p:nvPr>
            <p:custDataLst>
              <p:tags r:id="rId24"/>
            </p:custDataLst>
          </p:nvPr>
        </p:nvSpPr>
        <p:spPr>
          <a:xfrm>
            <a:off x="4359752" y="2648111"/>
            <a:ext cx="708848" cy="230832"/>
          </a:xfrm>
          <a:prstGeom prst="rect">
            <a:avLst/>
          </a:prstGeom>
          <a:noFill/>
        </p:spPr>
        <p:txBody>
          <a:bodyPr wrap="none" rtlCol="0">
            <a:spAutoFit/>
          </a:bodyPr>
          <a:lstStyle/>
          <a:p>
            <a:pPr algn="l"/>
            <a:r>
              <a:rPr sz="90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R波电压高</a:t>
            </a:r>
          </a:p>
        </p:txBody>
      </p:sp>
      <p:sp>
        <p:nvSpPr>
          <p:cNvPr id="34" name="文本框 33"/>
          <p:cNvSpPr txBox="1"/>
          <p:nvPr>
            <p:custDataLst>
              <p:tags r:id="rId25"/>
            </p:custDataLst>
          </p:nvPr>
        </p:nvSpPr>
        <p:spPr>
          <a:xfrm>
            <a:off x="3308192" y="3126741"/>
            <a:ext cx="569387" cy="207749"/>
          </a:xfrm>
          <a:prstGeom prst="rect">
            <a:avLst/>
          </a:prstGeom>
          <a:noFill/>
        </p:spPr>
        <p:txBody>
          <a:bodyPr wrap="none" rtlCol="0">
            <a:spAutoFit/>
          </a:bodyPr>
          <a:lstStyle/>
          <a:p>
            <a:pPr algn="l"/>
            <a:r>
              <a:rPr lang="zh-CN" altLang="en-US" sz="750">
                <a:solidFill>
                  <a:schemeClr val="bg1"/>
                </a:solidFill>
                <a:latin typeface="微软雅黑" panose="020B0503020204020204" pitchFamily="34" charset="-122"/>
                <a:ea typeface="微软雅黑" panose="020B0503020204020204" pitchFamily="34" charset="-122"/>
                <a:sym typeface="+mn-ea"/>
              </a:rPr>
              <a:t>心房扑动</a:t>
            </a:r>
          </a:p>
        </p:txBody>
      </p:sp>
      <p:sp>
        <p:nvSpPr>
          <p:cNvPr id="35" name="文本框 34"/>
          <p:cNvSpPr txBox="1"/>
          <p:nvPr>
            <p:custDataLst>
              <p:tags r:id="rId26"/>
            </p:custDataLst>
          </p:nvPr>
        </p:nvSpPr>
        <p:spPr>
          <a:xfrm>
            <a:off x="4496912" y="3276284"/>
            <a:ext cx="723275" cy="253916"/>
          </a:xfrm>
          <a:prstGeom prst="rect">
            <a:avLst/>
          </a:prstGeom>
          <a:noFill/>
        </p:spPr>
        <p:txBody>
          <a:bodyPr wrap="none" rtlCol="0">
            <a:spAutoFit/>
          </a:bodyPr>
          <a:lstStyle/>
          <a:p>
            <a:pPr algn="l"/>
            <a:r>
              <a:rPr lang="zh-CN" altLang="en-US" sz="1050">
                <a:solidFill>
                  <a:schemeClr val="bg1"/>
                </a:solidFill>
                <a:latin typeface="微软雅黑" panose="020B0503020204020204" pitchFamily="34" charset="-122"/>
                <a:ea typeface="微软雅黑" panose="020B0503020204020204" pitchFamily="34" charset="-122"/>
              </a:rPr>
              <a:t>心室颤动</a:t>
            </a:r>
          </a:p>
        </p:txBody>
      </p:sp>
      <p:cxnSp>
        <p:nvCxnSpPr>
          <p:cNvPr id="36" name="直接箭头连接符 35"/>
          <p:cNvCxnSpPr/>
          <p:nvPr>
            <p:custDataLst>
              <p:tags r:id="rId27"/>
            </p:custDataLst>
          </p:nvPr>
        </p:nvCxnSpPr>
        <p:spPr>
          <a:xfrm>
            <a:off x="5341838" y="2833700"/>
            <a:ext cx="995363" cy="13335"/>
          </a:xfrm>
          <a:prstGeom prst="straightConnector1">
            <a:avLst/>
          </a:prstGeom>
          <a:ln w="66675">
            <a:solidFill>
              <a:srgbClr val="4276AA"/>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7" name="直接箭头连接符 36"/>
          <p:cNvCxnSpPr/>
          <p:nvPr>
            <p:custDataLst>
              <p:tags r:id="rId28"/>
            </p:custDataLst>
          </p:nvPr>
        </p:nvCxnSpPr>
        <p:spPr>
          <a:xfrm>
            <a:off x="5327549" y="3117545"/>
            <a:ext cx="1009650" cy="2381"/>
          </a:xfrm>
          <a:prstGeom prst="straightConnector1">
            <a:avLst/>
          </a:prstGeom>
          <a:ln w="66675">
            <a:solidFill>
              <a:srgbClr val="4276AA"/>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38" name="TextBox 35"/>
          <p:cNvSpPr txBox="1"/>
          <p:nvPr>
            <p:custDataLst>
              <p:tags r:id="rId29"/>
            </p:custDataLst>
          </p:nvPr>
        </p:nvSpPr>
        <p:spPr>
          <a:xfrm>
            <a:off x="5436096" y="2512707"/>
            <a:ext cx="857927" cy="253916"/>
          </a:xfrm>
          <a:prstGeom prst="rect">
            <a:avLst/>
          </a:prstGeom>
          <a:noFill/>
        </p:spPr>
        <p:txBody>
          <a:bodyPr wrap="none" rtlCol="0">
            <a:spAutoFit/>
          </a:bodyPr>
          <a:lstStyle/>
          <a:p>
            <a:r>
              <a:rPr lang="zh-CN" altLang="en-US" sz="1050" b="1" dirty="0">
                <a:solidFill>
                  <a:schemeClr val="tx1">
                    <a:lumMod val="75000"/>
                    <a:lumOff val="25000"/>
                  </a:schemeClr>
                </a:solidFill>
                <a:latin typeface="微软雅黑" panose="020B0503020204020204" pitchFamily="34" charset="-122"/>
                <a:ea typeface="微软雅黑" panose="020B0503020204020204" pitchFamily="34" charset="-122"/>
              </a:rPr>
              <a:t>置性度分级</a:t>
            </a:r>
          </a:p>
        </p:txBody>
      </p:sp>
      <p:sp>
        <p:nvSpPr>
          <p:cNvPr id="39" name="TextBox 37"/>
          <p:cNvSpPr txBox="1"/>
          <p:nvPr>
            <p:custDataLst>
              <p:tags r:id="rId30"/>
            </p:custDataLst>
          </p:nvPr>
        </p:nvSpPr>
        <p:spPr>
          <a:xfrm>
            <a:off x="5500905" y="3242322"/>
            <a:ext cx="723275" cy="269817"/>
          </a:xfrm>
          <a:prstGeom prst="rect">
            <a:avLst/>
          </a:prstGeom>
          <a:noFill/>
        </p:spPr>
        <p:txBody>
          <a:bodyPr wrap="none" rtlCol="0">
            <a:spAutoFit/>
          </a:bodyPr>
          <a:lstStyle/>
          <a:p>
            <a:pPr>
              <a:lnSpc>
                <a:spcPct val="120000"/>
              </a:lnSpc>
            </a:pPr>
            <a:r>
              <a:rPr lang="zh-CN" altLang="en-US" sz="1050" b="1" dirty="0">
                <a:solidFill>
                  <a:schemeClr val="tx1">
                    <a:lumMod val="75000"/>
                    <a:lumOff val="25000"/>
                  </a:schemeClr>
                </a:solidFill>
                <a:latin typeface="微软雅黑" panose="020B0503020204020204" pitchFamily="34" charset="-122"/>
                <a:ea typeface="微软雅黑" panose="020B0503020204020204" pitchFamily="34" charset="-122"/>
              </a:rPr>
              <a:t>分析结果</a:t>
            </a:r>
          </a:p>
        </p:txBody>
      </p:sp>
      <p:sp>
        <p:nvSpPr>
          <p:cNvPr id="40" name="矩形: 圆角 53"/>
          <p:cNvSpPr/>
          <p:nvPr/>
        </p:nvSpPr>
        <p:spPr>
          <a:xfrm>
            <a:off x="6373624" y="3387087"/>
            <a:ext cx="1995564" cy="683620"/>
          </a:xfrm>
          <a:prstGeom prst="round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t"/>
          <a:lstStyle/>
          <a:p>
            <a:r>
              <a:rPr lang="zh-CN" altLang="en-US" sz="1050" b="1" dirty="0">
                <a:solidFill>
                  <a:schemeClr val="tx1"/>
                </a:solidFill>
                <a:latin typeface="微软雅黑" panose="020B0503020204020204" pitchFamily="34" charset="-122"/>
                <a:ea typeface="微软雅黑" panose="020B0503020204020204" pitchFamily="34" charset="-122"/>
              </a:rPr>
              <a:t>          </a:t>
            </a:r>
            <a:r>
              <a:rPr lang="zh-CN" altLang="en-US" sz="1050" b="1" dirty="0">
                <a:solidFill>
                  <a:schemeClr val="tx1">
                    <a:lumMod val="75000"/>
                    <a:lumOff val="25000"/>
                  </a:schemeClr>
                </a:solidFill>
                <a:latin typeface="微软雅黑" panose="020B0503020204020204" pitchFamily="34" charset="-122"/>
                <a:ea typeface="微软雅黑" panose="020B0503020204020204" pitchFamily="34" charset="-122"/>
              </a:rPr>
              <a:t>中、低置信度医生解读</a:t>
            </a:r>
            <a:endParaRPr lang="zh-CN" altLang="en-US" sz="825" dirty="0">
              <a:solidFill>
                <a:schemeClr val="tx1">
                  <a:lumMod val="75000"/>
                  <a:lumOff val="25000"/>
                </a:schemeClr>
              </a:solidFill>
              <a:latin typeface="微软雅黑" panose="020B0503020204020204" pitchFamily="34" charset="-122"/>
              <a:ea typeface="微软雅黑" panose="020B0503020204020204" pitchFamily="34" charset="-122"/>
              <a:hlinkClick r:id="rId40"/>
            </a:endParaRPr>
          </a:p>
        </p:txBody>
      </p:sp>
      <p:sp>
        <p:nvSpPr>
          <p:cNvPr id="41" name="矩形: 圆角 25"/>
          <p:cNvSpPr/>
          <p:nvPr/>
        </p:nvSpPr>
        <p:spPr>
          <a:xfrm>
            <a:off x="6983501" y="3687552"/>
            <a:ext cx="1241369" cy="21331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zh-CN" altLang="en-US" sz="900" dirty="0">
                <a:solidFill>
                  <a:schemeClr val="bg1"/>
                </a:solidFill>
                <a:latin typeface="微软雅黑" panose="020B0503020204020204" pitchFamily="34" charset="-122"/>
                <a:ea typeface="微软雅黑" panose="020B0503020204020204" pitchFamily="34" charset="-122"/>
              </a:rPr>
              <a:t>桌面终端</a:t>
            </a:r>
            <a:r>
              <a:rPr lang="en-US" altLang="zh-CN" sz="900" dirty="0">
                <a:solidFill>
                  <a:schemeClr val="bg1"/>
                </a:solidFill>
                <a:latin typeface="微软雅黑" panose="020B0503020204020204" pitchFamily="34" charset="-122"/>
                <a:ea typeface="微软雅黑" panose="020B0503020204020204" pitchFamily="34" charset="-122"/>
              </a:rPr>
              <a:t>+</a:t>
            </a:r>
            <a:r>
              <a:rPr lang="zh-CN" altLang="en-US" sz="900" dirty="0">
                <a:solidFill>
                  <a:schemeClr val="bg1"/>
                </a:solidFill>
                <a:latin typeface="微软雅黑" panose="020B0503020204020204" pitchFamily="34" charset="-122"/>
                <a:ea typeface="微软雅黑" panose="020B0503020204020204" pitchFamily="34" charset="-122"/>
              </a:rPr>
              <a:t>医生服务</a:t>
            </a:r>
            <a:endParaRPr lang="en-US" altLang="zh-CN" sz="825" dirty="0">
              <a:solidFill>
                <a:schemeClr val="bg1"/>
              </a:solidFill>
              <a:latin typeface="微软雅黑" panose="020B0503020204020204" pitchFamily="34" charset="-122"/>
              <a:ea typeface="微软雅黑" panose="020B0503020204020204" pitchFamily="34" charset="-122"/>
            </a:endParaRPr>
          </a:p>
        </p:txBody>
      </p:sp>
      <p:pic>
        <p:nvPicPr>
          <p:cNvPr id="42" name="图片 41"/>
          <p:cNvPicPr>
            <a:picLocks noChangeAspect="1"/>
          </p:cNvPicPr>
          <p:nvPr/>
        </p:nvPicPr>
        <p:blipFill>
          <a:blip r:embed="rId41" cstate="print">
            <a:biLevel thresh="25000"/>
            <a:extLst>
              <a:ext uri="{28A0092B-C50C-407E-A947-70E740481C1C}">
                <a14:useLocalDpi xmlns:a14="http://schemas.microsoft.com/office/drawing/2010/main" xmlns="" val="0"/>
              </a:ext>
            </a:extLst>
          </a:blip>
          <a:stretch>
            <a:fillRect/>
          </a:stretch>
        </p:blipFill>
        <p:spPr>
          <a:xfrm>
            <a:off x="6442969" y="3493087"/>
            <a:ext cx="396215" cy="396215"/>
          </a:xfrm>
          <a:prstGeom prst="rect">
            <a:avLst/>
          </a:prstGeom>
        </p:spPr>
      </p:pic>
      <p:sp>
        <p:nvSpPr>
          <p:cNvPr id="43" name="矩形: 圆角 31"/>
          <p:cNvSpPr/>
          <p:nvPr/>
        </p:nvSpPr>
        <p:spPr>
          <a:xfrm>
            <a:off x="6373624" y="2351119"/>
            <a:ext cx="1995300" cy="683100"/>
          </a:xfrm>
          <a:prstGeom prst="roundRect">
            <a:avLst/>
          </a:prstGeom>
          <a:gradFill rotWithShape="1">
            <a:gsLst>
              <a:gs pos="0">
                <a:srgbClr val="70AD47">
                  <a:satMod val="103000"/>
                  <a:lumMod val="102000"/>
                  <a:tint val="94000"/>
                </a:srgbClr>
              </a:gs>
              <a:gs pos="50000">
                <a:srgbClr val="70AD47">
                  <a:satMod val="110000"/>
                  <a:lumMod val="100000"/>
                  <a:shade val="100000"/>
                </a:srgbClr>
              </a:gs>
              <a:gs pos="100000">
                <a:srgbClr val="70AD47">
                  <a:lumMod val="99000"/>
                  <a:satMod val="120000"/>
                  <a:shade val="78000"/>
                </a:srgbClr>
              </a:gs>
            </a:gsLst>
            <a:lin ang="5400000" scaled="0"/>
          </a:gradFill>
          <a:ln w="6350" cap="flat" cmpd="sng" algn="ctr">
            <a:solidFill>
              <a:srgbClr val="70AD47"/>
            </a:solidFill>
            <a:prstDash val="solid"/>
            <a:miter lim="800000"/>
          </a:ln>
          <a:effectLst/>
        </p:spPr>
        <p:txBody>
          <a:bodyPr rtlCol="0" anchor="ctr"/>
          <a:lstStyle/>
          <a:p>
            <a:r>
              <a:rPr lang="zh-CN" altLang="en-US" sz="900" b="1" kern="0" dirty="0">
                <a:solidFill>
                  <a:prstClr val="white"/>
                </a:solidFill>
                <a:latin typeface="微软雅黑" panose="020B0503020204020204" pitchFamily="34" charset="-122"/>
                <a:ea typeface="等线" panose="02010600030101010101" charset="-122"/>
              </a:rPr>
              <a:t>                </a:t>
            </a:r>
            <a:r>
              <a:rPr lang="zh-CN" altLang="en-US" sz="1050" b="1" kern="0" dirty="0">
                <a:solidFill>
                  <a:schemeClr val="tx1">
                    <a:lumMod val="75000"/>
                    <a:lumOff val="25000"/>
                  </a:schemeClr>
                </a:solidFill>
                <a:latin typeface="微软雅黑" panose="020B0503020204020204" pitchFamily="34" charset="-122"/>
                <a:ea typeface="微软雅黑" panose="020B0503020204020204" pitchFamily="34" charset="-122"/>
              </a:rPr>
              <a:t>高</a:t>
            </a:r>
            <a:r>
              <a:rPr lang="zh-CN" altLang="en-US" sz="1050" b="1" dirty="0">
                <a:solidFill>
                  <a:schemeClr val="tx1">
                    <a:lumMod val="75000"/>
                    <a:lumOff val="25000"/>
                  </a:schemeClr>
                </a:solidFill>
                <a:latin typeface="微软雅黑" panose="020B0503020204020204" pitchFamily="34" charset="-122"/>
                <a:ea typeface="微软雅黑" panose="020B0503020204020204" pitchFamily="34" charset="-122"/>
              </a:rPr>
              <a:t>置信度</a:t>
            </a:r>
            <a:r>
              <a:rPr lang="zh-CN" altLang="en-US" sz="1050" b="1" dirty="0">
                <a:solidFill>
                  <a:srgbClr val="FF0000"/>
                </a:solidFill>
                <a:latin typeface="微软雅黑" panose="020B0503020204020204" pitchFamily="34" charset="-122"/>
                <a:ea typeface="微软雅黑" panose="020B0503020204020204" pitchFamily="34" charset="-122"/>
              </a:rPr>
              <a:t>一键审核</a:t>
            </a:r>
            <a:endParaRPr lang="en-US" altLang="zh-CN" sz="1050" b="1" dirty="0">
              <a:solidFill>
                <a:srgbClr val="FF0000"/>
              </a:solidFill>
              <a:latin typeface="微软雅黑" panose="020B0503020204020204" pitchFamily="34" charset="-122"/>
              <a:ea typeface="微软雅黑" panose="020B0503020204020204" pitchFamily="34" charset="-122"/>
            </a:endParaRPr>
          </a:p>
          <a:p>
            <a:r>
              <a:rPr lang="zh-CN" altLang="en-US" sz="1050" kern="0" dirty="0">
                <a:latin typeface="+mj-ea"/>
                <a:ea typeface="+mj-ea"/>
              </a:rPr>
              <a:t>           </a:t>
            </a:r>
            <a:endParaRPr lang="en-US" altLang="zh-CN" sz="1050" kern="0" dirty="0">
              <a:latin typeface="+mj-ea"/>
              <a:ea typeface="+mj-ea"/>
            </a:endParaRPr>
          </a:p>
          <a:p>
            <a:r>
              <a:rPr lang="en-US" altLang="zh-CN" sz="825" kern="0" dirty="0">
                <a:solidFill>
                  <a:prstClr val="white"/>
                </a:solidFill>
                <a:latin typeface="微软雅黑" panose="020B0503020204020204" pitchFamily="34" charset="-122"/>
                <a:ea typeface="等线" panose="02010600030101010101" charset="-122"/>
              </a:rPr>
              <a:t>           </a:t>
            </a:r>
            <a:endParaRPr lang="zh-CN" altLang="en-US" sz="1350" kern="0" dirty="0">
              <a:solidFill>
                <a:prstClr val="white"/>
              </a:solidFill>
              <a:latin typeface="微软雅黑" panose="020B0503020204020204" pitchFamily="34" charset="-122"/>
              <a:ea typeface="等线" panose="02010600030101010101" charset="-122"/>
              <a:hlinkClick r:id="rId40"/>
            </a:endParaRPr>
          </a:p>
        </p:txBody>
      </p:sp>
      <p:pic>
        <p:nvPicPr>
          <p:cNvPr id="44" name="图片 43"/>
          <p:cNvPicPr>
            <a:picLocks noChangeAspect="1"/>
          </p:cNvPicPr>
          <p:nvPr/>
        </p:nvPicPr>
        <p:blipFill>
          <a:blip r:embed="rId42" cstate="print">
            <a:extLst>
              <a:ext uri="{28A0092B-C50C-407E-A947-70E740481C1C}">
                <a14:useLocalDpi xmlns:a14="http://schemas.microsoft.com/office/drawing/2010/main" xmlns="" val="0"/>
              </a:ext>
            </a:extLst>
          </a:blip>
          <a:stretch>
            <a:fillRect/>
          </a:stretch>
        </p:blipFill>
        <p:spPr>
          <a:xfrm>
            <a:off x="6404025" y="2429192"/>
            <a:ext cx="396345" cy="396345"/>
          </a:xfrm>
          <a:prstGeom prst="rect">
            <a:avLst/>
          </a:prstGeom>
        </p:spPr>
      </p:pic>
      <p:sp>
        <p:nvSpPr>
          <p:cNvPr id="45" name="矩形: 圆角 25"/>
          <p:cNvSpPr/>
          <p:nvPr/>
        </p:nvSpPr>
        <p:spPr>
          <a:xfrm>
            <a:off x="6963962" y="2665907"/>
            <a:ext cx="1241369" cy="21331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zh-CN" altLang="en-US" sz="900" dirty="0">
                <a:solidFill>
                  <a:schemeClr val="bg1"/>
                </a:solidFill>
                <a:latin typeface="微软雅黑" panose="020B0503020204020204" pitchFamily="34" charset="-122"/>
                <a:ea typeface="微软雅黑" panose="020B0503020204020204" pitchFamily="34" charset="-122"/>
              </a:rPr>
              <a:t>桌面终端</a:t>
            </a:r>
            <a:r>
              <a:rPr lang="en-US" altLang="zh-CN" sz="900" dirty="0">
                <a:solidFill>
                  <a:schemeClr val="bg1"/>
                </a:solidFill>
                <a:latin typeface="微软雅黑" panose="020B0503020204020204" pitchFamily="34" charset="-122"/>
                <a:ea typeface="微软雅黑" panose="020B0503020204020204" pitchFamily="34" charset="-122"/>
              </a:rPr>
              <a:t>+</a:t>
            </a:r>
            <a:r>
              <a:rPr lang="zh-CN" altLang="en-US" sz="900" dirty="0">
                <a:solidFill>
                  <a:schemeClr val="bg1"/>
                </a:solidFill>
                <a:latin typeface="微软雅黑" panose="020B0503020204020204" pitchFamily="34" charset="-122"/>
                <a:ea typeface="微软雅黑" panose="020B0503020204020204" pitchFamily="34" charset="-122"/>
              </a:rPr>
              <a:t>医生服务</a:t>
            </a:r>
            <a:endParaRPr lang="en-US" altLang="zh-CN" sz="825" dirty="0">
              <a:solidFill>
                <a:schemeClr val="bg1"/>
              </a:solidFill>
              <a:latin typeface="微软雅黑" panose="020B0503020204020204" pitchFamily="34" charset="-122"/>
              <a:ea typeface="微软雅黑" panose="020B0503020204020204" pitchFamily="34" charset="-122"/>
            </a:endParaRPr>
          </a:p>
        </p:txBody>
      </p:sp>
      <p:sp>
        <p:nvSpPr>
          <p:cNvPr id="46" name="文本框 45"/>
          <p:cNvSpPr txBox="1"/>
          <p:nvPr/>
        </p:nvSpPr>
        <p:spPr>
          <a:xfrm>
            <a:off x="452084" y="1022564"/>
            <a:ext cx="8067199" cy="446020"/>
          </a:xfrm>
          <a:prstGeom prst="rect">
            <a:avLst/>
          </a:prstGeom>
          <a:noFill/>
        </p:spPr>
        <p:txBody>
          <a:bodyPr wrap="square" rtlCol="0" anchor="t">
            <a:spAutoFit/>
          </a:bodyPr>
          <a:lstStyle/>
          <a:p>
            <a:pPr>
              <a:lnSpc>
                <a:spcPct val="120000"/>
              </a:lnSpc>
              <a:defRPr/>
            </a:pPr>
            <a:r>
              <a:rPr kumimoji="1" lang="zh-CN" altLang="en-US" sz="10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心电设备数据上传后，通过心电大脑</a:t>
            </a:r>
            <a:r>
              <a:rPr kumimoji="1" lang="en-US" altLang="zh-CN" sz="10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AI</a:t>
            </a:r>
            <a:r>
              <a:rPr kumimoji="1" lang="zh-CN" altLang="en-US" sz="10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解读后，进行置性度分级，高置信度的检查单可由医生一键审核通过，动态心电也可快速出结论，提高工作效率，中低置信度检查单由医生判断分析后，心电大脑进行总结，提升完善后续建设能力。</a:t>
            </a:r>
            <a:endParaRPr kumimoji="1" lang="en-US" altLang="zh-CN" sz="10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539552" y="165039"/>
            <a:ext cx="7943932" cy="523843"/>
          </a:xfrm>
          <a:prstGeom prst="rect">
            <a:avLst/>
          </a:prstGeom>
          <a:noFill/>
        </p:spPr>
        <p:txBody>
          <a:bodyPr wrap="square" lIns="68580" tIns="34290" rIns="68580" bIns="34290" rtlCol="0" anchor="ctr">
            <a:noAutofit/>
          </a:bodyPr>
          <a:lstStyle/>
          <a:p>
            <a:pPr defTabSz="879475">
              <a:lnSpc>
                <a:spcPts val="6075"/>
              </a:lnSpc>
              <a:spcBef>
                <a:spcPct val="0"/>
              </a:spcBef>
              <a:buClrTx/>
              <a:buSzTx/>
            </a:pPr>
            <a:r>
              <a:rPr lang="zh-CN" altLang="en-US" sz="2000" b="1" dirty="0">
                <a:solidFill>
                  <a:srgbClr val="2179B1"/>
                </a:solidFill>
                <a:latin typeface="微软雅黑" panose="020B0503020204020204" pitchFamily="34" charset="-122"/>
                <a:ea typeface="微软雅黑" panose="020B0503020204020204" pitchFamily="34" charset="-122"/>
                <a:sym typeface="+mn-ea"/>
              </a:rPr>
              <a:t>平台亮点</a:t>
            </a:r>
            <a:r>
              <a:rPr lang="en-US" altLang="zh-CN" sz="2000" b="1" dirty="0">
                <a:solidFill>
                  <a:srgbClr val="2179B1"/>
                </a:solidFill>
                <a:latin typeface="微软雅黑" panose="020B0503020204020204" pitchFamily="34" charset="-122"/>
                <a:ea typeface="微软雅黑" panose="020B0503020204020204" pitchFamily="34" charset="-122"/>
                <a:sym typeface="+mn-ea"/>
              </a:rPr>
              <a:t>-</a:t>
            </a:r>
            <a:r>
              <a:rPr lang="zh-CN" altLang="en-US" sz="2000" b="1" dirty="0">
                <a:solidFill>
                  <a:srgbClr val="2179B1"/>
                </a:solidFill>
                <a:latin typeface="微软雅黑" panose="020B0503020204020204" pitchFamily="34" charset="-122"/>
                <a:ea typeface="微软雅黑" panose="020B0503020204020204" pitchFamily="34" charset="-122"/>
                <a:sym typeface="+mn-ea"/>
              </a:rPr>
              <a:t>预警服务中心</a:t>
            </a:r>
            <a:endParaRPr lang="en-US" altLang="zh-CN" sz="2000" b="1" dirty="0">
              <a:solidFill>
                <a:srgbClr val="2179B1"/>
              </a:solidFill>
              <a:latin typeface="微软雅黑" panose="020B0503020204020204" pitchFamily="34" charset="-122"/>
              <a:ea typeface="微软雅黑" panose="020B0503020204020204" pitchFamily="34" charset="-122"/>
            </a:endParaRPr>
          </a:p>
        </p:txBody>
      </p:sp>
      <p:grpSp>
        <p:nvGrpSpPr>
          <p:cNvPr id="2" name="组合 3"/>
          <p:cNvGrpSpPr/>
          <p:nvPr/>
        </p:nvGrpSpPr>
        <p:grpSpPr>
          <a:xfrm>
            <a:off x="4691559" y="1236186"/>
            <a:ext cx="1661509" cy="568883"/>
            <a:chOff x="6359108" y="1516270"/>
            <a:chExt cx="2215345" cy="758511"/>
          </a:xfrm>
        </p:grpSpPr>
        <p:sp>
          <p:nvSpPr>
            <p:cNvPr id="5" name="圆角矩形 6"/>
            <p:cNvSpPr/>
            <p:nvPr/>
          </p:nvSpPr>
          <p:spPr>
            <a:xfrm>
              <a:off x="6425706" y="1516270"/>
              <a:ext cx="2148747" cy="758511"/>
            </a:xfrm>
            <a:prstGeom prst="roundRect">
              <a:avLst>
                <a:gd name="adj" fmla="val 3869"/>
              </a:avLst>
            </a:prstGeom>
            <a:noFill/>
            <a:ln w="19050">
              <a:solidFill>
                <a:srgbClr val="4877AA"/>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zh-CN" altLang="en-US" sz="1050" b="1" dirty="0">
                  <a:solidFill>
                    <a:srgbClr val="FF0000"/>
                  </a:solidFill>
                  <a:latin typeface="微软雅黑" panose="020B0503020204020204" pitchFamily="34" charset="-122"/>
                  <a:ea typeface="微软雅黑" panose="020B0503020204020204" pitchFamily="34" charset="-122"/>
                </a:rPr>
                <a:t>病情预警</a:t>
              </a:r>
            </a:p>
          </p:txBody>
        </p:sp>
        <p:sp>
          <p:nvSpPr>
            <p:cNvPr id="6" name="文本框 5"/>
            <p:cNvSpPr txBox="1"/>
            <p:nvPr/>
          </p:nvSpPr>
          <p:spPr>
            <a:xfrm>
              <a:off x="6359108" y="1912812"/>
              <a:ext cx="2140373" cy="285327"/>
            </a:xfrm>
            <a:prstGeom prst="rect">
              <a:avLst/>
            </a:prstGeom>
            <a:noFill/>
          </p:spPr>
          <p:txBody>
            <a:bodyPr wrap="none" rtlCol="0">
              <a:spAutoFit/>
            </a:bodyPr>
            <a:lstStyle/>
            <a:p>
              <a:pPr algn="ctr"/>
              <a:r>
                <a:rPr lang="zh-CN" altLang="en-US" sz="800" dirty="0">
                  <a:solidFill>
                    <a:srgbClr val="4877AA"/>
                  </a:solidFill>
                </a:rPr>
                <a:t>心率失常、房颤预警、心梗预警</a:t>
              </a:r>
            </a:p>
          </p:txBody>
        </p:sp>
      </p:grpSp>
      <p:grpSp>
        <p:nvGrpSpPr>
          <p:cNvPr id="4" name="组合 6"/>
          <p:cNvGrpSpPr/>
          <p:nvPr/>
        </p:nvGrpSpPr>
        <p:grpSpPr>
          <a:xfrm>
            <a:off x="4751759" y="1878242"/>
            <a:ext cx="1629138" cy="878833"/>
            <a:chOff x="6439376" y="2488949"/>
            <a:chExt cx="2172184" cy="1171777"/>
          </a:xfrm>
        </p:grpSpPr>
        <p:sp>
          <p:nvSpPr>
            <p:cNvPr id="8" name="圆角矩形 6"/>
            <p:cNvSpPr/>
            <p:nvPr/>
          </p:nvSpPr>
          <p:spPr>
            <a:xfrm>
              <a:off x="6439376" y="2488949"/>
              <a:ext cx="2145798" cy="1171777"/>
            </a:xfrm>
            <a:prstGeom prst="roundRect">
              <a:avLst>
                <a:gd name="adj" fmla="val 3869"/>
              </a:avLst>
            </a:prstGeom>
            <a:noFill/>
            <a:ln w="19050">
              <a:solidFill>
                <a:srgbClr val="4877AA"/>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altLang="zh-CN" sz="1050" b="1" dirty="0">
                  <a:solidFill>
                    <a:srgbClr val="FF0000"/>
                  </a:solidFill>
                  <a:latin typeface="微软雅黑" panose="020B0503020204020204" pitchFamily="34" charset="-122"/>
                  <a:ea typeface="微软雅黑" panose="020B0503020204020204" pitchFamily="34" charset="-122"/>
                </a:rPr>
                <a:t>AI</a:t>
              </a:r>
              <a:r>
                <a:rPr lang="zh-CN" altLang="en-US" sz="1050" b="1" dirty="0">
                  <a:solidFill>
                    <a:srgbClr val="FF0000"/>
                  </a:solidFill>
                  <a:uFill>
                    <a:solidFill>
                      <a:srgbClr val="000000"/>
                    </a:solidFill>
                  </a:uFill>
                  <a:latin typeface="微软雅黑" panose="020B0503020204020204" pitchFamily="34" charset="-122"/>
                  <a:ea typeface="微软雅黑" panose="020B0503020204020204" pitchFamily="34" charset="-122"/>
                  <a:cs typeface="Arial" panose="020B0604020202020204" pitchFamily="34" charset="0"/>
                </a:rPr>
                <a:t>危急预警</a:t>
              </a:r>
              <a:endParaRPr lang="en-US" altLang="zh-CN" sz="1050" b="1" dirty="0">
                <a:solidFill>
                  <a:srgbClr val="FF0000"/>
                </a:solidFill>
                <a:latin typeface="微软雅黑" panose="020B0503020204020204" pitchFamily="34" charset="-122"/>
                <a:ea typeface="微软雅黑" panose="020B0503020204020204" pitchFamily="34" charset="-122"/>
              </a:endParaRPr>
            </a:p>
          </p:txBody>
        </p:sp>
        <p:sp>
          <p:nvSpPr>
            <p:cNvPr id="9" name="文本框 8"/>
            <p:cNvSpPr txBox="1"/>
            <p:nvPr/>
          </p:nvSpPr>
          <p:spPr>
            <a:xfrm>
              <a:off x="6532777" y="2727902"/>
              <a:ext cx="2078783" cy="860213"/>
            </a:xfrm>
            <a:prstGeom prst="rect">
              <a:avLst/>
            </a:prstGeom>
            <a:noFill/>
          </p:spPr>
          <p:txBody>
            <a:bodyPr wrap="square" rtlCol="0">
              <a:spAutoFit/>
            </a:bodyPr>
            <a:lstStyle/>
            <a:p>
              <a:pPr>
                <a:lnSpc>
                  <a:spcPct val="150000"/>
                </a:lnSpc>
              </a:pPr>
              <a:r>
                <a:rPr lang="zh-CN" altLang="en-US" sz="800" dirty="0">
                  <a:solidFill>
                    <a:srgbClr val="4877AA"/>
                  </a:solidFill>
                  <a:latin typeface="微软雅黑" panose="020B0503020204020204" pitchFamily="34" charset="-122"/>
                  <a:ea typeface="微软雅黑" panose="020B0503020204020204" pitchFamily="34" charset="-122"/>
                  <a:cs typeface="微软雅黑" panose="020B0503020204020204" pitchFamily="34" charset="-122"/>
                </a:rPr>
                <a:t>常规静态心电</a:t>
              </a:r>
              <a:r>
                <a:rPr lang="en-US" altLang="zh-CN" sz="800" dirty="0">
                  <a:solidFill>
                    <a:srgbClr val="4877AA"/>
                  </a:solidFill>
                  <a:latin typeface="微软雅黑" panose="020B0503020204020204" pitchFamily="34" charset="-122"/>
                  <a:ea typeface="微软雅黑" panose="020B0503020204020204" pitchFamily="34" charset="-122"/>
                  <a:cs typeface="微软雅黑" panose="020B0503020204020204" pitchFamily="34" charset="-122"/>
                </a:rPr>
                <a:t>AI</a:t>
              </a:r>
              <a:r>
                <a:rPr lang="zh-CN" altLang="en-US" sz="800" dirty="0">
                  <a:solidFill>
                    <a:srgbClr val="4877AA"/>
                  </a:solidFill>
                  <a:latin typeface="微软雅黑" panose="020B0503020204020204" pitchFamily="34" charset="-122"/>
                  <a:ea typeface="微软雅黑" panose="020B0503020204020204" pitchFamily="34" charset="-122"/>
                  <a:cs typeface="微软雅黑" panose="020B0503020204020204" pitchFamily="34" charset="-122"/>
                </a:rPr>
                <a:t>预警</a:t>
              </a:r>
              <a:endParaRPr lang="en-US" altLang="zh-CN" sz="800" dirty="0">
                <a:solidFill>
                  <a:srgbClr val="4877AA"/>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r>
                <a:rPr lang="zh-CN" altLang="en-US" sz="800" dirty="0">
                  <a:solidFill>
                    <a:srgbClr val="4877AA"/>
                  </a:solidFill>
                  <a:latin typeface="微软雅黑" panose="020B0503020204020204" pitchFamily="34" charset="-122"/>
                  <a:ea typeface="微软雅黑" panose="020B0503020204020204" pitchFamily="34" charset="-122"/>
                  <a:cs typeface="微软雅黑" panose="020B0503020204020204" pitchFamily="34" charset="-122"/>
                </a:rPr>
                <a:t>单导动态</a:t>
              </a:r>
              <a:r>
                <a:rPr lang="en-US" altLang="zh-CN" sz="800" dirty="0">
                  <a:solidFill>
                    <a:srgbClr val="4877AA"/>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800" dirty="0">
                  <a:solidFill>
                    <a:srgbClr val="4877AA"/>
                  </a:solidFill>
                  <a:latin typeface="微软雅黑" panose="020B0503020204020204" pitchFamily="34" charset="-122"/>
                  <a:ea typeface="微软雅黑" panose="020B0503020204020204" pitchFamily="34" charset="-122"/>
                  <a:cs typeface="微软雅黑" panose="020B0503020204020204" pitchFamily="34" charset="-122"/>
                </a:rPr>
                <a:t>静态心电</a:t>
              </a:r>
              <a:r>
                <a:rPr lang="en-US" altLang="zh-CN" sz="800" dirty="0">
                  <a:solidFill>
                    <a:srgbClr val="4877AA"/>
                  </a:solidFill>
                  <a:latin typeface="微软雅黑" panose="020B0503020204020204" pitchFamily="34" charset="-122"/>
                  <a:ea typeface="微软雅黑" panose="020B0503020204020204" pitchFamily="34" charset="-122"/>
                  <a:cs typeface="微软雅黑" panose="020B0503020204020204" pitchFamily="34" charset="-122"/>
                </a:rPr>
                <a:t>AI</a:t>
              </a:r>
              <a:r>
                <a:rPr lang="zh-CN" altLang="en-US" sz="800" dirty="0">
                  <a:solidFill>
                    <a:srgbClr val="4877AA"/>
                  </a:solidFill>
                  <a:latin typeface="微软雅黑" panose="020B0503020204020204" pitchFamily="34" charset="-122"/>
                  <a:ea typeface="微软雅黑" panose="020B0503020204020204" pitchFamily="34" charset="-122"/>
                  <a:cs typeface="微软雅黑" panose="020B0503020204020204" pitchFamily="34" charset="-122"/>
                </a:rPr>
                <a:t>预警</a:t>
              </a:r>
              <a:endParaRPr lang="en-US" altLang="zh-CN" sz="800" dirty="0">
                <a:solidFill>
                  <a:srgbClr val="4877AA"/>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r>
                <a:rPr lang="zh-CN" altLang="en-US" sz="800" dirty="0">
                  <a:solidFill>
                    <a:srgbClr val="4877AA"/>
                  </a:solidFill>
                  <a:latin typeface="微软雅黑" panose="020B0503020204020204" pitchFamily="34" charset="-122"/>
                  <a:ea typeface="微软雅黑" panose="020B0503020204020204" pitchFamily="34" charset="-122"/>
                  <a:cs typeface="微软雅黑" panose="020B0503020204020204" pitchFamily="34" charset="-122"/>
                </a:rPr>
                <a:t>动态心电</a:t>
              </a:r>
              <a:r>
                <a:rPr lang="en-US" altLang="zh-CN" sz="800" dirty="0">
                  <a:solidFill>
                    <a:srgbClr val="4877AA"/>
                  </a:solidFill>
                  <a:latin typeface="微软雅黑" panose="020B0503020204020204" pitchFamily="34" charset="-122"/>
                  <a:ea typeface="微软雅黑" panose="020B0503020204020204" pitchFamily="34" charset="-122"/>
                  <a:cs typeface="微软雅黑" panose="020B0503020204020204" pitchFamily="34" charset="-122"/>
                </a:rPr>
                <a:t>AI</a:t>
              </a:r>
              <a:r>
                <a:rPr lang="zh-CN" altLang="en-US" sz="800" dirty="0">
                  <a:solidFill>
                    <a:srgbClr val="4877AA"/>
                  </a:solidFill>
                  <a:latin typeface="微软雅黑" panose="020B0503020204020204" pitchFamily="34" charset="-122"/>
                  <a:ea typeface="微软雅黑" panose="020B0503020204020204" pitchFamily="34" charset="-122"/>
                  <a:cs typeface="微软雅黑" panose="020B0503020204020204" pitchFamily="34" charset="-122"/>
                </a:rPr>
                <a:t>预警</a:t>
              </a:r>
            </a:p>
          </p:txBody>
        </p:sp>
      </p:grpSp>
      <p:grpSp>
        <p:nvGrpSpPr>
          <p:cNvPr id="7" name="组合 9"/>
          <p:cNvGrpSpPr/>
          <p:nvPr/>
        </p:nvGrpSpPr>
        <p:grpSpPr>
          <a:xfrm>
            <a:off x="4751760" y="2830248"/>
            <a:ext cx="1611560" cy="654476"/>
            <a:chOff x="6425706" y="1516270"/>
            <a:chExt cx="2148747" cy="872635"/>
          </a:xfrm>
        </p:grpSpPr>
        <p:sp>
          <p:nvSpPr>
            <p:cNvPr id="11" name="圆角矩形 6"/>
            <p:cNvSpPr/>
            <p:nvPr/>
          </p:nvSpPr>
          <p:spPr>
            <a:xfrm>
              <a:off x="6425706" y="1516270"/>
              <a:ext cx="2148747" cy="872635"/>
            </a:xfrm>
            <a:prstGeom prst="roundRect">
              <a:avLst>
                <a:gd name="adj" fmla="val 3869"/>
              </a:avLst>
            </a:prstGeom>
            <a:noFill/>
            <a:ln w="19050">
              <a:solidFill>
                <a:srgbClr val="4877AA"/>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zh-CN" altLang="en-US" sz="1050" b="1" dirty="0">
                  <a:solidFill>
                    <a:srgbClr val="4877AA"/>
                  </a:solidFill>
                  <a:latin typeface="微软雅黑" panose="020B0503020204020204" pitchFamily="34" charset="-122"/>
                  <a:ea typeface="微软雅黑" panose="020B0503020204020204" pitchFamily="34" charset="-122"/>
                </a:rPr>
                <a:t>脱落报警</a:t>
              </a:r>
            </a:p>
          </p:txBody>
        </p:sp>
        <p:sp>
          <p:nvSpPr>
            <p:cNvPr id="12" name="文本框 11"/>
            <p:cNvSpPr txBox="1"/>
            <p:nvPr/>
          </p:nvSpPr>
          <p:spPr>
            <a:xfrm>
              <a:off x="6542138" y="1721141"/>
              <a:ext cx="1704838" cy="613834"/>
            </a:xfrm>
            <a:prstGeom prst="rect">
              <a:avLst/>
            </a:prstGeom>
            <a:noFill/>
          </p:spPr>
          <p:txBody>
            <a:bodyPr wrap="square" rtlCol="0">
              <a:spAutoFit/>
            </a:bodyPr>
            <a:lstStyle/>
            <a:p>
              <a:pPr>
                <a:lnSpc>
                  <a:spcPct val="150000"/>
                </a:lnSpc>
              </a:pPr>
              <a:r>
                <a:rPr lang="zh-CN" altLang="en-US" sz="800" dirty="0">
                  <a:solidFill>
                    <a:srgbClr val="4877AA"/>
                  </a:solidFill>
                </a:rPr>
                <a:t>导联脱落报警</a:t>
              </a:r>
              <a:endParaRPr lang="en-US" altLang="zh-CN" sz="800" dirty="0">
                <a:solidFill>
                  <a:srgbClr val="4877AA"/>
                </a:solidFill>
              </a:endParaRPr>
            </a:p>
            <a:p>
              <a:pPr>
                <a:lnSpc>
                  <a:spcPct val="150000"/>
                </a:lnSpc>
              </a:pPr>
              <a:r>
                <a:rPr lang="zh-CN" altLang="en-US" sz="800" dirty="0">
                  <a:solidFill>
                    <a:srgbClr val="4877AA"/>
                  </a:solidFill>
                </a:rPr>
                <a:t>电极片脱落报警</a:t>
              </a:r>
            </a:p>
          </p:txBody>
        </p:sp>
      </p:grpSp>
      <p:grpSp>
        <p:nvGrpSpPr>
          <p:cNvPr id="10" name="组合 12"/>
          <p:cNvGrpSpPr/>
          <p:nvPr/>
        </p:nvGrpSpPr>
        <p:grpSpPr>
          <a:xfrm>
            <a:off x="4751760" y="3557897"/>
            <a:ext cx="1611560" cy="654476"/>
            <a:chOff x="6425706" y="1516270"/>
            <a:chExt cx="2148747" cy="872635"/>
          </a:xfrm>
        </p:grpSpPr>
        <p:sp>
          <p:nvSpPr>
            <p:cNvPr id="14" name="圆角矩形 6"/>
            <p:cNvSpPr/>
            <p:nvPr/>
          </p:nvSpPr>
          <p:spPr>
            <a:xfrm>
              <a:off x="6425706" y="1516270"/>
              <a:ext cx="2148747" cy="872635"/>
            </a:xfrm>
            <a:prstGeom prst="roundRect">
              <a:avLst>
                <a:gd name="adj" fmla="val 3869"/>
              </a:avLst>
            </a:prstGeom>
            <a:noFill/>
            <a:ln w="19050">
              <a:solidFill>
                <a:srgbClr val="4877AA"/>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zh-CN" altLang="en-US" sz="1050" b="1" dirty="0">
                  <a:solidFill>
                    <a:srgbClr val="4877AA"/>
                  </a:solidFill>
                  <a:latin typeface="微软雅黑" panose="020B0503020204020204" pitchFamily="34" charset="-122"/>
                  <a:ea typeface="微软雅黑" panose="020B0503020204020204" pitchFamily="34" charset="-122"/>
                </a:rPr>
                <a:t>监护预警</a:t>
              </a:r>
            </a:p>
          </p:txBody>
        </p:sp>
        <p:sp>
          <p:nvSpPr>
            <p:cNvPr id="15" name="文本框 14"/>
            <p:cNvSpPr txBox="1"/>
            <p:nvPr/>
          </p:nvSpPr>
          <p:spPr>
            <a:xfrm>
              <a:off x="6542138" y="1731955"/>
              <a:ext cx="1708539" cy="613834"/>
            </a:xfrm>
            <a:prstGeom prst="rect">
              <a:avLst/>
            </a:prstGeom>
            <a:noFill/>
          </p:spPr>
          <p:txBody>
            <a:bodyPr wrap="square" rtlCol="0">
              <a:spAutoFit/>
            </a:bodyPr>
            <a:lstStyle/>
            <a:p>
              <a:pPr>
                <a:lnSpc>
                  <a:spcPct val="150000"/>
                </a:lnSpc>
              </a:pPr>
              <a:r>
                <a:rPr lang="zh-CN" altLang="en-US" sz="800" dirty="0">
                  <a:solidFill>
                    <a:srgbClr val="4877AA"/>
                  </a:solidFill>
                </a:rPr>
                <a:t>红色报警</a:t>
              </a:r>
              <a:r>
                <a:rPr lang="en-US" altLang="zh-CN" sz="800" dirty="0">
                  <a:solidFill>
                    <a:srgbClr val="4877AA"/>
                  </a:solidFill>
                </a:rPr>
                <a:t>    </a:t>
              </a:r>
              <a:r>
                <a:rPr lang="zh-CN" altLang="en-US" sz="800" dirty="0">
                  <a:solidFill>
                    <a:srgbClr val="4877AA"/>
                  </a:solidFill>
                </a:rPr>
                <a:t>黄色报警</a:t>
              </a:r>
              <a:endParaRPr lang="en-US" altLang="zh-CN" sz="800" dirty="0">
                <a:solidFill>
                  <a:srgbClr val="4877AA"/>
                </a:solidFill>
              </a:endParaRPr>
            </a:p>
            <a:p>
              <a:pPr>
                <a:lnSpc>
                  <a:spcPct val="150000"/>
                </a:lnSpc>
              </a:pPr>
              <a:r>
                <a:rPr lang="zh-CN" altLang="en-US" sz="800" dirty="0">
                  <a:solidFill>
                    <a:srgbClr val="4877AA"/>
                  </a:solidFill>
                </a:rPr>
                <a:t>蓝色报警</a:t>
              </a:r>
            </a:p>
          </p:txBody>
        </p:sp>
      </p:grpSp>
      <p:grpSp>
        <p:nvGrpSpPr>
          <p:cNvPr id="13" name="组合 15"/>
          <p:cNvGrpSpPr/>
          <p:nvPr/>
        </p:nvGrpSpPr>
        <p:grpSpPr>
          <a:xfrm>
            <a:off x="4753610" y="4285615"/>
            <a:ext cx="1611630" cy="517525"/>
            <a:chOff x="6425706" y="1516270"/>
            <a:chExt cx="2148747" cy="872635"/>
          </a:xfrm>
        </p:grpSpPr>
        <p:sp>
          <p:nvSpPr>
            <p:cNvPr id="17" name="圆角矩形 6"/>
            <p:cNvSpPr/>
            <p:nvPr/>
          </p:nvSpPr>
          <p:spPr>
            <a:xfrm>
              <a:off x="6425706" y="1516270"/>
              <a:ext cx="2148747" cy="872635"/>
            </a:xfrm>
            <a:prstGeom prst="roundRect">
              <a:avLst>
                <a:gd name="adj" fmla="val 3869"/>
              </a:avLst>
            </a:prstGeom>
            <a:noFill/>
            <a:ln w="19050">
              <a:solidFill>
                <a:srgbClr val="4877AA"/>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zh-CN" altLang="en-US" sz="1050" b="1" dirty="0">
                  <a:solidFill>
                    <a:srgbClr val="4877AA"/>
                  </a:solidFill>
                  <a:latin typeface="微软雅黑" panose="020B0503020204020204" pitchFamily="34" charset="-122"/>
                  <a:ea typeface="微软雅黑" panose="020B0503020204020204" pitchFamily="34" charset="-122"/>
                </a:rPr>
                <a:t>其他预警</a:t>
              </a:r>
            </a:p>
          </p:txBody>
        </p:sp>
        <p:sp>
          <p:nvSpPr>
            <p:cNvPr id="18" name="文本框 17"/>
            <p:cNvSpPr txBox="1"/>
            <p:nvPr/>
          </p:nvSpPr>
          <p:spPr>
            <a:xfrm>
              <a:off x="6841121" y="1864535"/>
              <a:ext cx="1407160" cy="360832"/>
            </a:xfrm>
            <a:prstGeom prst="rect">
              <a:avLst/>
            </a:prstGeom>
            <a:noFill/>
          </p:spPr>
          <p:txBody>
            <a:bodyPr wrap="square" rtlCol="0">
              <a:spAutoFit/>
            </a:bodyPr>
            <a:lstStyle/>
            <a:p>
              <a:r>
                <a:rPr lang="en-US" altLang="zh-CN" sz="800" dirty="0">
                  <a:solidFill>
                    <a:srgbClr val="4877AA"/>
                  </a:solidFill>
                </a:rPr>
                <a:t>SOS</a:t>
              </a:r>
              <a:r>
                <a:rPr lang="zh-CN" altLang="en-US" sz="800" dirty="0">
                  <a:solidFill>
                    <a:srgbClr val="4877AA"/>
                  </a:solidFill>
                </a:rPr>
                <a:t>、低功耗预警等</a:t>
              </a:r>
            </a:p>
          </p:txBody>
        </p:sp>
      </p:grpSp>
      <p:sp>
        <p:nvSpPr>
          <p:cNvPr id="19" name="右箭头 136"/>
          <p:cNvSpPr/>
          <p:nvPr/>
        </p:nvSpPr>
        <p:spPr>
          <a:xfrm>
            <a:off x="4348880" y="1944327"/>
            <a:ext cx="276779" cy="275753"/>
          </a:xfrm>
          <a:prstGeom prst="rightArrow">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nvGrpSpPr>
          <p:cNvPr id="16" name="组合 19"/>
          <p:cNvGrpSpPr/>
          <p:nvPr/>
        </p:nvGrpSpPr>
        <p:grpSpPr>
          <a:xfrm>
            <a:off x="593890" y="1131590"/>
            <a:ext cx="3669383" cy="1665303"/>
            <a:chOff x="3352572" y="2858140"/>
            <a:chExt cx="4805003" cy="2220404"/>
          </a:xfrm>
        </p:grpSpPr>
        <p:grpSp>
          <p:nvGrpSpPr>
            <p:cNvPr id="20" name="组合 20"/>
            <p:cNvGrpSpPr/>
            <p:nvPr/>
          </p:nvGrpSpPr>
          <p:grpSpPr>
            <a:xfrm>
              <a:off x="3352572" y="2858140"/>
              <a:ext cx="4805003" cy="2220404"/>
              <a:chOff x="3525938" y="2858140"/>
              <a:chExt cx="4805003" cy="2220404"/>
            </a:xfrm>
          </p:grpSpPr>
          <p:sp>
            <p:nvSpPr>
              <p:cNvPr id="25" name="圆角矩形 21"/>
              <p:cNvSpPr/>
              <p:nvPr/>
            </p:nvSpPr>
            <p:spPr>
              <a:xfrm>
                <a:off x="3525938" y="2944475"/>
                <a:ext cx="4805003" cy="2134069"/>
              </a:xfrm>
              <a:prstGeom prst="roundRect">
                <a:avLst/>
              </a:prstGeom>
              <a:solidFill>
                <a:srgbClr val="89ADD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p>
            </p:txBody>
          </p:sp>
          <p:pic>
            <p:nvPicPr>
              <p:cNvPr id="26" name="图片 25"/>
              <p:cNvPicPr>
                <a:picLocks noChangeAspect="1"/>
              </p:cNvPicPr>
              <p:nvPr/>
            </p:nvPicPr>
            <p:blipFill>
              <a:blip r:embed="rId2" cstate="print">
                <a:biLevel thresh="50000"/>
                <a:extLst>
                  <a:ext uri="{28A0092B-C50C-407E-A947-70E740481C1C}">
                    <a14:useLocalDpi xmlns:a14="http://schemas.microsoft.com/office/drawing/2010/main" xmlns="" val="0"/>
                  </a:ext>
                </a:extLst>
              </a:blip>
              <a:stretch>
                <a:fillRect/>
              </a:stretch>
            </p:blipFill>
            <p:spPr>
              <a:xfrm>
                <a:off x="3594093" y="2858140"/>
                <a:ext cx="591075" cy="591075"/>
              </a:xfrm>
              <a:prstGeom prst="rect">
                <a:avLst/>
              </a:prstGeom>
            </p:spPr>
          </p:pic>
          <p:sp>
            <p:nvSpPr>
              <p:cNvPr id="27" name="文本框 26"/>
              <p:cNvSpPr txBox="1"/>
              <p:nvPr/>
            </p:nvSpPr>
            <p:spPr>
              <a:xfrm>
                <a:off x="4127861" y="2978980"/>
                <a:ext cx="1586546" cy="398780"/>
              </a:xfrm>
              <a:prstGeom prst="rect">
                <a:avLst/>
              </a:prstGeom>
              <a:noFill/>
            </p:spPr>
            <p:txBody>
              <a:bodyPr wrap="none" rtlCol="0">
                <a:spAutoFit/>
              </a:bodyPr>
              <a:lstStyle/>
              <a:p>
                <a:r>
                  <a:rPr lang="zh-CN" altLang="en-US" sz="1350" dirty="0">
                    <a:solidFill>
                      <a:schemeClr val="bg1"/>
                    </a:solidFill>
                    <a:latin typeface="微软雅黑" panose="020B0503020204020204" pitchFamily="34" charset="-122"/>
                    <a:ea typeface="微软雅黑" panose="020B0503020204020204" pitchFamily="34" charset="-122"/>
                  </a:rPr>
                  <a:t>预警服务中心</a:t>
                </a:r>
              </a:p>
            </p:txBody>
          </p:sp>
          <p:sp>
            <p:nvSpPr>
              <p:cNvPr id="28" name="文本框 27"/>
              <p:cNvSpPr txBox="1"/>
              <p:nvPr/>
            </p:nvSpPr>
            <p:spPr>
              <a:xfrm>
                <a:off x="4322836" y="3537604"/>
                <a:ext cx="947118" cy="338555"/>
              </a:xfrm>
              <a:prstGeom prst="rect">
                <a:avLst/>
              </a:prstGeom>
              <a:noFill/>
            </p:spPr>
            <p:txBody>
              <a:bodyPr wrap="none" rtlCol="0">
                <a:spAutoFit/>
              </a:bodyPr>
              <a:lstStyle/>
              <a:p>
                <a:r>
                  <a:rPr lang="zh-CN" altLang="en-US" sz="1050" dirty="0">
                    <a:solidFill>
                      <a:schemeClr val="bg1"/>
                    </a:solidFill>
                    <a:latin typeface="微软雅黑" panose="020B0503020204020204" pitchFamily="34" charset="-122"/>
                    <a:ea typeface="微软雅黑" panose="020B0503020204020204" pitchFamily="34" charset="-122"/>
                  </a:rPr>
                  <a:t>客服人员</a:t>
                </a:r>
              </a:p>
            </p:txBody>
          </p:sp>
          <p:sp>
            <p:nvSpPr>
              <p:cNvPr id="29" name="文本框 28"/>
              <p:cNvSpPr txBox="1"/>
              <p:nvPr/>
            </p:nvSpPr>
            <p:spPr>
              <a:xfrm>
                <a:off x="4322836" y="4055756"/>
                <a:ext cx="1828743" cy="338555"/>
              </a:xfrm>
              <a:prstGeom prst="rect">
                <a:avLst/>
              </a:prstGeom>
              <a:noFill/>
            </p:spPr>
            <p:txBody>
              <a:bodyPr wrap="none" rtlCol="0">
                <a:spAutoFit/>
              </a:bodyPr>
              <a:lstStyle/>
              <a:p>
                <a:r>
                  <a:rPr lang="zh-CN" altLang="en-US" sz="1050" dirty="0">
                    <a:solidFill>
                      <a:schemeClr val="bg1"/>
                    </a:solidFill>
                    <a:latin typeface="微软雅黑" panose="020B0503020204020204" pitchFamily="34" charset="-122"/>
                    <a:ea typeface="微软雅黑" panose="020B0503020204020204" pitchFamily="34" charset="-122"/>
                  </a:rPr>
                  <a:t>心电云平台预警业务</a:t>
                </a:r>
              </a:p>
            </p:txBody>
          </p:sp>
          <p:sp>
            <p:nvSpPr>
              <p:cNvPr id="30" name="文本框 29"/>
              <p:cNvSpPr txBox="1"/>
              <p:nvPr/>
            </p:nvSpPr>
            <p:spPr>
              <a:xfrm>
                <a:off x="4322836" y="4559975"/>
                <a:ext cx="1299768" cy="338555"/>
              </a:xfrm>
              <a:prstGeom prst="rect">
                <a:avLst/>
              </a:prstGeom>
              <a:noFill/>
            </p:spPr>
            <p:txBody>
              <a:bodyPr wrap="none" rtlCol="0">
                <a:spAutoFit/>
              </a:bodyPr>
              <a:lstStyle/>
              <a:p>
                <a:r>
                  <a:rPr lang="zh-CN" altLang="en-US" sz="1050" dirty="0">
                    <a:solidFill>
                      <a:schemeClr val="bg1"/>
                    </a:solidFill>
                    <a:latin typeface="微软雅黑" panose="020B0503020204020204" pitchFamily="34" charset="-122"/>
                    <a:ea typeface="微软雅黑" panose="020B0503020204020204" pitchFamily="34" charset="-122"/>
                  </a:rPr>
                  <a:t>预警坐席平台</a:t>
                </a:r>
              </a:p>
            </p:txBody>
          </p:sp>
        </p:grpSp>
        <p:pic>
          <p:nvPicPr>
            <p:cNvPr id="22" name="图片 21"/>
            <p:cNvPicPr>
              <a:picLocks noChangeAspect="1"/>
            </p:cNvPicPr>
            <p:nvPr/>
          </p:nvPicPr>
          <p:blipFill>
            <a:blip r:embed="rId3" cstate="print">
              <a:biLevel thresh="50000"/>
              <a:extLst>
                <a:ext uri="{28A0092B-C50C-407E-A947-70E740481C1C}">
                  <a14:useLocalDpi xmlns:a14="http://schemas.microsoft.com/office/drawing/2010/main" xmlns="" val="0"/>
                </a:ext>
              </a:extLst>
            </a:blip>
            <a:stretch>
              <a:fillRect/>
            </a:stretch>
          </p:blipFill>
          <p:spPr>
            <a:xfrm>
              <a:off x="3699218" y="3490900"/>
              <a:ext cx="351609" cy="351609"/>
            </a:xfrm>
            <a:prstGeom prst="rect">
              <a:avLst/>
            </a:prstGeom>
          </p:spPr>
        </p:pic>
        <p:pic>
          <p:nvPicPr>
            <p:cNvPr id="23" name="图片 22"/>
            <p:cNvPicPr>
              <a:picLocks noChangeAspect="1"/>
            </p:cNvPicPr>
            <p:nvPr/>
          </p:nvPicPr>
          <p:blipFill>
            <a:blip r:embed="rId4" cstate="print">
              <a:biLevel thresh="50000"/>
              <a:extLst>
                <a:ext uri="{28A0092B-C50C-407E-A947-70E740481C1C}">
                  <a14:useLocalDpi xmlns:a14="http://schemas.microsoft.com/office/drawing/2010/main" xmlns="" val="0"/>
                </a:ext>
              </a:extLst>
            </a:blip>
            <a:stretch>
              <a:fillRect/>
            </a:stretch>
          </p:blipFill>
          <p:spPr>
            <a:xfrm>
              <a:off x="3716264" y="3989550"/>
              <a:ext cx="365670" cy="365670"/>
            </a:xfrm>
            <a:prstGeom prst="rect">
              <a:avLst/>
            </a:prstGeom>
          </p:spPr>
        </p:pic>
        <p:pic>
          <p:nvPicPr>
            <p:cNvPr id="24" name="图片 23"/>
            <p:cNvPicPr>
              <a:picLocks noChangeAspect="1"/>
            </p:cNvPicPr>
            <p:nvPr/>
          </p:nvPicPr>
          <p:blipFill>
            <a:blip r:embed="rId5" cstate="print">
              <a:biLevel thresh="50000"/>
              <a:extLst>
                <a:ext uri="{28A0092B-C50C-407E-A947-70E740481C1C}">
                  <a14:useLocalDpi xmlns:a14="http://schemas.microsoft.com/office/drawing/2010/main" xmlns="" val="0"/>
                </a:ext>
              </a:extLst>
            </a:blip>
            <a:stretch>
              <a:fillRect/>
            </a:stretch>
          </p:blipFill>
          <p:spPr>
            <a:xfrm>
              <a:off x="3719366" y="4487097"/>
              <a:ext cx="380655" cy="380655"/>
            </a:xfrm>
            <a:prstGeom prst="rect">
              <a:avLst/>
            </a:prstGeom>
          </p:spPr>
        </p:pic>
      </p:grpSp>
      <p:grpSp>
        <p:nvGrpSpPr>
          <p:cNvPr id="21" name="组合 30"/>
          <p:cNvGrpSpPr/>
          <p:nvPr/>
        </p:nvGrpSpPr>
        <p:grpSpPr>
          <a:xfrm>
            <a:off x="659521" y="3223517"/>
            <a:ext cx="3603752" cy="1696743"/>
            <a:chOff x="3525939" y="2944475"/>
            <a:chExt cx="2573964" cy="2262324"/>
          </a:xfrm>
        </p:grpSpPr>
        <p:sp>
          <p:nvSpPr>
            <p:cNvPr id="32" name="圆角矩形 84"/>
            <p:cNvSpPr/>
            <p:nvPr/>
          </p:nvSpPr>
          <p:spPr>
            <a:xfrm>
              <a:off x="3525939" y="2944475"/>
              <a:ext cx="2573964" cy="2262324"/>
            </a:xfrm>
            <a:prstGeom prst="roundRect">
              <a:avLst>
                <a:gd name="adj" fmla="val 5624"/>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p>
          </p:txBody>
        </p:sp>
        <p:sp>
          <p:nvSpPr>
            <p:cNvPr id="33" name="文本框 32"/>
            <p:cNvSpPr txBox="1"/>
            <p:nvPr/>
          </p:nvSpPr>
          <p:spPr>
            <a:xfrm>
              <a:off x="4384384" y="2973136"/>
              <a:ext cx="873817" cy="400109"/>
            </a:xfrm>
            <a:prstGeom prst="rect">
              <a:avLst/>
            </a:prstGeom>
            <a:noFill/>
          </p:spPr>
          <p:txBody>
            <a:bodyPr wrap="none" rtlCol="0">
              <a:spAutoFit/>
            </a:bodyPr>
            <a:lstStyle/>
            <a:p>
              <a:pPr algn="ctr"/>
              <a:r>
                <a:rPr lang="zh-CN" altLang="en-US" sz="1350" dirty="0">
                  <a:solidFill>
                    <a:srgbClr val="4877AA"/>
                  </a:solidFill>
                  <a:latin typeface="微软雅黑" panose="020B0503020204020204" pitchFamily="34" charset="-122"/>
                  <a:ea typeface="微软雅黑" panose="020B0503020204020204" pitchFamily="34" charset="-122"/>
                </a:rPr>
                <a:t>预警坐席平台</a:t>
              </a:r>
            </a:p>
          </p:txBody>
        </p:sp>
      </p:grpSp>
      <p:grpSp>
        <p:nvGrpSpPr>
          <p:cNvPr id="31" name="组合 33"/>
          <p:cNvGrpSpPr/>
          <p:nvPr/>
        </p:nvGrpSpPr>
        <p:grpSpPr>
          <a:xfrm>
            <a:off x="4703065" y="914601"/>
            <a:ext cx="1703741" cy="4019279"/>
            <a:chOff x="6270754" y="1183163"/>
            <a:chExt cx="2271654" cy="5359039"/>
          </a:xfrm>
        </p:grpSpPr>
        <p:sp>
          <p:nvSpPr>
            <p:cNvPr id="35" name="圆角矩形 110"/>
            <p:cNvSpPr/>
            <p:nvPr/>
          </p:nvSpPr>
          <p:spPr>
            <a:xfrm>
              <a:off x="6270754" y="1222402"/>
              <a:ext cx="2271654" cy="5319800"/>
            </a:xfrm>
            <a:prstGeom prst="roundRect">
              <a:avLst>
                <a:gd name="adj" fmla="val 7796"/>
              </a:avLst>
            </a:prstGeom>
            <a:noFill/>
            <a:ln w="19050">
              <a:solidFill>
                <a:srgbClr val="4877AA"/>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36" name="文本框 35"/>
            <p:cNvSpPr txBox="1"/>
            <p:nvPr/>
          </p:nvSpPr>
          <p:spPr>
            <a:xfrm>
              <a:off x="6804137" y="1183163"/>
              <a:ext cx="1192106" cy="408940"/>
            </a:xfrm>
            <a:prstGeom prst="rect">
              <a:avLst/>
            </a:prstGeom>
            <a:noFill/>
          </p:spPr>
          <p:txBody>
            <a:bodyPr wrap="none" rtlCol="0">
              <a:spAutoFit/>
            </a:bodyPr>
            <a:lstStyle/>
            <a:p>
              <a:r>
                <a:rPr lang="zh-CN" altLang="en-US" sz="1400" b="1" dirty="0">
                  <a:solidFill>
                    <a:srgbClr val="4877AA"/>
                  </a:solidFill>
                  <a:latin typeface="微软雅黑" panose="020B0503020204020204" pitchFamily="34" charset="-122"/>
                  <a:ea typeface="微软雅黑" panose="020B0503020204020204" pitchFamily="34" charset="-122"/>
                </a:rPr>
                <a:t>预警业务</a:t>
              </a:r>
            </a:p>
          </p:txBody>
        </p:sp>
      </p:grpSp>
      <p:sp>
        <p:nvSpPr>
          <p:cNvPr id="37" name="圆角矩形 11"/>
          <p:cNvSpPr/>
          <p:nvPr/>
        </p:nvSpPr>
        <p:spPr>
          <a:xfrm>
            <a:off x="717051" y="3683775"/>
            <a:ext cx="628849" cy="21380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600" dirty="0"/>
              <a:t>电话客服</a:t>
            </a:r>
          </a:p>
        </p:txBody>
      </p:sp>
      <p:sp>
        <p:nvSpPr>
          <p:cNvPr id="38" name="圆角矩形 112"/>
          <p:cNvSpPr/>
          <p:nvPr/>
        </p:nvSpPr>
        <p:spPr>
          <a:xfrm>
            <a:off x="3601132" y="3692308"/>
            <a:ext cx="628849" cy="21380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600" dirty="0"/>
              <a:t>APP</a:t>
            </a:r>
            <a:r>
              <a:rPr lang="zh-CN" altLang="en-US" sz="600" dirty="0"/>
              <a:t>客服</a:t>
            </a:r>
          </a:p>
        </p:txBody>
      </p:sp>
      <p:sp>
        <p:nvSpPr>
          <p:cNvPr id="39" name="圆角矩形 115"/>
          <p:cNvSpPr/>
          <p:nvPr/>
        </p:nvSpPr>
        <p:spPr>
          <a:xfrm>
            <a:off x="2883301" y="3692308"/>
            <a:ext cx="628849" cy="21380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600" dirty="0"/>
              <a:t>微信客服</a:t>
            </a:r>
          </a:p>
        </p:txBody>
      </p:sp>
      <p:sp>
        <p:nvSpPr>
          <p:cNvPr id="40" name="圆角矩形 116"/>
          <p:cNvSpPr/>
          <p:nvPr/>
        </p:nvSpPr>
        <p:spPr>
          <a:xfrm>
            <a:off x="2161824" y="3692308"/>
            <a:ext cx="628849" cy="21380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600" dirty="0"/>
              <a:t>Web</a:t>
            </a:r>
            <a:r>
              <a:rPr lang="zh-CN" altLang="en-US" sz="600" dirty="0"/>
              <a:t>在线客服</a:t>
            </a:r>
          </a:p>
        </p:txBody>
      </p:sp>
      <p:sp>
        <p:nvSpPr>
          <p:cNvPr id="41" name="圆角矩形 117"/>
          <p:cNvSpPr/>
          <p:nvPr/>
        </p:nvSpPr>
        <p:spPr>
          <a:xfrm>
            <a:off x="1369571" y="3683775"/>
            <a:ext cx="737887" cy="213809"/>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600" dirty="0">
                <a:solidFill>
                  <a:srgbClr val="4877AA"/>
                </a:solidFill>
              </a:rPr>
              <a:t>互联网客服</a:t>
            </a:r>
          </a:p>
        </p:txBody>
      </p:sp>
      <p:sp>
        <p:nvSpPr>
          <p:cNvPr id="42" name="圆角矩形 13"/>
          <p:cNvSpPr/>
          <p:nvPr/>
        </p:nvSpPr>
        <p:spPr>
          <a:xfrm>
            <a:off x="1412264" y="3642236"/>
            <a:ext cx="2829840" cy="316812"/>
          </a:xfrm>
          <a:prstGeom prst="round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600"/>
          </a:p>
        </p:txBody>
      </p:sp>
      <p:sp>
        <p:nvSpPr>
          <p:cNvPr id="43" name="圆角矩形 118"/>
          <p:cNvSpPr/>
          <p:nvPr/>
        </p:nvSpPr>
        <p:spPr>
          <a:xfrm>
            <a:off x="710637" y="4139029"/>
            <a:ext cx="628849" cy="21380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600" dirty="0"/>
              <a:t>ACD</a:t>
            </a:r>
            <a:r>
              <a:rPr lang="zh-CN" altLang="en-US" sz="600" dirty="0"/>
              <a:t>排队</a:t>
            </a:r>
          </a:p>
        </p:txBody>
      </p:sp>
      <p:sp>
        <p:nvSpPr>
          <p:cNvPr id="44" name="圆角矩形 119"/>
          <p:cNvSpPr/>
          <p:nvPr/>
        </p:nvSpPr>
        <p:spPr>
          <a:xfrm>
            <a:off x="1434858" y="4139029"/>
            <a:ext cx="628849" cy="21380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600" dirty="0"/>
              <a:t>知识库</a:t>
            </a:r>
          </a:p>
        </p:txBody>
      </p:sp>
      <p:sp>
        <p:nvSpPr>
          <p:cNvPr id="45" name="圆角矩形 120"/>
          <p:cNvSpPr/>
          <p:nvPr/>
        </p:nvSpPr>
        <p:spPr>
          <a:xfrm>
            <a:off x="2159080" y="4139029"/>
            <a:ext cx="628849" cy="21380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600" dirty="0"/>
              <a:t>视频教学</a:t>
            </a:r>
          </a:p>
        </p:txBody>
      </p:sp>
      <p:sp>
        <p:nvSpPr>
          <p:cNvPr id="46" name="圆角矩形 121"/>
          <p:cNvSpPr/>
          <p:nvPr/>
        </p:nvSpPr>
        <p:spPr>
          <a:xfrm>
            <a:off x="2883302" y="4139029"/>
            <a:ext cx="628849" cy="21380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600" dirty="0"/>
              <a:t>业务培训</a:t>
            </a:r>
          </a:p>
        </p:txBody>
      </p:sp>
      <p:sp>
        <p:nvSpPr>
          <p:cNvPr id="47" name="圆角矩形 122"/>
          <p:cNvSpPr/>
          <p:nvPr/>
        </p:nvSpPr>
        <p:spPr>
          <a:xfrm>
            <a:off x="3607524" y="4139029"/>
            <a:ext cx="628849" cy="21380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600" dirty="0"/>
              <a:t>医生教育</a:t>
            </a:r>
          </a:p>
        </p:txBody>
      </p:sp>
      <p:sp>
        <p:nvSpPr>
          <p:cNvPr id="48" name="圆角矩形 133"/>
          <p:cNvSpPr/>
          <p:nvPr/>
        </p:nvSpPr>
        <p:spPr>
          <a:xfrm>
            <a:off x="712452" y="4499432"/>
            <a:ext cx="628849" cy="21380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600" dirty="0"/>
              <a:t>信息弹屏</a:t>
            </a:r>
          </a:p>
        </p:txBody>
      </p:sp>
      <p:sp>
        <p:nvSpPr>
          <p:cNvPr id="49" name="圆角矩形 135"/>
          <p:cNvSpPr/>
          <p:nvPr/>
        </p:nvSpPr>
        <p:spPr>
          <a:xfrm>
            <a:off x="1436556" y="4499432"/>
            <a:ext cx="628849" cy="21380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600" dirty="0"/>
              <a:t>售后维护</a:t>
            </a:r>
          </a:p>
        </p:txBody>
      </p:sp>
      <p:sp>
        <p:nvSpPr>
          <p:cNvPr id="50" name="圆角矩形 141"/>
          <p:cNvSpPr/>
          <p:nvPr/>
        </p:nvSpPr>
        <p:spPr>
          <a:xfrm>
            <a:off x="2160661" y="4499432"/>
            <a:ext cx="628849" cy="21380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600" dirty="0"/>
              <a:t>定期回访</a:t>
            </a:r>
          </a:p>
        </p:txBody>
      </p:sp>
      <p:sp>
        <p:nvSpPr>
          <p:cNvPr id="51" name="圆角矩形 142"/>
          <p:cNvSpPr/>
          <p:nvPr/>
        </p:nvSpPr>
        <p:spPr>
          <a:xfrm>
            <a:off x="2884766" y="4499432"/>
            <a:ext cx="628849" cy="21380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600" dirty="0"/>
              <a:t>历史记录</a:t>
            </a:r>
          </a:p>
        </p:txBody>
      </p:sp>
      <p:sp>
        <p:nvSpPr>
          <p:cNvPr id="52" name="圆角矩形 143"/>
          <p:cNvSpPr/>
          <p:nvPr/>
        </p:nvSpPr>
        <p:spPr>
          <a:xfrm>
            <a:off x="3608872" y="4499432"/>
            <a:ext cx="628849" cy="21380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600" dirty="0"/>
              <a:t>定位监控</a:t>
            </a:r>
          </a:p>
        </p:txBody>
      </p:sp>
      <p:sp>
        <p:nvSpPr>
          <p:cNvPr id="53" name="右箭头 144"/>
          <p:cNvSpPr/>
          <p:nvPr/>
        </p:nvSpPr>
        <p:spPr>
          <a:xfrm rot="5400000">
            <a:off x="2472605" y="2872330"/>
            <a:ext cx="276779" cy="275753"/>
          </a:xfrm>
          <a:prstGeom prst="rightArrow">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nvGrpSpPr>
          <p:cNvPr id="34" name="组合 53"/>
          <p:cNvGrpSpPr/>
          <p:nvPr/>
        </p:nvGrpSpPr>
        <p:grpSpPr>
          <a:xfrm>
            <a:off x="6553835" y="1318260"/>
            <a:ext cx="2432050" cy="3392170"/>
            <a:chOff x="8642668" y="2136241"/>
            <a:chExt cx="3336129" cy="4040801"/>
          </a:xfrm>
        </p:grpSpPr>
        <p:sp>
          <p:nvSpPr>
            <p:cNvPr id="55" name="圆角矩形 59"/>
            <p:cNvSpPr/>
            <p:nvPr/>
          </p:nvSpPr>
          <p:spPr>
            <a:xfrm>
              <a:off x="8642668" y="2136241"/>
              <a:ext cx="3336129" cy="4040801"/>
            </a:xfrm>
            <a:prstGeom prst="roundRect">
              <a:avLst>
                <a:gd name="adj" fmla="val 8536"/>
              </a:avLst>
            </a:prstGeom>
            <a:solidFill>
              <a:schemeClr val="bg1"/>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56" name="矩形 55"/>
            <p:cNvSpPr/>
            <p:nvPr/>
          </p:nvSpPr>
          <p:spPr>
            <a:xfrm>
              <a:off x="8745875" y="2181126"/>
              <a:ext cx="3129713" cy="3820682"/>
            </a:xfrm>
            <a:prstGeom prst="rect">
              <a:avLst/>
            </a:prstGeom>
          </p:spPr>
          <p:txBody>
            <a:bodyPr wrap="square">
              <a:spAutoFit/>
            </a:bodyPr>
            <a:lstStyle/>
            <a:p>
              <a:pPr marL="257175" indent="-257175" algn="just">
                <a:lnSpc>
                  <a:spcPct val="150000"/>
                </a:lnSpc>
                <a:buSzPts val="1200"/>
                <a:buFont typeface="Wingdings" panose="05000000000000000000" pitchFamily="2" charset="2"/>
                <a:buChar char="u"/>
              </a:pPr>
              <a:r>
                <a:rPr lang="zh-CN" altLang="en-US" sz="900" dirty="0">
                  <a:solidFill>
                    <a:srgbClr val="4877AA"/>
                  </a:solidFill>
                  <a:uFill>
                    <a:solidFill>
                      <a:srgbClr val="000000"/>
                    </a:solidFill>
                  </a:uFill>
                  <a:latin typeface="微软雅黑" panose="020B0503020204020204" pitchFamily="34" charset="-122"/>
                  <a:ea typeface="微软雅黑" panose="020B0503020204020204" pitchFamily="34" charset="-122"/>
                  <a:cs typeface="Arial" panose="020B0604020202020204" pitchFamily="34" charset="0"/>
                </a:rPr>
                <a:t>区域心电网络支持预警中心服务，支持动态心电</a:t>
              </a:r>
              <a:r>
                <a:rPr lang="en-US" altLang="zh-CN" sz="900" dirty="0">
                  <a:solidFill>
                    <a:srgbClr val="4877AA"/>
                  </a:solidFill>
                  <a:uFill>
                    <a:solidFill>
                      <a:srgbClr val="000000"/>
                    </a:solidFill>
                  </a:uFill>
                  <a:latin typeface="微软雅黑" panose="020B0503020204020204" pitchFamily="34" charset="-122"/>
                  <a:ea typeface="微软雅黑" panose="020B0503020204020204" pitchFamily="34" charset="-122"/>
                  <a:cs typeface="Arial" panose="020B0604020202020204" pitchFamily="34" charset="0"/>
                </a:rPr>
                <a:t>/</a:t>
              </a:r>
              <a:r>
                <a:rPr lang="zh-CN" altLang="en-US" sz="900" dirty="0">
                  <a:solidFill>
                    <a:srgbClr val="4877AA"/>
                  </a:solidFill>
                  <a:uFill>
                    <a:solidFill>
                      <a:srgbClr val="000000"/>
                    </a:solidFill>
                  </a:uFill>
                  <a:latin typeface="微软雅黑" panose="020B0503020204020204" pitchFamily="34" charset="-122"/>
                  <a:ea typeface="微软雅黑" panose="020B0503020204020204" pitchFamily="34" charset="-122"/>
                  <a:cs typeface="Arial" panose="020B0604020202020204" pitchFamily="34" charset="0"/>
                </a:rPr>
                <a:t>心电监护同时开单，预警中心提醒医生有病情预警、</a:t>
              </a:r>
              <a:r>
                <a:rPr lang="en-US" altLang="zh-CN" sz="900" dirty="0">
                  <a:solidFill>
                    <a:srgbClr val="4877AA"/>
                  </a:solidFill>
                  <a:uFill>
                    <a:solidFill>
                      <a:srgbClr val="000000"/>
                    </a:solidFill>
                  </a:uFill>
                  <a:latin typeface="微软雅黑" panose="020B0503020204020204" pitchFamily="34" charset="-122"/>
                  <a:ea typeface="微软雅黑" panose="020B0503020204020204" pitchFamily="34" charset="-122"/>
                  <a:cs typeface="Arial" panose="020B0604020202020204" pitchFamily="34" charset="0"/>
                </a:rPr>
                <a:t>AI</a:t>
              </a:r>
              <a:r>
                <a:rPr lang="zh-CN" altLang="en-US" sz="900" dirty="0">
                  <a:solidFill>
                    <a:srgbClr val="4877AA"/>
                  </a:solidFill>
                  <a:uFill>
                    <a:solidFill>
                      <a:srgbClr val="000000"/>
                    </a:solidFill>
                  </a:uFill>
                  <a:latin typeface="微软雅黑" panose="020B0503020204020204" pitchFamily="34" charset="-122"/>
                  <a:ea typeface="微软雅黑" panose="020B0503020204020204" pitchFamily="34" charset="-122"/>
                  <a:cs typeface="Arial" panose="020B0604020202020204" pitchFamily="34" charset="0"/>
                </a:rPr>
                <a:t>危急预警、导联脱落、心电监护、</a:t>
              </a:r>
              <a:r>
                <a:rPr lang="en-US" altLang="zh-CN" sz="900" dirty="0" err="1">
                  <a:solidFill>
                    <a:srgbClr val="4877AA"/>
                  </a:solidFill>
                  <a:uFill>
                    <a:solidFill>
                      <a:srgbClr val="000000"/>
                    </a:solidFill>
                  </a:uFill>
                  <a:latin typeface="微软雅黑" panose="020B0503020204020204" pitchFamily="34" charset="-122"/>
                  <a:ea typeface="微软雅黑" panose="020B0503020204020204" pitchFamily="34" charset="-122"/>
                  <a:cs typeface="Arial" panose="020B0604020202020204" pitchFamily="34" charset="0"/>
                </a:rPr>
                <a:t>sos</a:t>
              </a:r>
              <a:r>
                <a:rPr lang="zh-CN" altLang="en-US" sz="900" dirty="0">
                  <a:solidFill>
                    <a:srgbClr val="4877AA"/>
                  </a:solidFill>
                  <a:uFill>
                    <a:solidFill>
                      <a:srgbClr val="000000"/>
                    </a:solidFill>
                  </a:uFill>
                  <a:latin typeface="微软雅黑" panose="020B0503020204020204" pitchFamily="34" charset="-122"/>
                  <a:ea typeface="微软雅黑" panose="020B0503020204020204" pitchFamily="34" charset="-122"/>
                  <a:cs typeface="Arial" panose="020B0604020202020204" pitchFamily="34" charset="0"/>
                </a:rPr>
                <a:t>、低功耗等预警</a:t>
              </a:r>
              <a:endParaRPr lang="en-US" altLang="zh-CN" sz="900" dirty="0">
                <a:solidFill>
                  <a:srgbClr val="4877AA"/>
                </a:solidFill>
                <a:uFill>
                  <a:solidFill>
                    <a:srgbClr val="000000"/>
                  </a:solidFill>
                </a:uFill>
                <a:latin typeface="微软雅黑" panose="020B0503020204020204" pitchFamily="34" charset="-122"/>
                <a:ea typeface="微软雅黑" panose="020B0503020204020204" pitchFamily="34" charset="-122"/>
                <a:cs typeface="Arial" panose="020B0604020202020204" pitchFamily="34" charset="0"/>
              </a:endParaRPr>
            </a:p>
            <a:p>
              <a:pPr marL="257175" indent="-257175" algn="just">
                <a:lnSpc>
                  <a:spcPct val="150000"/>
                </a:lnSpc>
                <a:buSzPts val="1200"/>
                <a:buFont typeface="Wingdings" panose="05000000000000000000" pitchFamily="2" charset="2"/>
                <a:buChar char="u"/>
              </a:pPr>
              <a:r>
                <a:rPr lang="zh-CN" altLang="en-US" sz="900" dirty="0">
                  <a:solidFill>
                    <a:srgbClr val="4877AA"/>
                  </a:solidFill>
                  <a:uFill>
                    <a:solidFill>
                      <a:srgbClr val="000000"/>
                    </a:solidFill>
                  </a:uFill>
                  <a:latin typeface="微软雅黑" panose="020B0503020204020204" pitchFamily="34" charset="-122"/>
                  <a:ea typeface="微软雅黑" panose="020B0503020204020204" pitchFamily="34" charset="-122"/>
                  <a:cs typeface="Arial" panose="020B0604020202020204" pitchFamily="34" charset="0"/>
                </a:rPr>
                <a:t>预警坐席平台同时可与心电云平台业务深度结合，查看心电解读历史记录，查看所属设备位置、忙闲、使用频率等</a:t>
              </a:r>
              <a:endParaRPr lang="en-US" altLang="zh-CN" sz="900" dirty="0">
                <a:solidFill>
                  <a:srgbClr val="4877AA"/>
                </a:solidFill>
                <a:uFill>
                  <a:solidFill>
                    <a:srgbClr val="000000"/>
                  </a:solidFill>
                </a:uFill>
                <a:latin typeface="微软雅黑" panose="020B0503020204020204" pitchFamily="34" charset="-122"/>
                <a:ea typeface="微软雅黑" panose="020B0503020204020204" pitchFamily="34" charset="-122"/>
                <a:cs typeface="Arial" panose="020B0604020202020204" pitchFamily="34" charset="0"/>
              </a:endParaRPr>
            </a:p>
            <a:p>
              <a:pPr marL="257175" indent="-257175" algn="just">
                <a:lnSpc>
                  <a:spcPct val="150000"/>
                </a:lnSpc>
                <a:buSzPts val="1200"/>
                <a:buFont typeface="Wingdings" panose="05000000000000000000" pitchFamily="2" charset="2"/>
                <a:buChar char="u"/>
              </a:pPr>
              <a:r>
                <a:rPr lang="zh-CN" altLang="en-US" sz="900" dirty="0">
                  <a:solidFill>
                    <a:srgbClr val="4877AA"/>
                  </a:solidFill>
                  <a:uFill>
                    <a:solidFill>
                      <a:srgbClr val="000000"/>
                    </a:solidFill>
                  </a:uFill>
                  <a:latin typeface="微软雅黑" panose="020B0503020204020204" pitchFamily="34" charset="-122"/>
                  <a:ea typeface="微软雅黑" panose="020B0503020204020204" pitchFamily="34" charset="-122"/>
                  <a:cs typeface="Arial" panose="020B0604020202020204" pitchFamily="34" charset="0"/>
                </a:rPr>
                <a:t>预警坐席平台支持定期回访，完善设备、平台功能，促进设备</a:t>
              </a:r>
              <a:r>
                <a:rPr lang="en-US" altLang="zh-CN" sz="900" dirty="0">
                  <a:solidFill>
                    <a:srgbClr val="4877AA"/>
                  </a:solidFill>
                  <a:uFill>
                    <a:solidFill>
                      <a:srgbClr val="000000"/>
                    </a:solidFill>
                  </a:uFill>
                  <a:latin typeface="微软雅黑" panose="020B0503020204020204" pitchFamily="34" charset="-122"/>
                  <a:ea typeface="微软雅黑" panose="020B0503020204020204" pitchFamily="34" charset="-122"/>
                  <a:cs typeface="Arial" panose="020B0604020202020204" pitchFamily="34" charset="0"/>
                </a:rPr>
                <a:t>/</a:t>
              </a:r>
              <a:r>
                <a:rPr lang="zh-CN" altLang="en-US" sz="900" dirty="0">
                  <a:solidFill>
                    <a:srgbClr val="4877AA"/>
                  </a:solidFill>
                  <a:uFill>
                    <a:solidFill>
                      <a:srgbClr val="000000"/>
                    </a:solidFill>
                  </a:uFill>
                  <a:latin typeface="微软雅黑" panose="020B0503020204020204" pitchFamily="34" charset="-122"/>
                  <a:ea typeface="微软雅黑" panose="020B0503020204020204" pitchFamily="34" charset="-122"/>
                  <a:cs typeface="Arial" panose="020B0604020202020204" pitchFamily="34" charset="0"/>
                </a:rPr>
                <a:t>平台售卖</a:t>
              </a:r>
              <a:r>
                <a:rPr lang="en-US" altLang="zh-CN" sz="900" dirty="0">
                  <a:solidFill>
                    <a:srgbClr val="4877AA"/>
                  </a:solidFill>
                  <a:uFill>
                    <a:solidFill>
                      <a:srgbClr val="000000"/>
                    </a:solidFill>
                  </a:uFill>
                  <a:latin typeface="微软雅黑" panose="020B0503020204020204" pitchFamily="34" charset="-122"/>
                  <a:ea typeface="微软雅黑" panose="020B0503020204020204" pitchFamily="34" charset="-122"/>
                  <a:cs typeface="Arial" panose="020B0604020202020204" pitchFamily="34" charset="0"/>
                </a:rPr>
                <a:t>/</a:t>
              </a:r>
              <a:r>
                <a:rPr lang="zh-CN" altLang="en-US" sz="900" dirty="0">
                  <a:solidFill>
                    <a:srgbClr val="4877AA"/>
                  </a:solidFill>
                  <a:uFill>
                    <a:solidFill>
                      <a:srgbClr val="000000"/>
                    </a:solidFill>
                  </a:uFill>
                  <a:latin typeface="微软雅黑" panose="020B0503020204020204" pitchFamily="34" charset="-122"/>
                  <a:ea typeface="微软雅黑" panose="020B0503020204020204" pitchFamily="34" charset="-122"/>
                  <a:cs typeface="Arial" panose="020B0604020202020204" pitchFamily="34" charset="0"/>
                </a:rPr>
                <a:t>投放服务能力的提升</a:t>
              </a:r>
              <a:endParaRPr lang="en-US" altLang="zh-CN" sz="900" dirty="0">
                <a:solidFill>
                  <a:srgbClr val="4877AA"/>
                </a:solidFill>
                <a:uFill>
                  <a:solidFill>
                    <a:srgbClr val="000000"/>
                  </a:solidFill>
                </a:uFill>
                <a:latin typeface="微软雅黑" panose="020B0503020204020204" pitchFamily="34" charset="-122"/>
                <a:ea typeface="微软雅黑" panose="020B0503020204020204" pitchFamily="34" charset="-122"/>
                <a:cs typeface="Arial" panose="020B0604020202020204" pitchFamily="34" charset="0"/>
              </a:endParaRPr>
            </a:p>
            <a:p>
              <a:pPr marL="257175" indent="-257175" algn="just">
                <a:lnSpc>
                  <a:spcPct val="150000"/>
                </a:lnSpc>
                <a:buSzPts val="1200"/>
                <a:buFont typeface="Wingdings" panose="05000000000000000000" pitchFamily="2" charset="2"/>
                <a:buChar char="u"/>
              </a:pPr>
              <a:r>
                <a:rPr lang="zh-CN" altLang="en-US" sz="900" dirty="0">
                  <a:solidFill>
                    <a:srgbClr val="4877AA"/>
                  </a:solidFill>
                  <a:uFill>
                    <a:solidFill>
                      <a:srgbClr val="000000"/>
                    </a:solidFill>
                  </a:uFill>
                  <a:latin typeface="微软雅黑" panose="020B0503020204020204" pitchFamily="34" charset="-122"/>
                  <a:ea typeface="微软雅黑" panose="020B0503020204020204" pitchFamily="34" charset="-122"/>
                  <a:cs typeface="Arial" panose="020B0604020202020204" pitchFamily="34" charset="0"/>
                </a:rPr>
                <a:t>预警坐席平台支持业务流程培训，医生分析软件培训，促进医生业务能力的增长</a:t>
              </a:r>
              <a:endParaRPr lang="en-US" altLang="zh-CN" sz="900" dirty="0">
                <a:solidFill>
                  <a:srgbClr val="4877AA"/>
                </a:solidFill>
                <a:uFill>
                  <a:solidFill>
                    <a:srgbClr val="000000"/>
                  </a:solidFill>
                </a:uFill>
                <a:latin typeface="微软雅黑" panose="020B0503020204020204" pitchFamily="34" charset="-122"/>
                <a:ea typeface="微软雅黑" panose="020B0503020204020204" pitchFamily="34" charset="-122"/>
                <a:cs typeface="Arial" panose="020B0604020202020204" pitchFamily="34" charset="0"/>
              </a:endParaRPr>
            </a:p>
          </p:txBody>
        </p:sp>
      </p:gr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95848" y="165039"/>
            <a:ext cx="7915628" cy="523843"/>
          </a:xfrm>
          <a:prstGeom prst="rect">
            <a:avLst/>
          </a:prstGeom>
          <a:noFill/>
        </p:spPr>
        <p:txBody>
          <a:bodyPr wrap="square" lIns="68580" tIns="34290" rIns="68580" bIns="34290" rtlCol="0" anchor="ctr">
            <a:noAutofit/>
          </a:bodyPr>
          <a:lstStyle/>
          <a:p>
            <a:pPr defTabSz="879475">
              <a:lnSpc>
                <a:spcPts val="6075"/>
              </a:lnSpc>
              <a:spcBef>
                <a:spcPct val="0"/>
              </a:spcBef>
              <a:buClrTx/>
              <a:buSzTx/>
            </a:pPr>
            <a:r>
              <a:rPr lang="zh-CN" altLang="en-US" sz="2000" b="1" dirty="0">
                <a:solidFill>
                  <a:srgbClr val="2179B1"/>
                </a:solidFill>
                <a:latin typeface="微软雅黑" panose="020B0503020204020204" pitchFamily="34" charset="-122"/>
                <a:ea typeface="微软雅黑" panose="020B0503020204020204" pitchFamily="34" charset="-122"/>
                <a:sym typeface="+mn-ea"/>
              </a:rPr>
              <a:t>平台亮点</a:t>
            </a:r>
            <a:r>
              <a:rPr lang="en-US" altLang="zh-CN" sz="2000" b="1" dirty="0">
                <a:solidFill>
                  <a:srgbClr val="2179B1"/>
                </a:solidFill>
                <a:latin typeface="微软雅黑" panose="020B0503020204020204" pitchFamily="34" charset="-122"/>
                <a:ea typeface="微软雅黑" panose="020B0503020204020204" pitchFamily="34" charset="-122"/>
                <a:sym typeface="+mn-ea"/>
              </a:rPr>
              <a:t>-</a:t>
            </a:r>
            <a:r>
              <a:rPr lang="zh-CN" altLang="en-US" sz="2000" b="1" dirty="0">
                <a:solidFill>
                  <a:srgbClr val="2179B1"/>
                </a:solidFill>
                <a:latin typeface="微软雅黑" panose="020B0503020204020204" pitchFamily="34" charset="-122"/>
                <a:ea typeface="微软雅黑" panose="020B0503020204020204" pitchFamily="34" charset="-122"/>
                <a:sym typeface="+mn-ea"/>
              </a:rPr>
              <a:t>数据质控</a:t>
            </a:r>
            <a:endParaRPr lang="en-US" altLang="zh-CN" sz="2000" b="1" dirty="0">
              <a:solidFill>
                <a:srgbClr val="2179B1"/>
              </a:solidFill>
              <a:latin typeface="微软雅黑" panose="020B0503020204020204" pitchFamily="34" charset="-122"/>
              <a:ea typeface="微软雅黑" panose="020B0503020204020204" pitchFamily="34" charset="-122"/>
            </a:endParaRPr>
          </a:p>
        </p:txBody>
      </p:sp>
      <p:sp>
        <p:nvSpPr>
          <p:cNvPr id="4" name="等腰三角形 3"/>
          <p:cNvSpPr/>
          <p:nvPr/>
        </p:nvSpPr>
        <p:spPr>
          <a:xfrm>
            <a:off x="1506008" y="1223353"/>
            <a:ext cx="5834327" cy="3810547"/>
          </a:xfrm>
          <a:prstGeom prst="triangle">
            <a:avLst/>
          </a:prstGeom>
          <a:solidFill>
            <a:schemeClr val="accent4">
              <a:lumMod val="60000"/>
              <a:lumOff val="40000"/>
              <a:alpha val="39000"/>
            </a:schemeClr>
          </a:solidFill>
          <a:ln w="12700" cap="rnd">
            <a:solidFill>
              <a:schemeClr val="bg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5" name="等腰三角形 12"/>
          <p:cNvSpPr/>
          <p:nvPr/>
        </p:nvSpPr>
        <p:spPr>
          <a:xfrm>
            <a:off x="2760045" y="2194436"/>
            <a:ext cx="3467733" cy="2497108"/>
          </a:xfrm>
          <a:custGeom>
            <a:avLst/>
            <a:gdLst>
              <a:gd name="connsiteX0" fmla="*/ 9829 w 4699132"/>
              <a:gd name="connsiteY0" fmla="*/ 3962487 h 4070610"/>
              <a:gd name="connsiteX1" fmla="*/ 2287285 w 4699132"/>
              <a:gd name="connsiteY1" fmla="*/ 35839 h 4070610"/>
              <a:gd name="connsiteX2" fmla="*/ 2411849 w 4699132"/>
              <a:gd name="connsiteY2" fmla="*/ 35839 h 4070610"/>
              <a:gd name="connsiteX3" fmla="*/ 4689304 w 4699132"/>
              <a:gd name="connsiteY3" fmla="*/ 3962487 h 4070610"/>
              <a:gd name="connsiteX4" fmla="*/ 4627022 w 4699132"/>
              <a:gd name="connsiteY4" fmla="*/ 4070610 h 4070610"/>
              <a:gd name="connsiteX5" fmla="*/ 72111 w 4699132"/>
              <a:gd name="connsiteY5" fmla="*/ 4070610 h 4070610"/>
              <a:gd name="connsiteX6" fmla="*/ 9829 w 4699132"/>
              <a:gd name="connsiteY6" fmla="*/ 3962487 h 4070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99132" h="4070610">
                <a:moveTo>
                  <a:pt x="9829" y="3962487"/>
                </a:moveTo>
                <a:lnTo>
                  <a:pt x="2287285" y="35839"/>
                </a:lnTo>
                <a:cubicBezTo>
                  <a:pt x="2315001" y="-11946"/>
                  <a:pt x="2384133" y="-11946"/>
                  <a:pt x="2411849" y="35839"/>
                </a:cubicBezTo>
                <a:lnTo>
                  <a:pt x="4689304" y="3962487"/>
                </a:lnTo>
                <a:cubicBezTo>
                  <a:pt x="4717148" y="4010493"/>
                  <a:pt x="4682519" y="4070610"/>
                  <a:pt x="4627022" y="4070610"/>
                </a:cubicBezTo>
                <a:lnTo>
                  <a:pt x="72111" y="4070610"/>
                </a:lnTo>
                <a:cubicBezTo>
                  <a:pt x="16614" y="4070610"/>
                  <a:pt x="-18015" y="4010493"/>
                  <a:pt x="9829" y="3962487"/>
                </a:cubicBezTo>
              </a:path>
            </a:pathLst>
          </a:custGeom>
          <a:gradFill flip="none" rotWithShape="1">
            <a:gsLst>
              <a:gs pos="0">
                <a:schemeClr val="bg1">
                  <a:alpha val="0"/>
                </a:schemeClr>
              </a:gs>
              <a:gs pos="100000">
                <a:schemeClr val="bg1"/>
              </a:gs>
            </a:gsLst>
            <a:lin ang="5400000" scaled="1"/>
            <a:tileRect/>
          </a:gradFill>
          <a:ln w="12700" cap="rnd">
            <a:no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nvGrpSpPr>
          <p:cNvPr id="2" name="组合 5"/>
          <p:cNvGrpSpPr/>
          <p:nvPr/>
        </p:nvGrpSpPr>
        <p:grpSpPr>
          <a:xfrm>
            <a:off x="3378847" y="2785615"/>
            <a:ext cx="2243312" cy="1612976"/>
            <a:chOff x="4568797" y="2352166"/>
            <a:chExt cx="3054406" cy="2637760"/>
          </a:xfrm>
          <a:effectLst>
            <a:outerShdw blurRad="292100" dist="139700" dir="5400000" sx="98000" sy="98000" algn="t" rotWithShape="0">
              <a:schemeClr val="accent1">
                <a:alpha val="40000"/>
              </a:schemeClr>
            </a:outerShdw>
          </a:effectLst>
        </p:grpSpPr>
        <p:sp>
          <p:nvSpPr>
            <p:cNvPr id="7" name="任意多边形: 形状 6"/>
            <p:cNvSpPr/>
            <p:nvPr/>
          </p:nvSpPr>
          <p:spPr>
            <a:xfrm rot="16200000">
              <a:off x="4442079" y="2480912"/>
              <a:ext cx="2635732" cy="2382295"/>
            </a:xfrm>
            <a:custGeom>
              <a:avLst/>
              <a:gdLst>
                <a:gd name="connsiteX0" fmla="*/ 447596 w 3214779"/>
                <a:gd name="connsiteY0" fmla="*/ 0 h 2905665"/>
                <a:gd name="connsiteX1" fmla="*/ 3222198 w 3214779"/>
                <a:gd name="connsiteY1" fmla="*/ 1601207 h 2905665"/>
                <a:gd name="connsiteX2" fmla="*/ 919922 w 3214779"/>
                <a:gd name="connsiteY2" fmla="*/ 2916794 h 2905665"/>
                <a:gd name="connsiteX3" fmla="*/ 917449 w 3214779"/>
                <a:gd name="connsiteY3" fmla="*/ 2402429 h 2905665"/>
                <a:gd name="connsiteX4" fmla="*/ 2297331 w 3214779"/>
                <a:gd name="connsiteY4" fmla="*/ 1616045 h 2905665"/>
                <a:gd name="connsiteX5" fmla="*/ 0 w 3214779"/>
                <a:gd name="connsiteY5" fmla="*/ 275729 h 29056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14779" h="2905665">
                  <a:moveTo>
                    <a:pt x="447596" y="0"/>
                  </a:moveTo>
                  <a:lnTo>
                    <a:pt x="3222198" y="1601207"/>
                  </a:lnTo>
                  <a:lnTo>
                    <a:pt x="919922" y="2916794"/>
                  </a:lnTo>
                  <a:lnTo>
                    <a:pt x="917449" y="2402429"/>
                  </a:lnTo>
                  <a:lnTo>
                    <a:pt x="2297331" y="1616045"/>
                  </a:lnTo>
                  <a:lnTo>
                    <a:pt x="0" y="275729"/>
                  </a:lnTo>
                  <a:close/>
                </a:path>
              </a:pathLst>
            </a:custGeom>
            <a:gradFill flip="none" rotWithShape="1">
              <a:gsLst>
                <a:gs pos="0">
                  <a:schemeClr val="accent1">
                    <a:lumMod val="40000"/>
                    <a:lumOff val="60000"/>
                  </a:schemeClr>
                </a:gs>
                <a:gs pos="74000">
                  <a:schemeClr val="accent1"/>
                </a:gs>
              </a:gsLst>
              <a:lin ang="13500000" scaled="1"/>
              <a:tileRect/>
            </a:gradFill>
            <a:ln w="6350" cap="flat">
              <a:noFill/>
              <a:prstDash val="solid"/>
              <a:miter/>
            </a:ln>
          </p:spPr>
          <p:txBody>
            <a:bodyPr rtlCol="0" anchor="ctr"/>
            <a:lstStyle/>
            <a:p>
              <a:endParaRPr lang="zh-CN" altLang="en-US" sz="1350">
                <a:solidFill>
                  <a:srgbClr val="89DAF4"/>
                </a:solidFill>
              </a:endParaRPr>
            </a:p>
          </p:txBody>
        </p:sp>
        <p:sp>
          <p:nvSpPr>
            <p:cNvPr id="8" name="任意多边形: 形状 7"/>
            <p:cNvSpPr/>
            <p:nvPr/>
          </p:nvSpPr>
          <p:spPr>
            <a:xfrm rot="16200000">
              <a:off x="5271319" y="2636454"/>
              <a:ext cx="1875426" cy="2828342"/>
            </a:xfrm>
            <a:custGeom>
              <a:avLst/>
              <a:gdLst>
                <a:gd name="connsiteX0" fmla="*/ 1236 w 2287439"/>
                <a:gd name="connsiteY0" fmla="*/ 3203651 h 3449705"/>
                <a:gd name="connsiteX1" fmla="*/ 0 w 2287439"/>
                <a:gd name="connsiteY1" fmla="*/ 0 h 3449705"/>
                <a:gd name="connsiteX2" fmla="*/ 2297331 w 2287439"/>
                <a:gd name="connsiteY2" fmla="*/ 1340316 h 3449705"/>
                <a:gd name="connsiteX3" fmla="*/ 1844789 w 2287439"/>
                <a:gd name="connsiteY3" fmla="*/ 1597498 h 3449705"/>
                <a:gd name="connsiteX4" fmla="*/ 474798 w 2287439"/>
                <a:gd name="connsiteY4" fmla="*/ 792567 h 3449705"/>
                <a:gd name="connsiteX5" fmla="*/ 472325 w 2287439"/>
                <a:gd name="connsiteY5" fmla="*/ 3450942 h 3449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87439" h="3449705">
                  <a:moveTo>
                    <a:pt x="1236" y="3203651"/>
                  </a:moveTo>
                  <a:lnTo>
                    <a:pt x="0" y="0"/>
                  </a:lnTo>
                  <a:lnTo>
                    <a:pt x="2297331" y="1340316"/>
                  </a:lnTo>
                  <a:lnTo>
                    <a:pt x="1844789" y="1597498"/>
                  </a:lnTo>
                  <a:lnTo>
                    <a:pt x="474798" y="792567"/>
                  </a:lnTo>
                  <a:lnTo>
                    <a:pt x="472325" y="3450942"/>
                  </a:lnTo>
                  <a:close/>
                </a:path>
              </a:pathLst>
            </a:custGeom>
            <a:gradFill>
              <a:gsLst>
                <a:gs pos="100000">
                  <a:schemeClr val="accent1"/>
                </a:gs>
                <a:gs pos="0">
                  <a:schemeClr val="accent1">
                    <a:lumMod val="75000"/>
                  </a:schemeClr>
                </a:gs>
              </a:gsLst>
              <a:lin ang="0" scaled="1"/>
            </a:gradFill>
            <a:ln w="6350" cap="flat">
              <a:noFill/>
              <a:prstDash val="solid"/>
              <a:miter/>
            </a:ln>
          </p:spPr>
          <p:txBody>
            <a:bodyPr rot="0" spcFirstLastPara="0" vertOverflow="overflow" horzOverflow="overflow" vert="horz" wrap="square" lIns="68580" tIns="34290" rIns="68580" bIns="34290" numCol="1" spcCol="0" rtlCol="0" fromWordArt="0" anchor="ctr" anchorCtr="0" forceAA="0" compatLnSpc="1">
              <a:noAutofit/>
            </a:bodyPr>
            <a:lstStyle/>
            <a:p>
              <a:endParaRPr lang="zh-CN" altLang="en-US" sz="1350">
                <a:solidFill>
                  <a:srgbClr val="89DAF4"/>
                </a:solidFill>
              </a:endParaRPr>
            </a:p>
          </p:txBody>
        </p:sp>
        <p:sp>
          <p:nvSpPr>
            <p:cNvPr id="9" name="任意多边形: 形状 9"/>
            <p:cNvSpPr/>
            <p:nvPr/>
          </p:nvSpPr>
          <p:spPr>
            <a:xfrm rot="16200000">
              <a:off x="5403545" y="2392717"/>
              <a:ext cx="2250511" cy="2169409"/>
            </a:xfrm>
            <a:custGeom>
              <a:avLst/>
              <a:gdLst>
                <a:gd name="connsiteX0" fmla="*/ 2749873 w 2744927"/>
                <a:gd name="connsiteY0" fmla="*/ 1065823 h 2646010"/>
                <a:gd name="connsiteX1" fmla="*/ 0 w 2744927"/>
                <a:gd name="connsiteY1" fmla="*/ 2657139 h 2646010"/>
                <a:gd name="connsiteX2" fmla="*/ 3709 w 2744927"/>
                <a:gd name="connsiteY2" fmla="*/ 0 h 2646010"/>
                <a:gd name="connsiteX3" fmla="*/ 456251 w 2744927"/>
                <a:gd name="connsiteY3" fmla="*/ 260892 h 2646010"/>
                <a:gd name="connsiteX4" fmla="*/ 447596 w 2744927"/>
                <a:gd name="connsiteY4" fmla="*/ 1847261 h 2646010"/>
                <a:gd name="connsiteX5" fmla="*/ 2749873 w 2744927"/>
                <a:gd name="connsiteY5" fmla="*/ 531675 h 2646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44927" h="2646010">
                  <a:moveTo>
                    <a:pt x="2749873" y="1065823"/>
                  </a:moveTo>
                  <a:lnTo>
                    <a:pt x="0" y="2657139"/>
                  </a:lnTo>
                  <a:lnTo>
                    <a:pt x="3709" y="0"/>
                  </a:lnTo>
                  <a:lnTo>
                    <a:pt x="456251" y="260892"/>
                  </a:lnTo>
                  <a:lnTo>
                    <a:pt x="447596" y="1847261"/>
                  </a:lnTo>
                  <a:lnTo>
                    <a:pt x="2749873" y="531675"/>
                  </a:lnTo>
                  <a:close/>
                </a:path>
              </a:pathLst>
            </a:custGeom>
            <a:gradFill>
              <a:gsLst>
                <a:gs pos="100000">
                  <a:schemeClr val="accent1">
                    <a:lumMod val="85000"/>
                    <a:lumOff val="15000"/>
                  </a:schemeClr>
                </a:gs>
                <a:gs pos="0">
                  <a:schemeClr val="accent1"/>
                </a:gs>
              </a:gsLst>
              <a:lin ang="4800000" scaled="0"/>
            </a:gradFill>
            <a:ln w="6350" cap="flat">
              <a:noFill/>
              <a:prstDash val="solid"/>
              <a:miter/>
            </a:ln>
          </p:spPr>
          <p:txBody>
            <a:bodyPr rot="0" spcFirstLastPara="0" vertOverflow="overflow" horzOverflow="overflow" vert="horz" wrap="square" lIns="68580" tIns="34290" rIns="68580" bIns="34290" numCol="1" spcCol="0" rtlCol="0" fromWordArt="0" anchor="ctr" anchorCtr="0" forceAA="0" compatLnSpc="1">
              <a:noAutofit/>
            </a:bodyPr>
            <a:lstStyle/>
            <a:p>
              <a:endParaRPr lang="zh-CN" altLang="en-US" sz="1350">
                <a:solidFill>
                  <a:srgbClr val="89DAF4"/>
                </a:solidFill>
              </a:endParaRPr>
            </a:p>
          </p:txBody>
        </p:sp>
      </p:grpSp>
      <p:sp>
        <p:nvSpPr>
          <p:cNvPr id="10" name="文本框 9"/>
          <p:cNvSpPr txBox="1"/>
          <p:nvPr/>
        </p:nvSpPr>
        <p:spPr>
          <a:xfrm>
            <a:off x="3029224" y="1721615"/>
            <a:ext cx="3547631" cy="898836"/>
          </a:xfrm>
          <a:prstGeom prst="rect">
            <a:avLst/>
          </a:prstGeom>
          <a:noFill/>
        </p:spPr>
        <p:txBody>
          <a:bodyPr wrap="square" rtlCol="0">
            <a:spAutoFit/>
          </a:bodyPr>
          <a:lstStyle/>
          <a:p>
            <a:pPr marL="128905" indent="-128905">
              <a:lnSpc>
                <a:spcPct val="150000"/>
              </a:lnSpc>
              <a:buFont typeface="Arial" panose="020B0604020202020204" pitchFamily="34" charset="0"/>
              <a:buChar char="•"/>
            </a:pPr>
            <a:r>
              <a:rPr lang="zh-CN" altLang="en-US" sz="900" dirty="0">
                <a:latin typeface="微软雅黑" panose="020B0503020204020204" pitchFamily="34" charset="-122"/>
                <a:ea typeface="微软雅黑" panose="020B0503020204020204" pitchFamily="34" charset="-122"/>
              </a:rPr>
              <a:t>高质量、精标注、病种覆盖全面的海量心电数据库</a:t>
            </a:r>
          </a:p>
          <a:p>
            <a:pPr marL="128905" indent="-128905">
              <a:lnSpc>
                <a:spcPct val="150000"/>
              </a:lnSpc>
              <a:buFont typeface="Arial" panose="020B0604020202020204" pitchFamily="34" charset="0"/>
              <a:buChar char="•"/>
            </a:pPr>
            <a:r>
              <a:rPr lang="zh-CN" altLang="en-US" sz="900" dirty="0">
                <a:latin typeface="微软雅黑" panose="020B0503020204020204" pitchFamily="34" charset="-122"/>
                <a:ea typeface="微软雅黑" panose="020B0503020204020204" pitchFamily="34" charset="-122"/>
              </a:rPr>
              <a:t>领先的</a:t>
            </a:r>
            <a:r>
              <a:rPr lang="en-US" altLang="zh-CN" sz="900" dirty="0">
                <a:latin typeface="微软雅黑" panose="020B0503020204020204" pitchFamily="34" charset="-122"/>
                <a:ea typeface="微软雅黑" panose="020B0503020204020204" pitchFamily="34" charset="-122"/>
              </a:rPr>
              <a:t>AI</a:t>
            </a:r>
            <a:r>
              <a:rPr lang="zh-CN" altLang="en-US" sz="900" dirty="0">
                <a:latin typeface="微软雅黑" panose="020B0503020204020204" pitchFamily="34" charset="-122"/>
                <a:ea typeface="微软雅黑" panose="020B0503020204020204" pitchFamily="34" charset="-122"/>
              </a:rPr>
              <a:t>心电算法</a:t>
            </a:r>
          </a:p>
          <a:p>
            <a:pPr marL="128905" indent="-128905">
              <a:lnSpc>
                <a:spcPct val="150000"/>
              </a:lnSpc>
              <a:buFont typeface="Arial" panose="020B0604020202020204" pitchFamily="34" charset="0"/>
              <a:buChar char="•"/>
            </a:pPr>
            <a:r>
              <a:rPr lang="zh-CN" altLang="en-US" sz="900" dirty="0">
                <a:latin typeface="微软雅黑" panose="020B0503020204020204" pitchFamily="34" charset="-122"/>
                <a:ea typeface="微软雅黑" panose="020B0503020204020204" pitchFamily="34" charset="-122"/>
              </a:rPr>
              <a:t>适合</a:t>
            </a:r>
            <a:r>
              <a:rPr lang="en-US" altLang="zh-CN" sz="900" dirty="0">
                <a:latin typeface="微软雅黑" panose="020B0503020204020204" pitchFamily="34" charset="-122"/>
                <a:ea typeface="微软雅黑" panose="020B0503020204020204" pitchFamily="34" charset="-122"/>
              </a:rPr>
              <a:t>C</a:t>
            </a:r>
            <a:r>
              <a:rPr lang="zh-CN" altLang="en-US" sz="900" dirty="0">
                <a:latin typeface="微软雅黑" panose="020B0503020204020204" pitchFamily="34" charset="-122"/>
                <a:ea typeface="微软雅黑" panose="020B0503020204020204" pitchFamily="34" charset="-122"/>
              </a:rPr>
              <a:t>端用户复杂使用场景下造成各种类型干扰的</a:t>
            </a:r>
            <a:r>
              <a:rPr lang="en-US" altLang="zh-CN" sz="900" dirty="0">
                <a:latin typeface="微软雅黑" panose="020B0503020204020204" pitchFamily="34" charset="-122"/>
                <a:ea typeface="微软雅黑" panose="020B0503020204020204" pitchFamily="34" charset="-122"/>
              </a:rPr>
              <a:t>AI</a:t>
            </a:r>
            <a:r>
              <a:rPr lang="zh-CN" altLang="en-US" sz="900" dirty="0">
                <a:latin typeface="微软雅黑" panose="020B0503020204020204" pitchFamily="34" charset="-122"/>
                <a:ea typeface="微软雅黑" panose="020B0503020204020204" pitchFamily="34" charset="-122"/>
              </a:rPr>
              <a:t>算法优化</a:t>
            </a:r>
          </a:p>
          <a:p>
            <a:pPr marL="128905" indent="-128905">
              <a:lnSpc>
                <a:spcPct val="150000"/>
              </a:lnSpc>
              <a:buFont typeface="Arial" panose="020B0604020202020204" pitchFamily="34" charset="0"/>
              <a:buChar char="•"/>
            </a:pPr>
            <a:r>
              <a:rPr lang="zh-CN" altLang="en-US" sz="900" dirty="0">
                <a:latin typeface="微软雅黑" panose="020B0503020204020204" pitchFamily="34" charset="-122"/>
                <a:ea typeface="微软雅黑" panose="020B0503020204020204" pitchFamily="34" charset="-122"/>
              </a:rPr>
              <a:t>中国顶级心电专家（</a:t>
            </a:r>
            <a:r>
              <a:rPr lang="en-US" altLang="zh-CN" sz="900" dirty="0">
                <a:latin typeface="微软雅黑" panose="020B0503020204020204" pitchFamily="34" charset="-122"/>
                <a:ea typeface="微软雅黑" panose="020B0503020204020204" pitchFamily="34" charset="-122"/>
              </a:rPr>
              <a:t>301</a:t>
            </a:r>
            <a:r>
              <a:rPr lang="zh-CN" altLang="en-US" sz="900" dirty="0">
                <a:latin typeface="微软雅黑" panose="020B0503020204020204" pitchFamily="34" charset="-122"/>
                <a:ea typeface="微软雅黑" panose="020B0503020204020204" pitchFamily="34" charset="-122"/>
              </a:rPr>
              <a:t>医院卢喜烈主任）持续指导与支持</a:t>
            </a:r>
          </a:p>
        </p:txBody>
      </p:sp>
      <p:sp>
        <p:nvSpPr>
          <p:cNvPr id="11" name="文本框 10"/>
          <p:cNvSpPr txBox="1"/>
          <p:nvPr/>
        </p:nvSpPr>
        <p:spPr>
          <a:xfrm>
            <a:off x="6451972" y="3088419"/>
            <a:ext cx="2692028" cy="1937582"/>
          </a:xfrm>
          <a:prstGeom prst="rect">
            <a:avLst/>
          </a:prstGeom>
          <a:noFill/>
        </p:spPr>
        <p:txBody>
          <a:bodyPr wrap="square" rtlCol="0">
            <a:spAutoFit/>
          </a:bodyPr>
          <a:lstStyle/>
          <a:p>
            <a:pPr marL="214630" indent="-214630">
              <a:lnSpc>
                <a:spcPct val="150000"/>
              </a:lnSpc>
              <a:buFont typeface="Arial" panose="020B0604020202020204" pitchFamily="34" charset="0"/>
              <a:buChar char="•"/>
            </a:pPr>
            <a:r>
              <a:rPr lang="zh-CN" altLang="en-US" sz="900" dirty="0">
                <a:latin typeface="微软雅黑" panose="020B0503020204020204" pitchFamily="34" charset="-122"/>
                <a:ea typeface="微软雅黑" panose="020B0503020204020204" pitchFamily="34" charset="-122"/>
              </a:rPr>
              <a:t>平台集成算法</a:t>
            </a:r>
            <a:endParaRPr lang="en-US" altLang="zh-CN" sz="900" dirty="0">
              <a:latin typeface="微软雅黑" panose="020B0503020204020204" pitchFamily="34" charset="-122"/>
              <a:ea typeface="微软雅黑" panose="020B0503020204020204" pitchFamily="34" charset="-122"/>
            </a:endParaRPr>
          </a:p>
          <a:p>
            <a:pPr marL="214630" indent="-214630">
              <a:lnSpc>
                <a:spcPct val="150000"/>
              </a:lnSpc>
              <a:buFont typeface="Arial" panose="020B0604020202020204" pitchFamily="34" charset="0"/>
              <a:buChar char="•"/>
            </a:pPr>
            <a:r>
              <a:rPr lang="zh-CN" altLang="en-US" sz="900" dirty="0">
                <a:latin typeface="微软雅黑" panose="020B0503020204020204" pitchFamily="34" charset="-122"/>
                <a:ea typeface="微软雅黑" panose="020B0503020204020204" pitchFamily="34" charset="-122"/>
              </a:rPr>
              <a:t>数据验证，比较数据与预期结果或标准，检查数据是否符合预先设定的规则和条件</a:t>
            </a:r>
            <a:endParaRPr lang="en-US" altLang="zh-CN" sz="900" dirty="0">
              <a:latin typeface="微软雅黑" panose="020B0503020204020204" pitchFamily="34" charset="-122"/>
              <a:ea typeface="微软雅黑" panose="020B0503020204020204" pitchFamily="34" charset="-122"/>
            </a:endParaRPr>
          </a:p>
          <a:p>
            <a:pPr marL="214630" indent="-214630">
              <a:lnSpc>
                <a:spcPct val="150000"/>
              </a:lnSpc>
              <a:buFont typeface="Arial" panose="020B0604020202020204" pitchFamily="34" charset="0"/>
              <a:buChar char="•"/>
            </a:pPr>
            <a:r>
              <a:rPr lang="zh-CN" altLang="en-US" sz="900" dirty="0">
                <a:latin typeface="微软雅黑" panose="020B0503020204020204" pitchFamily="34" charset="-122"/>
                <a:ea typeface="微软雅黑" panose="020B0503020204020204" pitchFamily="34" charset="-122"/>
              </a:rPr>
              <a:t>算法检测数据中的异常值，并根据业务逻辑确定是否需要进行处理</a:t>
            </a:r>
            <a:endParaRPr lang="en-US" altLang="zh-CN" sz="900" dirty="0">
              <a:latin typeface="微软雅黑" panose="020B0503020204020204" pitchFamily="34" charset="-122"/>
              <a:ea typeface="微软雅黑" panose="020B0503020204020204" pitchFamily="34" charset="-122"/>
            </a:endParaRPr>
          </a:p>
          <a:p>
            <a:pPr marL="214630" indent="-214630">
              <a:lnSpc>
                <a:spcPct val="150000"/>
              </a:lnSpc>
              <a:buFont typeface="Arial" panose="020B0604020202020204" pitchFamily="34" charset="0"/>
              <a:buChar char="•"/>
            </a:pPr>
            <a:r>
              <a:rPr lang="zh-CN" altLang="en-US" sz="900" dirty="0">
                <a:latin typeface="微软雅黑" panose="020B0503020204020204" pitchFamily="34" charset="-122"/>
                <a:ea typeface="微软雅黑" panose="020B0503020204020204" pitchFamily="34" charset="-122"/>
              </a:rPr>
              <a:t>数据清洗：清理数据中的错误、不一致或无效的内容，确保数据的质量和可信度</a:t>
            </a:r>
            <a:endParaRPr lang="en-US" altLang="zh-CN" sz="900" dirty="0">
              <a:latin typeface="微软雅黑" panose="020B0503020204020204" pitchFamily="34" charset="-122"/>
              <a:ea typeface="微软雅黑" panose="020B0503020204020204" pitchFamily="34" charset="-122"/>
            </a:endParaRPr>
          </a:p>
          <a:p>
            <a:pPr marL="214630" indent="-214630">
              <a:lnSpc>
                <a:spcPct val="150000"/>
              </a:lnSpc>
              <a:buFont typeface="Arial" panose="020B0604020202020204" pitchFamily="34" charset="0"/>
              <a:buChar char="•"/>
            </a:pPr>
            <a:r>
              <a:rPr lang="zh-CN" altLang="en-US" sz="900" dirty="0">
                <a:latin typeface="微软雅黑" panose="020B0503020204020204" pitchFamily="34" charset="-122"/>
                <a:ea typeface="微软雅黑" panose="020B0503020204020204" pitchFamily="34" charset="-122"/>
              </a:rPr>
              <a:t>数据标准化：数据质控为统一标准的格式、规则等</a:t>
            </a:r>
            <a:endParaRPr lang="en-US" altLang="zh-CN" sz="900" dirty="0">
              <a:latin typeface="微软雅黑" panose="020B0503020204020204" pitchFamily="34" charset="-122"/>
              <a:ea typeface="微软雅黑" panose="020B0503020204020204" pitchFamily="34" charset="-122"/>
            </a:endParaRPr>
          </a:p>
        </p:txBody>
      </p:sp>
      <p:sp>
        <p:nvSpPr>
          <p:cNvPr id="12" name="文本框 11"/>
          <p:cNvSpPr txBox="1"/>
          <p:nvPr/>
        </p:nvSpPr>
        <p:spPr>
          <a:xfrm>
            <a:off x="549559" y="3088419"/>
            <a:ext cx="2560937" cy="1937582"/>
          </a:xfrm>
          <a:prstGeom prst="rect">
            <a:avLst/>
          </a:prstGeom>
          <a:noFill/>
        </p:spPr>
        <p:txBody>
          <a:bodyPr wrap="square" rtlCol="0">
            <a:spAutoFit/>
          </a:bodyPr>
          <a:lstStyle/>
          <a:p>
            <a:pPr marL="214630" indent="-214630">
              <a:lnSpc>
                <a:spcPct val="150000"/>
              </a:lnSpc>
              <a:buFont typeface="Arial" panose="020B0604020202020204" pitchFamily="34" charset="0"/>
              <a:buChar char="•"/>
            </a:pPr>
            <a:r>
              <a:rPr lang="zh-CN" altLang="en-US" sz="900" dirty="0">
                <a:latin typeface="微软雅黑" panose="020B0503020204020204" pitchFamily="34" charset="-122"/>
                <a:ea typeface="微软雅黑" panose="020B0503020204020204" pitchFamily="34" charset="-122"/>
              </a:rPr>
              <a:t>设备集成算法</a:t>
            </a:r>
          </a:p>
          <a:p>
            <a:pPr marL="214630" indent="-214630">
              <a:lnSpc>
                <a:spcPct val="150000"/>
              </a:lnSpc>
              <a:buFont typeface="Arial" panose="020B0604020202020204" pitchFamily="34" charset="0"/>
              <a:buChar char="•"/>
            </a:pPr>
            <a:r>
              <a:rPr lang="zh-CN" altLang="en-US" sz="900" dirty="0">
                <a:latin typeface="微软雅黑" panose="020B0503020204020204" pitchFamily="34" charset="-122"/>
                <a:ea typeface="微软雅黑" panose="020B0503020204020204" pitchFamily="34" charset="-122"/>
              </a:rPr>
              <a:t>数据验证，比较数据与预期结果或标准，检查数据是否符合预先设定的规则和条件</a:t>
            </a:r>
            <a:endParaRPr lang="en-US" altLang="zh-CN" sz="900" dirty="0">
              <a:latin typeface="微软雅黑" panose="020B0503020204020204" pitchFamily="34" charset="-122"/>
              <a:ea typeface="微软雅黑" panose="020B0503020204020204" pitchFamily="34" charset="-122"/>
            </a:endParaRPr>
          </a:p>
          <a:p>
            <a:pPr marL="214630" indent="-214630">
              <a:lnSpc>
                <a:spcPct val="150000"/>
              </a:lnSpc>
              <a:buFont typeface="Arial" panose="020B0604020202020204" pitchFamily="34" charset="0"/>
              <a:buChar char="•"/>
            </a:pPr>
            <a:r>
              <a:rPr lang="zh-CN" altLang="en-US" sz="900" dirty="0">
                <a:latin typeface="微软雅黑" panose="020B0503020204020204" pitchFamily="34" charset="-122"/>
                <a:ea typeface="微软雅黑" panose="020B0503020204020204" pitchFamily="34" charset="-122"/>
              </a:rPr>
              <a:t>算法检测数据中的异常值，并根据业务逻辑确定是否需要进行处理</a:t>
            </a:r>
            <a:endParaRPr lang="en-US" altLang="zh-CN" sz="900" dirty="0">
              <a:latin typeface="微软雅黑" panose="020B0503020204020204" pitchFamily="34" charset="-122"/>
              <a:ea typeface="微软雅黑" panose="020B0503020204020204" pitchFamily="34" charset="-122"/>
            </a:endParaRPr>
          </a:p>
          <a:p>
            <a:pPr marL="214630" indent="-214630">
              <a:lnSpc>
                <a:spcPct val="150000"/>
              </a:lnSpc>
              <a:buFont typeface="Arial" panose="020B0604020202020204" pitchFamily="34" charset="0"/>
              <a:buChar char="•"/>
            </a:pPr>
            <a:r>
              <a:rPr lang="zh-CN" altLang="en-US" sz="900" dirty="0">
                <a:latin typeface="微软雅黑" panose="020B0503020204020204" pitchFamily="34" charset="-122"/>
                <a:ea typeface="微软雅黑" panose="020B0503020204020204" pitchFamily="34" charset="-122"/>
              </a:rPr>
              <a:t>数据清洗：清理数据中的错误、不一致或无效的内容，确保数据的质量和可信度</a:t>
            </a:r>
            <a:endParaRPr lang="en-US" altLang="zh-CN" sz="900" dirty="0">
              <a:latin typeface="微软雅黑" panose="020B0503020204020204" pitchFamily="34" charset="-122"/>
              <a:ea typeface="微软雅黑" panose="020B0503020204020204" pitchFamily="34" charset="-122"/>
            </a:endParaRPr>
          </a:p>
          <a:p>
            <a:pPr marL="214630" indent="-214630">
              <a:lnSpc>
                <a:spcPct val="150000"/>
              </a:lnSpc>
              <a:buFont typeface="Arial" panose="020B0604020202020204" pitchFamily="34" charset="0"/>
              <a:buChar char="•"/>
            </a:pPr>
            <a:r>
              <a:rPr lang="zh-CN" altLang="en-US" sz="900" dirty="0">
                <a:latin typeface="微软雅黑" panose="020B0503020204020204" pitchFamily="34" charset="-122"/>
                <a:ea typeface="微软雅黑" panose="020B0503020204020204" pitchFamily="34" charset="-122"/>
              </a:rPr>
              <a:t>数据标准化：数据质控为统一标准的格式、规则等</a:t>
            </a:r>
            <a:endParaRPr lang="en-US" altLang="zh-CN" sz="900" dirty="0">
              <a:latin typeface="微软雅黑" panose="020B0503020204020204" pitchFamily="34" charset="-122"/>
              <a:ea typeface="微软雅黑" panose="020B0503020204020204" pitchFamily="34" charset="-122"/>
            </a:endParaRPr>
          </a:p>
        </p:txBody>
      </p:sp>
      <p:grpSp>
        <p:nvGrpSpPr>
          <p:cNvPr id="6" name="组合 12"/>
          <p:cNvGrpSpPr/>
          <p:nvPr/>
        </p:nvGrpSpPr>
        <p:grpSpPr>
          <a:xfrm>
            <a:off x="653940" y="2530432"/>
            <a:ext cx="1740221" cy="509024"/>
            <a:chOff x="859230" y="3555949"/>
            <a:chExt cx="2320295" cy="678699"/>
          </a:xfrm>
          <a:solidFill>
            <a:srgbClr val="0070C0"/>
          </a:solidFill>
        </p:grpSpPr>
        <p:sp>
          <p:nvSpPr>
            <p:cNvPr id="14" name="矩形: 圆角 14"/>
            <p:cNvSpPr/>
            <p:nvPr/>
          </p:nvSpPr>
          <p:spPr>
            <a:xfrm>
              <a:off x="859230" y="3555949"/>
              <a:ext cx="2320295" cy="678699"/>
            </a:xfrm>
            <a:prstGeom prst="roundRect">
              <a:avLst>
                <a:gd name="adj" fmla="val 50000"/>
              </a:avLst>
            </a:prstGeom>
            <a:grpFill/>
            <a:ln>
              <a:noFill/>
            </a:ln>
            <a:effectLst>
              <a:outerShdw blurRad="317500" dist="88900" dir="2700000" sx="99000" sy="99000" algn="tl"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bg1"/>
                </a:solidFill>
              </a:endParaRPr>
            </a:p>
          </p:txBody>
        </p:sp>
        <p:sp>
          <p:nvSpPr>
            <p:cNvPr id="15" name="文本框 14"/>
            <p:cNvSpPr txBox="1"/>
            <p:nvPr/>
          </p:nvSpPr>
          <p:spPr>
            <a:xfrm>
              <a:off x="1150774" y="3714366"/>
              <a:ext cx="1737206" cy="369332"/>
            </a:xfrm>
            <a:prstGeom prst="rect">
              <a:avLst/>
            </a:prstGeom>
            <a:noFill/>
          </p:spPr>
          <p:txBody>
            <a:bodyPr wrap="square" rtlCol="0">
              <a:spAutoFit/>
            </a:bodyPr>
            <a:lstStyle/>
            <a:p>
              <a:pPr lvl="0" algn="ctr"/>
              <a:r>
                <a:rPr lang="zh-CN" altLang="en-US" sz="1200" b="1" dirty="0">
                  <a:solidFill>
                    <a:schemeClr val="bg1"/>
                  </a:solidFill>
                  <a:latin typeface="微软雅黑" panose="020B0503020204020204" pitchFamily="34" charset="-122"/>
                  <a:ea typeface="微软雅黑" panose="020B0503020204020204" pitchFamily="34" charset="-122"/>
                </a:rPr>
                <a:t>设备数据质控</a:t>
              </a:r>
              <a:endParaRPr lang="en-US" altLang="zh-CN" sz="1200" b="1" dirty="0">
                <a:solidFill>
                  <a:schemeClr val="bg1"/>
                </a:solidFill>
                <a:latin typeface="微软雅黑" panose="020B0503020204020204" pitchFamily="34" charset="-122"/>
                <a:ea typeface="微软雅黑" panose="020B0503020204020204" pitchFamily="34" charset="-122"/>
              </a:endParaRPr>
            </a:p>
          </p:txBody>
        </p:sp>
      </p:grpSp>
      <p:grpSp>
        <p:nvGrpSpPr>
          <p:cNvPr id="13" name="组合 15"/>
          <p:cNvGrpSpPr/>
          <p:nvPr/>
        </p:nvGrpSpPr>
        <p:grpSpPr>
          <a:xfrm>
            <a:off x="3679962" y="1222342"/>
            <a:ext cx="1464470" cy="499088"/>
            <a:chOff x="859230" y="3555949"/>
            <a:chExt cx="1952627" cy="665451"/>
          </a:xfrm>
          <a:solidFill>
            <a:srgbClr val="0070C0"/>
          </a:solidFill>
        </p:grpSpPr>
        <p:sp>
          <p:nvSpPr>
            <p:cNvPr id="17" name="矩形: 圆角 17"/>
            <p:cNvSpPr/>
            <p:nvPr/>
          </p:nvSpPr>
          <p:spPr>
            <a:xfrm>
              <a:off x="859230" y="3555949"/>
              <a:ext cx="1952627" cy="665451"/>
            </a:xfrm>
            <a:prstGeom prst="roundRect">
              <a:avLst>
                <a:gd name="adj" fmla="val 50000"/>
              </a:avLst>
            </a:prstGeom>
            <a:grpFill/>
            <a:ln>
              <a:noFill/>
            </a:ln>
            <a:effectLst>
              <a:outerShdw blurRad="317500" dist="88900" dir="2700000" sx="99000" sy="99000" algn="tl"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bg1"/>
                </a:solidFill>
              </a:endParaRPr>
            </a:p>
          </p:txBody>
        </p:sp>
        <p:sp>
          <p:nvSpPr>
            <p:cNvPr id="18" name="文本框 17"/>
            <p:cNvSpPr txBox="1"/>
            <p:nvPr/>
          </p:nvSpPr>
          <p:spPr>
            <a:xfrm>
              <a:off x="978055" y="3726141"/>
              <a:ext cx="1737206" cy="369332"/>
            </a:xfrm>
            <a:prstGeom prst="rect">
              <a:avLst/>
            </a:prstGeom>
            <a:noFill/>
          </p:spPr>
          <p:txBody>
            <a:bodyPr wrap="square" rtlCol="0">
              <a:spAutoFit/>
            </a:bodyPr>
            <a:lstStyle/>
            <a:p>
              <a:pPr lvl="0" algn="ctr"/>
              <a:r>
                <a:rPr lang="en-US" altLang="zh-CN" sz="1200" b="1" dirty="0">
                  <a:solidFill>
                    <a:schemeClr val="bg1"/>
                  </a:solidFill>
                  <a:latin typeface="微软雅黑" panose="020B0503020204020204" pitchFamily="34" charset="-122"/>
                  <a:ea typeface="微软雅黑" panose="020B0503020204020204" pitchFamily="34" charset="-122"/>
                </a:rPr>
                <a:t>AI</a:t>
              </a:r>
              <a:r>
                <a:rPr lang="zh-CN" altLang="en-US" sz="1200" b="1" dirty="0">
                  <a:solidFill>
                    <a:schemeClr val="bg1"/>
                  </a:solidFill>
                  <a:latin typeface="微软雅黑" panose="020B0503020204020204" pitchFamily="34" charset="-122"/>
                  <a:ea typeface="微软雅黑" panose="020B0503020204020204" pitchFamily="34" charset="-122"/>
                </a:rPr>
                <a:t>算法</a:t>
              </a:r>
              <a:endParaRPr lang="en-US" altLang="zh-CN" sz="1200" b="1" dirty="0">
                <a:solidFill>
                  <a:schemeClr val="bg1"/>
                </a:solidFill>
                <a:latin typeface="微软雅黑" panose="020B0503020204020204" pitchFamily="34" charset="-122"/>
                <a:ea typeface="微软雅黑" panose="020B0503020204020204" pitchFamily="34" charset="-122"/>
              </a:endParaRPr>
            </a:p>
          </p:txBody>
        </p:sp>
      </p:grpSp>
      <p:grpSp>
        <p:nvGrpSpPr>
          <p:cNvPr id="16" name="组合 18"/>
          <p:cNvGrpSpPr/>
          <p:nvPr/>
        </p:nvGrpSpPr>
        <p:grpSpPr>
          <a:xfrm>
            <a:off x="6648610" y="2471659"/>
            <a:ext cx="1852225" cy="557987"/>
            <a:chOff x="859230" y="3555950"/>
            <a:chExt cx="2469633" cy="743982"/>
          </a:xfrm>
          <a:solidFill>
            <a:srgbClr val="0070C0"/>
          </a:solidFill>
        </p:grpSpPr>
        <p:sp>
          <p:nvSpPr>
            <p:cNvPr id="20" name="矩形: 圆角 20"/>
            <p:cNvSpPr/>
            <p:nvPr/>
          </p:nvSpPr>
          <p:spPr>
            <a:xfrm>
              <a:off x="859230" y="3555950"/>
              <a:ext cx="2469633" cy="743982"/>
            </a:xfrm>
            <a:prstGeom prst="roundRect">
              <a:avLst>
                <a:gd name="adj" fmla="val 50000"/>
              </a:avLst>
            </a:prstGeom>
            <a:grpFill/>
            <a:ln>
              <a:noFill/>
            </a:ln>
            <a:effectLst>
              <a:outerShdw blurRad="317500" dist="88900" dir="2700000" sx="99000" sy="99000" algn="tl"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bg1"/>
                </a:solidFill>
              </a:endParaRPr>
            </a:p>
          </p:txBody>
        </p:sp>
        <p:sp>
          <p:nvSpPr>
            <p:cNvPr id="21" name="文本框 20"/>
            <p:cNvSpPr txBox="1"/>
            <p:nvPr/>
          </p:nvSpPr>
          <p:spPr>
            <a:xfrm>
              <a:off x="1134973" y="3745067"/>
              <a:ext cx="1918146" cy="369332"/>
            </a:xfrm>
            <a:prstGeom prst="rect">
              <a:avLst/>
            </a:prstGeom>
            <a:noFill/>
          </p:spPr>
          <p:txBody>
            <a:bodyPr wrap="square" rtlCol="0">
              <a:spAutoFit/>
            </a:bodyPr>
            <a:lstStyle/>
            <a:p>
              <a:pPr lvl="0" algn="ctr"/>
              <a:r>
                <a:rPr lang="zh-CN" altLang="en-US" sz="1200" b="1" dirty="0">
                  <a:solidFill>
                    <a:schemeClr val="bg1"/>
                  </a:solidFill>
                  <a:latin typeface="微软雅黑" panose="020B0503020204020204" pitchFamily="34" charset="-122"/>
                  <a:ea typeface="微软雅黑" panose="020B0503020204020204" pitchFamily="34" charset="-122"/>
                </a:rPr>
                <a:t>平台数据质控</a:t>
              </a:r>
              <a:endParaRPr lang="zh-CN" altLang="en-US" sz="900" dirty="0">
                <a:solidFill>
                  <a:schemeClr val="bg1"/>
                </a:solidFill>
                <a:latin typeface="微软雅黑" panose="020B0503020204020204" pitchFamily="34" charset="-122"/>
                <a:ea typeface="微软雅黑" panose="020B0503020204020204" pitchFamily="34" charset="-122"/>
              </a:endParaRPr>
            </a:p>
          </p:txBody>
        </p:sp>
      </p:grpSp>
      <p:sp>
        <p:nvSpPr>
          <p:cNvPr id="22" name="矩形 21"/>
          <p:cNvSpPr/>
          <p:nvPr/>
        </p:nvSpPr>
        <p:spPr>
          <a:xfrm>
            <a:off x="495848" y="840022"/>
            <a:ext cx="8112422" cy="295978"/>
          </a:xfrm>
          <a:prstGeom prst="rect">
            <a:avLst/>
          </a:prstGeom>
        </p:spPr>
        <p:txBody>
          <a:bodyPr wrap="square">
            <a:spAutoFit/>
          </a:bodyPr>
          <a:lstStyle/>
          <a:p>
            <a:pPr algn="just">
              <a:lnSpc>
                <a:spcPct val="150000"/>
              </a:lnSpc>
              <a:buSzPts val="1200"/>
            </a:pPr>
            <a:r>
              <a:rPr lang="zh-CN" altLang="en-US" sz="1000" dirty="0">
                <a:solidFill>
                  <a:srgbClr val="000000"/>
                </a:solidFill>
                <a:uFill>
                  <a:solidFill>
                    <a:srgbClr val="000000"/>
                  </a:solidFill>
                </a:uFill>
                <a:latin typeface="微软雅黑" panose="020B0503020204020204" pitchFamily="34" charset="-122"/>
                <a:ea typeface="微软雅黑" panose="020B0503020204020204" pitchFamily="34" charset="-122"/>
                <a:cs typeface="Arial" panose="020B0604020202020204" pitchFamily="34" charset="0"/>
              </a:rPr>
              <a:t>远程心电一张网算法提供设备数据质控及平台数据质控用于完成数据的处理，使得设备采集的数据质量更好，提高分析效率，便于医生解读。</a:t>
            </a:r>
            <a:endParaRPr lang="en-US" altLang="zh-CN" sz="1000" dirty="0">
              <a:solidFill>
                <a:srgbClr val="000000"/>
              </a:solidFill>
              <a:uFill>
                <a:solidFill>
                  <a:srgbClr val="000000"/>
                </a:solidFill>
              </a:uFill>
              <a:latin typeface="微软雅黑" panose="020B0503020204020204" pitchFamily="34" charset="-122"/>
              <a:ea typeface="微软雅黑" panose="020B0503020204020204" pitchFamily="34" charset="-122"/>
              <a:cs typeface="Arial" panose="020B0604020202020204" pitchFamily="34" charset="0"/>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10"/>
          <p:cNvSpPr txBox="1"/>
          <p:nvPr/>
        </p:nvSpPr>
        <p:spPr>
          <a:xfrm>
            <a:off x="467544" y="958895"/>
            <a:ext cx="8280920" cy="502702"/>
          </a:xfrm>
          <a:prstGeom prst="rect">
            <a:avLst/>
          </a:prstGeom>
          <a:noFill/>
        </p:spPr>
        <p:txBody>
          <a:bodyPr wrap="square" rtlCol="0">
            <a:spAutoFit/>
          </a:bodyPr>
          <a:lstStyle/>
          <a:p>
            <a:pPr>
              <a:lnSpc>
                <a:spcPts val="1600"/>
              </a:lnSpc>
            </a:pPr>
            <a:r>
              <a:rPr lang="zh-CN" altLang="en-US" sz="1000" b="1" dirty="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国家卫健委在中日友好医院设有远程医疗管理与培训中心、远程医疗与互联网医学中心、基层远程医疗发展指导中心，好络维承担平台的建设和运营。</a:t>
            </a:r>
            <a:r>
              <a:rPr lang="zh-CN" altLang="en-US" sz="1000" dirty="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该中心为国家级平台，以各省部级远程医疗中心为龙头，形成区域性医疗协同中心，优化资源协同调配机制，促进医疗数据互联互通。</a:t>
            </a:r>
          </a:p>
        </p:txBody>
      </p:sp>
      <p:pic>
        <p:nvPicPr>
          <p:cNvPr id="8" name="图片 7"/>
          <p:cNvPicPr>
            <a:picLocks noChangeAspect="1"/>
          </p:cNvPicPr>
          <p:nvPr/>
        </p:nvPicPr>
        <p:blipFill rotWithShape="1">
          <a:blip r:embed="rId3" cstate="screen">
            <a:extLst>
              <a:ext uri="{BEBA8EAE-BF5A-486C-A8C5-ECC9F3942E4B}">
                <a14:imgProps xmlns:a14="http://schemas.microsoft.com/office/drawing/2010/main" xmlns="">
                  <a14:imgLayer r:embed="rId4">
                    <a14:imgEffect>
                      <a14:brightnessContrast bright="24000"/>
                    </a14:imgEffect>
                  </a14:imgLayer>
                </a14:imgProps>
              </a:ext>
            </a:extLst>
          </a:blip>
          <a:srcRect t="11476" b="3949"/>
          <a:stretch>
            <a:fillRect/>
          </a:stretch>
        </p:blipFill>
        <p:spPr bwMode="auto">
          <a:xfrm>
            <a:off x="5409029" y="1546236"/>
            <a:ext cx="3196504" cy="1630074"/>
          </a:xfrm>
          <a:prstGeom prst="rect">
            <a:avLst/>
          </a:prstGeom>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effectLst/>
          <a:extLst>
            <a:ext uri="{909E8E84-426E-40DD-AFC4-6F175D3DCCD1}">
              <a14:hiddenFill xmlns:a14="http://schemas.microsoft.com/office/drawing/2010/main" xmlns="">
                <a:solidFill>
                  <a:srgbClr val="FFFFFF"/>
                </a:solidFill>
              </a14:hiddenFill>
            </a:ext>
          </a:extLst>
        </p:spPr>
      </p:pic>
      <p:sp>
        <p:nvSpPr>
          <p:cNvPr id="6" name="矩形 5"/>
          <p:cNvSpPr/>
          <p:nvPr/>
        </p:nvSpPr>
        <p:spPr>
          <a:xfrm>
            <a:off x="5409029" y="3543307"/>
            <a:ext cx="3196504" cy="1118255"/>
          </a:xfrm>
          <a:prstGeom prst="rect">
            <a:avLst/>
          </a:prstGeom>
          <a:solidFill>
            <a:schemeClr val="bg1"/>
          </a:solidFill>
          <a:ln w="3175">
            <a:solidFill>
              <a:schemeClr val="bg1">
                <a:lumMod val="65000"/>
              </a:schemeClr>
            </a:solidFill>
            <a:prstDash val="dash"/>
          </a:ln>
        </p:spPr>
        <p:style>
          <a:lnRef idx="2">
            <a:schemeClr val="dk1"/>
          </a:lnRef>
          <a:fillRef idx="1">
            <a:schemeClr val="lt1"/>
          </a:fillRef>
          <a:effectRef idx="0">
            <a:schemeClr val="dk1"/>
          </a:effectRef>
          <a:fontRef idx="minor">
            <a:schemeClr val="dk1"/>
          </a:fontRef>
        </p:style>
        <p:txBody>
          <a:bodyPr wrap="square">
            <a:spAutoFit/>
          </a:bodyPr>
          <a:lstStyle/>
          <a:p>
            <a:pPr marL="514350" indent="-171450" fontAlgn="ctr">
              <a:lnSpc>
                <a:spcPts val="1600"/>
              </a:lnSpc>
              <a:buFont typeface="Arial" panose="020B0604020202020204" pitchFamily="34" charset="0"/>
              <a:buChar char="•"/>
            </a:pPr>
            <a:r>
              <a:rPr lang="zh-CN" altLang="zh-CN" sz="800" dirty="0">
                <a:solidFill>
                  <a:schemeClr val="tx1">
                    <a:lumMod val="85000"/>
                    <a:lumOff val="15000"/>
                  </a:schemeClr>
                </a:solidFill>
                <a:latin typeface="微软雅黑" panose="020B0503020204020204" pitchFamily="34" charset="-122"/>
                <a:ea typeface="微软雅黑" panose="020B0503020204020204" pitchFamily="34" charset="-122"/>
              </a:rPr>
              <a:t>覆盖</a:t>
            </a:r>
            <a:r>
              <a:rPr lang="en-US" altLang="zh-CN" sz="800" b="1" dirty="0">
                <a:solidFill>
                  <a:schemeClr val="tx1">
                    <a:lumMod val="85000"/>
                    <a:lumOff val="15000"/>
                  </a:schemeClr>
                </a:solidFill>
                <a:latin typeface="微软雅黑" panose="020B0503020204020204" pitchFamily="34" charset="-122"/>
                <a:ea typeface="微软雅黑" panose="020B0503020204020204" pitchFamily="34" charset="-122"/>
              </a:rPr>
              <a:t>31</a:t>
            </a:r>
            <a:r>
              <a:rPr lang="zh-CN" altLang="zh-CN" sz="800" dirty="0">
                <a:solidFill>
                  <a:schemeClr val="tx1">
                    <a:lumMod val="85000"/>
                    <a:lumOff val="15000"/>
                  </a:schemeClr>
                </a:solidFill>
                <a:latin typeface="微软雅黑" panose="020B0503020204020204" pitchFamily="34" charset="-122"/>
                <a:ea typeface="微软雅黑" panose="020B0503020204020204" pitchFamily="34" charset="-122"/>
              </a:rPr>
              <a:t>个省市的地市级机构</a:t>
            </a:r>
          </a:p>
          <a:p>
            <a:pPr marL="514350" indent="-171450" fontAlgn="ctr">
              <a:lnSpc>
                <a:spcPts val="1600"/>
              </a:lnSpc>
              <a:buFont typeface="Arial" panose="020B0604020202020204" pitchFamily="34" charset="0"/>
              <a:buChar char="•"/>
            </a:pPr>
            <a:r>
              <a:rPr lang="en-US" altLang="zh-CN" sz="800" b="1" dirty="0">
                <a:solidFill>
                  <a:schemeClr val="tx1">
                    <a:lumMod val="85000"/>
                    <a:lumOff val="15000"/>
                  </a:schemeClr>
                </a:solidFill>
                <a:latin typeface="微软雅黑" panose="020B0503020204020204" pitchFamily="34" charset="-122"/>
                <a:ea typeface="微软雅黑" panose="020B0503020204020204" pitchFamily="34" charset="-122"/>
              </a:rPr>
              <a:t>32+</a:t>
            </a:r>
            <a:r>
              <a:rPr lang="zh-CN" altLang="zh-CN" sz="800" dirty="0">
                <a:solidFill>
                  <a:schemeClr val="tx1">
                    <a:lumMod val="85000"/>
                    <a:lumOff val="15000"/>
                  </a:schemeClr>
                </a:solidFill>
                <a:latin typeface="微软雅黑" panose="020B0503020204020204" pitchFamily="34" charset="-122"/>
                <a:ea typeface="微软雅黑" panose="020B0503020204020204" pitchFamily="34" charset="-122"/>
              </a:rPr>
              <a:t>省部级医院建立远程医疗区域协同中心</a:t>
            </a:r>
          </a:p>
          <a:p>
            <a:pPr marL="514350" indent="-171450" fontAlgn="ctr">
              <a:lnSpc>
                <a:spcPts val="1600"/>
              </a:lnSpc>
              <a:buFont typeface="Arial" panose="020B0604020202020204" pitchFamily="34" charset="0"/>
              <a:buChar char="•"/>
            </a:pPr>
            <a:r>
              <a:rPr lang="en-US" altLang="zh-CN" sz="800" b="1" dirty="0">
                <a:solidFill>
                  <a:schemeClr val="tx1">
                    <a:lumMod val="85000"/>
                    <a:lumOff val="15000"/>
                  </a:schemeClr>
                </a:solidFill>
                <a:latin typeface="微软雅黑" panose="020B0503020204020204" pitchFamily="34" charset="-122"/>
                <a:ea typeface="微软雅黑" panose="020B0503020204020204" pitchFamily="34" charset="-122"/>
              </a:rPr>
              <a:t>103+</a:t>
            </a:r>
            <a:r>
              <a:rPr lang="zh-CN" altLang="zh-CN" sz="800" dirty="0">
                <a:solidFill>
                  <a:schemeClr val="tx1">
                    <a:lumMod val="85000"/>
                    <a:lumOff val="15000"/>
                  </a:schemeClr>
                </a:solidFill>
                <a:latin typeface="微软雅黑" panose="020B0503020204020204" pitchFamily="34" charset="-122"/>
                <a:ea typeface="微软雅黑" panose="020B0503020204020204" pitchFamily="34" charset="-122"/>
              </a:rPr>
              <a:t>市级医联体区域协同中心</a:t>
            </a:r>
          </a:p>
          <a:p>
            <a:pPr marL="514350" indent="-171450" fontAlgn="ctr">
              <a:lnSpc>
                <a:spcPts val="1600"/>
              </a:lnSpc>
              <a:buFont typeface="Arial" panose="020B0604020202020204" pitchFamily="34" charset="0"/>
              <a:buChar char="•"/>
            </a:pPr>
            <a:r>
              <a:rPr lang="en-US" altLang="zh-CN" sz="800" b="1" dirty="0">
                <a:solidFill>
                  <a:schemeClr val="tx1">
                    <a:lumMod val="85000"/>
                    <a:lumOff val="15000"/>
                  </a:schemeClr>
                </a:solidFill>
                <a:latin typeface="微软雅黑" panose="020B0503020204020204" pitchFamily="34" charset="-122"/>
                <a:ea typeface="微软雅黑" panose="020B0503020204020204" pitchFamily="34" charset="-122"/>
              </a:rPr>
              <a:t>5300+</a:t>
            </a:r>
            <a:r>
              <a:rPr lang="zh-CN" altLang="zh-CN" sz="800" dirty="0">
                <a:solidFill>
                  <a:schemeClr val="tx1">
                    <a:lumMod val="85000"/>
                    <a:lumOff val="15000"/>
                  </a:schemeClr>
                </a:solidFill>
                <a:latin typeface="微软雅黑" panose="020B0503020204020204" pitchFamily="34" charset="-122"/>
                <a:ea typeface="微软雅黑" panose="020B0503020204020204" pitchFamily="34" charset="-122"/>
              </a:rPr>
              <a:t>家医疗机构</a:t>
            </a:r>
            <a:endParaRPr lang="en-US" altLang="zh-CN" sz="800" dirty="0">
              <a:solidFill>
                <a:schemeClr val="tx1">
                  <a:lumMod val="85000"/>
                  <a:lumOff val="15000"/>
                </a:schemeClr>
              </a:solidFill>
              <a:latin typeface="微软雅黑" panose="020B0503020204020204" pitchFamily="34" charset="-122"/>
              <a:ea typeface="微软雅黑" panose="020B0503020204020204" pitchFamily="34" charset="-122"/>
            </a:endParaRPr>
          </a:p>
          <a:p>
            <a:pPr marL="514350" indent="-171450" fontAlgn="ctr">
              <a:lnSpc>
                <a:spcPts val="1600"/>
              </a:lnSpc>
              <a:buFont typeface="Arial" panose="020B0604020202020204" pitchFamily="34" charset="0"/>
              <a:buChar char="•"/>
            </a:pPr>
            <a:r>
              <a:rPr lang="en-US" altLang="zh-CN" sz="800" b="1" dirty="0">
                <a:solidFill>
                  <a:schemeClr val="tx1">
                    <a:lumMod val="85000"/>
                    <a:lumOff val="15000"/>
                  </a:schemeClr>
                </a:solidFill>
                <a:latin typeface="微软雅黑" panose="020B0503020204020204" pitchFamily="34" charset="-122"/>
                <a:ea typeface="微软雅黑" panose="020B0503020204020204" pitchFamily="34" charset="-122"/>
              </a:rPr>
              <a:t>16000+</a:t>
            </a:r>
            <a:r>
              <a:rPr lang="zh-CN" altLang="en-US" sz="800" dirty="0">
                <a:solidFill>
                  <a:schemeClr val="tx1">
                    <a:lumMod val="85000"/>
                    <a:lumOff val="15000"/>
                  </a:schemeClr>
                </a:solidFill>
                <a:latin typeface="微软雅黑" panose="020B0503020204020204" pitchFamily="34" charset="-122"/>
                <a:ea typeface="微软雅黑" panose="020B0503020204020204" pitchFamily="34" charset="-122"/>
              </a:rPr>
              <a:t>临床医师</a:t>
            </a:r>
            <a:endParaRPr lang="zh-CN" altLang="zh-CN" sz="8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7" name="矩形 6"/>
          <p:cNvSpPr/>
          <p:nvPr/>
        </p:nvSpPr>
        <p:spPr>
          <a:xfrm>
            <a:off x="539552" y="2639863"/>
            <a:ext cx="3816424" cy="1195199"/>
          </a:xfrm>
          <a:prstGeom prst="rect">
            <a:avLst/>
          </a:prstGeom>
        </p:spPr>
        <p:txBody>
          <a:bodyPr wrap="square">
            <a:spAutoFit/>
          </a:bodyPr>
          <a:lstStyle/>
          <a:p>
            <a:pPr>
              <a:lnSpc>
                <a:spcPts val="1600"/>
              </a:lnSpc>
              <a:spcAft>
                <a:spcPts val="600"/>
              </a:spcAft>
            </a:pPr>
            <a:r>
              <a:rPr lang="zh-CN" altLang="en-US" sz="1000" b="1" dirty="0">
                <a:solidFill>
                  <a:schemeClr val="tx1">
                    <a:lumMod val="85000"/>
                    <a:lumOff val="15000"/>
                  </a:schemeClr>
                </a:solidFill>
                <a:latin typeface="微软雅黑" panose="020B0503020204020204" pitchFamily="34" charset="-122"/>
                <a:ea typeface="微软雅黑" panose="020B0503020204020204" pitchFamily="34" charset="-122"/>
              </a:rPr>
              <a:t>平台价值：</a:t>
            </a:r>
            <a:endParaRPr lang="en-US" altLang="zh-CN" sz="1000" b="1" dirty="0">
              <a:solidFill>
                <a:schemeClr val="tx1">
                  <a:lumMod val="85000"/>
                  <a:lumOff val="15000"/>
                </a:schemeClr>
              </a:solidFill>
              <a:latin typeface="微软雅黑" panose="020B0503020204020204" pitchFamily="34" charset="-122"/>
              <a:ea typeface="微软雅黑" panose="020B0503020204020204" pitchFamily="34" charset="-122"/>
            </a:endParaRPr>
          </a:p>
          <a:p>
            <a:pPr marL="171450" indent="-171450">
              <a:lnSpc>
                <a:spcPts val="1600"/>
              </a:lnSpc>
              <a:buFont typeface="Arial" panose="020B0604020202020204" pitchFamily="34" charset="0"/>
              <a:buChar char="•"/>
            </a:pPr>
            <a:r>
              <a:rPr lang="zh-CN" altLang="en-US" sz="1000" dirty="0">
                <a:solidFill>
                  <a:schemeClr val="tx1">
                    <a:lumMod val="85000"/>
                    <a:lumOff val="15000"/>
                  </a:schemeClr>
                </a:solidFill>
                <a:latin typeface="微软雅黑" panose="020B0503020204020204" pitchFamily="34" charset="-122"/>
                <a:ea typeface="微软雅黑" panose="020B0503020204020204" pitchFamily="34" charset="-122"/>
              </a:rPr>
              <a:t>随时随地建立国家平台与医疗机构之间的业务连接；</a:t>
            </a:r>
          </a:p>
          <a:p>
            <a:pPr marL="171450" indent="-171450">
              <a:lnSpc>
                <a:spcPts val="1600"/>
              </a:lnSpc>
              <a:buFont typeface="Arial" panose="020B0604020202020204" pitchFamily="34" charset="0"/>
              <a:buChar char="•"/>
            </a:pPr>
            <a:r>
              <a:rPr lang="zh-CN" altLang="en-US" sz="1000" dirty="0">
                <a:solidFill>
                  <a:schemeClr val="tx1">
                    <a:lumMod val="85000"/>
                    <a:lumOff val="15000"/>
                  </a:schemeClr>
                </a:solidFill>
                <a:latin typeface="微软雅黑" panose="020B0503020204020204" pitchFamily="34" charset="-122"/>
                <a:ea typeface="微软雅黑" panose="020B0503020204020204" pitchFamily="34" charset="-122"/>
              </a:rPr>
              <a:t>覆盖全国</a:t>
            </a:r>
            <a:r>
              <a:rPr lang="en-US" altLang="zh-CN" sz="1000" dirty="0">
                <a:solidFill>
                  <a:schemeClr val="tx1">
                    <a:lumMod val="85000"/>
                    <a:lumOff val="15000"/>
                  </a:schemeClr>
                </a:solidFill>
                <a:latin typeface="微软雅黑" panose="020B0503020204020204" pitchFamily="34" charset="-122"/>
                <a:ea typeface="微软雅黑" panose="020B0503020204020204" pitchFamily="34" charset="-122"/>
              </a:rPr>
              <a:t>2700+</a:t>
            </a:r>
            <a:r>
              <a:rPr lang="zh-CN" altLang="en-US" sz="1000" dirty="0">
                <a:solidFill>
                  <a:schemeClr val="tx1">
                    <a:lumMod val="85000"/>
                    <a:lumOff val="15000"/>
                  </a:schemeClr>
                </a:solidFill>
                <a:latin typeface="微软雅黑" panose="020B0503020204020204" pitchFamily="34" charset="-122"/>
                <a:ea typeface="微软雅黑" panose="020B0503020204020204" pitchFamily="34" charset="-122"/>
              </a:rPr>
              <a:t>综合性医院，汇集庞大的专家资源；</a:t>
            </a:r>
            <a:endParaRPr lang="en-US" altLang="zh-CN" sz="1000" dirty="0">
              <a:solidFill>
                <a:schemeClr val="tx1">
                  <a:lumMod val="85000"/>
                  <a:lumOff val="15000"/>
                </a:schemeClr>
              </a:solidFill>
              <a:latin typeface="微软雅黑" panose="020B0503020204020204" pitchFamily="34" charset="-122"/>
              <a:ea typeface="微软雅黑" panose="020B0503020204020204" pitchFamily="34" charset="-122"/>
            </a:endParaRPr>
          </a:p>
          <a:p>
            <a:pPr marL="171450" indent="-171450">
              <a:lnSpc>
                <a:spcPts val="1600"/>
              </a:lnSpc>
              <a:buFont typeface="Arial" panose="020B0604020202020204" pitchFamily="34" charset="0"/>
              <a:buChar char="•"/>
            </a:pPr>
            <a:r>
              <a:rPr lang="zh-CN" altLang="en-US" sz="1000" dirty="0">
                <a:solidFill>
                  <a:schemeClr val="tx1">
                    <a:lumMod val="85000"/>
                    <a:lumOff val="15000"/>
                  </a:schemeClr>
                </a:solidFill>
                <a:latin typeface="微软雅黑" panose="020B0503020204020204" pitchFamily="34" charset="-122"/>
                <a:ea typeface="微软雅黑" panose="020B0503020204020204" pitchFamily="34" charset="-122"/>
              </a:rPr>
              <a:t>利用互联网诊疗提升对已确诊疾病的复诊诊疗效率；</a:t>
            </a:r>
          </a:p>
          <a:p>
            <a:pPr marL="171450" indent="-171450">
              <a:lnSpc>
                <a:spcPts val="1600"/>
              </a:lnSpc>
              <a:buFont typeface="Arial" panose="020B0604020202020204" pitchFamily="34" charset="0"/>
              <a:buChar char="•"/>
            </a:pPr>
            <a:r>
              <a:rPr lang="zh-CN" altLang="en-US" sz="1000" dirty="0">
                <a:solidFill>
                  <a:schemeClr val="tx1">
                    <a:lumMod val="85000"/>
                    <a:lumOff val="15000"/>
                  </a:schemeClr>
                </a:solidFill>
                <a:latin typeface="微软雅黑" panose="020B0503020204020204" pitchFamily="34" charset="-122"/>
                <a:ea typeface="微软雅黑" panose="020B0503020204020204" pitchFamily="34" charset="-122"/>
              </a:rPr>
              <a:t>医师在线服务，患者在偏远地区也能享受医疗服务。</a:t>
            </a:r>
            <a:endParaRPr lang="zh-CN" altLang="zh-CN" sz="10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9" name="矩形 18"/>
          <p:cNvSpPr/>
          <p:nvPr/>
        </p:nvSpPr>
        <p:spPr>
          <a:xfrm>
            <a:off x="554592" y="3975592"/>
            <a:ext cx="4089416" cy="555345"/>
          </a:xfrm>
          <a:prstGeom prst="rect">
            <a:avLst/>
          </a:prstGeom>
        </p:spPr>
        <p:txBody>
          <a:bodyPr wrap="square">
            <a:spAutoFit/>
          </a:bodyPr>
          <a:lstStyle/>
          <a:p>
            <a:pPr>
              <a:lnSpc>
                <a:spcPts val="1900"/>
              </a:lnSpc>
              <a:spcBef>
                <a:spcPts val="600"/>
              </a:spcBef>
            </a:pPr>
            <a:r>
              <a:rPr lang="zh-CN" altLang="en-US" sz="1200" b="1" dirty="0">
                <a:solidFill>
                  <a:srgbClr val="2179B1"/>
                </a:solidFill>
                <a:latin typeface="微软雅黑" panose="020B0503020204020204" pitchFamily="34" charset="-122"/>
                <a:ea typeface="微软雅黑" panose="020B0503020204020204" pitchFamily="34" charset="-122"/>
              </a:rPr>
              <a:t>作为</a:t>
            </a:r>
            <a:r>
              <a:rPr lang="zh-CN" altLang="zh-CN" sz="1200" b="1" dirty="0">
                <a:solidFill>
                  <a:srgbClr val="2179B1"/>
                </a:solidFill>
                <a:latin typeface="微软雅黑" panose="020B0503020204020204" pitchFamily="34" charset="-122"/>
                <a:ea typeface="微软雅黑" panose="020B0503020204020204" pitchFamily="34" charset="-122"/>
              </a:rPr>
              <a:t>该平台</a:t>
            </a:r>
            <a:r>
              <a:rPr lang="zh-CN" altLang="en-US" sz="1200" b="1" dirty="0">
                <a:solidFill>
                  <a:srgbClr val="2179B1"/>
                </a:solidFill>
                <a:latin typeface="微软雅黑" panose="020B0503020204020204" pitchFamily="34" charset="-122"/>
                <a:ea typeface="微软雅黑" panose="020B0503020204020204" pitchFamily="34" charset="-122"/>
              </a:rPr>
              <a:t>运营方</a:t>
            </a:r>
            <a:r>
              <a:rPr lang="zh-CN" altLang="zh-CN" sz="1200" b="1" dirty="0">
                <a:solidFill>
                  <a:srgbClr val="2179B1"/>
                </a:solidFill>
                <a:latin typeface="微软雅黑" panose="020B0503020204020204" pitchFamily="34" charset="-122"/>
                <a:ea typeface="微软雅黑" panose="020B0503020204020204" pitchFamily="34" charset="-122"/>
              </a:rPr>
              <a:t>，好络维能迅速连接国内</a:t>
            </a:r>
            <a:r>
              <a:rPr lang="zh-CN" altLang="en-US" sz="1200" b="1" dirty="0">
                <a:solidFill>
                  <a:srgbClr val="2179B1"/>
                </a:solidFill>
                <a:latin typeface="微软雅黑" panose="020B0503020204020204" pitchFamily="34" charset="-122"/>
                <a:ea typeface="微软雅黑" panose="020B0503020204020204" pitchFamily="34" charset="-122"/>
              </a:rPr>
              <a:t>各大三甲医院的</a:t>
            </a:r>
            <a:r>
              <a:rPr lang="zh-CN" altLang="zh-CN" sz="1200" b="1" dirty="0">
                <a:solidFill>
                  <a:srgbClr val="2179B1"/>
                </a:solidFill>
                <a:latin typeface="微软雅黑" panose="020B0503020204020204" pitchFamily="34" charset="-122"/>
                <a:ea typeface="微软雅黑" panose="020B0503020204020204" pitchFamily="34" charset="-122"/>
              </a:rPr>
              <a:t>专家资源，</a:t>
            </a:r>
            <a:r>
              <a:rPr lang="zh-CN" altLang="en-US" sz="1200" b="1" dirty="0">
                <a:solidFill>
                  <a:srgbClr val="2179B1"/>
                </a:solidFill>
                <a:latin typeface="微软雅黑" panose="020B0503020204020204" pitchFamily="34" charset="-122"/>
                <a:ea typeface="微软雅黑" panose="020B0503020204020204" pitchFamily="34" charset="-122"/>
              </a:rPr>
              <a:t>提供优质的服务。</a:t>
            </a:r>
          </a:p>
        </p:txBody>
      </p:sp>
      <p:pic>
        <p:nvPicPr>
          <p:cNvPr id="3" name="图片 2"/>
          <p:cNvPicPr>
            <a:picLocks noChangeAspect="1"/>
          </p:cNvPicPr>
          <p:nvPr/>
        </p:nvPicPr>
        <p:blipFill>
          <a:blip r:embed="rId5" cstate="print">
            <a:extLst>
              <a:ext uri="{BEBA8EAE-BF5A-486C-A8C5-ECC9F3942E4B}">
                <a14:imgProps xmlns:a14="http://schemas.microsoft.com/office/drawing/2010/main" xmlns="">
                  <a14:imgLayer r:embed="rId6">
                    <a14:imgEffect>
                      <a14:brightnessContrast contrast="20000"/>
                    </a14:imgEffect>
                    <a14:imgEffect>
                      <a14:sharpenSoften amount="25000"/>
                    </a14:imgEffect>
                  </a14:imgLayer>
                </a14:imgProps>
              </a:ext>
            </a:extLst>
          </a:blip>
          <a:stretch>
            <a:fillRect/>
          </a:stretch>
        </p:blipFill>
        <p:spPr>
          <a:xfrm>
            <a:off x="2033728" y="1663656"/>
            <a:ext cx="1248936" cy="811583"/>
          </a:xfrm>
          <a:prstGeom prst="rect">
            <a:avLst/>
          </a:prstGeom>
          <a:ln>
            <a:solidFill>
              <a:schemeClr val="bg1">
                <a:lumMod val="85000"/>
              </a:schemeClr>
            </a:solidFill>
          </a:ln>
        </p:spPr>
      </p:pic>
      <p:pic>
        <p:nvPicPr>
          <p:cNvPr id="4" name="图片 3"/>
          <p:cNvPicPr>
            <a:picLocks noChangeAspect="1"/>
          </p:cNvPicPr>
          <p:nvPr/>
        </p:nvPicPr>
        <p:blipFill>
          <a:blip r:embed="rId7" cstate="print">
            <a:extLst>
              <a:ext uri="{28A0092B-C50C-407E-A947-70E740481C1C}">
                <a14:useLocalDpi xmlns:a14="http://schemas.microsoft.com/office/drawing/2010/main" xmlns="" val="0"/>
              </a:ext>
            </a:extLst>
          </a:blip>
          <a:stretch>
            <a:fillRect/>
          </a:stretch>
        </p:blipFill>
        <p:spPr>
          <a:xfrm>
            <a:off x="3368260" y="1663656"/>
            <a:ext cx="1203740" cy="816591"/>
          </a:xfrm>
          <a:prstGeom prst="rect">
            <a:avLst/>
          </a:prstGeom>
        </p:spPr>
      </p:pic>
      <p:sp>
        <p:nvSpPr>
          <p:cNvPr id="5" name="文本占位符 4"/>
          <p:cNvSpPr>
            <a:spLocks noGrp="1"/>
          </p:cNvSpPr>
          <p:nvPr>
            <p:ph type="body" sz="quarter" idx="13"/>
          </p:nvPr>
        </p:nvSpPr>
        <p:spPr>
          <a:xfrm>
            <a:off x="467544" y="123478"/>
            <a:ext cx="6480720" cy="720080"/>
          </a:xfrm>
        </p:spPr>
        <p:txBody>
          <a:bodyPr/>
          <a:lstStyle/>
          <a:p>
            <a:r>
              <a:rPr lang="zh-CN" altLang="en-US" dirty="0">
                <a:solidFill>
                  <a:srgbClr val="2179B1"/>
                </a:solidFill>
                <a:sym typeface="+mn-ea"/>
              </a:rPr>
              <a:t>平台亮点</a:t>
            </a:r>
            <a:r>
              <a:rPr lang="en-US" altLang="zh-CN" dirty="0">
                <a:solidFill>
                  <a:srgbClr val="2179B1"/>
                </a:solidFill>
                <a:sym typeface="+mn-ea"/>
              </a:rPr>
              <a:t>-</a:t>
            </a:r>
            <a:r>
              <a:rPr lang="zh-CN" altLang="en-US" dirty="0">
                <a:solidFill>
                  <a:srgbClr val="2179B1"/>
                </a:solidFill>
                <a:sym typeface="+mn-lt"/>
              </a:rPr>
              <a:t>国家级优质医疗资源支撑</a:t>
            </a:r>
            <a:endParaRPr lang="en-US" altLang="zh-CN" dirty="0">
              <a:solidFill>
                <a:srgbClr val="2179B1"/>
              </a:solidFill>
              <a:sym typeface="+mn-lt"/>
            </a:endParaRPr>
          </a:p>
        </p:txBody>
      </p:sp>
      <p:pic>
        <p:nvPicPr>
          <p:cNvPr id="12" name="Picture 10"/>
          <p:cNvPicPr>
            <a:picLocks noChangeAspect="1" noChangeArrowheads="1"/>
          </p:cNvPicPr>
          <p:nvPr/>
        </p:nvPicPr>
        <p:blipFill>
          <a:blip r:embed="rId8" cstate="print">
            <a:extLst>
              <a:ext uri="{BEBA8EAE-BF5A-486C-A8C5-ECC9F3942E4B}">
                <a14:imgProps xmlns:a14="http://schemas.microsoft.com/office/drawing/2010/main" xmlns="">
                  <a14:imgLayer r:embed="rId9">
                    <a14:imgEffect>
                      <a14:brightnessContrast bright="20000" contrast="20000"/>
                    </a14:imgEffect>
                  </a14:imgLayer>
                </a14:imgProps>
              </a:ext>
              <a:ext uri="{28A0092B-C50C-407E-A947-70E740481C1C}">
                <a14:useLocalDpi xmlns:a14="http://schemas.microsoft.com/office/drawing/2010/main" xmlns="" val="0"/>
              </a:ext>
            </a:extLst>
          </a:blip>
          <a:srcRect/>
          <a:stretch>
            <a:fillRect/>
          </a:stretch>
        </p:blipFill>
        <p:spPr bwMode="auto">
          <a:xfrm>
            <a:off x="554592" y="1654257"/>
            <a:ext cx="1393540" cy="83453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图片 16" descr="123DA516-2E0B-4D86-BDA8-E5542DB50017-1282-00000028CFB320BF"/>
          <p:cNvPicPr>
            <a:picLocks noChangeAspect="1"/>
          </p:cNvPicPr>
          <p:nvPr/>
        </p:nvPicPr>
        <p:blipFill>
          <a:blip r:embed="rId3" cstate="print"/>
          <a:stretch>
            <a:fillRect/>
          </a:stretch>
        </p:blipFill>
        <p:spPr>
          <a:xfrm>
            <a:off x="1547664" y="1152510"/>
            <a:ext cx="1365279" cy="2427352"/>
          </a:xfrm>
          <a:prstGeom prst="rect">
            <a:avLst/>
          </a:prstGeom>
        </p:spPr>
      </p:pic>
      <p:sp>
        <p:nvSpPr>
          <p:cNvPr id="7" name="文本框 6"/>
          <p:cNvSpPr txBox="1"/>
          <p:nvPr/>
        </p:nvSpPr>
        <p:spPr>
          <a:xfrm>
            <a:off x="683568" y="3867894"/>
            <a:ext cx="3416320" cy="952697"/>
          </a:xfrm>
          <a:prstGeom prst="rect">
            <a:avLst/>
          </a:prstGeom>
          <a:noFill/>
        </p:spPr>
        <p:txBody>
          <a:bodyPr wrap="square" rtlCol="0">
            <a:spAutoFit/>
          </a:bodyPr>
          <a:lstStyle/>
          <a:p>
            <a:pPr>
              <a:spcAft>
                <a:spcPts val="600"/>
              </a:spcAft>
            </a:pPr>
            <a:r>
              <a:rPr lang="zh-CN" altLang="en-US" sz="1200" b="1" dirty="0">
                <a:solidFill>
                  <a:srgbClr val="196494"/>
                </a:solidFill>
                <a:latin typeface="微软雅黑" panose="020B0503020204020204" pitchFamily="34" charset="-122"/>
                <a:ea typeface="微软雅黑" panose="020B0503020204020204" pitchFamily="34" charset="-122"/>
              </a:rPr>
              <a:t>适用场景</a:t>
            </a:r>
            <a:endParaRPr lang="en-US" altLang="zh-CN" sz="1200" b="1" dirty="0">
              <a:solidFill>
                <a:srgbClr val="196494"/>
              </a:solidFill>
              <a:latin typeface="微软雅黑" panose="020B0503020204020204" pitchFamily="34" charset="-122"/>
              <a:ea typeface="微软雅黑" panose="020B0503020204020204" pitchFamily="34" charset="-122"/>
            </a:endParaRPr>
          </a:p>
          <a:p>
            <a:pPr>
              <a:lnSpc>
                <a:spcPct val="150000"/>
              </a:lnSpc>
            </a:pPr>
            <a:r>
              <a:rPr lang="zh-CN" altLang="en-US" sz="900" dirty="0">
                <a:solidFill>
                  <a:schemeClr val="tx1">
                    <a:lumMod val="75000"/>
                    <a:lumOff val="25000"/>
                  </a:schemeClr>
                </a:solidFill>
                <a:latin typeface="微软雅黑" panose="020B0503020204020204" pitchFamily="34" charset="-122"/>
                <a:ea typeface="微软雅黑" panose="020B0503020204020204" pitchFamily="34" charset="-122"/>
              </a:rPr>
              <a:t>等级医院：诊室检查、院外救护、病房巡诊等</a:t>
            </a:r>
            <a:endParaRPr lang="en-US" altLang="zh-CN" sz="900" dirty="0">
              <a:solidFill>
                <a:schemeClr val="tx1">
                  <a:lumMod val="75000"/>
                  <a:lumOff val="25000"/>
                </a:schemeClr>
              </a:solidFill>
              <a:latin typeface="微软雅黑" panose="020B0503020204020204" pitchFamily="34" charset="-122"/>
              <a:ea typeface="微软雅黑" panose="020B0503020204020204" pitchFamily="34" charset="-122"/>
            </a:endParaRPr>
          </a:p>
          <a:p>
            <a:pPr>
              <a:lnSpc>
                <a:spcPct val="150000"/>
              </a:lnSpc>
            </a:pPr>
            <a:r>
              <a:rPr lang="zh-CN" altLang="en-US" sz="900" dirty="0">
                <a:solidFill>
                  <a:schemeClr val="tx1">
                    <a:lumMod val="75000"/>
                    <a:lumOff val="25000"/>
                  </a:schemeClr>
                </a:solidFill>
                <a:latin typeface="微软雅黑" panose="020B0503020204020204" pitchFamily="34" charset="-122"/>
                <a:ea typeface="微软雅黑" panose="020B0503020204020204" pitchFamily="34" charset="-122"/>
              </a:rPr>
              <a:t>基层医疗：诊室检查、公卫筛查、慢病随访、健康体检、义诊等</a:t>
            </a:r>
            <a:endParaRPr lang="en-US" altLang="zh-CN" sz="900" dirty="0">
              <a:solidFill>
                <a:schemeClr val="tx1">
                  <a:lumMod val="75000"/>
                  <a:lumOff val="25000"/>
                </a:schemeClr>
              </a:solidFill>
              <a:latin typeface="微软雅黑" panose="020B0503020204020204" pitchFamily="34" charset="-122"/>
              <a:ea typeface="微软雅黑" panose="020B0503020204020204" pitchFamily="34" charset="-122"/>
            </a:endParaRPr>
          </a:p>
          <a:p>
            <a:pPr>
              <a:lnSpc>
                <a:spcPct val="150000"/>
              </a:lnSpc>
            </a:pPr>
            <a:r>
              <a:rPr lang="zh-CN" altLang="en-US" sz="900" dirty="0">
                <a:solidFill>
                  <a:schemeClr val="tx1">
                    <a:lumMod val="75000"/>
                    <a:lumOff val="25000"/>
                  </a:schemeClr>
                </a:solidFill>
                <a:latin typeface="微软雅黑" panose="020B0503020204020204" pitchFamily="34" charset="-122"/>
                <a:ea typeface="微软雅黑" panose="020B0503020204020204" pitchFamily="34" charset="-122"/>
              </a:rPr>
              <a:t>体检中心：健康体检</a:t>
            </a:r>
          </a:p>
        </p:txBody>
      </p:sp>
      <p:sp>
        <p:nvSpPr>
          <p:cNvPr id="32" name="圆角矩形 31"/>
          <p:cNvSpPr/>
          <p:nvPr/>
        </p:nvSpPr>
        <p:spPr>
          <a:xfrm>
            <a:off x="639551" y="3852238"/>
            <a:ext cx="3416320" cy="1009877"/>
          </a:xfrm>
          <a:prstGeom prst="roundRect">
            <a:avLst>
              <a:gd name="adj" fmla="val 5230"/>
            </a:avLst>
          </a:prstGeom>
          <a:noFill/>
          <a:ln w="3175">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eaLnBrk="0" fontAlgn="base" hangingPunct="0">
              <a:spcBef>
                <a:spcPct val="0"/>
              </a:spcBef>
              <a:spcAft>
                <a:spcPct val="0"/>
              </a:spcAft>
            </a:pPr>
            <a:endParaRPr lang="zh-CN" altLang="en-US" sz="1050"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26" name="标题 25"/>
          <p:cNvSpPr>
            <a:spLocks noGrp="1"/>
          </p:cNvSpPr>
          <p:nvPr>
            <p:ph type="title"/>
          </p:nvPr>
        </p:nvSpPr>
        <p:spPr/>
        <p:txBody>
          <a:bodyPr/>
          <a:lstStyle/>
          <a:p>
            <a:r>
              <a:rPr lang="zh-CN" altLang="en-US" dirty="0">
                <a:solidFill>
                  <a:srgbClr val="2179B1"/>
                </a:solidFill>
              </a:rPr>
              <a:t>方案应用设备</a:t>
            </a:r>
            <a:r>
              <a:rPr lang="en-US" altLang="zh-CN" dirty="0">
                <a:solidFill>
                  <a:srgbClr val="2179B1"/>
                </a:solidFill>
              </a:rPr>
              <a:t>|TE-5000Y-A</a:t>
            </a:r>
            <a:r>
              <a:rPr lang="zh-CN" altLang="en-US" dirty="0">
                <a:solidFill>
                  <a:srgbClr val="2179B1"/>
                </a:solidFill>
              </a:rPr>
              <a:t>型网络心电图机</a:t>
            </a:r>
          </a:p>
        </p:txBody>
      </p:sp>
      <p:sp>
        <p:nvSpPr>
          <p:cNvPr id="9" name="文本框 8"/>
          <p:cNvSpPr txBox="1"/>
          <p:nvPr/>
        </p:nvSpPr>
        <p:spPr>
          <a:xfrm>
            <a:off x="4228269" y="1070615"/>
            <a:ext cx="800219" cy="276999"/>
          </a:xfrm>
          <a:prstGeom prst="rect">
            <a:avLst/>
          </a:prstGeom>
          <a:noFill/>
        </p:spPr>
        <p:txBody>
          <a:bodyPr wrap="none" rtlCol="0">
            <a:spAutoFit/>
          </a:bodyPr>
          <a:lstStyle/>
          <a:p>
            <a:r>
              <a:rPr lang="zh-CN" altLang="en-US" sz="1200" b="1" dirty="0">
                <a:solidFill>
                  <a:srgbClr val="196494"/>
                </a:solidFill>
                <a:latin typeface="微软雅黑" panose="020B0503020204020204" pitchFamily="34" charset="-122"/>
                <a:ea typeface="微软雅黑" panose="020B0503020204020204" pitchFamily="34" charset="-122"/>
              </a:rPr>
              <a:t>产品亮点</a:t>
            </a:r>
          </a:p>
        </p:txBody>
      </p:sp>
      <p:sp>
        <p:nvSpPr>
          <p:cNvPr id="11" name="文本框 10"/>
          <p:cNvSpPr txBox="1"/>
          <p:nvPr/>
        </p:nvSpPr>
        <p:spPr>
          <a:xfrm>
            <a:off x="4228217" y="1455429"/>
            <a:ext cx="4448239" cy="3420577"/>
          </a:xfrm>
          <a:prstGeom prst="rect">
            <a:avLst/>
          </a:prstGeom>
          <a:noFill/>
        </p:spPr>
        <p:txBody>
          <a:bodyPr wrap="square" rtlCol="0" anchor="t">
            <a:noAutofit/>
          </a:bodyPr>
          <a:lstStyle/>
          <a:p>
            <a:pPr>
              <a:lnSpc>
                <a:spcPct val="150000"/>
              </a:lnSpc>
            </a:pPr>
            <a:r>
              <a:rPr lang="en-US" altLang="zh-CN" sz="10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20204" pitchFamily="34" charset="0"/>
                <a:sym typeface="+mn-ea"/>
              </a:rPr>
              <a:t>► </a:t>
            </a:r>
            <a:r>
              <a:rPr lang="zh-CN" altLang="en-US" sz="10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20204" pitchFamily="34" charset="0"/>
                <a:sym typeface="+mn-ea"/>
              </a:rPr>
              <a:t>便携</a:t>
            </a:r>
            <a:r>
              <a:rPr lang="zh-CN" altLang="en-US" sz="1000" b="1" dirty="0">
                <a:solidFill>
                  <a:schemeClr val="tx1">
                    <a:lumMod val="75000"/>
                    <a:lumOff val="25000"/>
                  </a:schemeClr>
                </a:solidFill>
                <a:latin typeface="微软雅黑" panose="020B0503020204020204" pitchFamily="34" charset="-122"/>
                <a:ea typeface="微软雅黑" panose="020B0503020204020204" pitchFamily="34" charset="-122"/>
                <a:sym typeface="+mn-ea"/>
              </a:rPr>
              <a:t>移动，互联互通</a:t>
            </a:r>
            <a:r>
              <a:rPr lang="zh-CN" altLang="en-US" sz="1000" b="1" dirty="0">
                <a:solidFill>
                  <a:schemeClr val="tx1">
                    <a:lumMod val="75000"/>
                    <a:lumOff val="25000"/>
                  </a:schemeClr>
                </a:solidFill>
                <a:latin typeface="微软雅黑" panose="020B0503020204020204" pitchFamily="34" charset="-122"/>
                <a:ea typeface="微软雅黑" panose="020B0503020204020204" pitchFamily="34" charset="-122"/>
                <a:cs typeface="微软雅黑 Light" panose="020B0502040204020203" charset="-122"/>
                <a:sym typeface="+mn-ea"/>
              </a:rPr>
              <a:t>：</a:t>
            </a:r>
            <a:r>
              <a:rPr lang="en-US" altLang="zh-CN" sz="1000" dirty="0">
                <a:solidFill>
                  <a:schemeClr val="tx1">
                    <a:lumMod val="75000"/>
                    <a:lumOff val="25000"/>
                  </a:schemeClr>
                </a:solidFill>
                <a:latin typeface="微软雅黑" panose="020B0503020204020204" pitchFamily="34" charset="-122"/>
                <a:ea typeface="微软雅黑" panose="020B0503020204020204" pitchFamily="34" charset="-122"/>
                <a:cs typeface="微软雅黑 Light" panose="020B0502040204020203" charset="-122"/>
                <a:sym typeface="+mn-ea"/>
              </a:rPr>
              <a:t>4G/</a:t>
            </a:r>
            <a:r>
              <a:rPr lang="en-US" altLang="zh-CN" sz="1000" dirty="0" err="1">
                <a:solidFill>
                  <a:schemeClr val="tx1">
                    <a:lumMod val="75000"/>
                    <a:lumOff val="25000"/>
                  </a:schemeClr>
                </a:solidFill>
                <a:latin typeface="微软雅黑" panose="020B0503020204020204" pitchFamily="34" charset="-122"/>
                <a:ea typeface="微软雅黑" panose="020B0503020204020204" pitchFamily="34" charset="-122"/>
                <a:cs typeface="微软雅黑 Light" panose="020B0502040204020203" charset="-122"/>
                <a:sym typeface="+mn-ea"/>
              </a:rPr>
              <a:t>WiFi</a:t>
            </a: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cs typeface="微软雅黑 Light" panose="020B0502040204020203" charset="-122"/>
                <a:sym typeface="+mn-ea"/>
              </a:rPr>
              <a:t>无线传输，全网覆盖，打破传统心电图室固定场所使用限制。设备手机大小，单手握持，方便携带。医生</a:t>
            </a:r>
            <a:r>
              <a:rPr lang="en-US" altLang="zh-CN" sz="1000" dirty="0">
                <a:solidFill>
                  <a:schemeClr val="tx1">
                    <a:lumMod val="75000"/>
                    <a:lumOff val="25000"/>
                  </a:schemeClr>
                </a:solidFill>
                <a:latin typeface="微软雅黑" panose="020B0503020204020204" pitchFamily="34" charset="-122"/>
                <a:ea typeface="微软雅黑" panose="020B0503020204020204" pitchFamily="34" charset="-122"/>
                <a:cs typeface="微软雅黑 Light" panose="020B0502040204020203" charset="-122"/>
                <a:sym typeface="+mn-ea"/>
              </a:rPr>
              <a:t>/</a:t>
            </a: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cs typeface="微软雅黑 Light" panose="020B0502040204020203" charset="-122"/>
                <a:sym typeface="+mn-ea"/>
              </a:rPr>
              <a:t>护士可以携带设备到患者床旁进行心电采集，数据远传分析端，实现采集、分析流程的自动化，心电数据和报告的共享，同时给患者带来高效服务和品质医疗体验。</a:t>
            </a:r>
            <a:endParaRPr lang="en-US" altLang="zh-CN" sz="1000" dirty="0">
              <a:solidFill>
                <a:schemeClr val="tx1">
                  <a:lumMod val="75000"/>
                  <a:lumOff val="25000"/>
                </a:schemeClr>
              </a:solidFill>
              <a:latin typeface="微软雅黑" panose="020B0503020204020204" pitchFamily="34" charset="-122"/>
              <a:ea typeface="微软雅黑" panose="020B0503020204020204" pitchFamily="34" charset="-122"/>
              <a:cs typeface="微软雅黑 Light" panose="020B0502040204020203" charset="-122"/>
              <a:sym typeface="+mn-ea"/>
            </a:endParaRPr>
          </a:p>
          <a:p>
            <a:pPr>
              <a:lnSpc>
                <a:spcPct val="150000"/>
              </a:lnSpc>
            </a:pPr>
            <a:r>
              <a:rPr lang="en-US" altLang="zh-CN" sz="10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20204" pitchFamily="34" charset="0"/>
                <a:sym typeface="+mn-ea"/>
              </a:rPr>
              <a:t>► </a:t>
            </a:r>
            <a:r>
              <a:rPr lang="zh-CN" altLang="en-US" sz="10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20204" pitchFamily="34" charset="0"/>
                <a:sym typeface="+mn-ea"/>
              </a:rPr>
              <a:t>智能建档，快捷操作</a:t>
            </a:r>
            <a:r>
              <a:rPr lang="zh-CN" altLang="en-US" sz="1000" b="1" dirty="0">
                <a:solidFill>
                  <a:schemeClr val="tx1">
                    <a:lumMod val="75000"/>
                    <a:lumOff val="25000"/>
                  </a:schemeClr>
                </a:solidFill>
                <a:latin typeface="微软雅黑" panose="020B0503020204020204" pitchFamily="34" charset="-122"/>
                <a:ea typeface="微软雅黑" panose="020B0503020204020204" pitchFamily="34" charset="-122"/>
                <a:cs typeface="微软雅黑 Light" panose="020B0502040204020203" charset="-122"/>
                <a:sym typeface="+mn-ea"/>
              </a:rPr>
              <a:t>：</a:t>
            </a: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cs typeface="微软雅黑 Light" panose="020B0502040204020203" charset="-122"/>
                <a:sym typeface="+mn-ea"/>
              </a:rPr>
              <a:t>设备支持扫码建档、远程下单等多种快捷的用户录入方式，智能化系统，操作简单，提高效率。</a:t>
            </a:r>
            <a:endParaRPr lang="en-US" altLang="zh-CN" sz="1000" dirty="0">
              <a:solidFill>
                <a:schemeClr val="tx1">
                  <a:lumMod val="75000"/>
                  <a:lumOff val="25000"/>
                </a:schemeClr>
              </a:solidFill>
              <a:latin typeface="微软雅黑" panose="020B0503020204020204" pitchFamily="34" charset="-122"/>
              <a:ea typeface="微软雅黑" panose="020B0503020204020204" pitchFamily="34" charset="-122"/>
              <a:cs typeface="微软雅黑 Light" panose="020B0502040204020203" charset="-122"/>
              <a:sym typeface="+mn-ea"/>
            </a:endParaRPr>
          </a:p>
          <a:p>
            <a:pPr algn="l">
              <a:lnSpc>
                <a:spcPct val="150000"/>
              </a:lnSpc>
            </a:pPr>
            <a:r>
              <a:rPr lang="en-US" altLang="zh-CN" sz="10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20204" pitchFamily="34" charset="0"/>
                <a:sym typeface="+mn-ea"/>
              </a:rPr>
              <a:t>► </a:t>
            </a:r>
            <a:r>
              <a:rPr lang="zh-CN" altLang="en-US" sz="10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20204" pitchFamily="34" charset="0"/>
                <a:sym typeface="+mn-ea"/>
              </a:rPr>
              <a:t>卓越性能，实用设计：</a:t>
            </a: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20204" pitchFamily="34" charset="0"/>
                <a:sym typeface="+mn-ea"/>
              </a:rPr>
              <a:t>同屏显示</a:t>
            </a:r>
            <a:r>
              <a:rPr lang="en-US" altLang="zh-CN" sz="10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20204" pitchFamily="34" charset="0"/>
                <a:sym typeface="+mn-ea"/>
              </a:rPr>
              <a:t>12</a:t>
            </a: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20204" pitchFamily="34" charset="0"/>
                <a:sym typeface="+mn-ea"/>
              </a:rPr>
              <a:t>导联，可加做</a:t>
            </a:r>
            <a:r>
              <a:rPr lang="en-US" altLang="zh-CN" sz="10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20204" pitchFamily="34" charset="0"/>
                <a:sym typeface="+mn-ea"/>
              </a:rPr>
              <a:t>18</a:t>
            </a: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20204" pitchFamily="34" charset="0"/>
                <a:sym typeface="+mn-ea"/>
              </a:rPr>
              <a:t>导，高精度采集，最大支持</a:t>
            </a:r>
            <a:r>
              <a:rPr lang="en-US" altLang="zh-CN" sz="10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20204" pitchFamily="34" charset="0"/>
                <a:sym typeface="+mn-ea"/>
              </a:rPr>
              <a:t>16k</a:t>
            </a: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20204" pitchFamily="34" charset="0"/>
                <a:sym typeface="+mn-ea"/>
              </a:rPr>
              <a:t>采样率，内置锂电池供电可连续使用</a:t>
            </a:r>
            <a:r>
              <a:rPr lang="en-US" altLang="zh-CN" sz="10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20204" pitchFamily="34" charset="0"/>
                <a:sym typeface="+mn-ea"/>
              </a:rPr>
              <a:t>8</a:t>
            </a: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20204" pitchFamily="34" charset="0"/>
                <a:sym typeface="+mn-ea"/>
              </a:rPr>
              <a:t>小时以上。</a:t>
            </a:r>
            <a:endParaRPr lang="en-US" altLang="zh-CN" sz="10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20204" pitchFamily="34" charset="0"/>
              <a:sym typeface="+mn-ea"/>
            </a:endParaRPr>
          </a:p>
          <a:p>
            <a:pPr algn="l">
              <a:lnSpc>
                <a:spcPct val="150000"/>
              </a:lnSpc>
            </a:pPr>
            <a:r>
              <a:rPr lang="en-US" altLang="zh-CN" sz="10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20204" pitchFamily="34" charset="0"/>
                <a:sym typeface="+mn-ea"/>
              </a:rPr>
              <a:t>► </a:t>
            </a:r>
            <a:r>
              <a:rPr lang="zh-CN" altLang="en-US" sz="10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20204" pitchFamily="34" charset="0"/>
                <a:sym typeface="+mn-ea"/>
              </a:rPr>
              <a:t>分析报告显示、打印</a:t>
            </a:r>
            <a:r>
              <a:rPr lang="zh-CN" altLang="en-US" sz="1000" b="1" dirty="0">
                <a:solidFill>
                  <a:schemeClr val="tx1">
                    <a:lumMod val="75000"/>
                    <a:lumOff val="25000"/>
                  </a:schemeClr>
                </a:solidFill>
                <a:latin typeface="微软雅黑" panose="020B0503020204020204" pitchFamily="34" charset="-122"/>
                <a:ea typeface="微软雅黑" panose="020B0503020204020204" pitchFamily="34" charset="-122"/>
                <a:cs typeface="微软雅黑 Light" panose="020B0502040204020203" charset="-122"/>
                <a:sym typeface="+mn-ea"/>
              </a:rPr>
              <a:t>：</a:t>
            </a: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cs typeface="微软雅黑 Light" panose="020B0502040204020203" charset="-122"/>
                <a:sym typeface="+mn-ea"/>
              </a:rPr>
              <a:t>设备端可显示心电</a:t>
            </a:r>
            <a:r>
              <a:rPr lang="en-US" altLang="zh-CN" sz="1000" dirty="0">
                <a:solidFill>
                  <a:schemeClr val="tx1">
                    <a:lumMod val="75000"/>
                    <a:lumOff val="25000"/>
                  </a:schemeClr>
                </a:solidFill>
                <a:latin typeface="微软雅黑" panose="020B0503020204020204" pitchFamily="34" charset="-122"/>
                <a:ea typeface="微软雅黑" panose="020B0503020204020204" pitchFamily="34" charset="-122"/>
                <a:cs typeface="微软雅黑 Light" panose="020B0502040204020203" charset="-122"/>
                <a:sym typeface="+mn-ea"/>
              </a:rPr>
              <a:t>AI</a:t>
            </a: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cs typeface="微软雅黑 Light" panose="020B0502040204020203" charset="-122"/>
                <a:sym typeface="+mn-ea"/>
              </a:rPr>
              <a:t>辅助分析报告，连接蓝牙打印机可进行报告打印。</a:t>
            </a:r>
            <a:endParaRPr lang="zh-CN" altLang="en-US" sz="3200" b="1" dirty="0">
              <a:solidFill>
                <a:schemeClr val="bg1"/>
              </a:solidFill>
              <a:latin typeface="微软雅黑" panose="020B0503020204020204" pitchFamily="34" charset="-122"/>
              <a:ea typeface="微软雅黑" panose="020B0503020204020204" pitchFamily="34" charset="-122"/>
              <a:cs typeface="微软雅黑 Light" panose="020B0502040204020203" charset="-122"/>
              <a:sym typeface="+mn-ea"/>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文本框 25"/>
          <p:cNvSpPr txBox="1"/>
          <p:nvPr/>
        </p:nvSpPr>
        <p:spPr>
          <a:xfrm>
            <a:off x="4228269" y="932650"/>
            <a:ext cx="800219" cy="276999"/>
          </a:xfrm>
          <a:prstGeom prst="rect">
            <a:avLst/>
          </a:prstGeom>
          <a:noFill/>
        </p:spPr>
        <p:txBody>
          <a:bodyPr wrap="none" rtlCol="0">
            <a:spAutoFit/>
          </a:bodyPr>
          <a:lstStyle/>
          <a:p>
            <a:r>
              <a:rPr lang="zh-CN" altLang="en-US" sz="1200" b="1" dirty="0">
                <a:solidFill>
                  <a:srgbClr val="196494"/>
                </a:solidFill>
                <a:latin typeface="微软雅黑" panose="020B0503020204020204" pitchFamily="34" charset="-122"/>
                <a:ea typeface="微软雅黑" panose="020B0503020204020204" pitchFamily="34" charset="-122"/>
              </a:rPr>
              <a:t>产品亮点</a:t>
            </a:r>
          </a:p>
        </p:txBody>
      </p:sp>
      <p:sp>
        <p:nvSpPr>
          <p:cNvPr id="36" name="文本框 35"/>
          <p:cNvSpPr txBox="1"/>
          <p:nvPr/>
        </p:nvSpPr>
        <p:spPr>
          <a:xfrm>
            <a:off x="539552" y="3291830"/>
            <a:ext cx="800219" cy="276999"/>
          </a:xfrm>
          <a:prstGeom prst="rect">
            <a:avLst/>
          </a:prstGeom>
          <a:noFill/>
        </p:spPr>
        <p:txBody>
          <a:bodyPr wrap="none" rtlCol="0">
            <a:spAutoFit/>
          </a:bodyPr>
          <a:lstStyle/>
          <a:p>
            <a:pPr>
              <a:spcAft>
                <a:spcPts val="600"/>
              </a:spcAft>
            </a:pPr>
            <a:r>
              <a:rPr lang="zh-CN" altLang="en-US" sz="1200" b="1" dirty="0">
                <a:solidFill>
                  <a:srgbClr val="196494"/>
                </a:solidFill>
                <a:latin typeface="微软雅黑" panose="020B0503020204020204" pitchFamily="34" charset="-122"/>
                <a:ea typeface="微软雅黑" panose="020B0503020204020204" pitchFamily="34" charset="-122"/>
              </a:rPr>
              <a:t>适用场景</a:t>
            </a:r>
            <a:endParaRPr lang="en-US" altLang="zh-CN" sz="1200" b="1" dirty="0">
              <a:solidFill>
                <a:srgbClr val="196494"/>
              </a:solidFill>
              <a:latin typeface="微软雅黑" panose="020B0503020204020204" pitchFamily="34" charset="-122"/>
              <a:ea typeface="微软雅黑" panose="020B0503020204020204" pitchFamily="34" charset="-122"/>
            </a:endParaRPr>
          </a:p>
        </p:txBody>
      </p:sp>
      <p:sp>
        <p:nvSpPr>
          <p:cNvPr id="37" name="圆角矩形 36"/>
          <p:cNvSpPr/>
          <p:nvPr/>
        </p:nvSpPr>
        <p:spPr>
          <a:xfrm>
            <a:off x="539750" y="3703955"/>
            <a:ext cx="3285490" cy="640715"/>
          </a:xfrm>
          <a:prstGeom prst="roundRect">
            <a:avLst/>
          </a:prstGeom>
          <a:noFill/>
          <a:ln w="3175">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eaLnBrk="0" fontAlgn="base" hangingPunct="0">
              <a:lnSpc>
                <a:spcPct val="150000"/>
              </a:lnSpc>
              <a:spcBef>
                <a:spcPct val="0"/>
              </a:spcBef>
              <a:spcAft>
                <a:spcPct val="0"/>
              </a:spcAft>
            </a:pPr>
            <a:r>
              <a:rPr lang="zh-CN" altLang="en-US" sz="1050" dirty="0">
                <a:solidFill>
                  <a:schemeClr val="tx1">
                    <a:lumMod val="75000"/>
                    <a:lumOff val="25000"/>
                  </a:schemeClr>
                </a:solidFill>
                <a:latin typeface="微软雅黑" panose="020B0503020204020204" pitchFamily="34" charset="-122"/>
                <a:ea typeface="微软雅黑" panose="020B0503020204020204" pitchFamily="34" charset="-122"/>
              </a:rPr>
              <a:t>院内院外监测、术后康复检查、随访管理、慢病管理、社区健康管理等</a:t>
            </a:r>
          </a:p>
        </p:txBody>
      </p:sp>
      <p:sp>
        <p:nvSpPr>
          <p:cNvPr id="3" name="标题 2"/>
          <p:cNvSpPr>
            <a:spLocks noGrp="1"/>
          </p:cNvSpPr>
          <p:nvPr>
            <p:ph type="title"/>
          </p:nvPr>
        </p:nvSpPr>
        <p:spPr>
          <a:xfrm>
            <a:off x="457200" y="1"/>
            <a:ext cx="7830776" cy="857250"/>
          </a:xfrm>
        </p:spPr>
        <p:txBody>
          <a:bodyPr/>
          <a:lstStyle/>
          <a:p>
            <a:r>
              <a:rPr>
                <a:solidFill>
                  <a:srgbClr val="2179B1"/>
                </a:solidFill>
                <a:sym typeface="+mn-ea"/>
              </a:rPr>
              <a:t>方案应用设备</a:t>
            </a:r>
            <a:r>
              <a:rPr lang="en-US" altLang="zh-CN" dirty="0">
                <a:solidFill>
                  <a:srgbClr val="2179B1"/>
                </a:solidFill>
              </a:rPr>
              <a:t>|TE-8000Y-F</a:t>
            </a:r>
            <a:r>
              <a:rPr lang="zh-CN" altLang="en-US" dirty="0">
                <a:solidFill>
                  <a:srgbClr val="2179B1"/>
                </a:solidFill>
              </a:rPr>
              <a:t>型无线多参数监测仪</a:t>
            </a:r>
          </a:p>
        </p:txBody>
      </p:sp>
      <p:pic>
        <p:nvPicPr>
          <p:cNvPr id="7" name="Picture 2" descr="E:\BSJ\E\工作资料\公司及产品介绍\产品效果图\HM117A1-不带线.png"/>
          <p:cNvPicPr>
            <a:picLocks noChangeAspect="1" noChangeArrowheads="1"/>
          </p:cNvPicPr>
          <p:nvPr>
            <p:custDataLst>
              <p:tags r:id="rId1"/>
            </p:custDataLst>
          </p:nvPr>
        </p:nvPicPr>
        <p:blipFill>
          <a:blip r:embed="rId4" cstate="print"/>
          <a:srcRect/>
          <a:stretch>
            <a:fillRect/>
          </a:stretch>
        </p:blipFill>
        <p:spPr bwMode="auto">
          <a:xfrm rot="300000">
            <a:off x="2657904" y="1918510"/>
            <a:ext cx="1369130" cy="998542"/>
          </a:xfrm>
          <a:prstGeom prst="rect">
            <a:avLst/>
          </a:prstGeom>
          <a:noFill/>
        </p:spPr>
      </p:pic>
      <p:pic>
        <p:nvPicPr>
          <p:cNvPr id="9" name="Picture 3" descr="C:\Users\Administrator\Desktop\609不带音插.png"/>
          <p:cNvPicPr>
            <a:picLocks noChangeAspect="1" noChangeArrowheads="1"/>
          </p:cNvPicPr>
          <p:nvPr>
            <p:custDataLst>
              <p:tags r:id="rId2"/>
            </p:custDataLst>
          </p:nvPr>
        </p:nvPicPr>
        <p:blipFill>
          <a:blip r:embed="rId5" cstate="print"/>
          <a:srcRect l="15348" t="9864" r="3506" b="12574"/>
          <a:stretch>
            <a:fillRect/>
          </a:stretch>
        </p:blipFill>
        <p:spPr bwMode="auto">
          <a:xfrm rot="240000">
            <a:off x="503881" y="1224302"/>
            <a:ext cx="2716746" cy="1678324"/>
          </a:xfrm>
          <a:prstGeom prst="rect">
            <a:avLst/>
          </a:prstGeom>
          <a:noFill/>
        </p:spPr>
      </p:pic>
      <p:sp>
        <p:nvSpPr>
          <p:cNvPr id="41" name="文本框 40"/>
          <p:cNvSpPr txBox="1"/>
          <p:nvPr/>
        </p:nvSpPr>
        <p:spPr>
          <a:xfrm>
            <a:off x="4228269" y="1285049"/>
            <a:ext cx="4649571" cy="3420577"/>
          </a:xfrm>
          <a:prstGeom prst="rect">
            <a:avLst/>
          </a:prstGeom>
          <a:noFill/>
        </p:spPr>
        <p:txBody>
          <a:bodyPr wrap="square" rtlCol="0" anchor="t">
            <a:noAutofit/>
          </a:bodyPr>
          <a:lstStyle/>
          <a:p>
            <a:pPr>
              <a:lnSpc>
                <a:spcPct val="150000"/>
              </a:lnSpc>
            </a:pPr>
            <a:r>
              <a:rPr lang="en-US" altLang="zh-CN" sz="10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20204" pitchFamily="34" charset="0"/>
                <a:sym typeface="+mn-ea"/>
              </a:rPr>
              <a:t>► </a:t>
            </a:r>
            <a:r>
              <a:rPr lang="zh-CN" altLang="en-US" sz="1000" b="1" dirty="0">
                <a:solidFill>
                  <a:schemeClr val="tx1">
                    <a:lumMod val="75000"/>
                    <a:lumOff val="25000"/>
                  </a:schemeClr>
                </a:solidFill>
                <a:latin typeface="微软雅黑" panose="020B0503020204020204" pitchFamily="34" charset="-122"/>
                <a:ea typeface="微软雅黑" panose="020B0503020204020204" pitchFamily="34" charset="-122"/>
                <a:sym typeface="+mn-ea"/>
              </a:rPr>
              <a:t>多</a:t>
            </a:r>
            <a:r>
              <a:rPr lang="zh-CN" altLang="en-US" sz="1000" b="1" dirty="0">
                <a:solidFill>
                  <a:schemeClr val="tx1">
                    <a:lumMod val="75000"/>
                    <a:lumOff val="25000"/>
                  </a:schemeClr>
                </a:solidFill>
                <a:latin typeface="微软雅黑" panose="020B0503020204020204" pitchFamily="34" charset="-122"/>
                <a:ea typeface="微软雅黑" panose="020B0503020204020204" pitchFamily="34" charset="-122"/>
                <a:cs typeface="微软雅黑 Light" panose="020B0502040204020203" charset="-122"/>
                <a:sym typeface="+mn-ea"/>
              </a:rPr>
              <a:t>参数实时同步监测：</a:t>
            </a: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cs typeface="微软雅黑 Light" panose="020B0502040204020203" charset="-122"/>
                <a:sym typeface="+mn-ea"/>
              </a:rPr>
              <a:t>心电、呼吸、血氧、脉率、血压参数实时、连续、长时监测，</a:t>
            </a:r>
            <a:r>
              <a:rPr lang="en-US" altLang="zh-CN" sz="1000" dirty="0">
                <a:solidFill>
                  <a:schemeClr val="tx1">
                    <a:lumMod val="75000"/>
                    <a:lumOff val="25000"/>
                  </a:schemeClr>
                </a:solidFill>
                <a:latin typeface="微软雅黑" panose="020B0503020204020204" pitchFamily="34" charset="-122"/>
                <a:ea typeface="微软雅黑" panose="020B0503020204020204" pitchFamily="34" charset="-122"/>
                <a:cs typeface="微软雅黑 Light" panose="020B0502040204020203" charset="-122"/>
                <a:sym typeface="+mn-ea"/>
              </a:rPr>
              <a:t>3</a:t>
            </a: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cs typeface="微软雅黑 Light" panose="020B0502040204020203" charset="-122"/>
                <a:sym typeface="+mn-ea"/>
              </a:rPr>
              <a:t>导</a:t>
            </a:r>
            <a:r>
              <a:rPr lang="en-US" altLang="zh-CN" sz="1000" dirty="0">
                <a:solidFill>
                  <a:schemeClr val="tx1">
                    <a:lumMod val="75000"/>
                    <a:lumOff val="25000"/>
                  </a:schemeClr>
                </a:solidFill>
                <a:latin typeface="微软雅黑" panose="020B0503020204020204" pitchFamily="34" charset="-122"/>
                <a:ea typeface="微软雅黑" panose="020B0503020204020204" pitchFamily="34" charset="-122"/>
                <a:cs typeface="微软雅黑 Light" panose="020B0502040204020203" charset="-122"/>
                <a:sym typeface="+mn-ea"/>
              </a:rPr>
              <a:t>/12</a:t>
            </a: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cs typeface="微软雅黑 Light" panose="020B0502040204020203" charset="-122"/>
                <a:sym typeface="+mn-ea"/>
              </a:rPr>
              <a:t>导联心电可选，为医护人员提供第一手的诊疗依据。</a:t>
            </a:r>
            <a:endParaRPr lang="en-US" altLang="zh-CN" sz="1000" dirty="0">
              <a:solidFill>
                <a:schemeClr val="tx1">
                  <a:lumMod val="75000"/>
                  <a:lumOff val="25000"/>
                </a:schemeClr>
              </a:solidFill>
              <a:latin typeface="微软雅黑" panose="020B0503020204020204" pitchFamily="34" charset="-122"/>
              <a:ea typeface="微软雅黑" panose="020B0503020204020204" pitchFamily="34" charset="-122"/>
              <a:cs typeface="微软雅黑 Light" panose="020B0502040204020203" charset="-122"/>
              <a:sym typeface="+mn-ea"/>
            </a:endParaRPr>
          </a:p>
          <a:p>
            <a:pPr>
              <a:lnSpc>
                <a:spcPct val="150000"/>
              </a:lnSpc>
            </a:pPr>
            <a:r>
              <a:rPr lang="en-US" altLang="zh-CN" sz="10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20204" pitchFamily="34" charset="0"/>
                <a:sym typeface="+mn-ea"/>
              </a:rPr>
              <a:t>► </a:t>
            </a:r>
            <a:r>
              <a:rPr lang="zh-CN" altLang="en-US" sz="1000" b="1" dirty="0">
                <a:solidFill>
                  <a:schemeClr val="tx1">
                    <a:lumMod val="75000"/>
                    <a:lumOff val="25000"/>
                  </a:schemeClr>
                </a:solidFill>
                <a:latin typeface="微软雅黑" panose="020B0503020204020204" pitchFamily="34" charset="-122"/>
                <a:ea typeface="微软雅黑" panose="020B0503020204020204" pitchFamily="34" charset="-122"/>
                <a:cs typeface="微软雅黑 Light" panose="020B0502040204020203" charset="-122"/>
                <a:sym typeface="+mn-ea"/>
              </a:rPr>
              <a:t>多种模式，一机多用：</a:t>
            </a: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cs typeface="微软雅黑 Light" panose="020B0502040204020203" charset="-122"/>
                <a:sym typeface="+mn-ea"/>
              </a:rPr>
              <a:t>可灵活选择多参实时监测或单参监测，也可作为动态心电图机、动态血压监测仪使用，设备端和平台端均可发起测量。</a:t>
            </a:r>
            <a:endParaRPr lang="en-US" altLang="zh-CN" sz="1000" dirty="0">
              <a:solidFill>
                <a:schemeClr val="tx1">
                  <a:lumMod val="75000"/>
                  <a:lumOff val="25000"/>
                </a:schemeClr>
              </a:solidFill>
              <a:latin typeface="微软雅黑" panose="020B0503020204020204" pitchFamily="34" charset="-122"/>
              <a:ea typeface="微软雅黑" panose="020B0503020204020204" pitchFamily="34" charset="-122"/>
              <a:cs typeface="微软雅黑 Light" panose="020B0502040204020203" charset="-122"/>
              <a:sym typeface="+mn-ea"/>
            </a:endParaRPr>
          </a:p>
          <a:p>
            <a:pPr>
              <a:lnSpc>
                <a:spcPct val="150000"/>
              </a:lnSpc>
            </a:pPr>
            <a:r>
              <a:rPr lang="en-US" altLang="zh-CN" sz="10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20204" pitchFamily="34" charset="0"/>
                <a:sym typeface="+mn-ea"/>
              </a:rPr>
              <a:t>► </a:t>
            </a:r>
            <a:r>
              <a:rPr lang="zh-CN" altLang="en-US" sz="1000" b="1" dirty="0">
                <a:solidFill>
                  <a:schemeClr val="tx1">
                    <a:lumMod val="75000"/>
                    <a:lumOff val="25000"/>
                  </a:schemeClr>
                </a:solidFill>
                <a:latin typeface="微软雅黑" panose="020B0503020204020204" pitchFamily="34" charset="-122"/>
                <a:ea typeface="微软雅黑" panose="020B0503020204020204" pitchFamily="34" charset="-122"/>
                <a:sym typeface="+mn-ea"/>
              </a:rPr>
              <a:t>移动监测，服务延伸</a:t>
            </a:r>
            <a:r>
              <a:rPr lang="zh-CN" altLang="en-US" sz="1000" b="1" dirty="0">
                <a:solidFill>
                  <a:schemeClr val="tx1">
                    <a:lumMod val="75000"/>
                    <a:lumOff val="25000"/>
                  </a:schemeClr>
                </a:solidFill>
                <a:latin typeface="微软雅黑" panose="020B0503020204020204" pitchFamily="34" charset="-122"/>
                <a:ea typeface="微软雅黑" panose="020B0503020204020204" pitchFamily="34" charset="-122"/>
                <a:cs typeface="微软雅黑 Light" panose="020B0502040204020203" charset="-122"/>
                <a:sym typeface="+mn-ea"/>
              </a:rPr>
              <a:t>：</a:t>
            </a:r>
            <a:r>
              <a:rPr lang="en-US" altLang="zh-CN" sz="1000" b="1" dirty="0">
                <a:solidFill>
                  <a:schemeClr val="tx1">
                    <a:lumMod val="75000"/>
                    <a:lumOff val="25000"/>
                  </a:schemeClr>
                </a:solidFill>
                <a:latin typeface="微软雅黑" panose="020B0503020204020204" pitchFamily="34" charset="-122"/>
                <a:ea typeface="微软雅黑" panose="020B0503020204020204" pitchFamily="34" charset="-122"/>
                <a:cs typeface="微软雅黑 Light" panose="020B0502040204020203" charset="-122"/>
                <a:sym typeface="+mn-ea"/>
              </a:rPr>
              <a:t>4G/</a:t>
            </a:r>
            <a:r>
              <a:rPr lang="en-US" altLang="zh-CN" sz="1000" b="1" dirty="0" err="1">
                <a:solidFill>
                  <a:schemeClr val="tx1">
                    <a:lumMod val="75000"/>
                    <a:lumOff val="25000"/>
                  </a:schemeClr>
                </a:solidFill>
                <a:latin typeface="微软雅黑" panose="020B0503020204020204" pitchFamily="34" charset="-122"/>
                <a:ea typeface="微软雅黑" panose="020B0503020204020204" pitchFamily="34" charset="-122"/>
                <a:cs typeface="微软雅黑 Light" panose="020B0502040204020203" charset="-122"/>
                <a:sym typeface="+mn-ea"/>
              </a:rPr>
              <a:t>WiFi</a:t>
            </a:r>
            <a:r>
              <a:rPr lang="zh-CN" altLang="en-US" sz="1000" b="1" dirty="0">
                <a:solidFill>
                  <a:schemeClr val="tx1">
                    <a:lumMod val="75000"/>
                    <a:lumOff val="25000"/>
                  </a:schemeClr>
                </a:solidFill>
                <a:latin typeface="微软雅黑" panose="020B0503020204020204" pitchFamily="34" charset="-122"/>
                <a:ea typeface="微软雅黑" panose="020B0503020204020204" pitchFamily="34" charset="-122"/>
                <a:cs typeface="微软雅黑 Light" panose="020B0502040204020203" charset="-122"/>
                <a:sym typeface="+mn-ea"/>
              </a:rPr>
              <a:t>无线传输，全网覆盖，</a:t>
            </a: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cs typeface="微软雅黑 Light" panose="020B0502040204020203" charset="-122"/>
                <a:sym typeface="+mn-ea"/>
              </a:rPr>
              <a:t>打破传统遥测监测边界，患者行动自如，脱离病床的束缚，扩大活动范围，同时拓宽院外监护场景，从急救、转运、入院、检查到康复全生命周期内保持数据的连续性和完整性。</a:t>
            </a:r>
            <a:endParaRPr lang="en-US" altLang="zh-CN" sz="1000" dirty="0">
              <a:solidFill>
                <a:schemeClr val="tx1">
                  <a:lumMod val="75000"/>
                  <a:lumOff val="25000"/>
                </a:schemeClr>
              </a:solidFill>
              <a:latin typeface="微软雅黑" panose="020B0503020204020204" pitchFamily="34" charset="-122"/>
              <a:ea typeface="微软雅黑" panose="020B0503020204020204" pitchFamily="34" charset="-122"/>
              <a:cs typeface="微软雅黑 Light" panose="020B0502040204020203" charset="-122"/>
              <a:sym typeface="+mn-ea"/>
            </a:endParaRPr>
          </a:p>
          <a:p>
            <a:pPr>
              <a:lnSpc>
                <a:spcPct val="150000"/>
              </a:lnSpc>
            </a:pPr>
            <a:r>
              <a:rPr lang="en-US" altLang="zh-CN" sz="10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20204" pitchFamily="34" charset="0"/>
                <a:sym typeface="+mn-ea"/>
              </a:rPr>
              <a:t>► </a:t>
            </a:r>
            <a:r>
              <a:rPr lang="zh-CN" altLang="en-US" sz="1000" b="1" dirty="0">
                <a:solidFill>
                  <a:schemeClr val="tx1">
                    <a:lumMod val="75000"/>
                    <a:lumOff val="25000"/>
                  </a:schemeClr>
                </a:solidFill>
                <a:latin typeface="微软雅黑" panose="020B0503020204020204" pitchFamily="34" charset="-122"/>
                <a:ea typeface="微软雅黑" panose="020B0503020204020204" pitchFamily="34" charset="-122"/>
                <a:sym typeface="+mn-ea"/>
              </a:rPr>
              <a:t>便携轻薄，</a:t>
            </a:r>
            <a:r>
              <a:rPr lang="zh-CN" altLang="en-US" sz="1000" b="1" dirty="0">
                <a:solidFill>
                  <a:schemeClr val="tx1">
                    <a:lumMod val="75000"/>
                    <a:lumOff val="25000"/>
                  </a:schemeClr>
                </a:solidFill>
                <a:latin typeface="微软雅黑" panose="020B0503020204020204" pitchFamily="34" charset="-122"/>
                <a:ea typeface="微软雅黑" panose="020B0503020204020204" pitchFamily="34" charset="-122"/>
                <a:cs typeface="微软雅黑 Light" panose="020B0502040204020203" charset="-122"/>
                <a:sym typeface="+mn-ea"/>
              </a:rPr>
              <a:t>舒适体验：</a:t>
            </a: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sym typeface="+mn-ea"/>
              </a:rPr>
              <a:t>手机大小，</a:t>
            </a: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cs typeface="微软雅黑 Light" panose="020B0502040204020203" charset="-122"/>
                <a:sym typeface="+mn-ea"/>
              </a:rPr>
              <a:t>方便携带，分体式设计，灵活配置，给予患者舒适的穿戴体验。</a:t>
            </a:r>
            <a:endParaRPr lang="en-US" altLang="zh-CN" sz="1000" dirty="0">
              <a:solidFill>
                <a:schemeClr val="tx1">
                  <a:lumMod val="75000"/>
                  <a:lumOff val="25000"/>
                </a:schemeClr>
              </a:solidFill>
              <a:latin typeface="微软雅黑" panose="020B0503020204020204" pitchFamily="34" charset="-122"/>
              <a:ea typeface="微软雅黑" panose="020B0503020204020204" pitchFamily="34" charset="-122"/>
              <a:cs typeface="微软雅黑 Light" panose="020B0502040204020203" charset="-122"/>
              <a:sym typeface="+mn-ea"/>
            </a:endParaRPr>
          </a:p>
          <a:p>
            <a:pPr algn="l">
              <a:lnSpc>
                <a:spcPct val="150000"/>
              </a:lnSpc>
            </a:pPr>
            <a:r>
              <a:rPr lang="en-US" altLang="zh-CN" sz="10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20204" pitchFamily="34" charset="0"/>
                <a:sym typeface="+mn-ea"/>
              </a:rPr>
              <a:t>► </a:t>
            </a:r>
            <a:r>
              <a:rPr lang="zh-CN" altLang="en-US" sz="1000" b="1" dirty="0">
                <a:solidFill>
                  <a:schemeClr val="tx1">
                    <a:lumMod val="75000"/>
                    <a:lumOff val="25000"/>
                  </a:schemeClr>
                </a:solidFill>
                <a:latin typeface="微软雅黑" panose="020B0503020204020204" pitchFamily="34" charset="-122"/>
                <a:ea typeface="微软雅黑" panose="020B0503020204020204" pitchFamily="34" charset="-122"/>
                <a:cs typeface="微软雅黑 Light" panose="020B0502040204020203" charset="-122"/>
                <a:sym typeface="+mn-ea"/>
              </a:rPr>
              <a:t>显示直观，</a:t>
            </a:r>
            <a:r>
              <a:rPr lang="en-US" altLang="zh-CN" sz="1000" b="1" dirty="0" err="1">
                <a:solidFill>
                  <a:schemeClr val="tx1">
                    <a:lumMod val="75000"/>
                    <a:lumOff val="25000"/>
                  </a:schemeClr>
                </a:solidFill>
                <a:latin typeface="微软雅黑" panose="020B0503020204020204" pitchFamily="34" charset="-122"/>
                <a:ea typeface="微软雅黑" panose="020B0503020204020204" pitchFamily="34" charset="-122"/>
                <a:cs typeface="微软雅黑 Light" panose="020B0502040204020203" charset="-122"/>
                <a:sym typeface="+mn-ea"/>
              </a:rPr>
              <a:t>交互友好</a:t>
            </a:r>
            <a:r>
              <a:rPr lang="zh-CN" altLang="en-US" sz="1000" b="1" dirty="0">
                <a:solidFill>
                  <a:schemeClr val="tx1">
                    <a:lumMod val="75000"/>
                    <a:lumOff val="25000"/>
                  </a:schemeClr>
                </a:solidFill>
                <a:latin typeface="微软雅黑" panose="020B0503020204020204" pitchFamily="34" charset="-122"/>
                <a:ea typeface="微软雅黑" panose="020B0503020204020204" pitchFamily="34" charset="-122"/>
                <a:cs typeface="微软雅黑 Light" panose="020B0502040204020203" charset="-122"/>
                <a:sym typeface="+mn-ea"/>
              </a:rPr>
              <a:t>：</a:t>
            </a: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cs typeface="微软雅黑 Light" panose="020B0502040204020203" charset="-122"/>
                <a:sym typeface="+mn-ea"/>
              </a:rPr>
              <a:t>彩色高清屏幕实时分区显示波形、数值、报警等信息，界面设计清晰、直观，一目了然，信息全掌握，</a:t>
            </a:r>
            <a:r>
              <a:rPr lang="en-US" altLang="zh-CN" sz="1000" dirty="0" err="1">
                <a:solidFill>
                  <a:schemeClr val="tx1">
                    <a:lumMod val="75000"/>
                    <a:lumOff val="25000"/>
                  </a:schemeClr>
                </a:solidFill>
                <a:latin typeface="微软雅黑" panose="020B0503020204020204" pitchFamily="34" charset="-122"/>
                <a:ea typeface="微软雅黑" panose="020B0503020204020204" pitchFamily="34" charset="-122"/>
                <a:cs typeface="微软雅黑 Light" panose="020B0502040204020203" charset="-122"/>
                <a:sym typeface="+mn-ea"/>
              </a:rPr>
              <a:t>电容触摸屏</a:t>
            </a: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cs typeface="微软雅黑 Light" panose="020B0502040204020203" charset="-122"/>
                <a:sym typeface="+mn-ea"/>
              </a:rPr>
              <a:t>给您</a:t>
            </a:r>
            <a:r>
              <a:rPr lang="en-US" altLang="zh-CN" sz="1000" dirty="0" err="1">
                <a:solidFill>
                  <a:schemeClr val="tx1">
                    <a:lumMod val="75000"/>
                    <a:lumOff val="25000"/>
                  </a:schemeClr>
                </a:solidFill>
                <a:latin typeface="微软雅黑" panose="020B0503020204020204" pitchFamily="34" charset="-122"/>
                <a:ea typeface="微软雅黑" panose="020B0503020204020204" pitchFamily="34" charset="-122"/>
                <a:cs typeface="微软雅黑 Light" panose="020B0502040204020203" charset="-122"/>
                <a:sym typeface="+mn-ea"/>
              </a:rPr>
              <a:t>智能手机般的操作体验</a:t>
            </a: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cs typeface="微软雅黑 Light" panose="020B0502040204020203" charset="-122"/>
                <a:sym typeface="+mn-ea"/>
              </a:rPr>
              <a:t>。</a:t>
            </a:r>
            <a:endParaRPr lang="en-US" altLang="zh-CN" sz="1000" dirty="0">
              <a:solidFill>
                <a:schemeClr val="tx1">
                  <a:lumMod val="75000"/>
                  <a:lumOff val="25000"/>
                </a:schemeClr>
              </a:solidFill>
              <a:latin typeface="微软雅黑" panose="020B0503020204020204" pitchFamily="34" charset="-122"/>
              <a:ea typeface="微软雅黑" panose="020B0503020204020204" pitchFamily="34" charset="-122"/>
              <a:cs typeface="微软雅黑 Light" panose="020B0502040204020203" charset="-122"/>
              <a:sym typeface="+mn-ea"/>
            </a:endParaRPr>
          </a:p>
          <a:p>
            <a:pPr algn="l">
              <a:lnSpc>
                <a:spcPct val="150000"/>
              </a:lnSpc>
            </a:pPr>
            <a:r>
              <a:rPr lang="en-US" altLang="zh-CN" sz="10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20204" pitchFamily="34" charset="0"/>
                <a:sym typeface="+mn-ea"/>
              </a:rPr>
              <a:t>► </a:t>
            </a:r>
            <a:r>
              <a:rPr lang="zh-CN" altLang="en-US" sz="1000" b="1" dirty="0">
                <a:solidFill>
                  <a:schemeClr val="tx1">
                    <a:lumMod val="75000"/>
                    <a:lumOff val="25000"/>
                  </a:schemeClr>
                </a:solidFill>
                <a:latin typeface="微软雅黑" panose="020B0503020204020204" pitchFamily="34" charset="-122"/>
                <a:ea typeface="微软雅黑" panose="020B0503020204020204" pitchFamily="34" charset="-122"/>
                <a:cs typeface="微软雅黑 Light" panose="020B0502040204020203" charset="-122"/>
                <a:sym typeface="+mn-ea"/>
              </a:rPr>
              <a:t>实时报警，紧急呼叫</a:t>
            </a:r>
            <a:r>
              <a:rPr lang="en-US" altLang="zh-CN" sz="1000" b="1" dirty="0">
                <a:solidFill>
                  <a:schemeClr val="tx1">
                    <a:lumMod val="75000"/>
                    <a:lumOff val="25000"/>
                  </a:schemeClr>
                </a:solidFill>
                <a:latin typeface="微软雅黑" panose="020B0503020204020204" pitchFamily="34" charset="-122"/>
                <a:ea typeface="微软雅黑" panose="020B0503020204020204" pitchFamily="34" charset="-122"/>
                <a:cs typeface="微软雅黑 Light" panose="020B0502040204020203" charset="-122"/>
                <a:sym typeface="+mn-ea"/>
              </a:rPr>
              <a:t> </a:t>
            </a:r>
            <a:r>
              <a:rPr lang="zh-CN" altLang="en-US" sz="1000" b="1" dirty="0">
                <a:solidFill>
                  <a:schemeClr val="tx1">
                    <a:lumMod val="75000"/>
                    <a:lumOff val="25000"/>
                  </a:schemeClr>
                </a:solidFill>
                <a:latin typeface="微软雅黑" panose="020B0503020204020204" pitchFamily="34" charset="-122"/>
                <a:ea typeface="微软雅黑" panose="020B0503020204020204" pitchFamily="34" charset="-122"/>
                <a:cs typeface="微软雅黑 Light" panose="020B0502040204020203" charset="-122"/>
                <a:sym typeface="+mn-ea"/>
              </a:rPr>
              <a:t>：</a:t>
            </a: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cs typeface="微软雅黑 Light" panose="020B0502040204020203" charset="-122"/>
                <a:sym typeface="+mn-ea"/>
              </a:rPr>
              <a:t>好络维独有的</a:t>
            </a:r>
            <a:r>
              <a:rPr lang="en-US" altLang="zh-CN" sz="1000" dirty="0">
                <a:solidFill>
                  <a:schemeClr val="tx1">
                    <a:lumMod val="75000"/>
                    <a:lumOff val="25000"/>
                  </a:schemeClr>
                </a:solidFill>
                <a:latin typeface="微软雅黑" panose="020B0503020204020204" pitchFamily="34" charset="-122"/>
                <a:ea typeface="微软雅黑" panose="020B0503020204020204" pitchFamily="34" charset="-122"/>
                <a:cs typeface="微软雅黑 Light" panose="020B0502040204020203" charset="-122"/>
                <a:sym typeface="+mn-ea"/>
              </a:rPr>
              <a:t>AI-ECG</a:t>
            </a: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cs typeface="微软雅黑 Light" panose="020B0502040204020203" charset="-122"/>
                <a:sym typeface="+mn-ea"/>
              </a:rPr>
              <a:t>人工智能辅助心电分析技术，支持</a:t>
            </a: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sym typeface="+mn-ea"/>
              </a:rPr>
              <a:t>心电图危急值的实时监测分析报警，事件存储回放。患者不适时，可按下</a:t>
            </a:r>
            <a:r>
              <a:rPr lang="en-US" altLang="zh-CN" sz="1000" dirty="0">
                <a:solidFill>
                  <a:schemeClr val="tx1">
                    <a:lumMod val="75000"/>
                    <a:lumOff val="25000"/>
                  </a:schemeClr>
                </a:solidFill>
                <a:latin typeface="微软雅黑" panose="020B0503020204020204" pitchFamily="34" charset="-122"/>
                <a:ea typeface="微软雅黑" panose="020B0503020204020204" pitchFamily="34" charset="-122"/>
                <a:sym typeface="+mn-ea"/>
              </a:rPr>
              <a:t>SOS</a:t>
            </a: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sym typeface="+mn-ea"/>
              </a:rPr>
              <a:t>按键紧急呼叫医生</a:t>
            </a:r>
            <a:r>
              <a:rPr lang="en-US" altLang="zh-CN" sz="1000" dirty="0">
                <a:solidFill>
                  <a:schemeClr val="tx1">
                    <a:lumMod val="75000"/>
                    <a:lumOff val="25000"/>
                  </a:schemeClr>
                </a:solidFill>
                <a:latin typeface="微软雅黑" panose="020B0503020204020204" pitchFamily="34" charset="-122"/>
                <a:ea typeface="微软雅黑" panose="020B0503020204020204" pitchFamily="34" charset="-122"/>
                <a:sym typeface="+mn-ea"/>
              </a:rPr>
              <a:t>/</a:t>
            </a: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sym typeface="+mn-ea"/>
              </a:rPr>
              <a:t>护士，危急时刻安心守护。</a:t>
            </a:r>
          </a:p>
          <a:p>
            <a:pPr>
              <a:lnSpc>
                <a:spcPct val="150000"/>
              </a:lnSpc>
            </a:pPr>
            <a:endParaRPr lang="en-US" altLang="zh-CN" sz="1400" dirty="0">
              <a:latin typeface="微软雅黑 Light" panose="020B0502040204020203" charset="-122"/>
              <a:ea typeface="微软雅黑 Light" panose="020B0502040204020203" charset="-122"/>
              <a:cs typeface="微软雅黑 Light" panose="020B0502040204020203" charset="-122"/>
              <a:sym typeface="+mn-ea"/>
            </a:endParaRPr>
          </a:p>
          <a:p>
            <a:pPr>
              <a:lnSpc>
                <a:spcPct val="150000"/>
              </a:lnSpc>
            </a:pPr>
            <a:endParaRPr lang="en-US" altLang="zh-CN" sz="1400" dirty="0">
              <a:solidFill>
                <a:schemeClr val="bg1"/>
              </a:solidFill>
              <a:latin typeface="微软雅黑 Light" panose="020B0502040204020203" charset="-122"/>
              <a:ea typeface="微软雅黑 Light" panose="020B0502040204020203" charset="-122"/>
              <a:cs typeface="微软雅黑 Light" panose="020B0502040204020203" charset="-122"/>
              <a:sym typeface="+mn-ea"/>
            </a:endParaRPr>
          </a:p>
          <a:p>
            <a:endParaRPr lang="zh-CN" altLang="en-US" sz="1400" b="1" dirty="0">
              <a:solidFill>
                <a:schemeClr val="bg1"/>
              </a:solidFill>
              <a:latin typeface="微软雅黑 Light" panose="020B0502040204020203" charset="-122"/>
              <a:ea typeface="微软雅黑 Light" panose="020B0502040204020203" charset="-122"/>
              <a:cs typeface="微软雅黑 Light" panose="020B0502040204020203" charset="-122"/>
              <a:sym typeface="+mn-ea"/>
            </a:endParaRPr>
          </a:p>
          <a:p>
            <a:endParaRPr lang="zh-CN" altLang="en-US" sz="3200" b="1" dirty="0">
              <a:solidFill>
                <a:schemeClr val="bg1"/>
              </a:solidFill>
              <a:latin typeface="微软雅黑" panose="020B0503020204020204" pitchFamily="34" charset="-122"/>
              <a:ea typeface="微软雅黑" panose="020B0503020204020204" pitchFamily="34" charset="-122"/>
              <a:cs typeface="微软雅黑 Light" panose="020B0502040204020203" charset="-122"/>
              <a:sym typeface="+mn-ea"/>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标题 2"/>
          <p:cNvSpPr>
            <a:spLocks noGrp="1"/>
          </p:cNvSpPr>
          <p:nvPr>
            <p:ph type="title"/>
          </p:nvPr>
        </p:nvSpPr>
        <p:spPr>
          <a:xfrm>
            <a:off x="457200" y="1"/>
            <a:ext cx="7830776" cy="857250"/>
          </a:xfrm>
        </p:spPr>
        <p:txBody>
          <a:bodyPr/>
          <a:lstStyle/>
          <a:p>
            <a:r>
              <a:rPr>
                <a:solidFill>
                  <a:srgbClr val="2179B1"/>
                </a:solidFill>
                <a:sym typeface="+mn-ea"/>
              </a:rPr>
              <a:t>方案应用设备</a:t>
            </a:r>
            <a:r>
              <a:rPr lang="en-US" altLang="zh-CN">
                <a:solidFill>
                  <a:srgbClr val="2179B1"/>
                </a:solidFill>
                <a:sym typeface="+mn-ea"/>
              </a:rPr>
              <a:t>| </a:t>
            </a:r>
            <a:r>
              <a:rPr lang="zh-CN" altLang="en-US" dirty="0">
                <a:solidFill>
                  <a:srgbClr val="2179B1"/>
                </a:solidFill>
              </a:rPr>
              <a:t>院外居家延伸管理设备</a:t>
            </a:r>
          </a:p>
        </p:txBody>
      </p:sp>
      <p:sp>
        <p:nvSpPr>
          <p:cNvPr id="13" name="矩形 12"/>
          <p:cNvSpPr/>
          <p:nvPr/>
        </p:nvSpPr>
        <p:spPr>
          <a:xfrm>
            <a:off x="577506" y="987574"/>
            <a:ext cx="1872208" cy="1165551"/>
          </a:xfrm>
          <a:prstGeom prst="rect">
            <a:avLst/>
          </a:prstGeom>
          <a:noFill/>
          <a:ln>
            <a:solidFill>
              <a:srgbClr val="2179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a:off x="2574753" y="994421"/>
            <a:ext cx="1872208" cy="1158704"/>
          </a:xfrm>
          <a:prstGeom prst="rect">
            <a:avLst/>
          </a:prstGeom>
          <a:noFill/>
          <a:ln>
            <a:solidFill>
              <a:srgbClr val="2179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矩形 27"/>
          <p:cNvSpPr/>
          <p:nvPr/>
        </p:nvSpPr>
        <p:spPr>
          <a:xfrm>
            <a:off x="4572000" y="994421"/>
            <a:ext cx="1872208" cy="1165551"/>
          </a:xfrm>
          <a:prstGeom prst="rect">
            <a:avLst/>
          </a:prstGeom>
          <a:noFill/>
          <a:ln>
            <a:solidFill>
              <a:srgbClr val="2179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矩形 32"/>
          <p:cNvSpPr/>
          <p:nvPr/>
        </p:nvSpPr>
        <p:spPr>
          <a:xfrm>
            <a:off x="6553443" y="994421"/>
            <a:ext cx="1872208" cy="1156676"/>
          </a:xfrm>
          <a:prstGeom prst="rect">
            <a:avLst/>
          </a:prstGeom>
          <a:noFill/>
          <a:ln>
            <a:solidFill>
              <a:srgbClr val="2179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33"/>
          <p:cNvSpPr/>
          <p:nvPr/>
        </p:nvSpPr>
        <p:spPr>
          <a:xfrm>
            <a:off x="563578" y="2996084"/>
            <a:ext cx="1872208" cy="1165551"/>
          </a:xfrm>
          <a:prstGeom prst="rect">
            <a:avLst/>
          </a:prstGeom>
          <a:noFill/>
          <a:ln>
            <a:solidFill>
              <a:srgbClr val="2179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矩形 34"/>
          <p:cNvSpPr/>
          <p:nvPr/>
        </p:nvSpPr>
        <p:spPr>
          <a:xfrm>
            <a:off x="2560825" y="3002931"/>
            <a:ext cx="1872208" cy="1158704"/>
          </a:xfrm>
          <a:prstGeom prst="rect">
            <a:avLst/>
          </a:prstGeom>
          <a:noFill/>
          <a:ln>
            <a:solidFill>
              <a:srgbClr val="2179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矩形 35"/>
          <p:cNvSpPr/>
          <p:nvPr/>
        </p:nvSpPr>
        <p:spPr>
          <a:xfrm>
            <a:off x="4558072" y="3002931"/>
            <a:ext cx="1872208" cy="1165551"/>
          </a:xfrm>
          <a:prstGeom prst="rect">
            <a:avLst/>
          </a:prstGeom>
          <a:noFill/>
          <a:ln>
            <a:solidFill>
              <a:srgbClr val="2179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矩形 36"/>
          <p:cNvSpPr/>
          <p:nvPr/>
        </p:nvSpPr>
        <p:spPr>
          <a:xfrm>
            <a:off x="6539515" y="3002931"/>
            <a:ext cx="1872208" cy="1156676"/>
          </a:xfrm>
          <a:prstGeom prst="rect">
            <a:avLst/>
          </a:prstGeom>
          <a:noFill/>
          <a:ln>
            <a:solidFill>
              <a:srgbClr val="2179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8" name="Picture 10" descr="Generated"/>
          <p:cNvPicPr/>
          <p:nvPr/>
        </p:nvPicPr>
        <p:blipFill>
          <a:blip r:embed="rId4" cstate="print"/>
          <a:stretch>
            <a:fillRect/>
          </a:stretch>
        </p:blipFill>
        <p:spPr>
          <a:xfrm>
            <a:off x="940873" y="3219822"/>
            <a:ext cx="771343" cy="661584"/>
          </a:xfrm>
          <a:prstGeom prst="rect">
            <a:avLst/>
          </a:prstGeom>
        </p:spPr>
      </p:pic>
      <p:pic>
        <p:nvPicPr>
          <p:cNvPr id="39" name="图片 38"/>
          <p:cNvPicPr>
            <a:picLocks noChangeAspect="1"/>
          </p:cNvPicPr>
          <p:nvPr/>
        </p:nvPicPr>
        <p:blipFill rotWithShape="1">
          <a:blip r:embed="rId5" cstate="print">
            <a:extLst>
              <a:ext uri="{28A0092B-C50C-407E-A947-70E740481C1C}">
                <a14:useLocalDpi xmlns:a14="http://schemas.microsoft.com/office/drawing/2010/main" xmlns="" val="0"/>
              </a:ext>
            </a:extLst>
          </a:blip>
          <a:srcRect t="32807" b="26594"/>
          <a:stretch>
            <a:fillRect/>
          </a:stretch>
        </p:blipFill>
        <p:spPr>
          <a:xfrm>
            <a:off x="868865" y="1347614"/>
            <a:ext cx="1064170" cy="432048"/>
          </a:xfrm>
          <a:prstGeom prst="rect">
            <a:avLst/>
          </a:prstGeom>
        </p:spPr>
      </p:pic>
      <p:pic>
        <p:nvPicPr>
          <p:cNvPr id="40" name="图片 39"/>
          <p:cNvPicPr>
            <a:picLocks noChangeAspect="1"/>
          </p:cNvPicPr>
          <p:nvPr/>
        </p:nvPicPr>
        <p:blipFill>
          <a:blip r:embed="rId6" cstate="print">
            <a:extLst>
              <a:ext uri="{BEBA8EAE-BF5A-486C-A8C5-ECC9F3942E4B}">
                <a14:imgProps xmlns:a14="http://schemas.microsoft.com/office/drawing/2010/main" xmlns="">
                  <a14:imgLayer r:embed="rId7">
                    <a14:imgEffect>
                      <a14:sharpenSoften amount="16000"/>
                    </a14:imgEffect>
                  </a14:imgLayer>
                </a14:imgProps>
              </a:ext>
              <a:ext uri="{28A0092B-C50C-407E-A947-70E740481C1C}">
                <a14:useLocalDpi xmlns:a14="http://schemas.microsoft.com/office/drawing/2010/main" xmlns="" val="0"/>
              </a:ext>
            </a:extLst>
          </a:blip>
          <a:stretch>
            <a:fillRect/>
          </a:stretch>
        </p:blipFill>
        <p:spPr>
          <a:xfrm>
            <a:off x="2813081" y="1131590"/>
            <a:ext cx="864096" cy="488094"/>
          </a:xfrm>
          <a:prstGeom prst="rect">
            <a:avLst/>
          </a:prstGeom>
        </p:spPr>
      </p:pic>
      <p:pic>
        <p:nvPicPr>
          <p:cNvPr id="41" name="图片 40"/>
          <p:cNvPicPr>
            <a:picLocks noChangeAspect="1"/>
          </p:cNvPicPr>
          <p:nvPr/>
        </p:nvPicPr>
        <p:blipFill>
          <a:blip r:embed="rId8" cstate="print">
            <a:lum bright="-10000"/>
            <a:extLst>
              <a:ext uri="{28A0092B-C50C-407E-A947-70E740481C1C}">
                <a14:useLocalDpi xmlns:a14="http://schemas.microsoft.com/office/drawing/2010/main" xmlns="" val="0"/>
              </a:ext>
            </a:extLst>
          </a:blip>
          <a:stretch>
            <a:fillRect/>
          </a:stretch>
        </p:blipFill>
        <p:spPr>
          <a:xfrm>
            <a:off x="3317137" y="1419622"/>
            <a:ext cx="1080120" cy="609154"/>
          </a:xfrm>
          <a:prstGeom prst="rect">
            <a:avLst/>
          </a:prstGeom>
        </p:spPr>
      </p:pic>
      <p:pic>
        <p:nvPicPr>
          <p:cNvPr id="42" name="Picture 2" descr="E:\BSJ\E\工作资料\公司及产品介绍\产品效果图\HM117A1-不带线.png"/>
          <p:cNvPicPr>
            <a:picLocks noChangeAspect="1" noChangeArrowheads="1"/>
          </p:cNvPicPr>
          <p:nvPr>
            <p:custDataLst>
              <p:tags r:id="rId1"/>
            </p:custDataLst>
          </p:nvPr>
        </p:nvPicPr>
        <p:blipFill>
          <a:blip r:embed="rId9" cstate="print"/>
          <a:srcRect/>
          <a:stretch>
            <a:fillRect/>
          </a:stretch>
        </p:blipFill>
        <p:spPr bwMode="auto">
          <a:xfrm rot="1260000">
            <a:off x="3030095" y="3407861"/>
            <a:ext cx="748784" cy="546177"/>
          </a:xfrm>
          <a:prstGeom prst="rect">
            <a:avLst/>
          </a:prstGeom>
          <a:noFill/>
        </p:spPr>
      </p:pic>
      <p:sp>
        <p:nvSpPr>
          <p:cNvPr id="43" name="文本框 42"/>
          <p:cNvSpPr txBox="1"/>
          <p:nvPr/>
        </p:nvSpPr>
        <p:spPr>
          <a:xfrm>
            <a:off x="467544" y="4227934"/>
            <a:ext cx="2057505" cy="741742"/>
          </a:xfrm>
          <a:prstGeom prst="rect">
            <a:avLst/>
          </a:prstGeom>
          <a:noFill/>
        </p:spPr>
        <p:txBody>
          <a:bodyPr wrap="square">
            <a:spAutoFit/>
          </a:bodyPr>
          <a:lstStyle/>
          <a:p>
            <a:r>
              <a:rPr lang="en-US" altLang="zh-CN" sz="1000" b="1" dirty="0">
                <a:solidFill>
                  <a:srgbClr val="196494"/>
                </a:solidFill>
                <a:latin typeface="微软雅黑" panose="020B0503020204020204" pitchFamily="34" charset="-122"/>
                <a:ea typeface="微软雅黑" panose="020B0503020204020204" pitchFamily="34" charset="-122"/>
              </a:rPr>
              <a:t>TE-7000</a:t>
            </a:r>
            <a:r>
              <a:rPr lang="zh-CN" altLang="en-US" sz="1000" b="1" dirty="0">
                <a:solidFill>
                  <a:srgbClr val="196494"/>
                </a:solidFill>
                <a:latin typeface="微软雅黑" panose="020B0503020204020204" pitchFamily="34" charset="-122"/>
                <a:ea typeface="微软雅黑" panose="020B0503020204020204" pitchFamily="34" charset="-122"/>
              </a:rPr>
              <a:t>系列 臂式电子血压计 </a:t>
            </a:r>
            <a:endParaRPr lang="en-US" altLang="zh-CN" sz="1000" b="1" dirty="0">
              <a:solidFill>
                <a:srgbClr val="196494"/>
              </a:solidFill>
              <a:latin typeface="微软雅黑" panose="020B0503020204020204" pitchFamily="34" charset="-122"/>
              <a:ea typeface="微软雅黑" panose="020B0503020204020204" pitchFamily="34" charset="-122"/>
            </a:endParaRPr>
          </a:p>
          <a:p>
            <a:pPr>
              <a:lnSpc>
                <a:spcPct val="130000"/>
              </a:lnSpc>
            </a:pPr>
            <a:r>
              <a:rPr lang="zh-CN" altLang="en-US" sz="800" dirty="0">
                <a:solidFill>
                  <a:srgbClr val="404040"/>
                </a:solidFill>
                <a:latin typeface="微软雅黑" panose="020B0503020204020204" pitchFamily="34" charset="-122"/>
                <a:ea typeface="微软雅黑" panose="020B0503020204020204" pitchFamily="34" charset="-122"/>
              </a:rPr>
              <a:t>● </a:t>
            </a:r>
            <a:r>
              <a:rPr lang="zh-CN" altLang="en-US" sz="800" b="0" dirty="0">
                <a:solidFill>
                  <a:srgbClr val="404040"/>
                </a:solidFill>
                <a:effectLst/>
                <a:latin typeface="微软雅黑" panose="020B0503020204020204" pitchFamily="34" charset="-122"/>
                <a:ea typeface="微软雅黑" panose="020B0503020204020204" pitchFamily="34" charset="-122"/>
              </a:rPr>
              <a:t>一键测量，语音播报，操作简单</a:t>
            </a:r>
            <a:endParaRPr lang="en-US" altLang="zh-CN" sz="800" b="0" dirty="0">
              <a:solidFill>
                <a:srgbClr val="404040"/>
              </a:solidFill>
              <a:effectLst/>
              <a:latin typeface="微软雅黑" panose="020B0503020204020204" pitchFamily="34" charset="-122"/>
              <a:ea typeface="微软雅黑" panose="020B0503020204020204" pitchFamily="34" charset="-122"/>
            </a:endParaRPr>
          </a:p>
          <a:p>
            <a:pPr>
              <a:lnSpc>
                <a:spcPct val="130000"/>
              </a:lnSpc>
            </a:pPr>
            <a:r>
              <a:rPr lang="zh-CN" altLang="en-US" sz="800" dirty="0">
                <a:solidFill>
                  <a:srgbClr val="404040"/>
                </a:solidFill>
                <a:latin typeface="微软雅黑" panose="020B0503020204020204" pitchFamily="34" charset="-122"/>
                <a:ea typeface="微软雅黑" panose="020B0503020204020204" pitchFamily="34" charset="-122"/>
              </a:rPr>
              <a:t>● </a:t>
            </a:r>
            <a:r>
              <a:rPr lang="zh-CN" altLang="en-US" sz="800" b="0" dirty="0">
                <a:solidFill>
                  <a:srgbClr val="404040"/>
                </a:solidFill>
                <a:effectLst/>
                <a:latin typeface="微软雅黑" panose="020B0503020204020204" pitchFamily="34" charset="-122"/>
                <a:ea typeface="微软雅黑" panose="020B0503020204020204" pitchFamily="34" charset="-122"/>
              </a:rPr>
              <a:t>蓝牙传输</a:t>
            </a:r>
            <a:r>
              <a:rPr lang="en-US" altLang="zh-CN" sz="800" b="0" dirty="0">
                <a:solidFill>
                  <a:srgbClr val="404040"/>
                </a:solidFill>
                <a:effectLst/>
                <a:latin typeface="微软雅黑" panose="020B0503020204020204" pitchFamily="34" charset="-122"/>
                <a:ea typeface="微软雅黑" panose="020B0503020204020204" pitchFamily="34" charset="-122"/>
              </a:rPr>
              <a:t>/GPRS</a:t>
            </a:r>
            <a:r>
              <a:rPr lang="zh-CN" altLang="en-US" sz="800" b="0" dirty="0">
                <a:solidFill>
                  <a:srgbClr val="404040"/>
                </a:solidFill>
                <a:effectLst/>
                <a:latin typeface="微软雅黑" panose="020B0503020204020204" pitchFamily="34" charset="-122"/>
                <a:ea typeface="微软雅黑" panose="020B0503020204020204" pitchFamily="34" charset="-122"/>
              </a:rPr>
              <a:t>传输，血压管理</a:t>
            </a:r>
            <a:endParaRPr lang="en-US" altLang="zh-CN" sz="800" b="0" dirty="0">
              <a:solidFill>
                <a:srgbClr val="404040"/>
              </a:solidFill>
              <a:effectLst/>
              <a:latin typeface="微软雅黑" panose="020B0503020204020204" pitchFamily="34" charset="-122"/>
              <a:ea typeface="微软雅黑" panose="020B0503020204020204" pitchFamily="34" charset="-122"/>
            </a:endParaRPr>
          </a:p>
          <a:p>
            <a:pPr>
              <a:lnSpc>
                <a:spcPct val="130000"/>
              </a:lnSpc>
            </a:pPr>
            <a:r>
              <a:rPr lang="zh-CN" altLang="en-US" sz="800" dirty="0">
                <a:solidFill>
                  <a:srgbClr val="404040"/>
                </a:solidFill>
                <a:latin typeface="微软雅黑" panose="020B0503020204020204" pitchFamily="34" charset="-122"/>
                <a:ea typeface="微软雅黑" panose="020B0503020204020204" pitchFamily="34" charset="-122"/>
              </a:rPr>
              <a:t>● 锂电直充，小巧便携</a:t>
            </a:r>
            <a:endParaRPr lang="en-US" altLang="zh-CN" sz="800" b="0" dirty="0">
              <a:solidFill>
                <a:srgbClr val="404040"/>
              </a:solidFill>
              <a:effectLst/>
              <a:latin typeface="微软雅黑" panose="020B0503020204020204" pitchFamily="34" charset="-122"/>
              <a:ea typeface="微软雅黑" panose="020B0503020204020204" pitchFamily="34" charset="-122"/>
            </a:endParaRPr>
          </a:p>
        </p:txBody>
      </p:sp>
      <p:sp>
        <p:nvSpPr>
          <p:cNvPr id="44" name="文本框 43"/>
          <p:cNvSpPr txBox="1"/>
          <p:nvPr/>
        </p:nvSpPr>
        <p:spPr>
          <a:xfrm>
            <a:off x="6485489" y="2211710"/>
            <a:ext cx="2088232" cy="886397"/>
          </a:xfrm>
          <a:prstGeom prst="rect">
            <a:avLst/>
          </a:prstGeom>
          <a:noFill/>
        </p:spPr>
        <p:txBody>
          <a:bodyPr wrap="square">
            <a:spAutoFit/>
          </a:bodyPr>
          <a:lstStyle/>
          <a:p>
            <a:r>
              <a:rPr lang="en-US" altLang="zh-CN" sz="1000" b="1" dirty="0">
                <a:solidFill>
                  <a:srgbClr val="196494"/>
                </a:solidFill>
                <a:latin typeface="微软雅黑" panose="020B0503020204020204" pitchFamily="34" charset="-122"/>
                <a:ea typeface="微软雅黑" panose="020B0503020204020204" pitchFamily="34" charset="-122"/>
              </a:rPr>
              <a:t>TE-5200Y-C </a:t>
            </a:r>
            <a:r>
              <a:rPr lang="zh-CN" altLang="en-US" sz="1000" b="1" dirty="0">
                <a:solidFill>
                  <a:srgbClr val="196494"/>
                </a:solidFill>
                <a:latin typeface="微软雅黑" panose="020B0503020204020204" pitchFamily="34" charset="-122"/>
                <a:ea typeface="微软雅黑" panose="020B0503020204020204" pitchFamily="34" charset="-122"/>
              </a:rPr>
              <a:t>心电记录仪 </a:t>
            </a:r>
          </a:p>
          <a:p>
            <a:pPr>
              <a:lnSpc>
                <a:spcPct val="130000"/>
              </a:lnSpc>
            </a:pPr>
            <a:r>
              <a:rPr lang="zh-CN" altLang="en-US" sz="800" dirty="0">
                <a:solidFill>
                  <a:srgbClr val="404040"/>
                </a:solidFill>
                <a:latin typeface="微软雅黑" panose="020B0503020204020204" pitchFamily="34" charset="-122"/>
                <a:ea typeface="微软雅黑" panose="020B0503020204020204" pitchFamily="34" charset="-122"/>
              </a:rPr>
              <a:t>● 手触即测，操作简单，小巧轻便</a:t>
            </a:r>
            <a:endParaRPr lang="en-US" altLang="zh-CN" sz="800" dirty="0">
              <a:solidFill>
                <a:srgbClr val="404040"/>
              </a:solidFill>
              <a:latin typeface="微软雅黑" panose="020B0503020204020204" pitchFamily="34" charset="-122"/>
              <a:ea typeface="微软雅黑" panose="020B0503020204020204" pitchFamily="34" charset="-122"/>
            </a:endParaRPr>
          </a:p>
          <a:p>
            <a:pPr>
              <a:lnSpc>
                <a:spcPct val="130000"/>
              </a:lnSpc>
            </a:pPr>
            <a:r>
              <a:rPr lang="zh-CN" altLang="en-US" sz="800" dirty="0">
                <a:solidFill>
                  <a:srgbClr val="404040"/>
                </a:solidFill>
                <a:latin typeface="微软雅黑" panose="020B0503020204020204" pitchFamily="34" charset="-122"/>
                <a:ea typeface="微软雅黑" panose="020B0503020204020204" pitchFamily="34" charset="-122"/>
              </a:rPr>
              <a:t>● </a:t>
            </a:r>
            <a:r>
              <a:rPr lang="en-US" altLang="zh-CN" sz="800" dirty="0">
                <a:solidFill>
                  <a:srgbClr val="404040"/>
                </a:solidFill>
                <a:latin typeface="微软雅黑" panose="020B0503020204020204" pitchFamily="34" charset="-122"/>
                <a:ea typeface="微软雅黑" panose="020B0503020204020204" pitchFamily="34" charset="-122"/>
              </a:rPr>
              <a:t>30s-3min</a:t>
            </a:r>
            <a:r>
              <a:rPr lang="zh-CN" altLang="en-US" sz="800" dirty="0">
                <a:solidFill>
                  <a:srgbClr val="404040"/>
                </a:solidFill>
                <a:latin typeface="微软雅黑" panose="020B0503020204020204" pitchFamily="34" charset="-122"/>
                <a:ea typeface="微软雅黑" panose="020B0503020204020204" pitchFamily="34" charset="-122"/>
              </a:rPr>
              <a:t>心电筛查，秒出报告</a:t>
            </a:r>
            <a:endParaRPr lang="en-US" altLang="zh-CN" sz="800" dirty="0">
              <a:solidFill>
                <a:srgbClr val="404040"/>
              </a:solidFill>
              <a:latin typeface="微软雅黑" panose="020B0503020204020204" pitchFamily="34" charset="-122"/>
              <a:ea typeface="微软雅黑" panose="020B0503020204020204" pitchFamily="34" charset="-122"/>
            </a:endParaRPr>
          </a:p>
          <a:p>
            <a:pPr>
              <a:lnSpc>
                <a:spcPct val="130000"/>
              </a:lnSpc>
            </a:pPr>
            <a:r>
              <a:rPr lang="zh-CN" altLang="en-US" sz="800" dirty="0">
                <a:solidFill>
                  <a:srgbClr val="404040"/>
                </a:solidFill>
                <a:latin typeface="微软雅黑" panose="020B0503020204020204" pitchFamily="34" charset="-122"/>
                <a:ea typeface="微软雅黑" panose="020B0503020204020204" pitchFamily="34" charset="-122"/>
              </a:rPr>
              <a:t>● 超长续航，</a:t>
            </a:r>
            <a:r>
              <a:rPr lang="en-US" altLang="zh-CN" sz="800" dirty="0">
                <a:solidFill>
                  <a:srgbClr val="404040"/>
                </a:solidFill>
                <a:latin typeface="微软雅黑" panose="020B0503020204020204" pitchFamily="34" charset="-122"/>
                <a:ea typeface="微软雅黑" panose="020B0503020204020204" pitchFamily="34" charset="-122"/>
              </a:rPr>
              <a:t>IPX8</a:t>
            </a:r>
            <a:r>
              <a:rPr lang="zh-CN" altLang="en-US" sz="800" dirty="0">
                <a:solidFill>
                  <a:srgbClr val="404040"/>
                </a:solidFill>
                <a:latin typeface="微软雅黑" panose="020B0503020204020204" pitchFamily="34" charset="-122"/>
                <a:ea typeface="微软雅黑" panose="020B0503020204020204" pitchFamily="34" charset="-122"/>
              </a:rPr>
              <a:t>防水</a:t>
            </a:r>
            <a:endParaRPr lang="en-US" altLang="zh-CN" sz="800" dirty="0">
              <a:solidFill>
                <a:srgbClr val="404040"/>
              </a:solidFill>
              <a:latin typeface="微软雅黑" panose="020B0503020204020204" pitchFamily="34" charset="-122"/>
              <a:ea typeface="微软雅黑" panose="020B0503020204020204" pitchFamily="34" charset="-122"/>
            </a:endParaRPr>
          </a:p>
          <a:p>
            <a:pPr>
              <a:lnSpc>
                <a:spcPct val="130000"/>
              </a:lnSpc>
            </a:pPr>
            <a:endParaRPr lang="en-US" altLang="zh-CN" sz="800" dirty="0">
              <a:solidFill>
                <a:srgbClr val="404040"/>
              </a:solidFill>
              <a:latin typeface="微软雅黑" panose="020B0503020204020204" pitchFamily="34" charset="-122"/>
              <a:ea typeface="微软雅黑" panose="020B0503020204020204" pitchFamily="34" charset="-122"/>
            </a:endParaRPr>
          </a:p>
        </p:txBody>
      </p:sp>
      <p:sp>
        <p:nvSpPr>
          <p:cNvPr id="45" name="文本框 44"/>
          <p:cNvSpPr txBox="1"/>
          <p:nvPr/>
        </p:nvSpPr>
        <p:spPr>
          <a:xfrm>
            <a:off x="4469265" y="4227934"/>
            <a:ext cx="2084178" cy="883920"/>
          </a:xfrm>
          <a:prstGeom prst="rect">
            <a:avLst/>
          </a:prstGeom>
          <a:noFill/>
        </p:spPr>
        <p:txBody>
          <a:bodyPr wrap="square">
            <a:spAutoFit/>
          </a:bodyPr>
          <a:lstStyle/>
          <a:p>
            <a:r>
              <a:rPr lang="en-US" altLang="zh-CN" sz="1000" b="1" dirty="0">
                <a:solidFill>
                  <a:srgbClr val="196494"/>
                </a:solidFill>
                <a:latin typeface="微软雅黑" panose="020B0503020204020204" pitchFamily="34" charset="-122"/>
                <a:ea typeface="微软雅黑" panose="020B0503020204020204" pitchFamily="34" charset="-122"/>
              </a:rPr>
              <a:t>HLWH005 </a:t>
            </a:r>
            <a:r>
              <a:rPr lang="zh-CN" altLang="en-US" sz="1000" b="1" dirty="0">
                <a:solidFill>
                  <a:srgbClr val="196494"/>
                </a:solidFill>
                <a:latin typeface="微软雅黑" panose="020B0503020204020204" pitchFamily="34" charset="-122"/>
                <a:ea typeface="微软雅黑" panose="020B0503020204020204" pitchFamily="34" charset="-122"/>
              </a:rPr>
              <a:t>专业级健康预警手表 </a:t>
            </a:r>
          </a:p>
          <a:p>
            <a:pPr>
              <a:lnSpc>
                <a:spcPct val="130000"/>
              </a:lnSpc>
            </a:pPr>
            <a:r>
              <a:rPr lang="zh-CN" altLang="en-US" sz="800" dirty="0">
                <a:solidFill>
                  <a:srgbClr val="404040"/>
                </a:solidFill>
                <a:latin typeface="微软雅黑" panose="020B0503020204020204" pitchFamily="34" charset="-122"/>
                <a:ea typeface="微软雅黑" panose="020B0503020204020204" pitchFamily="34" charset="-122"/>
              </a:rPr>
              <a:t>● </a:t>
            </a:r>
            <a:r>
              <a:rPr lang="zh-CN" altLang="en-US" sz="800" b="0" dirty="0">
                <a:solidFill>
                  <a:srgbClr val="404040"/>
                </a:solidFill>
                <a:effectLst/>
                <a:latin typeface="微软雅黑" panose="020B0503020204020204" pitchFamily="34" charset="-122"/>
                <a:ea typeface="微软雅黑" panose="020B0503020204020204" pitchFamily="34" charset="-122"/>
              </a:rPr>
              <a:t>医疗级心电快测</a:t>
            </a:r>
            <a:r>
              <a:rPr lang="en-US" altLang="zh-CN" sz="800" b="0" dirty="0">
                <a:solidFill>
                  <a:srgbClr val="404040"/>
                </a:solidFill>
                <a:effectLst/>
                <a:latin typeface="微软雅黑" panose="020B0503020204020204" pitchFamily="34" charset="-122"/>
                <a:ea typeface="微软雅黑" panose="020B0503020204020204" pitchFamily="34" charset="-122"/>
              </a:rPr>
              <a:t>+</a:t>
            </a:r>
            <a:r>
              <a:rPr lang="zh-CN" altLang="en-US" sz="800" b="0" dirty="0">
                <a:solidFill>
                  <a:srgbClr val="404040"/>
                </a:solidFill>
                <a:effectLst/>
                <a:latin typeface="微软雅黑" panose="020B0503020204020204" pitchFamily="34" charset="-122"/>
                <a:ea typeface="微软雅黑" panose="020B0503020204020204" pitchFamily="34" charset="-122"/>
              </a:rPr>
              <a:t>专业级</a:t>
            </a:r>
            <a:r>
              <a:rPr lang="en-US" altLang="zh-CN" sz="800" b="0" dirty="0">
                <a:solidFill>
                  <a:srgbClr val="404040"/>
                </a:solidFill>
                <a:effectLst/>
                <a:latin typeface="微软雅黑" panose="020B0503020204020204" pitchFamily="34" charset="-122"/>
                <a:ea typeface="微软雅黑" panose="020B0503020204020204" pitchFamily="34" charset="-122"/>
              </a:rPr>
              <a:t>AI</a:t>
            </a:r>
            <a:r>
              <a:rPr lang="zh-CN" altLang="en-US" sz="800" b="0" dirty="0">
                <a:solidFill>
                  <a:srgbClr val="404040"/>
                </a:solidFill>
                <a:effectLst/>
                <a:latin typeface="微软雅黑" panose="020B0503020204020204" pitchFamily="34" charset="-122"/>
                <a:ea typeface="微软雅黑" panose="020B0503020204020204" pitchFamily="34" charset="-122"/>
              </a:rPr>
              <a:t>辅助分析</a:t>
            </a:r>
            <a:endParaRPr lang="en-US" altLang="zh-CN" sz="800" b="0" dirty="0">
              <a:solidFill>
                <a:srgbClr val="404040"/>
              </a:solidFill>
              <a:effectLst/>
              <a:latin typeface="微软雅黑" panose="020B0503020204020204" pitchFamily="34" charset="-122"/>
              <a:ea typeface="微软雅黑" panose="020B0503020204020204" pitchFamily="34" charset="-122"/>
            </a:endParaRPr>
          </a:p>
          <a:p>
            <a:pPr>
              <a:lnSpc>
                <a:spcPct val="130000"/>
              </a:lnSpc>
            </a:pPr>
            <a:r>
              <a:rPr lang="zh-CN" altLang="en-US" sz="800" dirty="0">
                <a:solidFill>
                  <a:srgbClr val="404040"/>
                </a:solidFill>
                <a:latin typeface="微软雅黑" panose="020B0503020204020204" pitchFamily="34" charset="-122"/>
                <a:ea typeface="微软雅黑" panose="020B0503020204020204" pitchFamily="34" charset="-122"/>
              </a:rPr>
              <a:t>● </a:t>
            </a:r>
            <a:r>
              <a:rPr lang="zh-CN" altLang="en-US" sz="800" b="0" dirty="0">
                <a:solidFill>
                  <a:srgbClr val="404040"/>
                </a:solidFill>
                <a:effectLst/>
                <a:latin typeface="微软雅黑" panose="020B0503020204020204" pitchFamily="34" charset="-122"/>
                <a:ea typeface="微软雅黑" panose="020B0503020204020204" pitchFamily="34" charset="-122"/>
              </a:rPr>
              <a:t>心率、血压、血氧、体温、</a:t>
            </a:r>
            <a:r>
              <a:rPr lang="en-US" altLang="zh-CN" sz="800" b="0" dirty="0">
                <a:solidFill>
                  <a:srgbClr val="404040"/>
                </a:solidFill>
                <a:effectLst/>
                <a:latin typeface="微软雅黑" panose="020B0503020204020204" pitchFamily="34" charset="-122"/>
                <a:ea typeface="微软雅黑" panose="020B0503020204020204" pitchFamily="34" charset="-122"/>
              </a:rPr>
              <a:t>HRV</a:t>
            </a:r>
            <a:r>
              <a:rPr lang="zh-CN" altLang="en-US" sz="800" b="0" dirty="0">
                <a:solidFill>
                  <a:srgbClr val="404040"/>
                </a:solidFill>
                <a:effectLst/>
                <a:latin typeface="微软雅黑" panose="020B0503020204020204" pitchFamily="34" charset="-122"/>
                <a:ea typeface="微软雅黑" panose="020B0503020204020204" pitchFamily="34" charset="-122"/>
              </a:rPr>
              <a:t>、睡眠</a:t>
            </a:r>
            <a:r>
              <a:rPr lang="zh-CN" altLang="en-US" sz="800" dirty="0">
                <a:solidFill>
                  <a:srgbClr val="404040"/>
                </a:solidFill>
                <a:effectLst/>
                <a:latin typeface="微软雅黑" panose="020B0503020204020204" pitchFamily="34" charset="-122"/>
                <a:ea typeface="微软雅黑" panose="020B0503020204020204" pitchFamily="34" charset="-122"/>
              </a:rPr>
              <a:t>连续监测</a:t>
            </a:r>
            <a:endParaRPr lang="en-US" altLang="zh-CN" sz="800" dirty="0">
              <a:solidFill>
                <a:srgbClr val="404040"/>
              </a:solidFill>
              <a:effectLst/>
              <a:latin typeface="微软雅黑" panose="020B0503020204020204" pitchFamily="34" charset="-122"/>
              <a:ea typeface="微软雅黑" panose="020B0503020204020204" pitchFamily="34" charset="-122"/>
            </a:endParaRPr>
          </a:p>
          <a:p>
            <a:pPr>
              <a:lnSpc>
                <a:spcPct val="130000"/>
              </a:lnSpc>
            </a:pPr>
            <a:r>
              <a:rPr lang="zh-CN" altLang="en-US" sz="800" dirty="0">
                <a:solidFill>
                  <a:srgbClr val="404040"/>
                </a:solidFill>
                <a:latin typeface="微软雅黑" panose="020B0503020204020204" pitchFamily="34" charset="-122"/>
                <a:ea typeface="微软雅黑" panose="020B0503020204020204" pitchFamily="34" charset="-122"/>
              </a:rPr>
              <a:t>● 超长待机、蓝牙传输</a:t>
            </a:r>
            <a:endParaRPr lang="en-US" altLang="zh-CN" sz="800" b="0" dirty="0">
              <a:solidFill>
                <a:srgbClr val="404040"/>
              </a:solidFill>
              <a:effectLst/>
              <a:latin typeface="微软雅黑" panose="020B0503020204020204" pitchFamily="34" charset="-122"/>
              <a:ea typeface="微软雅黑" panose="020B0503020204020204" pitchFamily="34" charset="-122"/>
            </a:endParaRPr>
          </a:p>
        </p:txBody>
      </p:sp>
      <p:pic>
        <p:nvPicPr>
          <p:cNvPr id="46" name="Picture 1"/>
          <p:cNvPicPr>
            <a:picLocks noChangeAspect="1" noChangeArrowheads="1"/>
          </p:cNvPicPr>
          <p:nvPr/>
        </p:nvPicPr>
        <p:blipFill rotWithShape="1">
          <a:blip r:embed="rId10" cstate="print">
            <a:extLst>
              <a:ext uri="{28A0092B-C50C-407E-A947-70E740481C1C}">
                <a14:useLocalDpi xmlns:a14="http://schemas.microsoft.com/office/drawing/2010/main" xmlns="" val="0"/>
              </a:ext>
            </a:extLst>
          </a:blip>
          <a:srcRect l="5983" t="14346" r="2502" b="11726"/>
          <a:stretch>
            <a:fillRect/>
          </a:stretch>
        </p:blipFill>
        <p:spPr bwMode="auto">
          <a:xfrm>
            <a:off x="6917537" y="1203598"/>
            <a:ext cx="1101469" cy="591219"/>
          </a:xfrm>
          <a:prstGeom prst="rect">
            <a:avLst/>
          </a:prstGeom>
          <a:noFill/>
          <a:extLst>
            <a:ext uri="{909E8E84-426E-40DD-AFC4-6F175D3DCCD1}">
              <a14:hiddenFill xmlns:a14="http://schemas.microsoft.com/office/drawing/2010/main" xmlns="">
                <a:solidFill>
                  <a:srgbClr val="FFFFFF"/>
                </a:solidFill>
              </a14:hiddenFill>
            </a:ext>
          </a:extLst>
        </p:spPr>
      </p:pic>
      <p:pic>
        <p:nvPicPr>
          <p:cNvPr id="47" name="Picture 2"/>
          <p:cNvPicPr>
            <a:picLocks noChangeAspect="1" noChangeArrowheads="1"/>
          </p:cNvPicPr>
          <p:nvPr/>
        </p:nvPicPr>
        <p:blipFill rotWithShape="1">
          <a:blip r:embed="rId11" cstate="print">
            <a:extLst>
              <a:ext uri="{28A0092B-C50C-407E-A947-70E740481C1C}">
                <a14:useLocalDpi xmlns:a14="http://schemas.microsoft.com/office/drawing/2010/main" xmlns="" val="0"/>
              </a:ext>
            </a:extLst>
          </a:blip>
          <a:srcRect l="27587" r="24245"/>
          <a:stretch>
            <a:fillRect/>
          </a:stretch>
        </p:blipFill>
        <p:spPr bwMode="auto">
          <a:xfrm>
            <a:off x="5117337" y="1059582"/>
            <a:ext cx="739825" cy="1019331"/>
          </a:xfrm>
          <a:prstGeom prst="rect">
            <a:avLst/>
          </a:prstGeom>
          <a:noFill/>
          <a:extLst>
            <a:ext uri="{909E8E84-426E-40DD-AFC4-6F175D3DCCD1}">
              <a14:hiddenFill xmlns:a14="http://schemas.microsoft.com/office/drawing/2010/main" xmlns="">
                <a:solidFill>
                  <a:srgbClr val="FFFFFF"/>
                </a:solidFill>
              </a14:hiddenFill>
            </a:ext>
          </a:extLst>
        </p:spPr>
      </p:pic>
      <p:sp>
        <p:nvSpPr>
          <p:cNvPr id="48" name="文本框 3"/>
          <p:cNvSpPr txBox="1"/>
          <p:nvPr/>
        </p:nvSpPr>
        <p:spPr>
          <a:xfrm>
            <a:off x="508825" y="2186912"/>
            <a:ext cx="2088232" cy="744819"/>
          </a:xfrm>
          <a:prstGeom prst="rect">
            <a:avLst/>
          </a:prstGeom>
          <a:noFill/>
        </p:spPr>
        <p:txBody>
          <a:bodyPr wrap="square">
            <a:spAutoFit/>
          </a:bodyPr>
          <a:lstStyle/>
          <a:p>
            <a:pPr>
              <a:lnSpc>
                <a:spcPct val="120000"/>
              </a:lnSpc>
            </a:pPr>
            <a:r>
              <a:rPr lang="en-US" altLang="zh-CN" sz="1000" b="1" dirty="0">
                <a:solidFill>
                  <a:srgbClr val="196494"/>
                </a:solidFill>
                <a:latin typeface="微软雅黑" panose="020B0503020204020204" pitchFamily="34" charset="-122"/>
                <a:ea typeface="微软雅黑" panose="020B0503020204020204" pitchFamily="34" charset="-122"/>
              </a:rPr>
              <a:t>TE-5100Y-C </a:t>
            </a:r>
            <a:r>
              <a:rPr lang="zh-CN" altLang="en-US" sz="1000" b="1" dirty="0">
                <a:solidFill>
                  <a:srgbClr val="196494"/>
                </a:solidFill>
                <a:latin typeface="微软雅黑" panose="020B0503020204020204" pitchFamily="34" charset="-122"/>
                <a:ea typeface="微软雅黑" panose="020B0503020204020204" pitchFamily="34" charset="-122"/>
              </a:rPr>
              <a:t>动态心电记录仪</a:t>
            </a:r>
            <a:endParaRPr lang="en-US" altLang="zh-CN" sz="1000" b="1" dirty="0">
              <a:solidFill>
                <a:srgbClr val="196494"/>
              </a:solidFill>
              <a:latin typeface="微软雅黑" panose="020B0503020204020204" pitchFamily="34" charset="-122"/>
              <a:ea typeface="微软雅黑" panose="020B0503020204020204" pitchFamily="34" charset="-122"/>
            </a:endParaRPr>
          </a:p>
          <a:p>
            <a:pPr>
              <a:lnSpc>
                <a:spcPct val="120000"/>
              </a:lnSpc>
            </a:pPr>
            <a:r>
              <a:rPr lang="zh-CN" altLang="en-US" sz="800" dirty="0">
                <a:solidFill>
                  <a:srgbClr val="404040"/>
                </a:solidFill>
                <a:latin typeface="微软雅黑" panose="020B0503020204020204" pitchFamily="34" charset="-122"/>
                <a:ea typeface="微软雅黑" panose="020B0503020204020204" pitchFamily="34" charset="-122"/>
              </a:rPr>
              <a:t>● </a:t>
            </a:r>
            <a:r>
              <a:rPr lang="en-US" altLang="zh-CN" sz="800" b="0" dirty="0">
                <a:solidFill>
                  <a:srgbClr val="404040"/>
                </a:solidFill>
                <a:effectLst/>
                <a:latin typeface="微软雅黑" panose="020B0503020204020204" pitchFamily="34" charset="-122"/>
                <a:ea typeface="微软雅黑" panose="020B0503020204020204" pitchFamily="34" charset="-122"/>
              </a:rPr>
              <a:t>24h</a:t>
            </a:r>
            <a:r>
              <a:rPr lang="zh-CN" altLang="en-US" sz="800" b="0" dirty="0">
                <a:solidFill>
                  <a:srgbClr val="404040"/>
                </a:solidFill>
                <a:effectLst/>
                <a:latin typeface="微软雅黑" panose="020B0503020204020204" pitchFamily="34" charset="-122"/>
                <a:ea typeface="微软雅黑" panose="020B0503020204020204" pitchFamily="34" charset="-122"/>
              </a:rPr>
              <a:t>动态心电记录，</a:t>
            </a:r>
            <a:r>
              <a:rPr lang="en-US" altLang="zh-CN" sz="800" dirty="0">
                <a:solidFill>
                  <a:schemeClr val="tx1">
                    <a:lumMod val="75000"/>
                    <a:lumOff val="25000"/>
                  </a:schemeClr>
                </a:solidFill>
                <a:latin typeface="微软雅黑" panose="020B0503020204020204" pitchFamily="34" charset="-122"/>
                <a:ea typeface="微软雅黑" panose="020B0503020204020204" pitchFamily="34" charset="-122"/>
              </a:rPr>
              <a:t>20</a:t>
            </a:r>
            <a:r>
              <a:rPr lang="zh-CN" altLang="en-US" sz="800" dirty="0">
                <a:solidFill>
                  <a:schemeClr val="tx1">
                    <a:lumMod val="75000"/>
                    <a:lumOff val="25000"/>
                  </a:schemeClr>
                </a:solidFill>
                <a:latin typeface="微软雅黑" panose="020B0503020204020204" pitchFamily="34" charset="-122"/>
                <a:ea typeface="微软雅黑" panose="020B0503020204020204" pitchFamily="34" charset="-122"/>
              </a:rPr>
              <a:t>种疾病风险筛查</a:t>
            </a:r>
            <a:endParaRPr lang="en-US" altLang="zh-CN" sz="800" b="0" dirty="0">
              <a:solidFill>
                <a:srgbClr val="404040"/>
              </a:solidFill>
              <a:effectLst/>
              <a:latin typeface="微软雅黑" panose="020B0503020204020204" pitchFamily="34" charset="-122"/>
              <a:ea typeface="微软雅黑" panose="020B0503020204020204" pitchFamily="34" charset="-122"/>
            </a:endParaRPr>
          </a:p>
          <a:p>
            <a:pPr>
              <a:lnSpc>
                <a:spcPct val="130000"/>
              </a:lnSpc>
            </a:pPr>
            <a:r>
              <a:rPr lang="zh-CN" altLang="en-US" sz="800" dirty="0">
                <a:solidFill>
                  <a:srgbClr val="404040"/>
                </a:solidFill>
                <a:latin typeface="微软雅黑" panose="020B0503020204020204" pitchFamily="34" charset="-122"/>
                <a:ea typeface="微软雅黑" panose="020B0503020204020204" pitchFamily="34" charset="-122"/>
              </a:rPr>
              <a:t>● 医用硅胶，轻质</a:t>
            </a:r>
            <a:r>
              <a:rPr lang="en-US" altLang="zh-CN" sz="800" dirty="0">
                <a:solidFill>
                  <a:srgbClr val="404040"/>
                </a:solidFill>
                <a:latin typeface="微软雅黑" panose="020B0503020204020204" pitchFamily="34" charset="-122"/>
                <a:ea typeface="微软雅黑" panose="020B0503020204020204" pitchFamily="34" charset="-122"/>
              </a:rPr>
              <a:t>8.9g</a:t>
            </a:r>
            <a:r>
              <a:rPr lang="zh-CN" altLang="en-US" sz="800" dirty="0">
                <a:solidFill>
                  <a:srgbClr val="404040"/>
                </a:solidFill>
                <a:latin typeface="微软雅黑" panose="020B0503020204020204" pitchFamily="34" charset="-122"/>
                <a:ea typeface="微软雅黑" panose="020B0503020204020204" pitchFamily="34" charset="-122"/>
              </a:rPr>
              <a:t>，无感佩戴</a:t>
            </a:r>
            <a:endParaRPr lang="en-US" altLang="zh-CN" sz="800" dirty="0">
              <a:solidFill>
                <a:srgbClr val="404040"/>
              </a:solidFill>
              <a:latin typeface="微软雅黑" panose="020B0503020204020204" pitchFamily="34" charset="-122"/>
              <a:ea typeface="微软雅黑" panose="020B0503020204020204" pitchFamily="34" charset="-122"/>
            </a:endParaRPr>
          </a:p>
          <a:p>
            <a:pPr>
              <a:lnSpc>
                <a:spcPct val="130000"/>
              </a:lnSpc>
            </a:pPr>
            <a:r>
              <a:rPr lang="zh-CN" altLang="en-US" sz="800" dirty="0">
                <a:solidFill>
                  <a:srgbClr val="404040"/>
                </a:solidFill>
                <a:latin typeface="微软雅黑" panose="020B0503020204020204" pitchFamily="34" charset="-122"/>
                <a:ea typeface="微软雅黑" panose="020B0503020204020204" pitchFamily="34" charset="-122"/>
              </a:rPr>
              <a:t>●开机即测，</a:t>
            </a:r>
            <a:r>
              <a:rPr lang="en-US" altLang="zh-CN" sz="800" dirty="0">
                <a:solidFill>
                  <a:srgbClr val="404040"/>
                </a:solidFill>
                <a:latin typeface="微软雅黑" panose="020B0503020204020204" pitchFamily="34" charset="-122"/>
                <a:ea typeface="微软雅黑" panose="020B0503020204020204" pitchFamily="34" charset="-122"/>
              </a:rPr>
              <a:t>IPX7</a:t>
            </a:r>
            <a:r>
              <a:rPr lang="zh-CN" altLang="en-US" sz="800" dirty="0">
                <a:solidFill>
                  <a:srgbClr val="404040"/>
                </a:solidFill>
                <a:latin typeface="微软雅黑" panose="020B0503020204020204" pitchFamily="34" charset="-122"/>
                <a:ea typeface="微软雅黑" panose="020B0503020204020204" pitchFamily="34" charset="-122"/>
              </a:rPr>
              <a:t>防水设计</a:t>
            </a:r>
            <a:endParaRPr lang="zh-CN" altLang="en-US" dirty="0">
              <a:latin typeface="微软雅黑" panose="020B0503020204020204" pitchFamily="34" charset="-122"/>
              <a:ea typeface="微软雅黑" panose="020B0503020204020204" pitchFamily="34" charset="-122"/>
            </a:endParaRPr>
          </a:p>
        </p:txBody>
      </p:sp>
      <p:sp>
        <p:nvSpPr>
          <p:cNvPr id="49" name="文本框 3"/>
          <p:cNvSpPr txBox="1"/>
          <p:nvPr/>
        </p:nvSpPr>
        <p:spPr>
          <a:xfrm>
            <a:off x="2453041" y="2211710"/>
            <a:ext cx="2088232" cy="744819"/>
          </a:xfrm>
          <a:prstGeom prst="rect">
            <a:avLst/>
          </a:prstGeom>
          <a:noFill/>
        </p:spPr>
        <p:txBody>
          <a:bodyPr wrap="square">
            <a:spAutoFit/>
          </a:bodyPr>
          <a:lstStyle/>
          <a:p>
            <a:pPr>
              <a:lnSpc>
                <a:spcPct val="120000"/>
              </a:lnSpc>
            </a:pPr>
            <a:r>
              <a:rPr lang="en-US" altLang="zh-CN" sz="1000" b="1" dirty="0">
                <a:solidFill>
                  <a:srgbClr val="196494"/>
                </a:solidFill>
                <a:latin typeface="微软雅黑" panose="020B0503020204020204" pitchFamily="34" charset="-122"/>
                <a:ea typeface="微软雅黑" panose="020B0503020204020204" pitchFamily="34" charset="-122"/>
              </a:rPr>
              <a:t>TE-5100Y-D</a:t>
            </a:r>
            <a:r>
              <a:rPr lang="zh-CN" altLang="en-US" sz="1000" b="1" dirty="0">
                <a:solidFill>
                  <a:srgbClr val="196494"/>
                </a:solidFill>
                <a:latin typeface="微软雅黑" panose="020B0503020204020204" pitchFamily="34" charset="-122"/>
                <a:ea typeface="微软雅黑" panose="020B0503020204020204" pitchFamily="34" charset="-122"/>
              </a:rPr>
              <a:t>系列动态心电记录仪 </a:t>
            </a:r>
            <a:endParaRPr lang="en-US" altLang="zh-CN" sz="1000" b="1" dirty="0">
              <a:solidFill>
                <a:srgbClr val="196494"/>
              </a:solidFill>
              <a:latin typeface="微软雅黑" panose="020B0503020204020204" pitchFamily="34" charset="-122"/>
              <a:ea typeface="微软雅黑" panose="020B0503020204020204" pitchFamily="34" charset="-122"/>
            </a:endParaRPr>
          </a:p>
          <a:p>
            <a:pPr>
              <a:lnSpc>
                <a:spcPct val="120000"/>
              </a:lnSpc>
            </a:pPr>
            <a:r>
              <a:rPr lang="zh-CN" altLang="en-US" sz="800" dirty="0">
                <a:solidFill>
                  <a:srgbClr val="404040"/>
                </a:solidFill>
                <a:latin typeface="微软雅黑" panose="020B0503020204020204" pitchFamily="34" charset="-122"/>
                <a:ea typeface="微软雅黑" panose="020B0503020204020204" pitchFamily="34" charset="-122"/>
              </a:rPr>
              <a:t>● </a:t>
            </a:r>
            <a:r>
              <a:rPr lang="en-US" altLang="zh-CN" sz="800" b="0" dirty="0">
                <a:solidFill>
                  <a:srgbClr val="404040"/>
                </a:solidFill>
                <a:effectLst/>
                <a:latin typeface="微软雅黑" panose="020B0503020204020204" pitchFamily="34" charset="-122"/>
                <a:ea typeface="微软雅黑" panose="020B0503020204020204" pitchFamily="34" charset="-122"/>
              </a:rPr>
              <a:t>72</a:t>
            </a:r>
            <a:r>
              <a:rPr lang="zh-CN" altLang="en-US" sz="800" b="0" dirty="0">
                <a:solidFill>
                  <a:srgbClr val="404040"/>
                </a:solidFill>
                <a:effectLst/>
                <a:latin typeface="微软雅黑" panose="020B0503020204020204" pitchFamily="34" charset="-122"/>
                <a:ea typeface="微软雅黑" panose="020B0503020204020204" pitchFamily="34" charset="-122"/>
              </a:rPr>
              <a:t>小时</a:t>
            </a:r>
            <a:r>
              <a:rPr lang="en-US" altLang="zh-CN" sz="800" b="0" dirty="0">
                <a:solidFill>
                  <a:srgbClr val="404040"/>
                </a:solidFill>
                <a:effectLst/>
                <a:latin typeface="微软雅黑" panose="020B0503020204020204" pitchFamily="34" charset="-122"/>
                <a:ea typeface="微软雅黑" panose="020B0503020204020204" pitchFamily="34" charset="-122"/>
              </a:rPr>
              <a:t>/7</a:t>
            </a:r>
            <a:r>
              <a:rPr lang="zh-CN" altLang="en-US" sz="800" b="0" dirty="0">
                <a:solidFill>
                  <a:srgbClr val="404040"/>
                </a:solidFill>
                <a:effectLst/>
                <a:latin typeface="微软雅黑" panose="020B0503020204020204" pitchFamily="34" charset="-122"/>
                <a:ea typeface="微软雅黑" panose="020B0503020204020204" pitchFamily="34" charset="-122"/>
              </a:rPr>
              <a:t>天动态心电记录</a:t>
            </a:r>
            <a:endParaRPr lang="en-US" altLang="zh-CN" sz="800" b="0" dirty="0">
              <a:solidFill>
                <a:srgbClr val="404040"/>
              </a:solidFill>
              <a:effectLst/>
              <a:latin typeface="微软雅黑" panose="020B0503020204020204" pitchFamily="34" charset="-122"/>
              <a:ea typeface="微软雅黑" panose="020B0503020204020204" pitchFamily="34" charset="-122"/>
            </a:endParaRPr>
          </a:p>
          <a:p>
            <a:pPr>
              <a:lnSpc>
                <a:spcPct val="130000"/>
              </a:lnSpc>
            </a:pPr>
            <a:r>
              <a:rPr lang="zh-CN" altLang="en-US" sz="800" dirty="0">
                <a:solidFill>
                  <a:srgbClr val="404040"/>
                </a:solidFill>
                <a:latin typeface="微软雅黑" panose="020B0503020204020204" pitchFamily="34" charset="-122"/>
                <a:ea typeface="微软雅黑" panose="020B0503020204020204" pitchFamily="34" charset="-122"/>
              </a:rPr>
              <a:t>● 开机即测，无感佩戴</a:t>
            </a:r>
            <a:endParaRPr lang="en-US" altLang="zh-CN" sz="800" dirty="0">
              <a:solidFill>
                <a:srgbClr val="404040"/>
              </a:solidFill>
              <a:latin typeface="微软雅黑" panose="020B0503020204020204" pitchFamily="34" charset="-122"/>
              <a:ea typeface="微软雅黑" panose="020B0503020204020204" pitchFamily="34" charset="-122"/>
            </a:endParaRPr>
          </a:p>
          <a:p>
            <a:pPr>
              <a:lnSpc>
                <a:spcPct val="130000"/>
              </a:lnSpc>
            </a:pPr>
            <a:r>
              <a:rPr lang="zh-CN" altLang="en-US" sz="800" dirty="0">
                <a:solidFill>
                  <a:srgbClr val="404040"/>
                </a:solidFill>
                <a:latin typeface="微软雅黑" panose="020B0503020204020204" pitchFamily="34" charset="-122"/>
                <a:ea typeface="微软雅黑" panose="020B0503020204020204" pitchFamily="34" charset="-122"/>
              </a:rPr>
              <a:t>● 防水设计</a:t>
            </a:r>
            <a:endParaRPr lang="zh-CN" altLang="en-US" dirty="0">
              <a:latin typeface="微软雅黑" panose="020B0503020204020204" pitchFamily="34" charset="-122"/>
              <a:ea typeface="微软雅黑" panose="020B0503020204020204" pitchFamily="34" charset="-122"/>
            </a:endParaRPr>
          </a:p>
        </p:txBody>
      </p:sp>
      <p:sp>
        <p:nvSpPr>
          <p:cNvPr id="50" name="文本框 4"/>
          <p:cNvSpPr txBox="1"/>
          <p:nvPr/>
        </p:nvSpPr>
        <p:spPr>
          <a:xfrm>
            <a:off x="4541273" y="2211710"/>
            <a:ext cx="2088232" cy="886397"/>
          </a:xfrm>
          <a:prstGeom prst="rect">
            <a:avLst/>
          </a:prstGeom>
          <a:noFill/>
        </p:spPr>
        <p:txBody>
          <a:bodyPr wrap="square">
            <a:spAutoFit/>
          </a:bodyPr>
          <a:lstStyle/>
          <a:p>
            <a:r>
              <a:rPr lang="en-US" altLang="zh-CN" sz="1000" b="1" dirty="0">
                <a:solidFill>
                  <a:srgbClr val="196494"/>
                </a:solidFill>
                <a:latin typeface="微软雅黑" panose="020B0503020204020204" pitchFamily="34" charset="-122"/>
                <a:ea typeface="微软雅黑" panose="020B0503020204020204" pitchFamily="34" charset="-122"/>
              </a:rPr>
              <a:t>TE-5200Y-A </a:t>
            </a:r>
            <a:r>
              <a:rPr lang="zh-CN" altLang="en-US" sz="1000" b="1" dirty="0">
                <a:solidFill>
                  <a:srgbClr val="196494"/>
                </a:solidFill>
                <a:latin typeface="微软雅黑" panose="020B0503020204020204" pitchFamily="34" charset="-122"/>
                <a:ea typeface="微软雅黑" panose="020B0503020204020204" pitchFamily="34" charset="-122"/>
              </a:rPr>
              <a:t>心电记录仪 </a:t>
            </a:r>
          </a:p>
          <a:p>
            <a:pPr>
              <a:lnSpc>
                <a:spcPct val="130000"/>
              </a:lnSpc>
            </a:pPr>
            <a:r>
              <a:rPr lang="zh-CN" altLang="en-US" sz="800" dirty="0">
                <a:solidFill>
                  <a:srgbClr val="404040"/>
                </a:solidFill>
                <a:latin typeface="微软雅黑" panose="020B0503020204020204" pitchFamily="34" charset="-122"/>
                <a:ea typeface="微软雅黑" panose="020B0503020204020204" pitchFamily="34" charset="-122"/>
              </a:rPr>
              <a:t>● 手触即测，操作简单</a:t>
            </a:r>
            <a:endParaRPr lang="en-US" altLang="zh-CN" sz="800" dirty="0">
              <a:solidFill>
                <a:srgbClr val="404040"/>
              </a:solidFill>
              <a:latin typeface="微软雅黑" panose="020B0503020204020204" pitchFamily="34" charset="-122"/>
              <a:ea typeface="微软雅黑" panose="020B0503020204020204" pitchFamily="34" charset="-122"/>
            </a:endParaRPr>
          </a:p>
          <a:p>
            <a:pPr>
              <a:lnSpc>
                <a:spcPct val="130000"/>
              </a:lnSpc>
            </a:pPr>
            <a:r>
              <a:rPr lang="zh-CN" altLang="en-US" sz="800" dirty="0">
                <a:solidFill>
                  <a:srgbClr val="404040"/>
                </a:solidFill>
                <a:latin typeface="微软雅黑" panose="020B0503020204020204" pitchFamily="34" charset="-122"/>
                <a:ea typeface="微软雅黑" panose="020B0503020204020204" pitchFamily="34" charset="-122"/>
              </a:rPr>
              <a:t>● 表带式设计，</a:t>
            </a:r>
            <a:r>
              <a:rPr lang="en-US" altLang="zh-CN" sz="800" dirty="0">
                <a:solidFill>
                  <a:srgbClr val="404040"/>
                </a:solidFill>
                <a:latin typeface="微软雅黑" panose="020B0503020204020204" pitchFamily="34" charset="-122"/>
                <a:ea typeface="微软雅黑" panose="020B0503020204020204" pitchFamily="34" charset="-122"/>
              </a:rPr>
              <a:t>IPX8</a:t>
            </a:r>
            <a:r>
              <a:rPr lang="zh-CN" altLang="en-US" sz="800" dirty="0">
                <a:solidFill>
                  <a:srgbClr val="404040"/>
                </a:solidFill>
                <a:latin typeface="微软雅黑" panose="020B0503020204020204" pitchFamily="34" charset="-122"/>
                <a:ea typeface="微软雅黑" panose="020B0503020204020204" pitchFamily="34" charset="-122"/>
              </a:rPr>
              <a:t>防水，超长续航</a:t>
            </a:r>
            <a:endParaRPr lang="en-US" altLang="zh-CN" sz="800" dirty="0">
              <a:solidFill>
                <a:srgbClr val="404040"/>
              </a:solidFill>
              <a:latin typeface="微软雅黑" panose="020B0503020204020204" pitchFamily="34" charset="-122"/>
              <a:ea typeface="微软雅黑" panose="020B0503020204020204" pitchFamily="34" charset="-122"/>
            </a:endParaRPr>
          </a:p>
          <a:p>
            <a:pPr>
              <a:lnSpc>
                <a:spcPct val="130000"/>
              </a:lnSpc>
            </a:pPr>
            <a:r>
              <a:rPr lang="zh-CN" altLang="en-US" sz="800" dirty="0">
                <a:solidFill>
                  <a:srgbClr val="404040"/>
                </a:solidFill>
                <a:latin typeface="微软雅黑" panose="020B0503020204020204" pitchFamily="34" charset="-122"/>
                <a:ea typeface="微软雅黑" panose="020B0503020204020204" pitchFamily="34" charset="-122"/>
              </a:rPr>
              <a:t>● </a:t>
            </a:r>
            <a:r>
              <a:rPr lang="en-US" altLang="zh-CN" sz="800" dirty="0">
                <a:solidFill>
                  <a:srgbClr val="404040"/>
                </a:solidFill>
                <a:latin typeface="微软雅黑" panose="020B0503020204020204" pitchFamily="34" charset="-122"/>
                <a:ea typeface="微软雅黑" panose="020B0503020204020204" pitchFamily="34" charset="-122"/>
              </a:rPr>
              <a:t>30s-3min</a:t>
            </a:r>
            <a:r>
              <a:rPr lang="zh-CN" altLang="en-US" sz="800" dirty="0">
                <a:solidFill>
                  <a:srgbClr val="404040"/>
                </a:solidFill>
                <a:latin typeface="微软雅黑" panose="020B0503020204020204" pitchFamily="34" charset="-122"/>
                <a:ea typeface="微软雅黑" panose="020B0503020204020204" pitchFamily="34" charset="-122"/>
              </a:rPr>
              <a:t>心电筛查，秒出报告</a:t>
            </a:r>
            <a:endParaRPr lang="en-US" altLang="zh-CN" sz="800" dirty="0">
              <a:solidFill>
                <a:srgbClr val="404040"/>
              </a:solidFill>
              <a:latin typeface="微软雅黑" panose="020B0503020204020204" pitchFamily="34" charset="-122"/>
              <a:ea typeface="微软雅黑" panose="020B0503020204020204" pitchFamily="34" charset="-122"/>
            </a:endParaRPr>
          </a:p>
          <a:p>
            <a:pPr>
              <a:lnSpc>
                <a:spcPct val="130000"/>
              </a:lnSpc>
            </a:pPr>
            <a:endParaRPr lang="en-US" altLang="zh-CN" sz="800" dirty="0">
              <a:solidFill>
                <a:srgbClr val="404040"/>
              </a:solidFill>
              <a:latin typeface="微软雅黑" panose="020B0503020204020204" pitchFamily="34" charset="-122"/>
              <a:ea typeface="微软雅黑" panose="020B0503020204020204" pitchFamily="34" charset="-122"/>
            </a:endParaRPr>
          </a:p>
        </p:txBody>
      </p:sp>
      <p:sp>
        <p:nvSpPr>
          <p:cNvPr id="51" name="文本框 1"/>
          <p:cNvSpPr txBox="1"/>
          <p:nvPr/>
        </p:nvSpPr>
        <p:spPr>
          <a:xfrm>
            <a:off x="2525049" y="4227934"/>
            <a:ext cx="2057505" cy="726353"/>
          </a:xfrm>
          <a:prstGeom prst="rect">
            <a:avLst/>
          </a:prstGeom>
          <a:noFill/>
        </p:spPr>
        <p:txBody>
          <a:bodyPr wrap="square">
            <a:spAutoFit/>
          </a:bodyPr>
          <a:lstStyle/>
          <a:p>
            <a:r>
              <a:rPr lang="en-US" altLang="zh-CN" sz="1000" b="1" dirty="0">
                <a:solidFill>
                  <a:srgbClr val="196494"/>
                </a:solidFill>
                <a:latin typeface="微软雅黑" panose="020B0503020204020204" pitchFamily="34" charset="-122"/>
                <a:ea typeface="微软雅黑" panose="020B0503020204020204" pitchFamily="34" charset="-122"/>
              </a:rPr>
              <a:t>TE-7003Y-C</a:t>
            </a:r>
            <a:r>
              <a:rPr lang="zh-CN" altLang="en-US" sz="1000" b="1" dirty="0">
                <a:solidFill>
                  <a:srgbClr val="196494"/>
                </a:solidFill>
                <a:latin typeface="微软雅黑" panose="020B0503020204020204" pitchFamily="34" charset="-122"/>
                <a:ea typeface="微软雅黑" panose="020B0503020204020204" pitchFamily="34" charset="-122"/>
              </a:rPr>
              <a:t> 臂式电子血压计 </a:t>
            </a:r>
            <a:endParaRPr lang="en-US" altLang="zh-CN" sz="1000" b="1" dirty="0">
              <a:solidFill>
                <a:srgbClr val="196494"/>
              </a:solidFill>
              <a:latin typeface="微软雅黑" panose="020B0503020204020204" pitchFamily="34" charset="-122"/>
              <a:ea typeface="微软雅黑" panose="020B0503020204020204" pitchFamily="34" charset="-122"/>
            </a:endParaRPr>
          </a:p>
          <a:p>
            <a:pPr>
              <a:lnSpc>
                <a:spcPct val="130000"/>
              </a:lnSpc>
            </a:pPr>
            <a:r>
              <a:rPr lang="zh-CN" altLang="en-US" sz="800" dirty="0">
                <a:solidFill>
                  <a:srgbClr val="404040"/>
                </a:solidFill>
                <a:latin typeface="微软雅黑" panose="020B0503020204020204" pitchFamily="34" charset="-122"/>
                <a:ea typeface="微软雅黑" panose="020B0503020204020204" pitchFamily="34" charset="-122"/>
              </a:rPr>
              <a:t>● </a:t>
            </a:r>
            <a:r>
              <a:rPr lang="zh-CN" altLang="en-US" sz="800" b="0" dirty="0">
                <a:solidFill>
                  <a:srgbClr val="404040"/>
                </a:solidFill>
                <a:effectLst/>
                <a:latin typeface="微软雅黑" panose="020B0503020204020204" pitchFamily="34" charset="-122"/>
                <a:ea typeface="微软雅黑" panose="020B0503020204020204" pitchFamily="34" charset="-122"/>
              </a:rPr>
              <a:t>一键测量，语音播报，操作简单</a:t>
            </a:r>
            <a:endParaRPr lang="en-US" altLang="zh-CN" sz="800" b="0" dirty="0">
              <a:solidFill>
                <a:srgbClr val="404040"/>
              </a:solidFill>
              <a:effectLst/>
              <a:latin typeface="微软雅黑" panose="020B0503020204020204" pitchFamily="34" charset="-122"/>
              <a:ea typeface="微软雅黑" panose="020B0503020204020204" pitchFamily="34" charset="-122"/>
            </a:endParaRPr>
          </a:p>
          <a:p>
            <a:pPr>
              <a:lnSpc>
                <a:spcPct val="130000"/>
              </a:lnSpc>
            </a:pPr>
            <a:r>
              <a:rPr lang="zh-CN" altLang="en-US" sz="800" dirty="0">
                <a:solidFill>
                  <a:srgbClr val="404040"/>
                </a:solidFill>
                <a:latin typeface="微软雅黑" panose="020B0503020204020204" pitchFamily="34" charset="-122"/>
                <a:ea typeface="微软雅黑" panose="020B0503020204020204" pitchFamily="34" charset="-122"/>
              </a:rPr>
              <a:t>● </a:t>
            </a:r>
            <a:r>
              <a:rPr lang="zh-CN" altLang="en-US" sz="800" b="0" dirty="0">
                <a:solidFill>
                  <a:srgbClr val="404040"/>
                </a:solidFill>
                <a:effectLst/>
                <a:latin typeface="微软雅黑" panose="020B0503020204020204" pitchFamily="34" charset="-122"/>
                <a:ea typeface="微软雅黑" panose="020B0503020204020204" pitchFamily="34" charset="-122"/>
              </a:rPr>
              <a:t>蓝牙传输，定时测压</a:t>
            </a:r>
            <a:endParaRPr lang="en-US" altLang="zh-CN" sz="800" b="0" dirty="0">
              <a:solidFill>
                <a:srgbClr val="404040"/>
              </a:solidFill>
              <a:effectLst/>
              <a:latin typeface="微软雅黑" panose="020B0503020204020204" pitchFamily="34" charset="-122"/>
              <a:ea typeface="微软雅黑" panose="020B0503020204020204" pitchFamily="34" charset="-122"/>
            </a:endParaRPr>
          </a:p>
          <a:p>
            <a:pPr>
              <a:lnSpc>
                <a:spcPct val="130000"/>
              </a:lnSpc>
            </a:pPr>
            <a:r>
              <a:rPr lang="zh-CN" altLang="en-US" sz="800" dirty="0">
                <a:solidFill>
                  <a:srgbClr val="404040"/>
                </a:solidFill>
                <a:latin typeface="微软雅黑" panose="020B0503020204020204" pitchFamily="34" charset="-122"/>
                <a:ea typeface="微软雅黑" panose="020B0503020204020204" pitchFamily="34" charset="-122"/>
              </a:rPr>
              <a:t>● 锂电直充，一体化设计，小巧便携</a:t>
            </a:r>
            <a:endParaRPr lang="en-US" altLang="zh-CN" sz="800" b="0" dirty="0">
              <a:solidFill>
                <a:srgbClr val="404040"/>
              </a:solidFill>
              <a:effectLst/>
              <a:latin typeface="微软雅黑" panose="020B0503020204020204" pitchFamily="34" charset="-122"/>
              <a:ea typeface="微软雅黑" panose="020B0503020204020204" pitchFamily="34" charset="-122"/>
            </a:endParaRPr>
          </a:p>
        </p:txBody>
      </p:sp>
      <p:sp>
        <p:nvSpPr>
          <p:cNvPr id="52" name="文本框 5"/>
          <p:cNvSpPr txBox="1"/>
          <p:nvPr/>
        </p:nvSpPr>
        <p:spPr>
          <a:xfrm>
            <a:off x="6485489" y="4227934"/>
            <a:ext cx="2088232" cy="870816"/>
          </a:xfrm>
          <a:prstGeom prst="rect">
            <a:avLst/>
          </a:prstGeom>
          <a:noFill/>
        </p:spPr>
        <p:txBody>
          <a:bodyPr wrap="square">
            <a:spAutoFit/>
          </a:bodyPr>
          <a:lstStyle/>
          <a:p>
            <a:r>
              <a:rPr lang="en-US" altLang="zh-CN" sz="1000" b="1" dirty="0">
                <a:solidFill>
                  <a:srgbClr val="196494"/>
                </a:solidFill>
                <a:latin typeface="微软雅黑" panose="020B0503020204020204" pitchFamily="34" charset="-122"/>
                <a:ea typeface="微软雅黑" panose="020B0503020204020204" pitchFamily="34" charset="-122"/>
              </a:rPr>
              <a:t>HLWH006 </a:t>
            </a:r>
            <a:r>
              <a:rPr lang="zh-CN" altLang="en-US" sz="1000" b="1" dirty="0">
                <a:solidFill>
                  <a:srgbClr val="196494"/>
                </a:solidFill>
                <a:latin typeface="微软雅黑" panose="020B0503020204020204" pitchFamily="34" charset="-122"/>
                <a:ea typeface="微软雅黑" panose="020B0503020204020204" pitchFamily="34" charset="-122"/>
              </a:rPr>
              <a:t>专业级健康预警手表 </a:t>
            </a:r>
          </a:p>
          <a:p>
            <a:pPr>
              <a:lnSpc>
                <a:spcPct val="130000"/>
              </a:lnSpc>
            </a:pPr>
            <a:r>
              <a:rPr lang="zh-CN" altLang="en-US" sz="800" dirty="0">
                <a:solidFill>
                  <a:srgbClr val="404040"/>
                </a:solidFill>
                <a:latin typeface="微软雅黑" panose="020B0503020204020204" pitchFamily="34" charset="-122"/>
                <a:ea typeface="微软雅黑" panose="020B0503020204020204" pitchFamily="34" charset="-122"/>
              </a:rPr>
              <a:t>● </a:t>
            </a:r>
            <a:r>
              <a:rPr lang="zh-CN" altLang="en-US" sz="800" b="0" dirty="0">
                <a:solidFill>
                  <a:srgbClr val="404040"/>
                </a:solidFill>
                <a:effectLst/>
                <a:latin typeface="微软雅黑" panose="020B0503020204020204" pitchFamily="34" charset="-122"/>
                <a:ea typeface="微软雅黑" panose="020B0503020204020204" pitchFamily="34" charset="-122"/>
              </a:rPr>
              <a:t>医疗级六导心电</a:t>
            </a:r>
            <a:r>
              <a:rPr lang="en-US" altLang="zh-CN" sz="800" b="0" dirty="0">
                <a:solidFill>
                  <a:srgbClr val="404040"/>
                </a:solidFill>
                <a:effectLst/>
                <a:latin typeface="微软雅黑" panose="020B0503020204020204" pitchFamily="34" charset="-122"/>
                <a:ea typeface="微软雅黑" panose="020B0503020204020204" pitchFamily="34" charset="-122"/>
              </a:rPr>
              <a:t>+</a:t>
            </a:r>
            <a:r>
              <a:rPr lang="zh-CN" altLang="en-US" sz="800" b="0" dirty="0">
                <a:solidFill>
                  <a:srgbClr val="404040"/>
                </a:solidFill>
                <a:effectLst/>
                <a:latin typeface="微软雅黑" panose="020B0503020204020204" pitchFamily="34" charset="-122"/>
                <a:ea typeface="微软雅黑" panose="020B0503020204020204" pitchFamily="34" charset="-122"/>
              </a:rPr>
              <a:t>专业级</a:t>
            </a:r>
            <a:r>
              <a:rPr lang="en-US" altLang="zh-CN" sz="800" b="0" dirty="0">
                <a:solidFill>
                  <a:srgbClr val="404040"/>
                </a:solidFill>
                <a:effectLst/>
                <a:latin typeface="微软雅黑" panose="020B0503020204020204" pitchFamily="34" charset="-122"/>
                <a:ea typeface="微软雅黑" panose="020B0503020204020204" pitchFamily="34" charset="-122"/>
              </a:rPr>
              <a:t>AI</a:t>
            </a:r>
            <a:r>
              <a:rPr lang="zh-CN" altLang="en-US" sz="800" b="0" dirty="0">
                <a:solidFill>
                  <a:srgbClr val="404040"/>
                </a:solidFill>
                <a:effectLst/>
                <a:latin typeface="微软雅黑" panose="020B0503020204020204" pitchFamily="34" charset="-122"/>
                <a:ea typeface="微软雅黑" panose="020B0503020204020204" pitchFamily="34" charset="-122"/>
              </a:rPr>
              <a:t>辅助分析</a:t>
            </a:r>
            <a:endParaRPr lang="en-US" altLang="zh-CN" sz="800" b="0" dirty="0">
              <a:solidFill>
                <a:srgbClr val="404040"/>
              </a:solidFill>
              <a:effectLst/>
              <a:latin typeface="微软雅黑" panose="020B0503020204020204" pitchFamily="34" charset="-122"/>
              <a:ea typeface="微软雅黑" panose="020B0503020204020204" pitchFamily="34" charset="-122"/>
            </a:endParaRPr>
          </a:p>
          <a:p>
            <a:pPr>
              <a:lnSpc>
                <a:spcPct val="130000"/>
              </a:lnSpc>
            </a:pPr>
            <a:r>
              <a:rPr lang="zh-CN" altLang="en-US" sz="800" dirty="0">
                <a:solidFill>
                  <a:srgbClr val="404040"/>
                </a:solidFill>
                <a:latin typeface="微软雅黑" panose="020B0503020204020204" pitchFamily="34" charset="-122"/>
                <a:ea typeface="微软雅黑" panose="020B0503020204020204" pitchFamily="34" charset="-122"/>
              </a:rPr>
              <a:t>● </a:t>
            </a:r>
            <a:r>
              <a:rPr lang="zh-CN" altLang="en-US" sz="800" b="0" dirty="0">
                <a:solidFill>
                  <a:srgbClr val="404040"/>
                </a:solidFill>
                <a:effectLst/>
                <a:latin typeface="微软雅黑" panose="020B0503020204020204" pitchFamily="34" charset="-122"/>
                <a:ea typeface="微软雅黑" panose="020B0503020204020204" pitchFamily="34" charset="-122"/>
              </a:rPr>
              <a:t>心率、血压、血氧、体温、血糖、</a:t>
            </a:r>
            <a:r>
              <a:rPr lang="en-US" altLang="zh-CN" sz="800" b="0" dirty="0">
                <a:solidFill>
                  <a:srgbClr val="404040"/>
                </a:solidFill>
                <a:effectLst/>
                <a:latin typeface="微软雅黑" panose="020B0503020204020204" pitchFamily="34" charset="-122"/>
                <a:ea typeface="微软雅黑" panose="020B0503020204020204" pitchFamily="34" charset="-122"/>
              </a:rPr>
              <a:t>HRV</a:t>
            </a:r>
            <a:r>
              <a:rPr lang="zh-CN" altLang="en-US" sz="800" b="0" dirty="0">
                <a:solidFill>
                  <a:srgbClr val="404040"/>
                </a:solidFill>
                <a:effectLst/>
                <a:latin typeface="微软雅黑" panose="020B0503020204020204" pitchFamily="34" charset="-122"/>
                <a:ea typeface="微软雅黑" panose="020B0503020204020204" pitchFamily="34" charset="-122"/>
              </a:rPr>
              <a:t>、睡眠连续监测；</a:t>
            </a:r>
            <a:r>
              <a:rPr lang="zh-CN" altLang="en-US" sz="800" dirty="0">
                <a:solidFill>
                  <a:schemeClr val="tx1">
                    <a:lumMod val="75000"/>
                    <a:lumOff val="25000"/>
                  </a:schemeClr>
                </a:solidFill>
                <a:latin typeface="微软雅黑" panose="020B0503020204020204" pitchFamily="34" charset="-122"/>
                <a:ea typeface="微软雅黑" panose="020B0503020204020204" pitchFamily="34" charset="-122"/>
              </a:rPr>
              <a:t>身体成分、血液成分检测</a:t>
            </a:r>
            <a:endParaRPr lang="en-US" altLang="zh-CN" sz="800" b="0" dirty="0">
              <a:solidFill>
                <a:srgbClr val="404040"/>
              </a:solidFill>
              <a:effectLst/>
              <a:latin typeface="微软雅黑" panose="020B0503020204020204" pitchFamily="34" charset="-122"/>
              <a:ea typeface="微软雅黑" panose="020B0503020204020204" pitchFamily="34" charset="-122"/>
            </a:endParaRPr>
          </a:p>
          <a:p>
            <a:pPr>
              <a:lnSpc>
                <a:spcPct val="130000"/>
              </a:lnSpc>
            </a:pPr>
            <a:r>
              <a:rPr lang="zh-CN" altLang="en-US" sz="800" dirty="0">
                <a:solidFill>
                  <a:srgbClr val="404040"/>
                </a:solidFill>
                <a:latin typeface="微软雅黑" panose="020B0503020204020204" pitchFamily="34" charset="-122"/>
                <a:ea typeface="微软雅黑" panose="020B0503020204020204" pitchFamily="34" charset="-122"/>
              </a:rPr>
              <a:t>● 超长待机、蓝牙传输</a:t>
            </a:r>
            <a:endParaRPr lang="en-US" altLang="zh-CN" sz="800" b="0" dirty="0">
              <a:solidFill>
                <a:srgbClr val="404040"/>
              </a:solidFill>
              <a:effectLst/>
              <a:latin typeface="微软雅黑" panose="020B0503020204020204" pitchFamily="34" charset="-122"/>
              <a:ea typeface="微软雅黑" panose="020B0503020204020204" pitchFamily="34" charset="-122"/>
            </a:endParaRPr>
          </a:p>
        </p:txBody>
      </p:sp>
      <p:pic>
        <p:nvPicPr>
          <p:cNvPr id="53" name="Picture 3" descr="D:\合同\me.png"/>
          <p:cNvPicPr>
            <a:picLocks noChangeAspect="1" noChangeArrowheads="1"/>
          </p:cNvPicPr>
          <p:nvPr/>
        </p:nvPicPr>
        <p:blipFill>
          <a:blip r:embed="rId12" cstate="print"/>
          <a:srcRect/>
          <a:stretch>
            <a:fillRect/>
          </a:stretch>
        </p:blipFill>
        <p:spPr bwMode="auto">
          <a:xfrm>
            <a:off x="5110116" y="3219822"/>
            <a:ext cx="686020" cy="792088"/>
          </a:xfrm>
          <a:prstGeom prst="rect">
            <a:avLst/>
          </a:prstGeom>
          <a:noFill/>
        </p:spPr>
      </p:pic>
      <p:pic>
        <p:nvPicPr>
          <p:cNvPr id="54" name="Picture 3"/>
          <p:cNvPicPr>
            <a:picLocks noChangeAspect="1" noChangeArrowheads="1"/>
          </p:cNvPicPr>
          <p:nvPr/>
        </p:nvPicPr>
        <p:blipFill>
          <a:blip r:embed="rId13" cstate="print"/>
          <a:srcRect/>
          <a:stretch>
            <a:fillRect/>
          </a:stretch>
        </p:blipFill>
        <p:spPr bwMode="auto">
          <a:xfrm>
            <a:off x="7061553" y="3140613"/>
            <a:ext cx="857550" cy="94330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1707782"/>
            <a:ext cx="5940152" cy="1080000"/>
          </a:xfrm>
          <a:prstGeom prst="rect">
            <a:avLst/>
          </a:prstGeom>
          <a:solidFill>
            <a:srgbClr val="19649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8910228" y="1707782"/>
            <a:ext cx="233772" cy="1080000"/>
          </a:xfrm>
          <a:prstGeom prst="rect">
            <a:avLst/>
          </a:prstGeom>
          <a:solidFill>
            <a:srgbClr val="19649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TextBox 6"/>
          <p:cNvSpPr txBox="1"/>
          <p:nvPr/>
        </p:nvSpPr>
        <p:spPr>
          <a:xfrm>
            <a:off x="6444208" y="1955394"/>
            <a:ext cx="1808480" cy="583565"/>
          </a:xfrm>
          <a:prstGeom prst="rect">
            <a:avLst/>
          </a:prstGeom>
          <a:noFill/>
        </p:spPr>
        <p:txBody>
          <a:bodyPr wrap="none" rtlCol="0">
            <a:spAutoFit/>
          </a:bodyPr>
          <a:lstStyle/>
          <a:p>
            <a:r>
              <a:rPr lang="zh-CN" altLang="en-US" sz="3200" b="1" dirty="0">
                <a:solidFill>
                  <a:srgbClr val="196494"/>
                </a:solidFill>
                <a:latin typeface="微软雅黑" panose="020B0503020204020204" pitchFamily="34" charset="-122"/>
                <a:ea typeface="微软雅黑" panose="020B0503020204020204" pitchFamily="34" charset="-122"/>
              </a:rPr>
              <a:t>方案价值</a:t>
            </a:r>
          </a:p>
        </p:txBody>
      </p:sp>
      <p:sp>
        <p:nvSpPr>
          <p:cNvPr id="9" name="TextBox 8"/>
          <p:cNvSpPr txBox="1"/>
          <p:nvPr/>
        </p:nvSpPr>
        <p:spPr>
          <a:xfrm>
            <a:off x="1619672" y="1851670"/>
            <a:ext cx="4040530" cy="1200329"/>
          </a:xfrm>
          <a:prstGeom prst="rect">
            <a:avLst/>
          </a:prstGeom>
          <a:noFill/>
        </p:spPr>
        <p:txBody>
          <a:bodyPr wrap="none" rtlCol="0">
            <a:spAutoFit/>
          </a:bodyPr>
          <a:lstStyle>
            <a:defPPr>
              <a:defRPr lang="zh-CN"/>
            </a:defPPr>
            <a:lvl1pPr>
              <a:defRPr sz="7200" b="1">
                <a:solidFill>
                  <a:srgbClr val="1F71A6"/>
                </a:solidFill>
                <a:latin typeface="微软雅黑" panose="020B0503020204020204" pitchFamily="34" charset="-122"/>
                <a:ea typeface="微软雅黑" panose="020B0503020204020204" pitchFamily="34" charset="-122"/>
              </a:defRPr>
            </a:lvl1pPr>
          </a:lstStyle>
          <a:p>
            <a:r>
              <a:rPr lang="en-US" altLang="zh-CN" dirty="0"/>
              <a:t>PART 01</a:t>
            </a:r>
            <a:endParaRPr lang="zh-CN" altLang="en-US"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395536" y="51470"/>
            <a:ext cx="6552728" cy="720080"/>
          </a:xfrm>
        </p:spPr>
        <p:txBody>
          <a:bodyPr/>
          <a:lstStyle/>
          <a:p>
            <a:r>
              <a:rPr lang="zh-CN" altLang="en-US" dirty="0" smtClean="0">
                <a:solidFill>
                  <a:srgbClr val="2179B1"/>
                </a:solidFill>
              </a:rPr>
              <a:t>建设目标</a:t>
            </a:r>
            <a:endParaRPr lang="zh-CN" altLang="en-US" dirty="0">
              <a:solidFill>
                <a:srgbClr val="2179B1"/>
              </a:solidFill>
            </a:endParaRPr>
          </a:p>
        </p:txBody>
      </p:sp>
      <p:sp>
        <p:nvSpPr>
          <p:cNvPr id="4" name="object 3"/>
          <p:cNvSpPr/>
          <p:nvPr/>
        </p:nvSpPr>
        <p:spPr>
          <a:xfrm>
            <a:off x="755064" y="3063571"/>
            <a:ext cx="2160752" cy="373287"/>
          </a:xfrm>
          <a:custGeom>
            <a:avLst/>
            <a:gdLst/>
            <a:ahLst/>
            <a:cxnLst/>
            <a:rect l="l" t="t" r="r" b="b"/>
            <a:pathLst>
              <a:path w="2719704" h="565150">
                <a:moveTo>
                  <a:pt x="2625191" y="0"/>
                </a:moveTo>
                <a:lnTo>
                  <a:pt x="94129" y="0"/>
                </a:lnTo>
                <a:lnTo>
                  <a:pt x="57489" y="7397"/>
                </a:lnTo>
                <a:lnTo>
                  <a:pt x="27569" y="27570"/>
                </a:lnTo>
                <a:lnTo>
                  <a:pt x="7397" y="57490"/>
                </a:lnTo>
                <a:lnTo>
                  <a:pt x="0" y="94129"/>
                </a:lnTo>
                <a:lnTo>
                  <a:pt x="0" y="470645"/>
                </a:lnTo>
                <a:lnTo>
                  <a:pt x="7397" y="507285"/>
                </a:lnTo>
                <a:lnTo>
                  <a:pt x="27569" y="537205"/>
                </a:lnTo>
                <a:lnTo>
                  <a:pt x="57489" y="557378"/>
                </a:lnTo>
                <a:lnTo>
                  <a:pt x="94129" y="564775"/>
                </a:lnTo>
                <a:lnTo>
                  <a:pt x="2625191" y="564775"/>
                </a:lnTo>
                <a:lnTo>
                  <a:pt x="2661830" y="557378"/>
                </a:lnTo>
                <a:lnTo>
                  <a:pt x="2691750" y="537205"/>
                </a:lnTo>
                <a:lnTo>
                  <a:pt x="2711923" y="507285"/>
                </a:lnTo>
                <a:lnTo>
                  <a:pt x="2719320" y="470645"/>
                </a:lnTo>
                <a:lnTo>
                  <a:pt x="2719320" y="94129"/>
                </a:lnTo>
                <a:lnTo>
                  <a:pt x="2711923" y="57490"/>
                </a:lnTo>
                <a:lnTo>
                  <a:pt x="2691750" y="27570"/>
                </a:lnTo>
                <a:lnTo>
                  <a:pt x="2661830" y="7397"/>
                </a:lnTo>
                <a:lnTo>
                  <a:pt x="2625191" y="0"/>
                </a:lnTo>
                <a:close/>
              </a:path>
            </a:pathLst>
          </a:custGeom>
          <a:solidFill>
            <a:srgbClr val="196494"/>
          </a:solidFill>
        </p:spPr>
        <p:txBody>
          <a:bodyPr wrap="square" lIns="0" tIns="0" rIns="0" bIns="0" rtlCol="0"/>
          <a:lstStyle/>
          <a:p>
            <a:endParaRPr sz="1400"/>
          </a:p>
        </p:txBody>
      </p:sp>
      <p:sp>
        <p:nvSpPr>
          <p:cNvPr id="5" name="object 4"/>
          <p:cNvSpPr txBox="1"/>
          <p:nvPr/>
        </p:nvSpPr>
        <p:spPr>
          <a:xfrm>
            <a:off x="899592" y="2716778"/>
            <a:ext cx="1854200" cy="636072"/>
          </a:xfrm>
          <a:prstGeom prst="rect">
            <a:avLst/>
          </a:prstGeom>
        </p:spPr>
        <p:txBody>
          <a:bodyPr vert="horz" wrap="square" lIns="0" tIns="12700" rIns="0" bIns="0" rtlCol="0">
            <a:spAutoFit/>
          </a:bodyPr>
          <a:lstStyle/>
          <a:p>
            <a:pPr algn="ctr">
              <a:lnSpc>
                <a:spcPct val="100000"/>
              </a:lnSpc>
              <a:spcBef>
                <a:spcPts val="100"/>
              </a:spcBef>
            </a:pPr>
            <a:r>
              <a:rPr sz="1400" b="1" dirty="0">
                <a:latin typeface="微软雅黑" panose="020B0503020204020204" pitchFamily="34" charset="-122"/>
                <a:cs typeface="微软雅黑" panose="020B0503020204020204" pitchFamily="34" charset="-122"/>
              </a:rPr>
              <a:t>患者</a:t>
            </a:r>
            <a:endParaRPr sz="1400" dirty="0">
              <a:latin typeface="微软雅黑" panose="020B0503020204020204" pitchFamily="34" charset="-122"/>
              <a:cs typeface="微软雅黑" panose="020B0503020204020204" pitchFamily="34" charset="-122"/>
            </a:endParaRPr>
          </a:p>
          <a:p>
            <a:pPr algn="ctr">
              <a:lnSpc>
                <a:spcPct val="100000"/>
              </a:lnSpc>
              <a:spcBef>
                <a:spcPts val="1510"/>
              </a:spcBef>
            </a:pPr>
            <a:r>
              <a:rPr sz="1400" dirty="0">
                <a:solidFill>
                  <a:srgbClr val="FFFFFF"/>
                </a:solidFill>
                <a:latin typeface="微软雅黑" panose="020B0503020204020204" pitchFamily="34" charset="-122"/>
                <a:cs typeface="微软雅黑" panose="020B0503020204020204" pitchFamily="34" charset="-122"/>
              </a:rPr>
              <a:t>提升患者健康素质</a:t>
            </a:r>
            <a:endParaRPr sz="1400" dirty="0">
              <a:latin typeface="微软雅黑" panose="020B0503020204020204" pitchFamily="34" charset="-122"/>
              <a:cs typeface="微软雅黑" panose="020B0503020204020204" pitchFamily="34" charset="-122"/>
            </a:endParaRPr>
          </a:p>
        </p:txBody>
      </p:sp>
      <p:sp>
        <p:nvSpPr>
          <p:cNvPr id="6" name="object 5"/>
          <p:cNvSpPr/>
          <p:nvPr/>
        </p:nvSpPr>
        <p:spPr>
          <a:xfrm>
            <a:off x="773073" y="3652882"/>
            <a:ext cx="2160752" cy="373287"/>
          </a:xfrm>
          <a:custGeom>
            <a:avLst/>
            <a:gdLst/>
            <a:ahLst/>
            <a:cxnLst/>
            <a:rect l="l" t="t" r="r" b="b"/>
            <a:pathLst>
              <a:path w="2719704" h="565150">
                <a:moveTo>
                  <a:pt x="2625191" y="0"/>
                </a:moveTo>
                <a:lnTo>
                  <a:pt x="94129" y="0"/>
                </a:lnTo>
                <a:lnTo>
                  <a:pt x="57489" y="7397"/>
                </a:lnTo>
                <a:lnTo>
                  <a:pt x="27569" y="27570"/>
                </a:lnTo>
                <a:lnTo>
                  <a:pt x="7397" y="57490"/>
                </a:lnTo>
                <a:lnTo>
                  <a:pt x="0" y="94129"/>
                </a:lnTo>
                <a:lnTo>
                  <a:pt x="0" y="470646"/>
                </a:lnTo>
                <a:lnTo>
                  <a:pt x="7397" y="507286"/>
                </a:lnTo>
                <a:lnTo>
                  <a:pt x="27569" y="537206"/>
                </a:lnTo>
                <a:lnTo>
                  <a:pt x="57489" y="557379"/>
                </a:lnTo>
                <a:lnTo>
                  <a:pt x="94129" y="564776"/>
                </a:lnTo>
                <a:lnTo>
                  <a:pt x="2625191" y="564776"/>
                </a:lnTo>
                <a:lnTo>
                  <a:pt x="2661830" y="557379"/>
                </a:lnTo>
                <a:lnTo>
                  <a:pt x="2691750" y="537206"/>
                </a:lnTo>
                <a:lnTo>
                  <a:pt x="2711923" y="507286"/>
                </a:lnTo>
                <a:lnTo>
                  <a:pt x="2719320" y="470646"/>
                </a:lnTo>
                <a:lnTo>
                  <a:pt x="2719320" y="94129"/>
                </a:lnTo>
                <a:lnTo>
                  <a:pt x="2711923" y="57490"/>
                </a:lnTo>
                <a:lnTo>
                  <a:pt x="2691750" y="27570"/>
                </a:lnTo>
                <a:lnTo>
                  <a:pt x="2661830" y="7397"/>
                </a:lnTo>
                <a:lnTo>
                  <a:pt x="2625191" y="0"/>
                </a:lnTo>
                <a:close/>
              </a:path>
            </a:pathLst>
          </a:custGeom>
          <a:solidFill>
            <a:srgbClr val="196494"/>
          </a:solidFill>
        </p:spPr>
        <p:txBody>
          <a:bodyPr wrap="square" lIns="0" tIns="0" rIns="0" bIns="0" rtlCol="0"/>
          <a:lstStyle/>
          <a:p>
            <a:endParaRPr sz="1400"/>
          </a:p>
        </p:txBody>
      </p:sp>
      <p:sp>
        <p:nvSpPr>
          <p:cNvPr id="7" name="object 6"/>
          <p:cNvSpPr txBox="1"/>
          <p:nvPr/>
        </p:nvSpPr>
        <p:spPr>
          <a:xfrm>
            <a:off x="1115616" y="3724890"/>
            <a:ext cx="1854200" cy="228268"/>
          </a:xfrm>
          <a:prstGeom prst="rect">
            <a:avLst/>
          </a:prstGeom>
        </p:spPr>
        <p:txBody>
          <a:bodyPr vert="horz" wrap="square" lIns="0" tIns="12700" rIns="0" bIns="0" rtlCol="0">
            <a:spAutoFit/>
          </a:bodyPr>
          <a:lstStyle/>
          <a:p>
            <a:pPr marL="12700">
              <a:lnSpc>
                <a:spcPct val="100000"/>
              </a:lnSpc>
              <a:spcBef>
                <a:spcPts val="100"/>
              </a:spcBef>
            </a:pPr>
            <a:r>
              <a:rPr sz="1400" dirty="0">
                <a:solidFill>
                  <a:srgbClr val="FFFFFF"/>
                </a:solidFill>
                <a:latin typeface="微软雅黑" panose="020B0503020204020204" pitchFamily="34" charset="-122"/>
                <a:cs typeface="微软雅黑" panose="020B0503020204020204" pitchFamily="34" charset="-122"/>
              </a:rPr>
              <a:t>便捷、及时、有效</a:t>
            </a:r>
            <a:endParaRPr sz="1400" dirty="0">
              <a:latin typeface="微软雅黑" panose="020B0503020204020204" pitchFamily="34" charset="-122"/>
              <a:cs typeface="微软雅黑" panose="020B0503020204020204" pitchFamily="34" charset="-122"/>
            </a:endParaRPr>
          </a:p>
        </p:txBody>
      </p:sp>
      <p:sp>
        <p:nvSpPr>
          <p:cNvPr id="9" name="object 7"/>
          <p:cNvSpPr/>
          <p:nvPr/>
        </p:nvSpPr>
        <p:spPr>
          <a:xfrm>
            <a:off x="755576" y="4228946"/>
            <a:ext cx="2160752" cy="373287"/>
          </a:xfrm>
          <a:custGeom>
            <a:avLst/>
            <a:gdLst/>
            <a:ahLst/>
            <a:cxnLst/>
            <a:rect l="l" t="t" r="r" b="b"/>
            <a:pathLst>
              <a:path w="2719704" h="565150">
                <a:moveTo>
                  <a:pt x="2625191" y="0"/>
                </a:moveTo>
                <a:lnTo>
                  <a:pt x="94129" y="0"/>
                </a:lnTo>
                <a:lnTo>
                  <a:pt x="57489" y="7397"/>
                </a:lnTo>
                <a:lnTo>
                  <a:pt x="27569" y="27570"/>
                </a:lnTo>
                <a:lnTo>
                  <a:pt x="7397" y="57490"/>
                </a:lnTo>
                <a:lnTo>
                  <a:pt x="0" y="94129"/>
                </a:lnTo>
                <a:lnTo>
                  <a:pt x="0" y="470646"/>
                </a:lnTo>
                <a:lnTo>
                  <a:pt x="7397" y="507285"/>
                </a:lnTo>
                <a:lnTo>
                  <a:pt x="27569" y="537206"/>
                </a:lnTo>
                <a:lnTo>
                  <a:pt x="57489" y="557378"/>
                </a:lnTo>
                <a:lnTo>
                  <a:pt x="94129" y="564775"/>
                </a:lnTo>
                <a:lnTo>
                  <a:pt x="2625191" y="564775"/>
                </a:lnTo>
                <a:lnTo>
                  <a:pt x="2661830" y="557378"/>
                </a:lnTo>
                <a:lnTo>
                  <a:pt x="2691750" y="537206"/>
                </a:lnTo>
                <a:lnTo>
                  <a:pt x="2711923" y="507285"/>
                </a:lnTo>
                <a:lnTo>
                  <a:pt x="2719320" y="470646"/>
                </a:lnTo>
                <a:lnTo>
                  <a:pt x="2719320" y="94129"/>
                </a:lnTo>
                <a:lnTo>
                  <a:pt x="2711923" y="57490"/>
                </a:lnTo>
                <a:lnTo>
                  <a:pt x="2691750" y="27570"/>
                </a:lnTo>
                <a:lnTo>
                  <a:pt x="2661830" y="7397"/>
                </a:lnTo>
                <a:lnTo>
                  <a:pt x="2625191" y="0"/>
                </a:lnTo>
                <a:close/>
              </a:path>
            </a:pathLst>
          </a:custGeom>
          <a:solidFill>
            <a:srgbClr val="196494"/>
          </a:solidFill>
        </p:spPr>
        <p:txBody>
          <a:bodyPr wrap="square" lIns="0" tIns="0" rIns="0" bIns="0" rtlCol="0"/>
          <a:lstStyle/>
          <a:p>
            <a:endParaRPr sz="1400"/>
          </a:p>
        </p:txBody>
      </p:sp>
      <p:sp>
        <p:nvSpPr>
          <p:cNvPr id="10" name="object 8"/>
          <p:cNvSpPr txBox="1"/>
          <p:nvPr/>
        </p:nvSpPr>
        <p:spPr>
          <a:xfrm>
            <a:off x="1146200" y="4300954"/>
            <a:ext cx="1625600" cy="228268"/>
          </a:xfrm>
          <a:prstGeom prst="rect">
            <a:avLst/>
          </a:prstGeom>
        </p:spPr>
        <p:txBody>
          <a:bodyPr vert="horz" wrap="square" lIns="0" tIns="12700" rIns="0" bIns="0" rtlCol="0">
            <a:spAutoFit/>
          </a:bodyPr>
          <a:lstStyle/>
          <a:p>
            <a:pPr marL="12700">
              <a:lnSpc>
                <a:spcPct val="100000"/>
              </a:lnSpc>
              <a:spcBef>
                <a:spcPts val="100"/>
              </a:spcBef>
            </a:pPr>
            <a:r>
              <a:rPr sz="1400" dirty="0">
                <a:solidFill>
                  <a:srgbClr val="FFFFFF"/>
                </a:solidFill>
                <a:latin typeface="微软雅黑" panose="020B0503020204020204" pitchFamily="34" charset="-122"/>
                <a:cs typeface="微软雅黑" panose="020B0503020204020204" pitchFamily="34" charset="-122"/>
              </a:rPr>
              <a:t>持续监测及预警</a:t>
            </a:r>
            <a:endParaRPr sz="1400" dirty="0">
              <a:latin typeface="微软雅黑" panose="020B0503020204020204" pitchFamily="34" charset="-122"/>
              <a:cs typeface="微软雅黑" panose="020B0503020204020204" pitchFamily="34" charset="-122"/>
            </a:endParaRPr>
          </a:p>
        </p:txBody>
      </p:sp>
      <p:sp>
        <p:nvSpPr>
          <p:cNvPr id="11" name="object 9"/>
          <p:cNvSpPr/>
          <p:nvPr/>
        </p:nvSpPr>
        <p:spPr>
          <a:xfrm>
            <a:off x="3635896" y="3076818"/>
            <a:ext cx="2111199" cy="373287"/>
          </a:xfrm>
          <a:custGeom>
            <a:avLst/>
            <a:gdLst/>
            <a:ahLst/>
            <a:cxnLst/>
            <a:rect l="l" t="t" r="r" b="b"/>
            <a:pathLst>
              <a:path w="2719704" h="565150">
                <a:moveTo>
                  <a:pt x="2625191" y="0"/>
                </a:moveTo>
                <a:lnTo>
                  <a:pt x="94129" y="0"/>
                </a:lnTo>
                <a:lnTo>
                  <a:pt x="57490" y="7397"/>
                </a:lnTo>
                <a:lnTo>
                  <a:pt x="27570" y="27570"/>
                </a:lnTo>
                <a:lnTo>
                  <a:pt x="7397" y="57490"/>
                </a:lnTo>
                <a:lnTo>
                  <a:pt x="0" y="94129"/>
                </a:lnTo>
                <a:lnTo>
                  <a:pt x="0" y="470645"/>
                </a:lnTo>
                <a:lnTo>
                  <a:pt x="7397" y="507285"/>
                </a:lnTo>
                <a:lnTo>
                  <a:pt x="27570" y="537205"/>
                </a:lnTo>
                <a:lnTo>
                  <a:pt x="57490" y="557378"/>
                </a:lnTo>
                <a:lnTo>
                  <a:pt x="94129" y="564775"/>
                </a:lnTo>
                <a:lnTo>
                  <a:pt x="2625191" y="564775"/>
                </a:lnTo>
                <a:lnTo>
                  <a:pt x="2661831" y="557378"/>
                </a:lnTo>
                <a:lnTo>
                  <a:pt x="2691751" y="537205"/>
                </a:lnTo>
                <a:lnTo>
                  <a:pt x="2711924" y="507285"/>
                </a:lnTo>
                <a:lnTo>
                  <a:pt x="2719321" y="470645"/>
                </a:lnTo>
                <a:lnTo>
                  <a:pt x="2719321" y="94129"/>
                </a:lnTo>
                <a:lnTo>
                  <a:pt x="2711924" y="57490"/>
                </a:lnTo>
                <a:lnTo>
                  <a:pt x="2691751" y="27570"/>
                </a:lnTo>
                <a:lnTo>
                  <a:pt x="2661831" y="7397"/>
                </a:lnTo>
                <a:lnTo>
                  <a:pt x="2625191" y="0"/>
                </a:lnTo>
                <a:close/>
              </a:path>
            </a:pathLst>
          </a:custGeom>
          <a:solidFill>
            <a:srgbClr val="196494"/>
          </a:solidFill>
        </p:spPr>
        <p:txBody>
          <a:bodyPr wrap="square" lIns="0" tIns="0" rIns="0" bIns="0" rtlCol="0"/>
          <a:lstStyle/>
          <a:p>
            <a:endParaRPr sz="1400"/>
          </a:p>
        </p:txBody>
      </p:sp>
      <p:sp>
        <p:nvSpPr>
          <p:cNvPr id="12" name="object 10"/>
          <p:cNvSpPr txBox="1"/>
          <p:nvPr/>
        </p:nvSpPr>
        <p:spPr>
          <a:xfrm>
            <a:off x="3635896" y="2716778"/>
            <a:ext cx="2080970" cy="228268"/>
          </a:xfrm>
          <a:prstGeom prst="rect">
            <a:avLst/>
          </a:prstGeom>
        </p:spPr>
        <p:txBody>
          <a:bodyPr vert="horz" wrap="square" lIns="0" tIns="12700" rIns="0" bIns="0" rtlCol="0">
            <a:spAutoFit/>
          </a:bodyPr>
          <a:lstStyle/>
          <a:p>
            <a:pPr algn="ctr">
              <a:lnSpc>
                <a:spcPct val="100000"/>
              </a:lnSpc>
              <a:spcBef>
                <a:spcPts val="100"/>
              </a:spcBef>
            </a:pPr>
            <a:r>
              <a:rPr sz="1400" b="1" dirty="0" err="1" smtClean="0">
                <a:latin typeface="微软雅黑" panose="020B0503020204020204" pitchFamily="34" charset="-122"/>
                <a:cs typeface="微软雅黑" panose="020B0503020204020204" pitchFamily="34" charset="-122"/>
              </a:rPr>
              <a:t>医院</a:t>
            </a:r>
            <a:endParaRPr sz="1400" dirty="0">
              <a:latin typeface="微软雅黑" panose="020B0503020204020204" pitchFamily="34" charset="-122"/>
              <a:cs typeface="微软雅黑" panose="020B0503020204020204" pitchFamily="34" charset="-122"/>
            </a:endParaRPr>
          </a:p>
        </p:txBody>
      </p:sp>
      <p:sp>
        <p:nvSpPr>
          <p:cNvPr id="13" name="object 11"/>
          <p:cNvSpPr/>
          <p:nvPr/>
        </p:nvSpPr>
        <p:spPr>
          <a:xfrm>
            <a:off x="3635896" y="3652882"/>
            <a:ext cx="2111199" cy="373287"/>
          </a:xfrm>
          <a:custGeom>
            <a:avLst/>
            <a:gdLst/>
            <a:ahLst/>
            <a:cxnLst/>
            <a:rect l="l" t="t" r="r" b="b"/>
            <a:pathLst>
              <a:path w="2719704" h="565150">
                <a:moveTo>
                  <a:pt x="2625191" y="0"/>
                </a:moveTo>
                <a:lnTo>
                  <a:pt x="94129" y="0"/>
                </a:lnTo>
                <a:lnTo>
                  <a:pt x="57490" y="7397"/>
                </a:lnTo>
                <a:lnTo>
                  <a:pt x="27570" y="27569"/>
                </a:lnTo>
                <a:lnTo>
                  <a:pt x="7397" y="57489"/>
                </a:lnTo>
                <a:lnTo>
                  <a:pt x="0" y="94129"/>
                </a:lnTo>
                <a:lnTo>
                  <a:pt x="0" y="470645"/>
                </a:lnTo>
                <a:lnTo>
                  <a:pt x="7397" y="507284"/>
                </a:lnTo>
                <a:lnTo>
                  <a:pt x="27570" y="537205"/>
                </a:lnTo>
                <a:lnTo>
                  <a:pt x="57490" y="557378"/>
                </a:lnTo>
                <a:lnTo>
                  <a:pt x="94129" y="564775"/>
                </a:lnTo>
                <a:lnTo>
                  <a:pt x="2625191" y="564775"/>
                </a:lnTo>
                <a:lnTo>
                  <a:pt x="2661831" y="557378"/>
                </a:lnTo>
                <a:lnTo>
                  <a:pt x="2691751" y="537205"/>
                </a:lnTo>
                <a:lnTo>
                  <a:pt x="2711924" y="507284"/>
                </a:lnTo>
                <a:lnTo>
                  <a:pt x="2719321" y="470645"/>
                </a:lnTo>
                <a:lnTo>
                  <a:pt x="2719321" y="94129"/>
                </a:lnTo>
                <a:lnTo>
                  <a:pt x="2711924" y="57489"/>
                </a:lnTo>
                <a:lnTo>
                  <a:pt x="2691751" y="27569"/>
                </a:lnTo>
                <a:lnTo>
                  <a:pt x="2661831" y="7397"/>
                </a:lnTo>
                <a:lnTo>
                  <a:pt x="2625191" y="0"/>
                </a:lnTo>
                <a:close/>
              </a:path>
            </a:pathLst>
          </a:custGeom>
          <a:solidFill>
            <a:srgbClr val="196494"/>
          </a:solidFill>
        </p:spPr>
        <p:txBody>
          <a:bodyPr wrap="square" lIns="0" tIns="0" rIns="0" bIns="0" rtlCol="0"/>
          <a:lstStyle/>
          <a:p>
            <a:endParaRPr sz="1400"/>
          </a:p>
        </p:txBody>
      </p:sp>
      <p:sp>
        <p:nvSpPr>
          <p:cNvPr id="14" name="object 12"/>
          <p:cNvSpPr txBox="1"/>
          <p:nvPr/>
        </p:nvSpPr>
        <p:spPr>
          <a:xfrm>
            <a:off x="3995936" y="3724890"/>
            <a:ext cx="1439342" cy="228268"/>
          </a:xfrm>
          <a:prstGeom prst="rect">
            <a:avLst/>
          </a:prstGeom>
        </p:spPr>
        <p:txBody>
          <a:bodyPr vert="horz" wrap="square" lIns="0" tIns="12700" rIns="0" bIns="0" rtlCol="0">
            <a:spAutoFit/>
          </a:bodyPr>
          <a:lstStyle/>
          <a:p>
            <a:pPr marL="12700">
              <a:lnSpc>
                <a:spcPct val="100000"/>
              </a:lnSpc>
              <a:spcBef>
                <a:spcPts val="100"/>
              </a:spcBef>
            </a:pPr>
            <a:r>
              <a:rPr sz="1400" dirty="0">
                <a:solidFill>
                  <a:srgbClr val="FFFFFF"/>
                </a:solidFill>
                <a:latin typeface="微软雅黑" panose="020B0503020204020204" pitchFamily="34" charset="-122"/>
                <a:cs typeface="微软雅黑" panose="020B0503020204020204" pitchFamily="34" charset="-122"/>
              </a:rPr>
              <a:t>诊断救治能力提升</a:t>
            </a:r>
            <a:endParaRPr sz="1400" dirty="0">
              <a:latin typeface="微软雅黑" panose="020B0503020204020204" pitchFamily="34" charset="-122"/>
              <a:cs typeface="微软雅黑" panose="020B0503020204020204" pitchFamily="34" charset="-122"/>
            </a:endParaRPr>
          </a:p>
        </p:txBody>
      </p:sp>
      <p:sp>
        <p:nvSpPr>
          <p:cNvPr id="15" name="object 13"/>
          <p:cNvSpPr/>
          <p:nvPr/>
        </p:nvSpPr>
        <p:spPr>
          <a:xfrm>
            <a:off x="3635896" y="4215699"/>
            <a:ext cx="2111199" cy="373287"/>
          </a:xfrm>
          <a:custGeom>
            <a:avLst/>
            <a:gdLst/>
            <a:ahLst/>
            <a:cxnLst/>
            <a:rect l="l" t="t" r="r" b="b"/>
            <a:pathLst>
              <a:path w="2719704" h="565150">
                <a:moveTo>
                  <a:pt x="2625190" y="0"/>
                </a:moveTo>
                <a:lnTo>
                  <a:pt x="94128" y="0"/>
                </a:lnTo>
                <a:lnTo>
                  <a:pt x="57489" y="7397"/>
                </a:lnTo>
                <a:lnTo>
                  <a:pt x="27569" y="27569"/>
                </a:lnTo>
                <a:lnTo>
                  <a:pt x="7397" y="57490"/>
                </a:lnTo>
                <a:lnTo>
                  <a:pt x="0" y="94129"/>
                </a:lnTo>
                <a:lnTo>
                  <a:pt x="0" y="470646"/>
                </a:lnTo>
                <a:lnTo>
                  <a:pt x="7397" y="507285"/>
                </a:lnTo>
                <a:lnTo>
                  <a:pt x="27569" y="537206"/>
                </a:lnTo>
                <a:lnTo>
                  <a:pt x="57489" y="557378"/>
                </a:lnTo>
                <a:lnTo>
                  <a:pt x="94128" y="564775"/>
                </a:lnTo>
                <a:lnTo>
                  <a:pt x="2625190" y="564775"/>
                </a:lnTo>
                <a:lnTo>
                  <a:pt x="2661830" y="557378"/>
                </a:lnTo>
                <a:lnTo>
                  <a:pt x="2691750" y="537206"/>
                </a:lnTo>
                <a:lnTo>
                  <a:pt x="2711923" y="507285"/>
                </a:lnTo>
                <a:lnTo>
                  <a:pt x="2719320" y="470646"/>
                </a:lnTo>
                <a:lnTo>
                  <a:pt x="2719320" y="94129"/>
                </a:lnTo>
                <a:lnTo>
                  <a:pt x="2711923" y="57490"/>
                </a:lnTo>
                <a:lnTo>
                  <a:pt x="2691750" y="27569"/>
                </a:lnTo>
                <a:lnTo>
                  <a:pt x="2661830" y="7397"/>
                </a:lnTo>
                <a:lnTo>
                  <a:pt x="2625190" y="0"/>
                </a:lnTo>
                <a:close/>
              </a:path>
            </a:pathLst>
          </a:custGeom>
          <a:solidFill>
            <a:srgbClr val="196494"/>
          </a:solidFill>
        </p:spPr>
        <p:txBody>
          <a:bodyPr wrap="square" lIns="0" tIns="0" rIns="0" bIns="0" rtlCol="0"/>
          <a:lstStyle/>
          <a:p>
            <a:endParaRPr sz="1400"/>
          </a:p>
        </p:txBody>
      </p:sp>
      <p:sp>
        <p:nvSpPr>
          <p:cNvPr id="16" name="object 14"/>
          <p:cNvSpPr txBox="1"/>
          <p:nvPr/>
        </p:nvSpPr>
        <p:spPr>
          <a:xfrm>
            <a:off x="4067944" y="4288710"/>
            <a:ext cx="1261889" cy="228268"/>
          </a:xfrm>
          <a:prstGeom prst="rect">
            <a:avLst/>
          </a:prstGeom>
        </p:spPr>
        <p:txBody>
          <a:bodyPr vert="horz" wrap="square" lIns="0" tIns="12700" rIns="0" bIns="0" rtlCol="0">
            <a:spAutoFit/>
          </a:bodyPr>
          <a:lstStyle/>
          <a:p>
            <a:pPr marL="12700">
              <a:lnSpc>
                <a:spcPct val="100000"/>
              </a:lnSpc>
              <a:spcBef>
                <a:spcPts val="100"/>
              </a:spcBef>
            </a:pPr>
            <a:r>
              <a:rPr sz="1400" dirty="0">
                <a:solidFill>
                  <a:srgbClr val="FFFFFF"/>
                </a:solidFill>
                <a:latin typeface="微软雅黑" panose="020B0503020204020204" pitchFamily="34" charset="-122"/>
                <a:cs typeface="微软雅黑" panose="020B0503020204020204" pitchFamily="34" charset="-122"/>
              </a:rPr>
              <a:t>区域影响力提升</a:t>
            </a:r>
            <a:endParaRPr sz="1400" dirty="0">
              <a:latin typeface="微软雅黑" panose="020B0503020204020204" pitchFamily="34" charset="-122"/>
              <a:cs typeface="微软雅黑" panose="020B0503020204020204" pitchFamily="34" charset="-122"/>
            </a:endParaRPr>
          </a:p>
        </p:txBody>
      </p:sp>
      <p:sp>
        <p:nvSpPr>
          <p:cNvPr id="17" name="object 15"/>
          <p:cNvSpPr/>
          <p:nvPr/>
        </p:nvSpPr>
        <p:spPr>
          <a:xfrm>
            <a:off x="6300193" y="3063571"/>
            <a:ext cx="2111199" cy="373287"/>
          </a:xfrm>
          <a:custGeom>
            <a:avLst/>
            <a:gdLst/>
            <a:ahLst/>
            <a:cxnLst/>
            <a:rect l="l" t="t" r="r" b="b"/>
            <a:pathLst>
              <a:path w="2719704" h="565150">
                <a:moveTo>
                  <a:pt x="2625191" y="0"/>
                </a:moveTo>
                <a:lnTo>
                  <a:pt x="94129" y="0"/>
                </a:lnTo>
                <a:lnTo>
                  <a:pt x="57489" y="7397"/>
                </a:lnTo>
                <a:lnTo>
                  <a:pt x="27569" y="27570"/>
                </a:lnTo>
                <a:lnTo>
                  <a:pt x="7397" y="57490"/>
                </a:lnTo>
                <a:lnTo>
                  <a:pt x="0" y="94129"/>
                </a:lnTo>
                <a:lnTo>
                  <a:pt x="0" y="470645"/>
                </a:lnTo>
                <a:lnTo>
                  <a:pt x="7397" y="507285"/>
                </a:lnTo>
                <a:lnTo>
                  <a:pt x="27569" y="537205"/>
                </a:lnTo>
                <a:lnTo>
                  <a:pt x="57489" y="557378"/>
                </a:lnTo>
                <a:lnTo>
                  <a:pt x="94129" y="564775"/>
                </a:lnTo>
                <a:lnTo>
                  <a:pt x="2625191" y="564775"/>
                </a:lnTo>
                <a:lnTo>
                  <a:pt x="2661830" y="557378"/>
                </a:lnTo>
                <a:lnTo>
                  <a:pt x="2691750" y="537205"/>
                </a:lnTo>
                <a:lnTo>
                  <a:pt x="2711923" y="507285"/>
                </a:lnTo>
                <a:lnTo>
                  <a:pt x="2719320" y="470645"/>
                </a:lnTo>
                <a:lnTo>
                  <a:pt x="2719320" y="94129"/>
                </a:lnTo>
                <a:lnTo>
                  <a:pt x="2711923" y="57490"/>
                </a:lnTo>
                <a:lnTo>
                  <a:pt x="2691750" y="27570"/>
                </a:lnTo>
                <a:lnTo>
                  <a:pt x="2661830" y="7397"/>
                </a:lnTo>
                <a:lnTo>
                  <a:pt x="2625191" y="0"/>
                </a:lnTo>
                <a:close/>
              </a:path>
            </a:pathLst>
          </a:custGeom>
          <a:solidFill>
            <a:srgbClr val="196494"/>
          </a:solidFill>
        </p:spPr>
        <p:txBody>
          <a:bodyPr wrap="square" lIns="0" tIns="0" rIns="0" bIns="0" rtlCol="0"/>
          <a:lstStyle/>
          <a:p>
            <a:endParaRPr sz="1400"/>
          </a:p>
        </p:txBody>
      </p:sp>
      <p:sp>
        <p:nvSpPr>
          <p:cNvPr id="18" name="object 16"/>
          <p:cNvSpPr txBox="1"/>
          <p:nvPr/>
        </p:nvSpPr>
        <p:spPr>
          <a:xfrm>
            <a:off x="6372200" y="2716778"/>
            <a:ext cx="1854200" cy="636072"/>
          </a:xfrm>
          <a:prstGeom prst="rect">
            <a:avLst/>
          </a:prstGeom>
        </p:spPr>
        <p:txBody>
          <a:bodyPr vert="horz" wrap="square" lIns="0" tIns="12700" rIns="0" bIns="0" rtlCol="0">
            <a:spAutoFit/>
          </a:bodyPr>
          <a:lstStyle/>
          <a:p>
            <a:pPr algn="ctr">
              <a:lnSpc>
                <a:spcPct val="100000"/>
              </a:lnSpc>
              <a:spcBef>
                <a:spcPts val="100"/>
              </a:spcBef>
            </a:pPr>
            <a:r>
              <a:rPr sz="1400" b="1" dirty="0">
                <a:latin typeface="微软雅黑" panose="020B0503020204020204" pitchFamily="34" charset="-122"/>
                <a:cs typeface="微软雅黑" panose="020B0503020204020204" pitchFamily="34" charset="-122"/>
              </a:rPr>
              <a:t>政府</a:t>
            </a:r>
            <a:endParaRPr sz="1400" dirty="0">
              <a:latin typeface="微软雅黑" panose="020B0503020204020204" pitchFamily="34" charset="-122"/>
              <a:cs typeface="微软雅黑" panose="020B0503020204020204" pitchFamily="34" charset="-122"/>
            </a:endParaRPr>
          </a:p>
          <a:p>
            <a:pPr algn="ctr">
              <a:lnSpc>
                <a:spcPct val="100000"/>
              </a:lnSpc>
              <a:spcBef>
                <a:spcPts val="1510"/>
              </a:spcBef>
            </a:pPr>
            <a:r>
              <a:rPr sz="1400" dirty="0">
                <a:solidFill>
                  <a:srgbClr val="FFFFFF"/>
                </a:solidFill>
                <a:latin typeface="微软雅黑" panose="020B0503020204020204" pitchFamily="34" charset="-122"/>
                <a:cs typeface="微软雅黑" panose="020B0503020204020204" pitchFamily="34" charset="-122"/>
              </a:rPr>
              <a:t>有效防控疾病风险</a:t>
            </a:r>
            <a:endParaRPr sz="1400" dirty="0">
              <a:latin typeface="微软雅黑" panose="020B0503020204020204" pitchFamily="34" charset="-122"/>
              <a:cs typeface="微软雅黑" panose="020B0503020204020204" pitchFamily="34" charset="-122"/>
            </a:endParaRPr>
          </a:p>
        </p:txBody>
      </p:sp>
      <p:sp>
        <p:nvSpPr>
          <p:cNvPr id="19" name="object 17"/>
          <p:cNvSpPr/>
          <p:nvPr/>
        </p:nvSpPr>
        <p:spPr>
          <a:xfrm>
            <a:off x="6300193" y="3652882"/>
            <a:ext cx="2111199" cy="373287"/>
          </a:xfrm>
          <a:custGeom>
            <a:avLst/>
            <a:gdLst/>
            <a:ahLst/>
            <a:cxnLst/>
            <a:rect l="l" t="t" r="r" b="b"/>
            <a:pathLst>
              <a:path w="2719704" h="565150">
                <a:moveTo>
                  <a:pt x="2625191" y="0"/>
                </a:moveTo>
                <a:lnTo>
                  <a:pt x="94129" y="0"/>
                </a:lnTo>
                <a:lnTo>
                  <a:pt x="57489" y="7397"/>
                </a:lnTo>
                <a:lnTo>
                  <a:pt x="27569" y="27570"/>
                </a:lnTo>
                <a:lnTo>
                  <a:pt x="7397" y="57490"/>
                </a:lnTo>
                <a:lnTo>
                  <a:pt x="0" y="94129"/>
                </a:lnTo>
                <a:lnTo>
                  <a:pt x="0" y="470646"/>
                </a:lnTo>
                <a:lnTo>
                  <a:pt x="7397" y="507286"/>
                </a:lnTo>
                <a:lnTo>
                  <a:pt x="27569" y="537206"/>
                </a:lnTo>
                <a:lnTo>
                  <a:pt x="57489" y="557379"/>
                </a:lnTo>
                <a:lnTo>
                  <a:pt x="94129" y="564776"/>
                </a:lnTo>
                <a:lnTo>
                  <a:pt x="2625191" y="564776"/>
                </a:lnTo>
                <a:lnTo>
                  <a:pt x="2661830" y="557379"/>
                </a:lnTo>
                <a:lnTo>
                  <a:pt x="2691750" y="537206"/>
                </a:lnTo>
                <a:lnTo>
                  <a:pt x="2711923" y="507286"/>
                </a:lnTo>
                <a:lnTo>
                  <a:pt x="2719320" y="470646"/>
                </a:lnTo>
                <a:lnTo>
                  <a:pt x="2719320" y="94129"/>
                </a:lnTo>
                <a:lnTo>
                  <a:pt x="2711923" y="57490"/>
                </a:lnTo>
                <a:lnTo>
                  <a:pt x="2691750" y="27570"/>
                </a:lnTo>
                <a:lnTo>
                  <a:pt x="2661830" y="7397"/>
                </a:lnTo>
                <a:lnTo>
                  <a:pt x="2625191" y="0"/>
                </a:lnTo>
                <a:close/>
              </a:path>
            </a:pathLst>
          </a:custGeom>
          <a:solidFill>
            <a:srgbClr val="196494"/>
          </a:solidFill>
        </p:spPr>
        <p:txBody>
          <a:bodyPr wrap="square" lIns="0" tIns="0" rIns="0" bIns="0" rtlCol="0"/>
          <a:lstStyle/>
          <a:p>
            <a:endParaRPr sz="1400"/>
          </a:p>
        </p:txBody>
      </p:sp>
      <p:sp>
        <p:nvSpPr>
          <p:cNvPr id="20" name="object 18"/>
          <p:cNvSpPr txBox="1"/>
          <p:nvPr/>
        </p:nvSpPr>
        <p:spPr>
          <a:xfrm>
            <a:off x="6660232" y="3724890"/>
            <a:ext cx="1439342" cy="228268"/>
          </a:xfrm>
          <a:prstGeom prst="rect">
            <a:avLst/>
          </a:prstGeom>
        </p:spPr>
        <p:txBody>
          <a:bodyPr vert="horz" wrap="square" lIns="0" tIns="12700" rIns="0" bIns="0" rtlCol="0">
            <a:spAutoFit/>
          </a:bodyPr>
          <a:lstStyle/>
          <a:p>
            <a:pPr marL="12700">
              <a:lnSpc>
                <a:spcPct val="100000"/>
              </a:lnSpc>
              <a:spcBef>
                <a:spcPts val="100"/>
              </a:spcBef>
            </a:pPr>
            <a:r>
              <a:rPr sz="1400" dirty="0">
                <a:solidFill>
                  <a:srgbClr val="FFFFFF"/>
                </a:solidFill>
                <a:latin typeface="微软雅黑" panose="020B0503020204020204" pitchFamily="34" charset="-122"/>
                <a:cs typeface="微软雅黑" panose="020B0503020204020204" pitchFamily="34" charset="-122"/>
              </a:rPr>
              <a:t>分级诊疗效率提升</a:t>
            </a:r>
            <a:endParaRPr sz="1400" dirty="0">
              <a:latin typeface="微软雅黑" panose="020B0503020204020204" pitchFamily="34" charset="-122"/>
              <a:cs typeface="微软雅黑" panose="020B0503020204020204" pitchFamily="34" charset="-122"/>
            </a:endParaRPr>
          </a:p>
        </p:txBody>
      </p:sp>
      <p:sp>
        <p:nvSpPr>
          <p:cNvPr id="21" name="object 19"/>
          <p:cNvSpPr/>
          <p:nvPr/>
        </p:nvSpPr>
        <p:spPr>
          <a:xfrm>
            <a:off x="6300192" y="4215699"/>
            <a:ext cx="2111199" cy="373287"/>
          </a:xfrm>
          <a:custGeom>
            <a:avLst/>
            <a:gdLst/>
            <a:ahLst/>
            <a:cxnLst/>
            <a:rect l="l" t="t" r="r" b="b"/>
            <a:pathLst>
              <a:path w="2719704" h="565150">
                <a:moveTo>
                  <a:pt x="2625191" y="0"/>
                </a:moveTo>
                <a:lnTo>
                  <a:pt x="94129" y="0"/>
                </a:lnTo>
                <a:lnTo>
                  <a:pt x="57490" y="7397"/>
                </a:lnTo>
                <a:lnTo>
                  <a:pt x="27570" y="27570"/>
                </a:lnTo>
                <a:lnTo>
                  <a:pt x="7397" y="57490"/>
                </a:lnTo>
                <a:lnTo>
                  <a:pt x="0" y="94129"/>
                </a:lnTo>
                <a:lnTo>
                  <a:pt x="0" y="470646"/>
                </a:lnTo>
                <a:lnTo>
                  <a:pt x="7397" y="507285"/>
                </a:lnTo>
                <a:lnTo>
                  <a:pt x="27570" y="537206"/>
                </a:lnTo>
                <a:lnTo>
                  <a:pt x="57490" y="557378"/>
                </a:lnTo>
                <a:lnTo>
                  <a:pt x="94129" y="564775"/>
                </a:lnTo>
                <a:lnTo>
                  <a:pt x="2625191" y="564775"/>
                </a:lnTo>
                <a:lnTo>
                  <a:pt x="2661831" y="557378"/>
                </a:lnTo>
                <a:lnTo>
                  <a:pt x="2691751" y="537206"/>
                </a:lnTo>
                <a:lnTo>
                  <a:pt x="2711924" y="507285"/>
                </a:lnTo>
                <a:lnTo>
                  <a:pt x="2719321" y="470646"/>
                </a:lnTo>
                <a:lnTo>
                  <a:pt x="2719321" y="94129"/>
                </a:lnTo>
                <a:lnTo>
                  <a:pt x="2711924" y="57490"/>
                </a:lnTo>
                <a:lnTo>
                  <a:pt x="2691751" y="27570"/>
                </a:lnTo>
                <a:lnTo>
                  <a:pt x="2661831" y="7397"/>
                </a:lnTo>
                <a:lnTo>
                  <a:pt x="2625191" y="0"/>
                </a:lnTo>
                <a:close/>
              </a:path>
            </a:pathLst>
          </a:custGeom>
          <a:solidFill>
            <a:srgbClr val="196494"/>
          </a:solidFill>
        </p:spPr>
        <p:txBody>
          <a:bodyPr wrap="square" lIns="0" tIns="0" rIns="0" bIns="0" rtlCol="0"/>
          <a:lstStyle/>
          <a:p>
            <a:endParaRPr sz="1400"/>
          </a:p>
        </p:txBody>
      </p:sp>
      <p:sp>
        <p:nvSpPr>
          <p:cNvPr id="22" name="object 20"/>
          <p:cNvSpPr txBox="1"/>
          <p:nvPr/>
        </p:nvSpPr>
        <p:spPr>
          <a:xfrm>
            <a:off x="6660232" y="4287707"/>
            <a:ext cx="1439342" cy="228268"/>
          </a:xfrm>
          <a:prstGeom prst="rect">
            <a:avLst/>
          </a:prstGeom>
        </p:spPr>
        <p:txBody>
          <a:bodyPr vert="horz" wrap="square" lIns="0" tIns="12700" rIns="0" bIns="0" rtlCol="0">
            <a:spAutoFit/>
          </a:bodyPr>
          <a:lstStyle/>
          <a:p>
            <a:pPr marL="12700">
              <a:lnSpc>
                <a:spcPct val="100000"/>
              </a:lnSpc>
              <a:spcBef>
                <a:spcPts val="100"/>
              </a:spcBef>
            </a:pPr>
            <a:r>
              <a:rPr sz="1400" dirty="0">
                <a:solidFill>
                  <a:srgbClr val="FFFFFF"/>
                </a:solidFill>
                <a:latin typeface="微软雅黑" panose="020B0503020204020204" pitchFamily="34" charset="-122"/>
                <a:cs typeface="微软雅黑" panose="020B0503020204020204" pitchFamily="34" charset="-122"/>
              </a:rPr>
              <a:t>有效节省医保支出</a:t>
            </a:r>
            <a:endParaRPr sz="1400" dirty="0">
              <a:latin typeface="微软雅黑" panose="020B0503020204020204" pitchFamily="34" charset="-122"/>
              <a:cs typeface="微软雅黑" panose="020B0503020204020204" pitchFamily="34" charset="-122"/>
            </a:endParaRPr>
          </a:p>
        </p:txBody>
      </p:sp>
      <p:sp>
        <p:nvSpPr>
          <p:cNvPr id="23" name="object 21"/>
          <p:cNvSpPr txBox="1"/>
          <p:nvPr/>
        </p:nvSpPr>
        <p:spPr>
          <a:xfrm>
            <a:off x="395536" y="916578"/>
            <a:ext cx="7992888" cy="1563890"/>
          </a:xfrm>
          <a:prstGeom prst="rect">
            <a:avLst/>
          </a:prstGeom>
          <a:ln w="19050">
            <a:solidFill>
              <a:srgbClr val="196494"/>
            </a:solidFill>
          </a:ln>
        </p:spPr>
        <p:txBody>
          <a:bodyPr vert="horz" wrap="square" lIns="0" tIns="139065" rIns="0" bIns="0" rtlCol="0">
            <a:spAutoFit/>
          </a:bodyPr>
          <a:lstStyle/>
          <a:p>
            <a:pPr marL="91440">
              <a:lnSpc>
                <a:spcPct val="100000"/>
              </a:lnSpc>
              <a:spcBef>
                <a:spcPts val="1095"/>
              </a:spcBef>
            </a:pPr>
            <a:r>
              <a:rPr sz="1200" spc="-5" dirty="0">
                <a:latin typeface="微软雅黑" panose="020B0503020204020204" pitchFamily="34" charset="-122"/>
                <a:cs typeface="微软雅黑" panose="020B0503020204020204" pitchFamily="34" charset="-122"/>
              </a:rPr>
              <a:t>1</a:t>
            </a:r>
            <a:r>
              <a:rPr sz="1200" dirty="0">
                <a:latin typeface="微软雅黑" panose="020B0503020204020204" pitchFamily="34" charset="-122"/>
                <a:cs typeface="微软雅黑" panose="020B0503020204020204" pitchFamily="34" charset="-122"/>
              </a:rPr>
              <a:t>、以“远程心电一张网”为基础，建立全域互联互通心电网络</a:t>
            </a:r>
          </a:p>
          <a:p>
            <a:pPr marL="91440">
              <a:lnSpc>
                <a:spcPct val="100000"/>
              </a:lnSpc>
              <a:spcBef>
                <a:spcPts val="890"/>
              </a:spcBef>
            </a:pPr>
            <a:r>
              <a:rPr sz="1200" spc="-5" dirty="0">
                <a:latin typeface="微软雅黑" panose="020B0503020204020204" pitchFamily="34" charset="-122"/>
                <a:cs typeface="微软雅黑" panose="020B0503020204020204" pitchFamily="34" charset="-122"/>
              </a:rPr>
              <a:t>2</a:t>
            </a:r>
            <a:r>
              <a:rPr sz="1200" dirty="0">
                <a:latin typeface="微软雅黑" panose="020B0503020204020204" pitchFamily="34" charset="-122"/>
                <a:cs typeface="微软雅黑" panose="020B0503020204020204" pitchFamily="34" charset="-122"/>
              </a:rPr>
              <a:t>、通过远程诊断中心与基层医院的远程心电设备、心电网络铺设、实现有效的心电数据互动</a:t>
            </a:r>
          </a:p>
          <a:p>
            <a:pPr marL="91440">
              <a:lnSpc>
                <a:spcPct val="100000"/>
              </a:lnSpc>
              <a:spcBef>
                <a:spcPts val="985"/>
              </a:spcBef>
            </a:pPr>
            <a:r>
              <a:rPr sz="1200" spc="-5" dirty="0">
                <a:latin typeface="微软雅黑" panose="020B0503020204020204" pitchFamily="34" charset="-122"/>
                <a:cs typeface="微软雅黑" panose="020B0503020204020204" pitchFamily="34" charset="-122"/>
              </a:rPr>
              <a:t>3</a:t>
            </a:r>
            <a:r>
              <a:rPr sz="1200" dirty="0">
                <a:latin typeface="微软雅黑" panose="020B0503020204020204" pitchFamily="34" charset="-122"/>
                <a:cs typeface="微软雅黑" panose="020B0503020204020204" pitchFamily="34" charset="-122"/>
              </a:rPr>
              <a:t>、赋能基层医院的常规心电诊断、重点人群筛查</a:t>
            </a:r>
          </a:p>
          <a:p>
            <a:pPr marL="91440">
              <a:lnSpc>
                <a:spcPct val="100000"/>
              </a:lnSpc>
              <a:spcBef>
                <a:spcPts val="960"/>
              </a:spcBef>
            </a:pPr>
            <a:r>
              <a:rPr sz="1200" spc="-5" dirty="0">
                <a:latin typeface="微软雅黑" panose="020B0503020204020204" pitchFamily="34" charset="-122"/>
                <a:cs typeface="微软雅黑" panose="020B0503020204020204" pitchFamily="34" charset="-122"/>
              </a:rPr>
              <a:t>4</a:t>
            </a:r>
            <a:r>
              <a:rPr sz="1200" dirty="0">
                <a:latin typeface="微软雅黑" panose="020B0503020204020204" pitchFamily="34" charset="-122"/>
                <a:cs typeface="微软雅黑" panose="020B0503020204020204" pitchFamily="34" charset="-122"/>
              </a:rPr>
              <a:t>、实现双向转诊、高危患者监测、持续健康管理、提升患者心脏功能康复质量</a:t>
            </a:r>
          </a:p>
          <a:p>
            <a:pPr marL="91440">
              <a:lnSpc>
                <a:spcPct val="100000"/>
              </a:lnSpc>
              <a:spcBef>
                <a:spcPts val="985"/>
              </a:spcBef>
            </a:pPr>
            <a:r>
              <a:rPr sz="1200" spc="-5" dirty="0">
                <a:latin typeface="微软雅黑" panose="020B0503020204020204" pitchFamily="34" charset="-122"/>
                <a:cs typeface="微软雅黑" panose="020B0503020204020204" pitchFamily="34" charset="-122"/>
              </a:rPr>
              <a:t>5</a:t>
            </a:r>
            <a:r>
              <a:rPr sz="1200" dirty="0">
                <a:latin typeface="微软雅黑" panose="020B0503020204020204" pitchFamily="34" charset="-122"/>
                <a:cs typeface="微软雅黑" panose="020B0503020204020204" pitchFamily="34" charset="-122"/>
              </a:rPr>
              <a:t>、提升院外筛查、院前救治效率、院后康复随访质量（协同普查、重点筛查、高危监查）</a:t>
            </a:r>
          </a:p>
        </p:txBody>
      </p:sp>
      <p:sp>
        <p:nvSpPr>
          <p:cNvPr id="27" name="object 10"/>
          <p:cNvSpPr txBox="1"/>
          <p:nvPr/>
        </p:nvSpPr>
        <p:spPr>
          <a:xfrm>
            <a:off x="3707904" y="3136582"/>
            <a:ext cx="2008962" cy="228268"/>
          </a:xfrm>
          <a:prstGeom prst="rect">
            <a:avLst/>
          </a:prstGeom>
        </p:spPr>
        <p:txBody>
          <a:bodyPr vert="horz" wrap="square" lIns="0" tIns="12700" rIns="0" bIns="0" rtlCol="0">
            <a:spAutoFit/>
          </a:bodyPr>
          <a:lstStyle/>
          <a:p>
            <a:pPr algn="ctr">
              <a:lnSpc>
                <a:spcPct val="100000"/>
              </a:lnSpc>
              <a:spcBef>
                <a:spcPts val="1535"/>
              </a:spcBef>
            </a:pPr>
            <a:r>
              <a:rPr sz="1400" dirty="0" err="1" smtClean="0">
                <a:solidFill>
                  <a:srgbClr val="FFFFFF"/>
                </a:solidFill>
                <a:latin typeface="微软雅黑" panose="020B0503020204020204" pitchFamily="34" charset="-122"/>
                <a:cs typeface="微软雅黑" panose="020B0503020204020204" pitchFamily="34" charset="-122"/>
              </a:rPr>
              <a:t>医疗诊疗手术量增加</a:t>
            </a:r>
            <a:endParaRPr sz="1400" dirty="0">
              <a:latin typeface="微软雅黑" panose="020B0503020204020204" pitchFamily="34" charset="-122"/>
              <a:cs typeface="微软雅黑" panose="020B0503020204020204" pitchFamily="34" charset="-122"/>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395536" y="51470"/>
            <a:ext cx="6552728" cy="720080"/>
          </a:xfrm>
        </p:spPr>
        <p:txBody>
          <a:bodyPr/>
          <a:lstStyle/>
          <a:p>
            <a:r>
              <a:rPr lang="zh-CN" altLang="en-US" dirty="0">
                <a:solidFill>
                  <a:srgbClr val="2179B1"/>
                </a:solidFill>
              </a:rPr>
              <a:t>社会效益</a:t>
            </a:r>
          </a:p>
        </p:txBody>
      </p:sp>
      <p:grpSp>
        <p:nvGrpSpPr>
          <p:cNvPr id="5" name="组合 4"/>
          <p:cNvGrpSpPr/>
          <p:nvPr/>
        </p:nvGrpSpPr>
        <p:grpSpPr>
          <a:xfrm>
            <a:off x="539552" y="1131590"/>
            <a:ext cx="8136904" cy="3311708"/>
            <a:chOff x="686410" y="1276266"/>
            <a:chExt cx="7555154" cy="2994027"/>
          </a:xfrm>
        </p:grpSpPr>
        <p:sp>
          <p:nvSpPr>
            <p:cNvPr id="6" name="任意多边形 5"/>
            <p:cNvSpPr/>
            <p:nvPr/>
          </p:nvSpPr>
          <p:spPr>
            <a:xfrm>
              <a:off x="686410" y="1276266"/>
              <a:ext cx="1709310" cy="683724"/>
            </a:xfrm>
            <a:custGeom>
              <a:avLst/>
              <a:gdLst>
                <a:gd name="connsiteX0" fmla="*/ 0 w 1709310"/>
                <a:gd name="connsiteY0" fmla="*/ 0 h 683724"/>
                <a:gd name="connsiteX1" fmla="*/ 1709310 w 1709310"/>
                <a:gd name="connsiteY1" fmla="*/ 0 h 683724"/>
                <a:gd name="connsiteX2" fmla="*/ 1709310 w 1709310"/>
                <a:gd name="connsiteY2" fmla="*/ 683724 h 683724"/>
                <a:gd name="connsiteX3" fmla="*/ 0 w 1709310"/>
                <a:gd name="connsiteY3" fmla="*/ 683724 h 683724"/>
                <a:gd name="connsiteX4" fmla="*/ 0 w 1709310"/>
                <a:gd name="connsiteY4" fmla="*/ 0 h 683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09310" h="683724">
                  <a:moveTo>
                    <a:pt x="0" y="0"/>
                  </a:moveTo>
                  <a:lnTo>
                    <a:pt x="1709310" y="0"/>
                  </a:lnTo>
                  <a:lnTo>
                    <a:pt x="1709310" y="683724"/>
                  </a:lnTo>
                  <a:lnTo>
                    <a:pt x="0" y="683724"/>
                  </a:lnTo>
                  <a:lnTo>
                    <a:pt x="0" y="0"/>
                  </a:lnTo>
                  <a:close/>
                </a:path>
              </a:pathLst>
            </a:custGeom>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70688" tIns="97536" rIns="170688" bIns="97536" numCol="1" spcCol="1270" anchor="ctr" anchorCtr="0">
              <a:noAutofit/>
            </a:bodyPr>
            <a:lstStyle/>
            <a:p>
              <a:pPr lvl="0" algn="ctr" defTabSz="1066800">
                <a:lnSpc>
                  <a:spcPct val="130000"/>
                </a:lnSpc>
                <a:spcBef>
                  <a:spcPct val="0"/>
                </a:spcBef>
              </a:pPr>
              <a:r>
                <a:rPr lang="zh-CN" altLang="en-US" sz="1400" b="1" kern="1200" dirty="0">
                  <a:latin typeface="微软雅黑" panose="020B0503020204020204" pitchFamily="34" charset="-122"/>
                  <a:ea typeface="微软雅黑" panose="020B0503020204020204" pitchFamily="34" charset="-122"/>
                </a:rPr>
                <a:t>解决基层专业设备和医生短缺</a:t>
              </a:r>
            </a:p>
          </p:txBody>
        </p:sp>
        <p:sp>
          <p:nvSpPr>
            <p:cNvPr id="7" name="任意多边形 6"/>
            <p:cNvSpPr/>
            <p:nvPr/>
          </p:nvSpPr>
          <p:spPr>
            <a:xfrm>
              <a:off x="686410" y="1959990"/>
              <a:ext cx="1709310" cy="2310303"/>
            </a:xfrm>
            <a:custGeom>
              <a:avLst/>
              <a:gdLst>
                <a:gd name="connsiteX0" fmla="*/ 0 w 1709310"/>
                <a:gd name="connsiteY0" fmla="*/ 0 h 2310303"/>
                <a:gd name="connsiteX1" fmla="*/ 1709310 w 1709310"/>
                <a:gd name="connsiteY1" fmla="*/ 0 h 2310303"/>
                <a:gd name="connsiteX2" fmla="*/ 1709310 w 1709310"/>
                <a:gd name="connsiteY2" fmla="*/ 2310303 h 2310303"/>
                <a:gd name="connsiteX3" fmla="*/ 0 w 1709310"/>
                <a:gd name="connsiteY3" fmla="*/ 2310303 h 2310303"/>
                <a:gd name="connsiteX4" fmla="*/ 0 w 1709310"/>
                <a:gd name="connsiteY4" fmla="*/ 0 h 23103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09310" h="2310303">
                  <a:moveTo>
                    <a:pt x="0" y="0"/>
                  </a:moveTo>
                  <a:lnTo>
                    <a:pt x="1709310" y="0"/>
                  </a:lnTo>
                  <a:lnTo>
                    <a:pt x="1709310" y="2310303"/>
                  </a:lnTo>
                  <a:lnTo>
                    <a:pt x="0" y="2310303"/>
                  </a:lnTo>
                  <a:lnTo>
                    <a:pt x="0" y="0"/>
                  </a:lnTo>
                  <a:close/>
                </a:path>
              </a:pathLst>
            </a:custGeom>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53340" tIns="53340" rIns="71120" bIns="80010" numCol="1" spcCol="1270" anchor="t" anchorCtr="0">
              <a:noAutofit/>
            </a:bodyPr>
            <a:lstStyle/>
            <a:p>
              <a:pPr marL="57150" lvl="1" indent="-57150" algn="l" defTabSz="444500">
                <a:lnSpc>
                  <a:spcPct val="150000"/>
                </a:lnSpc>
                <a:spcBef>
                  <a:spcPct val="0"/>
                </a:spcBef>
                <a:spcAft>
                  <a:spcPct val="15000"/>
                </a:spcAft>
                <a:buChar char="•"/>
              </a:pPr>
              <a:r>
                <a:rPr lang="zh-CN" altLang="en-US" sz="1000" kern="1200" dirty="0">
                  <a:latin typeface="微软雅黑" panose="020B0503020204020204" pitchFamily="34" charset="-122"/>
                  <a:ea typeface="微软雅黑" panose="020B0503020204020204" pitchFamily="34" charset="-122"/>
                </a:rPr>
                <a:t>通过为基层医疗机构配置心电设备，并对相关人员进行培训，补齐了基层医疗机构在心电图设备和专业医生方面的不足。</a:t>
              </a:r>
            </a:p>
          </p:txBody>
        </p:sp>
        <p:sp>
          <p:nvSpPr>
            <p:cNvPr id="8" name="任意多边形 7"/>
            <p:cNvSpPr/>
            <p:nvPr/>
          </p:nvSpPr>
          <p:spPr>
            <a:xfrm>
              <a:off x="2635025" y="1276266"/>
              <a:ext cx="1709310" cy="683724"/>
            </a:xfrm>
            <a:custGeom>
              <a:avLst/>
              <a:gdLst>
                <a:gd name="connsiteX0" fmla="*/ 0 w 1709310"/>
                <a:gd name="connsiteY0" fmla="*/ 0 h 683724"/>
                <a:gd name="connsiteX1" fmla="*/ 1709310 w 1709310"/>
                <a:gd name="connsiteY1" fmla="*/ 0 h 683724"/>
                <a:gd name="connsiteX2" fmla="*/ 1709310 w 1709310"/>
                <a:gd name="connsiteY2" fmla="*/ 683724 h 683724"/>
                <a:gd name="connsiteX3" fmla="*/ 0 w 1709310"/>
                <a:gd name="connsiteY3" fmla="*/ 683724 h 683724"/>
                <a:gd name="connsiteX4" fmla="*/ 0 w 1709310"/>
                <a:gd name="connsiteY4" fmla="*/ 0 h 683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09310" h="683724">
                  <a:moveTo>
                    <a:pt x="0" y="0"/>
                  </a:moveTo>
                  <a:lnTo>
                    <a:pt x="1709310" y="0"/>
                  </a:lnTo>
                  <a:lnTo>
                    <a:pt x="1709310" y="683724"/>
                  </a:lnTo>
                  <a:lnTo>
                    <a:pt x="0" y="683724"/>
                  </a:lnTo>
                  <a:lnTo>
                    <a:pt x="0" y="0"/>
                  </a:lnTo>
                  <a:close/>
                </a:path>
              </a:pathLst>
            </a:custGeom>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70688" tIns="97536" rIns="170688" bIns="97536" numCol="1" spcCol="1270" anchor="ctr" anchorCtr="0">
              <a:noAutofit/>
            </a:bodyPr>
            <a:lstStyle/>
            <a:p>
              <a:pPr lvl="0" algn="ctr" defTabSz="1066800">
                <a:lnSpc>
                  <a:spcPct val="130000"/>
                </a:lnSpc>
                <a:spcBef>
                  <a:spcPct val="0"/>
                </a:spcBef>
              </a:pPr>
              <a:r>
                <a:rPr lang="zh-CN" altLang="en-US" sz="1400" b="1" dirty="0">
                  <a:latin typeface="微软雅黑" panose="020B0503020204020204" pitchFamily="34" charset="-122"/>
                  <a:ea typeface="微软雅黑" panose="020B0503020204020204" pitchFamily="34" charset="-122"/>
                </a:rPr>
                <a:t>解决院前诊断不及时和不明确的问题</a:t>
              </a:r>
            </a:p>
          </p:txBody>
        </p:sp>
        <p:sp>
          <p:nvSpPr>
            <p:cNvPr id="9" name="任意多边形 8"/>
            <p:cNvSpPr/>
            <p:nvPr/>
          </p:nvSpPr>
          <p:spPr>
            <a:xfrm>
              <a:off x="2635025" y="1959990"/>
              <a:ext cx="1709310" cy="2310303"/>
            </a:xfrm>
            <a:custGeom>
              <a:avLst/>
              <a:gdLst>
                <a:gd name="connsiteX0" fmla="*/ 0 w 1709310"/>
                <a:gd name="connsiteY0" fmla="*/ 0 h 2310303"/>
                <a:gd name="connsiteX1" fmla="*/ 1709310 w 1709310"/>
                <a:gd name="connsiteY1" fmla="*/ 0 h 2310303"/>
                <a:gd name="connsiteX2" fmla="*/ 1709310 w 1709310"/>
                <a:gd name="connsiteY2" fmla="*/ 2310303 h 2310303"/>
                <a:gd name="connsiteX3" fmla="*/ 0 w 1709310"/>
                <a:gd name="connsiteY3" fmla="*/ 2310303 h 2310303"/>
                <a:gd name="connsiteX4" fmla="*/ 0 w 1709310"/>
                <a:gd name="connsiteY4" fmla="*/ 0 h 23103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09310" h="2310303">
                  <a:moveTo>
                    <a:pt x="0" y="0"/>
                  </a:moveTo>
                  <a:lnTo>
                    <a:pt x="1709310" y="0"/>
                  </a:lnTo>
                  <a:lnTo>
                    <a:pt x="1709310" y="2310303"/>
                  </a:lnTo>
                  <a:lnTo>
                    <a:pt x="0" y="2310303"/>
                  </a:lnTo>
                  <a:lnTo>
                    <a:pt x="0" y="0"/>
                  </a:lnTo>
                  <a:close/>
                </a:path>
              </a:pathLst>
            </a:custGeom>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53340" tIns="53340" rIns="71120" bIns="80010" numCol="1" spcCol="1270" anchor="t" anchorCtr="0">
              <a:noAutofit/>
            </a:bodyPr>
            <a:lstStyle/>
            <a:p>
              <a:pPr marL="0" lvl="1" indent="-57150" algn="l" defTabSz="444500">
                <a:lnSpc>
                  <a:spcPct val="150000"/>
                </a:lnSpc>
                <a:spcBef>
                  <a:spcPct val="0"/>
                </a:spcBef>
                <a:spcAft>
                  <a:spcPts val="0"/>
                </a:spcAft>
                <a:buChar char="•"/>
              </a:pPr>
              <a:r>
                <a:rPr lang="zh-CN" altLang="en-US" sz="1000" kern="1200" dirty="0">
                  <a:latin typeface="微软雅黑" panose="020B0503020204020204" pitchFamily="34" charset="-122"/>
                  <a:ea typeface="微软雅黑" panose="020B0503020204020204" pitchFamily="34" charset="-122"/>
                </a:rPr>
                <a:t>心电网络系统通过实时传输系统，实现了上下级之间数据共享，使得“患者未到，信息先到”，心电图判读完全同质化，大大缩短了院前救治时间。</a:t>
              </a:r>
            </a:p>
          </p:txBody>
        </p:sp>
        <p:sp>
          <p:nvSpPr>
            <p:cNvPr id="10" name="任意多边形 9"/>
            <p:cNvSpPr/>
            <p:nvPr/>
          </p:nvSpPr>
          <p:spPr>
            <a:xfrm>
              <a:off x="4583639" y="1276266"/>
              <a:ext cx="1709310" cy="683724"/>
            </a:xfrm>
            <a:custGeom>
              <a:avLst/>
              <a:gdLst>
                <a:gd name="connsiteX0" fmla="*/ 0 w 1709310"/>
                <a:gd name="connsiteY0" fmla="*/ 0 h 683724"/>
                <a:gd name="connsiteX1" fmla="*/ 1709310 w 1709310"/>
                <a:gd name="connsiteY1" fmla="*/ 0 h 683724"/>
                <a:gd name="connsiteX2" fmla="*/ 1709310 w 1709310"/>
                <a:gd name="connsiteY2" fmla="*/ 683724 h 683724"/>
                <a:gd name="connsiteX3" fmla="*/ 0 w 1709310"/>
                <a:gd name="connsiteY3" fmla="*/ 683724 h 683724"/>
                <a:gd name="connsiteX4" fmla="*/ 0 w 1709310"/>
                <a:gd name="connsiteY4" fmla="*/ 0 h 683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09310" h="683724">
                  <a:moveTo>
                    <a:pt x="0" y="0"/>
                  </a:moveTo>
                  <a:lnTo>
                    <a:pt x="1709310" y="0"/>
                  </a:lnTo>
                  <a:lnTo>
                    <a:pt x="1709310" y="683724"/>
                  </a:lnTo>
                  <a:lnTo>
                    <a:pt x="0" y="683724"/>
                  </a:lnTo>
                  <a:lnTo>
                    <a:pt x="0" y="0"/>
                  </a:lnTo>
                  <a:close/>
                </a:path>
              </a:pathLst>
            </a:custGeom>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70688" tIns="97536" rIns="170688" bIns="97536" numCol="1" spcCol="1270" anchor="ctr" anchorCtr="0">
              <a:noAutofit/>
            </a:bodyPr>
            <a:lstStyle/>
            <a:p>
              <a:pPr lvl="0" algn="ctr" defTabSz="1066800">
                <a:lnSpc>
                  <a:spcPct val="90000"/>
                </a:lnSpc>
                <a:spcBef>
                  <a:spcPct val="0"/>
                </a:spcBef>
                <a:spcAft>
                  <a:spcPct val="35000"/>
                </a:spcAft>
              </a:pPr>
              <a:r>
                <a:rPr lang="zh-CN" altLang="en-US" sz="1400" b="1" dirty="0">
                  <a:latin typeface="微软雅黑" panose="020B0503020204020204" pitchFamily="34" charset="-122"/>
                  <a:ea typeface="微软雅黑" panose="020B0503020204020204" pitchFamily="34" charset="-122"/>
                </a:rPr>
                <a:t>提高诊疗效率</a:t>
              </a:r>
            </a:p>
          </p:txBody>
        </p:sp>
        <p:sp>
          <p:nvSpPr>
            <p:cNvPr id="11" name="任意多边形 10"/>
            <p:cNvSpPr/>
            <p:nvPr/>
          </p:nvSpPr>
          <p:spPr>
            <a:xfrm>
              <a:off x="4583639" y="1959990"/>
              <a:ext cx="1709310" cy="2310303"/>
            </a:xfrm>
            <a:custGeom>
              <a:avLst/>
              <a:gdLst>
                <a:gd name="connsiteX0" fmla="*/ 0 w 1709310"/>
                <a:gd name="connsiteY0" fmla="*/ 0 h 2310303"/>
                <a:gd name="connsiteX1" fmla="*/ 1709310 w 1709310"/>
                <a:gd name="connsiteY1" fmla="*/ 0 h 2310303"/>
                <a:gd name="connsiteX2" fmla="*/ 1709310 w 1709310"/>
                <a:gd name="connsiteY2" fmla="*/ 2310303 h 2310303"/>
                <a:gd name="connsiteX3" fmla="*/ 0 w 1709310"/>
                <a:gd name="connsiteY3" fmla="*/ 2310303 h 2310303"/>
                <a:gd name="connsiteX4" fmla="*/ 0 w 1709310"/>
                <a:gd name="connsiteY4" fmla="*/ 0 h 23103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09310" h="2310303">
                  <a:moveTo>
                    <a:pt x="0" y="0"/>
                  </a:moveTo>
                  <a:lnTo>
                    <a:pt x="1709310" y="0"/>
                  </a:lnTo>
                  <a:lnTo>
                    <a:pt x="1709310" y="2310303"/>
                  </a:lnTo>
                  <a:lnTo>
                    <a:pt x="0" y="2310303"/>
                  </a:lnTo>
                  <a:lnTo>
                    <a:pt x="0" y="0"/>
                  </a:lnTo>
                  <a:close/>
                </a:path>
              </a:pathLst>
            </a:custGeom>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53340" tIns="53340" rIns="71120" bIns="80010" numCol="1" spcCol="1270" anchor="t" anchorCtr="0">
              <a:noAutofit/>
            </a:bodyPr>
            <a:lstStyle/>
            <a:p>
              <a:pPr marL="57150" lvl="1" indent="-57150" algn="l" defTabSz="444500">
                <a:lnSpc>
                  <a:spcPct val="150000"/>
                </a:lnSpc>
                <a:spcBef>
                  <a:spcPct val="0"/>
                </a:spcBef>
                <a:spcAft>
                  <a:spcPct val="15000"/>
                </a:spcAft>
                <a:buChar char="•"/>
              </a:pPr>
              <a:r>
                <a:rPr lang="zh-CN" altLang="en-US" sz="1000" kern="1200" dirty="0">
                  <a:latin typeface="微软雅黑" panose="020B0503020204020204" pitchFamily="34" charset="-122"/>
                  <a:ea typeface="微软雅黑" panose="020B0503020204020204" pitchFamily="34" charset="-122"/>
                </a:rPr>
                <a:t>心血管疾病疑似患者在</a:t>
              </a:r>
              <a:r>
                <a:rPr lang="zh-CN" altLang="en-US" sz="1000" dirty="0">
                  <a:latin typeface="微软雅黑" panose="020B0503020204020204" pitchFamily="34" charset="-122"/>
                  <a:ea typeface="微软雅黑" panose="020B0503020204020204" pitchFamily="34" charset="-122"/>
                  <a:sym typeface="+mn-ea"/>
                </a:rPr>
                <a:t>基层医疗机构</a:t>
              </a:r>
              <a:r>
                <a:rPr lang="zh-CN" altLang="en-US" sz="1000" kern="1200" dirty="0">
                  <a:latin typeface="微软雅黑" panose="020B0503020204020204" pitchFamily="34" charset="-122"/>
                  <a:ea typeface="微软雅黑" panose="020B0503020204020204" pitchFamily="34" charset="-122"/>
                </a:rPr>
                <a:t>第一时间就可以佩带心电监测设备，监测数据可上传至上级医院，上级医院远程心电中心在短时间内作出诊断并传回诊断报告，基层医疗机构根据回传信息，结合上级医院胸痛中心的指导作出相应诊疗处置，实现了“</a:t>
              </a:r>
              <a:r>
                <a:rPr lang="zh-CN" altLang="en-US" sz="1000" b="1" kern="1200" dirty="0">
                  <a:latin typeface="微软雅黑" panose="020B0503020204020204" pitchFamily="34" charset="-122"/>
                  <a:ea typeface="微软雅黑" panose="020B0503020204020204" pitchFamily="34" charset="-122"/>
                </a:rPr>
                <a:t>基层检查、上级诊断、精准救治</a:t>
              </a:r>
              <a:r>
                <a:rPr lang="zh-CN" altLang="en-US" sz="1000" kern="1200" dirty="0">
                  <a:latin typeface="微软雅黑" panose="020B0503020204020204" pitchFamily="34" charset="-122"/>
                  <a:ea typeface="微软雅黑" panose="020B0503020204020204" pitchFamily="34" charset="-122"/>
                </a:rPr>
                <a:t>”的高效医疗模式。</a:t>
              </a:r>
            </a:p>
          </p:txBody>
        </p:sp>
        <p:sp>
          <p:nvSpPr>
            <p:cNvPr id="12" name="任意多边形 11"/>
            <p:cNvSpPr/>
            <p:nvPr/>
          </p:nvSpPr>
          <p:spPr>
            <a:xfrm>
              <a:off x="6532254" y="1276266"/>
              <a:ext cx="1709310" cy="683724"/>
            </a:xfrm>
            <a:custGeom>
              <a:avLst/>
              <a:gdLst>
                <a:gd name="connsiteX0" fmla="*/ 0 w 1709310"/>
                <a:gd name="connsiteY0" fmla="*/ 0 h 683724"/>
                <a:gd name="connsiteX1" fmla="*/ 1709310 w 1709310"/>
                <a:gd name="connsiteY1" fmla="*/ 0 h 683724"/>
                <a:gd name="connsiteX2" fmla="*/ 1709310 w 1709310"/>
                <a:gd name="connsiteY2" fmla="*/ 683724 h 683724"/>
                <a:gd name="connsiteX3" fmla="*/ 0 w 1709310"/>
                <a:gd name="connsiteY3" fmla="*/ 683724 h 683724"/>
                <a:gd name="connsiteX4" fmla="*/ 0 w 1709310"/>
                <a:gd name="connsiteY4" fmla="*/ 0 h 683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09310" h="683724">
                  <a:moveTo>
                    <a:pt x="0" y="0"/>
                  </a:moveTo>
                  <a:lnTo>
                    <a:pt x="1709310" y="0"/>
                  </a:lnTo>
                  <a:lnTo>
                    <a:pt x="1709310" y="683724"/>
                  </a:lnTo>
                  <a:lnTo>
                    <a:pt x="0" y="683724"/>
                  </a:lnTo>
                  <a:lnTo>
                    <a:pt x="0" y="0"/>
                  </a:lnTo>
                  <a:close/>
                </a:path>
              </a:pathLst>
            </a:custGeom>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71120" tIns="40640" rIns="71120" bIns="40640" numCol="1" spcCol="1270" anchor="ctr" anchorCtr="0">
              <a:noAutofit/>
            </a:bodyPr>
            <a:lstStyle/>
            <a:p>
              <a:pPr lvl="0" algn="ctr" defTabSz="444500">
                <a:lnSpc>
                  <a:spcPct val="130000"/>
                </a:lnSpc>
                <a:spcBef>
                  <a:spcPct val="0"/>
                </a:spcBef>
              </a:pPr>
              <a:r>
                <a:rPr lang="zh-CN" altLang="en-US" sz="1400" b="1" dirty="0">
                  <a:latin typeface="微软雅黑" panose="020B0503020204020204" pitchFamily="34" charset="-122"/>
                  <a:ea typeface="微软雅黑" panose="020B0503020204020204" pitchFamily="34" charset="-122"/>
                </a:rPr>
                <a:t>提升心血管疾病</a:t>
              </a:r>
              <a:endParaRPr lang="en-US" altLang="zh-CN" sz="1400" b="1" dirty="0">
                <a:latin typeface="微软雅黑" panose="020B0503020204020204" pitchFamily="34" charset="-122"/>
                <a:ea typeface="微软雅黑" panose="020B0503020204020204" pitchFamily="34" charset="-122"/>
              </a:endParaRPr>
            </a:p>
            <a:p>
              <a:pPr lvl="0" algn="ctr" defTabSz="444500">
                <a:lnSpc>
                  <a:spcPct val="130000"/>
                </a:lnSpc>
                <a:spcBef>
                  <a:spcPct val="0"/>
                </a:spcBef>
              </a:pPr>
              <a:r>
                <a:rPr lang="zh-CN" altLang="en-US" sz="1400" b="1" dirty="0">
                  <a:latin typeface="微软雅黑" panose="020B0503020204020204" pitchFamily="34" charset="-122"/>
                  <a:ea typeface="微软雅黑" panose="020B0503020204020204" pitchFamily="34" charset="-122"/>
                </a:rPr>
                <a:t>防治能力</a:t>
              </a:r>
            </a:p>
          </p:txBody>
        </p:sp>
        <p:sp>
          <p:nvSpPr>
            <p:cNvPr id="13" name="任意多边形 12"/>
            <p:cNvSpPr/>
            <p:nvPr/>
          </p:nvSpPr>
          <p:spPr>
            <a:xfrm>
              <a:off x="6532254" y="1959990"/>
              <a:ext cx="1709310" cy="2310303"/>
            </a:xfrm>
            <a:custGeom>
              <a:avLst/>
              <a:gdLst>
                <a:gd name="connsiteX0" fmla="*/ 0 w 1709310"/>
                <a:gd name="connsiteY0" fmla="*/ 0 h 2310303"/>
                <a:gd name="connsiteX1" fmla="*/ 1709310 w 1709310"/>
                <a:gd name="connsiteY1" fmla="*/ 0 h 2310303"/>
                <a:gd name="connsiteX2" fmla="*/ 1709310 w 1709310"/>
                <a:gd name="connsiteY2" fmla="*/ 2310303 h 2310303"/>
                <a:gd name="connsiteX3" fmla="*/ 0 w 1709310"/>
                <a:gd name="connsiteY3" fmla="*/ 2310303 h 2310303"/>
                <a:gd name="connsiteX4" fmla="*/ 0 w 1709310"/>
                <a:gd name="connsiteY4" fmla="*/ 0 h 23103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09310" h="2310303">
                  <a:moveTo>
                    <a:pt x="0" y="0"/>
                  </a:moveTo>
                  <a:lnTo>
                    <a:pt x="1709310" y="0"/>
                  </a:lnTo>
                  <a:lnTo>
                    <a:pt x="1709310" y="2310303"/>
                  </a:lnTo>
                  <a:lnTo>
                    <a:pt x="0" y="2310303"/>
                  </a:lnTo>
                  <a:lnTo>
                    <a:pt x="0" y="0"/>
                  </a:lnTo>
                  <a:close/>
                </a:path>
              </a:pathLst>
            </a:custGeom>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53340" tIns="53340" rIns="71120" bIns="80010" numCol="1" spcCol="1270" anchor="t" anchorCtr="0">
              <a:noAutofit/>
            </a:bodyPr>
            <a:lstStyle/>
            <a:p>
              <a:pPr marL="57150" lvl="1" indent="-57150" algn="l" defTabSz="444500">
                <a:lnSpc>
                  <a:spcPct val="150000"/>
                </a:lnSpc>
                <a:spcBef>
                  <a:spcPct val="0"/>
                </a:spcBef>
                <a:spcAft>
                  <a:spcPct val="15000"/>
                </a:spcAft>
                <a:buChar char="•"/>
              </a:pPr>
              <a:r>
                <a:rPr lang="zh-CN" altLang="en-US" sz="1000" kern="1200" dirty="0">
                  <a:latin typeface="微软雅黑" panose="020B0503020204020204" pitchFamily="34" charset="-122"/>
                  <a:ea typeface="微软雅黑" panose="020B0503020204020204" pitchFamily="34" charset="-122"/>
                </a:rPr>
                <a:t>让更多的百姓在家门口就能享受到优质便捷的服务。提升了心血管疾病的筛查、监测、预警、救治、康养等领域的防治能力</a:t>
              </a:r>
            </a:p>
          </p:txBody>
        </p:sp>
      </p:gr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395536" y="51470"/>
            <a:ext cx="6552728" cy="720080"/>
          </a:xfrm>
        </p:spPr>
        <p:txBody>
          <a:bodyPr/>
          <a:lstStyle/>
          <a:p>
            <a:r>
              <a:rPr lang="zh-CN" altLang="en-US" dirty="0" smtClean="0">
                <a:solidFill>
                  <a:srgbClr val="2179B1"/>
                </a:solidFill>
              </a:rPr>
              <a:t>各方价值</a:t>
            </a:r>
            <a:endParaRPr lang="zh-CN" altLang="en-US" dirty="0">
              <a:solidFill>
                <a:srgbClr val="2179B1"/>
              </a:solidFill>
            </a:endParaRPr>
          </a:p>
        </p:txBody>
      </p:sp>
      <p:graphicFrame>
        <p:nvGraphicFramePr>
          <p:cNvPr id="8" name="表格 7"/>
          <p:cNvGraphicFramePr>
            <a:graphicFrameLocks noGrp="1"/>
          </p:cNvGraphicFramePr>
          <p:nvPr/>
        </p:nvGraphicFramePr>
        <p:xfrm>
          <a:off x="467544" y="915566"/>
          <a:ext cx="8280920" cy="3911241"/>
        </p:xfrm>
        <a:graphic>
          <a:graphicData uri="http://schemas.openxmlformats.org/drawingml/2006/table">
            <a:tbl>
              <a:tblPr firstRow="1" bandRow="1">
                <a:tableStyleId>{5C22544A-7EE6-4342-B048-85BDC9FD1C3A}</a:tableStyleId>
              </a:tblPr>
              <a:tblGrid>
                <a:gridCol w="1041716"/>
                <a:gridCol w="1332165"/>
                <a:gridCol w="2774691"/>
                <a:gridCol w="3132348"/>
              </a:tblGrid>
              <a:tr h="424733">
                <a:tc>
                  <a:txBody>
                    <a:bodyPr/>
                    <a:lstStyle/>
                    <a:p>
                      <a:pPr algn="ctr"/>
                      <a:r>
                        <a:rPr lang="zh-CN" altLang="en-US" sz="1000" b="1" dirty="0">
                          <a:latin typeface="微软雅黑" panose="020B0503020204020204" pitchFamily="34" charset="-122"/>
                          <a:ea typeface="微软雅黑" panose="020B0503020204020204" pitchFamily="34" charset="-122"/>
                        </a:rPr>
                        <a:t>类型</a:t>
                      </a:r>
                    </a:p>
                  </a:txBody>
                  <a:tcPr anchor="ctr"/>
                </a:tc>
                <a:tc>
                  <a:txBody>
                    <a:bodyPr/>
                    <a:lstStyle/>
                    <a:p>
                      <a:pPr algn="ctr"/>
                      <a:r>
                        <a:rPr lang="zh-CN" altLang="en-US" sz="1000" b="1" dirty="0">
                          <a:latin typeface="微软雅黑" panose="020B0503020204020204" pitchFamily="34" charset="-122"/>
                          <a:ea typeface="微软雅黑" panose="020B0503020204020204" pitchFamily="34" charset="-122"/>
                        </a:rPr>
                        <a:t>用户</a:t>
                      </a:r>
                    </a:p>
                  </a:txBody>
                  <a:tcPr anchor="ctr"/>
                </a:tc>
                <a:tc>
                  <a:txBody>
                    <a:bodyPr/>
                    <a:lstStyle/>
                    <a:p>
                      <a:pPr algn="ctr"/>
                      <a:r>
                        <a:rPr lang="zh-CN" altLang="en-US" sz="1000" b="1" dirty="0">
                          <a:latin typeface="微软雅黑" panose="020B0503020204020204" pitchFamily="34" charset="-122"/>
                          <a:ea typeface="微软雅黑" panose="020B0503020204020204" pitchFamily="34" charset="-122"/>
                        </a:rPr>
                        <a:t>问题</a:t>
                      </a:r>
                    </a:p>
                  </a:txBody>
                  <a:tcPr anchor="ctr"/>
                </a:tc>
                <a:tc>
                  <a:txBody>
                    <a:bodyPr/>
                    <a:lstStyle/>
                    <a:p>
                      <a:pPr algn="ctr"/>
                      <a:r>
                        <a:rPr lang="zh-CN" altLang="en-US" sz="1000" b="1" dirty="0" smtClean="0">
                          <a:latin typeface="微软雅黑" panose="020B0503020204020204" pitchFamily="34" charset="-122"/>
                          <a:ea typeface="微软雅黑" panose="020B0503020204020204" pitchFamily="34" charset="-122"/>
                        </a:rPr>
                        <a:t>方案价值</a:t>
                      </a:r>
                      <a:endParaRPr lang="zh-CN" altLang="en-US" sz="1000" b="1" dirty="0">
                        <a:latin typeface="微软雅黑" panose="020B0503020204020204" pitchFamily="34" charset="-122"/>
                        <a:ea typeface="微软雅黑" panose="020B0503020204020204" pitchFamily="34" charset="-122"/>
                      </a:endParaRPr>
                    </a:p>
                  </a:txBody>
                  <a:tcPr anchor="ctr"/>
                </a:tc>
              </a:tr>
              <a:tr h="536152">
                <a:tc>
                  <a:txBody>
                    <a:bodyPr/>
                    <a:lstStyle/>
                    <a:p>
                      <a:r>
                        <a:rPr lang="zh-CN" altLang="en-US" sz="1000" b="1" dirty="0">
                          <a:solidFill>
                            <a:schemeClr val="tx1">
                              <a:lumMod val="85000"/>
                              <a:lumOff val="15000"/>
                            </a:schemeClr>
                          </a:solidFill>
                          <a:latin typeface="微软雅黑" panose="020B0503020204020204" pitchFamily="34" charset="-122"/>
                          <a:ea typeface="微软雅黑" panose="020B0503020204020204" pitchFamily="34" charset="-122"/>
                        </a:rPr>
                        <a:t>基层医疗机构</a:t>
                      </a:r>
                    </a:p>
                  </a:txBody>
                  <a:tcPr anchor="ctr"/>
                </a:tc>
                <a:tc>
                  <a:txBody>
                    <a:bodyPr/>
                    <a:lstStyle/>
                    <a:p>
                      <a:pPr>
                        <a:lnSpc>
                          <a:spcPct val="150000"/>
                        </a:lnSpc>
                      </a:pPr>
                      <a:r>
                        <a:rPr lang="zh-CN" altLang="en-US" sz="1000" dirty="0">
                          <a:solidFill>
                            <a:schemeClr val="tx1">
                              <a:lumMod val="85000"/>
                              <a:lumOff val="15000"/>
                            </a:schemeClr>
                          </a:solidFill>
                          <a:latin typeface="微软雅黑" panose="020B0503020204020204" pitchFamily="34" charset="-122"/>
                          <a:ea typeface="微软雅黑" panose="020B0503020204020204" pitchFamily="34" charset="-122"/>
                        </a:rPr>
                        <a:t>乡镇卫生院、社区服务中心、</a:t>
                      </a:r>
                      <a:r>
                        <a:rPr lang="zh-CN" altLang="en-US" sz="1000" dirty="0" smtClean="0">
                          <a:solidFill>
                            <a:schemeClr val="tx1">
                              <a:lumMod val="85000"/>
                              <a:lumOff val="15000"/>
                            </a:schemeClr>
                          </a:solidFill>
                          <a:latin typeface="微软雅黑" panose="020B0503020204020204" pitchFamily="34" charset="-122"/>
                          <a:ea typeface="微软雅黑" panose="020B0503020204020204" pitchFamily="34" charset="-122"/>
                        </a:rPr>
                        <a:t>卫生站</a:t>
                      </a:r>
                      <a:r>
                        <a:rPr lang="en-US" altLang="zh-CN" sz="1000" dirty="0" smtClean="0">
                          <a:solidFill>
                            <a:schemeClr val="tx1">
                              <a:lumMod val="85000"/>
                              <a:lumOff val="15000"/>
                            </a:schemeClr>
                          </a:solidFill>
                          <a:latin typeface="微软雅黑" panose="020B0503020204020204" pitchFamily="34" charset="-122"/>
                          <a:ea typeface="微软雅黑" panose="020B0503020204020204" pitchFamily="34" charset="-122"/>
                        </a:rPr>
                        <a:t>/</a:t>
                      </a:r>
                      <a:r>
                        <a:rPr lang="zh-CN" altLang="en-US" sz="1000" dirty="0" smtClean="0">
                          <a:solidFill>
                            <a:schemeClr val="tx1">
                              <a:lumMod val="85000"/>
                              <a:lumOff val="15000"/>
                            </a:schemeClr>
                          </a:solidFill>
                          <a:latin typeface="微软雅黑" panose="020B0503020204020204" pitchFamily="34" charset="-122"/>
                          <a:ea typeface="微软雅黑" panose="020B0503020204020204" pitchFamily="34" charset="-122"/>
                        </a:rPr>
                        <a:t>室</a:t>
                      </a:r>
                      <a:endParaRPr lang="en-US" altLang="zh-CN" sz="1000" dirty="0">
                        <a:solidFill>
                          <a:schemeClr val="tx1">
                            <a:lumMod val="85000"/>
                            <a:lumOff val="15000"/>
                          </a:schemeClr>
                        </a:solidFill>
                        <a:latin typeface="微软雅黑" panose="020B0503020204020204" pitchFamily="34" charset="-122"/>
                        <a:ea typeface="微软雅黑" panose="020B0503020204020204" pitchFamily="34" charset="-122"/>
                      </a:endParaRPr>
                    </a:p>
                  </a:txBody>
                  <a:tcPr anchor="ctr"/>
                </a:tc>
                <a:tc>
                  <a:txBody>
                    <a:bodyPr/>
                    <a:lstStyle/>
                    <a:p>
                      <a:pPr marL="171450" marR="0" lvl="0" indent="-171450" algn="l" defTabSz="914400" rtl="0" eaLnBrk="1" fontAlgn="auto" latinLnBrk="0" hangingPunct="1">
                        <a:lnSpc>
                          <a:spcPct val="150000"/>
                        </a:lnSpc>
                        <a:spcBef>
                          <a:spcPts val="0"/>
                        </a:spcBef>
                        <a:spcAft>
                          <a:spcPts val="0"/>
                        </a:spcAft>
                        <a:buClrTx/>
                        <a:buSzTx/>
                        <a:buFont typeface="Wingdings" panose="05000000000000000000" pitchFamily="2" charset="2"/>
                        <a:buChar char="n"/>
                        <a:defRPr/>
                      </a:pPr>
                      <a:r>
                        <a:rPr lang="zh-CN" altLang="en-US" sz="1000" dirty="0">
                          <a:solidFill>
                            <a:schemeClr val="tx1">
                              <a:lumMod val="85000"/>
                              <a:lumOff val="15000"/>
                            </a:schemeClr>
                          </a:solidFill>
                          <a:latin typeface="微软雅黑" panose="020B0503020204020204" pitchFamily="34" charset="-122"/>
                          <a:ea typeface="微软雅黑" panose="020B0503020204020204" pitchFamily="34" charset="-122"/>
                        </a:rPr>
                        <a:t>缺乏高级医疗设备和专家资源</a:t>
                      </a:r>
                    </a:p>
                  </a:txBody>
                  <a:tcPr anchor="ctr"/>
                </a:tc>
                <a:tc>
                  <a:txBody>
                    <a:bodyPr/>
                    <a:lstStyle/>
                    <a:p>
                      <a:pPr>
                        <a:lnSpc>
                          <a:spcPct val="150000"/>
                        </a:lnSpc>
                      </a:pPr>
                      <a:r>
                        <a:rPr lang="zh-CN" altLang="en-US" sz="1000" dirty="0">
                          <a:solidFill>
                            <a:schemeClr val="tx1">
                              <a:lumMod val="85000"/>
                              <a:lumOff val="15000"/>
                            </a:schemeClr>
                          </a:solidFill>
                          <a:latin typeface="微软雅黑" panose="020B0503020204020204" pitchFamily="34" charset="-122"/>
                          <a:ea typeface="微软雅黑" panose="020B0503020204020204" pitchFamily="34" charset="-122"/>
                        </a:rPr>
                        <a:t>可以将心电数据传输到上级中心医院进行远程诊断，从而提高医疗服务的准确性和效率</a:t>
                      </a:r>
                    </a:p>
                  </a:txBody>
                  <a:tcPr anchor="ctr"/>
                </a:tc>
              </a:tr>
              <a:tr h="742364">
                <a:tc>
                  <a:txBody>
                    <a:bodyPr/>
                    <a:lstStyle/>
                    <a:p>
                      <a:r>
                        <a:rPr lang="zh-CN" altLang="en-US" sz="1000" b="1" dirty="0">
                          <a:solidFill>
                            <a:schemeClr val="tx1">
                              <a:lumMod val="85000"/>
                              <a:lumOff val="15000"/>
                            </a:schemeClr>
                          </a:solidFill>
                          <a:latin typeface="微软雅黑" panose="020B0503020204020204" pitchFamily="34" charset="-122"/>
                          <a:ea typeface="微软雅黑" panose="020B0503020204020204" pitchFamily="34" charset="-122"/>
                        </a:rPr>
                        <a:t>中心医院和三级医院</a:t>
                      </a:r>
                    </a:p>
                  </a:txBody>
                  <a:tcPr anchor="ctr"/>
                </a:tc>
                <a:tc>
                  <a:txBody>
                    <a:bodyPr/>
                    <a:lstStyle/>
                    <a:p>
                      <a:pPr>
                        <a:lnSpc>
                          <a:spcPct val="150000"/>
                        </a:lnSpc>
                      </a:pPr>
                      <a:r>
                        <a:rPr lang="zh-CN" altLang="en-US" sz="1000" dirty="0">
                          <a:solidFill>
                            <a:schemeClr val="tx1">
                              <a:lumMod val="85000"/>
                              <a:lumOff val="15000"/>
                            </a:schemeClr>
                          </a:solidFill>
                          <a:latin typeface="微软雅黑" panose="020B0503020204020204" pitchFamily="34" charset="-122"/>
                          <a:ea typeface="微软雅黑" panose="020B0503020204020204" pitchFamily="34" charset="-122"/>
                        </a:rPr>
                        <a:t>医共体总院、二级以上医院</a:t>
                      </a:r>
                    </a:p>
                  </a:txBody>
                  <a:tcPr anchor="ctr"/>
                </a:tc>
                <a:tc>
                  <a:txBody>
                    <a:bodyPr/>
                    <a:lstStyle/>
                    <a:p>
                      <a:pPr marL="171450" indent="-171450">
                        <a:lnSpc>
                          <a:spcPct val="150000"/>
                        </a:lnSpc>
                        <a:buFont typeface="Wingdings" panose="05000000000000000000" pitchFamily="2" charset="2"/>
                        <a:buChar char="n"/>
                      </a:pPr>
                      <a:r>
                        <a:rPr lang="zh-CN" altLang="en-US" sz="1000" dirty="0">
                          <a:solidFill>
                            <a:schemeClr val="tx1">
                              <a:lumMod val="85000"/>
                              <a:lumOff val="15000"/>
                            </a:schemeClr>
                          </a:solidFill>
                          <a:latin typeface="微软雅黑" panose="020B0503020204020204" pitchFamily="34" charset="-122"/>
                          <a:ea typeface="微软雅黑" panose="020B0503020204020204" pitchFamily="34" charset="-122"/>
                        </a:rPr>
                        <a:t>急性心肌梗死等危急病症的抢救成功率低；</a:t>
                      </a:r>
                      <a:endParaRPr lang="en-US" altLang="zh-CN" sz="1000" dirty="0">
                        <a:solidFill>
                          <a:schemeClr val="tx1">
                            <a:lumMod val="85000"/>
                            <a:lumOff val="15000"/>
                          </a:schemeClr>
                        </a:solidFill>
                        <a:latin typeface="微软雅黑" panose="020B0503020204020204" pitchFamily="34" charset="-122"/>
                        <a:ea typeface="微软雅黑" panose="020B0503020204020204" pitchFamily="34" charset="-122"/>
                      </a:endParaRPr>
                    </a:p>
                    <a:p>
                      <a:pPr marL="171450" indent="-171450">
                        <a:lnSpc>
                          <a:spcPct val="150000"/>
                        </a:lnSpc>
                        <a:buFont typeface="Wingdings" panose="05000000000000000000" pitchFamily="2" charset="2"/>
                        <a:buChar char="n"/>
                      </a:pPr>
                      <a:r>
                        <a:rPr lang="zh-CN" altLang="en-US" sz="1000" dirty="0">
                          <a:solidFill>
                            <a:schemeClr val="tx1">
                              <a:lumMod val="85000"/>
                              <a:lumOff val="15000"/>
                            </a:schemeClr>
                          </a:solidFill>
                          <a:latin typeface="微软雅黑" panose="020B0503020204020204" pitchFamily="34" charset="-122"/>
                          <a:ea typeface="微软雅黑" panose="020B0503020204020204" pitchFamily="34" charset="-122"/>
                        </a:rPr>
                        <a:t>区域心电中心建设需要；</a:t>
                      </a:r>
                      <a:endParaRPr lang="en-US" altLang="zh-CN" sz="1000" dirty="0">
                        <a:solidFill>
                          <a:schemeClr val="tx1">
                            <a:lumMod val="85000"/>
                            <a:lumOff val="15000"/>
                          </a:schemeClr>
                        </a:solidFill>
                        <a:latin typeface="微软雅黑" panose="020B0503020204020204" pitchFamily="34" charset="-122"/>
                        <a:ea typeface="微软雅黑" panose="020B0503020204020204" pitchFamily="34" charset="-122"/>
                      </a:endParaRPr>
                    </a:p>
                    <a:p>
                      <a:pPr marL="171450" indent="-171450">
                        <a:lnSpc>
                          <a:spcPct val="150000"/>
                        </a:lnSpc>
                        <a:buFont typeface="Wingdings" panose="05000000000000000000" pitchFamily="2" charset="2"/>
                        <a:buChar char="n"/>
                      </a:pPr>
                      <a:r>
                        <a:rPr lang="zh-CN" altLang="en-US" sz="1000" dirty="0">
                          <a:solidFill>
                            <a:schemeClr val="tx1">
                              <a:lumMod val="85000"/>
                              <a:lumOff val="15000"/>
                            </a:schemeClr>
                          </a:solidFill>
                          <a:latin typeface="微软雅黑" panose="020B0503020204020204" pitchFamily="34" charset="-122"/>
                          <a:ea typeface="微软雅黑" panose="020B0503020204020204" pitchFamily="34" charset="-122"/>
                        </a:rPr>
                        <a:t>分级诊断和多网合一形式未形成；</a:t>
                      </a:r>
                    </a:p>
                  </a:txBody>
                  <a:tcPr anchor="ctr"/>
                </a:tc>
                <a:tc>
                  <a:txBody>
                    <a:bodyPr/>
                    <a:lstStyle/>
                    <a:p>
                      <a:pPr>
                        <a:lnSpc>
                          <a:spcPct val="150000"/>
                        </a:lnSpc>
                      </a:pPr>
                      <a:r>
                        <a:rPr lang="en-US" altLang="zh-CN" sz="1000" dirty="0">
                          <a:solidFill>
                            <a:schemeClr val="tx1">
                              <a:lumMod val="85000"/>
                              <a:lumOff val="15000"/>
                            </a:schemeClr>
                          </a:solidFill>
                          <a:latin typeface="微软雅黑" panose="020B0503020204020204" pitchFamily="34" charset="-122"/>
                          <a:ea typeface="微软雅黑" panose="020B0503020204020204" pitchFamily="34" charset="-122"/>
                        </a:rPr>
                        <a:t>1</a:t>
                      </a:r>
                      <a:r>
                        <a:rPr lang="zh-CN" altLang="en-US" sz="1000" dirty="0">
                          <a:solidFill>
                            <a:schemeClr val="tx1">
                              <a:lumMod val="85000"/>
                              <a:lumOff val="15000"/>
                            </a:schemeClr>
                          </a:solidFill>
                          <a:latin typeface="微软雅黑" panose="020B0503020204020204" pitchFamily="34" charset="-122"/>
                          <a:ea typeface="微软雅黑" panose="020B0503020204020204" pitchFamily="34" charset="-122"/>
                        </a:rPr>
                        <a:t>、可以通过区域心电网络接收并诊断来自基层医疗机构的心电数据，提供远程诊断和技术支持；</a:t>
                      </a:r>
                      <a:endParaRPr lang="en-US" altLang="zh-CN" sz="1000" dirty="0">
                        <a:solidFill>
                          <a:schemeClr val="tx1">
                            <a:lumMod val="85000"/>
                            <a:lumOff val="15000"/>
                          </a:schemeClr>
                        </a:solidFill>
                        <a:latin typeface="微软雅黑" panose="020B0503020204020204" pitchFamily="34" charset="-122"/>
                        <a:ea typeface="微软雅黑" panose="020B0503020204020204" pitchFamily="34" charset="-122"/>
                      </a:endParaRPr>
                    </a:p>
                    <a:p>
                      <a:pPr>
                        <a:lnSpc>
                          <a:spcPct val="150000"/>
                        </a:lnSpc>
                      </a:pPr>
                      <a:r>
                        <a:rPr lang="en-US" altLang="zh-CN" sz="1000" dirty="0">
                          <a:solidFill>
                            <a:schemeClr val="tx1">
                              <a:lumMod val="85000"/>
                              <a:lumOff val="15000"/>
                            </a:schemeClr>
                          </a:solidFill>
                          <a:latin typeface="微软雅黑" panose="020B0503020204020204" pitchFamily="34" charset="-122"/>
                          <a:ea typeface="微软雅黑" panose="020B0503020204020204" pitchFamily="34" charset="-122"/>
                        </a:rPr>
                        <a:t>2</a:t>
                      </a:r>
                      <a:r>
                        <a:rPr lang="zh-CN" altLang="en-US" sz="1000" dirty="0">
                          <a:solidFill>
                            <a:schemeClr val="tx1">
                              <a:lumMod val="85000"/>
                              <a:lumOff val="15000"/>
                            </a:schemeClr>
                          </a:solidFill>
                          <a:latin typeface="微软雅黑" panose="020B0503020204020204" pitchFamily="34" charset="-122"/>
                          <a:ea typeface="微软雅黑" panose="020B0503020204020204" pitchFamily="34" charset="-122"/>
                        </a:rPr>
                        <a:t>、完善区域心电诊断中心</a:t>
                      </a:r>
                      <a:r>
                        <a:rPr lang="zh-CN" altLang="en-US" sz="1000" dirty="0" smtClean="0">
                          <a:solidFill>
                            <a:schemeClr val="tx1">
                              <a:lumMod val="85000"/>
                              <a:lumOff val="15000"/>
                            </a:schemeClr>
                          </a:solidFill>
                          <a:latin typeface="微软雅黑" panose="020B0503020204020204" pitchFamily="34" charset="-122"/>
                          <a:ea typeface="微软雅黑" panose="020B0503020204020204" pitchFamily="34" charset="-122"/>
                        </a:rPr>
                        <a:t>建设。</a:t>
                      </a:r>
                      <a:endParaRPr lang="zh-CN" altLang="en-US" sz="1000" dirty="0">
                        <a:solidFill>
                          <a:schemeClr val="tx1">
                            <a:lumMod val="85000"/>
                            <a:lumOff val="15000"/>
                          </a:schemeClr>
                        </a:solidFill>
                        <a:latin typeface="微软雅黑" panose="020B0503020204020204" pitchFamily="34" charset="-122"/>
                        <a:ea typeface="微软雅黑" panose="020B0503020204020204" pitchFamily="34" charset="-122"/>
                      </a:endParaRPr>
                    </a:p>
                  </a:txBody>
                  <a:tcPr anchor="ctr"/>
                </a:tc>
              </a:tr>
              <a:tr h="1154788">
                <a:tc>
                  <a:txBody>
                    <a:bodyPr/>
                    <a:lstStyle/>
                    <a:p>
                      <a:r>
                        <a:rPr lang="zh-CN" altLang="en-US" sz="1000" b="1" dirty="0">
                          <a:solidFill>
                            <a:schemeClr val="tx1">
                              <a:lumMod val="85000"/>
                              <a:lumOff val="15000"/>
                            </a:schemeClr>
                          </a:solidFill>
                          <a:latin typeface="微软雅黑" panose="020B0503020204020204" pitchFamily="34" charset="-122"/>
                          <a:ea typeface="微软雅黑" panose="020B0503020204020204" pitchFamily="34" charset="-122"/>
                        </a:rPr>
                        <a:t>医疗监督和卫生系统</a:t>
                      </a:r>
                    </a:p>
                  </a:txBody>
                  <a:tcPr anchor="ctr"/>
                </a:tc>
                <a:tc>
                  <a:txBody>
                    <a:bodyPr/>
                    <a:lstStyle/>
                    <a:p>
                      <a:pPr>
                        <a:lnSpc>
                          <a:spcPct val="150000"/>
                        </a:lnSpc>
                      </a:pPr>
                      <a:r>
                        <a:rPr lang="zh-CN" altLang="en-US" sz="1000" dirty="0">
                          <a:solidFill>
                            <a:schemeClr val="tx1">
                              <a:lumMod val="85000"/>
                              <a:lumOff val="15000"/>
                            </a:schemeClr>
                          </a:solidFill>
                          <a:latin typeface="微软雅黑" panose="020B0503020204020204" pitchFamily="34" charset="-122"/>
                          <a:ea typeface="微软雅黑" panose="020B0503020204020204" pitchFamily="34" charset="-122"/>
                        </a:rPr>
                        <a:t>卫健委</a:t>
                      </a:r>
                    </a:p>
                  </a:txBody>
                  <a:tcPr anchor="ctr"/>
                </a:tc>
                <a:tc>
                  <a:txBody>
                    <a:bodyPr/>
                    <a:lstStyle/>
                    <a:p>
                      <a:pPr marL="171450" indent="-171450">
                        <a:lnSpc>
                          <a:spcPct val="150000"/>
                        </a:lnSpc>
                        <a:buFont typeface="Wingdings" panose="05000000000000000000" pitchFamily="2" charset="2"/>
                        <a:buChar char="n"/>
                      </a:pPr>
                      <a:r>
                        <a:rPr lang="zh-CN" altLang="en-US" sz="1000" dirty="0">
                          <a:solidFill>
                            <a:schemeClr val="tx1">
                              <a:lumMod val="85000"/>
                              <a:lumOff val="15000"/>
                            </a:schemeClr>
                          </a:solidFill>
                          <a:latin typeface="微软雅黑" panose="020B0503020204020204" pitchFamily="34" charset="-122"/>
                          <a:ea typeface="微软雅黑" panose="020B0503020204020204" pitchFamily="34" charset="-122"/>
                        </a:rPr>
                        <a:t>医疗体制改革，提升医疗信息化水平需要</a:t>
                      </a:r>
                      <a:endParaRPr lang="en-US" altLang="zh-CN" sz="1000" dirty="0">
                        <a:solidFill>
                          <a:schemeClr val="tx1">
                            <a:lumMod val="85000"/>
                            <a:lumOff val="15000"/>
                          </a:schemeClr>
                        </a:solidFill>
                        <a:latin typeface="微软雅黑" panose="020B0503020204020204" pitchFamily="34" charset="-122"/>
                        <a:ea typeface="微软雅黑" panose="020B0503020204020204" pitchFamily="34" charset="-122"/>
                      </a:endParaRPr>
                    </a:p>
                    <a:p>
                      <a:pPr marL="171450" indent="-171450">
                        <a:lnSpc>
                          <a:spcPct val="150000"/>
                        </a:lnSpc>
                        <a:buFont typeface="Wingdings" panose="05000000000000000000" pitchFamily="2" charset="2"/>
                        <a:buChar char="n"/>
                      </a:pPr>
                      <a:r>
                        <a:rPr lang="zh-CN" altLang="en-US" sz="1000" dirty="0">
                          <a:solidFill>
                            <a:schemeClr val="tx1">
                              <a:lumMod val="85000"/>
                              <a:lumOff val="15000"/>
                            </a:schemeClr>
                          </a:solidFill>
                          <a:latin typeface="微软雅黑" panose="020B0503020204020204" pitchFamily="34" charset="-122"/>
                          <a:ea typeface="微软雅黑" panose="020B0503020204020204" pitchFamily="34" charset="-122"/>
                        </a:rPr>
                        <a:t>监管、质控困难</a:t>
                      </a:r>
                    </a:p>
                  </a:txBody>
                  <a:tcPr anchor="ctr"/>
                </a:tc>
                <a:tc>
                  <a:txBody>
                    <a:bodyPr/>
                    <a:lstStyle/>
                    <a:p>
                      <a:pPr>
                        <a:lnSpc>
                          <a:spcPct val="150000"/>
                        </a:lnSpc>
                      </a:pPr>
                      <a:r>
                        <a:rPr lang="en-US" altLang="zh-CN" sz="1000" dirty="0">
                          <a:solidFill>
                            <a:schemeClr val="tx1">
                              <a:lumMod val="85000"/>
                              <a:lumOff val="15000"/>
                            </a:schemeClr>
                          </a:solidFill>
                          <a:latin typeface="微软雅黑" panose="020B0503020204020204" pitchFamily="34" charset="-122"/>
                          <a:ea typeface="微软雅黑" panose="020B0503020204020204" pitchFamily="34" charset="-122"/>
                        </a:rPr>
                        <a:t>1</a:t>
                      </a:r>
                      <a:r>
                        <a:rPr lang="zh-CN" altLang="en-US" sz="1000" dirty="0">
                          <a:solidFill>
                            <a:schemeClr val="tx1">
                              <a:lumMod val="85000"/>
                              <a:lumOff val="15000"/>
                            </a:schemeClr>
                          </a:solidFill>
                          <a:latin typeface="微软雅黑" panose="020B0503020204020204" pitchFamily="34" charset="-122"/>
                          <a:ea typeface="微软雅黑" panose="020B0503020204020204" pitchFamily="34" charset="-122"/>
                        </a:rPr>
                        <a:t>、促进区域医共体建设，提高医疗水平；</a:t>
                      </a:r>
                      <a:endParaRPr lang="en-US" altLang="zh-CN" sz="1000" dirty="0">
                        <a:solidFill>
                          <a:schemeClr val="tx1">
                            <a:lumMod val="85000"/>
                            <a:lumOff val="15000"/>
                          </a:schemeClr>
                        </a:solidFill>
                        <a:latin typeface="微软雅黑" panose="020B0503020204020204" pitchFamily="34" charset="-122"/>
                        <a:ea typeface="微软雅黑" panose="020B0503020204020204" pitchFamily="34" charset="-122"/>
                      </a:endParaRPr>
                    </a:p>
                    <a:p>
                      <a:pPr>
                        <a:lnSpc>
                          <a:spcPct val="150000"/>
                        </a:lnSpc>
                      </a:pPr>
                      <a:r>
                        <a:rPr lang="en-US" altLang="zh-CN" sz="1000" dirty="0">
                          <a:solidFill>
                            <a:schemeClr val="tx1">
                              <a:lumMod val="85000"/>
                              <a:lumOff val="15000"/>
                            </a:schemeClr>
                          </a:solidFill>
                          <a:latin typeface="微软雅黑" panose="020B0503020204020204" pitchFamily="34" charset="-122"/>
                          <a:ea typeface="微软雅黑" panose="020B0503020204020204" pitchFamily="34" charset="-122"/>
                        </a:rPr>
                        <a:t>2</a:t>
                      </a:r>
                      <a:r>
                        <a:rPr lang="zh-CN" altLang="en-US" sz="1000" dirty="0">
                          <a:solidFill>
                            <a:schemeClr val="tx1">
                              <a:lumMod val="85000"/>
                              <a:lumOff val="15000"/>
                            </a:schemeClr>
                          </a:solidFill>
                          <a:latin typeface="微软雅黑" panose="020B0503020204020204" pitchFamily="34" charset="-122"/>
                          <a:ea typeface="微软雅黑" panose="020B0503020204020204" pitchFamily="34" charset="-122"/>
                        </a:rPr>
                        <a:t>、促进数据共享、统一存储、统一应用、统一监管、统一质控。</a:t>
                      </a:r>
                      <a:endParaRPr lang="en-US" altLang="zh-CN" sz="1000" dirty="0">
                        <a:solidFill>
                          <a:schemeClr val="tx1">
                            <a:lumMod val="85000"/>
                            <a:lumOff val="15000"/>
                          </a:schemeClr>
                        </a:solidFill>
                        <a:latin typeface="微软雅黑" panose="020B0503020204020204" pitchFamily="34" charset="-122"/>
                        <a:ea typeface="微软雅黑" panose="020B0503020204020204" pitchFamily="34" charset="-122"/>
                      </a:endParaRPr>
                    </a:p>
                  </a:txBody>
                  <a:tcPr anchor="ctr"/>
                </a:tc>
              </a:tr>
              <a:tr h="742364">
                <a:tc>
                  <a:txBody>
                    <a:bodyPr/>
                    <a:lstStyle/>
                    <a:p>
                      <a:r>
                        <a:rPr lang="zh-CN" altLang="en-US" sz="1000" b="1" dirty="0">
                          <a:solidFill>
                            <a:schemeClr val="tx1">
                              <a:lumMod val="85000"/>
                              <a:lumOff val="15000"/>
                            </a:schemeClr>
                          </a:solidFill>
                          <a:latin typeface="微软雅黑" panose="020B0503020204020204" pitchFamily="34" charset="-122"/>
                          <a:ea typeface="微软雅黑" panose="020B0503020204020204" pitchFamily="34" charset="-122"/>
                        </a:rPr>
                        <a:t>患者及其家属</a:t>
                      </a:r>
                    </a:p>
                  </a:txBody>
                  <a:tcPr anchor="ctr"/>
                </a:tc>
                <a:tc>
                  <a:txBody>
                    <a:bodyPr/>
                    <a:lstStyle/>
                    <a:p>
                      <a:pPr>
                        <a:lnSpc>
                          <a:spcPct val="150000"/>
                        </a:lnSpc>
                      </a:pPr>
                      <a:r>
                        <a:rPr lang="zh-CN" altLang="en-US" sz="1000" dirty="0">
                          <a:solidFill>
                            <a:schemeClr val="tx1">
                              <a:lumMod val="85000"/>
                              <a:lumOff val="15000"/>
                            </a:schemeClr>
                          </a:solidFill>
                          <a:latin typeface="微软雅黑" panose="020B0503020204020204" pitchFamily="34" charset="-122"/>
                          <a:ea typeface="微软雅黑" panose="020B0503020204020204" pitchFamily="34" charset="-122"/>
                        </a:rPr>
                        <a:t>患者及其家属</a:t>
                      </a:r>
                    </a:p>
                  </a:txBody>
                  <a:tcPr anchor="ctr"/>
                </a:tc>
                <a:tc>
                  <a:txBody>
                    <a:bodyPr/>
                    <a:lstStyle/>
                    <a:p>
                      <a:pPr marL="171450" indent="-171450">
                        <a:lnSpc>
                          <a:spcPct val="150000"/>
                        </a:lnSpc>
                        <a:buFont typeface="Wingdings" panose="05000000000000000000" pitchFamily="2" charset="2"/>
                        <a:buChar char="n"/>
                      </a:pPr>
                      <a:r>
                        <a:rPr lang="zh-CN" altLang="en-US" sz="1000" dirty="0">
                          <a:solidFill>
                            <a:schemeClr val="tx1">
                              <a:lumMod val="85000"/>
                              <a:lumOff val="15000"/>
                            </a:schemeClr>
                          </a:solidFill>
                          <a:latin typeface="微软雅黑" panose="020B0503020204020204" pitchFamily="34" charset="-122"/>
                          <a:ea typeface="微软雅黑" panose="020B0503020204020204" pitchFamily="34" charset="-122"/>
                        </a:rPr>
                        <a:t>偏远地区需要做心电图的心血管疾病患者；</a:t>
                      </a:r>
                      <a:endParaRPr lang="en-US" altLang="zh-CN" sz="1000" dirty="0">
                        <a:solidFill>
                          <a:schemeClr val="tx1">
                            <a:lumMod val="85000"/>
                            <a:lumOff val="15000"/>
                          </a:schemeClr>
                        </a:solidFill>
                        <a:latin typeface="微软雅黑" panose="020B0503020204020204" pitchFamily="34" charset="-122"/>
                        <a:ea typeface="微软雅黑" panose="020B0503020204020204" pitchFamily="34" charset="-122"/>
                      </a:endParaRPr>
                    </a:p>
                    <a:p>
                      <a:pPr marL="171450" indent="-171450">
                        <a:lnSpc>
                          <a:spcPct val="150000"/>
                        </a:lnSpc>
                        <a:buFont typeface="Wingdings" panose="05000000000000000000" pitchFamily="2" charset="2"/>
                        <a:buChar char="n"/>
                      </a:pPr>
                      <a:r>
                        <a:rPr lang="zh-CN" altLang="en-US" sz="1000" dirty="0">
                          <a:solidFill>
                            <a:schemeClr val="tx1">
                              <a:lumMod val="85000"/>
                              <a:lumOff val="15000"/>
                            </a:schemeClr>
                          </a:solidFill>
                          <a:latin typeface="微软雅黑" panose="020B0503020204020204" pitchFamily="34" charset="-122"/>
                          <a:ea typeface="微软雅黑" panose="020B0503020204020204" pitchFamily="34" charset="-122"/>
                        </a:rPr>
                        <a:t>心血管病疑难杂症患者，需要会诊</a:t>
                      </a:r>
                    </a:p>
                  </a:txBody>
                  <a:tcPr anchor="ctr"/>
                </a:tc>
                <a:tc>
                  <a:txBody>
                    <a:bodyPr/>
                    <a:lstStyle/>
                    <a:p>
                      <a:pPr>
                        <a:lnSpc>
                          <a:spcPct val="150000"/>
                        </a:lnSpc>
                      </a:pPr>
                      <a:r>
                        <a:rPr lang="en-US" altLang="zh-CN" sz="1000" dirty="0">
                          <a:solidFill>
                            <a:schemeClr val="tx1">
                              <a:lumMod val="85000"/>
                              <a:lumOff val="15000"/>
                            </a:schemeClr>
                          </a:solidFill>
                          <a:latin typeface="微软雅黑" panose="020B0503020204020204" pitchFamily="34" charset="-122"/>
                          <a:ea typeface="微软雅黑" panose="020B0503020204020204" pitchFamily="34" charset="-122"/>
                        </a:rPr>
                        <a:t>1</a:t>
                      </a:r>
                      <a:r>
                        <a:rPr lang="zh-CN" altLang="en-US" sz="1000" dirty="0">
                          <a:solidFill>
                            <a:schemeClr val="tx1">
                              <a:lumMod val="85000"/>
                              <a:lumOff val="15000"/>
                            </a:schemeClr>
                          </a:solidFill>
                          <a:latin typeface="微软雅黑" panose="020B0503020204020204" pitchFamily="34" charset="-122"/>
                          <a:ea typeface="微软雅黑" panose="020B0503020204020204" pitchFamily="34" charset="-122"/>
                        </a:rPr>
                        <a:t>、足不出户享受上级医院优质的医疗资源；</a:t>
                      </a:r>
                      <a:endParaRPr lang="en-US" altLang="zh-CN" sz="1000" dirty="0">
                        <a:solidFill>
                          <a:schemeClr val="tx1">
                            <a:lumMod val="85000"/>
                            <a:lumOff val="15000"/>
                          </a:schemeClr>
                        </a:solidFill>
                        <a:latin typeface="微软雅黑" panose="020B0503020204020204" pitchFamily="34" charset="-122"/>
                        <a:ea typeface="微软雅黑" panose="020B0503020204020204" pitchFamily="34" charset="-122"/>
                      </a:endParaRPr>
                    </a:p>
                    <a:p>
                      <a:pPr>
                        <a:lnSpc>
                          <a:spcPct val="150000"/>
                        </a:lnSpc>
                      </a:pPr>
                      <a:r>
                        <a:rPr lang="en-US" altLang="zh-CN" sz="1000" dirty="0">
                          <a:solidFill>
                            <a:schemeClr val="tx1">
                              <a:lumMod val="85000"/>
                              <a:lumOff val="15000"/>
                            </a:schemeClr>
                          </a:solidFill>
                          <a:latin typeface="微软雅黑" panose="020B0503020204020204" pitchFamily="34" charset="-122"/>
                          <a:ea typeface="微软雅黑" panose="020B0503020204020204" pitchFamily="34" charset="-122"/>
                        </a:rPr>
                        <a:t>2</a:t>
                      </a:r>
                      <a:r>
                        <a:rPr lang="zh-CN" altLang="en-US" sz="1000" dirty="0">
                          <a:solidFill>
                            <a:schemeClr val="tx1">
                              <a:lumMod val="85000"/>
                              <a:lumOff val="15000"/>
                            </a:schemeClr>
                          </a:solidFill>
                          <a:latin typeface="微软雅黑" panose="020B0503020204020204" pitchFamily="34" charset="-122"/>
                          <a:ea typeface="微软雅黑" panose="020B0503020204020204" pitchFamily="34" charset="-122"/>
                        </a:rPr>
                        <a:t>、节约检查费用，诊疗费用；</a:t>
                      </a:r>
                      <a:endParaRPr lang="en-US" altLang="zh-CN" sz="1000" dirty="0">
                        <a:solidFill>
                          <a:schemeClr val="tx1">
                            <a:lumMod val="85000"/>
                            <a:lumOff val="15000"/>
                          </a:schemeClr>
                        </a:solidFill>
                        <a:latin typeface="微软雅黑" panose="020B0503020204020204" pitchFamily="34" charset="-122"/>
                        <a:ea typeface="微软雅黑" panose="020B0503020204020204" pitchFamily="34" charset="-122"/>
                      </a:endParaRPr>
                    </a:p>
                    <a:p>
                      <a:pPr>
                        <a:lnSpc>
                          <a:spcPct val="150000"/>
                        </a:lnSpc>
                      </a:pPr>
                      <a:r>
                        <a:rPr lang="en-US" altLang="zh-CN" sz="1000" dirty="0">
                          <a:solidFill>
                            <a:schemeClr val="tx1">
                              <a:lumMod val="85000"/>
                              <a:lumOff val="15000"/>
                            </a:schemeClr>
                          </a:solidFill>
                          <a:latin typeface="微软雅黑" panose="020B0503020204020204" pitchFamily="34" charset="-122"/>
                          <a:ea typeface="微软雅黑" panose="020B0503020204020204" pitchFamily="34" charset="-122"/>
                        </a:rPr>
                        <a:t>3</a:t>
                      </a:r>
                      <a:r>
                        <a:rPr lang="zh-CN" altLang="en-US" sz="1000" dirty="0">
                          <a:solidFill>
                            <a:schemeClr val="tx1">
                              <a:lumMod val="85000"/>
                              <a:lumOff val="15000"/>
                            </a:schemeClr>
                          </a:solidFill>
                          <a:latin typeface="微软雅黑" panose="020B0503020204020204" pitchFamily="34" charset="-122"/>
                          <a:ea typeface="微软雅黑" panose="020B0503020204020204" pitchFamily="34" charset="-122"/>
                        </a:rPr>
                        <a:t>、方便查询心电图检查结果，及时了解病情，并与医生进行</a:t>
                      </a:r>
                      <a:r>
                        <a:rPr lang="zh-CN" altLang="en-US" sz="1000" dirty="0" smtClean="0">
                          <a:solidFill>
                            <a:schemeClr val="tx1">
                              <a:lumMod val="85000"/>
                              <a:lumOff val="15000"/>
                            </a:schemeClr>
                          </a:solidFill>
                          <a:latin typeface="微软雅黑" panose="020B0503020204020204" pitchFamily="34" charset="-122"/>
                          <a:ea typeface="微软雅黑" panose="020B0503020204020204" pitchFamily="34" charset="-122"/>
                        </a:rPr>
                        <a:t>沟通。</a:t>
                      </a:r>
                      <a:endParaRPr lang="zh-CN" altLang="en-US" sz="1000" dirty="0">
                        <a:solidFill>
                          <a:schemeClr val="tx1">
                            <a:lumMod val="85000"/>
                            <a:lumOff val="15000"/>
                          </a:schemeClr>
                        </a:solidFill>
                        <a:latin typeface="微软雅黑" panose="020B0503020204020204" pitchFamily="34" charset="-122"/>
                        <a:ea typeface="微软雅黑" panose="020B0503020204020204" pitchFamily="34" charset="-122"/>
                      </a:endParaRPr>
                    </a:p>
                  </a:txBody>
                  <a:tcPr anchor="ctr"/>
                </a:tc>
              </a:tr>
            </a:tbl>
          </a:graphicData>
        </a:graphic>
      </p:graphicFrame>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395536" y="51470"/>
            <a:ext cx="6552728" cy="720080"/>
          </a:xfrm>
        </p:spPr>
        <p:txBody>
          <a:bodyPr/>
          <a:lstStyle/>
          <a:p>
            <a:r>
              <a:rPr lang="zh-CN" altLang="en-US" dirty="0" smtClean="0">
                <a:solidFill>
                  <a:srgbClr val="2179B1"/>
                </a:solidFill>
              </a:rPr>
              <a:t>多方共赢</a:t>
            </a:r>
            <a:endParaRPr lang="zh-CN" altLang="en-US" dirty="0">
              <a:solidFill>
                <a:srgbClr val="2179B1"/>
              </a:solidFill>
            </a:endParaRPr>
          </a:p>
        </p:txBody>
      </p:sp>
      <p:pic>
        <p:nvPicPr>
          <p:cNvPr id="26626" name="Picture 2"/>
          <p:cNvPicPr>
            <a:picLocks noChangeAspect="1" noChangeArrowheads="1"/>
          </p:cNvPicPr>
          <p:nvPr/>
        </p:nvPicPr>
        <p:blipFill>
          <a:blip r:embed="rId3" cstate="print"/>
          <a:srcRect/>
          <a:stretch>
            <a:fillRect/>
          </a:stretch>
        </p:blipFill>
        <p:spPr bwMode="auto">
          <a:xfrm>
            <a:off x="323528" y="979463"/>
            <a:ext cx="8532440" cy="3608511"/>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395536" y="51470"/>
            <a:ext cx="6552728" cy="720080"/>
          </a:xfrm>
        </p:spPr>
        <p:txBody>
          <a:bodyPr/>
          <a:lstStyle/>
          <a:p>
            <a:r>
              <a:rPr lang="zh-CN" altLang="en-US" dirty="0" smtClean="0">
                <a:solidFill>
                  <a:srgbClr val="2179B1"/>
                </a:solidFill>
              </a:rPr>
              <a:t>投资回报率分析</a:t>
            </a:r>
            <a:endParaRPr lang="zh-CN" altLang="en-US" dirty="0">
              <a:solidFill>
                <a:srgbClr val="2179B1"/>
              </a:solidFill>
            </a:endParaRPr>
          </a:p>
        </p:txBody>
      </p:sp>
      <p:pic>
        <p:nvPicPr>
          <p:cNvPr id="25602" name="Picture 2"/>
          <p:cNvPicPr>
            <a:picLocks noChangeAspect="1" noChangeArrowheads="1"/>
          </p:cNvPicPr>
          <p:nvPr/>
        </p:nvPicPr>
        <p:blipFill>
          <a:blip r:embed="rId3" cstate="print"/>
          <a:srcRect/>
          <a:stretch>
            <a:fillRect/>
          </a:stretch>
        </p:blipFill>
        <p:spPr bwMode="auto">
          <a:xfrm>
            <a:off x="443855" y="915566"/>
            <a:ext cx="8232601" cy="3754199"/>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1707782"/>
            <a:ext cx="5940152" cy="1080000"/>
          </a:xfrm>
          <a:prstGeom prst="rect">
            <a:avLst/>
          </a:prstGeom>
          <a:solidFill>
            <a:srgbClr val="19649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a:off x="8910228" y="1707782"/>
            <a:ext cx="233772" cy="1080000"/>
          </a:xfrm>
          <a:prstGeom prst="rect">
            <a:avLst/>
          </a:prstGeom>
          <a:solidFill>
            <a:srgbClr val="19649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TextBox 5"/>
          <p:cNvSpPr txBox="1"/>
          <p:nvPr/>
        </p:nvSpPr>
        <p:spPr>
          <a:xfrm>
            <a:off x="6479081" y="1955394"/>
            <a:ext cx="1826141" cy="584775"/>
          </a:xfrm>
          <a:prstGeom prst="rect">
            <a:avLst/>
          </a:prstGeom>
          <a:noFill/>
        </p:spPr>
        <p:txBody>
          <a:bodyPr wrap="none" rtlCol="0">
            <a:spAutoFit/>
          </a:bodyPr>
          <a:lstStyle/>
          <a:p>
            <a:r>
              <a:rPr lang="zh-CN" altLang="en-US" sz="3200" b="1" dirty="0">
                <a:solidFill>
                  <a:srgbClr val="196494"/>
                </a:solidFill>
                <a:latin typeface="微软雅黑" panose="020B0503020204020204" pitchFamily="34" charset="-122"/>
                <a:ea typeface="微软雅黑" panose="020B0503020204020204" pitchFamily="34" charset="-122"/>
              </a:rPr>
              <a:t>典型案例</a:t>
            </a:r>
          </a:p>
        </p:txBody>
      </p:sp>
      <p:sp>
        <p:nvSpPr>
          <p:cNvPr id="8" name="TextBox 7"/>
          <p:cNvSpPr txBox="1"/>
          <p:nvPr/>
        </p:nvSpPr>
        <p:spPr>
          <a:xfrm>
            <a:off x="1619672" y="1851670"/>
            <a:ext cx="4040530" cy="1200329"/>
          </a:xfrm>
          <a:prstGeom prst="rect">
            <a:avLst/>
          </a:prstGeom>
          <a:noFill/>
        </p:spPr>
        <p:txBody>
          <a:bodyPr wrap="none" rtlCol="0">
            <a:spAutoFit/>
          </a:bodyPr>
          <a:lstStyle/>
          <a:p>
            <a:r>
              <a:rPr lang="en-US" altLang="zh-CN" sz="7200" b="1" dirty="0">
                <a:solidFill>
                  <a:srgbClr val="1F71A6"/>
                </a:solidFill>
                <a:latin typeface="微软雅黑" panose="020B0503020204020204" pitchFamily="34" charset="-122"/>
                <a:ea typeface="微软雅黑" panose="020B0503020204020204" pitchFamily="34" charset="-122"/>
              </a:rPr>
              <a:t>PART</a:t>
            </a:r>
            <a:r>
              <a:rPr lang="en-US" altLang="zh-CN" sz="7200" b="1" dirty="0">
                <a:solidFill>
                  <a:schemeClr val="bg1">
                    <a:lumMod val="75000"/>
                  </a:schemeClr>
                </a:solidFill>
                <a:latin typeface="微软雅黑" panose="020B0503020204020204" pitchFamily="34" charset="-122"/>
                <a:ea typeface="微软雅黑" panose="020B0503020204020204" pitchFamily="34" charset="-122"/>
              </a:rPr>
              <a:t> </a:t>
            </a:r>
            <a:r>
              <a:rPr lang="en-US" altLang="zh-CN" sz="7200" b="1" dirty="0">
                <a:solidFill>
                  <a:srgbClr val="1F71A6"/>
                </a:solidFill>
                <a:latin typeface="微软雅黑" panose="020B0503020204020204" pitchFamily="34" charset="-122"/>
                <a:ea typeface="微软雅黑" panose="020B0503020204020204" pitchFamily="34" charset="-122"/>
              </a:rPr>
              <a:t>06</a:t>
            </a:r>
            <a:endParaRPr lang="zh-CN" altLang="en-US" sz="7200" b="1" dirty="0">
              <a:solidFill>
                <a:srgbClr val="1F71A6"/>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3"/>
          </p:nvPr>
        </p:nvSpPr>
        <p:spPr>
          <a:xfrm>
            <a:off x="467544" y="123478"/>
            <a:ext cx="6480720" cy="720080"/>
          </a:xfrm>
        </p:spPr>
        <p:txBody>
          <a:bodyPr/>
          <a:lstStyle/>
          <a:p>
            <a:r>
              <a:rPr lang="zh-CN" altLang="en-US" dirty="0">
                <a:solidFill>
                  <a:srgbClr val="2179B1"/>
                </a:solidFill>
              </a:rPr>
              <a:t>典型案例</a:t>
            </a:r>
            <a:r>
              <a:rPr lang="en-US" altLang="zh-CN" dirty="0">
                <a:solidFill>
                  <a:srgbClr val="2179B1"/>
                </a:solidFill>
              </a:rPr>
              <a:t>——</a:t>
            </a:r>
            <a:r>
              <a:rPr lang="zh-CN" altLang="en-US" dirty="0">
                <a:solidFill>
                  <a:srgbClr val="2179B1"/>
                </a:solidFill>
              </a:rPr>
              <a:t>阿里健康区域心电一张网</a:t>
            </a:r>
          </a:p>
        </p:txBody>
      </p:sp>
      <p:sp>
        <p:nvSpPr>
          <p:cNvPr id="11" name="矩形 10"/>
          <p:cNvSpPr/>
          <p:nvPr/>
        </p:nvSpPr>
        <p:spPr>
          <a:xfrm>
            <a:off x="456622" y="868835"/>
            <a:ext cx="8329604" cy="784830"/>
          </a:xfrm>
          <a:prstGeom prst="rect">
            <a:avLst/>
          </a:prstGeom>
        </p:spPr>
        <p:txBody>
          <a:bodyPr wrap="square">
            <a:spAutoFit/>
          </a:bodyPr>
          <a:lstStyle/>
          <a:p>
            <a:pPr>
              <a:lnSpc>
                <a:spcPct val="150000"/>
              </a:lnSpc>
            </a:pP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rPr>
              <a:t>好络维联合阿里健康，助力“基层心血管星火计划”医疗健康公益项目，在全国区域建设心电网络，</a:t>
            </a:r>
            <a:r>
              <a:rPr lang="zh-CN" altLang="en-US" sz="1000" b="1" dirty="0">
                <a:solidFill>
                  <a:schemeClr val="tx1">
                    <a:lumMod val="75000"/>
                    <a:lumOff val="25000"/>
                  </a:schemeClr>
                </a:solidFill>
                <a:latin typeface="微软雅黑" panose="020B0503020204020204" pitchFamily="34" charset="-122"/>
                <a:ea typeface="微软雅黑" panose="020B0503020204020204" pitchFamily="34" charset="-122"/>
              </a:rPr>
              <a:t>开展心电远程诊断、远程指导与在线教育培训，实现上级医院心电诊断资源向基层医疗机构下沉</a:t>
            </a: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rPr>
              <a:t>，帮助县域基层医院提升心血管疾病救治能力。</a:t>
            </a:r>
            <a:r>
              <a:rPr lang="zh-CN" altLang="zh-CN" sz="1000" b="1" dirty="0">
                <a:solidFill>
                  <a:schemeClr val="tx1">
                    <a:lumMod val="75000"/>
                    <a:lumOff val="25000"/>
                  </a:schemeClr>
                </a:solidFill>
                <a:latin typeface="微软雅黑" panose="020B0503020204020204" pitchFamily="34" charset="-122"/>
                <a:ea typeface="微软雅黑" panose="020B0503020204020204" pitchFamily="34" charset="-122"/>
              </a:rPr>
              <a:t>2023年</a:t>
            </a:r>
            <a:r>
              <a:rPr lang="en-US" altLang="zh-CN" sz="1000" b="1" dirty="0">
                <a:solidFill>
                  <a:schemeClr val="tx1">
                    <a:lumMod val="75000"/>
                    <a:lumOff val="25000"/>
                  </a:schemeClr>
                </a:solidFill>
                <a:latin typeface="微软雅黑" panose="020B0503020204020204" pitchFamily="34" charset="-122"/>
                <a:ea typeface="微软雅黑" panose="020B0503020204020204" pitchFamily="34" charset="-122"/>
              </a:rPr>
              <a:t>5月开始启动平谷、阜平、寻乌三个县，</a:t>
            </a:r>
            <a:r>
              <a:rPr lang="zh-CN" altLang="en-US" sz="1000" b="1" dirty="0">
                <a:solidFill>
                  <a:schemeClr val="tx1">
                    <a:lumMod val="75000"/>
                    <a:lumOff val="25000"/>
                  </a:schemeClr>
                </a:solidFill>
                <a:latin typeface="微软雅黑" panose="020B0503020204020204" pitchFamily="34" charset="-122"/>
                <a:ea typeface="微软雅黑" panose="020B0503020204020204" pitchFamily="34" charset="-122"/>
              </a:rPr>
              <a:t>共计</a:t>
            </a:r>
            <a:r>
              <a:rPr lang="en-US" altLang="zh-CN" sz="1000" b="1" dirty="0">
                <a:solidFill>
                  <a:schemeClr val="tx1">
                    <a:lumMod val="75000"/>
                    <a:lumOff val="25000"/>
                  </a:schemeClr>
                </a:solidFill>
                <a:latin typeface="微软雅黑" panose="020B0503020204020204" pitchFamily="34" charset="-122"/>
                <a:ea typeface="微软雅黑" panose="020B0503020204020204" pitchFamily="34" charset="-122"/>
              </a:rPr>
              <a:t>40</a:t>
            </a:r>
            <a:r>
              <a:rPr lang="zh-CN" altLang="en-US" sz="1000" b="1" dirty="0">
                <a:solidFill>
                  <a:schemeClr val="tx1">
                    <a:lumMod val="75000"/>
                    <a:lumOff val="25000"/>
                  </a:schemeClr>
                </a:solidFill>
                <a:latin typeface="微软雅黑" panose="020B0503020204020204" pitchFamily="34" charset="-122"/>
                <a:ea typeface="微软雅黑" panose="020B0503020204020204" pitchFamily="34" charset="-122"/>
              </a:rPr>
              <a:t>多个基层医疗机构，覆盖人口超</a:t>
            </a:r>
            <a:r>
              <a:rPr lang="en-US" altLang="zh-CN" sz="1000" b="1" dirty="0">
                <a:solidFill>
                  <a:schemeClr val="tx1">
                    <a:lumMod val="75000"/>
                    <a:lumOff val="25000"/>
                  </a:schemeClr>
                </a:solidFill>
                <a:latin typeface="微软雅黑" panose="020B0503020204020204" pitchFamily="34" charset="-122"/>
                <a:ea typeface="微软雅黑" panose="020B0503020204020204" pitchFamily="34" charset="-122"/>
              </a:rPr>
              <a:t>100</a:t>
            </a:r>
            <a:r>
              <a:rPr lang="zh-CN" altLang="en-US" sz="1000" b="1" dirty="0">
                <a:solidFill>
                  <a:schemeClr val="tx1">
                    <a:lumMod val="75000"/>
                    <a:lumOff val="25000"/>
                  </a:schemeClr>
                </a:solidFill>
                <a:latin typeface="微软雅黑" panose="020B0503020204020204" pitchFamily="34" charset="-122"/>
                <a:ea typeface="微软雅黑" panose="020B0503020204020204" pitchFamily="34" charset="-122"/>
              </a:rPr>
              <a:t>万，今年预计新增</a:t>
            </a:r>
            <a:r>
              <a:rPr lang="en-US" altLang="zh-CN" sz="1000" b="1" dirty="0">
                <a:solidFill>
                  <a:schemeClr val="tx1">
                    <a:lumMod val="75000"/>
                    <a:lumOff val="25000"/>
                  </a:schemeClr>
                </a:solidFill>
                <a:latin typeface="微软雅黑" panose="020B0503020204020204" pitchFamily="34" charset="-122"/>
                <a:ea typeface="微软雅黑" panose="020B0503020204020204" pitchFamily="34" charset="-122"/>
              </a:rPr>
              <a:t>500</a:t>
            </a:r>
            <a:r>
              <a:rPr lang="zh-CN" altLang="en-US" sz="1000" b="1" dirty="0">
                <a:solidFill>
                  <a:schemeClr val="tx1">
                    <a:lumMod val="75000"/>
                    <a:lumOff val="25000"/>
                  </a:schemeClr>
                </a:solidFill>
                <a:latin typeface="微软雅黑" panose="020B0503020204020204" pitchFamily="34" charset="-122"/>
                <a:ea typeface="微软雅黑" panose="020B0503020204020204" pitchFamily="34" charset="-122"/>
              </a:rPr>
              <a:t>个站点</a:t>
            </a:r>
            <a:r>
              <a:rPr lang="en-US" altLang="zh-CN" sz="1000" b="1" dirty="0">
                <a:solidFill>
                  <a:schemeClr val="tx1">
                    <a:lumMod val="75000"/>
                    <a:lumOff val="25000"/>
                  </a:schemeClr>
                </a:solidFill>
                <a:latin typeface="微软雅黑" panose="020B0503020204020204" pitchFamily="34" charset="-122"/>
                <a:ea typeface="微软雅黑" panose="020B0503020204020204" pitchFamily="34" charset="-122"/>
              </a:rPr>
              <a:t>。</a:t>
            </a:r>
            <a:endParaRPr lang="zh-CN" altLang="zh-CN" sz="10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12" name="矩形 11"/>
          <p:cNvSpPr/>
          <p:nvPr/>
        </p:nvSpPr>
        <p:spPr>
          <a:xfrm>
            <a:off x="4932039" y="3075295"/>
            <a:ext cx="3854187" cy="1060450"/>
          </a:xfrm>
          <a:prstGeom prst="rect">
            <a:avLst/>
          </a:prstGeom>
        </p:spPr>
        <p:txBody>
          <a:bodyPr wrap="square">
            <a:spAutoFit/>
          </a:bodyPr>
          <a:lstStyle/>
          <a:p>
            <a:pPr>
              <a:lnSpc>
                <a:spcPct val="150000"/>
              </a:lnSpc>
            </a:pPr>
            <a:r>
              <a:rPr lang="zh-CN" altLang="en-US" sz="1050" dirty="0">
                <a:solidFill>
                  <a:schemeClr val="tx1">
                    <a:lumMod val="75000"/>
                    <a:lumOff val="25000"/>
                  </a:schemeClr>
                </a:solidFill>
                <a:latin typeface="微软雅黑" panose="020B0503020204020204" pitchFamily="34" charset="-122"/>
                <a:ea typeface="微软雅黑" panose="020B0503020204020204" pitchFamily="34" charset="-122"/>
              </a:rPr>
              <a:t>本项目能及时识别患者早期心血管疾病风险，让乡镇医生第一</a:t>
            </a:r>
          </a:p>
          <a:p>
            <a:pPr>
              <a:lnSpc>
                <a:spcPct val="150000"/>
              </a:lnSpc>
            </a:pPr>
            <a:r>
              <a:rPr lang="zh-CN" altLang="en-US" sz="1050" dirty="0">
                <a:solidFill>
                  <a:schemeClr val="tx1">
                    <a:lumMod val="75000"/>
                    <a:lumOff val="25000"/>
                  </a:schemeClr>
                </a:solidFill>
                <a:latin typeface="微软雅黑" panose="020B0503020204020204" pitchFamily="34" charset="-122"/>
                <a:ea typeface="微软雅黑" panose="020B0503020204020204" pitchFamily="34" charset="-122"/>
              </a:rPr>
              <a:t>时间为患者提供县级诊断服务，采取适当治疗措施。此外，对</a:t>
            </a:r>
          </a:p>
          <a:p>
            <a:pPr>
              <a:lnSpc>
                <a:spcPct val="150000"/>
              </a:lnSpc>
            </a:pPr>
            <a:r>
              <a:rPr lang="zh-CN" altLang="en-US" sz="1050" dirty="0">
                <a:solidFill>
                  <a:schemeClr val="tx1">
                    <a:lumMod val="75000"/>
                    <a:lumOff val="25000"/>
                  </a:schemeClr>
                </a:solidFill>
                <a:latin typeface="微软雅黑" panose="020B0503020204020204" pitchFamily="34" charset="-122"/>
                <a:ea typeface="微软雅黑" panose="020B0503020204020204" pitchFamily="34" charset="-122"/>
              </a:rPr>
              <a:t>该区域</a:t>
            </a:r>
            <a:r>
              <a:rPr lang="en-US" altLang="zh-CN" sz="1050" dirty="0">
                <a:solidFill>
                  <a:schemeClr val="tx1">
                    <a:lumMod val="75000"/>
                    <a:lumOff val="25000"/>
                  </a:schemeClr>
                </a:solidFill>
                <a:latin typeface="微软雅黑" panose="020B0503020204020204" pitchFamily="34" charset="-122"/>
                <a:ea typeface="微软雅黑" panose="020B0503020204020204" pitchFamily="34" charset="-122"/>
              </a:rPr>
              <a:t>40</a:t>
            </a:r>
            <a:r>
              <a:rPr lang="zh-CN" altLang="en-US" sz="1050" dirty="0">
                <a:solidFill>
                  <a:schemeClr val="tx1">
                    <a:lumMod val="75000"/>
                    <a:lumOff val="25000"/>
                  </a:schemeClr>
                </a:solidFill>
                <a:latin typeface="微软雅黑" panose="020B0503020204020204" pitchFamily="34" charset="-122"/>
                <a:ea typeface="微软雅黑" panose="020B0503020204020204" pitchFamily="34" charset="-122"/>
              </a:rPr>
              <a:t>多个机构的医生进行远程指导与在线教育培训，极大</a:t>
            </a:r>
          </a:p>
          <a:p>
            <a:pPr>
              <a:lnSpc>
                <a:spcPct val="150000"/>
              </a:lnSpc>
            </a:pPr>
            <a:r>
              <a:rPr lang="zh-CN" altLang="en-US" sz="1050" dirty="0">
                <a:solidFill>
                  <a:schemeClr val="tx1">
                    <a:lumMod val="75000"/>
                    <a:lumOff val="25000"/>
                  </a:schemeClr>
                </a:solidFill>
                <a:latin typeface="微软雅黑" panose="020B0503020204020204" pitchFamily="34" charset="-122"/>
                <a:ea typeface="微软雅黑" panose="020B0503020204020204" pitchFamily="34" charset="-122"/>
              </a:rPr>
              <a:t>地提升了县域基层医院的心血管疾病救治能力。</a:t>
            </a:r>
            <a:endParaRPr lang="zh-CN" altLang="zh-CN" sz="1050" dirty="0">
              <a:solidFill>
                <a:schemeClr val="tx1">
                  <a:lumMod val="75000"/>
                  <a:lumOff val="25000"/>
                </a:schemeClr>
              </a:solidFill>
              <a:latin typeface="微软雅黑" panose="020B0503020204020204" pitchFamily="34" charset="-122"/>
              <a:ea typeface="微软雅黑" panose="020B0503020204020204" pitchFamily="34" charset="-122"/>
            </a:endParaRPr>
          </a:p>
        </p:txBody>
      </p:sp>
      <p:pic>
        <p:nvPicPr>
          <p:cNvPr id="13" name="图片 12"/>
          <p:cNvPicPr>
            <a:picLocks noChangeAspect="1"/>
          </p:cNvPicPr>
          <p:nvPr/>
        </p:nvPicPr>
        <p:blipFill>
          <a:blip r:embed="rId3" cstate="print">
            <a:extLst>
              <a:ext uri="{BEBA8EAE-BF5A-486C-A8C5-ECC9F3942E4B}">
                <a14:imgProps xmlns:a14="http://schemas.microsoft.com/office/drawing/2010/main" xmlns="">
                  <a14:imgLayer r:embed="rId4">
                    <a14:imgEffect>
                      <a14:brightnessContrast bright="20000"/>
                    </a14:imgEffect>
                  </a14:imgLayer>
                </a14:imgProps>
              </a:ext>
            </a:extLst>
          </a:blip>
          <a:stretch>
            <a:fillRect/>
          </a:stretch>
        </p:blipFill>
        <p:spPr>
          <a:xfrm>
            <a:off x="4996914" y="1847850"/>
            <a:ext cx="1591310" cy="1137920"/>
          </a:xfrm>
          <a:prstGeom prst="rect">
            <a:avLst/>
          </a:prstGeom>
        </p:spPr>
      </p:pic>
      <p:pic>
        <p:nvPicPr>
          <p:cNvPr id="14" name="图片 13"/>
          <p:cNvPicPr>
            <a:picLocks noChangeAspect="1"/>
          </p:cNvPicPr>
          <p:nvPr/>
        </p:nvPicPr>
        <p:blipFill>
          <a:blip r:embed="rId5" cstate="print">
            <a:extLst>
              <a:ext uri="{BEBA8EAE-BF5A-486C-A8C5-ECC9F3942E4B}">
                <a14:imgProps xmlns:a14="http://schemas.microsoft.com/office/drawing/2010/main" xmlns="">
                  <a14:imgLayer r:embed="rId6">
                    <a14:imgEffect>
                      <a14:brightnessContrast bright="20000"/>
                    </a14:imgEffect>
                  </a14:imgLayer>
                </a14:imgProps>
              </a:ext>
            </a:extLst>
          </a:blip>
          <a:stretch>
            <a:fillRect/>
          </a:stretch>
        </p:blipFill>
        <p:spPr>
          <a:xfrm>
            <a:off x="6732270" y="1848485"/>
            <a:ext cx="1763395" cy="1100455"/>
          </a:xfrm>
          <a:prstGeom prst="rect">
            <a:avLst/>
          </a:prstGeom>
        </p:spPr>
      </p:pic>
      <p:pic>
        <p:nvPicPr>
          <p:cNvPr id="15" name="图片 14"/>
          <p:cNvPicPr>
            <a:picLocks noChangeAspect="1"/>
          </p:cNvPicPr>
          <p:nvPr/>
        </p:nvPicPr>
        <p:blipFill>
          <a:blip r:embed="rId7" cstate="print"/>
          <a:stretch>
            <a:fillRect/>
          </a:stretch>
        </p:blipFill>
        <p:spPr>
          <a:xfrm>
            <a:off x="539552" y="1779662"/>
            <a:ext cx="4307891" cy="2304256"/>
          </a:xfrm>
          <a:prstGeom prst="rect">
            <a:avLst/>
          </a:prstGeom>
        </p:spPr>
      </p:pic>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矩形 24"/>
          <p:cNvSpPr/>
          <p:nvPr/>
        </p:nvSpPr>
        <p:spPr>
          <a:xfrm>
            <a:off x="456620" y="892811"/>
            <a:ext cx="8329605" cy="757643"/>
          </a:xfrm>
          <a:prstGeom prst="rect">
            <a:avLst/>
          </a:prstGeom>
        </p:spPr>
        <p:txBody>
          <a:bodyPr wrap="square">
            <a:spAutoFit/>
          </a:bodyPr>
          <a:lstStyle/>
          <a:p>
            <a:pPr>
              <a:lnSpc>
                <a:spcPct val="150000"/>
              </a:lnSpc>
            </a:pPr>
            <a:r>
              <a:rPr lang="zh-CN" altLang="en-US" sz="1000" dirty="0">
                <a:solidFill>
                  <a:schemeClr val="tx1">
                    <a:lumMod val="85000"/>
                    <a:lumOff val="15000"/>
                  </a:schemeClr>
                </a:solidFill>
                <a:latin typeface="微软雅黑" panose="020B0503020204020204" pitchFamily="34" charset="-122"/>
                <a:ea typeface="微软雅黑" panose="020B0503020204020204" pitchFamily="34" charset="-122"/>
              </a:rPr>
              <a:t>好络维承建的寻乌县医共体的“心电一张网”项目自</a:t>
            </a:r>
            <a:r>
              <a:rPr lang="en-US" altLang="zh-CN" sz="1000" dirty="0">
                <a:solidFill>
                  <a:schemeClr val="tx1">
                    <a:lumMod val="85000"/>
                    <a:lumOff val="15000"/>
                  </a:schemeClr>
                </a:solidFill>
                <a:latin typeface="微软雅黑" panose="020B0503020204020204" pitchFamily="34" charset="-122"/>
                <a:ea typeface="微软雅黑" panose="020B0503020204020204" pitchFamily="34" charset="-122"/>
              </a:rPr>
              <a:t>2023</a:t>
            </a:r>
            <a:r>
              <a:rPr lang="zh-CN" altLang="en-US" sz="1000" dirty="0">
                <a:solidFill>
                  <a:schemeClr val="tx1">
                    <a:lumMod val="85000"/>
                    <a:lumOff val="15000"/>
                  </a:schemeClr>
                </a:solidFill>
                <a:latin typeface="微软雅黑" panose="020B0503020204020204" pitchFamily="34" charset="-122"/>
                <a:ea typeface="微软雅黑" panose="020B0503020204020204" pitchFamily="34" charset="-122"/>
              </a:rPr>
              <a:t>年下半年启动以来，县人民医院通过这张网覆盖了下属</a:t>
            </a:r>
            <a:r>
              <a:rPr lang="en-US" altLang="zh-CN" sz="1000" dirty="0">
                <a:solidFill>
                  <a:schemeClr val="tx1">
                    <a:lumMod val="85000"/>
                    <a:lumOff val="15000"/>
                  </a:schemeClr>
                </a:solidFill>
                <a:latin typeface="微软雅黑" panose="020B0503020204020204" pitchFamily="34" charset="-122"/>
                <a:ea typeface="微软雅黑" panose="020B0503020204020204" pitchFamily="34" charset="-122"/>
              </a:rPr>
              <a:t>19</a:t>
            </a:r>
            <a:r>
              <a:rPr lang="zh-CN" altLang="en-US" sz="1000" dirty="0">
                <a:solidFill>
                  <a:schemeClr val="tx1">
                    <a:lumMod val="85000"/>
                    <a:lumOff val="15000"/>
                  </a:schemeClr>
                </a:solidFill>
                <a:latin typeface="微软雅黑" panose="020B0503020204020204" pitchFamily="34" charset="-122"/>
                <a:ea typeface="微软雅黑" panose="020B0503020204020204" pitchFamily="34" charset="-122"/>
              </a:rPr>
              <a:t>个基层医疗单位，在基层卫生院和县级医院之间搭建了一座协作联动的桥梁。通过县级医院提供动态心电图、动态血压和常规心电图等服务，能够确保基层卫生院患者可以迅速获得准确的诊断和治疗。</a:t>
            </a:r>
            <a:endParaRPr lang="zh-CN" altLang="zh-CN" sz="10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9" name="文本占位符 8"/>
          <p:cNvSpPr>
            <a:spLocks noGrp="1"/>
          </p:cNvSpPr>
          <p:nvPr>
            <p:ph type="body" sz="quarter" idx="13"/>
          </p:nvPr>
        </p:nvSpPr>
        <p:spPr>
          <a:xfrm>
            <a:off x="467544" y="123478"/>
            <a:ext cx="6624736" cy="720080"/>
          </a:xfrm>
        </p:spPr>
        <p:txBody>
          <a:bodyPr/>
          <a:lstStyle/>
          <a:p>
            <a:r>
              <a:rPr lang="zh-CN" altLang="en-US" dirty="0">
                <a:solidFill>
                  <a:srgbClr val="2179B1"/>
                </a:solidFill>
              </a:rPr>
              <a:t>典型案例</a:t>
            </a:r>
            <a:r>
              <a:rPr lang="en-US" altLang="zh-CN" dirty="0">
                <a:solidFill>
                  <a:srgbClr val="2179B1"/>
                </a:solidFill>
              </a:rPr>
              <a:t>——</a:t>
            </a:r>
            <a:r>
              <a:rPr lang="zh-CN" altLang="en-US" dirty="0">
                <a:solidFill>
                  <a:srgbClr val="2179B1"/>
                </a:solidFill>
              </a:rPr>
              <a:t>寻乌县心电一张网</a:t>
            </a:r>
          </a:p>
        </p:txBody>
      </p:sp>
      <p:pic>
        <p:nvPicPr>
          <p:cNvPr id="3" name="图片 2"/>
          <p:cNvPicPr>
            <a:picLocks noChangeAspect="1"/>
          </p:cNvPicPr>
          <p:nvPr/>
        </p:nvPicPr>
        <p:blipFill>
          <a:blip r:embed="rId3" cstate="print">
            <a:extLst>
              <a:ext uri="{28A0092B-C50C-407E-A947-70E740481C1C}">
                <a14:useLocalDpi xmlns:a14="http://schemas.microsoft.com/office/drawing/2010/main" xmlns="" val="0"/>
              </a:ext>
            </a:extLst>
          </a:blip>
          <a:stretch>
            <a:fillRect/>
          </a:stretch>
        </p:blipFill>
        <p:spPr>
          <a:xfrm>
            <a:off x="539552" y="1923678"/>
            <a:ext cx="2987824" cy="1673648"/>
          </a:xfrm>
          <a:prstGeom prst="rect">
            <a:avLst/>
          </a:prstGeom>
        </p:spPr>
      </p:pic>
      <p:pic>
        <p:nvPicPr>
          <p:cNvPr id="5" name="图片 4"/>
          <p:cNvPicPr>
            <a:picLocks noChangeAspect="1"/>
          </p:cNvPicPr>
          <p:nvPr/>
        </p:nvPicPr>
        <p:blipFill rotWithShape="1">
          <a:blip r:embed="rId4" cstate="print">
            <a:extLst>
              <a:ext uri="{28A0092B-C50C-407E-A947-70E740481C1C}">
                <a14:useLocalDpi xmlns:a14="http://schemas.microsoft.com/office/drawing/2010/main" xmlns="" val="0"/>
              </a:ext>
            </a:extLst>
          </a:blip>
          <a:srcRect t="12032"/>
          <a:stretch>
            <a:fillRect/>
          </a:stretch>
        </p:blipFill>
        <p:spPr>
          <a:xfrm>
            <a:off x="3569233" y="1923678"/>
            <a:ext cx="2545085" cy="1673648"/>
          </a:xfrm>
          <a:prstGeom prst="rect">
            <a:avLst/>
          </a:prstGeom>
        </p:spPr>
      </p:pic>
      <p:pic>
        <p:nvPicPr>
          <p:cNvPr id="7" name="图片 6"/>
          <p:cNvPicPr>
            <a:picLocks noChangeAspect="1"/>
          </p:cNvPicPr>
          <p:nvPr/>
        </p:nvPicPr>
        <p:blipFill rotWithShape="1">
          <a:blip r:embed="rId5" cstate="print">
            <a:extLst>
              <a:ext uri="{28A0092B-C50C-407E-A947-70E740481C1C}">
                <a14:useLocalDpi xmlns:a14="http://schemas.microsoft.com/office/drawing/2010/main" xmlns="" val="0"/>
              </a:ext>
            </a:extLst>
          </a:blip>
          <a:srcRect l="6971" r="3522"/>
          <a:stretch>
            <a:fillRect/>
          </a:stretch>
        </p:blipFill>
        <p:spPr>
          <a:xfrm>
            <a:off x="6156175" y="1923678"/>
            <a:ext cx="2630050" cy="1674000"/>
          </a:xfrm>
          <a:prstGeom prst="rect">
            <a:avLst/>
          </a:prstGeom>
        </p:spPr>
      </p:pic>
      <p:sp>
        <p:nvSpPr>
          <p:cNvPr id="10" name="文本框 9"/>
          <p:cNvSpPr txBox="1"/>
          <p:nvPr/>
        </p:nvSpPr>
        <p:spPr>
          <a:xfrm>
            <a:off x="465205" y="3854412"/>
            <a:ext cx="8321019" cy="526811"/>
          </a:xfrm>
          <a:prstGeom prst="rect">
            <a:avLst/>
          </a:prstGeom>
          <a:noFill/>
        </p:spPr>
        <p:txBody>
          <a:bodyPr wrap="square">
            <a:spAutoFit/>
          </a:bodyPr>
          <a:lstStyle/>
          <a:p>
            <a:pPr>
              <a:lnSpc>
                <a:spcPct val="150000"/>
              </a:lnSpc>
            </a:pPr>
            <a:r>
              <a:rPr lang="zh-CN" altLang="en-US" sz="1000" dirty="0">
                <a:solidFill>
                  <a:schemeClr val="tx1">
                    <a:lumMod val="85000"/>
                    <a:lumOff val="15000"/>
                  </a:schemeClr>
                </a:solidFill>
                <a:latin typeface="微软雅黑" panose="020B0503020204020204" pitchFamily="34" charset="-122"/>
                <a:ea typeface="微软雅黑" panose="020B0503020204020204" pitchFamily="34" charset="-122"/>
              </a:rPr>
              <a:t>不到半年，该网络已经分析了超过千人次的心电图数据，极大地增强了医生的诊断准确性，并为优化诊疗流程和提高患者救治效率打下了坚实的基础。这一项目不仅提升了医疗服务的质量和效率，还为县域内心脏、心血管患者的健康提供了有力保障。</a:t>
            </a: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14"/>
          <p:cNvSpPr/>
          <p:nvPr/>
        </p:nvSpPr>
        <p:spPr>
          <a:xfrm>
            <a:off x="4892267" y="1775901"/>
            <a:ext cx="3357469" cy="2093184"/>
          </a:xfrm>
          <a:prstGeom prst="rect">
            <a:avLst/>
          </a:prstGeom>
          <a:noFill/>
          <a:ln w="3175">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25" name="矩形 24"/>
          <p:cNvSpPr/>
          <p:nvPr/>
        </p:nvSpPr>
        <p:spPr>
          <a:xfrm>
            <a:off x="456620" y="892811"/>
            <a:ext cx="8329605" cy="526811"/>
          </a:xfrm>
          <a:prstGeom prst="rect">
            <a:avLst/>
          </a:prstGeom>
        </p:spPr>
        <p:txBody>
          <a:bodyPr wrap="square">
            <a:spAutoFit/>
          </a:bodyPr>
          <a:lstStyle/>
          <a:p>
            <a:pPr>
              <a:lnSpc>
                <a:spcPct val="150000"/>
              </a:lnSpc>
            </a:pPr>
            <a:r>
              <a:rPr lang="zh-CN" altLang="zh-CN" sz="1000" dirty="0">
                <a:solidFill>
                  <a:schemeClr val="tx1">
                    <a:lumMod val="85000"/>
                    <a:lumOff val="15000"/>
                  </a:schemeClr>
                </a:solidFill>
                <a:latin typeface="微软雅黑" panose="020B0503020204020204" pitchFamily="34" charset="-122"/>
                <a:ea typeface="微软雅黑" panose="020B0503020204020204" pitchFamily="34" charset="-122"/>
              </a:rPr>
              <a:t>2018年城阳区响应</a:t>
            </a:r>
            <a:r>
              <a:rPr lang="en-US" altLang="zh-CN" sz="1000" dirty="0" err="1">
                <a:solidFill>
                  <a:schemeClr val="tx1">
                    <a:lumMod val="85000"/>
                    <a:lumOff val="15000"/>
                  </a:schemeClr>
                </a:solidFill>
                <a:latin typeface="微软雅黑" panose="020B0503020204020204" pitchFamily="34" charset="-122"/>
                <a:ea typeface="微软雅黑" panose="020B0503020204020204" pitchFamily="34" charset="-122"/>
              </a:rPr>
              <a:t>政策要求，以心脑血管疾病作为“三高共管、三级协同”突破口</a:t>
            </a:r>
            <a:r>
              <a:rPr lang="en-US" altLang="zh-CN" sz="1000" dirty="0">
                <a:solidFill>
                  <a:schemeClr val="tx1">
                    <a:lumMod val="85000"/>
                    <a:lumOff val="15000"/>
                  </a:schemeClr>
                </a:solidFill>
                <a:latin typeface="微软雅黑" panose="020B0503020204020204" pitchFamily="34" charset="-122"/>
                <a:ea typeface="微软雅黑" panose="020B0503020204020204" pitchFamily="34" charset="-122"/>
              </a:rPr>
              <a:t>，</a:t>
            </a:r>
            <a:r>
              <a:rPr lang="zh-CN" altLang="en-US" sz="1000" dirty="0">
                <a:solidFill>
                  <a:schemeClr val="tx1">
                    <a:lumMod val="85000"/>
                    <a:lumOff val="15000"/>
                  </a:schemeClr>
                </a:solidFill>
                <a:latin typeface="微软雅黑" panose="020B0503020204020204" pitchFamily="34" charset="-122"/>
                <a:ea typeface="微软雅黑" panose="020B0503020204020204" pitchFamily="34" charset="-122"/>
              </a:rPr>
              <a:t>由</a:t>
            </a:r>
            <a:r>
              <a:rPr lang="en-US" altLang="zh-CN" sz="1000" dirty="0" err="1">
                <a:solidFill>
                  <a:schemeClr val="tx1">
                    <a:lumMod val="85000"/>
                    <a:lumOff val="15000"/>
                  </a:schemeClr>
                </a:solidFill>
                <a:latin typeface="微软雅黑" panose="020B0503020204020204" pitchFamily="34" charset="-122"/>
                <a:ea typeface="微软雅黑" panose="020B0503020204020204" pitchFamily="34" charset="-122"/>
              </a:rPr>
              <a:t>城阳区人民医院牵头，建设区域心电中心项目试点</a:t>
            </a:r>
            <a:r>
              <a:rPr lang="zh-CN" altLang="en-US" sz="1000" dirty="0">
                <a:solidFill>
                  <a:schemeClr val="tx1">
                    <a:lumMod val="85000"/>
                    <a:lumOff val="15000"/>
                  </a:schemeClr>
                </a:solidFill>
                <a:latin typeface="微软雅黑" panose="020B0503020204020204" pitchFamily="34" charset="-122"/>
                <a:ea typeface="微软雅黑" panose="020B0503020204020204" pitchFamily="34" charset="-122"/>
              </a:rPr>
              <a:t>，</a:t>
            </a:r>
            <a:r>
              <a:rPr lang="en-US" altLang="zh-CN" sz="1000" dirty="0" err="1">
                <a:solidFill>
                  <a:schemeClr val="tx1">
                    <a:lumMod val="85000"/>
                    <a:lumOff val="15000"/>
                  </a:schemeClr>
                </a:solidFill>
                <a:latin typeface="微软雅黑" panose="020B0503020204020204" pitchFamily="34" charset="-122"/>
                <a:ea typeface="微软雅黑" panose="020B0503020204020204" pitchFamily="34" charset="-122"/>
              </a:rPr>
              <a:t>以推动优质医疗资源下沉至基层，提高区域医疗资源利用率，提高基层的诊疗水平</a:t>
            </a:r>
            <a:r>
              <a:rPr lang="en-US" altLang="zh-CN" sz="1000" dirty="0">
                <a:solidFill>
                  <a:schemeClr val="tx1">
                    <a:lumMod val="85000"/>
                    <a:lumOff val="15000"/>
                  </a:schemeClr>
                </a:solidFill>
                <a:latin typeface="微软雅黑" panose="020B0503020204020204" pitchFamily="34" charset="-122"/>
                <a:ea typeface="微软雅黑" panose="020B0503020204020204" pitchFamily="34" charset="-122"/>
              </a:rPr>
              <a:t>。</a:t>
            </a:r>
            <a:endParaRPr lang="zh-CN" altLang="zh-CN" sz="10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8" name="矩形 7"/>
          <p:cNvSpPr/>
          <p:nvPr/>
        </p:nvSpPr>
        <p:spPr>
          <a:xfrm>
            <a:off x="4788024" y="4018295"/>
            <a:ext cx="3744416" cy="707886"/>
          </a:xfrm>
          <a:prstGeom prst="rect">
            <a:avLst/>
          </a:prstGeom>
        </p:spPr>
        <p:txBody>
          <a:bodyPr wrap="square">
            <a:spAutoFit/>
          </a:bodyPr>
          <a:lstStyle/>
          <a:p>
            <a:pPr>
              <a:lnSpc>
                <a:spcPts val="1600"/>
              </a:lnSpc>
            </a:pPr>
            <a:r>
              <a:rPr lang="zh-CN" altLang="zh-CN" sz="1000" dirty="0">
                <a:solidFill>
                  <a:schemeClr val="tx1">
                    <a:lumMod val="85000"/>
                    <a:lumOff val="15000"/>
                  </a:schemeClr>
                </a:solidFill>
                <a:latin typeface="微软雅黑" panose="020B0503020204020204" pitchFamily="34" charset="-122"/>
                <a:ea typeface="微软雅黑" panose="020B0503020204020204" pitchFamily="34" charset="-122"/>
              </a:rPr>
              <a:t>2019年初，健共体</a:t>
            </a:r>
            <a:r>
              <a:rPr lang="en-US" altLang="zh-CN" sz="1000" b="1" dirty="0">
                <a:solidFill>
                  <a:schemeClr val="tx1">
                    <a:lumMod val="85000"/>
                    <a:lumOff val="15000"/>
                  </a:schemeClr>
                </a:solidFill>
                <a:latin typeface="微软雅黑" panose="020B0503020204020204" pitchFamily="34" charset="-122"/>
                <a:ea typeface="微软雅黑" panose="020B0503020204020204" pitchFamily="34" charset="-122"/>
              </a:rPr>
              <a:t>180家</a:t>
            </a:r>
            <a:r>
              <a:rPr lang="en-US" altLang="zh-CN" sz="1000" dirty="0">
                <a:solidFill>
                  <a:schemeClr val="tx1">
                    <a:lumMod val="85000"/>
                    <a:lumOff val="15000"/>
                  </a:schemeClr>
                </a:solidFill>
                <a:latin typeface="微软雅黑" panose="020B0503020204020204" pitchFamily="34" charset="-122"/>
                <a:ea typeface="微软雅黑" panose="020B0503020204020204" pitchFamily="34" charset="-122"/>
              </a:rPr>
              <a:t>基层医疗机构接入。</a:t>
            </a:r>
            <a:endParaRPr lang="zh-CN" altLang="zh-CN" sz="1000" dirty="0">
              <a:solidFill>
                <a:schemeClr val="tx1">
                  <a:lumMod val="85000"/>
                  <a:lumOff val="15000"/>
                </a:schemeClr>
              </a:solidFill>
              <a:latin typeface="微软雅黑" panose="020B0503020204020204" pitchFamily="34" charset="-122"/>
              <a:ea typeface="微软雅黑" panose="020B0503020204020204" pitchFamily="34" charset="-122"/>
            </a:endParaRPr>
          </a:p>
          <a:p>
            <a:pPr>
              <a:lnSpc>
                <a:spcPts val="1600"/>
              </a:lnSpc>
            </a:pPr>
            <a:r>
              <a:rPr lang="zh-CN" altLang="zh-CN" sz="1000" dirty="0">
                <a:solidFill>
                  <a:schemeClr val="tx1">
                    <a:lumMod val="85000"/>
                    <a:lumOff val="15000"/>
                  </a:schemeClr>
                </a:solidFill>
                <a:latin typeface="微软雅黑" panose="020B0503020204020204" pitchFamily="34" charset="-122"/>
                <a:ea typeface="微软雅黑" panose="020B0503020204020204" pitchFamily="34" charset="-122"/>
              </a:rPr>
              <a:t>2020年“</a:t>
            </a:r>
            <a:r>
              <a:rPr lang="zh-CN" altLang="en-US" sz="1000" dirty="0">
                <a:solidFill>
                  <a:schemeClr val="tx1">
                    <a:lumMod val="85000"/>
                    <a:lumOff val="15000"/>
                  </a:schemeClr>
                </a:solidFill>
                <a:latin typeface="微软雅黑" panose="020B0503020204020204" pitchFamily="34" charset="-122"/>
                <a:ea typeface="微软雅黑" panose="020B0503020204020204" pitchFamily="34" charset="-122"/>
              </a:rPr>
              <a:t>三高</a:t>
            </a:r>
            <a:r>
              <a:rPr lang="zh-CN" altLang="zh-CN" sz="1000" dirty="0">
                <a:solidFill>
                  <a:schemeClr val="tx1">
                    <a:lumMod val="85000"/>
                    <a:lumOff val="15000"/>
                  </a:schemeClr>
                </a:solidFill>
                <a:latin typeface="微软雅黑" panose="020B0503020204020204" pitchFamily="34" charset="-122"/>
                <a:ea typeface="微软雅黑" panose="020B0503020204020204" pitchFamily="34" charset="-122"/>
              </a:rPr>
              <a:t>共管”人群</a:t>
            </a:r>
            <a:r>
              <a:rPr lang="zh-CN" altLang="en-US" sz="1000" dirty="0">
                <a:solidFill>
                  <a:schemeClr val="tx1">
                    <a:lumMod val="85000"/>
                    <a:lumOff val="15000"/>
                  </a:schemeClr>
                </a:solidFill>
                <a:latin typeface="微软雅黑" panose="020B0503020204020204" pitchFamily="34" charset="-122"/>
                <a:ea typeface="微软雅黑" panose="020B0503020204020204" pitchFamily="34" charset="-122"/>
              </a:rPr>
              <a:t>血压、血糖和血脂</a:t>
            </a:r>
            <a:r>
              <a:rPr lang="zh-CN" altLang="zh-CN" sz="1000" dirty="0">
                <a:solidFill>
                  <a:schemeClr val="tx1">
                    <a:lumMod val="85000"/>
                    <a:lumOff val="15000"/>
                  </a:schemeClr>
                </a:solidFill>
                <a:latin typeface="微软雅黑" panose="020B0503020204020204" pitchFamily="34" charset="-122"/>
                <a:ea typeface="微软雅黑" panose="020B0503020204020204" pitchFamily="34" charset="-122"/>
              </a:rPr>
              <a:t>达标率较之前分别提高了</a:t>
            </a:r>
            <a:r>
              <a:rPr lang="en-US" altLang="zh-CN" sz="1000" b="1" dirty="0">
                <a:solidFill>
                  <a:schemeClr val="tx1">
                    <a:lumMod val="85000"/>
                    <a:lumOff val="15000"/>
                  </a:schemeClr>
                </a:solidFill>
                <a:latin typeface="微软雅黑" panose="020B0503020204020204" pitchFamily="34" charset="-122"/>
                <a:ea typeface="微软雅黑" panose="020B0503020204020204" pitchFamily="34" charset="-122"/>
              </a:rPr>
              <a:t>15.3%、6.2%和44.1%</a:t>
            </a:r>
            <a:r>
              <a:rPr lang="en-US" altLang="zh-CN" sz="1000" dirty="0">
                <a:solidFill>
                  <a:schemeClr val="tx1">
                    <a:lumMod val="85000"/>
                    <a:lumOff val="15000"/>
                  </a:schemeClr>
                </a:solidFill>
                <a:latin typeface="微软雅黑" panose="020B0503020204020204" pitchFamily="34" charset="-122"/>
                <a:ea typeface="微软雅黑" panose="020B0503020204020204" pitchFamily="34" charset="-122"/>
              </a:rPr>
              <a:t>。</a:t>
            </a:r>
            <a:endParaRPr lang="zh-CN" altLang="zh-CN" sz="10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pic>
        <p:nvPicPr>
          <p:cNvPr id="2" name="图片 1"/>
          <p:cNvPicPr>
            <a:picLocks noChangeAspect="1"/>
          </p:cNvPicPr>
          <p:nvPr/>
        </p:nvPicPr>
        <p:blipFill>
          <a:blip r:embed="rId3" cstate="print">
            <a:extLst>
              <a:ext uri="{BEBA8EAE-BF5A-486C-A8C5-ECC9F3942E4B}">
                <a14:imgProps xmlns:a14="http://schemas.microsoft.com/office/drawing/2010/main" xmlns="">
                  <a14:imgLayer r:embed="rId4">
                    <a14:imgEffect>
                      <a14:brightnessContrast bright="20000"/>
                    </a14:imgEffect>
                  </a14:imgLayer>
                </a14:imgProps>
              </a:ext>
            </a:extLst>
          </a:blip>
          <a:stretch>
            <a:fillRect/>
          </a:stretch>
        </p:blipFill>
        <p:spPr>
          <a:xfrm>
            <a:off x="683568" y="1707654"/>
            <a:ext cx="1609541" cy="1184142"/>
          </a:xfrm>
          <a:prstGeom prst="roundRect">
            <a:avLst>
              <a:gd name="adj" fmla="val 8594"/>
            </a:avLst>
          </a:prstGeom>
          <a:solidFill>
            <a:srgbClr val="FFFFFF">
              <a:shade val="85000"/>
            </a:srgbClr>
          </a:solidFill>
          <a:ln>
            <a:noFill/>
          </a:ln>
          <a:effectLst/>
        </p:spPr>
      </p:pic>
      <p:pic>
        <p:nvPicPr>
          <p:cNvPr id="3" name="图片 2"/>
          <p:cNvPicPr>
            <a:picLocks noChangeAspect="1"/>
          </p:cNvPicPr>
          <p:nvPr/>
        </p:nvPicPr>
        <p:blipFill>
          <a:blip r:embed="rId5" cstate="print">
            <a:extLst>
              <a:ext uri="{BEBA8EAE-BF5A-486C-A8C5-ECC9F3942E4B}">
                <a14:imgProps xmlns:a14="http://schemas.microsoft.com/office/drawing/2010/main" xmlns="">
                  <a14:imgLayer r:embed="rId6">
                    <a14:imgEffect>
                      <a14:brightnessContrast bright="20000"/>
                    </a14:imgEffect>
                  </a14:imgLayer>
                </a14:imgProps>
              </a:ext>
            </a:extLst>
          </a:blip>
          <a:stretch>
            <a:fillRect/>
          </a:stretch>
        </p:blipFill>
        <p:spPr>
          <a:xfrm>
            <a:off x="2424436" y="1707654"/>
            <a:ext cx="1769302" cy="1184142"/>
          </a:xfrm>
          <a:prstGeom prst="roundRect">
            <a:avLst>
              <a:gd name="adj" fmla="val 8594"/>
            </a:avLst>
          </a:prstGeom>
          <a:solidFill>
            <a:srgbClr val="FFFFFF">
              <a:shade val="85000"/>
            </a:srgbClr>
          </a:solidFill>
          <a:ln>
            <a:noFill/>
          </a:ln>
          <a:effectLst/>
        </p:spPr>
      </p:pic>
      <p:pic>
        <p:nvPicPr>
          <p:cNvPr id="4" name="图片 3"/>
          <p:cNvPicPr>
            <a:picLocks noChangeAspect="1"/>
          </p:cNvPicPr>
          <p:nvPr/>
        </p:nvPicPr>
        <p:blipFill>
          <a:blip r:embed="rId7" cstate="print">
            <a:extLst>
              <a:ext uri="{BEBA8EAE-BF5A-486C-A8C5-ECC9F3942E4B}">
                <a14:imgProps xmlns:a14="http://schemas.microsoft.com/office/drawing/2010/main" xmlns="">
                  <a14:imgLayer r:embed="rId8">
                    <a14:imgEffect>
                      <a14:brightnessContrast bright="20000"/>
                    </a14:imgEffect>
                  </a14:imgLayer>
                </a14:imgProps>
              </a:ext>
            </a:extLst>
          </a:blip>
          <a:stretch>
            <a:fillRect/>
          </a:stretch>
        </p:blipFill>
        <p:spPr>
          <a:xfrm>
            <a:off x="699254" y="3079483"/>
            <a:ext cx="1603531" cy="1108457"/>
          </a:xfrm>
          <a:prstGeom prst="roundRect">
            <a:avLst>
              <a:gd name="adj" fmla="val 8594"/>
            </a:avLst>
          </a:prstGeom>
          <a:solidFill>
            <a:srgbClr val="FFFFFF">
              <a:shade val="85000"/>
            </a:srgbClr>
          </a:solidFill>
          <a:ln>
            <a:noFill/>
          </a:ln>
          <a:effectLst/>
        </p:spPr>
      </p:pic>
      <p:pic>
        <p:nvPicPr>
          <p:cNvPr id="6" name="图片 5"/>
          <p:cNvPicPr>
            <a:picLocks noChangeAspect="1"/>
          </p:cNvPicPr>
          <p:nvPr/>
        </p:nvPicPr>
        <p:blipFill>
          <a:blip r:embed="rId9" cstate="print">
            <a:extLst>
              <a:ext uri="{BEBA8EAE-BF5A-486C-A8C5-ECC9F3942E4B}">
                <a14:imgProps xmlns:a14="http://schemas.microsoft.com/office/drawing/2010/main" xmlns="">
                  <a14:imgLayer r:embed="rId10">
                    <a14:imgEffect>
                      <a14:brightnessContrast bright="20000"/>
                    </a14:imgEffect>
                  </a14:imgLayer>
                </a14:imgProps>
              </a:ext>
            </a:extLst>
          </a:blip>
          <a:stretch>
            <a:fillRect/>
          </a:stretch>
        </p:blipFill>
        <p:spPr>
          <a:xfrm>
            <a:off x="2431656" y="3077150"/>
            <a:ext cx="1769301" cy="1110790"/>
          </a:xfrm>
          <a:prstGeom prst="roundRect">
            <a:avLst>
              <a:gd name="adj" fmla="val 8594"/>
            </a:avLst>
          </a:prstGeom>
          <a:solidFill>
            <a:srgbClr val="FFFFFF">
              <a:shade val="85000"/>
            </a:srgbClr>
          </a:solidFill>
          <a:ln>
            <a:noFill/>
          </a:ln>
          <a:effectLst/>
        </p:spPr>
      </p:pic>
      <p:sp>
        <p:nvSpPr>
          <p:cNvPr id="7" name="矩形 6"/>
          <p:cNvSpPr/>
          <p:nvPr/>
        </p:nvSpPr>
        <p:spPr>
          <a:xfrm>
            <a:off x="6064710" y="2602476"/>
            <a:ext cx="1747650" cy="713016"/>
          </a:xfrm>
          <a:prstGeom prst="rect">
            <a:avLst/>
          </a:prstGeom>
        </p:spPr>
        <p:txBody>
          <a:bodyPr wrap="square">
            <a:spAutoFit/>
          </a:bodyPr>
          <a:lstStyle/>
          <a:p>
            <a:pPr marL="171450" indent="-171450">
              <a:lnSpc>
                <a:spcPct val="150000"/>
              </a:lnSpc>
              <a:buFont typeface="Arial" panose="020B0604020202020204" pitchFamily="34" charset="0"/>
              <a:buChar char="•"/>
            </a:pPr>
            <a:r>
              <a:rPr lang="zh-CN" altLang="zh-CN" sz="900" dirty="0">
                <a:solidFill>
                  <a:schemeClr val="tx1">
                    <a:lumMod val="75000"/>
                    <a:lumOff val="25000"/>
                  </a:schemeClr>
                </a:solidFill>
                <a:latin typeface="微软雅黑" panose="020B0503020204020204" pitchFamily="34" charset="-122"/>
                <a:ea typeface="微软雅黑" panose="020B0503020204020204" pitchFamily="34" charset="-122"/>
              </a:rPr>
              <a:t>心电等数据分析和诊断</a:t>
            </a:r>
            <a:endParaRPr lang="en-US" altLang="zh-CN" sz="900" dirty="0">
              <a:solidFill>
                <a:schemeClr val="tx1">
                  <a:lumMod val="75000"/>
                  <a:lumOff val="25000"/>
                </a:schemeClr>
              </a:solidFill>
              <a:latin typeface="微软雅黑" panose="020B0503020204020204" pitchFamily="34" charset="-122"/>
              <a:ea typeface="微软雅黑" panose="020B0503020204020204" pitchFamily="34" charset="-122"/>
            </a:endParaRPr>
          </a:p>
          <a:p>
            <a:pPr marL="171450" indent="-171450">
              <a:lnSpc>
                <a:spcPct val="150000"/>
              </a:lnSpc>
              <a:buFont typeface="Arial" panose="020B0604020202020204" pitchFamily="34" charset="0"/>
              <a:buChar char="•"/>
            </a:pPr>
            <a:r>
              <a:rPr lang="zh-CN" altLang="zh-CN" sz="900" dirty="0">
                <a:solidFill>
                  <a:schemeClr val="tx1">
                    <a:lumMod val="75000"/>
                    <a:lumOff val="25000"/>
                  </a:schemeClr>
                </a:solidFill>
                <a:latin typeface="微软雅黑" panose="020B0503020204020204" pitchFamily="34" charset="-122"/>
                <a:ea typeface="微软雅黑" panose="020B0503020204020204" pitchFamily="34" charset="-122"/>
              </a:rPr>
              <a:t>个性化健康干预</a:t>
            </a:r>
            <a:endParaRPr lang="en-US" altLang="zh-CN" sz="900" dirty="0">
              <a:solidFill>
                <a:schemeClr val="tx1">
                  <a:lumMod val="75000"/>
                  <a:lumOff val="25000"/>
                </a:schemeClr>
              </a:solidFill>
              <a:latin typeface="微软雅黑" panose="020B0503020204020204" pitchFamily="34" charset="-122"/>
              <a:ea typeface="微软雅黑" panose="020B0503020204020204" pitchFamily="34" charset="-122"/>
            </a:endParaRPr>
          </a:p>
          <a:p>
            <a:pPr marL="171450" indent="-171450">
              <a:lnSpc>
                <a:spcPts val="1600"/>
              </a:lnSpc>
              <a:buFont typeface="Arial" panose="020B0604020202020204" pitchFamily="34" charset="0"/>
              <a:buChar char="•"/>
            </a:pPr>
            <a:endParaRPr lang="zh-CN" altLang="zh-CN" sz="9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10" name="矩形 9"/>
          <p:cNvSpPr/>
          <p:nvPr/>
        </p:nvSpPr>
        <p:spPr>
          <a:xfrm>
            <a:off x="5185782" y="2224262"/>
            <a:ext cx="682362" cy="159462"/>
          </a:xfrm>
          <a:prstGeom prst="rect">
            <a:avLst/>
          </a:prstGeom>
          <a:solidFill>
            <a:srgbClr val="166191">
              <a:alpha val="50000"/>
            </a:srgbClr>
          </a:solidFill>
          <a:ln>
            <a:noFill/>
          </a:ln>
        </p:spPr>
        <p:style>
          <a:lnRef idx="0">
            <a:scrgbClr r="0" g="0" b="0"/>
          </a:lnRef>
          <a:fillRef idx="0">
            <a:scrgbClr r="0" g="0" b="0"/>
          </a:fillRef>
          <a:effectRef idx="0">
            <a:scrgbClr r="0" g="0" b="0"/>
          </a:effectRef>
          <a:fontRef idx="minor">
            <a:schemeClr val="lt1"/>
          </a:fontRef>
        </p:style>
        <p:txBody>
          <a:bodyPr wrap="none" lIns="18000" tIns="18000" rIns="18000" bIns="18000">
            <a:spAutoFit/>
          </a:bodyPr>
          <a:lstStyle/>
          <a:p>
            <a:r>
              <a:rPr lang="zh-CN" altLang="en-US" sz="800" dirty="0">
                <a:latin typeface="微软雅黑" panose="020B0503020204020204" pitchFamily="34" charset="-122"/>
                <a:ea typeface="微软雅黑" panose="020B0503020204020204" pitchFamily="34" charset="-122"/>
              </a:rPr>
              <a:t>“</a:t>
            </a:r>
            <a:r>
              <a:rPr lang="zh-CN" altLang="zh-CN" sz="800" dirty="0">
                <a:latin typeface="微软雅黑" panose="020B0503020204020204" pitchFamily="34" charset="-122"/>
                <a:ea typeface="微软雅黑" panose="020B0503020204020204" pitchFamily="34" charset="-122"/>
              </a:rPr>
              <a:t>三高</a:t>
            </a:r>
            <a:r>
              <a:rPr lang="zh-CN" altLang="en-US" sz="800" dirty="0">
                <a:latin typeface="微软雅黑" panose="020B0503020204020204" pitchFamily="34" charset="-122"/>
                <a:ea typeface="微软雅黑" panose="020B0503020204020204" pitchFamily="34" charset="-122"/>
              </a:rPr>
              <a:t>”</a:t>
            </a:r>
            <a:r>
              <a:rPr lang="zh-CN" altLang="zh-CN" sz="800" dirty="0">
                <a:latin typeface="微软雅黑" panose="020B0503020204020204" pitchFamily="34" charset="-122"/>
                <a:ea typeface="微软雅黑" panose="020B0503020204020204" pitchFamily="34" charset="-122"/>
              </a:rPr>
              <a:t> </a:t>
            </a:r>
            <a:r>
              <a:rPr lang="zh-CN" altLang="en-US" sz="800" dirty="0">
                <a:latin typeface="微软雅黑" panose="020B0503020204020204" pitchFamily="34" charset="-122"/>
                <a:ea typeface="微软雅黑" panose="020B0503020204020204" pitchFamily="34" charset="-122"/>
              </a:rPr>
              <a:t>中心</a:t>
            </a:r>
          </a:p>
        </p:txBody>
      </p:sp>
      <p:sp>
        <p:nvSpPr>
          <p:cNvPr id="11" name="矩形 10"/>
          <p:cNvSpPr/>
          <p:nvPr/>
        </p:nvSpPr>
        <p:spPr>
          <a:xfrm>
            <a:off x="6075076" y="1983614"/>
            <a:ext cx="1806075" cy="507831"/>
          </a:xfrm>
          <a:prstGeom prst="rect">
            <a:avLst/>
          </a:prstGeom>
        </p:spPr>
        <p:txBody>
          <a:bodyPr wrap="square">
            <a:spAutoFit/>
          </a:bodyPr>
          <a:lstStyle/>
          <a:p>
            <a:pPr marL="171450" indent="-171450">
              <a:lnSpc>
                <a:spcPct val="150000"/>
              </a:lnSpc>
              <a:buFont typeface="Arial" panose="020B0604020202020204" pitchFamily="34" charset="0"/>
              <a:buChar char="•"/>
            </a:pPr>
            <a:r>
              <a:rPr lang="zh-CN" altLang="en-US" sz="900" dirty="0">
                <a:solidFill>
                  <a:schemeClr val="tx1">
                    <a:lumMod val="75000"/>
                    <a:lumOff val="25000"/>
                  </a:schemeClr>
                </a:solidFill>
                <a:latin typeface="微软雅黑" panose="020B0503020204020204" pitchFamily="34" charset="-122"/>
                <a:ea typeface="微软雅黑" panose="020B0503020204020204" pitchFamily="34" charset="-122"/>
              </a:rPr>
              <a:t>动态心电</a:t>
            </a:r>
            <a:r>
              <a:rPr lang="en-US" altLang="zh-CN" sz="900" dirty="0" err="1">
                <a:solidFill>
                  <a:schemeClr val="tx1">
                    <a:lumMod val="75000"/>
                    <a:lumOff val="25000"/>
                  </a:schemeClr>
                </a:solidFill>
                <a:latin typeface="微软雅黑" panose="020B0503020204020204" pitchFamily="34" charset="-122"/>
                <a:ea typeface="微软雅黑" panose="020B0503020204020204" pitchFamily="34" charset="-122"/>
              </a:rPr>
              <a:t>分析</a:t>
            </a:r>
            <a:r>
              <a:rPr lang="zh-CN" altLang="en-US" sz="900" dirty="0">
                <a:solidFill>
                  <a:schemeClr val="tx1">
                    <a:lumMod val="75000"/>
                    <a:lumOff val="25000"/>
                  </a:schemeClr>
                </a:solidFill>
                <a:latin typeface="微软雅黑" panose="020B0503020204020204" pitchFamily="34" charset="-122"/>
                <a:ea typeface="微软雅黑" panose="020B0503020204020204" pitchFamily="34" charset="-122"/>
              </a:rPr>
              <a:t>、解读</a:t>
            </a:r>
            <a:endParaRPr lang="en-US" altLang="zh-CN" sz="900" dirty="0">
              <a:solidFill>
                <a:schemeClr val="tx1">
                  <a:lumMod val="75000"/>
                  <a:lumOff val="25000"/>
                </a:schemeClr>
              </a:solidFill>
              <a:latin typeface="微软雅黑" panose="020B0503020204020204" pitchFamily="34" charset="-122"/>
              <a:ea typeface="微软雅黑" panose="020B0503020204020204" pitchFamily="34" charset="-122"/>
            </a:endParaRPr>
          </a:p>
          <a:p>
            <a:pPr marL="171450" indent="-171450">
              <a:lnSpc>
                <a:spcPct val="150000"/>
              </a:lnSpc>
              <a:buFont typeface="Arial" panose="020B0604020202020204" pitchFamily="34" charset="0"/>
              <a:buChar char="•"/>
            </a:pPr>
            <a:r>
              <a:rPr lang="en-US" altLang="zh-CN" sz="900" dirty="0" err="1">
                <a:solidFill>
                  <a:schemeClr val="tx1">
                    <a:lumMod val="75000"/>
                    <a:lumOff val="25000"/>
                  </a:schemeClr>
                </a:solidFill>
                <a:latin typeface="微软雅黑" panose="020B0503020204020204" pitchFamily="34" charset="-122"/>
                <a:ea typeface="微软雅黑" panose="020B0503020204020204" pitchFamily="34" charset="-122"/>
              </a:rPr>
              <a:t>健康干预</a:t>
            </a:r>
            <a:endParaRPr lang="zh-CN" altLang="zh-CN" sz="9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24" name="矩形 23"/>
          <p:cNvSpPr/>
          <p:nvPr/>
        </p:nvSpPr>
        <p:spPr>
          <a:xfrm>
            <a:off x="6074032" y="3310362"/>
            <a:ext cx="1083425" cy="297517"/>
          </a:xfrm>
          <a:prstGeom prst="rect">
            <a:avLst/>
          </a:prstGeom>
        </p:spPr>
        <p:txBody>
          <a:bodyPr wrap="square">
            <a:spAutoFit/>
          </a:bodyPr>
          <a:lstStyle/>
          <a:p>
            <a:pPr marL="171450" indent="-171450">
              <a:lnSpc>
                <a:spcPts val="1600"/>
              </a:lnSpc>
              <a:buFont typeface="Arial" panose="020B0604020202020204" pitchFamily="34" charset="0"/>
              <a:buChar char="•"/>
            </a:pPr>
            <a:r>
              <a:rPr lang="zh-CN" altLang="en-US" sz="900" dirty="0">
                <a:solidFill>
                  <a:schemeClr val="tx1">
                    <a:lumMod val="75000"/>
                    <a:lumOff val="25000"/>
                  </a:schemeClr>
                </a:solidFill>
                <a:latin typeface="微软雅黑" panose="020B0503020204020204" pitchFamily="34" charset="-122"/>
                <a:ea typeface="微软雅黑" panose="020B0503020204020204" pitchFamily="34" charset="-122"/>
              </a:rPr>
              <a:t>心电</a:t>
            </a:r>
            <a:r>
              <a:rPr lang="zh-CN" altLang="zh-CN" sz="900" dirty="0">
                <a:solidFill>
                  <a:schemeClr val="tx1">
                    <a:lumMod val="75000"/>
                    <a:lumOff val="25000"/>
                  </a:schemeClr>
                </a:solidFill>
                <a:latin typeface="微软雅黑" panose="020B0503020204020204" pitchFamily="34" charset="-122"/>
                <a:ea typeface="微软雅黑" panose="020B0503020204020204" pitchFamily="34" charset="-122"/>
              </a:rPr>
              <a:t>数据采集</a:t>
            </a:r>
          </a:p>
        </p:txBody>
      </p:sp>
      <p:pic>
        <p:nvPicPr>
          <p:cNvPr id="12" name="图片 11"/>
          <p:cNvPicPr>
            <a:picLocks noChangeAspect="1"/>
          </p:cNvPicPr>
          <p:nvPr/>
        </p:nvPicPr>
        <p:blipFill>
          <a:blip r:embed="rId11" cstate="print">
            <a:extLst>
              <a:ext uri="{28A0092B-C50C-407E-A947-70E740481C1C}">
                <a14:useLocalDpi xmlns:a14="http://schemas.microsoft.com/office/drawing/2010/main" xmlns="" val="0"/>
              </a:ext>
            </a:extLst>
          </a:blip>
          <a:stretch>
            <a:fillRect/>
          </a:stretch>
        </p:blipFill>
        <p:spPr>
          <a:xfrm>
            <a:off x="5382348" y="2536623"/>
            <a:ext cx="306025" cy="306025"/>
          </a:xfrm>
          <a:prstGeom prst="rect">
            <a:avLst/>
          </a:prstGeom>
        </p:spPr>
      </p:pic>
      <p:pic>
        <p:nvPicPr>
          <p:cNvPr id="13" name="图片 12"/>
          <p:cNvPicPr>
            <a:picLocks noChangeAspect="1"/>
          </p:cNvPicPr>
          <p:nvPr/>
        </p:nvPicPr>
        <p:blipFill>
          <a:blip r:embed="rId12" cstate="print">
            <a:extLst>
              <a:ext uri="{28A0092B-C50C-407E-A947-70E740481C1C}">
                <a14:useLocalDpi xmlns:a14="http://schemas.microsoft.com/office/drawing/2010/main" xmlns="" val="0"/>
              </a:ext>
            </a:extLst>
          </a:blip>
          <a:stretch>
            <a:fillRect/>
          </a:stretch>
        </p:blipFill>
        <p:spPr>
          <a:xfrm>
            <a:off x="5410091" y="1970287"/>
            <a:ext cx="296400" cy="240000"/>
          </a:xfrm>
          <a:prstGeom prst="rect">
            <a:avLst/>
          </a:prstGeom>
        </p:spPr>
      </p:pic>
      <p:pic>
        <p:nvPicPr>
          <p:cNvPr id="14" name="图片 13"/>
          <p:cNvPicPr>
            <a:picLocks noChangeAspect="1"/>
          </p:cNvPicPr>
          <p:nvPr/>
        </p:nvPicPr>
        <p:blipFill>
          <a:blip r:embed="rId13" cstate="print">
            <a:extLst>
              <a:ext uri="{28A0092B-C50C-407E-A947-70E740481C1C}">
                <a14:useLocalDpi xmlns:a14="http://schemas.microsoft.com/office/drawing/2010/main" xmlns="" val="0"/>
              </a:ext>
            </a:extLst>
          </a:blip>
          <a:stretch>
            <a:fillRect/>
          </a:stretch>
        </p:blipFill>
        <p:spPr>
          <a:xfrm>
            <a:off x="5180461" y="3201013"/>
            <a:ext cx="238892" cy="238892"/>
          </a:xfrm>
          <a:prstGeom prst="rect">
            <a:avLst/>
          </a:prstGeom>
        </p:spPr>
      </p:pic>
      <p:pic>
        <p:nvPicPr>
          <p:cNvPr id="26" name="图片 25"/>
          <p:cNvPicPr>
            <a:picLocks noChangeAspect="1"/>
          </p:cNvPicPr>
          <p:nvPr/>
        </p:nvPicPr>
        <p:blipFill>
          <a:blip r:embed="rId14" cstate="print">
            <a:extLst>
              <a:ext uri="{28A0092B-C50C-407E-A947-70E740481C1C}">
                <a14:useLocalDpi xmlns:a14="http://schemas.microsoft.com/office/drawing/2010/main" xmlns="" val="0"/>
              </a:ext>
            </a:extLst>
          </a:blip>
          <a:stretch>
            <a:fillRect/>
          </a:stretch>
        </p:blipFill>
        <p:spPr>
          <a:xfrm>
            <a:off x="5652120" y="3207532"/>
            <a:ext cx="232373" cy="232373"/>
          </a:xfrm>
          <a:prstGeom prst="rect">
            <a:avLst/>
          </a:prstGeom>
        </p:spPr>
      </p:pic>
      <p:sp>
        <p:nvSpPr>
          <p:cNvPr id="27" name="矩形 26"/>
          <p:cNvSpPr/>
          <p:nvPr/>
        </p:nvSpPr>
        <p:spPr>
          <a:xfrm>
            <a:off x="5193086" y="2830066"/>
            <a:ext cx="682362" cy="159462"/>
          </a:xfrm>
          <a:prstGeom prst="rect">
            <a:avLst/>
          </a:prstGeom>
          <a:solidFill>
            <a:srgbClr val="166191">
              <a:alpha val="50000"/>
            </a:srgbClr>
          </a:solidFill>
          <a:ln>
            <a:noFill/>
          </a:ln>
        </p:spPr>
        <p:style>
          <a:lnRef idx="0">
            <a:scrgbClr r="0" g="0" b="0"/>
          </a:lnRef>
          <a:fillRef idx="0">
            <a:scrgbClr r="0" g="0" b="0"/>
          </a:fillRef>
          <a:effectRef idx="0">
            <a:scrgbClr r="0" g="0" b="0"/>
          </a:effectRef>
          <a:fontRef idx="minor">
            <a:schemeClr val="lt1"/>
          </a:fontRef>
        </p:style>
        <p:txBody>
          <a:bodyPr wrap="none" lIns="18000" tIns="18000" rIns="18000" bIns="18000">
            <a:spAutoFit/>
          </a:bodyPr>
          <a:lstStyle/>
          <a:p>
            <a:r>
              <a:rPr lang="zh-CN" altLang="en-US" sz="800" dirty="0">
                <a:latin typeface="微软雅黑" panose="020B0503020204020204" pitchFamily="34" charset="-122"/>
                <a:ea typeface="微软雅黑" panose="020B0503020204020204" pitchFamily="34" charset="-122"/>
              </a:rPr>
              <a:t>“</a:t>
            </a:r>
            <a:r>
              <a:rPr lang="zh-CN" altLang="zh-CN" sz="800" dirty="0">
                <a:latin typeface="微软雅黑" panose="020B0503020204020204" pitchFamily="34" charset="-122"/>
                <a:ea typeface="微软雅黑" panose="020B0503020204020204" pitchFamily="34" charset="-122"/>
              </a:rPr>
              <a:t>三高</a:t>
            </a:r>
            <a:r>
              <a:rPr lang="zh-CN" altLang="en-US" sz="800" dirty="0">
                <a:latin typeface="微软雅黑" panose="020B0503020204020204" pitchFamily="34" charset="-122"/>
                <a:ea typeface="微软雅黑" panose="020B0503020204020204" pitchFamily="34" charset="-122"/>
              </a:rPr>
              <a:t>”</a:t>
            </a:r>
            <a:r>
              <a:rPr lang="zh-CN" altLang="zh-CN" sz="800" dirty="0">
                <a:latin typeface="微软雅黑" panose="020B0503020204020204" pitchFamily="34" charset="-122"/>
                <a:ea typeface="微软雅黑" panose="020B0503020204020204" pitchFamily="34" charset="-122"/>
              </a:rPr>
              <a:t> </a:t>
            </a:r>
            <a:r>
              <a:rPr lang="zh-CN" altLang="en-US" sz="800" dirty="0">
                <a:latin typeface="微软雅黑" panose="020B0503020204020204" pitchFamily="34" charset="-122"/>
                <a:ea typeface="微软雅黑" panose="020B0503020204020204" pitchFamily="34" charset="-122"/>
              </a:rPr>
              <a:t>基地</a:t>
            </a:r>
          </a:p>
        </p:txBody>
      </p:sp>
      <p:sp>
        <p:nvSpPr>
          <p:cNvPr id="28" name="矩形 27"/>
          <p:cNvSpPr/>
          <p:nvPr/>
        </p:nvSpPr>
        <p:spPr>
          <a:xfrm>
            <a:off x="5193086" y="3472172"/>
            <a:ext cx="682362" cy="159462"/>
          </a:xfrm>
          <a:prstGeom prst="rect">
            <a:avLst/>
          </a:prstGeom>
          <a:solidFill>
            <a:srgbClr val="166191">
              <a:alpha val="50000"/>
            </a:srgbClr>
          </a:solidFill>
          <a:ln>
            <a:noFill/>
          </a:ln>
        </p:spPr>
        <p:style>
          <a:lnRef idx="0">
            <a:scrgbClr r="0" g="0" b="0"/>
          </a:lnRef>
          <a:fillRef idx="0">
            <a:scrgbClr r="0" g="0" b="0"/>
          </a:fillRef>
          <a:effectRef idx="0">
            <a:scrgbClr r="0" g="0" b="0"/>
          </a:effectRef>
          <a:fontRef idx="minor">
            <a:schemeClr val="lt1"/>
          </a:fontRef>
        </p:style>
        <p:txBody>
          <a:bodyPr wrap="none" lIns="18000" tIns="18000" rIns="18000" bIns="18000">
            <a:spAutoFit/>
          </a:bodyPr>
          <a:lstStyle/>
          <a:p>
            <a:r>
              <a:rPr lang="zh-CN" altLang="en-US" sz="800" dirty="0">
                <a:latin typeface="微软雅黑" panose="020B0503020204020204" pitchFamily="34" charset="-122"/>
                <a:ea typeface="微软雅黑" panose="020B0503020204020204" pitchFamily="34" charset="-122"/>
              </a:rPr>
              <a:t>“</a:t>
            </a:r>
            <a:r>
              <a:rPr lang="zh-CN" altLang="zh-CN" sz="800" dirty="0">
                <a:latin typeface="微软雅黑" panose="020B0503020204020204" pitchFamily="34" charset="-122"/>
                <a:ea typeface="微软雅黑" panose="020B0503020204020204" pitchFamily="34" charset="-122"/>
              </a:rPr>
              <a:t>三高</a:t>
            </a:r>
            <a:r>
              <a:rPr lang="zh-CN" altLang="en-US" sz="800" dirty="0">
                <a:latin typeface="微软雅黑" panose="020B0503020204020204" pitchFamily="34" charset="-122"/>
                <a:ea typeface="微软雅黑" panose="020B0503020204020204" pitchFamily="34" charset="-122"/>
              </a:rPr>
              <a:t>”</a:t>
            </a:r>
            <a:r>
              <a:rPr lang="zh-CN" altLang="zh-CN" sz="800" dirty="0">
                <a:latin typeface="微软雅黑" panose="020B0503020204020204" pitchFamily="34" charset="-122"/>
                <a:ea typeface="微软雅黑" panose="020B0503020204020204" pitchFamily="34" charset="-122"/>
              </a:rPr>
              <a:t> </a:t>
            </a:r>
            <a:r>
              <a:rPr lang="zh-CN" altLang="en-US" sz="800" dirty="0">
                <a:latin typeface="微软雅黑" panose="020B0503020204020204" pitchFamily="34" charset="-122"/>
                <a:ea typeface="微软雅黑" panose="020B0503020204020204" pitchFamily="34" charset="-122"/>
              </a:rPr>
              <a:t>之家</a:t>
            </a:r>
          </a:p>
        </p:txBody>
      </p:sp>
      <p:sp>
        <p:nvSpPr>
          <p:cNvPr id="16" name="上箭头 15"/>
          <p:cNvSpPr/>
          <p:nvPr/>
        </p:nvSpPr>
        <p:spPr>
          <a:xfrm>
            <a:off x="5484881" y="2423623"/>
            <a:ext cx="84106" cy="73190"/>
          </a:xfrm>
          <a:prstGeom prst="upArrow">
            <a:avLst/>
          </a:prstGeom>
          <a:solidFill>
            <a:srgbClr val="73A2BF"/>
          </a:solidFill>
          <a:ln>
            <a:solidFill>
              <a:srgbClr val="73A2B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30" name="上箭头 29"/>
          <p:cNvSpPr/>
          <p:nvPr/>
        </p:nvSpPr>
        <p:spPr>
          <a:xfrm>
            <a:off x="5467057" y="3058585"/>
            <a:ext cx="84106" cy="73190"/>
          </a:xfrm>
          <a:prstGeom prst="upArrow">
            <a:avLst/>
          </a:prstGeom>
          <a:solidFill>
            <a:srgbClr val="73A2BF"/>
          </a:solidFill>
          <a:ln>
            <a:solidFill>
              <a:srgbClr val="73A2B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9" name="文本占位符 8"/>
          <p:cNvSpPr>
            <a:spLocks noGrp="1"/>
          </p:cNvSpPr>
          <p:nvPr>
            <p:ph type="body" sz="quarter" idx="13"/>
          </p:nvPr>
        </p:nvSpPr>
        <p:spPr>
          <a:xfrm>
            <a:off x="467544" y="123478"/>
            <a:ext cx="6480720" cy="720080"/>
          </a:xfrm>
        </p:spPr>
        <p:txBody>
          <a:bodyPr/>
          <a:lstStyle/>
          <a:p>
            <a:r>
              <a:rPr lang="zh-CN" altLang="en-US" dirty="0">
                <a:solidFill>
                  <a:srgbClr val="2179B1"/>
                </a:solidFill>
              </a:rPr>
              <a:t>典型案例</a:t>
            </a:r>
            <a:r>
              <a:rPr lang="en-US" altLang="zh-CN" dirty="0">
                <a:solidFill>
                  <a:srgbClr val="2179B1"/>
                </a:solidFill>
              </a:rPr>
              <a:t>——</a:t>
            </a:r>
            <a:r>
              <a:rPr lang="zh-CN" altLang="en-US" dirty="0">
                <a:solidFill>
                  <a:srgbClr val="2179B1"/>
                </a:solidFill>
              </a:rPr>
              <a:t>青岛城阳区域心电一张网</a:t>
            </a: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矩形 24"/>
          <p:cNvSpPr/>
          <p:nvPr/>
        </p:nvSpPr>
        <p:spPr>
          <a:xfrm>
            <a:off x="456620" y="892811"/>
            <a:ext cx="8329605" cy="988476"/>
          </a:xfrm>
          <a:prstGeom prst="rect">
            <a:avLst/>
          </a:prstGeom>
        </p:spPr>
        <p:txBody>
          <a:bodyPr wrap="square">
            <a:spAutoFit/>
          </a:bodyPr>
          <a:lstStyle/>
          <a:p>
            <a:pPr>
              <a:lnSpc>
                <a:spcPct val="150000"/>
              </a:lnSpc>
            </a:pPr>
            <a:r>
              <a:rPr lang="en-US" altLang="zh-CN" sz="1000" dirty="0">
                <a:solidFill>
                  <a:schemeClr val="tx1">
                    <a:lumMod val="85000"/>
                    <a:lumOff val="15000"/>
                  </a:schemeClr>
                </a:solidFill>
                <a:latin typeface="微软雅黑" panose="020B0503020204020204" pitchFamily="34" charset="-122"/>
                <a:ea typeface="微软雅黑" panose="020B0503020204020204" pitchFamily="34" charset="-122"/>
              </a:rPr>
              <a:t>2024</a:t>
            </a:r>
            <a:r>
              <a:rPr lang="zh-CN" altLang="en-US" sz="1000" dirty="0">
                <a:solidFill>
                  <a:schemeClr val="tx1">
                    <a:lumMod val="85000"/>
                    <a:lumOff val="15000"/>
                  </a:schemeClr>
                </a:solidFill>
                <a:latin typeface="微软雅黑" panose="020B0503020204020204" pitchFamily="34" charset="-122"/>
                <a:ea typeface="微软雅黑" panose="020B0503020204020204" pitchFamily="34" charset="-122"/>
              </a:rPr>
              <a:t>年</a:t>
            </a:r>
            <a:r>
              <a:rPr lang="en-US" altLang="zh-CN" sz="1000" dirty="0">
                <a:solidFill>
                  <a:schemeClr val="tx1">
                    <a:lumMod val="85000"/>
                    <a:lumOff val="15000"/>
                  </a:schemeClr>
                </a:solidFill>
                <a:latin typeface="微软雅黑" panose="020B0503020204020204" pitchFamily="34" charset="-122"/>
                <a:ea typeface="微软雅黑" panose="020B0503020204020204" pitchFamily="34" charset="-122"/>
              </a:rPr>
              <a:t>5</a:t>
            </a:r>
            <a:r>
              <a:rPr lang="zh-CN" altLang="en-US" sz="1000" dirty="0">
                <a:solidFill>
                  <a:schemeClr val="tx1">
                    <a:lumMod val="85000"/>
                    <a:lumOff val="15000"/>
                  </a:schemeClr>
                </a:solidFill>
                <a:latin typeface="微软雅黑" panose="020B0503020204020204" pitchFamily="34" charset="-122"/>
                <a:ea typeface="微软雅黑" panose="020B0503020204020204" pitchFamily="34" charset="-122"/>
              </a:rPr>
              <a:t>月</a:t>
            </a:r>
            <a:r>
              <a:rPr lang="en-US" altLang="zh-CN" sz="1000" dirty="0">
                <a:solidFill>
                  <a:schemeClr val="tx1">
                    <a:lumMod val="85000"/>
                    <a:lumOff val="15000"/>
                  </a:schemeClr>
                </a:solidFill>
                <a:latin typeface="微软雅黑" panose="020B0503020204020204" pitchFamily="34" charset="-122"/>
                <a:ea typeface="微软雅黑" panose="020B0503020204020204" pitchFamily="34" charset="-122"/>
              </a:rPr>
              <a:t>25</a:t>
            </a:r>
            <a:r>
              <a:rPr lang="zh-CN" altLang="en-US" sz="1000" dirty="0">
                <a:solidFill>
                  <a:schemeClr val="tx1">
                    <a:lumMod val="85000"/>
                    <a:lumOff val="15000"/>
                  </a:schemeClr>
                </a:solidFill>
                <a:latin typeface="微软雅黑" panose="020B0503020204020204" pitchFamily="34" charset="-122"/>
                <a:ea typeface="微软雅黑" panose="020B0503020204020204" pitchFamily="34" charset="-122"/>
              </a:rPr>
              <a:t>日好络维携手北京市通州区北苑街道办事处和北苑小学，共同启动“心健一张网”青少年心理疏导项目，用科技和专业守护每一位青少年的心灵健康。此项目是集专业性、系统性、创新性于一体的心理健康服务项目，以“心健一张网”为核心理念，通过构建全方位、多层次的心理疏导网络，为青少年提供全面、及时、有效的心理支持。预计</a:t>
            </a:r>
            <a:r>
              <a:rPr lang="en-US" altLang="zh-CN" sz="1000" dirty="0">
                <a:solidFill>
                  <a:schemeClr val="tx1">
                    <a:lumMod val="85000"/>
                    <a:lumOff val="15000"/>
                  </a:schemeClr>
                </a:solidFill>
                <a:latin typeface="微软雅黑" panose="020B0503020204020204" pitchFamily="34" charset="-122"/>
                <a:ea typeface="微软雅黑" panose="020B0503020204020204" pitchFamily="34" charset="-122"/>
              </a:rPr>
              <a:t>6</a:t>
            </a:r>
            <a:r>
              <a:rPr lang="zh-CN" altLang="en-US" sz="1000" dirty="0">
                <a:solidFill>
                  <a:schemeClr val="tx1">
                    <a:lumMod val="85000"/>
                    <a:lumOff val="15000"/>
                  </a:schemeClr>
                </a:solidFill>
                <a:latin typeface="微软雅黑" panose="020B0503020204020204" pitchFamily="34" charset="-122"/>
                <a:ea typeface="微软雅黑" panose="020B0503020204020204" pitchFamily="34" charset="-122"/>
              </a:rPr>
              <a:t>月份完成</a:t>
            </a:r>
            <a:r>
              <a:rPr lang="en-US" altLang="zh-CN" sz="1000" dirty="0">
                <a:solidFill>
                  <a:schemeClr val="tx1">
                    <a:lumMod val="85000"/>
                    <a:lumOff val="15000"/>
                  </a:schemeClr>
                </a:solidFill>
                <a:latin typeface="微软雅黑" panose="020B0503020204020204" pitchFamily="34" charset="-122"/>
                <a:ea typeface="微软雅黑" panose="020B0503020204020204" pitchFamily="34" charset="-122"/>
              </a:rPr>
              <a:t>6</a:t>
            </a:r>
            <a:r>
              <a:rPr lang="zh-CN" altLang="en-US" sz="1000" dirty="0">
                <a:solidFill>
                  <a:schemeClr val="tx1">
                    <a:lumMod val="85000"/>
                    <a:lumOff val="15000"/>
                  </a:schemeClr>
                </a:solidFill>
                <a:latin typeface="微软雅黑" panose="020B0503020204020204" pitchFamily="34" charset="-122"/>
                <a:ea typeface="微软雅黑" panose="020B0503020204020204" pitchFamily="34" charset="-122"/>
              </a:rPr>
              <a:t>个学校、</a:t>
            </a:r>
            <a:r>
              <a:rPr lang="en-US" altLang="zh-CN" sz="1000" dirty="0">
                <a:solidFill>
                  <a:schemeClr val="tx1">
                    <a:lumMod val="85000"/>
                    <a:lumOff val="15000"/>
                  </a:schemeClr>
                </a:solidFill>
                <a:latin typeface="微软雅黑" panose="020B0503020204020204" pitchFamily="34" charset="-122"/>
                <a:ea typeface="微软雅黑" panose="020B0503020204020204" pitchFamily="34" charset="-122"/>
              </a:rPr>
              <a:t>2</a:t>
            </a:r>
            <a:r>
              <a:rPr lang="zh-CN" altLang="en-US" sz="1000" dirty="0">
                <a:solidFill>
                  <a:schemeClr val="tx1">
                    <a:lumMod val="85000"/>
                    <a:lumOff val="15000"/>
                  </a:schemeClr>
                </a:solidFill>
                <a:latin typeface="微软雅黑" panose="020B0503020204020204" pitchFamily="34" charset="-122"/>
                <a:ea typeface="微软雅黑" panose="020B0503020204020204" pitchFamily="34" charset="-122"/>
              </a:rPr>
              <a:t>个社区的筛查工作。</a:t>
            </a:r>
            <a:endParaRPr lang="en-US" altLang="zh-CN" sz="1000" dirty="0">
              <a:solidFill>
                <a:schemeClr val="tx1">
                  <a:lumMod val="85000"/>
                  <a:lumOff val="15000"/>
                </a:schemeClr>
              </a:solidFill>
              <a:latin typeface="微软雅黑" panose="020B0503020204020204" pitchFamily="34" charset="-122"/>
              <a:ea typeface="微软雅黑" panose="020B0503020204020204" pitchFamily="34" charset="-122"/>
            </a:endParaRPr>
          </a:p>
          <a:p>
            <a:pPr>
              <a:lnSpc>
                <a:spcPct val="150000"/>
              </a:lnSpc>
            </a:pPr>
            <a:endParaRPr lang="zh-CN" altLang="zh-CN" sz="10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9" name="文本占位符 8"/>
          <p:cNvSpPr>
            <a:spLocks noGrp="1"/>
          </p:cNvSpPr>
          <p:nvPr>
            <p:ph type="body" sz="quarter" idx="13"/>
          </p:nvPr>
        </p:nvSpPr>
        <p:spPr>
          <a:xfrm>
            <a:off x="467544" y="123478"/>
            <a:ext cx="6480720" cy="720080"/>
          </a:xfrm>
        </p:spPr>
        <p:txBody>
          <a:bodyPr/>
          <a:lstStyle/>
          <a:p>
            <a:r>
              <a:rPr lang="zh-CN" altLang="en-US" dirty="0">
                <a:solidFill>
                  <a:srgbClr val="2179B1"/>
                </a:solidFill>
              </a:rPr>
              <a:t>典型案例</a:t>
            </a:r>
            <a:r>
              <a:rPr lang="en-US" altLang="zh-CN" dirty="0">
                <a:solidFill>
                  <a:srgbClr val="2179B1"/>
                </a:solidFill>
              </a:rPr>
              <a:t>——</a:t>
            </a:r>
            <a:r>
              <a:rPr lang="zh-CN" altLang="en-US" dirty="0">
                <a:solidFill>
                  <a:srgbClr val="2179B1"/>
                </a:solidFill>
              </a:rPr>
              <a:t>北京通州北苑街道“心健一张网”</a:t>
            </a:r>
          </a:p>
        </p:txBody>
      </p:sp>
      <p:pic>
        <p:nvPicPr>
          <p:cNvPr id="5" name="图片 4"/>
          <p:cNvPicPr>
            <a:picLocks noChangeAspect="1"/>
          </p:cNvPicPr>
          <p:nvPr/>
        </p:nvPicPr>
        <p:blipFill>
          <a:blip r:embed="rId3" cstate="print">
            <a:extLst>
              <a:ext uri="{28A0092B-C50C-407E-A947-70E740481C1C}">
                <a14:useLocalDpi xmlns:a14="http://schemas.microsoft.com/office/drawing/2010/main" xmlns="" val="0"/>
              </a:ext>
            </a:extLst>
          </a:blip>
          <a:stretch>
            <a:fillRect/>
          </a:stretch>
        </p:blipFill>
        <p:spPr>
          <a:xfrm>
            <a:off x="539553" y="1835471"/>
            <a:ext cx="1903824" cy="1426743"/>
          </a:xfrm>
          <a:prstGeom prst="rect">
            <a:avLst/>
          </a:prstGeom>
        </p:spPr>
      </p:pic>
      <p:pic>
        <p:nvPicPr>
          <p:cNvPr id="7" name="图片 6"/>
          <p:cNvPicPr>
            <a:picLocks noChangeAspect="1"/>
          </p:cNvPicPr>
          <p:nvPr/>
        </p:nvPicPr>
        <p:blipFill>
          <a:blip r:embed="rId4" cstate="print">
            <a:extLst>
              <a:ext uri="{28A0092B-C50C-407E-A947-70E740481C1C}">
                <a14:useLocalDpi xmlns:a14="http://schemas.microsoft.com/office/drawing/2010/main" xmlns="" val="0"/>
              </a:ext>
            </a:extLst>
          </a:blip>
          <a:stretch>
            <a:fillRect/>
          </a:stretch>
        </p:blipFill>
        <p:spPr>
          <a:xfrm>
            <a:off x="537031" y="3378398"/>
            <a:ext cx="1901301" cy="1425600"/>
          </a:xfrm>
          <a:prstGeom prst="rect">
            <a:avLst/>
          </a:prstGeom>
        </p:spPr>
      </p:pic>
      <p:sp>
        <p:nvSpPr>
          <p:cNvPr id="8" name="矩形 7"/>
          <p:cNvSpPr/>
          <p:nvPr/>
        </p:nvSpPr>
        <p:spPr>
          <a:xfrm>
            <a:off x="6948264" y="2139702"/>
            <a:ext cx="1837961" cy="1938992"/>
          </a:xfrm>
          <a:prstGeom prst="rect">
            <a:avLst/>
          </a:prstGeom>
        </p:spPr>
        <p:txBody>
          <a:bodyPr wrap="square">
            <a:spAutoFit/>
          </a:bodyPr>
          <a:lstStyle/>
          <a:p>
            <a:pPr>
              <a:lnSpc>
                <a:spcPts val="1600"/>
              </a:lnSpc>
            </a:pPr>
            <a:r>
              <a:rPr lang="zh-CN" altLang="en-US" sz="1000" dirty="0" smtClean="0">
                <a:solidFill>
                  <a:schemeClr val="tx1">
                    <a:lumMod val="85000"/>
                    <a:lumOff val="15000"/>
                  </a:schemeClr>
                </a:solidFill>
                <a:latin typeface="Arial" panose="020B0604020202020204" pitchFamily="34" charset="0"/>
                <a:ea typeface="微软雅黑" panose="020B0503020204020204" pitchFamily="34" charset="-122"/>
                <a:cs typeface="Arial" panose="020B0604020202020204" pitchFamily="34" charset="0"/>
              </a:rPr>
              <a:t>► </a:t>
            </a:r>
            <a:r>
              <a:rPr lang="zh-CN" altLang="en-US" sz="1000" dirty="0" smtClean="0">
                <a:solidFill>
                  <a:schemeClr val="tx1">
                    <a:lumMod val="85000"/>
                    <a:lumOff val="15000"/>
                  </a:schemeClr>
                </a:solidFill>
                <a:latin typeface="微软雅黑" panose="020B0503020204020204" pitchFamily="34" charset="-122"/>
                <a:ea typeface="微软雅黑" panose="020B0503020204020204" pitchFamily="34" charset="-122"/>
              </a:rPr>
              <a:t>关注</a:t>
            </a:r>
            <a:r>
              <a:rPr lang="zh-CN" altLang="en-US" sz="1000" dirty="0">
                <a:solidFill>
                  <a:schemeClr val="tx1">
                    <a:lumMod val="85000"/>
                    <a:lumOff val="15000"/>
                  </a:schemeClr>
                </a:solidFill>
                <a:latin typeface="微软雅黑" panose="020B0503020204020204" pitchFamily="34" charset="-122"/>
                <a:ea typeface="微软雅黑" panose="020B0503020204020204" pitchFamily="34" charset="-122"/>
              </a:rPr>
              <a:t>社会心理健康，推进社区心理服务，是社区治理维稳的基石</a:t>
            </a:r>
            <a:endParaRPr lang="en-US" altLang="zh-CN" sz="1000" dirty="0">
              <a:solidFill>
                <a:schemeClr val="tx1">
                  <a:lumMod val="85000"/>
                  <a:lumOff val="15000"/>
                </a:schemeClr>
              </a:solidFill>
              <a:latin typeface="微软雅黑" panose="020B0503020204020204" pitchFamily="34" charset="-122"/>
              <a:ea typeface="微软雅黑" panose="020B0503020204020204" pitchFamily="34" charset="-122"/>
            </a:endParaRPr>
          </a:p>
          <a:p>
            <a:pPr>
              <a:lnSpc>
                <a:spcPts val="1600"/>
              </a:lnSpc>
            </a:pPr>
            <a:endParaRPr lang="en-US" altLang="zh-CN" sz="1000" dirty="0">
              <a:solidFill>
                <a:schemeClr val="tx1">
                  <a:lumMod val="85000"/>
                  <a:lumOff val="15000"/>
                </a:schemeClr>
              </a:solidFill>
              <a:latin typeface="微软雅黑" panose="020B0503020204020204" pitchFamily="34" charset="-122"/>
              <a:ea typeface="微软雅黑" panose="020B0503020204020204" pitchFamily="34" charset="-122"/>
            </a:endParaRPr>
          </a:p>
          <a:p>
            <a:pPr>
              <a:lnSpc>
                <a:spcPts val="1600"/>
              </a:lnSpc>
            </a:pPr>
            <a:r>
              <a:rPr lang="zh-CN" altLang="en-US" sz="1000" dirty="0" smtClean="0">
                <a:solidFill>
                  <a:schemeClr val="tx1">
                    <a:lumMod val="85000"/>
                    <a:lumOff val="15000"/>
                  </a:schemeClr>
                </a:solidFill>
                <a:latin typeface="Arial" panose="020B0604020202020204" pitchFamily="34" charset="0"/>
                <a:ea typeface="微软雅黑" panose="020B0503020204020204" pitchFamily="34" charset="-122"/>
                <a:cs typeface="Arial" panose="020B0604020202020204" pitchFamily="34" charset="0"/>
              </a:rPr>
              <a:t>► </a:t>
            </a:r>
            <a:r>
              <a:rPr lang="zh-CN" altLang="en-US" sz="1000" dirty="0" smtClean="0">
                <a:solidFill>
                  <a:schemeClr val="tx1">
                    <a:lumMod val="85000"/>
                    <a:lumOff val="15000"/>
                  </a:schemeClr>
                </a:solidFill>
                <a:latin typeface="微软雅黑" panose="020B0503020204020204" pitchFamily="34" charset="-122"/>
                <a:ea typeface="微软雅黑" panose="020B0503020204020204" pitchFamily="34" charset="-122"/>
              </a:rPr>
              <a:t>一</a:t>
            </a:r>
            <a:r>
              <a:rPr lang="zh-CN" altLang="en-US" sz="1000" dirty="0">
                <a:solidFill>
                  <a:schemeClr val="tx1">
                    <a:lumMod val="85000"/>
                    <a:lumOff val="15000"/>
                  </a:schemeClr>
                </a:solidFill>
                <a:latin typeface="微软雅黑" panose="020B0503020204020204" pitchFamily="34" charset="-122"/>
                <a:ea typeface="微软雅黑" panose="020B0503020204020204" pitchFamily="34" charset="-122"/>
              </a:rPr>
              <a:t>小一老身心健康是民生的重点关注话题</a:t>
            </a:r>
            <a:endParaRPr lang="en-US" altLang="zh-CN" sz="1000" dirty="0">
              <a:solidFill>
                <a:schemeClr val="tx1">
                  <a:lumMod val="85000"/>
                  <a:lumOff val="15000"/>
                </a:schemeClr>
              </a:solidFill>
              <a:latin typeface="微软雅黑" panose="020B0503020204020204" pitchFamily="34" charset="-122"/>
              <a:ea typeface="微软雅黑" panose="020B0503020204020204" pitchFamily="34" charset="-122"/>
            </a:endParaRPr>
          </a:p>
          <a:p>
            <a:pPr>
              <a:lnSpc>
                <a:spcPts val="1600"/>
              </a:lnSpc>
            </a:pPr>
            <a:endParaRPr lang="en-US" altLang="zh-CN" sz="1000" dirty="0">
              <a:solidFill>
                <a:schemeClr val="tx1">
                  <a:lumMod val="85000"/>
                  <a:lumOff val="15000"/>
                </a:schemeClr>
              </a:solidFill>
              <a:latin typeface="微软雅黑" panose="020B0503020204020204" pitchFamily="34" charset="-122"/>
              <a:ea typeface="微软雅黑" panose="020B0503020204020204" pitchFamily="34" charset="-122"/>
            </a:endParaRPr>
          </a:p>
          <a:p>
            <a:pPr>
              <a:lnSpc>
                <a:spcPts val="1600"/>
              </a:lnSpc>
            </a:pPr>
            <a:r>
              <a:rPr lang="zh-CN" altLang="en-US" sz="1000" dirty="0" smtClean="0">
                <a:solidFill>
                  <a:schemeClr val="tx1">
                    <a:lumMod val="85000"/>
                    <a:lumOff val="15000"/>
                  </a:schemeClr>
                </a:solidFill>
                <a:latin typeface="Arial" panose="020B0604020202020204" pitchFamily="34" charset="0"/>
                <a:ea typeface="微软雅黑" panose="020B0503020204020204" pitchFamily="34" charset="-122"/>
                <a:cs typeface="Arial" panose="020B0604020202020204" pitchFamily="34" charset="0"/>
              </a:rPr>
              <a:t>► 简便</a:t>
            </a:r>
            <a:r>
              <a:rPr lang="zh-CN" altLang="en-US" sz="1000" dirty="0">
                <a:solidFill>
                  <a:schemeClr val="tx1">
                    <a:lumMod val="85000"/>
                    <a:lumOff val="15000"/>
                  </a:schemeClr>
                </a:solidFill>
                <a:latin typeface="Arial" panose="020B0604020202020204" pitchFamily="34" charset="0"/>
                <a:ea typeface="微软雅黑" panose="020B0503020204020204" pitchFamily="34" charset="-122"/>
                <a:cs typeface="Arial" panose="020B0604020202020204" pitchFamily="34" charset="0"/>
              </a:rPr>
              <a:t>、专业、科学、高效、智能</a:t>
            </a:r>
            <a:endParaRPr lang="zh-CN" altLang="zh-CN" sz="10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pic>
        <p:nvPicPr>
          <p:cNvPr id="11" name="图片 10"/>
          <p:cNvPicPr>
            <a:picLocks noChangeAspect="1"/>
          </p:cNvPicPr>
          <p:nvPr/>
        </p:nvPicPr>
        <p:blipFill>
          <a:blip r:embed="rId5" cstate="print">
            <a:extLst>
              <a:ext uri="{28A0092B-C50C-407E-A947-70E740481C1C}">
                <a14:useLocalDpi xmlns:a14="http://schemas.microsoft.com/office/drawing/2010/main" xmlns="" val="0"/>
              </a:ext>
            </a:extLst>
          </a:blip>
          <a:stretch>
            <a:fillRect/>
          </a:stretch>
        </p:blipFill>
        <p:spPr>
          <a:xfrm>
            <a:off x="2514085" y="1835471"/>
            <a:ext cx="2107337" cy="2978909"/>
          </a:xfrm>
          <a:prstGeom prst="rect">
            <a:avLst/>
          </a:prstGeom>
        </p:spPr>
      </p:pic>
      <p:pic>
        <p:nvPicPr>
          <p:cNvPr id="13" name="图片 12"/>
          <p:cNvPicPr>
            <a:picLocks noChangeAspect="1"/>
          </p:cNvPicPr>
          <p:nvPr/>
        </p:nvPicPr>
        <p:blipFill>
          <a:blip r:embed="rId6" cstate="print">
            <a:extLst>
              <a:ext uri="{28A0092B-C50C-407E-A947-70E740481C1C}">
                <a14:useLocalDpi xmlns:a14="http://schemas.microsoft.com/office/drawing/2010/main" xmlns="" val="0"/>
              </a:ext>
            </a:extLst>
          </a:blip>
          <a:stretch>
            <a:fillRect/>
          </a:stretch>
        </p:blipFill>
        <p:spPr>
          <a:xfrm>
            <a:off x="4692130" y="1835471"/>
            <a:ext cx="2109969" cy="2980800"/>
          </a:xfrm>
          <a:prstGeom prst="rect">
            <a:avLst/>
          </a:prstGeom>
        </p:spPr>
      </p:pic>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5095934" y="960856"/>
            <a:ext cx="3179102" cy="1692771"/>
          </a:xfrm>
          <a:prstGeom prst="rect">
            <a:avLst/>
          </a:prstGeom>
        </p:spPr>
        <p:txBody>
          <a:bodyPr wrap="square">
            <a:spAutoFit/>
          </a:bodyPr>
          <a:lstStyle/>
          <a:p>
            <a:pPr>
              <a:lnSpc>
                <a:spcPct val="130000"/>
              </a:lnSpc>
            </a:pPr>
            <a:r>
              <a:rPr lang="zh-CN" altLang="en-US" sz="1000" dirty="0">
                <a:solidFill>
                  <a:schemeClr val="tx1">
                    <a:lumMod val="85000"/>
                    <a:lumOff val="15000"/>
                  </a:schemeClr>
                </a:solidFill>
                <a:latin typeface="微软雅黑" panose="020B0503020204020204" pitchFamily="34" charset="-122"/>
                <a:ea typeface="微软雅黑" panose="020B0503020204020204" pitchFamily="34" charset="-122"/>
              </a:rPr>
              <a:t>固始县健康泉智慧医疗实现了县域内患者就近就医、家门口就可以享受县级专家的医疗服务，通过信息化手段实现了优质医疗资源下沉。</a:t>
            </a:r>
            <a:endParaRPr lang="en-US" altLang="zh-CN" sz="1000" dirty="0">
              <a:solidFill>
                <a:schemeClr val="tx1">
                  <a:lumMod val="85000"/>
                  <a:lumOff val="15000"/>
                </a:schemeClr>
              </a:solidFill>
              <a:latin typeface="微软雅黑" panose="020B0503020204020204" pitchFamily="34" charset="-122"/>
              <a:ea typeface="微软雅黑" panose="020B0503020204020204" pitchFamily="34" charset="-122"/>
            </a:endParaRPr>
          </a:p>
          <a:p>
            <a:pPr>
              <a:lnSpc>
                <a:spcPct val="130000"/>
              </a:lnSpc>
            </a:pPr>
            <a:r>
              <a:rPr lang="zh-CN" altLang="en-US" sz="1000" dirty="0">
                <a:solidFill>
                  <a:schemeClr val="tx1">
                    <a:lumMod val="85000"/>
                    <a:lumOff val="15000"/>
                  </a:schemeClr>
                </a:solidFill>
                <a:latin typeface="微软雅黑" panose="020B0503020204020204" pitchFamily="34" charset="-122"/>
                <a:ea typeface="微软雅黑" panose="020B0503020204020204" pitchFamily="34" charset="-122"/>
              </a:rPr>
              <a:t>截止</a:t>
            </a:r>
            <a:r>
              <a:rPr lang="en-US" altLang="zh-CN" sz="1000" dirty="0">
                <a:solidFill>
                  <a:schemeClr val="tx1">
                    <a:lumMod val="85000"/>
                    <a:lumOff val="15000"/>
                  </a:schemeClr>
                </a:solidFill>
                <a:latin typeface="微软雅黑" panose="020B0503020204020204" pitchFamily="34" charset="-122"/>
                <a:ea typeface="微软雅黑" panose="020B0503020204020204" pitchFamily="34" charset="-122"/>
              </a:rPr>
              <a:t>2021</a:t>
            </a:r>
            <a:r>
              <a:rPr lang="zh-CN" altLang="en-US" sz="1000" dirty="0">
                <a:solidFill>
                  <a:schemeClr val="tx1">
                    <a:lumMod val="85000"/>
                    <a:lumOff val="15000"/>
                  </a:schemeClr>
                </a:solidFill>
                <a:latin typeface="微软雅黑" panose="020B0503020204020204" pitchFamily="34" charset="-122"/>
                <a:ea typeface="微软雅黑" panose="020B0503020204020204" pitchFamily="34" charset="-122"/>
              </a:rPr>
              <a:t>年</a:t>
            </a:r>
            <a:r>
              <a:rPr lang="en-US" altLang="zh-CN" sz="1000" dirty="0">
                <a:solidFill>
                  <a:schemeClr val="tx1">
                    <a:lumMod val="85000"/>
                    <a:lumOff val="15000"/>
                  </a:schemeClr>
                </a:solidFill>
                <a:latin typeface="微软雅黑" panose="020B0503020204020204" pitchFamily="34" charset="-122"/>
                <a:ea typeface="微软雅黑" panose="020B0503020204020204" pitchFamily="34" charset="-122"/>
              </a:rPr>
              <a:t>9</a:t>
            </a:r>
            <a:r>
              <a:rPr lang="zh-CN" altLang="en-US" sz="1000" dirty="0">
                <a:solidFill>
                  <a:schemeClr val="tx1">
                    <a:lumMod val="85000"/>
                    <a:lumOff val="15000"/>
                  </a:schemeClr>
                </a:solidFill>
                <a:latin typeface="微软雅黑" panose="020B0503020204020204" pitchFamily="34" charset="-122"/>
                <a:ea typeface="微软雅黑" panose="020B0503020204020204" pitchFamily="34" charset="-122"/>
              </a:rPr>
              <a:t>月，纳入健康泉智慧医疗系统管理重点人群</a:t>
            </a:r>
            <a:r>
              <a:rPr lang="en-US" altLang="zh-CN" sz="1000" dirty="0">
                <a:solidFill>
                  <a:schemeClr val="tx1">
                    <a:lumMod val="85000"/>
                    <a:lumOff val="15000"/>
                  </a:schemeClr>
                </a:solidFill>
                <a:latin typeface="微软雅黑" panose="020B0503020204020204" pitchFamily="34" charset="-122"/>
                <a:ea typeface="微软雅黑" panose="020B0503020204020204" pitchFamily="34" charset="-122"/>
              </a:rPr>
              <a:t>248133</a:t>
            </a:r>
            <a:r>
              <a:rPr lang="zh-CN" altLang="en-US" sz="1000" dirty="0">
                <a:solidFill>
                  <a:schemeClr val="tx1">
                    <a:lumMod val="85000"/>
                    <a:lumOff val="15000"/>
                  </a:schemeClr>
                </a:solidFill>
                <a:latin typeface="微软雅黑" panose="020B0503020204020204" pitchFamily="34" charset="-122"/>
                <a:ea typeface="微软雅黑" panose="020B0503020204020204" pitchFamily="34" charset="-122"/>
              </a:rPr>
              <a:t>人，共监测心电图</a:t>
            </a:r>
            <a:r>
              <a:rPr lang="en-US" altLang="zh-CN" sz="1000" dirty="0">
                <a:solidFill>
                  <a:schemeClr val="tx1">
                    <a:lumMod val="85000"/>
                    <a:lumOff val="15000"/>
                  </a:schemeClr>
                </a:solidFill>
                <a:latin typeface="微软雅黑" panose="020B0503020204020204" pitchFamily="34" charset="-122"/>
                <a:ea typeface="微软雅黑" panose="020B0503020204020204" pitchFamily="34" charset="-122"/>
              </a:rPr>
              <a:t>46926</a:t>
            </a:r>
            <a:r>
              <a:rPr lang="zh-CN" altLang="en-US" sz="1000" dirty="0">
                <a:solidFill>
                  <a:schemeClr val="tx1">
                    <a:lumMod val="85000"/>
                    <a:lumOff val="15000"/>
                  </a:schemeClr>
                </a:solidFill>
                <a:latin typeface="微软雅黑" panose="020B0503020204020204" pitchFamily="34" charset="-122"/>
                <a:ea typeface="微软雅黑" panose="020B0503020204020204" pitchFamily="34" charset="-122"/>
              </a:rPr>
              <a:t>条，血压测量</a:t>
            </a:r>
            <a:r>
              <a:rPr lang="en-US" altLang="zh-CN" sz="1000" dirty="0">
                <a:solidFill>
                  <a:schemeClr val="tx1">
                    <a:lumMod val="85000"/>
                    <a:lumOff val="15000"/>
                  </a:schemeClr>
                </a:solidFill>
                <a:latin typeface="微软雅黑" panose="020B0503020204020204" pitchFamily="34" charset="-122"/>
                <a:ea typeface="微软雅黑" panose="020B0503020204020204" pitchFamily="34" charset="-122"/>
              </a:rPr>
              <a:t>80205</a:t>
            </a:r>
            <a:r>
              <a:rPr lang="zh-CN" altLang="en-US" sz="1000" dirty="0">
                <a:solidFill>
                  <a:schemeClr val="tx1">
                    <a:lumMod val="85000"/>
                    <a:lumOff val="15000"/>
                  </a:schemeClr>
                </a:solidFill>
                <a:latin typeface="微软雅黑" panose="020B0503020204020204" pitchFamily="34" charset="-122"/>
                <a:ea typeface="微软雅黑" panose="020B0503020204020204" pitchFamily="34" charset="-122"/>
              </a:rPr>
              <a:t>条，慢性病随访</a:t>
            </a:r>
            <a:r>
              <a:rPr lang="en-US" altLang="zh-CN" sz="1000" dirty="0">
                <a:solidFill>
                  <a:schemeClr val="tx1">
                    <a:lumMod val="85000"/>
                    <a:lumOff val="15000"/>
                  </a:schemeClr>
                </a:solidFill>
                <a:latin typeface="微软雅黑" panose="020B0503020204020204" pitchFamily="34" charset="-122"/>
                <a:ea typeface="微软雅黑" panose="020B0503020204020204" pitchFamily="34" charset="-122"/>
              </a:rPr>
              <a:t>9926</a:t>
            </a:r>
            <a:r>
              <a:rPr lang="zh-CN" altLang="en-US" sz="1000" dirty="0">
                <a:solidFill>
                  <a:schemeClr val="tx1">
                    <a:lumMod val="85000"/>
                    <a:lumOff val="15000"/>
                  </a:schemeClr>
                </a:solidFill>
                <a:latin typeface="微软雅黑" panose="020B0503020204020204" pitchFamily="34" charset="-122"/>
                <a:ea typeface="微软雅黑" panose="020B0503020204020204" pitchFamily="34" charset="-122"/>
              </a:rPr>
              <a:t>次。县四家远程会诊中心共接收远程会诊分中心提供疑难会诊</a:t>
            </a:r>
            <a:r>
              <a:rPr lang="en-US" altLang="zh-CN" sz="1000" dirty="0">
                <a:solidFill>
                  <a:schemeClr val="tx1">
                    <a:lumMod val="85000"/>
                    <a:lumOff val="15000"/>
                  </a:schemeClr>
                </a:solidFill>
                <a:latin typeface="微软雅黑" panose="020B0503020204020204" pitchFamily="34" charset="-122"/>
                <a:ea typeface="微软雅黑" panose="020B0503020204020204" pitchFamily="34" charset="-122"/>
              </a:rPr>
              <a:t>746</a:t>
            </a:r>
            <a:r>
              <a:rPr lang="zh-CN" altLang="en-US" sz="1000" dirty="0">
                <a:solidFill>
                  <a:schemeClr val="tx1">
                    <a:lumMod val="85000"/>
                    <a:lumOff val="15000"/>
                  </a:schemeClr>
                </a:solidFill>
                <a:latin typeface="微软雅黑" panose="020B0503020204020204" pitchFamily="34" charset="-122"/>
                <a:ea typeface="微软雅黑" panose="020B0503020204020204" pitchFamily="34" charset="-122"/>
              </a:rPr>
              <a:t>例，远程会诊</a:t>
            </a:r>
            <a:r>
              <a:rPr lang="en-US" altLang="zh-CN" sz="1000" dirty="0">
                <a:solidFill>
                  <a:schemeClr val="tx1">
                    <a:lumMod val="85000"/>
                    <a:lumOff val="15000"/>
                  </a:schemeClr>
                </a:solidFill>
                <a:latin typeface="微软雅黑" panose="020B0503020204020204" pitchFamily="34" charset="-122"/>
                <a:ea typeface="微软雅黑" panose="020B0503020204020204" pitchFamily="34" charset="-122"/>
              </a:rPr>
              <a:t>3398</a:t>
            </a:r>
            <a:r>
              <a:rPr lang="zh-CN" altLang="en-US" sz="1000" dirty="0">
                <a:solidFill>
                  <a:schemeClr val="tx1">
                    <a:lumMod val="85000"/>
                    <a:lumOff val="15000"/>
                  </a:schemeClr>
                </a:solidFill>
                <a:latin typeface="微软雅黑" panose="020B0503020204020204" pitchFamily="34" charset="-122"/>
                <a:ea typeface="微软雅黑" panose="020B0503020204020204" pitchFamily="34" charset="-122"/>
              </a:rPr>
              <a:t>例，确认各类疾病</a:t>
            </a:r>
            <a:r>
              <a:rPr lang="en-US" altLang="zh-CN" sz="1000" dirty="0">
                <a:solidFill>
                  <a:schemeClr val="tx1">
                    <a:lumMod val="85000"/>
                    <a:lumOff val="15000"/>
                  </a:schemeClr>
                </a:solidFill>
                <a:latin typeface="微软雅黑" panose="020B0503020204020204" pitchFamily="34" charset="-122"/>
                <a:ea typeface="微软雅黑" panose="020B0503020204020204" pitchFamily="34" charset="-122"/>
              </a:rPr>
              <a:t>2670</a:t>
            </a:r>
            <a:r>
              <a:rPr lang="zh-CN" altLang="en-US" sz="1000" dirty="0">
                <a:solidFill>
                  <a:schemeClr val="tx1">
                    <a:lumMod val="85000"/>
                    <a:lumOff val="15000"/>
                  </a:schemeClr>
                </a:solidFill>
                <a:latin typeface="微软雅黑" panose="020B0503020204020204" pitchFamily="34" charset="-122"/>
                <a:ea typeface="微软雅黑" panose="020B0503020204020204" pitchFamily="34" charset="-122"/>
              </a:rPr>
              <a:t>例。</a:t>
            </a:r>
          </a:p>
        </p:txBody>
      </p:sp>
      <p:pic>
        <p:nvPicPr>
          <p:cNvPr id="7" name="图片 6"/>
          <p:cNvPicPr>
            <a:picLocks noChangeAspect="1"/>
          </p:cNvPicPr>
          <p:nvPr/>
        </p:nvPicPr>
        <p:blipFill>
          <a:blip r:embed="rId3" cstate="print">
            <a:extLst>
              <a:ext uri="{28A0092B-C50C-407E-A947-70E740481C1C}">
                <a14:useLocalDpi xmlns:a14="http://schemas.microsoft.com/office/drawing/2010/main" xmlns="" val="0"/>
              </a:ext>
            </a:extLst>
          </a:blip>
          <a:stretch>
            <a:fillRect/>
          </a:stretch>
        </p:blipFill>
        <p:spPr>
          <a:xfrm>
            <a:off x="467544" y="1089409"/>
            <a:ext cx="4386649" cy="3312368"/>
          </a:xfrm>
          <a:prstGeom prst="rect">
            <a:avLst/>
          </a:prstGeom>
        </p:spPr>
      </p:pic>
      <p:pic>
        <p:nvPicPr>
          <p:cNvPr id="9" name="图片 8"/>
          <p:cNvPicPr>
            <a:picLocks noChangeAspect="1"/>
          </p:cNvPicPr>
          <p:nvPr/>
        </p:nvPicPr>
        <p:blipFill rotWithShape="1">
          <a:blip r:embed="rId4" cstate="print">
            <a:extLst>
              <a:ext uri="{BEBA8EAE-BF5A-486C-A8C5-ECC9F3942E4B}">
                <a14:imgProps xmlns:a14="http://schemas.microsoft.com/office/drawing/2010/main" xmlns="">
                  <a14:imgLayer r:embed="rId5">
                    <a14:imgEffect>
                      <a14:brightnessContrast bright="20000" contrast="-20000"/>
                    </a14:imgEffect>
                  </a14:imgLayer>
                </a14:imgProps>
              </a:ext>
              <a:ext uri="{28A0092B-C50C-407E-A947-70E740481C1C}">
                <a14:useLocalDpi xmlns:a14="http://schemas.microsoft.com/office/drawing/2010/main" xmlns="" val="0"/>
              </a:ext>
            </a:extLst>
          </a:blip>
          <a:srcRect t="37400" b="24127"/>
          <a:stretch>
            <a:fillRect/>
          </a:stretch>
        </p:blipFill>
        <p:spPr>
          <a:xfrm>
            <a:off x="5436159" y="2730437"/>
            <a:ext cx="1352089" cy="906277"/>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3" name="文本占位符 2"/>
          <p:cNvSpPr>
            <a:spLocks noGrp="1"/>
          </p:cNvSpPr>
          <p:nvPr>
            <p:ph type="body" sz="quarter" idx="13"/>
          </p:nvPr>
        </p:nvSpPr>
        <p:spPr>
          <a:xfrm>
            <a:off x="467544" y="123478"/>
            <a:ext cx="6480720" cy="720080"/>
          </a:xfrm>
        </p:spPr>
        <p:txBody>
          <a:bodyPr/>
          <a:lstStyle/>
          <a:p>
            <a:r>
              <a:rPr lang="zh-CN" altLang="en-US" dirty="0">
                <a:solidFill>
                  <a:srgbClr val="2179B1"/>
                </a:solidFill>
              </a:rPr>
              <a:t>典型案例</a:t>
            </a:r>
            <a:r>
              <a:rPr lang="en-US" altLang="zh-CN" dirty="0">
                <a:solidFill>
                  <a:srgbClr val="2179B1"/>
                </a:solidFill>
              </a:rPr>
              <a:t>——</a:t>
            </a:r>
            <a:r>
              <a:rPr lang="zh-CN" altLang="en-US" dirty="0">
                <a:solidFill>
                  <a:srgbClr val="2179B1"/>
                </a:solidFill>
              </a:rPr>
              <a:t>固始区域心电一体化平台</a:t>
            </a:r>
          </a:p>
        </p:txBody>
      </p:sp>
      <p:pic>
        <p:nvPicPr>
          <p:cNvPr id="8" name="图片 7"/>
          <p:cNvPicPr>
            <a:picLocks noChangeAspect="1"/>
          </p:cNvPicPr>
          <p:nvPr/>
        </p:nvPicPr>
        <p:blipFill>
          <a:blip r:embed="rId6" cstate="print">
            <a:extLst>
              <a:ext uri="{BEBA8EAE-BF5A-486C-A8C5-ECC9F3942E4B}">
                <a14:imgProps xmlns:a14="http://schemas.microsoft.com/office/drawing/2010/main" xmlns="">
                  <a14:imgLayer r:embed="rId7">
                    <a14:imgEffect>
                      <a14:brightnessContrast bright="20000" contrast="-20000"/>
                    </a14:imgEffect>
                  </a14:imgLayer>
                </a14:imgProps>
              </a:ext>
            </a:extLst>
          </a:blip>
          <a:stretch>
            <a:fillRect/>
          </a:stretch>
        </p:blipFill>
        <p:spPr>
          <a:xfrm>
            <a:off x="6876256" y="2745593"/>
            <a:ext cx="1108288" cy="1781848"/>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10" name="图片 9"/>
          <p:cNvPicPr>
            <a:picLocks noChangeAspect="1"/>
          </p:cNvPicPr>
          <p:nvPr/>
        </p:nvPicPr>
        <p:blipFill>
          <a:blip r:embed="rId8" cstate="print"/>
          <a:stretch>
            <a:fillRect/>
          </a:stretch>
        </p:blipFill>
        <p:spPr>
          <a:xfrm>
            <a:off x="5436159" y="3693777"/>
            <a:ext cx="1344712" cy="833664"/>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占位符 9"/>
          <p:cNvSpPr>
            <a:spLocks noGrp="1"/>
          </p:cNvSpPr>
          <p:nvPr>
            <p:ph type="body" sz="quarter" idx="13"/>
          </p:nvPr>
        </p:nvSpPr>
        <p:spPr>
          <a:xfrm>
            <a:off x="467544" y="123478"/>
            <a:ext cx="6480720" cy="720080"/>
          </a:xfrm>
        </p:spPr>
        <p:txBody>
          <a:bodyPr/>
          <a:lstStyle/>
          <a:p>
            <a:r>
              <a:rPr lang="zh-CN" altLang="en-US" dirty="0">
                <a:solidFill>
                  <a:srgbClr val="2179B1"/>
                </a:solidFill>
              </a:rPr>
              <a:t>典型案例</a:t>
            </a:r>
            <a:r>
              <a:rPr lang="en-US" altLang="zh-CN" dirty="0">
                <a:solidFill>
                  <a:srgbClr val="2179B1"/>
                </a:solidFill>
              </a:rPr>
              <a:t>——</a:t>
            </a:r>
            <a:r>
              <a:rPr lang="zh-CN" altLang="en-US" sz="1800" dirty="0">
                <a:solidFill>
                  <a:srgbClr val="2179B1"/>
                </a:solidFill>
              </a:rPr>
              <a:t>兰州</a:t>
            </a:r>
            <a:r>
              <a:rPr lang="zh-CN" altLang="en-US" dirty="0">
                <a:solidFill>
                  <a:srgbClr val="2179B1"/>
                </a:solidFill>
              </a:rPr>
              <a:t>区域心电项目</a:t>
            </a:r>
          </a:p>
        </p:txBody>
      </p:sp>
      <p:sp>
        <p:nvSpPr>
          <p:cNvPr id="3" name="文本框 2"/>
          <p:cNvSpPr txBox="1"/>
          <p:nvPr/>
        </p:nvSpPr>
        <p:spPr>
          <a:xfrm>
            <a:off x="467544" y="744183"/>
            <a:ext cx="8556229" cy="819455"/>
          </a:xfrm>
          <a:prstGeom prst="rect">
            <a:avLst/>
          </a:prstGeom>
          <a:noFill/>
        </p:spPr>
        <p:txBody>
          <a:bodyPr wrap="square" rtlCol="0">
            <a:spAutoFit/>
          </a:bodyPr>
          <a:lstStyle/>
          <a:p>
            <a:pPr>
              <a:lnSpc>
                <a:spcPct val="150000"/>
              </a:lnSpc>
            </a:pPr>
            <a:r>
              <a:rPr lang="zh-CN" altLang="en-US" sz="1050" kern="100" dirty="0">
                <a:solidFill>
                  <a:schemeClr val="tx1">
                    <a:lumMod val="85000"/>
                    <a:lumOff val="15000"/>
                  </a:schemeClr>
                </a:solidFill>
                <a:latin typeface="微软雅黑" panose="020B0503020204020204" pitchFamily="34" charset="-122"/>
                <a:ea typeface="微软雅黑" panose="020B0503020204020204" pitchFamily="34" charset="-122"/>
                <a:cs typeface="Times New Roman" panose="02020603050405020304" pitchFamily="18" charset="0"/>
              </a:rPr>
              <a:t>全国第五个、西北地区第一个国家级新区</a:t>
            </a:r>
            <a:r>
              <a:rPr lang="en-US" altLang="zh-CN" sz="1050" kern="100" dirty="0">
                <a:solidFill>
                  <a:schemeClr val="tx1">
                    <a:lumMod val="85000"/>
                    <a:lumOff val="15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050" kern="100" dirty="0">
                <a:solidFill>
                  <a:schemeClr val="tx1">
                    <a:lumMod val="85000"/>
                    <a:lumOff val="15000"/>
                  </a:schemeClr>
                </a:solidFill>
                <a:latin typeface="微软雅黑" panose="020B0503020204020204" pitchFamily="34" charset="-122"/>
                <a:ea typeface="微软雅黑" panose="020B0503020204020204" pitchFamily="34" charset="-122"/>
                <a:cs typeface="Times New Roman" panose="02020603050405020304" pitchFamily="18" charset="0"/>
              </a:rPr>
              <a:t>兰州新区</a:t>
            </a:r>
            <a:r>
              <a:rPr lang="zh-CN" altLang="en-US" sz="1050" kern="100" dirty="0">
                <a:solidFill>
                  <a:schemeClr val="tx1">
                    <a:lumMod val="85000"/>
                    <a:lumOff val="15000"/>
                  </a:schemeClr>
                </a:solidFill>
                <a:latin typeface="微软雅黑" panose="020B0503020204020204" pitchFamily="34" charset="-122"/>
                <a:ea typeface="微软雅黑" panose="020B0503020204020204" pitchFamily="34" charset="-122"/>
                <a:cs typeface="Times New Roman" panose="02020603050405020304" pitchFamily="18" charset="0"/>
              </a:rPr>
              <a:t>的区域心电项目</a:t>
            </a:r>
            <a:r>
              <a:rPr lang="zh-CN" altLang="zh-CN" sz="1050" kern="100" dirty="0">
                <a:solidFill>
                  <a:schemeClr val="tx1">
                    <a:lumMod val="85000"/>
                    <a:lumOff val="15000"/>
                  </a:schemeClr>
                </a:solidFill>
                <a:latin typeface="微软雅黑" panose="020B0503020204020204" pitchFamily="34" charset="-122"/>
                <a:ea typeface="微软雅黑" panose="020B0503020204020204" pitchFamily="34" charset="-122"/>
                <a:cs typeface="Times New Roman" panose="02020603050405020304" pitchFamily="18" charset="0"/>
              </a:rPr>
              <a:t>覆盖了卫生局管辖范围的所有医疗卫生机构，网络以医疗专用网络为基础，以卫生信息中心为中心节点，各医疗卫生机构为分支的星型结构。</a:t>
            </a:r>
            <a:r>
              <a:rPr lang="zh-CN" altLang="en-US" sz="1050" kern="100" dirty="0">
                <a:solidFill>
                  <a:schemeClr val="tx1">
                    <a:lumMod val="85000"/>
                    <a:lumOff val="15000"/>
                  </a:schemeClr>
                </a:solidFill>
                <a:latin typeface="微软雅黑" panose="020B0503020204020204" pitchFamily="34" charset="-122"/>
                <a:ea typeface="微软雅黑" panose="020B0503020204020204" pitchFamily="34" charset="-122"/>
                <a:cs typeface="Times New Roman" panose="02020603050405020304" pitchFamily="18" charset="0"/>
              </a:rPr>
              <a:t>以兰州新区第一人民医院为上级医院，秦川卫生院、中川镇卫生院等卫生服务中心辐射兰州新区全域，实现整个兰州新区心电网络系统的区域化建设，同时完成对接自有心电设备及理邦等第三方心电设备</a:t>
            </a:r>
            <a:r>
              <a:rPr lang="zh-CN" altLang="en-US" sz="1050" kern="100" dirty="0" smtClean="0">
                <a:solidFill>
                  <a:schemeClr val="tx1">
                    <a:lumMod val="85000"/>
                    <a:lumOff val="15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en-US" altLang="zh-CN" sz="1050" kern="100" dirty="0" smtClean="0">
              <a:solidFill>
                <a:schemeClr val="tx1">
                  <a:lumMod val="85000"/>
                  <a:lumOff val="15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5" name="组合 4"/>
          <p:cNvGrpSpPr/>
          <p:nvPr/>
        </p:nvGrpSpPr>
        <p:grpSpPr>
          <a:xfrm>
            <a:off x="142170" y="1635646"/>
            <a:ext cx="8787062" cy="3280919"/>
            <a:chOff x="-202124" y="1610178"/>
            <a:chExt cx="9476501" cy="3538342"/>
          </a:xfrm>
        </p:grpSpPr>
        <p:sp>
          <p:nvSpPr>
            <p:cNvPr id="2" name="圆角矩形 1"/>
            <p:cNvSpPr/>
            <p:nvPr/>
          </p:nvSpPr>
          <p:spPr>
            <a:xfrm>
              <a:off x="4428181" y="2877775"/>
              <a:ext cx="2430899" cy="1711168"/>
            </a:xfrm>
            <a:prstGeom prst="roundRect">
              <a:avLst>
                <a:gd name="adj" fmla="val 4457"/>
              </a:avLst>
            </a:prstGeom>
            <a:noFill/>
            <a:ln w="9525">
              <a:solidFill>
                <a:schemeClr val="accent2"/>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微软雅黑" panose="020B0503020204020204" pitchFamily="34" charset="-122"/>
                <a:ea typeface="微软雅黑" panose="020B0503020204020204" pitchFamily="34" charset="-122"/>
              </a:endParaRPr>
            </a:p>
          </p:txBody>
        </p:sp>
        <p:sp>
          <p:nvSpPr>
            <p:cNvPr id="21" name="右箭头标注 4"/>
            <p:cNvSpPr/>
            <p:nvPr/>
          </p:nvSpPr>
          <p:spPr>
            <a:xfrm>
              <a:off x="8442426" y="1610653"/>
              <a:ext cx="228555" cy="3396353"/>
            </a:xfrm>
            <a:prstGeom prst="rightArrowCallout">
              <a:avLst/>
            </a:prstGeom>
          </p:spPr>
          <p:style>
            <a:lnRef idx="1">
              <a:schemeClr val="accent4"/>
            </a:lnRef>
            <a:fillRef idx="2">
              <a:schemeClr val="accent4"/>
            </a:fillRef>
            <a:effectRef idx="1">
              <a:schemeClr val="accent4"/>
            </a:effectRef>
            <a:fontRef idx="minor">
              <a:schemeClr val="dk1"/>
            </a:fontRef>
          </p:style>
          <p:txBody>
            <a:bodyPr anchor="ctr"/>
            <a:lstStyle/>
            <a:p>
              <a:pPr algn="ctr"/>
              <a:endParaRPr lang="zh-CN" altLang="en-US" sz="1050" noProof="1">
                <a:latin typeface="微软雅黑" panose="020B0503020204020204" pitchFamily="34" charset="-122"/>
                <a:ea typeface="微软雅黑" panose="020B0503020204020204" pitchFamily="34" charset="-122"/>
              </a:endParaRPr>
            </a:p>
          </p:txBody>
        </p:sp>
        <p:sp>
          <p:nvSpPr>
            <p:cNvPr id="23" name="文本框 22"/>
            <p:cNvSpPr txBox="1"/>
            <p:nvPr/>
          </p:nvSpPr>
          <p:spPr>
            <a:xfrm>
              <a:off x="1454041" y="4634948"/>
              <a:ext cx="723275" cy="219071"/>
            </a:xfrm>
            <a:prstGeom prst="rect">
              <a:avLst/>
            </a:prstGeom>
            <a:solidFill>
              <a:srgbClr val="0587CE"/>
            </a:solidFill>
          </p:spPr>
          <p:txBody>
            <a:bodyPr wrap="square" rtlCol="0">
              <a:spAutoFit/>
            </a:bodyPr>
            <a:lstStyle>
              <a:defPPr>
                <a:defRPr lang="zh-CN"/>
              </a:defPPr>
              <a:lvl1pPr algn="ctr">
                <a:lnSpc>
                  <a:spcPct val="90000"/>
                </a:lnSpc>
                <a:defRPr sz="1050" b="1">
                  <a:solidFill>
                    <a:srgbClr val="FFFFFF"/>
                  </a:solidFill>
                  <a:latin typeface="微软雅黑" panose="020B0503020204020204" pitchFamily="34" charset="-122"/>
                  <a:ea typeface="微软雅黑" panose="020B0503020204020204" pitchFamily="34" charset="-122"/>
                </a:defRPr>
              </a:lvl1pPr>
            </a:lstStyle>
            <a:p>
              <a:r>
                <a:rPr lang="zh-CN" altLang="en-US" sz="800" dirty="0">
                  <a:latin typeface="微软雅黑" panose="020B0503020204020204" pitchFamily="34" charset="-122"/>
                  <a:ea typeface="微软雅黑" panose="020B0503020204020204" pitchFamily="34" charset="-122"/>
                </a:rPr>
                <a:t>数据输入</a:t>
              </a:r>
            </a:p>
          </p:txBody>
        </p:sp>
        <p:sp>
          <p:nvSpPr>
            <p:cNvPr id="24" name="文本框 23"/>
            <p:cNvSpPr txBox="1"/>
            <p:nvPr/>
          </p:nvSpPr>
          <p:spPr>
            <a:xfrm>
              <a:off x="3174647" y="4634948"/>
              <a:ext cx="1127232" cy="219071"/>
            </a:xfrm>
            <a:prstGeom prst="rect">
              <a:avLst/>
            </a:prstGeom>
            <a:solidFill>
              <a:srgbClr val="0587CE"/>
            </a:solidFill>
          </p:spPr>
          <p:txBody>
            <a:bodyPr wrap="square" rtlCol="0">
              <a:spAutoFit/>
            </a:bodyPr>
            <a:lstStyle>
              <a:defPPr>
                <a:defRPr lang="zh-CN"/>
              </a:defPPr>
              <a:lvl1pPr algn="ctr">
                <a:lnSpc>
                  <a:spcPct val="90000"/>
                </a:lnSpc>
                <a:defRPr sz="1050" b="1">
                  <a:solidFill>
                    <a:srgbClr val="FFFFFF"/>
                  </a:solidFill>
                  <a:latin typeface="微软雅黑" panose="020B0503020204020204" pitchFamily="34" charset="-122"/>
                  <a:ea typeface="微软雅黑" panose="020B0503020204020204" pitchFamily="34" charset="-122"/>
                </a:defRPr>
              </a:lvl1pPr>
            </a:lstStyle>
            <a:p>
              <a:r>
                <a:rPr lang="zh-CN" altLang="en-US" sz="800" dirty="0">
                  <a:latin typeface="微软雅黑" panose="020B0503020204020204" pitchFamily="34" charset="-122"/>
                  <a:ea typeface="微软雅黑" panose="020B0503020204020204" pitchFamily="34" charset="-122"/>
                </a:rPr>
                <a:t>数据处理与分析</a:t>
              </a:r>
            </a:p>
          </p:txBody>
        </p:sp>
        <p:sp>
          <p:nvSpPr>
            <p:cNvPr id="25" name="文本框 24"/>
            <p:cNvSpPr txBox="1"/>
            <p:nvPr/>
          </p:nvSpPr>
          <p:spPr>
            <a:xfrm>
              <a:off x="7415974" y="4634948"/>
              <a:ext cx="723275" cy="219071"/>
            </a:xfrm>
            <a:prstGeom prst="rect">
              <a:avLst/>
            </a:prstGeom>
            <a:solidFill>
              <a:srgbClr val="0587CE"/>
            </a:solidFill>
          </p:spPr>
          <p:txBody>
            <a:bodyPr wrap="square" rtlCol="0">
              <a:spAutoFit/>
            </a:bodyPr>
            <a:lstStyle>
              <a:defPPr>
                <a:defRPr lang="zh-CN"/>
              </a:defPPr>
              <a:lvl1pPr algn="ctr">
                <a:lnSpc>
                  <a:spcPct val="90000"/>
                </a:lnSpc>
                <a:defRPr sz="1050" b="1">
                  <a:solidFill>
                    <a:srgbClr val="FFFFFF"/>
                  </a:solidFill>
                  <a:latin typeface="微软雅黑" panose="020B0503020204020204" pitchFamily="34" charset="-122"/>
                  <a:ea typeface="微软雅黑" panose="020B0503020204020204" pitchFamily="34" charset="-122"/>
                </a:defRPr>
              </a:lvl1pPr>
            </a:lstStyle>
            <a:p>
              <a:r>
                <a:rPr lang="zh-CN" altLang="en-US" sz="800" dirty="0">
                  <a:latin typeface="微软雅黑" panose="020B0503020204020204" pitchFamily="34" charset="-122"/>
                  <a:ea typeface="微软雅黑" panose="020B0503020204020204" pitchFamily="34" charset="-122"/>
                </a:rPr>
                <a:t>方案输出</a:t>
              </a:r>
            </a:p>
          </p:txBody>
        </p:sp>
        <p:sp>
          <p:nvSpPr>
            <p:cNvPr id="28" name="文本框 27"/>
            <p:cNvSpPr txBox="1"/>
            <p:nvPr/>
          </p:nvSpPr>
          <p:spPr>
            <a:xfrm>
              <a:off x="7128940" y="4874682"/>
              <a:ext cx="1506109" cy="273838"/>
            </a:xfrm>
            <a:prstGeom prst="rect">
              <a:avLst/>
            </a:prstGeom>
            <a:noFill/>
          </p:spPr>
          <p:txBody>
            <a:bodyPr wrap="none" rtlCol="0">
              <a:spAutoFit/>
            </a:bodyPr>
            <a:lstStyle/>
            <a:p>
              <a:r>
                <a:rPr kumimoji="1" lang="zh-CN" altLang="en-US" sz="1050" dirty="0">
                  <a:latin typeface="微软雅黑" panose="020B0503020204020204" pitchFamily="34" charset="-122"/>
                  <a:ea typeface="微软雅黑" panose="020B0503020204020204" pitchFamily="34" charset="-122"/>
                </a:rPr>
                <a:t>全人群健康指导方案</a:t>
              </a:r>
              <a:endParaRPr kumimoji="1" lang="en-US" altLang="zh-CN" sz="1050" dirty="0">
                <a:latin typeface="微软雅黑" panose="020B0503020204020204" pitchFamily="34" charset="-122"/>
                <a:ea typeface="微软雅黑" panose="020B0503020204020204" pitchFamily="34" charset="-122"/>
              </a:endParaRPr>
            </a:p>
          </p:txBody>
        </p:sp>
        <p:sp>
          <p:nvSpPr>
            <p:cNvPr id="30" name="文本框 29"/>
            <p:cNvSpPr txBox="1"/>
            <p:nvPr/>
          </p:nvSpPr>
          <p:spPr>
            <a:xfrm>
              <a:off x="-202124" y="3252937"/>
              <a:ext cx="807737" cy="273838"/>
            </a:xfrm>
            <a:prstGeom prst="rect">
              <a:avLst/>
            </a:prstGeom>
            <a:noFill/>
          </p:spPr>
          <p:txBody>
            <a:bodyPr wrap="square">
              <a:spAutoFit/>
              <a:scene3d>
                <a:camera prst="orthographicFront"/>
                <a:lightRig rig="threePt" dir="t"/>
              </a:scene3d>
            </a:bodyPr>
            <a:lstStyle/>
            <a:p>
              <a:pPr algn="ctr"/>
              <a:r>
                <a:rPr lang="zh-CN" altLang="en-US" sz="1050" noProof="1">
                  <a:ln w="22225">
                    <a:solidFill>
                      <a:schemeClr val="accent2"/>
                    </a:solidFill>
                    <a:prstDash val="solid"/>
                  </a:ln>
                  <a:solidFill>
                    <a:schemeClr val="accent2">
                      <a:lumMod val="40000"/>
                      <a:lumOff val="60000"/>
                    </a:schemeClr>
                  </a:solidFill>
                  <a:latin typeface="微软雅黑" panose="020B0503020204020204" pitchFamily="34" charset="-122"/>
                  <a:ea typeface="微软雅黑" panose="020B0503020204020204" pitchFamily="34" charset="-122"/>
                </a:rPr>
                <a:t>用户</a:t>
              </a:r>
            </a:p>
          </p:txBody>
        </p:sp>
        <p:cxnSp>
          <p:nvCxnSpPr>
            <p:cNvPr id="39" name="连接符: 肘形 23"/>
            <p:cNvCxnSpPr/>
            <p:nvPr/>
          </p:nvCxnSpPr>
          <p:spPr>
            <a:xfrm>
              <a:off x="514711" y="3006567"/>
              <a:ext cx="881539" cy="1133951"/>
            </a:xfrm>
            <a:prstGeom prst="bentConnector3">
              <a:avLst>
                <a:gd name="adj1" fmla="val 50027"/>
              </a:avLst>
            </a:prstGeom>
            <a:ln cap="rnd">
              <a:solidFill>
                <a:srgbClr val="0072FF"/>
              </a:solidFill>
              <a:round/>
              <a:tailEnd type="triangle"/>
            </a:ln>
          </p:spPr>
          <p:style>
            <a:lnRef idx="2">
              <a:schemeClr val="accent1"/>
            </a:lnRef>
            <a:fillRef idx="0">
              <a:schemeClr val="accent1"/>
            </a:fillRef>
            <a:effectRef idx="1">
              <a:schemeClr val="accent1"/>
            </a:effectRef>
            <a:fontRef idx="minor">
              <a:schemeClr val="tx1"/>
            </a:fontRef>
          </p:style>
        </p:cxnSp>
        <p:cxnSp>
          <p:nvCxnSpPr>
            <p:cNvPr id="53" name="连接符: 肘形 31"/>
            <p:cNvCxnSpPr/>
            <p:nvPr/>
          </p:nvCxnSpPr>
          <p:spPr>
            <a:xfrm flipV="1">
              <a:off x="514711" y="1963579"/>
              <a:ext cx="872490" cy="1042988"/>
            </a:xfrm>
            <a:prstGeom prst="bentConnector3">
              <a:avLst>
                <a:gd name="adj1" fmla="val 50000"/>
              </a:avLst>
            </a:prstGeom>
            <a:ln cap="rnd">
              <a:solidFill>
                <a:srgbClr val="0072FF"/>
              </a:solidFill>
              <a:tailEnd type="triangle"/>
            </a:ln>
          </p:spPr>
          <p:style>
            <a:lnRef idx="2">
              <a:schemeClr val="accent1"/>
            </a:lnRef>
            <a:fillRef idx="0">
              <a:schemeClr val="accent1"/>
            </a:fillRef>
            <a:effectRef idx="1">
              <a:schemeClr val="accent1"/>
            </a:effectRef>
            <a:fontRef idx="minor">
              <a:schemeClr val="tx1"/>
            </a:fontRef>
          </p:style>
        </p:cxnSp>
        <p:cxnSp>
          <p:nvCxnSpPr>
            <p:cNvPr id="56" name="直接连接符 55"/>
            <p:cNvCxnSpPr/>
            <p:nvPr/>
          </p:nvCxnSpPr>
          <p:spPr>
            <a:xfrm>
              <a:off x="7000811" y="1637638"/>
              <a:ext cx="0" cy="3046378"/>
            </a:xfrm>
            <a:prstGeom prst="line">
              <a:avLst/>
            </a:prstGeom>
            <a:ln>
              <a:solidFill>
                <a:srgbClr val="0072FF"/>
              </a:solidFill>
              <a:prstDash val="sysDash"/>
            </a:ln>
          </p:spPr>
          <p:style>
            <a:lnRef idx="2">
              <a:schemeClr val="accent1"/>
            </a:lnRef>
            <a:fillRef idx="0">
              <a:schemeClr val="accent1"/>
            </a:fillRef>
            <a:effectRef idx="1">
              <a:schemeClr val="accent1"/>
            </a:effectRef>
            <a:fontRef idx="minor">
              <a:schemeClr val="tx1"/>
            </a:fontRef>
          </p:style>
        </p:cxnSp>
        <p:cxnSp>
          <p:nvCxnSpPr>
            <p:cNvPr id="57" name="直接连接符 56"/>
            <p:cNvCxnSpPr/>
            <p:nvPr/>
          </p:nvCxnSpPr>
          <p:spPr>
            <a:xfrm>
              <a:off x="2514963" y="1664043"/>
              <a:ext cx="0" cy="3046378"/>
            </a:xfrm>
            <a:prstGeom prst="line">
              <a:avLst/>
            </a:prstGeom>
            <a:ln>
              <a:solidFill>
                <a:srgbClr val="0072FF"/>
              </a:solidFill>
              <a:prstDash val="sysDash"/>
            </a:ln>
          </p:spPr>
          <p:style>
            <a:lnRef idx="2">
              <a:schemeClr val="accent1"/>
            </a:lnRef>
            <a:fillRef idx="0">
              <a:schemeClr val="accent1"/>
            </a:fillRef>
            <a:effectRef idx="1">
              <a:schemeClr val="accent1"/>
            </a:effectRef>
            <a:fontRef idx="minor">
              <a:schemeClr val="tx1"/>
            </a:fontRef>
          </p:style>
        </p:cxnSp>
        <p:pic>
          <p:nvPicPr>
            <p:cNvPr id="60" name="图片 59"/>
            <p:cNvPicPr>
              <a:picLocks noChangeAspect="1"/>
            </p:cNvPicPr>
            <p:nvPr/>
          </p:nvPicPr>
          <p:blipFill>
            <a:blip r:embed="rId3" cstate="print"/>
            <a:stretch>
              <a:fillRect/>
            </a:stretch>
          </p:blipFill>
          <p:spPr>
            <a:xfrm>
              <a:off x="3494" y="2803043"/>
              <a:ext cx="438122" cy="411114"/>
            </a:xfrm>
            <a:prstGeom prst="rect">
              <a:avLst/>
            </a:prstGeom>
          </p:spPr>
        </p:pic>
        <p:sp>
          <p:nvSpPr>
            <p:cNvPr id="62" name="文本框 61"/>
            <p:cNvSpPr txBox="1"/>
            <p:nvPr/>
          </p:nvSpPr>
          <p:spPr>
            <a:xfrm>
              <a:off x="1426954" y="2439389"/>
              <a:ext cx="788624" cy="547676"/>
            </a:xfrm>
            <a:prstGeom prst="rect">
              <a:avLst/>
            </a:prstGeom>
            <a:noFill/>
          </p:spPr>
          <p:txBody>
            <a:bodyPr wrap="square" rtlCol="0">
              <a:spAutoFit/>
            </a:bodyPr>
            <a:lstStyle/>
            <a:p>
              <a:pPr>
                <a:lnSpc>
                  <a:spcPct val="150000"/>
                </a:lnSpc>
              </a:pPr>
              <a:r>
                <a:rPr lang="zh-CN" altLang="en-US" sz="900" dirty="0">
                  <a:solidFill>
                    <a:schemeClr val="tx1">
                      <a:lumMod val="65000"/>
                      <a:lumOff val="35000"/>
                    </a:schemeClr>
                  </a:solidFill>
                  <a:latin typeface="微软雅黑" panose="020B0503020204020204" pitchFamily="34" charset="-122"/>
                  <a:ea typeface="微软雅黑" panose="020B0503020204020204" pitchFamily="34" charset="-122"/>
                </a:rPr>
                <a:t>体检数据</a:t>
              </a:r>
              <a:endParaRPr lang="en-US" altLang="zh-CN" sz="900" dirty="0">
                <a:solidFill>
                  <a:schemeClr val="tx1">
                    <a:lumMod val="65000"/>
                    <a:lumOff val="35000"/>
                  </a:schemeClr>
                </a:solidFill>
                <a:latin typeface="微软雅黑" panose="020B0503020204020204" pitchFamily="34" charset="-122"/>
                <a:ea typeface="微软雅黑" panose="020B0503020204020204" pitchFamily="34" charset="-122"/>
              </a:endParaRPr>
            </a:p>
            <a:p>
              <a:pPr>
                <a:lnSpc>
                  <a:spcPct val="150000"/>
                </a:lnSpc>
              </a:pPr>
              <a:r>
                <a:rPr lang="zh-CN" altLang="en-US" sz="900" dirty="0">
                  <a:solidFill>
                    <a:schemeClr val="tx1">
                      <a:lumMod val="65000"/>
                      <a:lumOff val="35000"/>
                    </a:schemeClr>
                  </a:solidFill>
                  <a:latin typeface="微软雅黑" panose="020B0503020204020204" pitchFamily="34" charset="-122"/>
                  <a:ea typeface="微软雅黑" panose="020B0503020204020204" pitchFamily="34" charset="-122"/>
                </a:rPr>
                <a:t>健康数据</a:t>
              </a:r>
              <a:endParaRPr lang="en-US" altLang="zh-CN" sz="9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pic>
          <p:nvPicPr>
            <p:cNvPr id="64" name="图片 63"/>
            <p:cNvPicPr>
              <a:picLocks noChangeAspect="1"/>
            </p:cNvPicPr>
            <p:nvPr/>
          </p:nvPicPr>
          <p:blipFill>
            <a:blip r:embed="rId4" cstate="print">
              <a:extLst>
                <a:ext uri="{28A0092B-C50C-407E-A947-70E740481C1C}">
                  <a14:useLocalDpi xmlns:a14="http://schemas.microsoft.com/office/drawing/2010/main" xmlns="" val="0"/>
                </a:ext>
              </a:extLst>
            </a:blip>
            <a:stretch>
              <a:fillRect/>
            </a:stretch>
          </p:blipFill>
          <p:spPr>
            <a:xfrm>
              <a:off x="1278363" y="1696764"/>
              <a:ext cx="889988" cy="920944"/>
            </a:xfrm>
            <a:prstGeom prst="rect">
              <a:avLst/>
            </a:prstGeom>
          </p:spPr>
        </p:pic>
        <p:sp>
          <p:nvSpPr>
            <p:cNvPr id="65" name="文本框 64"/>
            <p:cNvSpPr txBox="1"/>
            <p:nvPr/>
          </p:nvSpPr>
          <p:spPr>
            <a:xfrm>
              <a:off x="1332572" y="4195147"/>
              <a:ext cx="655692" cy="298733"/>
            </a:xfrm>
            <a:prstGeom prst="rect">
              <a:avLst/>
            </a:prstGeom>
            <a:noFill/>
          </p:spPr>
          <p:txBody>
            <a:bodyPr wrap="square" rtlCol="0">
              <a:spAutoFit/>
            </a:bodyPr>
            <a:lstStyle/>
            <a:p>
              <a:pPr algn="ctr"/>
              <a:r>
                <a:rPr lang="zh-CN" altLang="en-US" sz="600" dirty="0">
                  <a:latin typeface="微软雅黑" panose="020B0503020204020204" pitchFamily="34" charset="-122"/>
                  <a:ea typeface="微软雅黑" panose="020B0503020204020204" pitchFamily="34" charset="-122"/>
                </a:rPr>
                <a:t>好络维多参仪</a:t>
              </a:r>
              <a:endParaRPr lang="en-US" altLang="zh-CN" sz="6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pic>
          <p:nvPicPr>
            <p:cNvPr id="66" name="图片 65"/>
            <p:cNvPicPr>
              <a:picLocks noChangeAspect="1"/>
            </p:cNvPicPr>
            <p:nvPr/>
          </p:nvPicPr>
          <p:blipFill>
            <a:blip r:embed="rId5" cstate="print"/>
            <a:stretch>
              <a:fillRect/>
            </a:stretch>
          </p:blipFill>
          <p:spPr>
            <a:xfrm>
              <a:off x="1425400" y="3891703"/>
              <a:ext cx="469673" cy="259904"/>
            </a:xfrm>
            <a:prstGeom prst="rect">
              <a:avLst/>
            </a:prstGeom>
          </p:spPr>
        </p:pic>
        <p:pic>
          <p:nvPicPr>
            <p:cNvPr id="67" name="图片 66"/>
            <p:cNvPicPr>
              <a:picLocks noChangeAspect="1"/>
            </p:cNvPicPr>
            <p:nvPr/>
          </p:nvPicPr>
          <p:blipFill>
            <a:blip r:embed="rId6" cstate="print"/>
            <a:stretch>
              <a:fillRect/>
            </a:stretch>
          </p:blipFill>
          <p:spPr>
            <a:xfrm>
              <a:off x="1952940" y="3860078"/>
              <a:ext cx="373364" cy="353427"/>
            </a:xfrm>
            <a:prstGeom prst="rect">
              <a:avLst/>
            </a:prstGeom>
          </p:spPr>
        </p:pic>
        <p:sp>
          <p:nvSpPr>
            <p:cNvPr id="68" name="文本框 67"/>
            <p:cNvSpPr txBox="1"/>
            <p:nvPr/>
          </p:nvSpPr>
          <p:spPr>
            <a:xfrm>
              <a:off x="1839670" y="4209946"/>
              <a:ext cx="712856" cy="199155"/>
            </a:xfrm>
            <a:prstGeom prst="rect">
              <a:avLst/>
            </a:prstGeom>
            <a:noFill/>
          </p:spPr>
          <p:txBody>
            <a:bodyPr wrap="square" rtlCol="0">
              <a:spAutoFit/>
            </a:bodyPr>
            <a:lstStyle/>
            <a:p>
              <a:pPr algn="ctr"/>
              <a:r>
                <a:rPr lang="zh-CN" altLang="en-US" sz="600" dirty="0">
                  <a:latin typeface="微软雅黑" panose="020B0503020204020204" pitchFamily="34" charset="-122"/>
                  <a:ea typeface="微软雅黑" panose="020B0503020204020204" pitchFamily="34" charset="-122"/>
                </a:rPr>
                <a:t>理邦多参仪</a:t>
              </a:r>
              <a:endParaRPr lang="en-US" altLang="zh-CN" sz="6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4" name="文本框 3"/>
            <p:cNvSpPr txBox="1"/>
            <p:nvPr/>
          </p:nvSpPr>
          <p:spPr>
            <a:xfrm>
              <a:off x="1276299" y="3538360"/>
              <a:ext cx="1061262" cy="319201"/>
            </a:xfrm>
            <a:prstGeom prst="rect">
              <a:avLst/>
            </a:prstGeom>
            <a:noFill/>
          </p:spPr>
          <p:txBody>
            <a:bodyPr wrap="square" rtlCol="0">
              <a:spAutoFit/>
            </a:bodyPr>
            <a:lstStyle>
              <a:defPPr>
                <a:defRPr lang="zh-CN"/>
              </a:defPPr>
              <a:lvl1pPr>
                <a:lnSpc>
                  <a:spcPct val="150000"/>
                </a:lnSpc>
                <a:defRPr sz="1200">
                  <a:solidFill>
                    <a:schemeClr val="tx1">
                      <a:lumMod val="65000"/>
                      <a:lumOff val="35000"/>
                    </a:schemeClr>
                  </a:solidFill>
                  <a:latin typeface="微软雅黑" panose="020B0503020204020204" pitchFamily="34" charset="-122"/>
                  <a:ea typeface="微软雅黑" panose="020B0503020204020204" pitchFamily="34" charset="-122"/>
                </a:defRPr>
              </a:lvl1pPr>
            </a:lstStyle>
            <a:p>
              <a:pPr algn="ctr"/>
              <a:r>
                <a:rPr lang="zh-CN" altLang="en-US" sz="1000" dirty="0">
                  <a:latin typeface="微软雅黑" panose="020B0503020204020204" pitchFamily="34" charset="-122"/>
                  <a:ea typeface="微软雅黑" panose="020B0503020204020204" pitchFamily="34" charset="-122"/>
                </a:rPr>
                <a:t>院内检查检验</a:t>
              </a:r>
            </a:p>
          </p:txBody>
        </p:sp>
        <p:sp>
          <p:nvSpPr>
            <p:cNvPr id="69" name="文本框 68"/>
            <p:cNvSpPr txBox="1"/>
            <p:nvPr/>
          </p:nvSpPr>
          <p:spPr>
            <a:xfrm>
              <a:off x="1425400" y="1610178"/>
              <a:ext cx="788624" cy="273838"/>
            </a:xfrm>
            <a:prstGeom prst="rect">
              <a:avLst/>
            </a:prstGeom>
            <a:noFill/>
          </p:spPr>
          <p:txBody>
            <a:bodyPr wrap="square" rtlCol="0">
              <a:spAutoFit/>
            </a:bodyPr>
            <a:lstStyle>
              <a:defPPr>
                <a:defRPr lang="zh-CN"/>
              </a:defPPr>
              <a:lvl1pPr>
                <a:defRPr sz="1400">
                  <a:solidFill>
                    <a:schemeClr val="tx1">
                      <a:lumMod val="65000"/>
                      <a:lumOff val="35000"/>
                    </a:schemeClr>
                  </a:solidFill>
                  <a:latin typeface="微软雅黑" panose="020B0503020204020204" pitchFamily="34" charset="-122"/>
                  <a:ea typeface="微软雅黑" panose="020B0503020204020204" pitchFamily="34" charset="-122"/>
                </a:defRPr>
              </a:lvl1pPr>
            </a:lstStyle>
            <a:p>
              <a:r>
                <a:rPr lang="zh-CN" altLang="en-US" sz="1000" dirty="0">
                  <a:latin typeface="微软雅黑" panose="020B0503020204020204" pitchFamily="34" charset="-122"/>
                  <a:ea typeface="微软雅黑" panose="020B0503020204020204" pitchFamily="34" charset="-122"/>
                </a:rPr>
                <a:t>基本信息</a:t>
              </a:r>
              <a:endParaRPr lang="en-US" altLang="zh-CN" sz="1000" dirty="0">
                <a:latin typeface="微软雅黑" panose="020B0503020204020204" pitchFamily="34" charset="-122"/>
                <a:ea typeface="微软雅黑" panose="020B0503020204020204" pitchFamily="34" charset="-122"/>
              </a:endParaRPr>
            </a:p>
          </p:txBody>
        </p:sp>
        <p:sp>
          <p:nvSpPr>
            <p:cNvPr id="12" name="文本框 11"/>
            <p:cNvSpPr txBox="1"/>
            <p:nvPr/>
          </p:nvSpPr>
          <p:spPr>
            <a:xfrm>
              <a:off x="3044110" y="4320061"/>
              <a:ext cx="1167270" cy="265540"/>
            </a:xfrm>
            <a:prstGeom prst="rect">
              <a:avLst/>
            </a:prstGeom>
            <a:noFill/>
          </p:spPr>
          <p:txBody>
            <a:bodyPr wrap="none" rtlCol="0">
              <a:spAutoFit/>
            </a:bodyPr>
            <a:lstStyle/>
            <a:p>
              <a:r>
                <a:rPr lang="zh-CN" altLang="en-US" sz="1000" dirty="0">
                  <a:latin typeface="微软雅黑" panose="020B0503020204020204" pitchFamily="34" charset="-122"/>
                  <a:ea typeface="微软雅黑" panose="020B0503020204020204" pitchFamily="34" charset="-122"/>
                </a:rPr>
                <a:t>区域心电云平台</a:t>
              </a:r>
            </a:p>
          </p:txBody>
        </p:sp>
        <p:sp>
          <p:nvSpPr>
            <p:cNvPr id="13" name="右箭头 12"/>
            <p:cNvSpPr/>
            <p:nvPr/>
          </p:nvSpPr>
          <p:spPr>
            <a:xfrm>
              <a:off x="2330264" y="3683669"/>
              <a:ext cx="502937" cy="345600"/>
            </a:xfrm>
            <a:prstGeom prst="rightArrow">
              <a:avLst/>
            </a:prstGeom>
            <a:solidFill>
              <a:srgbClr val="237BE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微软雅黑" panose="020B0503020204020204" pitchFamily="34" charset="-122"/>
                <a:ea typeface="微软雅黑" panose="020B0503020204020204" pitchFamily="34" charset="-122"/>
              </a:endParaRPr>
            </a:p>
          </p:txBody>
        </p:sp>
        <p:sp>
          <p:nvSpPr>
            <p:cNvPr id="14" name="圆角矩形 13"/>
            <p:cNvSpPr/>
            <p:nvPr/>
          </p:nvSpPr>
          <p:spPr>
            <a:xfrm>
              <a:off x="2943986" y="1830945"/>
              <a:ext cx="1547132" cy="654128"/>
            </a:xfrm>
            <a:prstGeom prst="roundRect">
              <a:avLst/>
            </a:prstGeom>
            <a:noFill/>
            <a:ln w="19050">
              <a:solidFill>
                <a:srgbClr val="0072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b="1" dirty="0">
                  <a:solidFill>
                    <a:srgbClr val="2179B1"/>
                  </a:solidFill>
                  <a:latin typeface="微软雅黑" panose="020B0503020204020204" pitchFamily="34" charset="-122"/>
                  <a:ea typeface="微软雅黑" panose="020B0503020204020204" pitchFamily="34" charset="-122"/>
                </a:rPr>
                <a:t>全民医疗健康公共服务信息平台</a:t>
              </a:r>
            </a:p>
          </p:txBody>
        </p:sp>
        <p:sp>
          <p:nvSpPr>
            <p:cNvPr id="71" name="右箭头 70"/>
            <p:cNvSpPr/>
            <p:nvPr/>
          </p:nvSpPr>
          <p:spPr>
            <a:xfrm>
              <a:off x="2330264" y="1907412"/>
              <a:ext cx="502937" cy="345600"/>
            </a:xfrm>
            <a:prstGeom prst="rightArrow">
              <a:avLst/>
            </a:prstGeom>
            <a:solidFill>
              <a:srgbClr val="237BE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微软雅黑" panose="020B0503020204020204" pitchFamily="34" charset="-122"/>
                <a:ea typeface="微软雅黑" panose="020B0503020204020204" pitchFamily="34" charset="-122"/>
              </a:endParaRPr>
            </a:p>
          </p:txBody>
        </p:sp>
        <p:sp>
          <p:nvSpPr>
            <p:cNvPr id="75" name="文本框 74"/>
            <p:cNvSpPr txBox="1"/>
            <p:nvPr/>
          </p:nvSpPr>
          <p:spPr>
            <a:xfrm>
              <a:off x="2921806" y="4855203"/>
              <a:ext cx="2339380" cy="273838"/>
            </a:xfrm>
            <a:prstGeom prst="rect">
              <a:avLst/>
            </a:prstGeom>
            <a:noFill/>
          </p:spPr>
          <p:txBody>
            <a:bodyPr wrap="none" rtlCol="0">
              <a:spAutoFit/>
            </a:bodyPr>
            <a:lstStyle/>
            <a:p>
              <a:r>
                <a:rPr kumimoji="1" lang="zh-CN" altLang="en-US" sz="1050" dirty="0">
                  <a:latin typeface="微软雅黑" panose="020B0503020204020204" pitchFamily="34" charset="-122"/>
                  <a:ea typeface="微软雅黑" panose="020B0503020204020204" pitchFamily="34" charset="-122"/>
                </a:rPr>
                <a:t>医学专业知识库</a:t>
              </a:r>
              <a:r>
                <a:rPr kumimoji="1" lang="en-US" altLang="zh-CN" sz="1050" dirty="0">
                  <a:latin typeface="微软雅黑" panose="020B0503020204020204" pitchFamily="34" charset="-122"/>
                  <a:ea typeface="微软雅黑" panose="020B0503020204020204" pitchFamily="34" charset="-122"/>
                </a:rPr>
                <a:t>+AI</a:t>
              </a:r>
              <a:r>
                <a:rPr kumimoji="1" lang="zh-CN" altLang="en-US" sz="1050" dirty="0">
                  <a:latin typeface="微软雅黑" panose="020B0503020204020204" pitchFamily="34" charset="-122"/>
                  <a:ea typeface="微软雅黑" panose="020B0503020204020204" pitchFamily="34" charset="-122"/>
                </a:rPr>
                <a:t>辅助诊断软件</a:t>
              </a:r>
              <a:endParaRPr kumimoji="1" lang="en-US" altLang="zh-CN" sz="1050" dirty="0">
                <a:latin typeface="微软雅黑" panose="020B0503020204020204" pitchFamily="34" charset="-122"/>
                <a:ea typeface="微软雅黑" panose="020B0503020204020204" pitchFamily="34" charset="-122"/>
              </a:endParaRPr>
            </a:p>
          </p:txBody>
        </p:sp>
        <p:sp>
          <p:nvSpPr>
            <p:cNvPr id="76" name="文本框 75"/>
            <p:cNvSpPr txBox="1"/>
            <p:nvPr/>
          </p:nvSpPr>
          <p:spPr>
            <a:xfrm>
              <a:off x="586722" y="4842314"/>
              <a:ext cx="2377413" cy="273838"/>
            </a:xfrm>
            <a:prstGeom prst="rect">
              <a:avLst/>
            </a:prstGeom>
            <a:noFill/>
          </p:spPr>
          <p:txBody>
            <a:bodyPr wrap="none" rtlCol="0">
              <a:spAutoFit/>
            </a:bodyPr>
            <a:lstStyle/>
            <a:p>
              <a:r>
                <a:rPr kumimoji="1" lang="zh-CN" altLang="en-US" sz="1050" dirty="0">
                  <a:latin typeface="微软雅黑" panose="020B0503020204020204" pitchFamily="34" charset="-122"/>
                  <a:ea typeface="微软雅黑" panose="020B0503020204020204" pitchFamily="34" charset="-122"/>
                </a:rPr>
                <a:t>基于健康数据标准的健康数据整合</a:t>
              </a:r>
              <a:endParaRPr kumimoji="1" lang="en-US" altLang="zh-CN" sz="1050" dirty="0">
                <a:latin typeface="微软雅黑" panose="020B0503020204020204" pitchFamily="34" charset="-122"/>
                <a:ea typeface="微软雅黑" panose="020B0503020204020204" pitchFamily="34" charset="-122"/>
              </a:endParaRPr>
            </a:p>
          </p:txBody>
        </p:sp>
        <p:sp>
          <p:nvSpPr>
            <p:cNvPr id="17" name="上下箭头 16"/>
            <p:cNvSpPr/>
            <p:nvPr/>
          </p:nvSpPr>
          <p:spPr>
            <a:xfrm>
              <a:off x="3491009" y="2710343"/>
              <a:ext cx="303869" cy="501354"/>
            </a:xfrm>
            <a:prstGeom prst="upDownArrow">
              <a:avLst/>
            </a:prstGeom>
            <a:solidFill>
              <a:srgbClr val="237BE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微软雅黑" panose="020B0503020204020204" pitchFamily="34" charset="-122"/>
                <a:ea typeface="微软雅黑" panose="020B0503020204020204" pitchFamily="34" charset="-122"/>
              </a:endParaRPr>
            </a:p>
          </p:txBody>
        </p:sp>
        <p:sp>
          <p:nvSpPr>
            <p:cNvPr id="80" name="文本框 79"/>
            <p:cNvSpPr txBox="1"/>
            <p:nvPr/>
          </p:nvSpPr>
          <p:spPr>
            <a:xfrm>
              <a:off x="2530994" y="2586919"/>
              <a:ext cx="283356" cy="1066033"/>
            </a:xfrm>
            <a:prstGeom prst="rect">
              <a:avLst/>
            </a:prstGeom>
            <a:noFill/>
          </p:spPr>
          <p:txBody>
            <a:bodyPr wrap="square" rtlCol="0">
              <a:spAutoFit/>
            </a:bodyPr>
            <a:lstStyle>
              <a:defPPr>
                <a:defRPr lang="zh-CN"/>
              </a:defPPr>
              <a:lvl1pPr>
                <a:lnSpc>
                  <a:spcPct val="150000"/>
                </a:lnSpc>
                <a:defRPr sz="1200">
                  <a:solidFill>
                    <a:schemeClr val="tx1">
                      <a:lumMod val="65000"/>
                      <a:lumOff val="35000"/>
                    </a:schemeClr>
                  </a:solidFill>
                  <a:latin typeface="微软雅黑" panose="020B0503020204020204" pitchFamily="34" charset="-122"/>
                  <a:ea typeface="微软雅黑" panose="020B0503020204020204" pitchFamily="34" charset="-122"/>
                </a:defRPr>
              </a:lvl1pPr>
            </a:lstStyle>
            <a:p>
              <a:r>
                <a:rPr lang="zh-CN" altLang="en-US" sz="1000" dirty="0">
                  <a:latin typeface="微软雅黑" panose="020B0503020204020204" pitchFamily="34" charset="-122"/>
                  <a:ea typeface="微软雅黑" panose="020B0503020204020204" pitchFamily="34" charset="-122"/>
                </a:rPr>
                <a:t>数</a:t>
              </a:r>
              <a:endParaRPr lang="en-US" altLang="zh-CN" sz="1000" dirty="0">
                <a:latin typeface="微软雅黑" panose="020B0503020204020204" pitchFamily="34" charset="-122"/>
                <a:ea typeface="微软雅黑" panose="020B0503020204020204" pitchFamily="34" charset="-122"/>
              </a:endParaRPr>
            </a:p>
            <a:p>
              <a:r>
                <a:rPr lang="zh-CN" altLang="en-US" sz="1000" dirty="0">
                  <a:latin typeface="微软雅黑" panose="020B0503020204020204" pitchFamily="34" charset="-122"/>
                  <a:ea typeface="微软雅黑" panose="020B0503020204020204" pitchFamily="34" charset="-122"/>
                </a:rPr>
                <a:t>据</a:t>
              </a:r>
              <a:endParaRPr lang="en-US" altLang="zh-CN" sz="1000" dirty="0">
                <a:latin typeface="微软雅黑" panose="020B0503020204020204" pitchFamily="34" charset="-122"/>
                <a:ea typeface="微软雅黑" panose="020B0503020204020204" pitchFamily="34" charset="-122"/>
              </a:endParaRPr>
            </a:p>
            <a:p>
              <a:r>
                <a:rPr lang="zh-CN" altLang="en-US" sz="1000" dirty="0">
                  <a:latin typeface="微软雅黑" panose="020B0503020204020204" pitchFamily="34" charset="-122"/>
                  <a:ea typeface="微软雅黑" panose="020B0503020204020204" pitchFamily="34" charset="-122"/>
                </a:rPr>
                <a:t>采</a:t>
              </a:r>
              <a:endParaRPr lang="en-US" altLang="zh-CN" sz="1000" dirty="0">
                <a:latin typeface="微软雅黑" panose="020B0503020204020204" pitchFamily="34" charset="-122"/>
                <a:ea typeface="微软雅黑" panose="020B0503020204020204" pitchFamily="34" charset="-122"/>
              </a:endParaRPr>
            </a:p>
            <a:p>
              <a:r>
                <a:rPr lang="zh-CN" altLang="en-US" sz="1000" dirty="0">
                  <a:latin typeface="微软雅黑" panose="020B0503020204020204" pitchFamily="34" charset="-122"/>
                  <a:ea typeface="微软雅黑" panose="020B0503020204020204" pitchFamily="34" charset="-122"/>
                </a:rPr>
                <a:t>集</a:t>
              </a:r>
            </a:p>
          </p:txBody>
        </p:sp>
        <p:sp>
          <p:nvSpPr>
            <p:cNvPr id="70" name="文本框 69"/>
            <p:cNvSpPr txBox="1"/>
            <p:nvPr/>
          </p:nvSpPr>
          <p:spPr>
            <a:xfrm>
              <a:off x="3742128" y="2853992"/>
              <a:ext cx="697043" cy="248943"/>
            </a:xfrm>
            <a:prstGeom prst="rect">
              <a:avLst/>
            </a:prstGeom>
            <a:noFill/>
          </p:spPr>
          <p:txBody>
            <a:bodyPr wrap="none" rtlCol="0">
              <a:spAutoFit/>
            </a:bodyPr>
            <a:lstStyle/>
            <a:p>
              <a:r>
                <a:rPr lang="zh-CN" altLang="en-US" sz="900" dirty="0">
                  <a:latin typeface="微软雅黑" panose="020B0503020204020204" pitchFamily="34" charset="-122"/>
                  <a:ea typeface="微软雅黑" panose="020B0503020204020204" pitchFamily="34" charset="-122"/>
                </a:rPr>
                <a:t>数据互通</a:t>
              </a:r>
            </a:p>
          </p:txBody>
        </p:sp>
        <p:sp>
          <p:nvSpPr>
            <p:cNvPr id="86" name="圆角矩形 85"/>
            <p:cNvSpPr/>
            <p:nvPr/>
          </p:nvSpPr>
          <p:spPr>
            <a:xfrm>
              <a:off x="5810577" y="1634407"/>
              <a:ext cx="977022" cy="161201"/>
            </a:xfrm>
            <a:prstGeom prst="roundRect">
              <a:avLst>
                <a:gd name="adj" fmla="val 50000"/>
              </a:avLst>
            </a:prstGeom>
            <a:noFill/>
            <a:ln w="19050">
              <a:solidFill>
                <a:srgbClr val="0072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b="1" dirty="0">
                  <a:solidFill>
                    <a:srgbClr val="2179B1"/>
                  </a:solidFill>
                  <a:latin typeface="微软雅黑" panose="020B0503020204020204" pitchFamily="34" charset="-122"/>
                  <a:ea typeface="微软雅黑" panose="020B0503020204020204" pitchFamily="34" charset="-122"/>
                </a:rPr>
                <a:t>健康人群</a:t>
              </a:r>
            </a:p>
          </p:txBody>
        </p:sp>
        <p:sp>
          <p:nvSpPr>
            <p:cNvPr id="87" name="圆角矩形 86"/>
            <p:cNvSpPr/>
            <p:nvPr/>
          </p:nvSpPr>
          <p:spPr>
            <a:xfrm>
              <a:off x="5810577" y="1917265"/>
              <a:ext cx="977022" cy="161201"/>
            </a:xfrm>
            <a:prstGeom prst="roundRect">
              <a:avLst>
                <a:gd name="adj" fmla="val 50000"/>
              </a:avLst>
            </a:prstGeom>
            <a:noFill/>
            <a:ln w="19050">
              <a:solidFill>
                <a:srgbClr val="0072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b="1" dirty="0">
                  <a:solidFill>
                    <a:srgbClr val="2179B1"/>
                  </a:solidFill>
                  <a:latin typeface="微软雅黑" panose="020B0503020204020204" pitchFamily="34" charset="-122"/>
                  <a:ea typeface="微软雅黑" panose="020B0503020204020204" pitchFamily="34" charset="-122"/>
                </a:rPr>
                <a:t>亚健康人群</a:t>
              </a:r>
            </a:p>
          </p:txBody>
        </p:sp>
        <p:sp>
          <p:nvSpPr>
            <p:cNvPr id="88" name="圆角矩形 87"/>
            <p:cNvSpPr/>
            <p:nvPr/>
          </p:nvSpPr>
          <p:spPr>
            <a:xfrm>
              <a:off x="5810577" y="2200123"/>
              <a:ext cx="977022" cy="161201"/>
            </a:xfrm>
            <a:prstGeom prst="roundRect">
              <a:avLst>
                <a:gd name="adj" fmla="val 50000"/>
              </a:avLst>
            </a:prstGeom>
            <a:noFill/>
            <a:ln w="19050">
              <a:solidFill>
                <a:srgbClr val="0072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b="1" dirty="0">
                  <a:solidFill>
                    <a:srgbClr val="2179B1"/>
                  </a:solidFill>
                  <a:latin typeface="微软雅黑" panose="020B0503020204020204" pitchFamily="34" charset="-122"/>
                  <a:ea typeface="微软雅黑" panose="020B0503020204020204" pitchFamily="34" charset="-122"/>
                </a:rPr>
                <a:t>慢病人群</a:t>
              </a:r>
            </a:p>
          </p:txBody>
        </p:sp>
        <p:sp>
          <p:nvSpPr>
            <p:cNvPr id="89" name="圆角矩形 88"/>
            <p:cNvSpPr/>
            <p:nvPr/>
          </p:nvSpPr>
          <p:spPr>
            <a:xfrm>
              <a:off x="5810577" y="2482981"/>
              <a:ext cx="977022" cy="161201"/>
            </a:xfrm>
            <a:prstGeom prst="roundRect">
              <a:avLst>
                <a:gd name="adj" fmla="val 50000"/>
              </a:avLst>
            </a:prstGeom>
            <a:noFill/>
            <a:ln w="19050">
              <a:solidFill>
                <a:srgbClr val="0072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b="1" dirty="0">
                  <a:solidFill>
                    <a:srgbClr val="0072FF"/>
                  </a:solidFill>
                  <a:latin typeface="微软雅黑" panose="020B0503020204020204" pitchFamily="34" charset="-122"/>
                  <a:ea typeface="微软雅黑" panose="020B0503020204020204" pitchFamily="34" charset="-122"/>
                </a:rPr>
                <a:t>疾病人群</a:t>
              </a:r>
            </a:p>
          </p:txBody>
        </p:sp>
        <p:sp>
          <p:nvSpPr>
            <p:cNvPr id="90" name="圆角矩形 89"/>
            <p:cNvSpPr/>
            <p:nvPr/>
          </p:nvSpPr>
          <p:spPr>
            <a:xfrm>
              <a:off x="4713128" y="1946206"/>
              <a:ext cx="468798" cy="422057"/>
            </a:xfrm>
            <a:prstGeom prst="roundRect">
              <a:avLst/>
            </a:prstGeom>
            <a:solidFill>
              <a:srgbClr val="2179B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b="1" dirty="0">
                  <a:latin typeface="微软雅黑" panose="020B0503020204020204" pitchFamily="34" charset="-122"/>
                  <a:ea typeface="微软雅黑" panose="020B0503020204020204" pitchFamily="34" charset="-122"/>
                </a:rPr>
                <a:t>评估分析</a:t>
              </a:r>
            </a:p>
          </p:txBody>
        </p:sp>
        <p:cxnSp>
          <p:nvCxnSpPr>
            <p:cNvPr id="94" name="肘形连接符 93"/>
            <p:cNvCxnSpPr>
              <a:stCxn id="14" idx="3"/>
              <a:endCxn id="90" idx="1"/>
            </p:cNvCxnSpPr>
            <p:nvPr/>
          </p:nvCxnSpPr>
          <p:spPr>
            <a:xfrm flipV="1">
              <a:off x="4491118" y="2157235"/>
              <a:ext cx="222011" cy="774"/>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97" name="肘形连接符 96"/>
            <p:cNvCxnSpPr>
              <a:stCxn id="90" idx="3"/>
              <a:endCxn id="86" idx="1"/>
            </p:cNvCxnSpPr>
            <p:nvPr/>
          </p:nvCxnSpPr>
          <p:spPr>
            <a:xfrm flipV="1">
              <a:off x="5181927" y="1715007"/>
              <a:ext cx="628651" cy="442228"/>
            </a:xfrm>
            <a:prstGeom prst="bentConnector3">
              <a:avLst>
                <a:gd name="adj1" fmla="val 50000"/>
              </a:avLst>
            </a:prstGeom>
            <a:ln w="19050"/>
          </p:spPr>
          <p:style>
            <a:lnRef idx="1">
              <a:schemeClr val="accent1"/>
            </a:lnRef>
            <a:fillRef idx="0">
              <a:schemeClr val="accent1"/>
            </a:fillRef>
            <a:effectRef idx="0">
              <a:schemeClr val="accent1"/>
            </a:effectRef>
            <a:fontRef idx="minor">
              <a:schemeClr val="tx1"/>
            </a:fontRef>
          </p:style>
        </p:cxnSp>
        <p:cxnSp>
          <p:nvCxnSpPr>
            <p:cNvPr id="100" name="肘形连接符 99"/>
            <p:cNvCxnSpPr>
              <a:stCxn id="90" idx="3"/>
              <a:endCxn id="87" idx="1"/>
            </p:cNvCxnSpPr>
            <p:nvPr/>
          </p:nvCxnSpPr>
          <p:spPr>
            <a:xfrm flipV="1">
              <a:off x="5181927" y="1997865"/>
              <a:ext cx="628651" cy="15937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04" name="肘形连接符 103"/>
            <p:cNvCxnSpPr>
              <a:stCxn id="90" idx="3"/>
              <a:endCxn id="88" idx="1"/>
            </p:cNvCxnSpPr>
            <p:nvPr/>
          </p:nvCxnSpPr>
          <p:spPr>
            <a:xfrm>
              <a:off x="5181927" y="2157235"/>
              <a:ext cx="628651" cy="123488"/>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06" name="肘形连接符 105"/>
            <p:cNvCxnSpPr>
              <a:stCxn id="90" idx="3"/>
              <a:endCxn id="89" idx="1"/>
            </p:cNvCxnSpPr>
            <p:nvPr/>
          </p:nvCxnSpPr>
          <p:spPr>
            <a:xfrm>
              <a:off x="5181927" y="2157235"/>
              <a:ext cx="628651" cy="406346"/>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107" name="圆角矩形 106"/>
            <p:cNvSpPr/>
            <p:nvPr/>
          </p:nvSpPr>
          <p:spPr>
            <a:xfrm>
              <a:off x="7238696" y="1637688"/>
              <a:ext cx="977022" cy="161201"/>
            </a:xfrm>
            <a:prstGeom prst="roundRect">
              <a:avLst>
                <a:gd name="adj" fmla="val 50000"/>
              </a:avLst>
            </a:prstGeom>
            <a:noFill/>
            <a:ln w="19050">
              <a:solidFill>
                <a:srgbClr val="0072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b="1" dirty="0">
                  <a:solidFill>
                    <a:srgbClr val="2179B1"/>
                  </a:solidFill>
                  <a:latin typeface="微软雅黑" panose="020B0503020204020204" pitchFamily="34" charset="-122"/>
                  <a:ea typeface="微软雅黑" panose="020B0503020204020204" pitchFamily="34" charset="-122"/>
                </a:rPr>
                <a:t>健康教育</a:t>
              </a:r>
            </a:p>
          </p:txBody>
        </p:sp>
        <p:sp>
          <p:nvSpPr>
            <p:cNvPr id="108" name="圆角矩形 107"/>
            <p:cNvSpPr/>
            <p:nvPr/>
          </p:nvSpPr>
          <p:spPr>
            <a:xfrm>
              <a:off x="7247694" y="2014391"/>
              <a:ext cx="977022" cy="194252"/>
            </a:xfrm>
            <a:prstGeom prst="roundRect">
              <a:avLst>
                <a:gd name="adj" fmla="val 50000"/>
              </a:avLst>
            </a:prstGeom>
            <a:solidFill>
              <a:srgbClr val="0072FF"/>
            </a:solidFill>
            <a:ln w="19050">
              <a:solidFill>
                <a:srgbClr val="0072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b="1" dirty="0">
                  <a:solidFill>
                    <a:schemeClr val="bg1"/>
                  </a:solidFill>
                  <a:latin typeface="微软雅黑" panose="020B0503020204020204" pitchFamily="34" charset="-122"/>
                  <a:ea typeface="微软雅黑" panose="020B0503020204020204" pitchFamily="34" charset="-122"/>
                </a:rPr>
                <a:t>指导方案</a:t>
              </a:r>
            </a:p>
          </p:txBody>
        </p:sp>
        <p:sp>
          <p:nvSpPr>
            <p:cNvPr id="109" name="圆角矩形 108"/>
            <p:cNvSpPr/>
            <p:nvPr/>
          </p:nvSpPr>
          <p:spPr>
            <a:xfrm>
              <a:off x="7239713" y="2478447"/>
              <a:ext cx="977022" cy="174258"/>
            </a:xfrm>
            <a:prstGeom prst="roundRect">
              <a:avLst>
                <a:gd name="adj" fmla="val 50000"/>
              </a:avLst>
            </a:prstGeom>
            <a:noFill/>
            <a:ln w="19050">
              <a:solidFill>
                <a:srgbClr val="0072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b="1" dirty="0">
                  <a:solidFill>
                    <a:srgbClr val="2179B1"/>
                  </a:solidFill>
                  <a:latin typeface="微软雅黑" panose="020B0503020204020204" pitchFamily="34" charset="-122"/>
                  <a:ea typeface="微软雅黑" panose="020B0503020204020204" pitchFamily="34" charset="-122"/>
                </a:rPr>
                <a:t>就医服务</a:t>
              </a:r>
            </a:p>
          </p:txBody>
        </p:sp>
        <p:cxnSp>
          <p:nvCxnSpPr>
            <p:cNvPr id="111" name="肘形连接符 110"/>
            <p:cNvCxnSpPr>
              <a:stCxn id="86" idx="3"/>
              <a:endCxn id="107" idx="1"/>
            </p:cNvCxnSpPr>
            <p:nvPr/>
          </p:nvCxnSpPr>
          <p:spPr>
            <a:xfrm flipV="1">
              <a:off x="6787599" y="1713045"/>
              <a:ext cx="445456" cy="1963"/>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13" name="肘形连接符 112"/>
            <p:cNvCxnSpPr>
              <a:stCxn id="87" idx="3"/>
              <a:endCxn id="108" idx="1"/>
            </p:cNvCxnSpPr>
            <p:nvPr/>
          </p:nvCxnSpPr>
          <p:spPr>
            <a:xfrm>
              <a:off x="6787600" y="1997865"/>
              <a:ext cx="452114" cy="113652"/>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15" name="肘形连接符 114"/>
            <p:cNvCxnSpPr>
              <a:stCxn id="88" idx="3"/>
              <a:endCxn id="108" idx="1"/>
            </p:cNvCxnSpPr>
            <p:nvPr/>
          </p:nvCxnSpPr>
          <p:spPr>
            <a:xfrm flipV="1">
              <a:off x="6787600" y="2111517"/>
              <a:ext cx="452114" cy="169206"/>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17" name="肘形连接符 116"/>
            <p:cNvCxnSpPr>
              <a:stCxn id="89" idx="3"/>
              <a:endCxn id="109" idx="1"/>
            </p:cNvCxnSpPr>
            <p:nvPr/>
          </p:nvCxnSpPr>
          <p:spPr>
            <a:xfrm flipV="1">
              <a:off x="6787600" y="2559048"/>
              <a:ext cx="452114" cy="4534"/>
            </a:xfrm>
            <a:prstGeom prst="bentConnector3">
              <a:avLst/>
            </a:prstGeom>
            <a:ln w="19050"/>
          </p:spPr>
          <p:style>
            <a:lnRef idx="1">
              <a:schemeClr val="accent1"/>
            </a:lnRef>
            <a:fillRef idx="0">
              <a:schemeClr val="accent1"/>
            </a:fillRef>
            <a:effectRef idx="0">
              <a:schemeClr val="accent1"/>
            </a:effectRef>
            <a:fontRef idx="minor">
              <a:schemeClr val="tx1"/>
            </a:fontRef>
          </p:style>
        </p:cxnSp>
        <p:pic>
          <p:nvPicPr>
            <p:cNvPr id="118" name="图片 117"/>
            <p:cNvPicPr>
              <a:picLocks noChangeAspect="1"/>
            </p:cNvPicPr>
            <p:nvPr/>
          </p:nvPicPr>
          <p:blipFill>
            <a:blip r:embed="rId7" cstate="print"/>
            <a:stretch>
              <a:fillRect/>
            </a:stretch>
          </p:blipFill>
          <p:spPr>
            <a:xfrm>
              <a:off x="4712437" y="4103593"/>
              <a:ext cx="267936" cy="267936"/>
            </a:xfrm>
            <a:prstGeom prst="rect">
              <a:avLst/>
            </a:prstGeom>
          </p:spPr>
        </p:pic>
        <p:sp>
          <p:nvSpPr>
            <p:cNvPr id="120" name="文本框 119"/>
            <p:cNvSpPr txBox="1"/>
            <p:nvPr/>
          </p:nvSpPr>
          <p:spPr>
            <a:xfrm>
              <a:off x="5289270" y="4634948"/>
              <a:ext cx="1127232" cy="219071"/>
            </a:xfrm>
            <a:prstGeom prst="rect">
              <a:avLst/>
            </a:prstGeom>
            <a:solidFill>
              <a:srgbClr val="0587CE"/>
            </a:solidFill>
          </p:spPr>
          <p:txBody>
            <a:bodyPr wrap="square" rtlCol="0">
              <a:spAutoFit/>
            </a:bodyPr>
            <a:lstStyle>
              <a:defPPr>
                <a:defRPr lang="zh-CN"/>
              </a:defPPr>
              <a:lvl1pPr algn="ctr">
                <a:lnSpc>
                  <a:spcPct val="90000"/>
                </a:lnSpc>
                <a:defRPr sz="1050" b="1">
                  <a:solidFill>
                    <a:srgbClr val="FFFFFF"/>
                  </a:solidFill>
                  <a:latin typeface="微软雅黑" panose="020B0503020204020204" pitchFamily="34" charset="-122"/>
                  <a:ea typeface="微软雅黑" panose="020B0503020204020204" pitchFamily="34" charset="-122"/>
                </a:defRPr>
              </a:lvl1pPr>
            </a:lstStyle>
            <a:p>
              <a:r>
                <a:rPr lang="zh-CN" altLang="en-US" sz="800" dirty="0">
                  <a:latin typeface="微软雅黑" panose="020B0503020204020204" pitchFamily="34" charset="-122"/>
                  <a:ea typeface="微软雅黑" panose="020B0503020204020204" pitchFamily="34" charset="-122"/>
                </a:rPr>
                <a:t>数据采集</a:t>
              </a:r>
            </a:p>
          </p:txBody>
        </p:sp>
        <p:pic>
          <p:nvPicPr>
            <p:cNvPr id="121" name="图片 120"/>
            <p:cNvPicPr>
              <a:picLocks noChangeAspect="1"/>
            </p:cNvPicPr>
            <p:nvPr/>
          </p:nvPicPr>
          <p:blipFill>
            <a:blip r:embed="rId8" cstate="print"/>
            <a:stretch>
              <a:fillRect/>
            </a:stretch>
          </p:blipFill>
          <p:spPr>
            <a:xfrm>
              <a:off x="5272207" y="2976265"/>
              <a:ext cx="431766" cy="431766"/>
            </a:xfrm>
            <a:prstGeom prst="rect">
              <a:avLst/>
            </a:prstGeom>
          </p:spPr>
        </p:pic>
        <p:sp>
          <p:nvSpPr>
            <p:cNvPr id="122" name="矩形 121"/>
            <p:cNvSpPr/>
            <p:nvPr/>
          </p:nvSpPr>
          <p:spPr>
            <a:xfrm>
              <a:off x="4625358" y="3402474"/>
              <a:ext cx="1923819" cy="265540"/>
            </a:xfrm>
            <a:prstGeom prst="rect">
              <a:avLst/>
            </a:prstGeom>
          </p:spPr>
          <p:txBody>
            <a:bodyPr wrap="square">
              <a:spAutoFit/>
            </a:bodyPr>
            <a:lstStyle/>
            <a:p>
              <a:pPr algn="ctr"/>
              <a:r>
                <a:rPr lang="zh-CN" altLang="en-US" sz="1000" b="1" dirty="0">
                  <a:solidFill>
                    <a:schemeClr val="accent2"/>
                  </a:solidFill>
                  <a:latin typeface="微软雅黑" panose="020B0503020204020204" pitchFamily="34" charset="-122"/>
                  <a:ea typeface="微软雅黑" panose="020B0503020204020204" pitchFamily="34" charset="-122"/>
                </a:rPr>
                <a:t>兰州新区第一人民医院</a:t>
              </a:r>
            </a:p>
          </p:txBody>
        </p:sp>
        <p:sp>
          <p:nvSpPr>
            <p:cNvPr id="124" name="矩形 123"/>
            <p:cNvSpPr/>
            <p:nvPr/>
          </p:nvSpPr>
          <p:spPr>
            <a:xfrm>
              <a:off x="4309352" y="4374750"/>
              <a:ext cx="1132694" cy="211603"/>
            </a:xfrm>
            <a:prstGeom prst="rect">
              <a:avLst/>
            </a:prstGeom>
          </p:spPr>
          <p:txBody>
            <a:bodyPr wrap="none">
              <a:spAutoFit/>
            </a:bodyPr>
            <a:lstStyle/>
            <a:p>
              <a:r>
                <a:rPr lang="zh-CN" altLang="en-US" sz="675" b="1" dirty="0">
                  <a:solidFill>
                    <a:schemeClr val="accent2"/>
                  </a:solidFill>
                  <a:latin typeface="微软雅黑" panose="020B0503020204020204" pitchFamily="34" charset="-122"/>
                  <a:ea typeface="微软雅黑" panose="020B0503020204020204" pitchFamily="34" charset="-122"/>
                </a:rPr>
                <a:t>瑞玲雅苑卫生服务中心</a:t>
              </a:r>
            </a:p>
          </p:txBody>
        </p:sp>
        <p:sp>
          <p:nvSpPr>
            <p:cNvPr id="125" name="矩形 124"/>
            <p:cNvSpPr/>
            <p:nvPr/>
          </p:nvSpPr>
          <p:spPr>
            <a:xfrm>
              <a:off x="5197791" y="4385580"/>
              <a:ext cx="759278" cy="211603"/>
            </a:xfrm>
            <a:prstGeom prst="rect">
              <a:avLst/>
            </a:prstGeom>
          </p:spPr>
          <p:txBody>
            <a:bodyPr wrap="none">
              <a:spAutoFit/>
            </a:bodyPr>
            <a:lstStyle/>
            <a:p>
              <a:r>
                <a:rPr lang="zh-CN" altLang="en-US" sz="675" b="1" dirty="0">
                  <a:solidFill>
                    <a:schemeClr val="accent2"/>
                  </a:solidFill>
                  <a:latin typeface="微软雅黑" panose="020B0503020204020204" pitchFamily="34" charset="-122"/>
                  <a:ea typeface="微软雅黑" panose="020B0503020204020204" pitchFamily="34" charset="-122"/>
                </a:rPr>
                <a:t>中川镇卫生院</a:t>
              </a:r>
            </a:p>
          </p:txBody>
        </p:sp>
        <p:pic>
          <p:nvPicPr>
            <p:cNvPr id="126" name="图片 125"/>
            <p:cNvPicPr>
              <a:picLocks noChangeAspect="1"/>
            </p:cNvPicPr>
            <p:nvPr/>
          </p:nvPicPr>
          <p:blipFill>
            <a:blip r:embed="rId7" cstate="print"/>
            <a:stretch>
              <a:fillRect/>
            </a:stretch>
          </p:blipFill>
          <p:spPr>
            <a:xfrm>
              <a:off x="5337263" y="4103593"/>
              <a:ext cx="267936" cy="267936"/>
            </a:xfrm>
            <a:prstGeom prst="rect">
              <a:avLst/>
            </a:prstGeom>
          </p:spPr>
        </p:pic>
        <p:sp>
          <p:nvSpPr>
            <p:cNvPr id="127" name="矩形 126"/>
            <p:cNvSpPr/>
            <p:nvPr/>
          </p:nvSpPr>
          <p:spPr>
            <a:xfrm>
              <a:off x="5799564" y="4377771"/>
              <a:ext cx="665925" cy="211603"/>
            </a:xfrm>
            <a:prstGeom prst="rect">
              <a:avLst/>
            </a:prstGeom>
          </p:spPr>
          <p:txBody>
            <a:bodyPr wrap="none">
              <a:spAutoFit/>
            </a:bodyPr>
            <a:lstStyle/>
            <a:p>
              <a:r>
                <a:rPr lang="zh-CN" altLang="en-US" sz="675" b="1" dirty="0">
                  <a:solidFill>
                    <a:schemeClr val="accent2"/>
                  </a:solidFill>
                  <a:latin typeface="微软雅黑" panose="020B0503020204020204" pitchFamily="34" charset="-122"/>
                  <a:ea typeface="微软雅黑" panose="020B0503020204020204" pitchFamily="34" charset="-122"/>
                </a:rPr>
                <a:t>秦川卫生院</a:t>
              </a:r>
            </a:p>
          </p:txBody>
        </p:sp>
        <p:sp>
          <p:nvSpPr>
            <p:cNvPr id="128" name="矩形 127"/>
            <p:cNvSpPr/>
            <p:nvPr/>
          </p:nvSpPr>
          <p:spPr>
            <a:xfrm>
              <a:off x="6312833" y="4377771"/>
              <a:ext cx="665925" cy="211603"/>
            </a:xfrm>
            <a:prstGeom prst="rect">
              <a:avLst/>
            </a:prstGeom>
          </p:spPr>
          <p:txBody>
            <a:bodyPr wrap="none">
              <a:spAutoFit/>
            </a:bodyPr>
            <a:lstStyle/>
            <a:p>
              <a:r>
                <a:rPr lang="zh-CN" altLang="en-US" sz="675" b="1" dirty="0">
                  <a:solidFill>
                    <a:schemeClr val="accent2"/>
                  </a:solidFill>
                  <a:latin typeface="微软雅黑" panose="020B0503020204020204" pitchFamily="34" charset="-122"/>
                  <a:ea typeface="微软雅黑" panose="020B0503020204020204" pitchFamily="34" charset="-122"/>
                </a:rPr>
                <a:t>西岔卫生院</a:t>
              </a:r>
            </a:p>
          </p:txBody>
        </p:sp>
        <p:pic>
          <p:nvPicPr>
            <p:cNvPr id="133" name="图片 132"/>
            <p:cNvPicPr>
              <a:picLocks noChangeAspect="1"/>
            </p:cNvPicPr>
            <p:nvPr/>
          </p:nvPicPr>
          <p:blipFill>
            <a:blip r:embed="rId7" cstate="print"/>
            <a:stretch>
              <a:fillRect/>
            </a:stretch>
          </p:blipFill>
          <p:spPr>
            <a:xfrm>
              <a:off x="5924222" y="4103593"/>
              <a:ext cx="267936" cy="267936"/>
            </a:xfrm>
            <a:prstGeom prst="rect">
              <a:avLst/>
            </a:prstGeom>
          </p:spPr>
        </p:pic>
        <p:pic>
          <p:nvPicPr>
            <p:cNvPr id="134" name="图片 133"/>
            <p:cNvPicPr>
              <a:picLocks noChangeAspect="1"/>
            </p:cNvPicPr>
            <p:nvPr/>
          </p:nvPicPr>
          <p:blipFill>
            <a:blip r:embed="rId7" cstate="print"/>
            <a:stretch>
              <a:fillRect/>
            </a:stretch>
          </p:blipFill>
          <p:spPr>
            <a:xfrm>
              <a:off x="6432965" y="4103593"/>
              <a:ext cx="267936" cy="267936"/>
            </a:xfrm>
            <a:prstGeom prst="rect">
              <a:avLst/>
            </a:prstGeom>
          </p:spPr>
        </p:pic>
        <p:sp>
          <p:nvSpPr>
            <p:cNvPr id="135" name="上箭头 134"/>
            <p:cNvSpPr/>
            <p:nvPr/>
          </p:nvSpPr>
          <p:spPr>
            <a:xfrm>
              <a:off x="5479606" y="3644598"/>
              <a:ext cx="315875" cy="316061"/>
            </a:xfrm>
            <a:prstGeom prst="upArrow">
              <a:avLst/>
            </a:prstGeom>
            <a:solidFill>
              <a:srgbClr val="0072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微软雅黑" panose="020B0503020204020204" pitchFamily="34" charset="-122"/>
                <a:ea typeface="微软雅黑" panose="020B0503020204020204" pitchFamily="34" charset="-122"/>
              </a:endParaRPr>
            </a:p>
          </p:txBody>
        </p:sp>
        <p:sp>
          <p:nvSpPr>
            <p:cNvPr id="136" name="文本框 135"/>
            <p:cNvSpPr txBox="1"/>
            <p:nvPr/>
          </p:nvSpPr>
          <p:spPr>
            <a:xfrm>
              <a:off x="5795481" y="3720502"/>
              <a:ext cx="641722" cy="232348"/>
            </a:xfrm>
            <a:prstGeom prst="rect">
              <a:avLst/>
            </a:prstGeom>
            <a:noFill/>
          </p:spPr>
          <p:txBody>
            <a:bodyPr wrap="none" rtlCol="0">
              <a:spAutoFit/>
            </a:bodyPr>
            <a:lstStyle/>
            <a:p>
              <a:r>
                <a:rPr lang="zh-CN" altLang="en-US" sz="800" b="1" dirty="0">
                  <a:solidFill>
                    <a:schemeClr val="accent2"/>
                  </a:solidFill>
                  <a:latin typeface="微软雅黑" panose="020B0503020204020204" pitchFamily="34" charset="-122"/>
                  <a:ea typeface="微软雅黑" panose="020B0503020204020204" pitchFamily="34" charset="-122"/>
                </a:rPr>
                <a:t>申请分析</a:t>
              </a:r>
            </a:p>
          </p:txBody>
        </p:sp>
        <p:sp>
          <p:nvSpPr>
            <p:cNvPr id="137" name="文本框 136"/>
            <p:cNvSpPr txBox="1"/>
            <p:nvPr/>
          </p:nvSpPr>
          <p:spPr>
            <a:xfrm>
              <a:off x="5935456" y="3056950"/>
              <a:ext cx="863005" cy="232348"/>
            </a:xfrm>
            <a:prstGeom prst="rect">
              <a:avLst/>
            </a:prstGeom>
            <a:noFill/>
          </p:spPr>
          <p:txBody>
            <a:bodyPr wrap="none" rtlCol="0">
              <a:spAutoFit/>
            </a:bodyPr>
            <a:lstStyle/>
            <a:p>
              <a:r>
                <a:rPr lang="zh-CN" altLang="en-US" sz="800" b="1" dirty="0">
                  <a:solidFill>
                    <a:schemeClr val="accent2"/>
                  </a:solidFill>
                  <a:latin typeface="微软雅黑" panose="020B0503020204020204" pitchFamily="34" charset="-122"/>
                  <a:ea typeface="微软雅黑" panose="020B0503020204020204" pitchFamily="34" charset="-122"/>
                </a:rPr>
                <a:t>分析、出报告</a:t>
              </a:r>
            </a:p>
          </p:txBody>
        </p:sp>
        <p:sp>
          <p:nvSpPr>
            <p:cNvPr id="138" name="右箭头 137"/>
            <p:cNvSpPr/>
            <p:nvPr/>
          </p:nvSpPr>
          <p:spPr>
            <a:xfrm>
              <a:off x="6915896" y="4104041"/>
              <a:ext cx="502937" cy="345856"/>
            </a:xfrm>
            <a:prstGeom prst="rightArrow">
              <a:avLst/>
            </a:prstGeom>
            <a:solidFill>
              <a:srgbClr val="237BE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微软雅黑" panose="020B0503020204020204" pitchFamily="34" charset="-122"/>
                <a:ea typeface="微软雅黑" panose="020B0503020204020204" pitchFamily="34" charset="-122"/>
              </a:endParaRPr>
            </a:p>
          </p:txBody>
        </p:sp>
        <p:pic>
          <p:nvPicPr>
            <p:cNvPr id="139" name="图片 138"/>
            <p:cNvPicPr>
              <a:picLocks noChangeAspect="1"/>
            </p:cNvPicPr>
            <p:nvPr/>
          </p:nvPicPr>
          <p:blipFill>
            <a:blip r:embed="rId9" cstate="print">
              <a:extLst>
                <a:ext uri="{28A0092B-C50C-407E-A947-70E740481C1C}">
                  <a14:useLocalDpi xmlns:a14="http://schemas.microsoft.com/office/drawing/2010/main" xmlns="" val="0"/>
                </a:ext>
              </a:extLst>
            </a:blip>
            <a:stretch>
              <a:fillRect/>
            </a:stretch>
          </p:blipFill>
          <p:spPr>
            <a:xfrm>
              <a:off x="7390064" y="3852529"/>
              <a:ext cx="723623" cy="723623"/>
            </a:xfrm>
            <a:prstGeom prst="rect">
              <a:avLst/>
            </a:prstGeom>
          </p:spPr>
        </p:pic>
        <p:sp>
          <p:nvSpPr>
            <p:cNvPr id="144" name="文本框 143"/>
            <p:cNvSpPr txBox="1"/>
            <p:nvPr/>
          </p:nvSpPr>
          <p:spPr>
            <a:xfrm>
              <a:off x="7414519" y="3587915"/>
              <a:ext cx="641722" cy="232348"/>
            </a:xfrm>
            <a:prstGeom prst="rect">
              <a:avLst/>
            </a:prstGeom>
            <a:noFill/>
          </p:spPr>
          <p:txBody>
            <a:bodyPr wrap="none" rtlCol="0">
              <a:spAutoFit/>
            </a:bodyPr>
            <a:lstStyle/>
            <a:p>
              <a:r>
                <a:rPr lang="zh-CN" altLang="en-US" sz="800" b="1" dirty="0">
                  <a:solidFill>
                    <a:schemeClr val="accent2"/>
                  </a:solidFill>
                  <a:latin typeface="微软雅黑" panose="020B0503020204020204" pitchFamily="34" charset="-122"/>
                  <a:ea typeface="微软雅黑" panose="020B0503020204020204" pitchFamily="34" charset="-122"/>
                </a:rPr>
                <a:t>打印报告</a:t>
              </a:r>
            </a:p>
          </p:txBody>
        </p:sp>
        <p:sp>
          <p:nvSpPr>
            <p:cNvPr id="145" name="文本框 144"/>
            <p:cNvSpPr txBox="1"/>
            <p:nvPr/>
          </p:nvSpPr>
          <p:spPr>
            <a:xfrm>
              <a:off x="8650473" y="3402474"/>
              <a:ext cx="623904" cy="273838"/>
            </a:xfrm>
            <a:prstGeom prst="rect">
              <a:avLst/>
            </a:prstGeom>
            <a:noFill/>
          </p:spPr>
          <p:txBody>
            <a:bodyPr wrap="square">
              <a:spAutoFit/>
              <a:scene3d>
                <a:camera prst="orthographicFront"/>
                <a:lightRig rig="threePt" dir="t"/>
              </a:scene3d>
            </a:bodyPr>
            <a:lstStyle/>
            <a:p>
              <a:pPr algn="ctr"/>
              <a:r>
                <a:rPr lang="zh-CN" altLang="en-US" sz="1050" noProof="1">
                  <a:ln w="22225">
                    <a:solidFill>
                      <a:schemeClr val="accent2"/>
                    </a:solidFill>
                    <a:prstDash val="solid"/>
                  </a:ln>
                  <a:solidFill>
                    <a:schemeClr val="accent2">
                      <a:lumMod val="40000"/>
                      <a:lumOff val="60000"/>
                    </a:schemeClr>
                  </a:solidFill>
                  <a:latin typeface="微软雅黑" panose="020B0503020204020204" pitchFamily="34" charset="-122"/>
                  <a:ea typeface="微软雅黑" panose="020B0503020204020204" pitchFamily="34" charset="-122"/>
                </a:rPr>
                <a:t>用户</a:t>
              </a:r>
            </a:p>
          </p:txBody>
        </p:sp>
        <p:pic>
          <p:nvPicPr>
            <p:cNvPr id="146" name="图片 145"/>
            <p:cNvPicPr>
              <a:picLocks noChangeAspect="1"/>
            </p:cNvPicPr>
            <p:nvPr/>
          </p:nvPicPr>
          <p:blipFill>
            <a:blip r:embed="rId3" cstate="print"/>
            <a:stretch>
              <a:fillRect/>
            </a:stretch>
          </p:blipFill>
          <p:spPr>
            <a:xfrm>
              <a:off x="8743365" y="2914379"/>
              <a:ext cx="438122" cy="411114"/>
            </a:xfrm>
            <a:prstGeom prst="rect">
              <a:avLst/>
            </a:prstGeom>
          </p:spPr>
        </p:pic>
        <p:sp>
          <p:nvSpPr>
            <p:cNvPr id="147" name="文本框 146"/>
            <p:cNvSpPr txBox="1"/>
            <p:nvPr/>
          </p:nvSpPr>
          <p:spPr>
            <a:xfrm>
              <a:off x="5172439" y="4843610"/>
              <a:ext cx="1360892" cy="273838"/>
            </a:xfrm>
            <a:prstGeom prst="rect">
              <a:avLst/>
            </a:prstGeom>
            <a:noFill/>
          </p:spPr>
          <p:txBody>
            <a:bodyPr wrap="none" rtlCol="0">
              <a:spAutoFit/>
            </a:bodyPr>
            <a:lstStyle/>
            <a:p>
              <a:r>
                <a:rPr kumimoji="1" lang="zh-CN" altLang="en-US" sz="1050" dirty="0">
                  <a:latin typeface="微软雅黑" panose="020B0503020204020204" pitchFamily="34" charset="-122"/>
                  <a:ea typeface="微软雅黑" panose="020B0503020204020204" pitchFamily="34" charset="-122"/>
                </a:rPr>
                <a:t>心电数据标准格式</a:t>
              </a:r>
              <a:endParaRPr kumimoji="1" lang="en-US" altLang="zh-CN" sz="1050" dirty="0">
                <a:latin typeface="微软雅黑" panose="020B0503020204020204" pitchFamily="34" charset="-122"/>
                <a:ea typeface="微软雅黑" panose="020B0503020204020204" pitchFamily="34" charset="-122"/>
              </a:endParaRPr>
            </a:p>
          </p:txBody>
        </p:sp>
        <p:sp>
          <p:nvSpPr>
            <p:cNvPr id="148" name="文本框 147"/>
            <p:cNvSpPr txBox="1"/>
            <p:nvPr/>
          </p:nvSpPr>
          <p:spPr>
            <a:xfrm>
              <a:off x="6964338" y="2586919"/>
              <a:ext cx="283356" cy="1145141"/>
            </a:xfrm>
            <a:prstGeom prst="rect">
              <a:avLst/>
            </a:prstGeom>
            <a:noFill/>
          </p:spPr>
          <p:txBody>
            <a:bodyPr wrap="square" rtlCol="0">
              <a:spAutoFit/>
            </a:bodyPr>
            <a:lstStyle>
              <a:defPPr>
                <a:defRPr lang="zh-CN"/>
              </a:defPPr>
              <a:lvl1pPr>
                <a:lnSpc>
                  <a:spcPct val="150000"/>
                </a:lnSpc>
                <a:defRPr sz="1200">
                  <a:solidFill>
                    <a:schemeClr val="tx1">
                      <a:lumMod val="65000"/>
                      <a:lumOff val="35000"/>
                    </a:schemeClr>
                  </a:solidFill>
                  <a:latin typeface="微软雅黑" panose="020B0503020204020204" pitchFamily="34" charset="-122"/>
                  <a:ea typeface="微软雅黑" panose="020B0503020204020204" pitchFamily="34" charset="-122"/>
                </a:defRPr>
              </a:lvl1pPr>
            </a:lstStyle>
            <a:p>
              <a:r>
                <a:rPr lang="zh-CN" altLang="en-US" sz="1050" dirty="0">
                  <a:latin typeface="微软雅黑" panose="020B0503020204020204" pitchFamily="34" charset="-122"/>
                  <a:ea typeface="微软雅黑" panose="020B0503020204020204" pitchFamily="34" charset="-122"/>
                </a:rPr>
                <a:t>指导方案</a:t>
              </a:r>
            </a:p>
          </p:txBody>
        </p:sp>
        <p:grpSp>
          <p:nvGrpSpPr>
            <p:cNvPr id="150" name="组合 149"/>
            <p:cNvGrpSpPr/>
            <p:nvPr/>
          </p:nvGrpSpPr>
          <p:grpSpPr>
            <a:xfrm>
              <a:off x="3244704" y="3455955"/>
              <a:ext cx="901683" cy="805074"/>
              <a:chOff x="4326272" y="4607940"/>
              <a:chExt cx="1202244" cy="1073432"/>
            </a:xfrm>
          </p:grpSpPr>
          <p:pic>
            <p:nvPicPr>
              <p:cNvPr id="15" name="图片 14"/>
              <p:cNvPicPr>
                <a:picLocks noChangeAspect="1"/>
              </p:cNvPicPr>
              <p:nvPr/>
            </p:nvPicPr>
            <p:blipFill>
              <a:blip r:embed="rId10" cstate="print">
                <a:extLst>
                  <a:ext uri="{28A0092B-C50C-407E-A947-70E740481C1C}">
                    <a14:useLocalDpi xmlns:a14="http://schemas.microsoft.com/office/drawing/2010/main" xmlns="" val="0"/>
                  </a:ext>
                </a:extLst>
              </a:blip>
              <a:stretch>
                <a:fillRect/>
              </a:stretch>
            </p:blipFill>
            <p:spPr>
              <a:xfrm>
                <a:off x="4326272" y="4607940"/>
                <a:ext cx="1202244" cy="1073432"/>
              </a:xfrm>
              <a:prstGeom prst="rect">
                <a:avLst/>
              </a:prstGeom>
            </p:spPr>
          </p:pic>
          <p:pic>
            <p:nvPicPr>
              <p:cNvPr id="149" name="图片 148"/>
              <p:cNvPicPr>
                <a:picLocks noChangeAspect="1"/>
              </p:cNvPicPr>
              <p:nvPr/>
            </p:nvPicPr>
            <p:blipFill>
              <a:blip r:embed="rId11" cstate="print">
                <a:extLst>
                  <a:ext uri="{28A0092B-C50C-407E-A947-70E740481C1C}">
                    <a14:useLocalDpi xmlns:a14="http://schemas.microsoft.com/office/drawing/2010/main" xmlns="" val="0"/>
                  </a:ext>
                </a:extLst>
              </a:blip>
              <a:stretch>
                <a:fillRect/>
              </a:stretch>
            </p:blipFill>
            <p:spPr>
              <a:xfrm>
                <a:off x="4706434" y="4890983"/>
                <a:ext cx="400445" cy="400445"/>
              </a:xfrm>
              <a:prstGeom prst="rect">
                <a:avLst/>
              </a:prstGeom>
            </p:spPr>
          </p:pic>
        </p:grpSp>
      </p:gr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1707782"/>
            <a:ext cx="5940152" cy="1080000"/>
          </a:xfrm>
          <a:prstGeom prst="rect">
            <a:avLst/>
          </a:prstGeom>
          <a:solidFill>
            <a:srgbClr val="19649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a:off x="8910228" y="1707782"/>
            <a:ext cx="233772" cy="1080000"/>
          </a:xfrm>
          <a:prstGeom prst="rect">
            <a:avLst/>
          </a:prstGeom>
          <a:solidFill>
            <a:srgbClr val="19649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TextBox 5"/>
          <p:cNvSpPr txBox="1"/>
          <p:nvPr/>
        </p:nvSpPr>
        <p:spPr>
          <a:xfrm>
            <a:off x="6192061" y="1955394"/>
            <a:ext cx="2621280" cy="583565"/>
          </a:xfrm>
          <a:prstGeom prst="rect">
            <a:avLst/>
          </a:prstGeom>
          <a:noFill/>
        </p:spPr>
        <p:txBody>
          <a:bodyPr wrap="none" rtlCol="0">
            <a:spAutoFit/>
          </a:bodyPr>
          <a:lstStyle/>
          <a:p>
            <a:r>
              <a:rPr lang="zh-CN" altLang="en-US" sz="3200" b="1" dirty="0" smtClean="0">
                <a:solidFill>
                  <a:srgbClr val="196494"/>
                </a:solidFill>
                <a:latin typeface="微软雅黑" panose="020B0503020204020204" pitchFamily="34" charset="-122"/>
                <a:ea typeface="微软雅黑" panose="020B0503020204020204" pitchFamily="34" charset="-122"/>
              </a:rPr>
              <a:t>近期中标信息</a:t>
            </a:r>
            <a:endParaRPr lang="zh-CN" altLang="en-US" sz="3200" b="1" dirty="0">
              <a:solidFill>
                <a:srgbClr val="196494"/>
              </a:solidFill>
              <a:latin typeface="微软雅黑" panose="020B0503020204020204" pitchFamily="34" charset="-122"/>
              <a:ea typeface="微软雅黑" panose="020B0503020204020204" pitchFamily="34" charset="-122"/>
            </a:endParaRPr>
          </a:p>
        </p:txBody>
      </p:sp>
      <p:sp>
        <p:nvSpPr>
          <p:cNvPr id="8" name="TextBox 7"/>
          <p:cNvSpPr txBox="1"/>
          <p:nvPr/>
        </p:nvSpPr>
        <p:spPr>
          <a:xfrm>
            <a:off x="1619672" y="1851670"/>
            <a:ext cx="4040530" cy="1200329"/>
          </a:xfrm>
          <a:prstGeom prst="rect">
            <a:avLst/>
          </a:prstGeom>
          <a:noFill/>
        </p:spPr>
        <p:txBody>
          <a:bodyPr wrap="none" rtlCol="0">
            <a:spAutoFit/>
          </a:bodyPr>
          <a:lstStyle/>
          <a:p>
            <a:r>
              <a:rPr lang="en-US" altLang="zh-CN" sz="7200" b="1" dirty="0">
                <a:solidFill>
                  <a:srgbClr val="1F71A6"/>
                </a:solidFill>
                <a:latin typeface="微软雅黑" panose="020B0503020204020204" pitchFamily="34" charset="-122"/>
                <a:ea typeface="微软雅黑" panose="020B0503020204020204" pitchFamily="34" charset="-122"/>
              </a:rPr>
              <a:t>PART</a:t>
            </a:r>
            <a:r>
              <a:rPr lang="en-US" altLang="zh-CN" sz="7200" b="1" dirty="0">
                <a:solidFill>
                  <a:schemeClr val="bg1">
                    <a:lumMod val="75000"/>
                  </a:schemeClr>
                </a:solidFill>
                <a:latin typeface="微软雅黑" panose="020B0503020204020204" pitchFamily="34" charset="-122"/>
                <a:ea typeface="微软雅黑" panose="020B0503020204020204" pitchFamily="34" charset="-122"/>
              </a:rPr>
              <a:t> </a:t>
            </a:r>
            <a:r>
              <a:rPr lang="en-US" altLang="zh-CN" sz="7200" b="1" dirty="0">
                <a:solidFill>
                  <a:srgbClr val="1F71A6"/>
                </a:solidFill>
                <a:latin typeface="微软雅黑" panose="020B0503020204020204" pitchFamily="34" charset="-122"/>
                <a:ea typeface="微软雅黑" panose="020B0503020204020204" pitchFamily="34" charset="-122"/>
              </a:rPr>
              <a:t>06</a:t>
            </a:r>
            <a:endParaRPr lang="zh-CN" altLang="en-US" sz="7200" b="1" dirty="0">
              <a:solidFill>
                <a:srgbClr val="1F71A6"/>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3"/>
          </p:nvPr>
        </p:nvSpPr>
        <p:spPr>
          <a:xfrm>
            <a:off x="467544" y="123478"/>
            <a:ext cx="6480720" cy="720080"/>
          </a:xfrm>
        </p:spPr>
        <p:txBody>
          <a:bodyPr/>
          <a:lstStyle/>
          <a:p>
            <a:r>
              <a:rPr lang="zh-CN" altLang="en-US" dirty="0" smtClean="0">
                <a:solidFill>
                  <a:srgbClr val="2179B1"/>
                </a:solidFill>
              </a:rPr>
              <a:t>中标信息</a:t>
            </a:r>
            <a:r>
              <a:rPr lang="en-US" altLang="zh-CN" dirty="0" smtClean="0">
                <a:solidFill>
                  <a:srgbClr val="2179B1"/>
                </a:solidFill>
              </a:rPr>
              <a:t>--</a:t>
            </a:r>
            <a:r>
              <a:rPr lang="zh-CN" altLang="en-US" dirty="0" smtClean="0">
                <a:solidFill>
                  <a:srgbClr val="2179B1"/>
                </a:solidFill>
              </a:rPr>
              <a:t>青岛</a:t>
            </a:r>
            <a:endParaRPr lang="zh-CN" altLang="en-US" dirty="0">
              <a:solidFill>
                <a:srgbClr val="2179B1"/>
              </a:solidFill>
            </a:endParaRPr>
          </a:p>
        </p:txBody>
      </p:sp>
      <p:pic>
        <p:nvPicPr>
          <p:cNvPr id="23557" name="Picture 5"/>
          <p:cNvPicPr>
            <a:picLocks noChangeAspect="1" noChangeArrowheads="1"/>
          </p:cNvPicPr>
          <p:nvPr/>
        </p:nvPicPr>
        <p:blipFill>
          <a:blip r:embed="rId3" cstate="print"/>
          <a:srcRect/>
          <a:stretch>
            <a:fillRect/>
          </a:stretch>
        </p:blipFill>
        <p:spPr bwMode="auto">
          <a:xfrm>
            <a:off x="323528" y="987574"/>
            <a:ext cx="4249274" cy="2592288"/>
          </a:xfrm>
          <a:prstGeom prst="rect">
            <a:avLst/>
          </a:prstGeom>
          <a:noFill/>
          <a:ln w="9525">
            <a:noFill/>
            <a:miter lim="800000"/>
            <a:headEnd/>
            <a:tailEnd/>
          </a:ln>
        </p:spPr>
      </p:pic>
      <p:pic>
        <p:nvPicPr>
          <p:cNvPr id="16" name="Picture 4"/>
          <p:cNvPicPr>
            <a:picLocks noChangeAspect="1" noChangeArrowheads="1"/>
          </p:cNvPicPr>
          <p:nvPr/>
        </p:nvPicPr>
        <p:blipFill>
          <a:blip r:embed="rId4" cstate="print"/>
          <a:srcRect/>
          <a:stretch>
            <a:fillRect/>
          </a:stretch>
        </p:blipFill>
        <p:spPr bwMode="auto">
          <a:xfrm>
            <a:off x="3491880" y="771550"/>
            <a:ext cx="4152144" cy="2883916"/>
          </a:xfrm>
          <a:prstGeom prst="rect">
            <a:avLst/>
          </a:prstGeom>
          <a:noFill/>
          <a:ln w="9525">
            <a:noFill/>
            <a:miter lim="800000"/>
            <a:headEnd/>
            <a:tailEnd/>
          </a:ln>
        </p:spPr>
      </p:pic>
      <p:pic>
        <p:nvPicPr>
          <p:cNvPr id="17" name="Picture 2"/>
          <p:cNvPicPr>
            <a:picLocks noChangeAspect="1" noChangeArrowheads="1"/>
          </p:cNvPicPr>
          <p:nvPr/>
        </p:nvPicPr>
        <p:blipFill>
          <a:blip r:embed="rId5" cstate="print"/>
          <a:srcRect l="26100"/>
          <a:stretch>
            <a:fillRect/>
          </a:stretch>
        </p:blipFill>
        <p:spPr bwMode="auto">
          <a:xfrm rot="16200000">
            <a:off x="6022753" y="1840566"/>
            <a:ext cx="1800199" cy="3550341"/>
          </a:xfrm>
          <a:prstGeom prst="rect">
            <a:avLst/>
          </a:prstGeom>
          <a:noFill/>
          <a:ln w="9525">
            <a:noFill/>
            <a:miter lim="800000"/>
            <a:headEnd/>
            <a:tailEnd/>
          </a:ln>
        </p:spPr>
      </p:pic>
      <p:sp>
        <p:nvSpPr>
          <p:cNvPr id="18" name="圆角矩形 17"/>
          <p:cNvSpPr/>
          <p:nvPr/>
        </p:nvSpPr>
        <p:spPr>
          <a:xfrm>
            <a:off x="755576" y="2571750"/>
            <a:ext cx="2736304" cy="576064"/>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圆角矩形 18"/>
          <p:cNvSpPr/>
          <p:nvPr/>
        </p:nvSpPr>
        <p:spPr>
          <a:xfrm>
            <a:off x="3923928" y="843558"/>
            <a:ext cx="2736304" cy="792088"/>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3"/>
          </p:nvPr>
        </p:nvSpPr>
        <p:spPr>
          <a:xfrm>
            <a:off x="467544" y="123478"/>
            <a:ext cx="6480720" cy="720080"/>
          </a:xfrm>
        </p:spPr>
        <p:txBody>
          <a:bodyPr/>
          <a:lstStyle/>
          <a:p>
            <a:r>
              <a:rPr lang="zh-CN" altLang="en-US" dirty="0" smtClean="0">
                <a:solidFill>
                  <a:srgbClr val="2179B1"/>
                </a:solidFill>
              </a:rPr>
              <a:t>中标信息</a:t>
            </a:r>
            <a:r>
              <a:rPr lang="en-US" altLang="zh-CN" dirty="0" smtClean="0">
                <a:solidFill>
                  <a:srgbClr val="2179B1"/>
                </a:solidFill>
              </a:rPr>
              <a:t>—</a:t>
            </a:r>
            <a:r>
              <a:rPr lang="zh-CN" altLang="en-US" dirty="0" smtClean="0">
                <a:solidFill>
                  <a:srgbClr val="2179B1"/>
                </a:solidFill>
              </a:rPr>
              <a:t>新疆哈密中心医院</a:t>
            </a:r>
            <a:endParaRPr lang="zh-CN" altLang="en-US" dirty="0">
              <a:solidFill>
                <a:srgbClr val="2179B1"/>
              </a:solidFill>
            </a:endParaRPr>
          </a:p>
        </p:txBody>
      </p:sp>
      <p:pic>
        <p:nvPicPr>
          <p:cNvPr id="24578" name="Picture 2"/>
          <p:cNvPicPr>
            <a:picLocks noChangeAspect="1" noChangeArrowheads="1"/>
          </p:cNvPicPr>
          <p:nvPr/>
        </p:nvPicPr>
        <p:blipFill>
          <a:blip r:embed="rId3" cstate="print"/>
          <a:srcRect/>
          <a:stretch>
            <a:fillRect/>
          </a:stretch>
        </p:blipFill>
        <p:spPr bwMode="auto">
          <a:xfrm>
            <a:off x="2771800" y="843558"/>
            <a:ext cx="3096344" cy="4086253"/>
          </a:xfrm>
          <a:prstGeom prst="rect">
            <a:avLst/>
          </a:prstGeom>
          <a:noFill/>
          <a:ln w="9525">
            <a:noFill/>
            <a:miter lim="800000"/>
            <a:headEnd/>
            <a:tailEnd/>
          </a:ln>
        </p:spPr>
      </p:pic>
      <p:sp>
        <p:nvSpPr>
          <p:cNvPr id="9" name="圆角矩形 8"/>
          <p:cNvSpPr/>
          <p:nvPr/>
        </p:nvSpPr>
        <p:spPr>
          <a:xfrm>
            <a:off x="3275855" y="3147814"/>
            <a:ext cx="1656184" cy="792088"/>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2" descr="C:\Users\Administrator\Desktop\矢量智能对象@2x.png"/>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625010" y="1059582"/>
            <a:ext cx="5843180" cy="2906037"/>
          </a:xfrm>
          <a:prstGeom prst="rect">
            <a:avLst/>
          </a:prstGeom>
          <a:noFill/>
          <a:extLst>
            <a:ext uri="{909E8E84-426E-40DD-AFC4-6F175D3DCCD1}">
              <a14:hiddenFill xmlns:a14="http://schemas.microsoft.com/office/drawing/2010/main" xmlns="">
                <a:solidFill>
                  <a:srgbClr val="FFFFFF"/>
                </a:solidFill>
              </a14:hiddenFill>
            </a:ext>
          </a:extLst>
        </p:spPr>
      </p:pic>
      <p:sp>
        <p:nvSpPr>
          <p:cNvPr id="4" name="Rectangle 6"/>
          <p:cNvSpPr/>
          <p:nvPr/>
        </p:nvSpPr>
        <p:spPr>
          <a:xfrm>
            <a:off x="4382930" y="4299942"/>
            <a:ext cx="229550" cy="276999"/>
          </a:xfrm>
          <a:prstGeom prst="rect">
            <a:avLst/>
          </a:prstGeom>
        </p:spPr>
        <p:txBody>
          <a:bodyPr wrap="none">
            <a:spAutoFit/>
          </a:bodyPr>
          <a:lstStyle/>
          <a:p>
            <a:pPr algn="ctr"/>
            <a:r>
              <a:rPr lang="en-US" altLang="zh-CN" sz="1200" dirty="0">
                <a:solidFill>
                  <a:schemeClr val="tx1">
                    <a:lumMod val="65000"/>
                    <a:lumOff val="35000"/>
                  </a:schemeClr>
                </a:solidFill>
                <a:latin typeface="微软雅黑" panose="020B0503020204020204" pitchFamily="34" charset="-122"/>
                <a:ea typeface="微软雅黑" panose="020B0503020204020204" pitchFamily="34" charset="-122"/>
                <a:cs typeface="Open Sans" panose="020B0606030504020204" pitchFamily="34" charset="0"/>
              </a:rPr>
              <a:t> </a:t>
            </a:r>
            <a:endParaRPr lang="en-US" altLang="zh-CN" sz="1200" dirty="0">
              <a:solidFill>
                <a:schemeClr val="tx1">
                  <a:lumMod val="65000"/>
                  <a:lumOff val="35000"/>
                </a:schemeClr>
              </a:solidFill>
              <a:latin typeface="Calibri" panose="020F0502020204030204" charset="0"/>
              <a:ea typeface="微软雅黑" panose="020B0503020204020204" pitchFamily="34" charset="-122"/>
              <a:cs typeface="Calibri" panose="020F0502020204030204" charset="0"/>
            </a:endParaRPr>
          </a:p>
        </p:txBody>
      </p:sp>
      <p:sp>
        <p:nvSpPr>
          <p:cNvPr id="5" name="Rectangle 6"/>
          <p:cNvSpPr/>
          <p:nvPr/>
        </p:nvSpPr>
        <p:spPr>
          <a:xfrm>
            <a:off x="2676288" y="4449599"/>
            <a:ext cx="3791423" cy="461665"/>
          </a:xfrm>
          <a:prstGeom prst="rect">
            <a:avLst/>
          </a:prstGeom>
        </p:spPr>
        <p:txBody>
          <a:bodyPr wrap="none">
            <a:spAutoFit/>
          </a:bodyPr>
          <a:lstStyle/>
          <a:p>
            <a:pPr algn="ct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cs typeface="Open Sans" panose="020B0606030504020204" pitchFamily="34" charset="0"/>
              </a:rPr>
              <a:t>新希望集团</a:t>
            </a:r>
            <a:r>
              <a:rPr lang="zh-CN" altLang="en-US" sz="1200" dirty="0" smtClean="0">
                <a:solidFill>
                  <a:schemeClr val="tx1">
                    <a:lumMod val="65000"/>
                    <a:lumOff val="35000"/>
                  </a:schemeClr>
                </a:solidFill>
                <a:latin typeface="微软雅黑" panose="020B0503020204020204" pitchFamily="34" charset="-122"/>
                <a:ea typeface="微软雅黑" panose="020B0503020204020204" pitchFamily="34" charset="-122"/>
                <a:cs typeface="Open Sans" panose="020B0606030504020204" pitchFamily="34" charset="0"/>
              </a:rPr>
              <a:t>控股企业  </a:t>
            </a:r>
            <a:r>
              <a:rPr lang="en-US" altLang="zh-CN" sz="1200" dirty="0">
                <a:solidFill>
                  <a:schemeClr val="tx1">
                    <a:lumMod val="65000"/>
                    <a:lumOff val="35000"/>
                  </a:schemeClr>
                </a:solidFill>
                <a:latin typeface="微软雅黑" panose="020B0503020204020204" pitchFamily="34" charset="-122"/>
                <a:ea typeface="微软雅黑" panose="020B0503020204020204" pitchFamily="34" charset="-122"/>
                <a:cs typeface="Open Sans" panose="020B0606030504020204" pitchFamily="34" charset="0"/>
              </a:rPr>
              <a:t>|  </a:t>
            </a: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cs typeface="Open Sans" panose="020B0606030504020204" pitchFamily="34" charset="0"/>
              </a:rPr>
              <a:t>浙江好络维医疗技术有限公司</a:t>
            </a:r>
            <a:endParaRPr lang="en-US" altLang="zh-CN" sz="1200" dirty="0">
              <a:solidFill>
                <a:schemeClr val="tx1">
                  <a:lumMod val="65000"/>
                  <a:lumOff val="35000"/>
                </a:schemeClr>
              </a:solidFill>
              <a:latin typeface="Calibri" panose="020F0502020204030204" charset="0"/>
              <a:ea typeface="微软雅黑" panose="020B0503020204020204" pitchFamily="34" charset="-122"/>
              <a:cs typeface="Calibri" panose="020F0502020204030204" charset="0"/>
            </a:endParaRPr>
          </a:p>
          <a:p>
            <a:pPr algn="ctr"/>
            <a:endParaRPr lang="en-US" altLang="zh-CN" sz="1200" dirty="0">
              <a:solidFill>
                <a:schemeClr val="tx1">
                  <a:lumMod val="65000"/>
                  <a:lumOff val="35000"/>
                </a:schemeClr>
              </a:solidFill>
              <a:latin typeface="Calibri" panose="020F0502020204030204" charset="0"/>
              <a:ea typeface="微软雅黑" panose="020B0503020204020204" pitchFamily="34" charset="-122"/>
              <a:cs typeface="Calibri" panose="020F0502020204030204" charset="0"/>
            </a:endParaRPr>
          </a:p>
        </p:txBody>
      </p:sp>
      <p:pic>
        <p:nvPicPr>
          <p:cNvPr id="6" name="Picture 4" descr="C:\Users\Administrator\Desktop\矢量智能对象@2x.png"/>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7380312" y="415574"/>
            <a:ext cx="586814" cy="629752"/>
          </a:xfrm>
          <a:prstGeom prst="rect">
            <a:avLst/>
          </a:prstGeom>
          <a:noFill/>
          <a:extLst>
            <a:ext uri="{909E8E84-426E-40DD-AFC4-6F175D3DCCD1}">
              <a14:hiddenFill xmlns:a14="http://schemas.microsoft.com/office/drawing/2010/main" xmlns="">
                <a:solidFill>
                  <a:srgbClr val="FFFFFF"/>
                </a:solidFill>
              </a14:hiddenFill>
            </a:ext>
          </a:extLst>
        </p:spPr>
      </p:pic>
      <p:pic>
        <p:nvPicPr>
          <p:cNvPr id="7" name="Picture 2" descr="C:\Users\Administrator\Desktop\矢量智能对象@2x.png"/>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8074591" y="454636"/>
            <a:ext cx="567619" cy="604946"/>
          </a:xfrm>
          <a:prstGeom prst="rect">
            <a:avLst/>
          </a:prstGeom>
          <a:noFill/>
          <a:extLst>
            <a:ext uri="{909E8E84-426E-40DD-AFC4-6F175D3DCCD1}">
              <a14:hiddenFill xmlns:a14="http://schemas.microsoft.com/office/drawing/2010/main" xmlns="">
                <a:solidFill>
                  <a:srgbClr val="FFFFFF"/>
                </a:solidFill>
              </a14:hiddenFill>
            </a:ext>
          </a:extLst>
        </p:spPr>
      </p:pic>
      <p:sp>
        <p:nvSpPr>
          <p:cNvPr id="8" name="矩形 7"/>
          <p:cNvSpPr/>
          <p:nvPr/>
        </p:nvSpPr>
        <p:spPr>
          <a:xfrm flipH="1">
            <a:off x="-2" y="5028560"/>
            <a:ext cx="9144001" cy="135157"/>
          </a:xfrm>
          <a:prstGeom prst="rect">
            <a:avLst/>
          </a:prstGeom>
          <a:gradFill>
            <a:gsLst>
              <a:gs pos="0">
                <a:srgbClr val="0E1A40"/>
              </a:gs>
              <a:gs pos="100000">
                <a:srgbClr val="2F5EB0"/>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0"/>
          </a:p>
        </p:txBody>
      </p:sp>
      <p:sp>
        <p:nvSpPr>
          <p:cNvPr id="9" name="TextBox 8"/>
          <p:cNvSpPr txBox="1"/>
          <p:nvPr/>
        </p:nvSpPr>
        <p:spPr>
          <a:xfrm>
            <a:off x="3347864" y="1947485"/>
            <a:ext cx="2954655" cy="1200329"/>
          </a:xfrm>
          <a:prstGeom prst="rect">
            <a:avLst/>
          </a:prstGeom>
          <a:noFill/>
        </p:spPr>
        <p:txBody>
          <a:bodyPr wrap="none" rtlCol="0">
            <a:spAutoFit/>
          </a:bodyPr>
          <a:lstStyle/>
          <a:p>
            <a:r>
              <a:rPr lang="zh-CN" altLang="en-US" sz="7200" dirty="0">
                <a:solidFill>
                  <a:srgbClr val="196494"/>
                </a:solidFill>
                <a:latin typeface="微软雅黑" panose="020B0503020204020204" pitchFamily="34" charset="-122"/>
                <a:ea typeface="微软雅黑" panose="020B0503020204020204" pitchFamily="34" charset="-122"/>
              </a:rPr>
              <a:t>谢谢！</a:t>
            </a:r>
          </a:p>
        </p:txBody>
      </p:sp>
    </p:spTree>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KSO_WPP_MARK_KEY" val="ea5f0bcb-ba51-40be-b645-5b46a7bd0f64"/>
  <p:tag name="COMMONDATA" val="eyJoZGlkIjoiZTdmMTdiN2VkMjNlYzNiNjY2YTZjODVkYmM0YzQxYjcifQ=="/>
  <p:tag name="commondata" val="eyJoZGlkIjoiY2Q1MWJjYTc2OTI0ZTg3NmZjMzlmMmU5ZjU4ZWEyMmIifQ=="/>
</p:tagLst>
</file>

<file path=ppt/tags/tag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7.xml><?xml version="1.0" encoding="utf-8"?>
<p:tagLst xmlns:a="http://schemas.openxmlformats.org/drawingml/2006/main" xmlns:r="http://schemas.openxmlformats.org/officeDocument/2006/relationships" xmlns:p="http://schemas.openxmlformats.org/presentationml/2006/main">
  <p:tag name="KSO_WM_DIAGRAM_VIRTUALLY_FRAME" val="{&quot;height&quot;:222.2244094488189,&quot;left&quot;:354.3300787401575,&quot;top&quot;:89.1015748031496,&quot;width&quot;:160.97307086614174}"/>
</p:tagLst>
</file>

<file path=ppt/tags/tag8.xml><?xml version="1.0" encoding="utf-8"?>
<p:tagLst xmlns:a="http://schemas.openxmlformats.org/drawingml/2006/main" xmlns:r="http://schemas.openxmlformats.org/officeDocument/2006/relationships" xmlns:p="http://schemas.openxmlformats.org/presentationml/2006/main">
  <p:tag name="KSO_WM_DIAGRAM_VIRTUALLY_FRAME" val="{&quot;height&quot;:222.2244094488189,&quot;left&quot;:354.3300787401575,&quot;top&quot;:89.1015748031496,&quot;width&quot;:160.97307086614174}"/>
</p:tagLst>
</file>

<file path=ppt/tags/tag9.xml><?xml version="1.0" encoding="utf-8"?>
<p:tagLst xmlns:a="http://schemas.openxmlformats.org/drawingml/2006/main" xmlns:r="http://schemas.openxmlformats.org/officeDocument/2006/relationships" xmlns:p="http://schemas.openxmlformats.org/presentationml/2006/main">
  <p:tag name="KSO_WM_DIAGRAM_VIRTUALLY_FRAME" val="{&quot;height&quot;:222.2244094488189,&quot;left&quot;:354.3300787401575,&quot;top&quot;:89.1015748031496,&quot;width&quot;:160.97307086614174}"/>
</p:tagLst>
</file>

<file path=ppt/tags/tag10.xml><?xml version="1.0" encoding="utf-8"?>
<p:tagLst xmlns:a="http://schemas.openxmlformats.org/drawingml/2006/main" xmlns:r="http://schemas.openxmlformats.org/officeDocument/2006/relationships" xmlns:p="http://schemas.openxmlformats.org/presentationml/2006/main">
  <p:tag name="KSO_WM_DIAGRAM_VIRTUALLY_FRAME" val="{&quot;height&quot;:222.2244094488189,&quot;left&quot;:354.3300787401575,&quot;top&quot;:89.1015748031496,&quot;width&quot;:160.97307086614174}"/>
</p:tagLst>
</file>

<file path=ppt/tags/tag11.xml><?xml version="1.0" encoding="utf-8"?>
<p:tagLst xmlns:a="http://schemas.openxmlformats.org/drawingml/2006/main" xmlns:r="http://schemas.openxmlformats.org/officeDocument/2006/relationships" xmlns:p="http://schemas.openxmlformats.org/presentationml/2006/main">
  <p:tag name="KSO_WM_DIAGRAM_VIRTUALLY_FRAME" val="{&quot;height&quot;:222.2244094488189,&quot;left&quot;:354.3300787401575,&quot;top&quot;:89.1015748031496,&quot;width&quot;:160.97307086614174}"/>
</p:tagLst>
</file>

<file path=ppt/tags/tag12.xml><?xml version="1.0" encoding="utf-8"?>
<p:tagLst xmlns:a="http://schemas.openxmlformats.org/drawingml/2006/main" xmlns:r="http://schemas.openxmlformats.org/officeDocument/2006/relationships" xmlns:p="http://schemas.openxmlformats.org/presentationml/2006/main">
  <p:tag name="KSO_WM_DIAGRAM_VIRTUALLY_FRAME" val="{&quot;height&quot;:222.2244094488189,&quot;left&quot;:354.3300787401575,&quot;top&quot;:89.1015748031496,&quot;width&quot;:160.97307086614174}"/>
</p:tagLst>
</file>

<file path=ppt/tags/tag13.xml><?xml version="1.0" encoding="utf-8"?>
<p:tagLst xmlns:a="http://schemas.openxmlformats.org/drawingml/2006/main" xmlns:r="http://schemas.openxmlformats.org/officeDocument/2006/relationships" xmlns:p="http://schemas.openxmlformats.org/presentationml/2006/main">
  <p:tag name="KSO_WM_DIAGRAM_VIRTUALLY_FRAME" val="{&quot;height&quot;:222.2244094488189,&quot;left&quot;:354.3300787401575,&quot;top&quot;:89.1015748031496,&quot;width&quot;:160.97307086614174}"/>
</p:tagLst>
</file>

<file path=ppt/tags/tag14.xml><?xml version="1.0" encoding="utf-8"?>
<p:tagLst xmlns:a="http://schemas.openxmlformats.org/drawingml/2006/main" xmlns:r="http://schemas.openxmlformats.org/officeDocument/2006/relationships" xmlns:p="http://schemas.openxmlformats.org/presentationml/2006/main">
  <p:tag name="KSO_WM_DIAGRAM_VIRTUALLY_FRAME" val="{&quot;height&quot;:222.2244094488189,&quot;left&quot;:354.3300787401575,&quot;top&quot;:89.1015748031496,&quot;width&quot;:160.97307086614174}"/>
</p:tagLst>
</file>

<file path=ppt/tags/tag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1.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4652</Words>
  <Application>Microsoft Office PowerPoint</Application>
  <PresentationFormat>全屏显示(16:9)</PresentationFormat>
  <Paragraphs>516</Paragraphs>
  <Slides>37</Slides>
  <Notes>24</Notes>
  <HiddenSlides>0</HiddenSlides>
  <MMClips>0</MMClips>
  <ScaleCrop>false</ScaleCrop>
  <HeadingPairs>
    <vt:vector size="6" baseType="variant">
      <vt:variant>
        <vt:lpstr>主题</vt:lpstr>
      </vt:variant>
      <vt:variant>
        <vt:i4>1</vt:i4>
      </vt:variant>
      <vt:variant>
        <vt:lpstr>嵌入 OLE 服务器</vt:lpstr>
      </vt:variant>
      <vt:variant>
        <vt:i4>1</vt:i4>
      </vt:variant>
      <vt:variant>
        <vt:lpstr>幻灯片标题</vt:lpstr>
      </vt:variant>
      <vt:variant>
        <vt:i4>37</vt:i4>
      </vt:variant>
    </vt:vector>
  </HeadingPairs>
  <TitlesOfParts>
    <vt:vector size="39" baseType="lpstr">
      <vt:lpstr>Office 主题​​</vt:lpstr>
      <vt:lpstr>think-cell 幻灯片</vt:lpstr>
      <vt:lpstr>幻灯片 1</vt:lpstr>
      <vt:lpstr>幻灯片 2</vt:lpstr>
      <vt:lpstr>幻灯片 3</vt:lpstr>
      <vt:lpstr>幻灯片 4</vt:lpstr>
      <vt:lpstr>幻灯片 5</vt:lpstr>
      <vt:lpstr>幻灯片 6</vt:lpstr>
      <vt:lpstr>幻灯片 7</vt:lpstr>
      <vt:lpstr>幻灯片 8</vt:lpstr>
      <vt:lpstr>心电云平台</vt:lpstr>
      <vt:lpstr>平台应用组成</vt:lpstr>
      <vt:lpstr>幻灯片 11</vt:lpstr>
      <vt:lpstr>平台业务架构</vt:lpstr>
      <vt:lpstr>心电云平台特点</vt:lpstr>
      <vt:lpstr>幻灯片 14</vt:lpstr>
      <vt:lpstr>幻灯片 15</vt:lpstr>
      <vt:lpstr>幻灯片 16</vt:lpstr>
      <vt:lpstr>幻灯片 17</vt:lpstr>
      <vt:lpstr>方案应用设备|TE-5000Y-A型网络心电图机</vt:lpstr>
      <vt:lpstr>方案应用设备|TE-8000Y-F型无线多参数监测仪</vt:lpstr>
      <vt:lpstr>方案应用设备| 院外居家延伸管理设备</vt:lpstr>
      <vt:lpstr>幻灯片 21</vt:lpstr>
      <vt:lpstr>幻灯片 22</vt:lpstr>
      <vt:lpstr>幻灯片 23</vt:lpstr>
      <vt:lpstr>幻灯片 24</vt:lpstr>
      <vt:lpstr>幻灯片 25</vt:lpstr>
      <vt:lpstr>幻灯片 26</vt:lpstr>
      <vt:lpstr>幻灯片 27</vt:lpstr>
      <vt:lpstr>幻灯片 28</vt:lpstr>
      <vt:lpstr>幻灯片 29</vt:lpstr>
      <vt:lpstr>幻灯片 30</vt:lpstr>
      <vt:lpstr>幻灯片 31</vt:lpstr>
      <vt:lpstr>幻灯片 32</vt:lpstr>
      <vt:lpstr>幻灯片 33</vt:lpstr>
      <vt:lpstr>幻灯片 34</vt:lpstr>
      <vt:lpstr>幻灯片 35</vt:lpstr>
      <vt:lpstr>幻灯片 36</vt:lpstr>
      <vt:lpstr>幻灯片 37</vt:lpstr>
    </vt:vector>
  </TitlesOfParts>
  <Company>china</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china</dc:creator>
  <cp:lastModifiedBy>AutoBVT</cp:lastModifiedBy>
  <cp:revision>1713</cp:revision>
  <dcterms:created xsi:type="dcterms:W3CDTF">2022-10-24T03:24:00Z</dcterms:created>
  <dcterms:modified xsi:type="dcterms:W3CDTF">2024-07-25T09:27:47Z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538BD52546F946329C89FEA3219F0C74_13</vt:lpwstr>
  </property>
  <property fmtid="{D5CDD505-2E9C-101B-9397-08002B2CF9AE}" pid="3" name="KSOProductBuildVer">
    <vt:lpwstr>2052-12.1.0.17147</vt:lpwstr>
  </property>
</Properties>
</file>