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3"/>
    <p:sldId id="261" r:id="rId4"/>
    <p:sldId id="2704" r:id="rId5"/>
    <p:sldId id="2703" r:id="rId6"/>
    <p:sldId id="386" r:id="rId7"/>
    <p:sldId id="264" r:id="rId8"/>
    <p:sldId id="2699" r:id="rId9"/>
    <p:sldId id="2700" r:id="rId11"/>
    <p:sldId id="2701" r:id="rId12"/>
    <p:sldId id="2702" r:id="rId13"/>
    <p:sldId id="1391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1" userDrawn="1">
          <p15:clr>
            <a:srgbClr val="A4A3A4"/>
          </p15:clr>
        </p15:guide>
        <p15:guide id="2" pos="35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8B9BC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34" autoAdjust="0"/>
  </p:normalViewPr>
  <p:slideViewPr>
    <p:cSldViewPr snapToGrid="0">
      <p:cViewPr varScale="1">
        <p:scale>
          <a:sx n="89" d="100"/>
          <a:sy n="89" d="100"/>
        </p:scale>
        <p:origin x="298" y="67"/>
      </p:cViewPr>
      <p:guideLst>
        <p:guide orient="horz" pos="2241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609158-1E3C-4581-A6EB-846D454ABB3A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zh-CN" altLang="en-US"/>
        </a:p>
      </dgm:t>
    </dgm:pt>
    <dgm:pt modelId="{4491EB9D-225E-493F-9C07-9BA9DEFE6C47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pPr>
            <a:buNone/>
          </a:pPr>
          <a:r>
            <a:rPr lang="zh-CN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实时</a:t>
          </a:r>
          <a:r>
            <a:rPr lang="zh-CN" altLang="en-US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</a:t>
          </a:r>
          <a:endParaRPr lang="zh-CN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EBC08F-C2C9-4504-AC53-965FDAD52FF1}" cxnId="{765C76F6-4196-42A1-8A7C-6239374103A7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200F0C-C4DA-4AA7-AD7B-31DFC9A22996}" cxnId="{765C76F6-4196-42A1-8A7C-6239374103A7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0A6BAF-0DF0-451F-9AE3-BE3DD3ADFE46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实时显示多导心电波形，呼吸波形，心率，呼吸率，脉率，血氧，血压。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实时监控病床患者动态生命体征。</a:t>
          </a:r>
        </a:p>
      </dgm:t>
    </dgm:pt>
    <dgm:pt modelId="{03DD1AA0-1718-44E7-9642-DE5B56992153}" cxnId="{B24C40CF-5570-498A-A3BD-8F1CAC80B806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67C6AB-EB03-4B3E-93B0-6A78F5474099}" cxnId="{B24C40CF-5570-498A-A3BD-8F1CAC80B806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378964-162F-45AA-A6B3-B8F96A7F00BB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界面扩展与定制</a:t>
          </a:r>
        </a:p>
      </dgm:t>
    </dgm:pt>
    <dgm:pt modelId="{0FC81219-C6E4-4F3B-BEFB-A0BA218E8696}" cxnId="{15DC2F36-0297-46FB-8AEF-C833110F55FB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5324798-F00C-4AA4-A272-A3A8C7EC691B}" cxnId="{15DC2F36-0297-46FB-8AEF-C833110F55FB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9398C5A-9C60-4B58-827A-705F5BAE1745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可选择使用监护仪数量，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可同时实时监测多达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100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人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可选择界面实时显示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人、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人、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16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人等监测状态。可对重点监测患者重点显示。</a:t>
          </a:r>
        </a:p>
      </dgm:t>
    </dgm:pt>
    <dgm:pt modelId="{3C5A7E31-D0D1-412F-8980-5F1C5FE8F563}" cxnId="{AACAE50C-629B-44EC-97CF-87B33E996EA9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261C53-E4C4-4E10-B5FD-6009B7E8DB26}" cxnId="{AACAE50C-629B-44EC-97CF-87B33E996EA9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269EF3F-BA90-4FF2-9832-785B5E008F6B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altLang="en-US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心律失常即时报警</a:t>
          </a:r>
          <a:endParaRPr lang="zh-CN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D274AD-4B97-4A94-B06F-9218159405C2}" cxnId="{0920C41F-B8FE-4422-B986-7388108B5F08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83FD704-D8B3-4A8E-8059-71F1D9390DE4}" cxnId="{0920C41F-B8FE-4422-B986-7388108B5F08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4D59698-8D38-463A-995B-C55E807EBE14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对自动检测的心律失常事件报警，对停搏、室速、显著的ST段改变等危机值自动报警，并对干扰波进行自动识别和报警提示。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9FFB65-0CE3-4B9A-94A7-71F61FB30641}" cxnId="{151125EA-73D7-4CC9-B22E-0CD428BB67ED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62A739-DD36-4819-957B-A3F76CC14D4C}" cxnId="{151125EA-73D7-4CC9-B22E-0CD428BB67ED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C0258E-6DEB-4CE4-B00E-A99AE298334B}">
      <dgm:prSet phldr="0" custT="0"/>
      <dgm:spPr>
        <a:solidFill>
          <a:schemeClr val="bg1">
            <a:lumMod val="95000"/>
          </a:schemeClr>
        </a:solidFill>
        <a:ln>
          <a:noFill/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动态</a:t>
          </a:r>
          <a:r>
            <a:rPr lang="zh-CN" altLang="en-US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分析</a:t>
          </a:r>
          <a:r>
            <a:rPr lang="zh-CN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b="0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8500CF-C22B-4892-95C0-EF0E494F2FED}" cxnId="{DB275B27-1FAA-4B0B-90AB-4A39ED7492A5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4F11FE1-AFFE-44A8-AAF1-A65B28BD66EC}" cxnId="{DB275B27-1FAA-4B0B-90AB-4A39ED7492A5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C4C037B-6314-4318-8836-A50064C7D78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内嵌动态心电分析软件包、动态血压分析软件包，对采集的多种电生理参数信号进行统一分析；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ABBB12-5E02-4265-B628-AFEF4441D17E}" cxnId="{EB2E19D8-A7EF-4942-88CF-286D3DEA09B0}" type="parTrans">
      <dgm:prSet/>
      <dgm:spPr/>
    </dgm:pt>
    <dgm:pt modelId="{ABA81282-6588-481E-B52A-F6EA584C9A51}" cxnId="{EB2E19D8-A7EF-4942-88CF-286D3DEA09B0}" type="sibTrans">
      <dgm:prSet/>
      <dgm:spPr/>
    </dgm:pt>
    <dgm:pt modelId="{77FD12A6-30D6-4795-A210-72253B39C3EF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集中监护协同诊断</a:t>
          </a:r>
        </a:p>
      </dgm:t>
    </dgm:pt>
    <dgm:pt modelId="{382F90B2-0636-4C7E-BD6F-8C426F2F255C}" cxnId="{CA0B4705-BBFB-41A3-B014-5146D37FFD46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4E401-FE14-4660-AA1F-22B592E5023B}" cxnId="{CA0B4705-BBFB-41A3-B014-5146D37FFD46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1DD53BE-6CC0-4706-8485-B87028BE47F3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集中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远程实时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监护，专家、医师可以异地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协同诊断和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治疗。</a:t>
          </a:r>
        </a:p>
      </dgm:t>
    </dgm:pt>
    <dgm:pt modelId="{4A7862CE-DAF9-4A06-8CBF-A8F92612F02D}" cxnId="{0C49D4D9-F715-4582-B3EE-07BD54782784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34BEE9F-1BBF-45C8-BD5C-1053663C2B71}" cxnId="{0C49D4D9-F715-4582-B3EE-07BD54782784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2D2F2DF-5B5C-4727-A8C7-DDE840C10CC6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其他功能</a:t>
          </a:r>
        </a:p>
      </dgm:t>
    </dgm:pt>
    <dgm:pt modelId="{B1109A22-3B28-4195-9A7D-BAF712F892F2}" cxnId="{0E22AC18-DFEF-423E-AFF4-1B47C2FF9A64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1B92260-526D-427F-8309-F78953A46B61}" cxnId="{0E22AC18-DFEF-423E-AFF4-1B47C2FF9A64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BD468D7-5E16-4014-BBA3-98C38EEE8C19}">
      <dgm:prSet/>
      <dgm:spPr>
        <a:solidFill>
          <a:schemeClr val="bg1">
            <a:lumMod val="95000"/>
          </a:schemeClr>
        </a:solidFill>
        <a:ln>
          <a:noFill/>
        </a:ln>
      </dgm:spPr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自动存储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，查看历史，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病历管理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报告打印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……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386AFB-3E20-49DD-BA75-BBEF55B12C01}" cxnId="{946A3DA2-7ACA-4EAB-ADF5-7D5D01683E4A}" type="par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CC59F2-B9A4-4E30-B87A-9F869760F5D1}" cxnId="{946A3DA2-7ACA-4EAB-ADF5-7D5D01683E4A}" type="sibTrans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EAA3CC5-3535-42F3-A209-0F681CB466BA}" type="pres">
      <dgm:prSet presAssocID="{99609158-1E3C-4581-A6EB-846D454ABB3A}" presName="diagram" presStyleCnt="0">
        <dgm:presLayoutVars>
          <dgm:dir/>
          <dgm:resizeHandles val="exact"/>
        </dgm:presLayoutVars>
      </dgm:prSet>
      <dgm:spPr/>
    </dgm:pt>
    <dgm:pt modelId="{8F349CE2-8828-4988-8758-229919E8564D}" type="pres">
      <dgm:prSet presAssocID="{4491EB9D-225E-493F-9C07-9BA9DEFE6C47}" presName="node" presStyleLbl="node1" presStyleIdx="0" presStyleCnt="6">
        <dgm:presLayoutVars>
          <dgm:bulletEnabled val="1"/>
        </dgm:presLayoutVars>
      </dgm:prSet>
      <dgm:spPr/>
    </dgm:pt>
    <dgm:pt modelId="{E5CA8674-588D-4959-8F2C-E2FA9F5396A4}" type="pres">
      <dgm:prSet presAssocID="{EC200F0C-C4DA-4AA7-AD7B-31DFC9A22996}" presName="sibTrans" presStyleCnt="0"/>
      <dgm:spPr/>
    </dgm:pt>
    <dgm:pt modelId="{0C5AD196-BA35-437B-8535-CA5887010531}" type="pres">
      <dgm:prSet presAssocID="{6B378964-162F-45AA-A6B3-B8F96A7F00BB}" presName="node" presStyleLbl="node1" presStyleIdx="1" presStyleCnt="6">
        <dgm:presLayoutVars>
          <dgm:bulletEnabled val="1"/>
        </dgm:presLayoutVars>
      </dgm:prSet>
      <dgm:spPr/>
    </dgm:pt>
    <dgm:pt modelId="{566945C6-7F22-45AF-8CF6-C5E30366818F}" type="pres">
      <dgm:prSet presAssocID="{75324798-F00C-4AA4-A272-A3A8C7EC691B}" presName="sibTrans" presStyleCnt="0"/>
      <dgm:spPr/>
    </dgm:pt>
    <dgm:pt modelId="{41225FCC-DF7D-4439-807E-4BA010C8D038}" type="pres">
      <dgm:prSet presAssocID="{9269EF3F-BA90-4FF2-9832-785B5E008F6B}" presName="node" presStyleLbl="node1" presStyleIdx="2" presStyleCnt="6">
        <dgm:presLayoutVars>
          <dgm:bulletEnabled val="1"/>
        </dgm:presLayoutVars>
      </dgm:prSet>
      <dgm:spPr/>
    </dgm:pt>
    <dgm:pt modelId="{80A2F240-314E-4593-82CC-DC86CC5B6D6A}" type="pres">
      <dgm:prSet presAssocID="{B83FD704-D8B3-4A8E-8059-71F1D9390DE4}" presName="sibTrans" presStyleCnt="0"/>
      <dgm:spPr/>
    </dgm:pt>
    <dgm:pt modelId="{7C3C4132-DA34-4567-945B-3E9DD50EDDBD}" type="pres">
      <dgm:prSet presAssocID="{A1C0258E-6DEB-4CE4-B00E-A99AE298334B}" presName="node" presStyleLbl="node1" presStyleIdx="3" presStyleCnt="6">
        <dgm:presLayoutVars>
          <dgm:bulletEnabled val="1"/>
        </dgm:presLayoutVars>
      </dgm:prSet>
      <dgm:spPr/>
    </dgm:pt>
    <dgm:pt modelId="{84CC98DB-7FC0-4B7C-853E-54E6F622C2B3}" type="pres">
      <dgm:prSet presAssocID="{04F11FE1-AFFE-44A8-AAF1-A65B28BD66EC}" presName="sibTrans" presStyleCnt="0"/>
      <dgm:spPr/>
    </dgm:pt>
    <dgm:pt modelId="{F83ED55C-7E7D-49C6-A17F-DA9D8847917F}" type="pres">
      <dgm:prSet presAssocID="{77FD12A6-30D6-4795-A210-72253B39C3EF}" presName="node" presStyleLbl="node1" presStyleIdx="4" presStyleCnt="6">
        <dgm:presLayoutVars>
          <dgm:bulletEnabled val="1"/>
        </dgm:presLayoutVars>
      </dgm:prSet>
      <dgm:spPr/>
    </dgm:pt>
    <dgm:pt modelId="{6C66AC95-FCA6-4A8A-8B52-90B673978B43}" type="pres">
      <dgm:prSet presAssocID="{FFE4E401-FE14-4660-AA1F-22B592E5023B}" presName="sibTrans" presStyleCnt="0"/>
      <dgm:spPr/>
    </dgm:pt>
    <dgm:pt modelId="{00B57D05-A428-431F-AC79-01D7CB8907F3}" type="pres">
      <dgm:prSet presAssocID="{12D2F2DF-5B5C-4727-A8C7-DDE840C10CC6}" presName="node" presStyleLbl="node1" presStyleIdx="5" presStyleCnt="6">
        <dgm:presLayoutVars>
          <dgm:bulletEnabled val="1"/>
        </dgm:presLayoutVars>
      </dgm:prSet>
      <dgm:spPr/>
    </dgm:pt>
  </dgm:ptLst>
  <dgm:cxnLst>
    <dgm:cxn modelId="{765C76F6-4196-42A1-8A7C-6239374103A7}" srcId="{99609158-1E3C-4581-A6EB-846D454ABB3A}" destId="{4491EB9D-225E-493F-9C07-9BA9DEFE6C47}" srcOrd="0" destOrd="0" parTransId="{BBEBC08F-C2C9-4504-AC53-965FDAD52FF1}" sibTransId="{EC200F0C-C4DA-4AA7-AD7B-31DFC9A22996}"/>
    <dgm:cxn modelId="{B24C40CF-5570-498A-A3BD-8F1CAC80B806}" srcId="{4491EB9D-225E-493F-9C07-9BA9DEFE6C47}" destId="{2C0A6BAF-0DF0-451F-9AE3-BE3DD3ADFE46}" srcOrd="0" destOrd="0" parTransId="{03DD1AA0-1718-44E7-9642-DE5B56992153}" sibTransId="{2167C6AB-EB03-4B3E-93B0-6A78F5474099}"/>
    <dgm:cxn modelId="{15DC2F36-0297-46FB-8AEF-C833110F55FB}" srcId="{99609158-1E3C-4581-A6EB-846D454ABB3A}" destId="{6B378964-162F-45AA-A6B3-B8F96A7F00BB}" srcOrd="1" destOrd="0" parTransId="{0FC81219-C6E4-4F3B-BEFB-A0BA218E8696}" sibTransId="{75324798-F00C-4AA4-A272-A3A8C7EC691B}"/>
    <dgm:cxn modelId="{AACAE50C-629B-44EC-97CF-87B33E996EA9}" srcId="{6B378964-162F-45AA-A6B3-B8F96A7F00BB}" destId="{59398C5A-9C60-4B58-827A-705F5BAE1745}" srcOrd="0" destOrd="1" parTransId="{3C5A7E31-D0D1-412F-8980-5F1C5FE8F563}" sibTransId="{8C261C53-E4C4-4E10-B5FD-6009B7E8DB26}"/>
    <dgm:cxn modelId="{0920C41F-B8FE-4422-B986-7388108B5F08}" srcId="{99609158-1E3C-4581-A6EB-846D454ABB3A}" destId="{9269EF3F-BA90-4FF2-9832-785B5E008F6B}" srcOrd="2" destOrd="0" parTransId="{5FD274AD-4B97-4A94-B06F-9218159405C2}" sibTransId="{B83FD704-D8B3-4A8E-8059-71F1D9390DE4}"/>
    <dgm:cxn modelId="{151125EA-73D7-4CC9-B22E-0CD428BB67ED}" srcId="{9269EF3F-BA90-4FF2-9832-785B5E008F6B}" destId="{94D59698-8D38-463A-995B-C55E807EBE14}" srcOrd="0" destOrd="2" parTransId="{CA9FFB65-0CE3-4B9A-94A7-71F61FB30641}" sibTransId="{BA62A739-DD36-4819-957B-A3F76CC14D4C}"/>
    <dgm:cxn modelId="{DB275B27-1FAA-4B0B-90AB-4A39ED7492A5}" srcId="{99609158-1E3C-4581-A6EB-846D454ABB3A}" destId="{A1C0258E-6DEB-4CE4-B00E-A99AE298334B}" srcOrd="3" destOrd="0" parTransId="{E48500CF-C22B-4892-95C0-EF0E494F2FED}" sibTransId="{04F11FE1-AFFE-44A8-AAF1-A65B28BD66EC}"/>
    <dgm:cxn modelId="{EB2E19D8-A7EF-4942-88CF-286D3DEA09B0}" srcId="{A1C0258E-6DEB-4CE4-B00E-A99AE298334B}" destId="{FC4C037B-6314-4318-8836-A50064C7D782}" srcOrd="0" destOrd="3" parTransId="{A8ABBB12-5E02-4265-B628-AFEF4441D17E}" sibTransId="{ABA81282-6588-481E-B52A-F6EA584C9A51}"/>
    <dgm:cxn modelId="{CA0B4705-BBFB-41A3-B014-5146D37FFD46}" srcId="{99609158-1E3C-4581-A6EB-846D454ABB3A}" destId="{77FD12A6-30D6-4795-A210-72253B39C3EF}" srcOrd="4" destOrd="0" parTransId="{382F90B2-0636-4C7E-BD6F-8C426F2F255C}" sibTransId="{FFE4E401-FE14-4660-AA1F-22B592E5023B}"/>
    <dgm:cxn modelId="{0C49D4D9-F715-4582-B3EE-07BD54782784}" srcId="{77FD12A6-30D6-4795-A210-72253B39C3EF}" destId="{71DD53BE-6CC0-4706-8485-B87028BE47F3}" srcOrd="0" destOrd="4" parTransId="{4A7862CE-DAF9-4A06-8CBF-A8F92612F02D}" sibTransId="{134BEE9F-1BBF-45C8-BD5C-1053663C2B71}"/>
    <dgm:cxn modelId="{0E22AC18-DFEF-423E-AFF4-1B47C2FF9A64}" srcId="{99609158-1E3C-4581-A6EB-846D454ABB3A}" destId="{12D2F2DF-5B5C-4727-A8C7-DDE840C10CC6}" srcOrd="5" destOrd="0" parTransId="{B1109A22-3B28-4195-9A7D-BAF712F892F2}" sibTransId="{01B92260-526D-427F-8309-F78953A46B61}"/>
    <dgm:cxn modelId="{946A3DA2-7ACA-4EAB-ADF5-7D5D01683E4A}" srcId="{12D2F2DF-5B5C-4727-A8C7-DDE840C10CC6}" destId="{2BD468D7-5E16-4014-BBA3-98C38EEE8C19}" srcOrd="0" destOrd="5" parTransId="{72386AFB-3E20-49DD-BA75-BBEF55B12C01}" sibTransId="{A1CC59F2-B9A4-4E30-B87A-9F869760F5D1}"/>
    <dgm:cxn modelId="{E7C18F74-9D4E-424E-AA76-F40C8918529C}" type="presOf" srcId="{99609158-1E3C-4581-A6EB-846D454ABB3A}" destId="{0EAA3CC5-3535-42F3-A209-0F681CB466BA}" srcOrd="0" destOrd="0" presId="urn:microsoft.com/office/officeart/2005/8/layout/default"/>
    <dgm:cxn modelId="{CA1D1243-8F82-4CFF-B7E5-2F47C6F53EC0}" type="presParOf" srcId="{0EAA3CC5-3535-42F3-A209-0F681CB466BA}" destId="{8F349CE2-8828-4988-8758-229919E8564D}" srcOrd="0" destOrd="0" presId="urn:microsoft.com/office/officeart/2005/8/layout/default"/>
    <dgm:cxn modelId="{314A9099-4A5B-49F7-BD61-4C5994942427}" type="presOf" srcId="{4491EB9D-225E-493F-9C07-9BA9DEFE6C47}" destId="{8F349CE2-8828-4988-8758-229919E8564D}" srcOrd="0" destOrd="0" presId="urn:microsoft.com/office/officeart/2005/8/layout/default"/>
    <dgm:cxn modelId="{77367616-6A26-474E-9B86-D3946F2D00CB}" type="presOf" srcId="{2C0A6BAF-0DF0-451F-9AE3-BE3DD3ADFE46}" destId="{8F349CE2-8828-4988-8758-229919E8564D}" srcOrd="0" destOrd="1" presId="urn:microsoft.com/office/officeart/2005/8/layout/default"/>
    <dgm:cxn modelId="{7937B204-150B-4EA9-9783-79DE1A7B391C}" type="presParOf" srcId="{0EAA3CC5-3535-42F3-A209-0F681CB466BA}" destId="{E5CA8674-588D-4959-8F2C-E2FA9F5396A4}" srcOrd="1" destOrd="0" presId="urn:microsoft.com/office/officeart/2005/8/layout/default"/>
    <dgm:cxn modelId="{38FE7984-9CED-4B78-94AD-5B3E70C80774}" type="presParOf" srcId="{0EAA3CC5-3535-42F3-A209-0F681CB466BA}" destId="{0C5AD196-BA35-437B-8535-CA5887010531}" srcOrd="2" destOrd="0" presId="urn:microsoft.com/office/officeart/2005/8/layout/default"/>
    <dgm:cxn modelId="{07C803A8-6D3E-445F-A4B9-6A2290574882}" type="presOf" srcId="{6B378964-162F-45AA-A6B3-B8F96A7F00BB}" destId="{0C5AD196-BA35-437B-8535-CA5887010531}" srcOrd="0" destOrd="0" presId="urn:microsoft.com/office/officeart/2005/8/layout/default"/>
    <dgm:cxn modelId="{CE031844-99F1-49CA-8839-A4532007BA40}" type="presOf" srcId="{59398C5A-9C60-4B58-827A-705F5BAE1745}" destId="{0C5AD196-BA35-437B-8535-CA5887010531}" srcOrd="0" destOrd="1" presId="urn:microsoft.com/office/officeart/2005/8/layout/default"/>
    <dgm:cxn modelId="{81C834AC-65F7-49F5-97C2-2104B334270B}" type="presParOf" srcId="{0EAA3CC5-3535-42F3-A209-0F681CB466BA}" destId="{566945C6-7F22-45AF-8CF6-C5E30366818F}" srcOrd="3" destOrd="0" presId="urn:microsoft.com/office/officeart/2005/8/layout/default"/>
    <dgm:cxn modelId="{9E6F0606-35B5-45D4-BD32-6181786CCE52}" type="presParOf" srcId="{0EAA3CC5-3535-42F3-A209-0F681CB466BA}" destId="{41225FCC-DF7D-4439-807E-4BA010C8D038}" srcOrd="4" destOrd="0" presId="urn:microsoft.com/office/officeart/2005/8/layout/default"/>
    <dgm:cxn modelId="{DCF99313-A331-4330-B190-2F9E04DB99D9}" type="presOf" srcId="{9269EF3F-BA90-4FF2-9832-785B5E008F6B}" destId="{41225FCC-DF7D-4439-807E-4BA010C8D038}" srcOrd="0" destOrd="0" presId="urn:microsoft.com/office/officeart/2005/8/layout/default"/>
    <dgm:cxn modelId="{89B4FC93-EF72-4B7A-A463-F6AC5A15BCC4}" type="presOf" srcId="{94D59698-8D38-463A-995B-C55E807EBE14}" destId="{41225FCC-DF7D-4439-807E-4BA010C8D038}" srcOrd="0" destOrd="1" presId="urn:microsoft.com/office/officeart/2005/8/layout/default"/>
    <dgm:cxn modelId="{501D4B52-4DC3-4953-A837-14E86F5F32E3}" type="presParOf" srcId="{0EAA3CC5-3535-42F3-A209-0F681CB466BA}" destId="{80A2F240-314E-4593-82CC-DC86CC5B6D6A}" srcOrd="5" destOrd="0" presId="urn:microsoft.com/office/officeart/2005/8/layout/default"/>
    <dgm:cxn modelId="{7EBC35CE-8A08-40CD-A1CD-BD6DA62D6B05}" type="presParOf" srcId="{0EAA3CC5-3535-42F3-A209-0F681CB466BA}" destId="{7C3C4132-DA34-4567-945B-3E9DD50EDDBD}" srcOrd="6" destOrd="0" presId="urn:microsoft.com/office/officeart/2005/8/layout/default"/>
    <dgm:cxn modelId="{E4165436-E2A0-43F5-A4EB-48929BE29149}" type="presOf" srcId="{A1C0258E-6DEB-4CE4-B00E-A99AE298334B}" destId="{7C3C4132-DA34-4567-945B-3E9DD50EDDBD}" srcOrd="0" destOrd="0" presId="urn:microsoft.com/office/officeart/2005/8/layout/default"/>
    <dgm:cxn modelId="{023494A1-52E4-4E20-A73D-BCC724EFCCEE}" type="presOf" srcId="{FC4C037B-6314-4318-8836-A50064C7D782}" destId="{7C3C4132-DA34-4567-945B-3E9DD50EDDBD}" srcOrd="0" destOrd="1" presId="urn:microsoft.com/office/officeart/2005/8/layout/default"/>
    <dgm:cxn modelId="{1BF1D03E-98D2-4A17-B544-5475F8EF71B2}" type="presParOf" srcId="{0EAA3CC5-3535-42F3-A209-0F681CB466BA}" destId="{84CC98DB-7FC0-4B7C-853E-54E6F622C2B3}" srcOrd="7" destOrd="0" presId="urn:microsoft.com/office/officeart/2005/8/layout/default"/>
    <dgm:cxn modelId="{67AA6159-8B0D-4308-8942-96E361EB0518}" type="presParOf" srcId="{0EAA3CC5-3535-42F3-A209-0F681CB466BA}" destId="{F83ED55C-7E7D-49C6-A17F-DA9D8847917F}" srcOrd="8" destOrd="0" presId="urn:microsoft.com/office/officeart/2005/8/layout/default"/>
    <dgm:cxn modelId="{9902213B-7708-4F4F-A995-D6FC5183C3A1}" type="presOf" srcId="{77FD12A6-30D6-4795-A210-72253B39C3EF}" destId="{F83ED55C-7E7D-49C6-A17F-DA9D8847917F}" srcOrd="0" destOrd="0" presId="urn:microsoft.com/office/officeart/2005/8/layout/default"/>
    <dgm:cxn modelId="{49E6FEB4-77A9-4609-A434-897E4BDF35A7}" type="presOf" srcId="{71DD53BE-6CC0-4706-8485-B87028BE47F3}" destId="{F83ED55C-7E7D-49C6-A17F-DA9D8847917F}" srcOrd="0" destOrd="1" presId="urn:microsoft.com/office/officeart/2005/8/layout/default"/>
    <dgm:cxn modelId="{E30C20B7-57F8-4445-8211-7911C2342E5D}" type="presParOf" srcId="{0EAA3CC5-3535-42F3-A209-0F681CB466BA}" destId="{6C66AC95-FCA6-4A8A-8B52-90B673978B43}" srcOrd="9" destOrd="0" presId="urn:microsoft.com/office/officeart/2005/8/layout/default"/>
    <dgm:cxn modelId="{8E18D7BC-22A5-40CB-805C-405E2766DA4D}" type="presParOf" srcId="{0EAA3CC5-3535-42F3-A209-0F681CB466BA}" destId="{00B57D05-A428-431F-AC79-01D7CB8907F3}" srcOrd="10" destOrd="0" presId="urn:microsoft.com/office/officeart/2005/8/layout/default"/>
    <dgm:cxn modelId="{C2C8D27D-CDA4-4A46-BBD9-66EC9B4E0325}" type="presOf" srcId="{12D2F2DF-5B5C-4727-A8C7-DDE840C10CC6}" destId="{00B57D05-A428-431F-AC79-01D7CB8907F3}" srcOrd="0" destOrd="0" presId="urn:microsoft.com/office/officeart/2005/8/layout/default"/>
    <dgm:cxn modelId="{4F3758BA-3304-4A7B-B4AE-466BC02862AD}" type="presOf" srcId="{2BD468D7-5E16-4014-BBA3-98C38EEE8C19}" destId="{00B57D05-A428-431F-AC79-01D7CB8907F3}" srcOrd="0" destOrd="1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2603FB-8CB0-4F3C-A0BE-523FD7F7F319}" type="doc">
      <dgm:prSet loTypeId="list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zh-CN" altLang="en-US"/>
        </a:p>
      </dgm:t>
    </dgm:pt>
    <dgm:pt modelId="{3BFE8866-7766-47E8-85AB-4AA4C0048290}">
      <dgm:prSet phldr="0" custT="1"/>
      <dgm:spPr>
        <a:solidFill>
          <a:schemeClr val="bg1">
            <a:lumMod val="8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全院监测设备总量</a:t>
          </a: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818D9-43AF-4297-A21F-91C4C139D5A5}" cxnId="{83983886-4A06-4EBA-B2FC-934936AFD8BE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7F547BC-CC90-40CD-8EB8-1EDFDE7838CE}" cxnId="{83983886-4A06-4EBA-B2FC-934936AFD8BE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47CFDB-4B29-429F-83B2-2F103D8D510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60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台无线多参监测仪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AABFA7-6D29-4F32-92C3-AD27D57D87C7}" cxnId="{20145C5D-3090-467C-992E-29E072BC5B53}" type="parTrans">
      <dgm:prSet/>
      <dgm:spPr/>
    </dgm:pt>
    <dgm:pt modelId="{F1A61145-E376-48B3-912E-BE097BC55AC6}" cxnId="{20145C5D-3090-467C-992E-29E072BC5B53}" type="sibTrans">
      <dgm:prSet/>
      <dgm:spPr/>
    </dgm:pt>
    <dgm:pt modelId="{CBEAD6F4-7F1A-4559-BAB4-60F9DB7F648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心内科、呼吸内科、神经外科、急诊全科、肾内科、普外科配备使用</a:t>
          </a:r>
          <a:r>
            <a:rPr sz="6500"/>
            <a:t/>
          </a:r>
          <a:endParaRPr sz="6500"/>
        </a:p>
      </dgm:t>
    </dgm:pt>
    <dgm:pt modelId="{228A3AA1-AD1F-4801-8D3E-31BE2F291F8D}" cxnId="{2E1C4171-E5A4-4AE5-B91A-8CFFAD89C295}" type="parTrans">
      <dgm:prSet/>
      <dgm:spPr/>
    </dgm:pt>
    <dgm:pt modelId="{74AFF160-55CB-4D6D-96F7-F89A911381E7}" cxnId="{2E1C4171-E5A4-4AE5-B91A-8CFFAD89C295}" type="sibTrans">
      <dgm:prSet/>
      <dgm:spPr/>
    </dgm:pt>
    <dgm:pt modelId="{5EC0B196-0A26-4CF0-8537-35F2FD304E51}">
      <dgm:prSet phldr="0" custT="1"/>
      <dgm:spPr>
        <a:solidFill>
          <a:schemeClr val="bg1">
            <a:lumMod val="8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使用时段</a:t>
          </a: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63DC94-B070-48BB-891C-9CE38D54E20B}" cxnId="{4BDD5C06-F754-4F6B-B191-BD1169ACDB55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B96B9A-DED7-46F3-A748-A79FA15AC3C1}" cxnId="{4BDD5C06-F754-4F6B-B191-BD1169ACDB55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41CC577-845F-4FA9-A929-903FC6668DE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2015.7-2017.7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D418B9F-83F9-463B-A9B5-74566D4A6787}" cxnId="{7CCFFBB9-4802-4444-AAC8-70CCDCF01DCF}" type="parTrans">
      <dgm:prSet/>
      <dgm:spPr/>
    </dgm:pt>
    <dgm:pt modelId="{067C029D-A662-4AEA-8A22-CEBC419C8912}" cxnId="{7CCFFBB9-4802-4444-AAC8-70CCDCF01DCF}" type="sibTrans">
      <dgm:prSet/>
      <dgm:spPr/>
    </dgm:pt>
    <dgm:pt modelId="{79271BF4-CC65-4CA9-9850-4251D2B83D2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监护总时长约：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343617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064CB51-B5A8-4B6A-8591-13BC58BC5EFC}" cxnId="{AA200A8C-498C-426D-8D5D-228D08BB8F38}" type="parTrans">
      <dgm:prSet/>
      <dgm:spPr/>
    </dgm:pt>
    <dgm:pt modelId="{18B6FD6C-8F68-43D0-B894-3A3FD37B5BC6}" cxnId="{AA200A8C-498C-426D-8D5D-228D08BB8F38}" type="sibTrans">
      <dgm:prSet/>
      <dgm:spPr/>
    </dgm:pt>
    <dgm:pt modelId="{8DA6264E-824A-419E-BA0C-7F75DAEAA6CB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平均每台每天不到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r>
            <a:rPr sz="6500"/>
            <a:t/>
          </a:r>
          <a:endParaRPr sz="6500"/>
        </a:p>
      </dgm:t>
    </dgm:pt>
    <dgm:pt modelId="{CCC64569-A53E-47AC-9666-F04EAC48AA98}" cxnId="{CBC73B04-4DF1-4974-A565-83C0D3DBDF87}" type="parTrans">
      <dgm:prSet/>
      <dgm:spPr/>
    </dgm:pt>
    <dgm:pt modelId="{EECB1E60-A8F5-4CAA-A7A3-6D37C5FB0120}" cxnId="{CBC73B04-4DF1-4974-A565-83C0D3DBDF87}" type="sibTrans">
      <dgm:prSet/>
      <dgm:spPr/>
    </dgm:pt>
    <dgm:pt modelId="{C6DE7305-C3EF-4885-9151-24806CC742F3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全院监护收费总额（不含血氧）</a:t>
          </a: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304F1D0-CA15-4168-A5AF-743EF0AE2600}" cxnId="{A95AFA73-00BF-4FC4-B312-C6D7B1770629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EBBCD2E-13E5-49E0-B9FE-A8E951847305}" cxnId="{A95AFA73-00BF-4FC4-B312-C6D7B1770629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C9F247-0AAF-4CED-B2A9-027F41007E8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监护总时长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* 4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AE14F5-85A8-414A-ACB1-E5174C68E6C7}" cxnId="{D42F2E39-F820-46BF-ABF4-AA1CC1E32AB7}" type="parTrans">
      <dgm:prSet/>
      <dgm:spPr/>
    </dgm:pt>
    <dgm:pt modelId="{CED8BCF4-1320-477F-BCA2-D043EC570A8C}" cxnId="{D42F2E39-F820-46BF-ABF4-AA1CC1E32AB7}" type="sibTrans">
      <dgm:prSet/>
      <dgm:spPr/>
    </dgm:pt>
    <dgm:pt modelId="{A53CC641-A8DA-4344-9098-749CC809587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约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1374468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r>
            <a:rPr sz="6500"/>
            <a:t/>
          </a:r>
          <a:endParaRPr sz="6500"/>
        </a:p>
      </dgm:t>
    </dgm:pt>
    <dgm:pt modelId="{3E23DD14-346E-4045-B5C5-DB8EAED9BD1D}" cxnId="{BDD7EA99-4A2D-4249-98A8-90DB9EA0165F}" type="parTrans">
      <dgm:prSet/>
      <dgm:spPr/>
    </dgm:pt>
    <dgm:pt modelId="{9D42AEC5-9CE7-43E0-B0FE-8346F026C885}" cxnId="{BDD7EA99-4A2D-4249-98A8-90DB9EA0165F}" type="sibTrans">
      <dgm:prSet/>
      <dgm:spPr/>
    </dgm:pt>
    <dgm:pt modelId="{FF75D08B-25D4-4354-9626-27F9014D0F23}">
      <dgm:prSet phldr="0" custT="1"/>
      <dgm:spPr>
        <a:solidFill>
          <a:schemeClr val="accent2">
            <a:lumMod val="20000"/>
            <a:lumOff val="8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全院血氧监护收费总额</a:t>
          </a: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34793E-7630-49EB-A770-101FA3DC10A0}" cxnId="{0840CA28-07CD-48A8-A516-44E74701875D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BAF575-5ECA-4476-AA27-B57E8BCB168E}" cxnId="{0840CA28-07CD-48A8-A516-44E74701875D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26BB5F-E7A2-41FB-AA9F-C85529CED6E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血氧</a:t>
          </a: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监护时长约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占</a:t>
          </a: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总时长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0%</a:t>
          </a: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以上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543912-D399-461E-B516-01D5C1670D2B}" cxnId="{4AE702E7-D1DF-4360-AEF0-7619D222E883}" type="parTrans">
      <dgm:prSet/>
      <dgm:spPr/>
    </dgm:pt>
    <dgm:pt modelId="{3A8B20A8-BAE7-49D4-B0E7-C5B44172F6E1}" cxnId="{4AE702E7-D1DF-4360-AEF0-7619D222E883}" type="sibTrans">
      <dgm:prSet/>
      <dgm:spPr/>
    </dgm:pt>
    <dgm:pt modelId="{81D76D29-EFFD-4577-85B4-4909768A47F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监护总时长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*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0%*2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0FD114-A28F-45F2-B306-90DDBD8CD4F0}" cxnId="{2464ECC5-79AB-487A-B454-E0B551E4A83F}" type="parTrans">
      <dgm:prSet/>
      <dgm:spPr/>
    </dgm:pt>
    <dgm:pt modelId="{91FC91D2-D317-4BC3-B485-58CDE8726D7A}" cxnId="{2464ECC5-79AB-487A-B454-E0B551E4A83F}" type="sibTrans">
      <dgm:prSet/>
      <dgm:spPr/>
    </dgm:pt>
    <dgm:pt modelId="{9632AB14-1F25-4072-BBC5-6D3FB5308D2E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约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412338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r>
            <a:rPr sz="6500"/>
            <a:t/>
          </a:r>
          <a:endParaRPr sz="6500"/>
        </a:p>
      </dgm:t>
    </dgm:pt>
    <dgm:pt modelId="{F718A1FE-20B1-49DC-B4D4-4581BB19D2E4}" cxnId="{1136DE77-70DF-468C-BD66-2AFEC2B9AA5C}" type="parTrans">
      <dgm:prSet/>
      <dgm:spPr/>
    </dgm:pt>
    <dgm:pt modelId="{91FBA265-8AB7-4825-8EFA-4A73FF9875E0}" cxnId="{1136DE77-70DF-468C-BD66-2AFEC2B9AA5C}" type="sibTrans">
      <dgm:prSet/>
      <dgm:spPr/>
    </dgm:pt>
    <dgm:pt modelId="{0B058032-C207-4117-847E-C9467300338A}">
      <dgm:prSet custT="1"/>
      <dgm:spPr>
        <a:solidFill>
          <a:schemeClr val="accent2">
            <a:alpha val="50000"/>
          </a:schemeClr>
        </a:solidFill>
      </dgm:spPr>
      <dgm:t>
        <a:bodyPr/>
        <a:lstStyle/>
        <a:p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全院监护</a:t>
          </a: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服务</a:t>
          </a: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总收益</a:t>
          </a:r>
        </a:p>
      </dgm:t>
    </dgm:pt>
    <dgm:pt modelId="{ED2AE256-8166-4696-8DB4-F7012B39EFB3}" cxnId="{321348ED-0FBB-4BC9-AF67-52C306874F01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1D7A081-C689-48E1-924B-4C879B7B331F}" cxnId="{321348ED-0FBB-4BC9-AF67-52C306874F01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1471E40-D57A-4BFF-BED2-A284EEDC7646}">
      <dgm:prSet custT="1"/>
      <dgm:spPr>
        <a:solidFill>
          <a:schemeClr val="accent2">
            <a:alpha val="50000"/>
          </a:schemeClr>
        </a:solidFill>
      </dgm:spPr>
      <dgm:t>
        <a:bodyPr/>
        <a:lstStyle/>
        <a:p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约：</a:t>
          </a:r>
          <a:r>
            <a: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180</a:t>
          </a:r>
          <a:r>
            <a:rPr 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万元</a:t>
          </a:r>
        </a:p>
      </dgm:t>
    </dgm:pt>
    <dgm:pt modelId="{37FCB5EB-0F14-41FC-9740-B9FFA606276D}" cxnId="{E35F8A9C-D1E7-49A9-8E1A-21C9AE4980EB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EAF232-5A46-4B2A-91B5-B42ACD0992E2}" cxnId="{E35F8A9C-D1E7-49A9-8E1A-21C9AE4980EB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10E6DD-C76F-4B60-B329-E7D42BE00683}">
      <dgm:prSet custT="1"/>
      <dgm:spPr>
        <a:solidFill>
          <a:schemeClr val="accent2">
            <a:alpha val="50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注：监护时间估算低于实际使用时长，因此实际收益应该远高于该数值。</a:t>
          </a:r>
        </a:p>
      </dgm:t>
    </dgm:pt>
    <dgm:pt modelId="{88D6D94E-1347-4A46-9721-8E8FD2CD7F42}" cxnId="{BBD94364-2DB2-4E53-A1F5-79A5D92E03E7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5DA44AF-D16A-4A95-B1D1-C7D30CF04294}" cxnId="{BBD94364-2DB2-4E53-A1F5-79A5D92E03E7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F20B86-ED10-4E4D-A05A-238BB1AAA35B}" type="pres">
      <dgm:prSet presAssocID="{4E2603FB-8CB0-4F3C-A0BE-523FD7F7F319}" presName="diagram" presStyleCnt="0">
        <dgm:presLayoutVars>
          <dgm:dir/>
          <dgm:resizeHandles val="exact"/>
        </dgm:presLayoutVars>
      </dgm:prSet>
      <dgm:spPr/>
    </dgm:pt>
    <dgm:pt modelId="{C8B5D880-C4E9-4FE7-895B-E1A90973E8F3}" type="pres">
      <dgm:prSet presAssocID="{3BFE8866-7766-47E8-85AB-4AA4C0048290}" presName="node" presStyleLbl="node1" presStyleIdx="0" presStyleCnt="5" custLinFactNeighborX="46056">
        <dgm:presLayoutVars>
          <dgm:bulletEnabled val="1"/>
        </dgm:presLayoutVars>
      </dgm:prSet>
      <dgm:spPr/>
    </dgm:pt>
    <dgm:pt modelId="{82D3E0B4-4936-49A3-86E5-A2FE000C7C6E}" type="pres">
      <dgm:prSet presAssocID="{A7F547BC-CC90-40CD-8EB8-1EDFDE7838CE}" presName="sibTrans" presStyleCnt="0"/>
      <dgm:spPr/>
    </dgm:pt>
    <dgm:pt modelId="{6DCF0B94-9613-4143-93D2-9E836C1AA0F7}" type="pres">
      <dgm:prSet presAssocID="{5EC0B196-0A26-4CF0-8537-35F2FD304E51}" presName="node" presStyleLbl="node1" presStyleIdx="1" presStyleCnt="5" custLinFactNeighborX="48285" custLinFactNeighborY="-1857">
        <dgm:presLayoutVars>
          <dgm:bulletEnabled val="1"/>
        </dgm:presLayoutVars>
      </dgm:prSet>
      <dgm:spPr/>
    </dgm:pt>
    <dgm:pt modelId="{72C131C4-C65D-4544-A175-FE398E9CE3EB}" type="pres">
      <dgm:prSet presAssocID="{3DB96B9A-DED7-46F3-A748-A79FA15AC3C1}" presName="sibTrans" presStyleCnt="0"/>
      <dgm:spPr/>
    </dgm:pt>
    <dgm:pt modelId="{EA8050EF-1A8A-48CD-A4FD-EB8EE087F8DD}" type="pres">
      <dgm:prSet presAssocID="{C6DE7305-C3EF-4885-9151-24806CC742F3}" presName="node" presStyleLbl="node1" presStyleIdx="2" presStyleCnt="5" custLinFactX="-100000" custLinFactY="18236" custLinFactNeighborX="-127594" custLinFactNeighborY="100000">
        <dgm:presLayoutVars>
          <dgm:bulletEnabled val="1"/>
        </dgm:presLayoutVars>
      </dgm:prSet>
      <dgm:spPr/>
    </dgm:pt>
    <dgm:pt modelId="{E4B43986-0A94-49A0-99CD-99CA7756D720}" type="pres">
      <dgm:prSet presAssocID="{FEBBCD2E-13E5-49E0-B9FE-A8E951847305}" presName="sibTrans" presStyleCnt="0"/>
      <dgm:spPr/>
    </dgm:pt>
    <dgm:pt modelId="{A1ABC17E-8F1D-4136-9014-E0EAC1441BDA}" type="pres">
      <dgm:prSet presAssocID="{FF75D08B-25D4-4354-9626-27F9014D0F23}" presName="node" presStyleLbl="node1" presStyleIdx="3" presStyleCnt="5" custLinFactNeighborX="56125" custLinFactNeighborY="-1238">
        <dgm:presLayoutVars>
          <dgm:bulletEnabled val="1"/>
        </dgm:presLayoutVars>
      </dgm:prSet>
      <dgm:spPr/>
    </dgm:pt>
    <dgm:pt modelId="{3DF4BA97-359E-4D7A-9E6A-1A86C106A9DE}" type="pres">
      <dgm:prSet presAssocID="{EEBAF575-5ECA-4476-AA27-B57E8BCB168E}" presName="sibTrans" presStyleCnt="0"/>
      <dgm:spPr/>
    </dgm:pt>
    <dgm:pt modelId="{8DA35FD8-877B-4603-8EA5-AE1961A071E9}" type="pres">
      <dgm:prSet presAssocID="{0B058032-C207-4117-847E-C9467300338A}" presName="node" presStyleLbl="node1" presStyleIdx="4" presStyleCnt="5" custLinFactNeighborX="60171" custLinFactNeighborY="-1238">
        <dgm:presLayoutVars>
          <dgm:bulletEnabled val="1"/>
        </dgm:presLayoutVars>
      </dgm:prSet>
      <dgm:spPr/>
    </dgm:pt>
  </dgm:ptLst>
  <dgm:cxnLst>
    <dgm:cxn modelId="{83983886-4A06-4EBA-B2FC-934936AFD8BE}" srcId="{4E2603FB-8CB0-4F3C-A0BE-523FD7F7F319}" destId="{3BFE8866-7766-47E8-85AB-4AA4C0048290}" srcOrd="0" destOrd="0" parTransId="{882818D9-43AF-4297-A21F-91C4C139D5A5}" sibTransId="{A7F547BC-CC90-40CD-8EB8-1EDFDE7838CE}"/>
    <dgm:cxn modelId="{20145C5D-3090-467C-992E-29E072BC5B53}" srcId="{3BFE8866-7766-47E8-85AB-4AA4C0048290}" destId="{8647CFDB-4B29-429F-83B2-2F103D8D5103}" srcOrd="0" destOrd="0" parTransId="{D1AABFA7-6D29-4F32-92C3-AD27D57D87C7}" sibTransId="{F1A61145-E376-48B3-912E-BE097BC55AC6}"/>
    <dgm:cxn modelId="{2E1C4171-E5A4-4AE5-B91A-8CFFAD89C295}" srcId="{3BFE8866-7766-47E8-85AB-4AA4C0048290}" destId="{CBEAD6F4-7F1A-4559-BAB4-60F9DB7F6483}" srcOrd="1" destOrd="0" parTransId="{228A3AA1-AD1F-4801-8D3E-31BE2F291F8D}" sibTransId="{74AFF160-55CB-4D6D-96F7-F89A911381E7}"/>
    <dgm:cxn modelId="{4BDD5C06-F754-4F6B-B191-BD1169ACDB55}" srcId="{4E2603FB-8CB0-4F3C-A0BE-523FD7F7F319}" destId="{5EC0B196-0A26-4CF0-8537-35F2FD304E51}" srcOrd="1" destOrd="0" parTransId="{D163DC94-B070-48BB-891C-9CE38D54E20B}" sibTransId="{3DB96B9A-DED7-46F3-A748-A79FA15AC3C1}"/>
    <dgm:cxn modelId="{7CCFFBB9-4802-4444-AAC8-70CCDCF01DCF}" srcId="{5EC0B196-0A26-4CF0-8537-35F2FD304E51}" destId="{241CC577-845F-4FA9-A929-903FC6668DEC}" srcOrd="0" destOrd="1" parTransId="{6D418B9F-83F9-463B-A9B5-74566D4A6787}" sibTransId="{067C029D-A662-4AEA-8A22-CEBC419C8912}"/>
    <dgm:cxn modelId="{AA200A8C-498C-426D-8D5D-228D08BB8F38}" srcId="{5EC0B196-0A26-4CF0-8537-35F2FD304E51}" destId="{79271BF4-CC65-4CA9-9850-4251D2B83D2F}" srcOrd="1" destOrd="1" parTransId="{A064CB51-B5A8-4B6A-8591-13BC58BC5EFC}" sibTransId="{18B6FD6C-8F68-43D0-B894-3A3FD37B5BC6}"/>
    <dgm:cxn modelId="{CBC73B04-4DF1-4974-A565-83C0D3DBDF87}" srcId="{5EC0B196-0A26-4CF0-8537-35F2FD304E51}" destId="{8DA6264E-824A-419E-BA0C-7F75DAEAA6CB}" srcOrd="2" destOrd="1" parTransId="{CCC64569-A53E-47AC-9666-F04EAC48AA98}" sibTransId="{EECB1E60-A8F5-4CAA-A7A3-6D37C5FB0120}"/>
    <dgm:cxn modelId="{A95AFA73-00BF-4FC4-B312-C6D7B1770629}" srcId="{4E2603FB-8CB0-4F3C-A0BE-523FD7F7F319}" destId="{C6DE7305-C3EF-4885-9151-24806CC742F3}" srcOrd="2" destOrd="0" parTransId="{2304F1D0-CA15-4168-A5AF-743EF0AE2600}" sibTransId="{FEBBCD2E-13E5-49E0-B9FE-A8E951847305}"/>
    <dgm:cxn modelId="{D42F2E39-F820-46BF-ABF4-AA1CC1E32AB7}" srcId="{C6DE7305-C3EF-4885-9151-24806CC742F3}" destId="{79C9F247-0AAF-4CED-B2A9-027F41007E8C}" srcOrd="0" destOrd="2" parTransId="{E2AE14F5-85A8-414A-ACB1-E5174C68E6C7}" sibTransId="{CED8BCF4-1320-477F-BCA2-D043EC570A8C}"/>
    <dgm:cxn modelId="{BDD7EA99-4A2D-4249-98A8-90DB9EA0165F}" srcId="{C6DE7305-C3EF-4885-9151-24806CC742F3}" destId="{A53CC641-A8DA-4344-9098-749CC8095876}" srcOrd="1" destOrd="2" parTransId="{3E23DD14-346E-4045-B5C5-DB8EAED9BD1D}" sibTransId="{9D42AEC5-9CE7-43E0-B0FE-8346F026C885}"/>
    <dgm:cxn modelId="{0840CA28-07CD-48A8-A516-44E74701875D}" srcId="{4E2603FB-8CB0-4F3C-A0BE-523FD7F7F319}" destId="{FF75D08B-25D4-4354-9626-27F9014D0F23}" srcOrd="3" destOrd="0" parTransId="{5334793E-7630-49EB-A770-101FA3DC10A0}" sibTransId="{EEBAF575-5ECA-4476-AA27-B57E8BCB168E}"/>
    <dgm:cxn modelId="{4AE702E7-D1DF-4360-AEF0-7619D222E883}" srcId="{FF75D08B-25D4-4354-9626-27F9014D0F23}" destId="{6526BB5F-E7A2-41FB-AA9F-C85529CED6E9}" srcOrd="0" destOrd="3" parTransId="{F7543912-D399-461E-B516-01D5C1670D2B}" sibTransId="{3A8B20A8-BAE7-49D4-B0E7-C5B44172F6E1}"/>
    <dgm:cxn modelId="{2464ECC5-79AB-487A-B454-E0B551E4A83F}" srcId="{FF75D08B-25D4-4354-9626-27F9014D0F23}" destId="{81D76D29-EFFD-4577-85B4-4909768A47F6}" srcOrd="1" destOrd="3" parTransId="{730FD114-A28F-45F2-B306-90DDBD8CD4F0}" sibTransId="{91FC91D2-D317-4BC3-B485-58CDE8726D7A}"/>
    <dgm:cxn modelId="{1136DE77-70DF-468C-BD66-2AFEC2B9AA5C}" srcId="{FF75D08B-25D4-4354-9626-27F9014D0F23}" destId="{9632AB14-1F25-4072-BBC5-6D3FB5308D2E}" srcOrd="2" destOrd="3" parTransId="{F718A1FE-20B1-49DC-B4D4-4581BB19D2E4}" sibTransId="{91FBA265-8AB7-4825-8EFA-4A73FF9875E0}"/>
    <dgm:cxn modelId="{321348ED-0FBB-4BC9-AF67-52C306874F01}" srcId="{4E2603FB-8CB0-4F3C-A0BE-523FD7F7F319}" destId="{0B058032-C207-4117-847E-C9467300338A}" srcOrd="4" destOrd="0" parTransId="{ED2AE256-8166-4696-8DB4-F7012B39EFB3}" sibTransId="{91D7A081-C689-48E1-924B-4C879B7B331F}"/>
    <dgm:cxn modelId="{E35F8A9C-D1E7-49A9-8E1A-21C9AE4980EB}" srcId="{0B058032-C207-4117-847E-C9467300338A}" destId="{C1471E40-D57A-4BFF-BED2-A284EEDC7646}" srcOrd="0" destOrd="4" parTransId="{37FCB5EB-0F14-41FC-9740-B9FFA606276D}" sibTransId="{F7EAF232-5A46-4B2A-91B5-B42ACD0992E2}"/>
    <dgm:cxn modelId="{BBD94364-2DB2-4E53-A1F5-79A5D92E03E7}" srcId="{0B058032-C207-4117-847E-C9467300338A}" destId="{1F10E6DD-C76F-4B60-B329-E7D42BE00683}" srcOrd="1" destOrd="4" parTransId="{88D6D94E-1347-4A46-9721-8E8FD2CD7F42}" sibTransId="{55DA44AF-D16A-4A95-B1D1-C7D30CF04294}"/>
    <dgm:cxn modelId="{1BF47A0E-6B65-42A1-9D00-17A65A3BC8F3}" type="presOf" srcId="{4E2603FB-8CB0-4F3C-A0BE-523FD7F7F319}" destId="{61F20B86-ED10-4E4D-A05A-238BB1AAA35B}" srcOrd="0" destOrd="0" presId="urn:microsoft.com/office/officeart/2005/8/layout/default"/>
    <dgm:cxn modelId="{508A18E5-EBA8-4CB3-A161-DF313A364877}" type="presParOf" srcId="{61F20B86-ED10-4E4D-A05A-238BB1AAA35B}" destId="{C8B5D880-C4E9-4FE7-895B-E1A90973E8F3}" srcOrd="0" destOrd="0" presId="urn:microsoft.com/office/officeart/2005/8/layout/default"/>
    <dgm:cxn modelId="{58B70132-0DAE-4C33-836F-C2F92258297C}" type="presOf" srcId="{3BFE8866-7766-47E8-85AB-4AA4C0048290}" destId="{C8B5D880-C4E9-4FE7-895B-E1A90973E8F3}" srcOrd="0" destOrd="0" presId="urn:microsoft.com/office/officeart/2005/8/layout/default"/>
    <dgm:cxn modelId="{7DAFBA96-6BF5-4339-A327-C6FA0A272874}" type="presOf" srcId="{8647CFDB-4B29-429F-83B2-2F103D8D5103}" destId="{C8B5D880-C4E9-4FE7-895B-E1A90973E8F3}" srcOrd="0" destOrd="1" presId="urn:microsoft.com/office/officeart/2005/8/layout/default"/>
    <dgm:cxn modelId="{E49005B7-4E19-48A5-8DCB-75729D28A1C5}" type="presOf" srcId="{CBEAD6F4-7F1A-4559-BAB4-60F9DB7F6483}" destId="{C8B5D880-C4E9-4FE7-895B-E1A90973E8F3}" srcOrd="0" destOrd="2" presId="urn:microsoft.com/office/officeart/2005/8/layout/default"/>
    <dgm:cxn modelId="{8222728E-8254-45B1-B107-B9251F129E44}" type="presParOf" srcId="{61F20B86-ED10-4E4D-A05A-238BB1AAA35B}" destId="{82D3E0B4-4936-49A3-86E5-A2FE000C7C6E}" srcOrd="1" destOrd="0" presId="urn:microsoft.com/office/officeart/2005/8/layout/default"/>
    <dgm:cxn modelId="{3263AE9A-122C-4F18-9D62-39536B2DEB42}" type="presParOf" srcId="{61F20B86-ED10-4E4D-A05A-238BB1AAA35B}" destId="{6DCF0B94-9613-4143-93D2-9E836C1AA0F7}" srcOrd="2" destOrd="0" presId="urn:microsoft.com/office/officeart/2005/8/layout/default"/>
    <dgm:cxn modelId="{803A7B70-7F95-432A-A872-8312BFE50470}" type="presOf" srcId="{5EC0B196-0A26-4CF0-8537-35F2FD304E51}" destId="{6DCF0B94-9613-4143-93D2-9E836C1AA0F7}" srcOrd="0" destOrd="0" presId="urn:microsoft.com/office/officeart/2005/8/layout/default"/>
    <dgm:cxn modelId="{125CA89E-7D25-40ED-AEAB-094B9E41D0F3}" type="presOf" srcId="{241CC577-845F-4FA9-A929-903FC6668DEC}" destId="{6DCF0B94-9613-4143-93D2-9E836C1AA0F7}" srcOrd="0" destOrd="1" presId="urn:microsoft.com/office/officeart/2005/8/layout/default"/>
    <dgm:cxn modelId="{6C146F86-6435-436A-B594-BADF16045877}" type="presOf" srcId="{79271BF4-CC65-4CA9-9850-4251D2B83D2F}" destId="{6DCF0B94-9613-4143-93D2-9E836C1AA0F7}" srcOrd="0" destOrd="2" presId="urn:microsoft.com/office/officeart/2005/8/layout/default"/>
    <dgm:cxn modelId="{4AA77A0D-9E02-4D45-903A-FFC53D2C43B9}" type="presOf" srcId="{8DA6264E-824A-419E-BA0C-7F75DAEAA6CB}" destId="{6DCF0B94-9613-4143-93D2-9E836C1AA0F7}" srcOrd="0" destOrd="3" presId="urn:microsoft.com/office/officeart/2005/8/layout/default"/>
    <dgm:cxn modelId="{C0D87767-56CE-486D-ADC0-71C16983D0C9}" type="presParOf" srcId="{61F20B86-ED10-4E4D-A05A-238BB1AAA35B}" destId="{72C131C4-C65D-4544-A175-FE398E9CE3EB}" srcOrd="3" destOrd="0" presId="urn:microsoft.com/office/officeart/2005/8/layout/default"/>
    <dgm:cxn modelId="{89015035-109B-4FC2-9D85-AB8E153AE562}" type="presParOf" srcId="{61F20B86-ED10-4E4D-A05A-238BB1AAA35B}" destId="{EA8050EF-1A8A-48CD-A4FD-EB8EE087F8DD}" srcOrd="4" destOrd="0" presId="urn:microsoft.com/office/officeart/2005/8/layout/default"/>
    <dgm:cxn modelId="{372B0F3D-2301-4BF1-AE95-AD0529218BE6}" type="presOf" srcId="{C6DE7305-C3EF-4885-9151-24806CC742F3}" destId="{EA8050EF-1A8A-48CD-A4FD-EB8EE087F8DD}" srcOrd="0" destOrd="0" presId="urn:microsoft.com/office/officeart/2005/8/layout/default"/>
    <dgm:cxn modelId="{A02C172E-BE22-4173-BEEF-D87B2138BC92}" type="presOf" srcId="{79C9F247-0AAF-4CED-B2A9-027F41007E8C}" destId="{EA8050EF-1A8A-48CD-A4FD-EB8EE087F8DD}" srcOrd="0" destOrd="1" presId="urn:microsoft.com/office/officeart/2005/8/layout/default"/>
    <dgm:cxn modelId="{96A01D6D-7C8C-4B84-9D3F-23FB3365A2E8}" type="presOf" srcId="{A53CC641-A8DA-4344-9098-749CC8095876}" destId="{EA8050EF-1A8A-48CD-A4FD-EB8EE087F8DD}" srcOrd="0" destOrd="2" presId="urn:microsoft.com/office/officeart/2005/8/layout/default"/>
    <dgm:cxn modelId="{4DDF2AB9-6CFE-4A7B-8A1F-851AE04CB523}" type="presParOf" srcId="{61F20B86-ED10-4E4D-A05A-238BB1AAA35B}" destId="{E4B43986-0A94-49A0-99CD-99CA7756D720}" srcOrd="5" destOrd="0" presId="urn:microsoft.com/office/officeart/2005/8/layout/default"/>
    <dgm:cxn modelId="{4B94ACF9-49C4-411B-B76B-6F41589B59F7}" type="presParOf" srcId="{61F20B86-ED10-4E4D-A05A-238BB1AAA35B}" destId="{A1ABC17E-8F1D-4136-9014-E0EAC1441BDA}" srcOrd="6" destOrd="0" presId="urn:microsoft.com/office/officeart/2005/8/layout/default"/>
    <dgm:cxn modelId="{6897DD03-DE26-4CA6-A581-683FF0F2001A}" type="presOf" srcId="{FF75D08B-25D4-4354-9626-27F9014D0F23}" destId="{A1ABC17E-8F1D-4136-9014-E0EAC1441BDA}" srcOrd="0" destOrd="0" presId="urn:microsoft.com/office/officeart/2005/8/layout/default"/>
    <dgm:cxn modelId="{96F3D8CE-0132-41E3-9CC5-982232FD1DB9}" type="presOf" srcId="{6526BB5F-E7A2-41FB-AA9F-C85529CED6E9}" destId="{A1ABC17E-8F1D-4136-9014-E0EAC1441BDA}" srcOrd="0" destOrd="1" presId="urn:microsoft.com/office/officeart/2005/8/layout/default"/>
    <dgm:cxn modelId="{87727D38-0679-4474-8779-7CB1E3D9BBA6}" type="presOf" srcId="{81D76D29-EFFD-4577-85B4-4909768A47F6}" destId="{A1ABC17E-8F1D-4136-9014-E0EAC1441BDA}" srcOrd="0" destOrd="2" presId="urn:microsoft.com/office/officeart/2005/8/layout/default"/>
    <dgm:cxn modelId="{8517343D-1CD7-4A8F-A28D-4B64DDCD4C15}" type="presOf" srcId="{9632AB14-1F25-4072-BBC5-6D3FB5308D2E}" destId="{A1ABC17E-8F1D-4136-9014-E0EAC1441BDA}" srcOrd="0" destOrd="3" presId="urn:microsoft.com/office/officeart/2005/8/layout/default"/>
    <dgm:cxn modelId="{583D22FB-C7B0-48C6-9FD7-2BA1F02D8171}" type="presParOf" srcId="{61F20B86-ED10-4E4D-A05A-238BB1AAA35B}" destId="{3DF4BA97-359E-4D7A-9E6A-1A86C106A9DE}" srcOrd="7" destOrd="0" presId="urn:microsoft.com/office/officeart/2005/8/layout/default"/>
    <dgm:cxn modelId="{43EF2EA9-6229-4E49-AF29-ADB9B440431B}" type="presParOf" srcId="{61F20B86-ED10-4E4D-A05A-238BB1AAA35B}" destId="{8DA35FD8-877B-4603-8EA5-AE1961A071E9}" srcOrd="8" destOrd="0" presId="urn:microsoft.com/office/officeart/2005/8/layout/default"/>
    <dgm:cxn modelId="{429637D4-DA5B-41F1-9347-5491047FB906}" type="presOf" srcId="{0B058032-C207-4117-847E-C9467300338A}" destId="{8DA35FD8-877B-4603-8EA5-AE1961A071E9}" srcOrd="0" destOrd="0" presId="urn:microsoft.com/office/officeart/2005/8/layout/default"/>
    <dgm:cxn modelId="{36EAC051-159F-4A91-AB72-EFE6C7A51E13}" type="presOf" srcId="{C1471E40-D57A-4BFF-BED2-A284EEDC7646}" destId="{8DA35FD8-877B-4603-8EA5-AE1961A071E9}" srcOrd="0" destOrd="1" presId="urn:microsoft.com/office/officeart/2005/8/layout/default"/>
    <dgm:cxn modelId="{E9FF4252-B9EA-4635-9EB8-7CC3C483A5FB}" type="presOf" srcId="{1F10E6DD-C76F-4B60-B329-E7D42BE00683}" destId="{8DA35FD8-877B-4603-8EA5-AE1961A071E9}" srcOrd="0" destOrd="2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48261" cy="5240146"/>
        <a:chOff x="0" y="0"/>
        <a:chExt cx="5948261" cy="5240146"/>
      </a:xfrm>
    </dsp:grpSpPr>
    <dsp:sp modelId="{8F349CE2-8828-4988-8758-229919E8564D}">
      <dsp:nvSpPr>
        <dsp:cNvPr id="3" name="矩形 2"/>
        <dsp:cNvSpPr/>
      </dsp:nvSpPr>
      <dsp:spPr bwMode="white">
        <a:xfrm>
          <a:off x="223350" y="-880"/>
          <a:ext cx="2622695" cy="1573617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</dsp:spPr>
      <dsp:style>
        <a:lnRef idx="2">
          <a:schemeClr val="accent3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实时</a:t>
          </a:r>
          <a:r>
            <a:rPr lang="zh-CN" altLang="en-US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</a:t>
          </a:r>
          <a:endParaRPr lang="zh-CN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实时显示多导心电波形，呼吸波形，心率，呼吸率，脉率，血氧，血压。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实时监控病床患者动态生命体征。</a:t>
          </a:r>
          <a:endParaRPr>
            <a:solidFill>
              <a:schemeClr val="dk1"/>
            </a:solidFill>
          </a:endParaRPr>
        </a:p>
      </dsp:txBody>
      <dsp:txXfrm>
        <a:off x="223350" y="-880"/>
        <a:ext cx="2622695" cy="1573617"/>
      </dsp:txXfrm>
    </dsp:sp>
    <dsp:sp modelId="{0C5AD196-BA35-437B-8535-CA5887010531}">
      <dsp:nvSpPr>
        <dsp:cNvPr id="4" name="矩形 3"/>
        <dsp:cNvSpPr/>
      </dsp:nvSpPr>
      <dsp:spPr bwMode="white">
        <a:xfrm>
          <a:off x="3108315" y="-880"/>
          <a:ext cx="2622695" cy="1573617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</dsp:spPr>
      <dsp:style>
        <a:lnRef idx="2">
          <a:schemeClr val="accent3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界面扩展与定制</a:t>
          </a:r>
          <a:endParaRPr lang="zh-CN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可选择使用监护仪数量，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可同时实时监测多达</a:t>
          </a:r>
          <a:r>
            <a: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100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人</a:t>
          </a: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可选择界面实时显示</a:t>
          </a:r>
          <a:r>
            <a:rPr 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人、</a:t>
          </a:r>
          <a:r>
            <a:rPr 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人、</a:t>
          </a:r>
          <a:r>
            <a:rPr 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16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人等监测状态。可对重点监测患者重点显示。</a:t>
          </a:r>
          <a:endParaRPr>
            <a:solidFill>
              <a:schemeClr val="dk1"/>
            </a:solidFill>
          </a:endParaRPr>
        </a:p>
      </dsp:txBody>
      <dsp:txXfrm>
        <a:off x="3108315" y="-880"/>
        <a:ext cx="2622695" cy="1573617"/>
      </dsp:txXfrm>
    </dsp:sp>
    <dsp:sp modelId="{41225FCC-DF7D-4439-807E-4BA010C8D038}">
      <dsp:nvSpPr>
        <dsp:cNvPr id="5" name="矩形 4"/>
        <dsp:cNvSpPr/>
      </dsp:nvSpPr>
      <dsp:spPr bwMode="white">
        <a:xfrm>
          <a:off x="223350" y="1833264"/>
          <a:ext cx="2622695" cy="1573617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</dsp:spPr>
      <dsp:style>
        <a:lnRef idx="2">
          <a:schemeClr val="accent3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心律失常即时报警</a:t>
          </a:r>
          <a:endParaRPr lang="zh-CN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对自动检测的心律失常事件报警，对停搏、室速、显著的ST段改变等危机值自动报警，并对干扰波进行自动识别和报警提示。</a:t>
          </a:r>
          <a:endParaRPr lang="zh-CN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3350" y="1833264"/>
        <a:ext cx="2622695" cy="1573617"/>
      </dsp:txXfrm>
    </dsp:sp>
    <dsp:sp modelId="{7C3C4132-DA34-4567-945B-3E9DD50EDDBD}">
      <dsp:nvSpPr>
        <dsp:cNvPr id="6" name="矩形 5"/>
        <dsp:cNvSpPr/>
      </dsp:nvSpPr>
      <dsp:spPr bwMode="white">
        <a:xfrm>
          <a:off x="3108315" y="1833264"/>
          <a:ext cx="2622695" cy="1573617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</dsp:spPr>
      <dsp:style>
        <a:lnRef idx="2">
          <a:schemeClr val="accent3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64769" rIns="64769" bIns="64769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动态</a:t>
          </a:r>
          <a:r>
            <a:rPr lang="zh-CN" altLang="en-US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分析</a:t>
          </a:r>
          <a:endParaRPr lang="zh-CN" b="0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内嵌动态心电分析软件包、动态血压分析软件包，对采集的多种电生理参数信号进行统一分析；</a:t>
          </a:r>
          <a:endParaRPr lang="zh-CN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08315" y="1833264"/>
        <a:ext cx="2622695" cy="1573617"/>
      </dsp:txXfrm>
    </dsp:sp>
    <dsp:sp modelId="{F83ED55C-7E7D-49C6-A17F-DA9D8847917F}">
      <dsp:nvSpPr>
        <dsp:cNvPr id="7" name="矩形 6"/>
        <dsp:cNvSpPr/>
      </dsp:nvSpPr>
      <dsp:spPr bwMode="white">
        <a:xfrm>
          <a:off x="223350" y="3667408"/>
          <a:ext cx="2622695" cy="1573617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</dsp:spPr>
      <dsp:style>
        <a:lnRef idx="2">
          <a:schemeClr val="accent3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0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集中监护协同诊断</a:t>
          </a:r>
          <a:endParaRPr lang="zh-CN" b="0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集中</a:t>
          </a: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远程实时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监护，专家、医师可以异地</a:t>
          </a: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协同诊断和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治疗。</a:t>
          </a:r>
          <a:endParaRPr>
            <a:solidFill>
              <a:schemeClr val="dk1"/>
            </a:solidFill>
          </a:endParaRPr>
        </a:p>
      </dsp:txBody>
      <dsp:txXfrm>
        <a:off x="223350" y="3667408"/>
        <a:ext cx="2622695" cy="1573617"/>
      </dsp:txXfrm>
    </dsp:sp>
    <dsp:sp modelId="{00B57D05-A428-431F-AC79-01D7CB8907F3}">
      <dsp:nvSpPr>
        <dsp:cNvPr id="8" name="矩形 7"/>
        <dsp:cNvSpPr/>
      </dsp:nvSpPr>
      <dsp:spPr bwMode="white">
        <a:xfrm>
          <a:off x="3108315" y="3667408"/>
          <a:ext cx="2622695" cy="1573617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</dsp:spPr>
      <dsp:style>
        <a:lnRef idx="2">
          <a:schemeClr val="accent3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其他功能</a:t>
          </a:r>
          <a:endParaRPr lang="zh-CN" dirty="0">
            <a:solidFill>
              <a:srgbClr val="5B9BD5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自动存储</a:t>
          </a: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，查看历史，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病历管理</a:t>
          </a: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报告打印</a:t>
          </a:r>
          <a:r>
            <a: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……</a:t>
          </a:r>
          <a:endParaRPr lang="zh-CN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08315" y="3667408"/>
        <a:ext cx="2622695" cy="1573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412393" cy="4158487"/>
        <a:chOff x="0" y="0"/>
        <a:chExt cx="10412393" cy="4158487"/>
      </a:xfrm>
    </dsp:grpSpPr>
    <dsp:sp modelId="{C8B5D880-C4E9-4FE7-895B-E1A90973E8F3}">
      <dsp:nvSpPr>
        <dsp:cNvPr id="3" name="矩形 2"/>
        <dsp:cNvSpPr/>
      </dsp:nvSpPr>
      <dsp:spPr bwMode="white">
        <a:xfrm>
          <a:off x="1563499" y="0"/>
          <a:ext cx="3200489" cy="1920293"/>
        </a:xfrm>
        <a:prstGeom prst="rect">
          <a:avLst/>
        </a:prstGeom>
        <a:solidFill>
          <a:schemeClr val="bg1">
            <a:lumMod val="85000"/>
          </a:schemeClr>
        </a:solidFill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全院监测设备总量</a:t>
          </a:r>
          <a:endParaRPr lang="zh-CN" altLang="en-US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60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台无线多参监测仪</a:t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心内科、呼吸内科、神经外科、急诊全科、肾内科、普外科配备使用</a:t>
          </a:r>
          <a:endParaRPr sz="6500"/>
        </a:p>
      </dsp:txBody>
      <dsp:txXfrm>
        <a:off x="1563499" y="0"/>
        <a:ext cx="3200489" cy="1920293"/>
      </dsp:txXfrm>
    </dsp:sp>
    <dsp:sp modelId="{6DCF0B94-9613-4143-93D2-9E836C1AA0F7}">
      <dsp:nvSpPr>
        <dsp:cNvPr id="4" name="矩形 3"/>
        <dsp:cNvSpPr/>
      </dsp:nvSpPr>
      <dsp:spPr bwMode="white">
        <a:xfrm>
          <a:off x="5155375" y="0"/>
          <a:ext cx="3200489" cy="1920293"/>
        </a:xfrm>
        <a:prstGeom prst="rect">
          <a:avLst/>
        </a:prstGeom>
        <a:solidFill>
          <a:schemeClr val="bg1">
            <a:lumMod val="85000"/>
          </a:schemeClr>
        </a:solidFill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8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使用时段</a:t>
          </a:r>
          <a:endParaRPr lang="zh-CN" altLang="en-US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2015.7-2017.7</a:t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监护总时长约：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343617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平均每台每天不到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endParaRPr sz="6500"/>
        </a:p>
      </dsp:txBody>
      <dsp:txXfrm>
        <a:off x="5155375" y="0"/>
        <a:ext cx="3200489" cy="1920293"/>
      </dsp:txXfrm>
    </dsp:sp>
    <dsp:sp modelId="{EA8050EF-1A8A-48CD-A4FD-EB8EE087F8DD}">
      <dsp:nvSpPr>
        <dsp:cNvPr id="5" name="矩形 4"/>
        <dsp:cNvSpPr/>
      </dsp:nvSpPr>
      <dsp:spPr bwMode="white">
        <a:xfrm>
          <a:off x="0" y="2238194"/>
          <a:ext cx="3200489" cy="1920293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全院监护收费总额（不含血氧）</a:t>
          </a:r>
          <a:endParaRPr lang="zh-CN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监护总时长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* 4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约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1374468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endParaRPr sz="6500"/>
        </a:p>
      </dsp:txBody>
      <dsp:txXfrm>
        <a:off x="0" y="2238194"/>
        <a:ext cx="3200489" cy="1920293"/>
      </dsp:txXfrm>
    </dsp:sp>
    <dsp:sp modelId="{A1ABC17E-8F1D-4136-9014-E0EAC1441BDA}">
      <dsp:nvSpPr>
        <dsp:cNvPr id="6" name="矩形 5"/>
        <dsp:cNvSpPr/>
      </dsp:nvSpPr>
      <dsp:spPr bwMode="white">
        <a:xfrm>
          <a:off x="3644627" y="2214732"/>
          <a:ext cx="3200489" cy="1920293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6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全院血氧监护收费总额</a:t>
          </a:r>
          <a:endParaRPr lang="zh-CN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血氧</a:t>
          </a: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监护时长约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占</a:t>
          </a: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总时长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0%</a:t>
          </a: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以上</a:t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监护总时长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*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0%*2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小时</a:t>
          </a:r>
          <a:endParaRPr lang="zh-CN" sz="1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约</a:t>
          </a:r>
          <a:r>
            <a: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412338</a:t>
          </a: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元</a:t>
          </a:r>
          <a:endParaRPr sz="6500"/>
        </a:p>
      </dsp:txBody>
      <dsp:txXfrm>
        <a:off x="3644627" y="2214732"/>
        <a:ext cx="3200489" cy="1920293"/>
      </dsp:txXfrm>
    </dsp:sp>
    <dsp:sp modelId="{8DA35FD8-877B-4603-8EA5-AE1961A071E9}">
      <dsp:nvSpPr>
        <dsp:cNvPr id="7" name="矩形 6"/>
        <dsp:cNvSpPr/>
      </dsp:nvSpPr>
      <dsp:spPr bwMode="white">
        <a:xfrm>
          <a:off x="7211904" y="2214732"/>
          <a:ext cx="3200489" cy="1920293"/>
        </a:xfrm>
        <a:prstGeom prst="rect">
          <a:avLst/>
        </a:prstGeom>
        <a:solidFill>
          <a:schemeClr val="accent2">
            <a:alpha val="50000"/>
          </a:schemeClr>
        </a:solidFill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全院监护</a:t>
          </a:r>
          <a:r>
            <a: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服务</a:t>
          </a:r>
          <a:r>
            <a:rPr 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总收益</a:t>
          </a:r>
          <a:endParaRPr lang="zh-CN" sz="1800" b="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约：</a:t>
          </a:r>
          <a:r>
            <a: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180</a:t>
          </a:r>
          <a:r>
            <a:rPr 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万元</a:t>
          </a:r>
          <a:endParaRPr lang="zh-CN" sz="14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注：监护时间估算低于实际使用时长，因此实际收益应该远高于该数值。</a:t>
          </a:r>
        </a:p>
      </dsp:txBody>
      <dsp:txXfrm>
        <a:off x="7211904" y="2214732"/>
        <a:ext cx="3200489" cy="1920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50423-C9CB-483E-8041-34A436CE1A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0C695-38D3-4743-98DF-60B26C618E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0C695-38D3-4743-98DF-60B26C618E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0C695-38D3-4743-98DF-60B26C618E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827" y="0"/>
            <a:ext cx="10455599" cy="4527175"/>
          </a:xfrm>
        </p:spPr>
        <p:txBody>
          <a:bodyPr>
            <a:noAutofit/>
          </a:bodyPr>
          <a:lstStyle>
            <a:lvl1pPr marL="0" algn="ctr" defTabSz="1172210" rtl="0" eaLnBrk="1" latinLnBrk="0" hangingPunct="1">
              <a:lnSpc>
                <a:spcPts val="8100"/>
              </a:lnSpc>
              <a:defRPr lang="zh-CN" altLang="en-US" sz="4800" b="1" u="none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itchFamily="34" charset="-122"/>
                <a:ea typeface="思源黑体 CN Bold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4" name="图片 3" descr="图片包含 游戏机, 画&#10;&#10;描述已自动生成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95" y="259058"/>
            <a:ext cx="2049780" cy="7856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tags" Target="../tags/tag1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草地上的建筑&#10;&#10;中度可信度描述已自动生成"/>
          <p:cNvPicPr>
            <a:picLocks noChangeAspect="1"/>
          </p:cNvPicPr>
          <p:nvPr/>
        </p:nvPicPr>
        <p:blipFill rotWithShape="1">
          <a:blip r:embed="rId1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2" r="1810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524000" y="875474"/>
            <a:ext cx="9144000" cy="1858582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市中心医院</a:t>
            </a:r>
            <a:br>
              <a:rPr lang="en-US" altLang="zh-CN" dirty="0">
                <a:solidFill>
                  <a:srgbClr val="FFFFFF"/>
                </a:solidFill>
              </a:rPr>
            </a:br>
            <a:r>
              <a:rPr lang="zh-CN" altLang="en-US" sz="5400" b="0" dirty="0">
                <a:solidFill>
                  <a:srgbClr val="FFFFFF"/>
                </a:solidFill>
              </a:rPr>
              <a:t>生命体征集中监护解决方案</a:t>
            </a:r>
            <a:endParaRPr lang="zh-CN" altLang="en-US" b="0" dirty="0">
              <a:solidFill>
                <a:srgbClr val="FFFFFF"/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524000" y="2362478"/>
            <a:ext cx="9144000" cy="1445868"/>
          </a:xfrm>
        </p:spPr>
        <p:txBody>
          <a:bodyPr anchor="b"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浙江好络维医疗技术有限公司</a:t>
            </a:r>
            <a:endParaRPr lang="en-US" altLang="zh-CN" dirty="0">
              <a:solidFill>
                <a:srgbClr val="FFFFFF"/>
              </a:solidFill>
            </a:endParaRPr>
          </a:p>
          <a:p>
            <a:r>
              <a:rPr lang="en-US" altLang="zh-CN" dirty="0">
                <a:solidFill>
                  <a:srgbClr val="FFFFFF"/>
                </a:solidFill>
              </a:rPr>
              <a:t>2022-10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45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365125"/>
            <a:ext cx="10890812" cy="1899912"/>
          </a:xfrm>
        </p:spPr>
        <p:txBody>
          <a:bodyPr>
            <a:normAutofit/>
          </a:bodyPr>
          <a:lstStyle/>
          <a:p>
            <a:r>
              <a:rPr lang="zh-CN" altLang="en-US" dirty="0"/>
              <a:t>智慧病房集中监护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30005" y="902825"/>
            <a:ext cx="4328932" cy="54858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/>
              <a:t>伴随着互联网、物联网、大数据和人工智能的飞速发展，医院的智慧病房系统越发受到重视。智慧病房主要理念</a:t>
            </a:r>
            <a:r>
              <a:rPr lang="zh-CN" altLang="en-US" sz="1600" dirty="0"/>
              <a:t>：</a:t>
            </a:r>
            <a:r>
              <a:rPr lang="zh-TW" altLang="en-US" sz="1600" dirty="0"/>
              <a:t>以病患为中心，以照护为目标，</a:t>
            </a:r>
            <a:r>
              <a:rPr lang="zh-CN" altLang="en-US" sz="1600" b="1" dirty="0"/>
              <a:t>借由</a:t>
            </a:r>
            <a:r>
              <a:rPr lang="zh-CN" altLang="zh-CN" sz="1600" b="1" dirty="0"/>
              <a:t>物联网</a:t>
            </a:r>
            <a:r>
              <a:rPr lang="zh-CN" altLang="en-US" sz="1600" b="1" dirty="0"/>
              <a:t>设备和</a:t>
            </a:r>
            <a:r>
              <a:rPr lang="zh-CN" altLang="zh-CN" sz="1600" b="1" dirty="0"/>
              <a:t>通讯功能</a:t>
            </a:r>
            <a:r>
              <a:rPr lang="zh-CN" altLang="en-US" sz="1600" dirty="0"/>
              <a:t>，</a:t>
            </a:r>
            <a:r>
              <a:rPr lang="zh-CN" altLang="zh-CN" sz="1600" dirty="0"/>
              <a:t>和病房医疗信息系统整合，</a:t>
            </a:r>
            <a:r>
              <a:rPr lang="zh-CN" altLang="zh-CN" sz="1600" b="1" dirty="0"/>
              <a:t>让医护人员不用随伺在病患身边</a:t>
            </a:r>
            <a:r>
              <a:rPr lang="zh-CN" altLang="zh-CN" sz="1600" dirty="0"/>
              <a:t>，也能提供实时服务。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病房</a:t>
            </a:r>
            <a:r>
              <a:rPr lang="zh-CN" altLang="zh-CN" sz="1600" dirty="0"/>
              <a:t>生命体征集中监护是智慧病房重点发展方向之一</a:t>
            </a:r>
            <a:r>
              <a:rPr lang="zh-CN" altLang="en-US" sz="1600" dirty="0"/>
              <a:t>，</a:t>
            </a:r>
            <a:r>
              <a:rPr lang="zh-CN" altLang="zh-CN" sz="1600" dirty="0"/>
              <a:t>可对患者生命体征进行连续性监测，并具有</a:t>
            </a:r>
            <a:r>
              <a:rPr lang="zh-CN" altLang="zh-CN" sz="1600" b="1" dirty="0"/>
              <a:t>报警设置、数据表格、趋势图形</a:t>
            </a:r>
            <a:r>
              <a:rPr lang="zh-CN" altLang="zh-CN" sz="1600" dirty="0"/>
              <a:t>等功能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zh-CN" sz="1600" dirty="0"/>
              <a:t>医护人员随时、连续、长时间监测患者的各项生命指标情况，及时发现病情变化</a:t>
            </a:r>
            <a:r>
              <a:rPr lang="zh-CN" altLang="en-US" sz="1600" dirty="0"/>
              <a:t>。</a:t>
            </a:r>
            <a:r>
              <a:rPr lang="zh-CN" altLang="zh-CN" sz="1600" dirty="0"/>
              <a:t>杜绝医疗安全隐患</a:t>
            </a:r>
            <a:r>
              <a:rPr lang="zh-CN" altLang="en-US" sz="1600" dirty="0"/>
              <a:t>，</a:t>
            </a:r>
            <a:r>
              <a:rPr lang="zh-CN" altLang="zh-CN" sz="1600" dirty="0"/>
              <a:t>为危重患者的抢救护理提供保障，</a:t>
            </a:r>
            <a:r>
              <a:rPr lang="zh-CN" altLang="zh-CN" sz="1600" b="1" dirty="0"/>
              <a:t>提升医患关系与医疗服务质量</a:t>
            </a:r>
            <a:r>
              <a:rPr lang="zh-CN" altLang="zh-CN" sz="1600" dirty="0"/>
              <a:t>。</a:t>
            </a:r>
            <a:endParaRPr lang="zh-CN" alt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5"/>
          <p:cNvSpPr/>
          <p:nvPr/>
        </p:nvSpPr>
        <p:spPr>
          <a:xfrm>
            <a:off x="1007539" y="3424313"/>
            <a:ext cx="2016000" cy="3045078"/>
          </a:xfrm>
          <a:prstGeom prst="roundRect">
            <a:avLst>
              <a:gd name="adj" fmla="val 298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集中监护搭建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007539" y="1690688"/>
            <a:ext cx="2016000" cy="1593485"/>
          </a:xfrm>
          <a:prstGeom prst="roundRect">
            <a:avLst>
              <a:gd name="adj" fmla="val 2988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26" name="Picture 2" descr="E:\项目\公司资料\产品图片\新产品图片\device_609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36" y="1980402"/>
            <a:ext cx="651047" cy="37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6"/>
          <p:cNvSpPr/>
          <p:nvPr/>
        </p:nvSpPr>
        <p:spPr>
          <a:xfrm>
            <a:off x="8236033" y="1528440"/>
            <a:ext cx="3079772" cy="1512000"/>
          </a:xfrm>
          <a:prstGeom prst="roundRect">
            <a:avLst>
              <a:gd name="adj" fmla="val 3869"/>
            </a:avLst>
          </a:prstGeom>
          <a:noFill/>
          <a:ln w="190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各科室客户端</a:t>
            </a:r>
            <a:endParaRPr lang="zh-CN" altLang="en-US" sz="1400" b="1" dirty="0">
              <a:solidFill>
                <a:schemeClr val="accent1"/>
              </a:solidFill>
            </a:endParaRPr>
          </a:p>
          <a:p>
            <a:pPr algn="ctr"/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51342" y="2691906"/>
            <a:ext cx="112839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院内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院外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" descr="E:\项目\公司资料\产品图片\新产品图片\device_609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33" y="3930993"/>
            <a:ext cx="651049" cy="37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491195" y="4452090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科室病床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2" descr="E:\项目\公司资料\产品图片\新产品图片\device_6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861" y="5153246"/>
            <a:ext cx="677309" cy="39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491196" y="5893495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科室病床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 descr="C:\Users\Administrator\Desktop\4a181cb60815b03619921038776bd97ae0503524459b1-WMlmVm_fw1200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065" y="2160678"/>
            <a:ext cx="801875" cy="128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istrator\Desktop\5b69d3f506d9a2e9d32a909baf5f8869e3867aca1dd49c-r8MLx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574" y="3978631"/>
            <a:ext cx="1758238" cy="175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951" y="1897185"/>
            <a:ext cx="1229163" cy="969481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32" y="3605721"/>
            <a:ext cx="1229163" cy="969481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368" y="3790890"/>
            <a:ext cx="790575" cy="590550"/>
          </a:xfrm>
          <a:prstGeom prst="rect">
            <a:avLst/>
          </a:prstGeom>
        </p:spPr>
      </p:pic>
      <p:sp>
        <p:nvSpPr>
          <p:cNvPr id="33" name="文本框 97"/>
          <p:cNvSpPr txBox="1"/>
          <p:nvPr/>
        </p:nvSpPr>
        <p:spPr>
          <a:xfrm>
            <a:off x="10290872" y="437056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打印机</a:t>
            </a:r>
            <a:endParaRPr lang="zh-CN" altLang="en-US" dirty="0"/>
          </a:p>
        </p:txBody>
      </p:sp>
      <p:cxnSp>
        <p:nvCxnSpPr>
          <p:cNvPr id="34" name="直接箭头连接符 33"/>
          <p:cNvCxnSpPr>
            <a:stCxn id="30" idx="3"/>
            <a:endCxn id="32" idx="1"/>
          </p:cNvCxnSpPr>
          <p:nvPr/>
        </p:nvCxnSpPr>
        <p:spPr>
          <a:xfrm flipV="1">
            <a:off x="9841295" y="4086165"/>
            <a:ext cx="303073" cy="429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圆角矩形 6"/>
          <p:cNvSpPr/>
          <p:nvPr/>
        </p:nvSpPr>
        <p:spPr>
          <a:xfrm>
            <a:off x="8236033" y="3200394"/>
            <a:ext cx="3096000" cy="1512000"/>
          </a:xfrm>
          <a:prstGeom prst="roundRect">
            <a:avLst>
              <a:gd name="adj" fmla="val 3869"/>
            </a:avLst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</a:rPr>
              <a:t>护士监护站客户端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32" y="5271665"/>
            <a:ext cx="1229163" cy="969481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368" y="5456834"/>
            <a:ext cx="790575" cy="590550"/>
          </a:xfrm>
          <a:prstGeom prst="rect">
            <a:avLst/>
          </a:prstGeom>
        </p:spPr>
      </p:pic>
      <p:sp>
        <p:nvSpPr>
          <p:cNvPr id="39" name="文本框 97"/>
          <p:cNvSpPr txBox="1"/>
          <p:nvPr/>
        </p:nvSpPr>
        <p:spPr>
          <a:xfrm>
            <a:off x="10290872" y="603650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打印机</a:t>
            </a:r>
            <a:endParaRPr lang="zh-CN" altLang="en-US" dirty="0"/>
          </a:p>
        </p:txBody>
      </p:sp>
      <p:cxnSp>
        <p:nvCxnSpPr>
          <p:cNvPr id="40" name="直接箭头连接符 39"/>
          <p:cNvCxnSpPr>
            <a:stCxn id="36" idx="3"/>
            <a:endCxn id="38" idx="1"/>
          </p:cNvCxnSpPr>
          <p:nvPr/>
        </p:nvCxnSpPr>
        <p:spPr>
          <a:xfrm flipV="1">
            <a:off x="9841295" y="5752109"/>
            <a:ext cx="303073" cy="429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6"/>
          <p:cNvSpPr/>
          <p:nvPr/>
        </p:nvSpPr>
        <p:spPr>
          <a:xfrm>
            <a:off x="8236033" y="4866338"/>
            <a:ext cx="3096000" cy="1512000"/>
          </a:xfrm>
          <a:prstGeom prst="roundRect">
            <a:avLst>
              <a:gd name="adj" fmla="val 3869"/>
            </a:avLst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b="1">
                <a:solidFill>
                  <a:schemeClr val="bg1">
                    <a:lumMod val="50000"/>
                  </a:schemeClr>
                </a:solidFill>
              </a:rPr>
              <a:t>护士监护站客户端</a:t>
            </a:r>
            <a:r>
              <a:rPr lang="en-US" altLang="zh-CN" sz="1200" b="1">
                <a:solidFill>
                  <a:schemeClr val="bg1">
                    <a:lumMod val="50000"/>
                  </a:schemeClr>
                </a:solidFill>
              </a:rPr>
              <a:t>N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182285" y="2718032"/>
            <a:ext cx="2091760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3206115" y="4866338"/>
            <a:ext cx="1901600" cy="0"/>
          </a:xfrm>
          <a:prstGeom prst="straightConnector1">
            <a:avLst/>
          </a:prstGeom>
          <a:ln w="19050"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825579" y="3556370"/>
            <a:ext cx="0" cy="69802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93"/>
          <p:cNvSpPr txBox="1"/>
          <p:nvPr/>
        </p:nvSpPr>
        <p:spPr>
          <a:xfrm>
            <a:off x="3718849" y="2070700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4G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传输模式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95"/>
          <p:cNvSpPr txBox="1"/>
          <p:nvPr/>
        </p:nvSpPr>
        <p:spPr>
          <a:xfrm>
            <a:off x="3715356" y="4328980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12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传输模式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肘形连接符 45"/>
          <p:cNvCxnSpPr>
            <a:stCxn id="1028" idx="3"/>
            <a:endCxn id="23" idx="1"/>
          </p:cNvCxnSpPr>
          <p:nvPr/>
        </p:nvCxnSpPr>
        <p:spPr>
          <a:xfrm flipV="1">
            <a:off x="6776812" y="2284440"/>
            <a:ext cx="1459221" cy="2573310"/>
          </a:xfrm>
          <a:prstGeom prst="bentConnector3">
            <a:avLst/>
          </a:prstGeom>
          <a:ln w="19050"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1028" idx="3"/>
            <a:endCxn id="41" idx="1"/>
          </p:cNvCxnSpPr>
          <p:nvPr/>
        </p:nvCxnSpPr>
        <p:spPr>
          <a:xfrm>
            <a:off x="6776812" y="4857750"/>
            <a:ext cx="1459221" cy="764588"/>
          </a:xfrm>
          <a:prstGeom prst="bentConnector3">
            <a:avLst>
              <a:gd name="adj1" fmla="val 48997"/>
            </a:avLst>
          </a:prstGeom>
          <a:ln w="19050">
            <a:solidFill>
              <a:srgbClr val="5B9BD5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/>
          <p:cNvCxnSpPr>
            <a:stCxn id="1028" idx="3"/>
          </p:cNvCxnSpPr>
          <p:nvPr/>
        </p:nvCxnSpPr>
        <p:spPr>
          <a:xfrm flipV="1">
            <a:off x="6776812" y="3994494"/>
            <a:ext cx="1459221" cy="863256"/>
          </a:xfrm>
          <a:prstGeom prst="bentConnector3">
            <a:avLst>
              <a:gd name="adj1" fmla="val 49069"/>
            </a:avLst>
          </a:prstGeom>
          <a:ln w="19050"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65477" y="546803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院内网络</a:t>
            </a:r>
            <a:endParaRPr lang="zh-CN" altLang="en-US" dirty="0"/>
          </a:p>
        </p:txBody>
      </p:sp>
      <p:pic>
        <p:nvPicPr>
          <p:cNvPr id="2" name="Picture 2" descr="E:\项目\公司资料\产品图片\新产品图片\device_609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075" y="1956040"/>
            <a:ext cx="651047" cy="37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项目\公司资料\产品图片\新产品图片\device_609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404" y="3930992"/>
            <a:ext cx="651049" cy="37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:\项目\公司资料\产品图片\新产品图片\device_6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625" y="5179140"/>
            <a:ext cx="677309" cy="39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集中监护场景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-1409" t="63" b="4360"/>
          <a:stretch>
            <a:fillRect/>
          </a:stretch>
        </p:blipFill>
        <p:spPr>
          <a:xfrm>
            <a:off x="6747638" y="1426249"/>
            <a:ext cx="2257736" cy="28624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内容占位符 6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05400" y="1992119"/>
            <a:ext cx="4618403" cy="32639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15142" t="16715" r="583" b="10430"/>
          <a:stretch>
            <a:fillRect/>
          </a:stretch>
        </p:blipFill>
        <p:spPr>
          <a:xfrm>
            <a:off x="9183625" y="3351616"/>
            <a:ext cx="2170175" cy="24284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文本框 8"/>
          <p:cNvSpPr txBox="1"/>
          <p:nvPr/>
        </p:nvSpPr>
        <p:spPr>
          <a:xfrm>
            <a:off x="6491606" y="5426084"/>
            <a:ext cx="21701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4G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传输模式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兼具遥测模式的应用场景</a:t>
            </a:r>
            <a:br>
              <a:rPr lang="en-US" altLang="zh-CN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外支持患者外出佩戴监测</a:t>
            </a:r>
            <a:endParaRPr lang="zh-CN" altLang="en-US" sz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06614" y="1930276"/>
            <a:ext cx="20799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err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遥测</a:t>
            </a:r>
            <a:r>
              <a:rPr lang="en-US" altLang="zh-CN" sz="1600" b="1" dirty="0" err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16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传输模式</a:t>
            </a:r>
            <a:endParaRPr lang="zh-CN" altLang="en-US" sz="16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病区内护士站集中监测</a:t>
            </a:r>
            <a:endParaRPr lang="zh-CN" altLang="en-US" sz="1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患者可携带活动</a:t>
            </a:r>
            <a:endParaRPr lang="zh-CN" altLang="en-US" sz="16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箭头: 左右 10"/>
          <p:cNvSpPr/>
          <p:nvPr/>
        </p:nvSpPr>
        <p:spPr>
          <a:xfrm>
            <a:off x="5844643" y="2284219"/>
            <a:ext cx="882447" cy="360695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左右 11"/>
          <p:cNvSpPr/>
          <p:nvPr/>
        </p:nvSpPr>
        <p:spPr>
          <a:xfrm>
            <a:off x="5862485" y="4804839"/>
            <a:ext cx="3142889" cy="580028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C:\Users\Administrator\Desktop\cd8c89e598af46df69449d2c2510f233198448e972205-nOF0YX.png"/>
          <p:cNvPicPr>
            <a:picLocks noChangeAspect="1" noChangeArrowheads="1"/>
          </p:cNvPicPr>
          <p:nvPr/>
        </p:nvPicPr>
        <p:blipFill rotWithShape="1">
          <a:blip r:embed="rId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t="17371" r="12097" b="6842"/>
          <a:stretch>
            <a:fillRect/>
          </a:stretch>
        </p:blipFill>
        <p:spPr bwMode="auto">
          <a:xfrm>
            <a:off x="0" y="3712313"/>
            <a:ext cx="5650992" cy="330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 dirty="0">
                <a:sym typeface="Kartika" panose="02020503030404060203" pitchFamily="2" charset="0"/>
              </a:rPr>
              <a:t>监护系统客户端</a:t>
            </a:r>
            <a:endParaRPr lang="zh-CN" altLang="en-US" dirty="0"/>
          </a:p>
        </p:txBody>
      </p:sp>
      <p:graphicFrame>
        <p:nvGraphicFramePr>
          <p:cNvPr id="12" name="内容占位符 6"/>
          <p:cNvGraphicFramePr>
            <a:graphicFrameLocks noGrp="1"/>
          </p:cNvGraphicFramePr>
          <p:nvPr>
            <p:ph idx="1"/>
          </p:nvPr>
        </p:nvGraphicFramePr>
        <p:xfrm>
          <a:off x="5405539" y="1252729"/>
          <a:ext cx="5948261" cy="5240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图片 13" descr="图片包含 形状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8" y="2848838"/>
            <a:ext cx="4160571" cy="3014041"/>
          </a:xfrm>
          <a:prstGeom prst="rect">
            <a:avLst/>
          </a:prstGeom>
        </p:spPr>
      </p:pic>
      <p:pic>
        <p:nvPicPr>
          <p:cNvPr id="4" name="图片 3" descr="中央站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232" y="3158323"/>
            <a:ext cx="3201115" cy="1840849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683220" y="5793157"/>
            <a:ext cx="2247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监护系统</a:t>
            </a:r>
            <a:r>
              <a:rPr lang="zh-CN" altLang="en-US" sz="14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箭头: 上下 24"/>
          <p:cNvSpPr/>
          <p:nvPr/>
        </p:nvSpPr>
        <p:spPr>
          <a:xfrm>
            <a:off x="2607995" y="2475165"/>
            <a:ext cx="373075" cy="534992"/>
          </a:xfrm>
          <a:prstGeom prst="upDownArrow">
            <a:avLst>
              <a:gd name="adj1" fmla="val 65582"/>
              <a:gd name="adj2" fmla="val 31822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圆角矩形 6"/>
          <p:cNvSpPr/>
          <p:nvPr/>
        </p:nvSpPr>
        <p:spPr>
          <a:xfrm>
            <a:off x="1020710" y="1631728"/>
            <a:ext cx="3547646" cy="824439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7554" y="1787308"/>
            <a:ext cx="962727" cy="478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2258" y="1800054"/>
            <a:ext cx="962727" cy="478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4025" y="1787308"/>
            <a:ext cx="962727" cy="4787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医护人员使用</a:t>
            </a:r>
            <a:r>
              <a:rPr lang="zh-CN" altLang="en-US" dirty="0"/>
              <a:t>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5154" y="1976779"/>
            <a:ext cx="483198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/>
              <a:t>各科室人员</a:t>
            </a:r>
            <a:r>
              <a:rPr lang="zh-CN" altLang="en-US" sz="1600" dirty="0"/>
              <a:t>：</a:t>
            </a:r>
            <a:r>
              <a:rPr lang="zh-CN" altLang="zh-CN" sz="1600" dirty="0"/>
              <a:t>通过“客户端软件”或直接在无线多参数监测仪中了解患者的生理指标变化。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zh-CN" altLang="zh-CN" sz="1600" b="1" dirty="0"/>
              <a:t>医护人员</a:t>
            </a:r>
            <a:r>
              <a:rPr lang="zh-CN" altLang="en-US" sz="1600" b="1" dirty="0"/>
              <a:t>：</a:t>
            </a:r>
            <a:r>
              <a:rPr lang="zh-CN" altLang="zh-CN" sz="1600" dirty="0"/>
              <a:t>使用客户端软件，可实时观察被监测对象的各项生理参数，指导临床监护救治工作。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专家学者：</a:t>
            </a:r>
            <a:r>
              <a:rPr lang="zh-CN" altLang="zh-CN" sz="1600" dirty="0"/>
              <a:t>在疑难杂症情况下可以登陆系统，参与远程会诊，给予指导与帮助。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院中院后服务</a:t>
            </a:r>
            <a:r>
              <a:rPr lang="zh-CN" altLang="en-US" sz="1600" dirty="0"/>
              <a:t>：</a:t>
            </a:r>
            <a:r>
              <a:rPr lang="zh-CN" altLang="zh-CN" sz="1600" dirty="0"/>
              <a:t>建立病史数据库，可以锁定已有患者</a:t>
            </a:r>
            <a:r>
              <a:rPr lang="zh-CN" altLang="en-US" sz="1600" dirty="0"/>
              <a:t>。同时</a:t>
            </a:r>
            <a:r>
              <a:rPr lang="zh-CN" altLang="zh-CN" sz="1600" dirty="0"/>
              <a:t>扩大监测范围到家庭，一定程度上可以解决因医院床位紧张而流失患者的问题。</a:t>
            </a:r>
            <a:endParaRPr lang="zh-CN" altLang="zh-CN" sz="1600" dirty="0"/>
          </a:p>
        </p:txBody>
      </p:sp>
      <p:pic>
        <p:nvPicPr>
          <p:cNvPr id="6" name="图片 5" descr="e5"/>
          <p:cNvPicPr>
            <a:picLocks noChangeAspect="1"/>
          </p:cNvPicPr>
          <p:nvPr/>
        </p:nvPicPr>
        <p:blipFill rotWithShape="1">
          <a:blip r:embed="rId1"/>
          <a:srcRect l="6852" t="4889" r="9630" b="27919"/>
          <a:stretch>
            <a:fillRect/>
          </a:stretch>
        </p:blipFill>
        <p:spPr>
          <a:xfrm>
            <a:off x="908050" y="1993011"/>
            <a:ext cx="4126230" cy="3319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 descr="中央站"/>
          <p:cNvPicPr>
            <a:picLocks noChangeAspect="1"/>
          </p:cNvPicPr>
          <p:nvPr/>
        </p:nvPicPr>
        <p:blipFill>
          <a:blip r:embed="rId2"/>
          <a:srcRect t="11653" b="21901"/>
          <a:stretch>
            <a:fillRect/>
          </a:stretch>
        </p:blipFill>
        <p:spPr>
          <a:xfrm rot="21420000">
            <a:off x="4009311" y="3863737"/>
            <a:ext cx="454325" cy="277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TE-8000Y-F</a:t>
            </a:r>
            <a:r>
              <a:rPr lang="zh-CN" altLang="en-US" dirty="0"/>
              <a:t>型无线多参数监测仪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685666" y="2174217"/>
            <a:ext cx="595795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集心电、呼吸、血压（外置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、血氧、脉率多参数监测于一体，可进行多参数实时动态监测，具备数据管理功能。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使用，可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使病人脱离病床的束缚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重量轻，体积小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患者携带方便，可以在院内院外自由活动，监测的同时不束缚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is1îde"/>
          <p:cNvSpPr/>
          <p:nvPr/>
        </p:nvSpPr>
        <p:spPr>
          <a:xfrm>
            <a:off x="4712052" y="1578087"/>
            <a:ext cx="1409700" cy="493945"/>
          </a:xfrm>
          <a:prstGeom prst="flowChartTerminator">
            <a:avLst/>
          </a:prstGeom>
          <a:solidFill>
            <a:schemeClr val="accent2"/>
          </a:solidFill>
          <a:ln w="285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/>
              <a:t>产品简介</a:t>
            </a:r>
            <a:endParaRPr lang="en-US" altLang="zh-CN" b="1" dirty="0"/>
          </a:p>
        </p:txBody>
      </p:sp>
      <p:sp>
        <p:nvSpPr>
          <p:cNvPr id="22" name="iṣliḍê"/>
          <p:cNvSpPr/>
          <p:nvPr/>
        </p:nvSpPr>
        <p:spPr>
          <a:xfrm>
            <a:off x="4685666" y="3682527"/>
            <a:ext cx="1409700" cy="493945"/>
          </a:xfrm>
          <a:prstGeom prst="flowChartTerminator">
            <a:avLst/>
          </a:prstGeom>
          <a:solidFill>
            <a:schemeClr val="accent1"/>
          </a:solidFill>
          <a:ln w="285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rmAutofit fontScale="90000" lnSpcReduction="10000"/>
          </a:bodyPr>
          <a:lstStyle/>
          <a:p>
            <a:pPr algn="ctr" fontAlgn="ctr">
              <a:spcBef>
                <a:spcPct val="0"/>
              </a:spcBef>
            </a:pPr>
            <a:r>
              <a:rPr lang="zh-CN" altLang="en-US" sz="2000" b="1" dirty="0"/>
              <a:t>产品功能</a:t>
            </a:r>
            <a:endParaRPr lang="en-US" altLang="zh-CN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4686300" y="4176472"/>
            <a:ext cx="6094476" cy="235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多导联选择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：可选3导联至12导联、1K采样率。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多功能检测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：支持起搏钉检测、防除颤。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动态血压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：血压模块分离式设计，可独立进行24小时动态血压监测，可远程测血压、定时测血压。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数据管理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：数据存储、浏览、查询。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无模式传输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：支持4G全网通、WiFi无线数据传输模式。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微功耗设计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：可连续工作24小时，并配有备用电池。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"/>
          <p:cNvGrpSpPr>
            <a:grpSpLocks noChangeAspect="1"/>
          </p:cNvGrpSpPr>
          <p:nvPr/>
        </p:nvGrpSpPr>
        <p:grpSpPr>
          <a:xfrm>
            <a:off x="838200" y="2381282"/>
            <a:ext cx="3196744" cy="3286352"/>
            <a:chOff x="-310" y="-791"/>
            <a:chExt cx="6788" cy="7058"/>
          </a:xfrm>
        </p:grpSpPr>
        <p:pic>
          <p:nvPicPr>
            <p:cNvPr id="18" name="图片 2" descr="图层-1"/>
            <p:cNvPicPr>
              <a:picLocks noChangeAspect="1"/>
            </p:cNvPicPr>
            <p:nvPr/>
          </p:nvPicPr>
          <p:blipFill rotWithShape="1">
            <a:blip r:embed="rId1"/>
            <a:srcRect r="18353"/>
            <a:stretch>
              <a:fillRect/>
            </a:stretch>
          </p:blipFill>
          <p:spPr>
            <a:xfrm>
              <a:off x="-193" y="-791"/>
              <a:ext cx="6671" cy="528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" name="图片 3" descr="图片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10" y="2723"/>
              <a:ext cx="5343" cy="354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集中监测临床</a:t>
            </a:r>
            <a:r>
              <a:rPr lang="zh-CN" altLang="en-US" dirty="0"/>
              <a:t>效率</a:t>
            </a:r>
            <a:r>
              <a:rPr lang="zh-CN" altLang="zh-CN" dirty="0"/>
              <a:t>提升</a:t>
            </a:r>
            <a:endParaRPr lang="zh-CN" altLang="en-US" dirty="0"/>
          </a:p>
        </p:txBody>
      </p:sp>
      <p:graphicFrame>
        <p:nvGraphicFramePr>
          <p:cNvPr id="7" name="表格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86968" y="1770761"/>
          <a:ext cx="10418064" cy="4656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304"/>
                <a:gridCol w="3493008"/>
                <a:gridCol w="4873752"/>
              </a:tblGrid>
              <a:tr h="9267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计算模型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传统监测方式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集中智能监测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定期记录生命体征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（按每小时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次）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小时去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病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床边测量并记录，所需时间约为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分钟（包括行走）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个床位同时或分时测量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并自动上传数据，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在护士站</a:t>
                      </a:r>
                      <a:r>
                        <a:rPr lang="zh-CN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集中查询心率、血压、血氧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r>
                        <a:rPr lang="zh-CN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29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Wingdings" panose="05000000000000000000" pitchFamily="2" charset="2"/>
                        </a:rPr>
                        <a:t>按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个病人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en-US" altLang="zh-CN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工作时间成本</a:t>
                      </a:r>
                      <a:endParaRPr lang="zh-CN" altLang="zh-CN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人×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次记录×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＝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小时）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人×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次记录×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次（按每个人仅节省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分钟）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＝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，比传统监测方式减少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29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个病人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一年节省成本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个工作日计算，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比传统监测方式减少：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*300*10=24000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个护士一年工作量</a:t>
                      </a:r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037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提高附加价值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不够实时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工作繁琐、重复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数据后续处理麻烦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实时发现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提高医护人员的远程处理能力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数据后续查询与分析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集中监测收益</a:t>
            </a:r>
            <a:r>
              <a:rPr lang="zh-CN" altLang="en-US" dirty="0"/>
              <a:t>估算</a:t>
            </a:r>
            <a:r>
              <a:rPr lang="en-US" altLang="zh-CN" dirty="0"/>
              <a:t>(</a:t>
            </a:r>
            <a:r>
              <a:rPr lang="zh-CN" altLang="zh-CN" dirty="0"/>
              <a:t>浙江某医院营收案例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838199" y="1825624"/>
          <a:ext cx="10412393" cy="4158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配置流量费用</a:t>
            </a:r>
            <a:endParaRPr lang="zh-CN" altLang="en-US" dirty="0"/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825624"/>
          <a:ext cx="10515600" cy="386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550"/>
                <a:gridCol w="3977386"/>
                <a:gridCol w="1252728"/>
                <a:gridCol w="3297936"/>
              </a:tblGrid>
              <a:tr h="502163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年流量费用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02285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监护工作站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监护系统软件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02163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无线多参监护仪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TE-8000Y-F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型无线多参数监测仪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784200">
                <a:tc rowSpan="2">
                  <a:txBody>
                    <a:bodyPr/>
                    <a:lstStyle/>
                    <a:p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无线多参监护仪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流量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r>
                        <a:rPr 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单月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流量使用约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浙江移动卡流量费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元。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*20*12=19200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578610">
                <a:tc v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物联网流量卡各地各运营商价格有所差别，以上价格仅供参考。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4"/>
          <p:cNvGraphicFramePr>
            <a:graphicFrameLocks noGrp="1"/>
          </p:cNvGraphicFramePr>
          <p:nvPr/>
        </p:nvGraphicFramePr>
        <p:xfrm>
          <a:off x="2825750" y="4124324"/>
          <a:ext cx="8528304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/>
                <a:gridCol w="1252728"/>
                <a:gridCol w="3297936"/>
              </a:tblGrid>
              <a:tr h="7842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以上流量费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折。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*50*12=38400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50265" y="5843905"/>
            <a:ext cx="7138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注：监护仪配备越多流量越便宜，网络维护由运营商负责无需费用。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08827" y="1517904"/>
            <a:ext cx="10455599" cy="3009271"/>
          </a:xfrm>
        </p:spPr>
        <p:txBody>
          <a:bodyPr/>
          <a:lstStyle/>
          <a:p>
            <a:r>
              <a:rPr lang="zh-CN" altLang="en-US" sz="4800" dirty="0"/>
              <a:t>感知生命数据，守护生命健康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564,&quot;width&quot;:9288}"/>
</p:tagLst>
</file>

<file path=ppt/tags/tag2.xml><?xml version="1.0" encoding="utf-8"?>
<p:tagLst xmlns:p="http://schemas.openxmlformats.org/presentationml/2006/main">
  <p:tag name="KSO_WM_UNIT_TABLE_BEAUTIFY" val="smartTable{d946d758-81bc-4fe7-8179-42d77b576eb9}"/>
</p:tagLst>
</file>

<file path=ppt/tags/tag3.xml><?xml version="1.0" encoding="utf-8"?>
<p:tagLst xmlns:p="http://schemas.openxmlformats.org/presentationml/2006/main">
  <p:tag name="KSO_WM_UNIT_TABLE_BEAUTIFY" val="smartTable{cd5668a7-b311-49a8-afab-655027457762}"/>
</p:tagLst>
</file>

<file path=ppt/tags/tag4.xml><?xml version="1.0" encoding="utf-8"?>
<p:tagLst xmlns:p="http://schemas.openxmlformats.org/presentationml/2006/main">
  <p:tag name="COMMONDATA" val="eyJoZGlkIjoiZjljYjY2M2Y2NzUyZjg0ODIwZjM3ZWYzYjUwMTJmNmMifQ=="/>
  <p:tag name="KSO_WPP_MARK_KEY" val="71c5dca0-674f-457b-aa4e-24e2c7ab8f2f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WPS 演示</Application>
  <PresentationFormat>宽屏</PresentationFormat>
  <Paragraphs>171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思源黑体 CN Bold</vt:lpstr>
      <vt:lpstr>黑体</vt:lpstr>
      <vt:lpstr>Kartika</vt:lpstr>
      <vt:lpstr>Times New Roman</vt:lpstr>
      <vt:lpstr>等线</vt:lpstr>
      <vt:lpstr>Arial Unicode MS</vt:lpstr>
      <vt:lpstr>Office 主题​​</vt:lpstr>
      <vt:lpstr>宝鸡市中医医院 生命体征集中监护解决方案</vt:lpstr>
      <vt:lpstr>智慧病房集中监护</vt:lpstr>
      <vt:lpstr>集中监护搭建</vt:lpstr>
      <vt:lpstr>集中监护场景</vt:lpstr>
      <vt:lpstr>监护系统客户端</vt:lpstr>
      <vt:lpstr>医护人员使用系统</vt:lpstr>
      <vt:lpstr>TE-8000Y-F型无线多参数监测仪</vt:lpstr>
      <vt:lpstr>集中监测临床效率提升</vt:lpstr>
      <vt:lpstr>集中监测收益估算(浙江某医院营收案例)</vt:lpstr>
      <vt:lpstr>配置流量费用</vt:lpstr>
      <vt:lpstr>感知生命数据，守护生命健康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IF</dc:creator>
  <cp:lastModifiedBy>Administrator</cp:lastModifiedBy>
  <cp:revision>86</cp:revision>
  <dcterms:created xsi:type="dcterms:W3CDTF">2022-10-10T07:27:00Z</dcterms:created>
  <dcterms:modified xsi:type="dcterms:W3CDTF">2023-06-25T02:12:15Z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FEE2A54F15A5462494C9D60F0E7627B5_13</vt:lpwstr>
  </property>
  <property fmtid="{D5CDD505-2E9C-101B-9397-08002B2CF9AE}" pid="3" name="KSOProductBuildVer">
    <vt:lpwstr>2052-11.1.0.14309</vt:lpwstr>
  </property>
</Properties>
</file>