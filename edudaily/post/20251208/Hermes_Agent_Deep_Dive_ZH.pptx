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开场可以直接这样讲：今天我们不做泛泛介绍，而是沿着官方文档，把 Hermes Agent 从“它是什么”一路讲到“它为什么这样设计”。请大家先带着一句话进入：Hermes 不是单纯聊天壳，也不是 IDE Copilot，而是一个长期运行、会积累状态、会生成技能、会跨平台触达的 agent runtime。
[Sources]
- Hermes Agent Documentation (homepage): https://hermes-agent.nousresearch.com/docs/
- Architecture: https://hermes-agent.nousresearch.com/docs/developer-guide/architecture/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这页一定先把听众的心智模型摆正。你可以强调三层对比：第一，传统 copilot 主要服务当前对话或当前 IDE；第二，Hermes 把记忆、技能、状态存储、消息入口和执行后端统一到一个 runtime；第三，这使它天然更接近长期运行的 agent substrate。注意我这里所有数字和表述都来自官网主页。
[Sources]
- Homepage claims: https://hermes-agent.nousresearch.com/docs/ (self-improving agent; not a copilot or chatbot wrapper; 15+ platforms; 47 tools; 6 terminal backends)
- Project homepage: https://hermes-agent.nousresearch.com/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讲这一页时，建议把右边大图当成全程地图。不要一次讲完所有框，而是告诉听众：之后每一页都是从这张总图里拆一个子系统。关键判断是——Hermes 的主设计不是微服务式拆散，而是以 AIAgent 为单核 orchestrator。这个判断来自官方 architecture 页与 agent loop 页的一致表述。
[Sources]
- Architecture overview: https://hermes-agent.nousresearch.com/docs/developer-guide/architecture/
- Agent Loop Internals: https://hermes-agent.nousresearch.com/docs/developer-guide/agent-loop/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这一页要把“单核编排”讲实。建议按 1→6 的顺序走一遍，然后补一句：Hermes 外表看上去像功能很多，但在代码结构上，高阶能力几乎都回收到 AIAgent 这一个主循环里。再强调三种 API mode 的抽象价值——它让不同 provider 共享统一工具链和消息生命周期。
[Sources]
- Agent Loop Internals: https://hermes-agent.nousresearch.com/docs/developer-guide/agent-loop/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这页是全场的技术亮点之一。你可以强调：很多 agent 会把记忆更新和 prompt 重新拼接混在一起，导致前缀缓存失稳、语义也混乱；Hermes 明确把 snapshot 与 API-call-time overlays 分离，所以它的性能和语义都更可控。尤其要讲 frozen MEMORY / USER 这个点，这是理解它“长期运行还比较稳”的关键。
[Sources]
- Prompt Assembly: https://hermes-agent.nousresearch.com/docs/developer-guide/prompt-assembly/
- Context Compression and Caching: https://hermes-agent.nousresearch.com/docs/developer-guide/context-compression-and-caching/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这一页建议用一句话收束：Hermes 的能力不是来自“模型自己会做很多事”，而是来自一个已经很厚的 execution plane。然后再解释 dispatch 链：tool_call 先回到 agent loop，再交给 model_tools 和 registry；其中四个工具因为需要 agent-local state，被 AIAgent 特殊截获。这个设计是很强的工程信号。
[Sources]
- Tools Runtime: https://hermes-agent.nousresearch.com/docs/developer-guide/tools-runtime/
- Tools &amp; Toolsets: https://hermes-agent.nousresearch.com/docs/user-guide/features/tools/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这页要帮听众建立第二个核心认知：Hermes 的学习闭环不是抽象口号，而是有底层数据结构支撑的。先讲 state.db 的四张核心表，再讲 compression 是如何在长对话里控制上下文压力，最后落到 learning loop：session_search 找回过去，memory 保存稳定事实，skill_manage 保存程序性知识，最后反哺未来 prompt。
[Sources]
- Session Storage: https://hermes-agent.nousresearch.com/docs/developer-guide/session-storage/
- Context Compression and Caching: https://hermes-agent.nousresearch.com/docs/developer-guide/context-compression-and-caching/
- Skills System: https://hermes-agent.nousresearch.com/docs/user-guide/features/skills/
- Persistent Memory: https://hermes-agent.nousresearch.com/docs/user-guide/features/memory/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这页非常适合从产品形态切回工程实现。讲法可以是：为什么 Hermes 不是“只能在本机 shell 里聊天”的 agent？因为 Gateway 把平台接入、会话隔离、授权、排队、中断和命令旁路都做了。尤其两级消息保护和 DM pairing 授权，是它能安全长期运行的关键。
[Sources]
- Messaging Gateway: https://hermes-agent.nousresearch.com/docs/user-guide/messaging/
- Gateway Internals: https://hermes-agent.nousresearch.com/docs/developer-guide/gateway-internals/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这页可以用“不要把安全理解成一条 system prompt”来开头。Hermes 的安全模型是分层的：先限制谁能说话，再限制什么命令能过，再把执行环境隔离开，再过滤 MCP 环境变量，再做 context file 扫描和会话隔离。重点强调容器层，因为这是它和普通本地 agent 最大的安全分水岭。
[Sources]
- Security: https://hermes-agent.nousresearch.com/docs/user-guide/security/
- Configuration / Docker backend hardening: https://hermes-agent.nousresearch.com/docs/user-guide/configuration/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收尾时不要重复细节，而是把全场压缩成三句话：第一，Hermes 是一个统一编排内核；第二，它把 memory、skills、session search、gateway、安全边界都挂到这个内核周围；第三，这套组合让它更像一个 agent OS。最后可以补一句自己的判断：如果后续要面向企业级多租户场景，它可能还会继续把 orchestration 和 execution plane 做更强拆分。
[Sources]
- Architecture: https://hermes-agent.nousresearch.com/docs/developer-guide/architecture/
- Agent Loop Internals: https://hermes-agent.nousresearch.com/docs/developer-guide/agent-loop/
- Security: https://hermes-agent.nousresearch.com/docs/user-guide/security/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一步一步深入演讲稿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Nous Research 官方网站与官方文档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从定位 → AIAgent 主循环 → Prompt/Memory/Skills → Tool Runtime → Gateway → Security 逐层拆解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492240" y="86868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0F1730"/>
          </a:solidFill>
          <a:ln w="12700">
            <a:solidFill>
              <a:srgbClr val="2B365B"/>
            </a:solidFill>
            <a:prstDash val="solid"/>
          </a:ln>
        </p:spPr>
      </p:sp>
      <p:pic>
        <p:nvPicPr>
          <p:cNvPr id="6" name="Image 0" descr="/mnt/data/hermes_agent_architecture_h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1921370"/>
            <a:ext cx="4800600" cy="30518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3794760"/>
            <a:ext cx="4480560" cy="566928"/>
          </a:xfrm>
          <a:prstGeom prst="roundRect">
            <a:avLst>
              <a:gd name="adj" fmla="val 14516"/>
            </a:avLst>
          </a:prstGeom>
          <a:solidFill>
            <a:srgbClr val="11213A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9410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演讲主结论：Hermes 更像“带学习闭环的 Agent OS”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897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适合技术分享 / 方案评审 / 源码阅读导览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基于官方文档的逐层深潜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先定性：Hermes 到底是什么？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官方把它定义成“self-improving AI agent”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 IDE 里的 coding copilot，也不是绑死单一 API 的 chatbot wrapper；它是一个会常驻、会积累、会调度、会跨会话学习的 autonomous agent。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 Copilot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0" y="2743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OS / Runtime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64408"/>
            <a:ext cx="7406640" cy="0"/>
          </a:xfrm>
          <a:prstGeom prst="line">
            <a:avLst/>
          </a:prstGeom>
          <a:noFill/>
          <a:ln w="12700">
            <a:solidFill>
              <a:srgbClr val="2B365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907792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38C7B4">
              <a:alpha val="90000"/>
            </a:srgbClr>
          </a:solidFill>
          <a:ln w="12700">
            <a:solidFill>
              <a:srgbClr val="38C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1638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21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学习闭环 + 工具执行 + 状态持久化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1207008"/>
            <a:ext cx="1078992" cy="1207008"/>
          </a:xfrm>
          <a:prstGeom prst="roundRect">
            <a:avLst>
              <a:gd name="adj" fmla="val 11864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4356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83680" y="18470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平台入口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08976" y="1207008"/>
            <a:ext cx="1078992" cy="1207008"/>
          </a:xfrm>
          <a:prstGeom prst="roundRect">
            <a:avLst>
              <a:gd name="adj" fmla="val 11864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08976" y="14356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808976" y="18470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内建工具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34272" y="1207008"/>
            <a:ext cx="1078992" cy="1207008"/>
          </a:xfrm>
          <a:prstGeom prst="roundRect">
            <a:avLst>
              <a:gd name="adj" fmla="val 11864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14356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34272" y="18470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终端后端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59568" y="1207008"/>
            <a:ext cx="1078992" cy="1207008"/>
          </a:xfrm>
          <a:prstGeom prst="roundRect">
            <a:avLst>
              <a:gd name="adj" fmla="val 11864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9568" y="14356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259568" y="18470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AIAgent 内核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41513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2688" y="4160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学习闭环：memory + skills + cross-session recall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" y="45720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32688" y="4581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运行位置：本机、Docker、SSH、Modal、Daytona、Singularity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9808" y="499262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32688" y="5001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入口统一：CLI / Gateway / ACP / Batch / API / Python library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ARCHITECTURE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总体架构：统一编排，不是拼装式脚手架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0" y="969264"/>
            <a:ext cx="5257800" cy="5440680"/>
          </a:xfrm>
          <a:prstGeom prst="roundRect">
            <a:avLst>
              <a:gd name="adj" fmla="val 2435"/>
            </a:avLst>
          </a:prstGeom>
          <a:solidFill>
            <a:srgbClr val="0F1730"/>
          </a:solidFill>
          <a:ln w="12700">
            <a:solidFill>
              <a:srgbClr val="2B365B"/>
            </a:solidFill>
            <a:prstDash val="solid"/>
          </a:ln>
        </p:spPr>
      </p:sp>
      <p:pic>
        <p:nvPicPr>
          <p:cNvPr id="6" name="Image 0" descr="/mnt/data/hermes_agent_architecture_z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1947672"/>
            <a:ext cx="50292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07899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Developer Guide 的核心信号：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所有入口最后都汇入同一个 AIAgent 编排器。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49808" y="204825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32688" y="20574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上游：CLI、Gateway、ACP、Batch Runner、API Server、Python Library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9808" y="25511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32688" y="2560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中枢：run_agent.py 里的 AIAgent 统一处理 prompt、provider、tool_calls、fallback、compression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9808" y="305409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2688" y="30632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下游：Tool Runtime、Session Storage、Gateway、Memory/Skills/MCP 等都围绕这个主循环协同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49808" y="4005072"/>
            <a:ext cx="4892040" cy="0"/>
          </a:xfrm>
          <a:prstGeom prst="line">
            <a:avLst/>
          </a:prstGeom>
          <a:noFill/>
          <a:ln w="12700">
            <a:solidFill>
              <a:srgbClr val="2B3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4169664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这意味着 Hermes 的产品哲学不是“把很多 agent feature 松散拼起来”，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而是围绕单一会话编排内核，构建一个可持续扩展的 agent runtime。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01968" y="61996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右图为我基于官网各子页面整合绘制的中文总架构图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LOOP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大脑：AIAgent 单核 orchestrator 的工作方式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0332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官方文档直接写明：核心编排引擎就是 run_agent.py 的 AIAgent。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它负责 prompt 装配、provider/API mode 选择、可中断模型调用、工具调度、fallback、压缩与持久化。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5054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追加用户输入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06040" y="255117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70632" y="21945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43784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53512" y="25054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构建/复用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 Prompt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255117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72584" y="21945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11315C"/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5464" y="25054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API 模式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并发起调用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255117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74536" y="21945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57416" y="25054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若返回 tool_calls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进入工具循环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11896" y="255117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76488" y="21945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59368" y="25054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文本回答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则持久化返回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13848" y="255117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378440" y="21945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51592" y="2267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61320" y="25054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必要时压缩上下文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并刷新记忆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83880" y="3913632"/>
            <a:ext cx="3246120" cy="1783080"/>
          </a:xfrm>
          <a:prstGeom prst="roundRect">
            <a:avLst>
              <a:gd name="adj" fmla="val 7179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 API mode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449884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613648" y="4507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chat_completions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30768" y="48371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8613648" y="4846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codex_responses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30768" y="517550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613648" y="5184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anthropic_messages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94192" y="553212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对外 API 不同，但对内会收敛成统一的 OpenAI-style message 格式。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" y="4160520"/>
            <a:ext cx="6995160" cy="1508760"/>
          </a:xfrm>
          <a:prstGeom prst="roundRect">
            <a:avLst>
              <a:gd name="adj" fmla="val 8485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4389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设计意义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1440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097280" y="47091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模型接入是运行时解析问题，而不是业务层散落逻辑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914400" y="50109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97280" y="50200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工具执行既可串行也可并发，但结果按原顺序回插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914400" y="532180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097280" y="53309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当前对话、子代理、fallback provider 都由同一个编排层管控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ASSEMBLY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Prompt 装配：Hermes 为什么能“越用越稳”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官方最关键的设计之一：把“缓存层”和“调用时临时层”故意分开。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6870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SOUL / identity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41248" y="2011680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7568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80160" y="20711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tool-aware guidance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41248" y="2395728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5973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4551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Honcho 静态块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1248" y="2779776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84378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8392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optional system msg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41248" y="3163824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52748"/>
          </a:solidFill>
          <a:ln w="12700">
            <a:solidFill>
              <a:srgbClr val="38C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2278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32232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frozen MEMORY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41248" y="3547872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52748"/>
          </a:solidFill>
          <a:ln w="12700">
            <a:solidFill>
              <a:srgbClr val="38C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61188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80160" y="36073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frozen USER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41248" y="3931920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959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80160" y="39913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index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41248" y="4315968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37997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80160" y="43754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files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41248" y="4700016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3213B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76402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80160" y="47594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timestamp/session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841248" y="5084064"/>
            <a:ext cx="3246120" cy="329184"/>
          </a:xfrm>
          <a:prstGeom prst="roundRect">
            <a:avLst>
              <a:gd name="adj" fmla="val 13889"/>
            </a:avLst>
          </a:prstGeom>
          <a:solidFill>
            <a:srgbClr val="13213B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1480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280160" y="51435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hint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4663440" y="1664208"/>
            <a:ext cx="6903720" cy="4343400"/>
          </a:xfrm>
          <a:prstGeom prst="roundRect">
            <a:avLst>
              <a:gd name="adj" fmla="val 2947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883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四个必须讲清的语义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4919472" y="227685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30" dirty="0"/>
          </a:p>
        </p:txBody>
      </p:sp>
      <p:sp>
        <p:nvSpPr>
          <p:cNvPr id="39" name="Text 37"/>
          <p:cNvSpPr/>
          <p:nvPr/>
        </p:nvSpPr>
        <p:spPr>
          <a:xfrm>
            <a:off x="5102352" y="22860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/ User Profile 是“会话开始时冻结快照”——中途写盘，不会立即污染当前稳定前缀。</a:t>
            </a:r>
            <a:endParaRPr lang="en-US" sz="1630" dirty="0"/>
          </a:p>
        </p:txBody>
      </p:sp>
      <p:sp>
        <p:nvSpPr>
          <p:cNvPr id="40" name="Text 38"/>
          <p:cNvSpPr/>
          <p:nvPr/>
        </p:nvSpPr>
        <p:spPr>
          <a:xfrm>
            <a:off x="4919472" y="293522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30" dirty="0"/>
          </a:p>
        </p:txBody>
      </p:sp>
      <p:sp>
        <p:nvSpPr>
          <p:cNvPr id="41" name="Text 39"/>
          <p:cNvSpPr/>
          <p:nvPr/>
        </p:nvSpPr>
        <p:spPr>
          <a:xfrm>
            <a:off x="5102352" y="29443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files 采用优先级加载：.hermes.md → AGENTS.md → CLAUDE.md → .cursorrules。</a:t>
            </a:r>
            <a:endParaRPr lang="en-US" sz="1630" dirty="0"/>
          </a:p>
        </p:txBody>
      </p:sp>
      <p:sp>
        <p:nvSpPr>
          <p:cNvPr id="42" name="Text 40"/>
          <p:cNvSpPr/>
          <p:nvPr/>
        </p:nvSpPr>
        <p:spPr>
          <a:xfrm>
            <a:off x="4919472" y="35935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30" dirty="0"/>
          </a:p>
        </p:txBody>
      </p:sp>
      <p:sp>
        <p:nvSpPr>
          <p:cNvPr id="43" name="Text 41"/>
          <p:cNvSpPr/>
          <p:nvPr/>
        </p:nvSpPr>
        <p:spPr>
          <a:xfrm>
            <a:off x="5102352" y="360273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上下文文件在注入前会做安全扫描和截断；SOUL.md 单独走 identity 槽位。</a:t>
            </a:r>
            <a:endParaRPr lang="en-US" sz="1630" dirty="0"/>
          </a:p>
        </p:txBody>
      </p:sp>
      <p:sp>
        <p:nvSpPr>
          <p:cNvPr id="44" name="Text 42"/>
          <p:cNvSpPr/>
          <p:nvPr/>
        </p:nvSpPr>
        <p:spPr>
          <a:xfrm>
            <a:off x="4919472" y="425196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30" dirty="0"/>
          </a:p>
        </p:txBody>
      </p:sp>
      <p:sp>
        <p:nvSpPr>
          <p:cNvPr id="45" name="Text 43"/>
          <p:cNvSpPr/>
          <p:nvPr/>
        </p:nvSpPr>
        <p:spPr>
          <a:xfrm>
            <a:off x="5102352" y="426110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ephemeral_system_prompt、gateway overlay、prefill 等临时层不会持久写入 cached system prompt。</a:t>
            </a:r>
            <a:endParaRPr lang="en-US" sz="1630" dirty="0"/>
          </a:p>
        </p:txBody>
      </p:sp>
      <p:sp>
        <p:nvSpPr>
          <p:cNvPr id="46" name="Text 44"/>
          <p:cNvSpPr/>
          <p:nvPr/>
        </p:nvSpPr>
        <p:spPr>
          <a:xfrm>
            <a:off x="4901184" y="5440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所以 Hermes 不是简单“把更多记忆塞进 prompt”。它更像一个做了缓存稳定性设计的 prompt OS。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 RUNTIME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执行平面：工具不是附属功能，而是操作系统接口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1737360" cy="1051560"/>
          </a:xfrm>
          <a:prstGeom prst="roundRect">
            <a:avLst>
              <a:gd name="adj" fmla="val 12174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148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模型返回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tool_call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651760" y="225856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1874520"/>
            <a:ext cx="1737360" cy="1051560"/>
          </a:xfrm>
          <a:prstGeom prst="roundRect">
            <a:avLst>
              <a:gd name="adj" fmla="val 12174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148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run_agent.py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37760" y="225856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1874520"/>
            <a:ext cx="1737360" cy="1051560"/>
          </a:xfrm>
          <a:prstGeom prst="roundRect">
            <a:avLst>
              <a:gd name="adj" fmla="val 12174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2148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model_tools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handle_function_call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23760" y="225856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06640" y="1874520"/>
            <a:ext cx="1737360" cy="1051560"/>
          </a:xfrm>
          <a:prstGeom prst="roundRect">
            <a:avLst>
              <a:gd name="adj" fmla="val 12174"/>
            </a:avLst>
          </a:prstGeom>
          <a:solidFill>
            <a:srgbClr val="111A34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2148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registry.dispatch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handler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86384" y="3703320"/>
            <a:ext cx="4846320" cy="1965960"/>
          </a:xfrm>
          <a:prstGeom prst="roundRect">
            <a:avLst>
              <a:gd name="adj" fmla="val 6512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内建能力面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87552" y="427024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70432" y="42793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/ browser / vision / image / TTS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87552" y="46085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70432" y="46177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terminal / files / process / patch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7552" y="494690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70432" y="49560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todo / clarify / execute_code / delegation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87552" y="52852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70432" y="52943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/ session_search / cron / delivery / MCP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897880" y="3703320"/>
            <a:ext cx="2743200" cy="1965960"/>
          </a:xfrm>
          <a:prstGeom prst="roundRect">
            <a:avLst>
              <a:gd name="adj" fmla="val 6512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913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个“被拦截”的 agent-level tools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199632" y="42885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382512" y="4297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todo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99632" y="46085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382512" y="4617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99632" y="49286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382512" y="4937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session_search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99632" y="524865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382512" y="5257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delegate_task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869680" y="3703320"/>
            <a:ext cx="2560320" cy="1965960"/>
          </a:xfrm>
          <a:prstGeom prst="roundRect">
            <a:avLst>
              <a:gd name="adj" fmla="val 6512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3913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终端后端</a:t>
            </a:r>
            <a:endParaRPr lang="en-US" sz="1850" dirty="0"/>
          </a:p>
        </p:txBody>
      </p:sp>
      <p:sp>
        <p:nvSpPr>
          <p:cNvPr id="38" name="Shape 36"/>
          <p:cNvSpPr/>
          <p:nvPr/>
        </p:nvSpPr>
        <p:spPr>
          <a:xfrm>
            <a:off x="9162288" y="4352544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2288" y="441655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10222992" y="4352544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22992" y="441655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162288" y="4736592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2288" y="480060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ssh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10222992" y="4736592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22992" y="480060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modal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9162288" y="512064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62288" y="5184648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daytona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10222992" y="512064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22992" y="5184648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singularity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9098280" y="55046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安全与部署策略可按 backend 切换。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&amp; LEARNING LOOP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状态脊柱：SQLite、压缩与跨会话学习闭环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1143000"/>
            <a:ext cx="3749040" cy="4526280"/>
          </a:xfrm>
          <a:prstGeom prst="roundRect">
            <a:avLst>
              <a:gd name="adj" fmla="val 3415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state.db 是 Hermes 的状态脊柱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2286000" cy="1417320"/>
          </a:xfrm>
          <a:prstGeom prst="rect">
            <a:avLst/>
          </a:prstGeom>
          <a:solidFill>
            <a:srgbClr val="0D1430"/>
          </a:solidFill>
          <a:ln>
            <a:solidFill>
              <a:srgbClr val="2B365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~/.hermes/state.db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sessions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messages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messages_fts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schema_version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66674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36758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WAL：支持多 reader + 单 writer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40325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FTS5：做跨会话全文检索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0120" y="43799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parent_session_id：压缩后保留 lineage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736592" y="1143000"/>
            <a:ext cx="2761488" cy="2057400"/>
          </a:xfrm>
          <a:prstGeom prst="roundRect">
            <a:avLst>
              <a:gd name="adj" fmla="val 6222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081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Compression 触发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4919472" y="17739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20" dirty="0"/>
          </a:p>
        </p:txBody>
      </p:sp>
      <p:sp>
        <p:nvSpPr>
          <p:cNvPr id="17" name="Text 15"/>
          <p:cNvSpPr/>
          <p:nvPr/>
        </p:nvSpPr>
        <p:spPr>
          <a:xfrm>
            <a:off x="5102352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Preflight：&gt; 50% context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919472" y="2103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20" dirty="0"/>
          </a:p>
        </p:txBody>
      </p:sp>
      <p:sp>
        <p:nvSpPr>
          <p:cNvPr id="19" name="Text 17"/>
          <p:cNvSpPr/>
          <p:nvPr/>
        </p:nvSpPr>
        <p:spPr>
          <a:xfrm>
            <a:off x="5102352" y="2112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Gateway auto：&gt; 85%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919472" y="243230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20" dirty="0"/>
          </a:p>
        </p:txBody>
      </p:sp>
      <p:sp>
        <p:nvSpPr>
          <p:cNvPr id="21" name="Text 19"/>
          <p:cNvSpPr/>
          <p:nvPr/>
        </p:nvSpPr>
        <p:spPr>
          <a:xfrm>
            <a:off x="5102352" y="24414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protect_last_n 默认保留 20 条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7726680" y="1143000"/>
            <a:ext cx="3657600" cy="4526280"/>
          </a:xfrm>
          <a:prstGeom prst="roundRect">
            <a:avLst>
              <a:gd name="adj" fmla="val 3500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闭环学习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8247888" y="1993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session_search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59952" y="23042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47888" y="26334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update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59952" y="2944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47888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creation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59952" y="3584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47888" y="3913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future prompt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10928" y="1847088"/>
            <a:ext cx="1261872" cy="512064"/>
          </a:xfrm>
          <a:prstGeom prst="roundRect">
            <a:avLst>
              <a:gd name="adj" fmla="val 25000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10928" y="2487168"/>
            <a:ext cx="1261872" cy="512064"/>
          </a:xfrm>
          <a:prstGeom prst="roundRect">
            <a:avLst>
              <a:gd name="adj" fmla="val 25000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3127248"/>
            <a:ext cx="1261872" cy="512064"/>
          </a:xfrm>
          <a:prstGeom prst="roundRect">
            <a:avLst>
              <a:gd name="adj" fmla="val 25000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0928" y="3767328"/>
            <a:ext cx="1261872" cy="512064"/>
          </a:xfrm>
          <a:prstGeom prst="roundRect">
            <a:avLst>
              <a:gd name="adj" fmla="val 25000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0656" y="20116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找回过去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20656" y="265176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沉淀事实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20656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沉淀流程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20656" y="393192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强化前缀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973568" y="50840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所以“成长”并非营销词，而是由存储、检索、压缩、记忆和技能沉淀共同支撑。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Gateway：Hermes 为什么适合 always-on 运行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一个常驻进程，把多平台消息入口统一路由到同一套会话与编排内核。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93976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3213B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3976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Telegram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9272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Discord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3213B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Slack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9864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WhatsApp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95160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3213B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0456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Email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45752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3213B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671048" y="1572768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173056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71048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Feishu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2331720"/>
            <a:ext cx="5303520" cy="3474720"/>
          </a:xfrm>
          <a:prstGeom prst="roundRect">
            <a:avLst>
              <a:gd name="adj" fmla="val 3684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2587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两级消息保护（Two-Level Message Guard）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1024128" y="2962656"/>
            <a:ext cx="1097280" cy="960120"/>
          </a:xfrm>
          <a:prstGeom prst="roundRect">
            <a:avLst>
              <a:gd name="adj" fmla="val 13333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1992" y="332841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78608" y="2962656"/>
            <a:ext cx="1097280" cy="960120"/>
          </a:xfrm>
          <a:prstGeom prst="roundRect">
            <a:avLst>
              <a:gd name="adj" fmla="val 13333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332841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133088" y="2962656"/>
            <a:ext cx="1325880" cy="960120"/>
          </a:xfrm>
          <a:prstGeom prst="roundRect">
            <a:avLst>
              <a:gd name="adj" fmla="val 13333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33101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adapter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651760" y="31546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_active_sessions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242816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_running_agents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05840" y="42428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20" dirty="0"/>
          </a:p>
        </p:txBody>
      </p:sp>
      <p:sp>
        <p:nvSpPr>
          <p:cNvPr id="35" name="Text 33"/>
          <p:cNvSpPr/>
          <p:nvPr/>
        </p:nvSpPr>
        <p:spPr>
          <a:xfrm>
            <a:off x="1188720" y="42519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正在运行时，新消息先被排队并触发 interrupt event</a:t>
            </a:r>
            <a:endParaRPr lang="en-US" sz="1520" dirty="0"/>
          </a:p>
        </p:txBody>
      </p:sp>
      <p:sp>
        <p:nvSpPr>
          <p:cNvPr id="36" name="Text 34"/>
          <p:cNvSpPr/>
          <p:nvPr/>
        </p:nvSpPr>
        <p:spPr>
          <a:xfrm>
            <a:off x="1005840" y="462686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20" dirty="0"/>
          </a:p>
        </p:txBody>
      </p:sp>
      <p:sp>
        <p:nvSpPr>
          <p:cNvPr id="37" name="Text 35"/>
          <p:cNvSpPr/>
          <p:nvPr/>
        </p:nvSpPr>
        <p:spPr>
          <a:xfrm>
            <a:off x="1188720" y="46360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特定命令（/stop /approve /deny 等）绕过普通后台任务，避免竞态</a:t>
            </a:r>
            <a:endParaRPr lang="en-US" sz="1520" dirty="0"/>
          </a:p>
        </p:txBody>
      </p:sp>
      <p:sp>
        <p:nvSpPr>
          <p:cNvPr id="38" name="Text 36"/>
          <p:cNvSpPr/>
          <p:nvPr/>
        </p:nvSpPr>
        <p:spPr>
          <a:xfrm>
            <a:off x="1005840" y="50109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20" dirty="0"/>
          </a:p>
        </p:txBody>
      </p:sp>
      <p:sp>
        <p:nvSpPr>
          <p:cNvPr id="39" name="Text 37"/>
          <p:cNvSpPr/>
          <p:nvPr/>
        </p:nvSpPr>
        <p:spPr>
          <a:xfrm>
            <a:off x="1188720" y="502005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授权顺序：平台 allow-all → 平台 allowlist → DM pairing → 全局 allow-all → 默认拒绝</a:t>
            </a:r>
            <a:endParaRPr lang="en-US" sz="1520" dirty="0"/>
          </a:p>
        </p:txBody>
      </p:sp>
      <p:sp>
        <p:nvSpPr>
          <p:cNvPr id="40" name="Shape 38"/>
          <p:cNvSpPr/>
          <p:nvPr/>
        </p:nvSpPr>
        <p:spPr>
          <a:xfrm>
            <a:off x="6446520" y="2331720"/>
            <a:ext cx="4983480" cy="3474720"/>
          </a:xfrm>
          <a:prstGeom prst="roundRect">
            <a:avLst>
              <a:gd name="adj" fmla="val 3684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93408" y="2587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会话路由的关键：session key</a:t>
            </a:r>
            <a:endParaRPr lang="en-US" sz="1850" dirty="0"/>
          </a:p>
        </p:txBody>
      </p:sp>
      <p:sp>
        <p:nvSpPr>
          <p:cNvPr id="42" name="Text 40"/>
          <p:cNvSpPr/>
          <p:nvPr/>
        </p:nvSpPr>
        <p:spPr>
          <a:xfrm>
            <a:off x="6693408" y="2962656"/>
            <a:ext cx="4224528" cy="566928"/>
          </a:xfrm>
          <a:prstGeom prst="rect">
            <a:avLst/>
          </a:prstGeom>
          <a:solidFill>
            <a:srgbClr val="0D1430"/>
          </a:solidFill>
          <a:ln>
            <a:solidFill>
              <a:srgbClr val="2B365B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agent:main:{platform}:{chat_type}:{chat_id}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75120" y="384962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6858000" y="3858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GatewayRunner 统一管理多平台入口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6675120" y="423367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6858000" y="42428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消息、cron、语音投递、slash command 都共享这套路由骨架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6675120" y="46177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6858000" y="46268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 Hermes 很适合“人在 IM 上发消息，agent 在远端持续工作”的模式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SECURITY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安全模型：把边界前移，而不是只靠提示词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官方明确写的是 defense-in-depth，而且一共给了 7 层安全边界。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96112" y="1600200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0078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用户授权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0704" y="1984248"/>
            <a:ext cx="3511296" cy="384048"/>
          </a:xfrm>
          <a:prstGeom prst="roundRect">
            <a:avLst>
              <a:gd name="adj" fmla="val 9524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084832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危险命令审批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25296" y="2368296"/>
            <a:ext cx="3182112" cy="384048"/>
          </a:xfrm>
          <a:prstGeom prst="roundRect">
            <a:avLst>
              <a:gd name="adj" fmla="val 9524"/>
            </a:avLst>
          </a:prstGeom>
          <a:solidFill>
            <a:srgbClr val="18405A"/>
          </a:solidFill>
          <a:ln w="12700">
            <a:solidFill>
              <a:srgbClr val="38C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2468880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容器隔离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89888" y="2752344"/>
            <a:ext cx="2852928" cy="384048"/>
          </a:xfrm>
          <a:prstGeom prst="roundRect">
            <a:avLst>
              <a:gd name="adj" fmla="val 9524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7904" y="285292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MCP 凭据过滤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554480" y="3136392"/>
            <a:ext cx="2523744" cy="384048"/>
          </a:xfrm>
          <a:prstGeom prst="roundRect">
            <a:avLst>
              <a:gd name="adj" fmla="val 9524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82496" y="323697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上下文文件扫描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19072" y="3520440"/>
            <a:ext cx="2194560" cy="384048"/>
          </a:xfrm>
          <a:prstGeom prst="roundRect">
            <a:avLst>
              <a:gd name="adj" fmla="val 9524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36210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跨会话隔离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83664" y="3904488"/>
            <a:ext cx="1865376" cy="384048"/>
          </a:xfrm>
          <a:prstGeom prst="roundRect">
            <a:avLst>
              <a:gd name="adj" fmla="val 9524"/>
            </a:avLst>
          </a:prstGeom>
          <a:solidFill>
            <a:srgbClr val="152748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00507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输入清洗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23560" y="1554480"/>
            <a:ext cx="5577840" cy="4526280"/>
          </a:xfrm>
          <a:prstGeom prst="roundRect">
            <a:avLst>
              <a:gd name="adj" fmla="val 2828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8105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为什么第三层“容器隔离”最关键？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870448" y="220370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3" name="Text 21"/>
          <p:cNvSpPr/>
          <p:nvPr/>
        </p:nvSpPr>
        <p:spPr>
          <a:xfrm>
            <a:off x="6053328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backend：最方便，但 agent 直接拥有当前用户文件系统权限。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5870448" y="28163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5" name="Text 23"/>
          <p:cNvSpPr/>
          <p:nvPr/>
        </p:nvSpPr>
        <p:spPr>
          <a:xfrm>
            <a:off x="6053328" y="282549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backend：官方强调 all capabilities dropped、no privilege escalation、PID 限制等硬化策略。</a:t>
            </a:r>
            <a:endParaRPr lang="en-US" sz="1580" dirty="0"/>
          </a:p>
        </p:txBody>
      </p:sp>
      <p:sp>
        <p:nvSpPr>
          <p:cNvPr id="26" name="Text 24"/>
          <p:cNvSpPr/>
          <p:nvPr/>
        </p:nvSpPr>
        <p:spPr>
          <a:xfrm>
            <a:off x="5870448" y="34290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7" name="Text 25"/>
          <p:cNvSpPr/>
          <p:nvPr/>
        </p:nvSpPr>
        <p:spPr>
          <a:xfrm>
            <a:off x="6053328" y="343814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ssh backend：推荐用于安全隔离，因为 agent 无法直接修改自己的代码。</a:t>
            </a:r>
            <a:endParaRPr lang="en-US" sz="1580" dirty="0"/>
          </a:p>
        </p:txBody>
      </p:sp>
      <p:sp>
        <p:nvSpPr>
          <p:cNvPr id="28" name="Text 26"/>
          <p:cNvSpPr/>
          <p:nvPr/>
        </p:nvSpPr>
        <p:spPr>
          <a:xfrm>
            <a:off x="5870448" y="404164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9" name="Text 27"/>
          <p:cNvSpPr/>
          <p:nvPr/>
        </p:nvSpPr>
        <p:spPr>
          <a:xfrm>
            <a:off x="6053328" y="40507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files 也会被注入前扫描，防止 invisible unicode、ignore previous instructions、凭据外流等模式。</a:t>
            </a:r>
            <a:endParaRPr lang="en-US" sz="1580" dirty="0"/>
          </a:p>
        </p:txBody>
      </p:sp>
      <p:sp>
        <p:nvSpPr>
          <p:cNvPr id="30" name="Shape 28"/>
          <p:cNvSpPr/>
          <p:nvPr/>
        </p:nvSpPr>
        <p:spPr>
          <a:xfrm>
            <a:off x="5870448" y="5074920"/>
            <a:ext cx="4617720" cy="0"/>
          </a:xfrm>
          <a:prstGeom prst="line">
            <a:avLst/>
          </a:prstGeom>
          <a:noFill/>
          <a:ln w="12700">
            <a:solidFill>
              <a:srgbClr val="2B36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52852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安全哲学总结：能用隔离解决的，不寄希望于提示词；需要人工确认的，进入 approval 流。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官方文档深度解构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C7B4">
              <a:alpha val="70000"/>
            </a:srgbClr>
          </a:solidFill>
          <a:ln w="12700">
            <a:solidFill>
              <a:srgbClr val="38C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结论：Hermes 更像一个 Agent OS，而不是聊天壳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1234440"/>
            <a:ext cx="3657600" cy="4526280"/>
          </a:xfrm>
          <a:prstGeom prst="roundRect">
            <a:avLst>
              <a:gd name="adj" fmla="val 3500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一句话定性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552" y="1874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把长期运行 agent 所需的 prompt 稳定性、工具执行、状态持久化、跨会话学习、消息网关和安全边界收束到同一 runtime。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4480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FA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这不是功能清单，而是一套系统设计。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2926080" cy="4526280"/>
          </a:xfrm>
          <a:prstGeom prst="roundRect">
            <a:avLst>
              <a:gd name="adj" fmla="val 4375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499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最值得借鉴的 3 个模式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956048" y="191109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8928" y="1920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冻结快照 + 临时层分离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250545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38928" y="2514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工具运行时与 agent-level state 解耦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56048" y="30998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C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38928" y="3108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SQLite + FTS5 + skills 构成最小学习闭环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36992" y="1234440"/>
            <a:ext cx="3520440" cy="4526280"/>
          </a:xfrm>
          <a:prstGeom prst="roundRect">
            <a:avLst>
              <a:gd name="adj" fmla="val 3636"/>
            </a:avLst>
          </a:prstGeom>
          <a:solidFill>
            <a:srgbClr val="10192F"/>
          </a:solidFill>
          <a:ln w="12700">
            <a:solidFill>
              <a:srgbClr val="2B3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落地判断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183880" y="191109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0" name="Text 18"/>
          <p:cNvSpPr/>
          <p:nvPr/>
        </p:nvSpPr>
        <p:spPr>
          <a:xfrm>
            <a:off x="8366760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如果你要做个人长期助手：Hermes 的设计已经很完整。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8183880" y="252374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2" name="Text 20"/>
          <p:cNvSpPr/>
          <p:nvPr/>
        </p:nvSpPr>
        <p:spPr>
          <a:xfrm>
            <a:off x="8366760" y="25328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如果你要做企业多租户大规模编排：未来可能还要把 orchestration 与 execution plane 进一步拆开。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8183880" y="31363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8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980" dirty="0"/>
          </a:p>
        </p:txBody>
      </p:sp>
      <p:sp>
        <p:nvSpPr>
          <p:cNvPr id="24" name="Text 22"/>
          <p:cNvSpPr/>
          <p:nvPr/>
        </p:nvSpPr>
        <p:spPr>
          <a:xfrm>
            <a:off x="8366760" y="31455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但作为“开源可运行 agent substrate”，它已经非常有代表性。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10469880" y="6080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Q&amp;A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Agent 官方文档逐层拆解完毕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A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深度架构分析</dc:title>
  <dc:subject>Hermes Agent official-doc deep dive</dc:subject>
  <dc:creator>OpenAI</dc:creator>
  <cp:lastModifiedBy>OpenAI</cp:lastModifiedBy>
  <cp:revision>1</cp:revision>
  <dcterms:created xsi:type="dcterms:W3CDTF">2026-04-21T23:35:08Z</dcterms:created>
  <dcterms:modified xsi:type="dcterms:W3CDTF">2026-04-21T23:35:08Z</dcterms:modified>
</cp:coreProperties>
</file>